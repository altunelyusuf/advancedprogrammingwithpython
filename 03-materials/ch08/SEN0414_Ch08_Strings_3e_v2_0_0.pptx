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pieces</c:v>
                </c:pt>
              </c:strCache>
            </c:strRef>
          </c:tx>
          <c:spPr>
            <a:solidFill>
              <a:srgbClr val="0E7C86"/>
            </a:solidFill>
          </c:spPr>
          <c:cat>
            <c:strRef>
              <c:f>Sheet1!$A$2:$A$6</c:f>
              <c:strCache>
                <c:ptCount val="5"/>
                <c:pt idx="0">
                  <c:v>partition(' ')</c:v>
                </c:pt>
                <c:pt idx="1">
                  <c:v>splitlines()</c:v>
                </c:pt>
                <c:pt idx="2">
                  <c:v>split()</c:v>
                </c:pt>
                <c:pt idx="3">
                  <c:v>split('m')</c:v>
                </c:pt>
                <c:pt idx="4">
                  <c:v>join(...)</c:v>
                </c:pt>
              </c:strCache>
            </c:strRef>
          </c:cat>
          <c:val>
            <c:numRef>
              <c:f>Sheet1!$B$2:$B$6</c:f>
              <c:numCache>
                <c:formatCode>General</c:formatCode>
                <c:ptCount val="5"/>
                <c:pt idx="0">
                  <c:v>3</c:v>
                </c:pt>
                <c:pt idx="1">
                  <c:v>3</c:v>
                </c:pt>
                <c:pt idx="2">
                  <c:v>4</c:v>
                </c:pt>
                <c:pt idx="3">
                  <c:v>3</c:v>
                </c:pt>
                <c:pt idx="4">
                  <c:v>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in val="0.0"/>
        </c:scaling>
        <c:delete val="0"/>
        <c:axPos val="b"/>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c:v>
                </c:pt>
              </c:strCache>
            </c:strRef>
          </c:tx>
          <c:spPr>
            <a:solidFill>
              <a:srgbClr val="0E7C86"/>
            </a:solidFill>
          </c:spPr>
          <c:cat>
            <c:strRef>
              <c:f>Sheet1!$A$2:$A$5</c:f>
              <c:strCache>
                <c:ptCount val="4"/>
                <c:pt idx="0">
                  <c:v>s</c:v>
                </c:pt>
                <c:pt idx="1">
                  <c:v>s.strip()</c:v>
                </c:pt>
                <c:pt idx="2">
                  <c:v>s.lstrip()</c:v>
                </c:pt>
                <c:pt idx="3">
                  <c:v>s.rstrip()</c:v>
                </c:pt>
              </c:strCache>
            </c:strRef>
          </c:cat>
          <c:val>
            <c:numRef>
              <c:f>Sheet1!$B$2:$B$5</c:f>
              <c:numCache>
                <c:formatCode>General</c:formatCode>
                <c:ptCount val="4"/>
                <c:pt idx="0">
                  <c:v>20</c:v>
                </c:pt>
                <c:pt idx="1">
                  <c:v>12</c:v>
                </c:pt>
                <c:pt idx="2">
                  <c:v>16</c:v>
                </c:pt>
                <c:pt idx="3">
                  <c:v>16</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code point</c:v>
                </c:pt>
              </c:strCache>
            </c:strRef>
          </c:tx>
          <c:spPr>
            <a:solidFill>
              <a:srgbClr val="0E7C86"/>
            </a:solidFill>
          </c:spPr>
          <c:cat>
            <c:strRef>
              <c:f>Sheet1!$A$2:$A$6</c:f>
              <c:strCache>
                <c:ptCount val="5"/>
                <c:pt idx="0">
                  <c:v>H</c:v>
                </c:pt>
                <c:pt idx="1">
                  <c:v>e</c:v>
                </c:pt>
                <c:pt idx="2">
                  <c:v>l</c:v>
                </c:pt>
                <c:pt idx="3">
                  <c:v>l</c:v>
                </c:pt>
                <c:pt idx="4">
                  <c:v>o</c:v>
                </c:pt>
              </c:strCache>
            </c:strRef>
          </c:cat>
          <c:val>
            <c:numRef>
              <c:f>Sheet1!$B$2:$B$6</c:f>
              <c:numCache>
                <c:formatCode>General</c:formatCode>
                <c:ptCount val="5"/>
                <c:pt idx="0">
                  <c:v>72</c:v>
                </c:pt>
                <c:pt idx="1">
                  <c:v>101</c:v>
                </c:pt>
                <c:pt idx="2">
                  <c:v>108</c:v>
                </c:pt>
                <c:pt idx="3">
                  <c:v>108</c:v>
                </c:pt>
                <c:pt idx="4">
                  <c:v>111</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100"/>
            </a:pPr>
          </a:p>
        </c:txPr>
        <c:crossAx val="-2113994440"/>
        <c:crosses val="autoZero"/>
        <c:auto val="1"/>
        <c:lblAlgn val="ctr"/>
        <c:lblOffset val="100"/>
        <c:noMultiLvlLbl val="0"/>
      </c:catAx>
      <c:valAx>
        <c:axId val="-2113994440"/>
        <c:scaling>
          <c:max val="140.0"/>
          <c:min val="0.0"/>
        </c:scaling>
        <c:delete val="0"/>
        <c:axPos val="l"/>
        <c:majorGridlines>
          <c:spPr>
            <a:ln>
              <a:solidFill>
                <a:srgbClr val="D9D2C3"/>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bytes in UTF-8</c:v>
                </c:pt>
              </c:strCache>
            </c:strRef>
          </c:tx>
          <c:spPr>
            <a:solidFill>
              <a:srgbClr val="0E7C86"/>
            </a:solidFill>
          </c:spPr>
          <c:cat>
            <c:strRef>
              <c:f>Sheet1!$A$2:$A$4</c:f>
              <c:strCache>
                <c:ptCount val="3"/>
                <c:pt idx="0">
                  <c:v>a</c:v>
                </c:pt>
                <c:pt idx="1">
                  <c:v>€</c:v>
                </c:pt>
                <c:pt idx="2">
                  <c:v>é</c:v>
                </c:pt>
              </c:strCache>
            </c:strRef>
          </c:cat>
          <c:val>
            <c:numRef>
              <c:f>Sheet1!$B$2:$B$4</c:f>
              <c:numCache>
                <c:formatCode>General</c:formatCode>
                <c:ptCount val="3"/>
                <c:pt idx="0">
                  <c:v>1</c:v>
                </c:pt>
                <c:pt idx="1">
                  <c:v>3</c:v>
                </c:pt>
                <c:pt idx="2">
                  <c:v>2</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100"/>
            </a:pPr>
          </a:p>
        </c:txPr>
        <c:crossAx val="-2113994440"/>
        <c:crosses val="autoZero"/>
        <c:auto val="1"/>
        <c:lblAlgn val="ctr"/>
        <c:lblOffset val="100"/>
        <c:noMultiLvlLbl val="0"/>
      </c:catAx>
      <c:valAx>
        <c:axId val="-2113994440"/>
        <c:scaling>
          <c:max val="5.0"/>
          <c:min val="0.0"/>
        </c:scaling>
        <c:delete val="0"/>
        <c:axPos val="l"/>
        <c:majorGridlines>
          <c:spPr>
            <a:ln>
              <a:solidFill>
                <a:srgbClr val="D9D2C3"/>
              </a:solidFill>
            </a:ln>
          </c:spPr>
        </c:majorGridlines>
        <c:majorTickMark val="out"/>
        <c:minorTickMark val="none"/>
        <c:tickLblPos val="nextTo"/>
        <c:spPr>
          <a:ln>
            <a:noFill/>
          </a:ln>
        </c:spPr>
        <c:txPr>
          <a:bodyPr/>
          <a:lstStyle/>
          <a:p>
            <a:pPr>
              <a:defRPr sz="1100"/>
            </a:pPr>
          </a:p>
        </c:txPr>
        <c:crossAx val="-2068027336"/>
        <c:crosses val="autoZero"/>
        <c:majorUnit val="1.0"/>
      </c:valAx>
    </c:plotArea>
    <c:dispBlanksAs val="gap"/>
  </c:chart>
  <c:txPr>
    <a:bodyPr/>
    <a:lstStyle/>
    <a:p>
      <a:pPr>
        <a:defRPr sz="11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Book prints</c:v>
                </c:pt>
              </c:strCache>
            </c:strRef>
          </c:tx>
          <c:spPr>
            <a:solidFill>
              <a:srgbClr val="0E7C86"/>
            </a:solidFill>
          </c:spPr>
          <c:cat>
            <c:strRef>
              <c:f>Sheet1!$A$2:$A$3</c:f>
              <c:strCache>
                <c:ptCount val="2"/>
                <c:pt idx="0">
                  <c:v>'Hello'.rjust(20)</c:v>
                </c:pt>
                <c:pt idx="1">
                  <c:v>'Hello, World'.rjust(20)</c:v>
                </c:pt>
              </c:strCache>
            </c:strRef>
          </c:cat>
          <c:val>
            <c:numRef>
              <c:f>Sheet1!$B$2:$B$3</c:f>
              <c:numCache>
                <c:formatCode>General</c:formatCode>
                <c:ptCount val="2"/>
                <c:pt idx="0">
                  <c:v>14</c:v>
                </c:pt>
                <c:pt idx="1">
                  <c:v>9</c:v>
                </c:pt>
              </c:numCache>
            </c:numRef>
          </c:val>
        </c:ser>
        <c:ser>
          <c:idx val="1"/>
          <c:order val="1"/>
          <c:tx>
            <c:strRef>
              <c:f>Sheet1!$C$1</c:f>
              <c:strCache>
                <c:ptCount val="1"/>
                <c:pt idx="0">
                  <c:v>Python gives</c:v>
                </c:pt>
              </c:strCache>
            </c:strRef>
          </c:tx>
          <c:spPr>
            <a:solidFill>
              <a:srgbClr val="B7791F"/>
            </a:solidFill>
          </c:spPr>
          <c:cat>
            <c:strRef>
              <c:f>Sheet1!$A$2:$A$3</c:f>
              <c:strCache>
                <c:ptCount val="2"/>
                <c:pt idx="0">
                  <c:v>'Hello'.rjust(20)</c:v>
                </c:pt>
                <c:pt idx="1">
                  <c:v>'Hello, World'.rjust(20)</c:v>
                </c:pt>
              </c:strCache>
            </c:strRef>
          </c:cat>
          <c:val>
            <c:numRef>
              <c:f>Sheet1!$C$2:$C$3</c:f>
              <c:numCache>
                <c:formatCode>General</c:formatCode>
                <c:ptCount val="2"/>
                <c:pt idx="0">
                  <c:v>15</c:v>
                </c:pt>
                <c:pt idx="1">
                  <c:v>8</c:v>
                </c:pt>
              </c:numCache>
            </c:numRef>
          </c:val>
        </c:ser>
        <c:dLbls>
          <c:numFmt formatCode="General" sourceLinked="0"/>
          <c:txPr>
            <a:bodyPr/>
            <a:lstStyle/>
            <a:p>
              <a:pPr>
                <a:defRPr sz="105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5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50"/>
            </a:pPr>
          </a:p>
        </c:txPr>
        <c:crossAx val="-2068027336"/>
        <c:crosses val="autoZero"/>
      </c:valAx>
    </c:plotArea>
    <c:legend>
      <c:legendPos val="t"/>
      <c:overlay val="0"/>
      <c:txPr>
        <a:bodyPr/>
        <a:lstStyle/>
        <a:p>
          <a:pPr>
            <a:defRPr sz="1050"/>
          </a:pPr>
        </a:p>
      </c:txPr>
    </c:legend>
    <c:dispBlanksAs val="gap"/>
  </c:chart>
  <c:txPr>
    <a:bodyPr/>
    <a:lstStyle/>
    <a:p>
      <a:pPr>
        <a:defRPr sz="105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width</c:v>
                </c:pt>
              </c:strCache>
            </c:strRef>
          </c:tx>
          <c:spPr>
            <a:solidFill>
              <a:srgbClr val="0E7C86"/>
            </a:solidFill>
          </c:spPr>
          <c:cat>
            <c:strRef>
              <c:f>Sheet1!$A$2:$A$4</c:f>
              <c:strCache>
                <c:ptCount val="3"/>
                <c:pt idx="0">
                  <c:v>column 1</c:v>
                </c:pt>
                <c:pt idx="1">
                  <c:v>column 2</c:v>
                </c:pt>
                <c:pt idx="2">
                  <c:v>column 3</c:v>
                </c:pt>
              </c:strCache>
            </c:strRef>
          </c:cat>
          <c:val>
            <c:numRef>
              <c:f>Sheet1!$B$2:$B$4</c:f>
              <c:numCache>
                <c:formatCode>General</c:formatCode>
                <c:ptCount val="3"/>
                <c:pt idx="0">
                  <c:v>8</c:v>
                </c:pt>
                <c:pt idx="1">
                  <c:v>5</c:v>
                </c:pt>
                <c:pt idx="2">
                  <c:v>5</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methods</c:v>
                </c:pt>
              </c:strCache>
            </c:strRef>
          </c:tx>
          <c:spPr>
            <a:solidFill>
              <a:srgbClr val="0E7C86"/>
            </a:solidFill>
          </c:spPr>
          <c:cat>
            <c:strRef>
              <c:f>Sheet1!$A$2:$A$4</c:f>
              <c:strCache>
                <c:ptCount val="3"/>
                <c:pt idx="0">
                  <c:v>New string</c:v>
                </c:pt>
                <c:pt idx="1">
                  <c:v>True or False</c:v>
                </c:pt>
                <c:pt idx="2">
                  <c:v>Number or pieces</c:v>
                </c:pt>
              </c:strCache>
            </c:strRef>
          </c:cat>
          <c:val>
            <c:numRef>
              <c:f>Sheet1!$B$2:$B$4</c:f>
              <c:numCache>
                <c:formatCode>General</c:formatCode>
                <c:ptCount val="3"/>
                <c:pt idx="0">
                  <c:v>13</c:v>
                </c:pt>
                <c:pt idx="1">
                  <c:v>9</c:v>
                </c:pt>
                <c:pt idx="2">
                  <c:v>5</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treats text as data you can cut, test, format and count. Every code slide shows the code, a plain explanation, and what the run printed as a table, chart or drawing.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literals and reading, formatting, methods, characters and bytes, programs. Every code slide has a number in the chapter-code tab of the page, in this same order. Tell students to run each example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operations make a new string, and which only test it? Which printed outputs differ in current Python? We answer both on the summary and the changes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literal is how you write text in code. Index and slice read pieces of it. The in operator asks whether one text sits in another. Watch how the backslash changes meaning.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row aloud and ask students to add their own picture. The point is that a string behaves like a fixed object: read it, copy it, never edit it in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put an apostrophe in text. The backslash is never stored. Prefix b makes bytes, prefix r keeps a str. Ask students to predict the lengths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escapes from the book, each one character long. The backslash is only a signal to Python. Mention that more escapes exist, listed on the changes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raw string keeps every backslash, so r backslash n is two characters. Triple quotes allow both quote kinds and real line breaks.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cinema row has numbered seats. The index names one seat; a slice names a block. The stop seat is not included. In is a yes or no search.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starts at zero. Negative indexes count from the end. The last index is the length minus one. Out-of-range indexes raise an error.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stop index is not included. Leave a side empty to run to the edge. A step of minus one reverses the string.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string cannot change in place. To edit, build a new string from slices. The in test is case sensitive, and the empty string is in every string.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Formatting puts values into text. The f-string is the modern way; the older styles still appear in existing code. The text after a colon shapes the value.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Formatting is mail-merge. Write the pattern once, fill the blanks from variables. The old styles fill blanks in order or by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498 was created on 1 August 2015 and reached Python 3.6. Show the proposal page. Ask: what did programmers write before, and what went wrong when the values and the text drifted apart?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Braces hold expressions, not only names. Doubled braces print a single brace. Run it, then change the age and run again.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colon comes the format specifier: decimals, width, alignment, separators. The equals sign shows the name and the value, ideal for debugging.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Percent s and format are older but still common in existing code. Plus joins strings but needs str for numbers. All four styles print the same 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Methods either make a new string, test the string, or cut it. None changes the original. Keep that rule in mind and the long method list becomes short.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methods are a photocopier: the original page stays as it was. The is-tests are a checklist that returns True or False for the whole string.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upper and lower return new strings. Print or store the result. For caseless comparison casefold is stronger than lower.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answers for the whole string. An empty or mixed string fails isalpha. A single space is not alpha, not alnum, but isspace.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isupper and islower need at least one letter. Digits alone are neither. istitle wants every word capitalised.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cuts, join ties. Start and end tests look at one edge only. Ask which is-test fits a PIN, a title, an empty line.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startswith and endswith test one edge and accept a tuple. removeprefix and removesuffix cut exact text. strip removes a set of characters, which is different.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join glues a list. split cuts at a marker or at whitespace. splitlines handles every line ending. partition cuts once and keeps the separator.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Padding puts spaces around a word so columns line up. Strip removes the spaces again, from one end or both.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Padding aligns columns. The optional second argument is the fill character. The bar shows the trailing padding.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lengths show what each call cut. strip with an argument removes any of those characters, not a word.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returns an index or minus one. A second argument starts the search later. replace returns a new string.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Characters are numbers; bytes are how those numbers are stored. ord and chr switch between character and number. The encoding decides the byte count.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character is a locker with a number. The encoding is the box used to ship that number. UTF-8 uses one to four boxes.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19 February 1991 nine companies announced Unicode Inc. Every ord and chr call you make reads from the table this group maintains. Ask students for a character that is not on their keyboard.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 and chr are inverses. The numbers in the chart are Unicode code points. A capital and its small letter differ by 32.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 Pike wrote that UTF-8 was designed on a placemat in a New Jersey diner in September 1992. Ask: why must a new encoding keep ASCII working? Then run the example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Characters are not bytes. UTF-8 spends one to four bytes per character. ASCII cannot hold the accent, so errors replace puts a question mark.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book's own rjust lines. Python adds 15 and 8 spaces. The book printed 14 and 9. Trust the run, then report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Three small programs and the clipboard idea. Each one uses only what parts one to four taught. Predict the output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clipboard is a one-slot shelf. Copy replaces what is there; paste only reads. A clipboard program reads the shelf, changes the text, puts it back.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 from the book, shortened. enumerate gives the position. Even positions go lower, odd positions go upper.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finds the first vowel. Move the opening consonants to the end and add ay. Words that start with a vowel just get yay.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is a list of columns. Column width is the longest string. zip turns columns into rows. rjust pads every cell.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Larry Tesler brought cut, copy and paste to computing at Xerox PARC in 1973. The clipboard programs of this chapter call the same idea in two functions. Ask who has used paste today.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pyperclip is not installed everywhere, so a one-item list stands in for the clipboard. The three steps are the same: paste, change, copy.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These features are not in the book. The t-string needs Python 3.14. Open mode defaults to the locale encoding until 3.15.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No string operation changes a string in place. The chart sorts the methods by what they give back.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hyperlink" Target="https://peps.python.org/pep-0498/"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hyperlink" Target="https://www.unicode.org/history/first-pr.ht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chart" Target="../charts/char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jpg"/><Relationship Id="rId4" Type="http://schemas.openxmlformats.org/officeDocument/2006/relationships/hyperlink" Target="https://doc.cat-v.org/bell_labs/utf-8_histor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chart" Target="../charts/char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chart" Target="../charts/char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jpg"/><Relationship Id="rId4" Type="http://schemas.openxmlformats.org/officeDocument/2006/relationships/hyperlink" Target="https://en.wikipedia.org/wiki/Larry_Tesler"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chart" Target="../charts/char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automatetheboringstuff.com/3e/chapter8.html" TargetMode="External"/><Relationship Id="rId4" Type="http://schemas.openxmlformats.org/officeDocument/2006/relationships/hyperlink" Target="https://docs.python.org/3/library/stdtypes.html#string-methods" TargetMode="External"/><Relationship Id="rId5" Type="http://schemas.openxmlformats.org/officeDocument/2006/relationships/hyperlink" Target="https://docs.python.org/3/tutorial/introduction.html#text" TargetMode="External"/><Relationship Id="rId6" Type="http://schemas.openxmlformats.org/officeDocument/2006/relationships/hyperlink" Target="https://docs.python.org/3/library/string.html#format-specification-mini-language" TargetMode="External"/><Relationship Id="rId7" Type="http://schemas.openxmlformats.org/officeDocument/2006/relationships/hyperlink" Target="https://docs.python.org/3/howto/unicode.html" TargetMode="External"/><Relationship Id="rId8" Type="http://schemas.openxmlformats.org/officeDocument/2006/relationships/hyperlink" Target="https://peps.python.org/pep-0498/" TargetMode="External"/><Relationship Id="rId9" Type="http://schemas.openxmlformats.org/officeDocument/2006/relationships/hyperlink" Target="https://peps.python.org/pep-0750/" TargetMode="External"/><Relationship Id="rId10" Type="http://schemas.openxmlformats.org/officeDocument/2006/relationships/hyperlink" Target="https://doc.cat-v.org/bell_labs/utf-8_history" TargetMode="External"/><Relationship Id="rId11" Type="http://schemas.openxmlformats.org/officeDocument/2006/relationships/hyperlink" Target="https://www.unicode.org/history/first-pr.htm" TargetMode="External"/><Relationship Id="rId12" Type="http://schemas.openxmlformats.org/officeDocument/2006/relationships/hyperlink" Target="https://en.wikipedia.org/wiki/Larry_Tesler" TargetMode="External"/><Relationship Id="rId13" Type="http://schemas.openxmlformats.org/officeDocument/2006/relationships/hyperlink" Target="https://www.youtube.com/watch?v=MijmeoH9LT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Strings and Text Editing</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8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24</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57</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Literals and reading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quotes, escapes, slices,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Formatting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13 - 18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f-strings, format specs, older styles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String methods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19 - 30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case, tests, split, join, padding, strip, find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Characters and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31 - 37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ord, chr, UTF-8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Programs and the clipboard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38 - 44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alternating case, Pig Latin, table printer, clipboard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45 - 48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24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operations on a string make a new string, which only test it, and why can none of them change it?</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46: none changes it; each makes a new string or answers.</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and concepts of the book differ in current Python, and on what source?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37 and 45: the rjust lines and the newer features.</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Strings never change; operations make new strings or answers.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Literals and reading a string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How to write text in code, and how to read pieces of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String literal</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Text written between quotes in the code.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Escape sequence</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backslash code for a character you cannot type.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Raw string</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literal that keeps every backslash as typed.</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Index and slice</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number for one character, and a range of them.</a:t>
            </a:r>
          </a:p>
        </p:txBody>
      </p:sp>
      <p:sp>
        <p:nvSpPr>
          <p:cNvPr id="13" name="Rounded Rectangle 12"/>
          <p:cNvSpPr/>
          <p:nvPr/>
        </p:nvSpPr>
        <p:spPr>
          <a:xfrm>
            <a:off x="457200" y="4050791"/>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The in operator</a:t>
            </a:r>
          </a:p>
        </p:txBody>
      </p:sp>
      <p:sp>
        <p:nvSpPr>
          <p:cNvPr id="14" name="meaning"/>
          <p:cNvSpPr txBox="1"/>
          <p:nvPr/>
        </p:nvSpPr>
        <p:spPr>
          <a:xfrm>
            <a:off x="2606040" y="4050791"/>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yes-or-no test for text inside text.</a:t>
            </a:r>
          </a:p>
        </p:txBody>
      </p:sp>
      <p:graphicFrame>
        <p:nvGraphicFramePr>
          <p:cNvPr id="15" name="table"/>
          <p:cNvGraphicFramePr>
            <a:graphicFrameLocks noGrp="1"/>
          </p:cNvGraphicFramePr>
          <p:nvPr/>
        </p:nvGraphicFramePr>
        <p:xfrm>
          <a:off x="5760720" y="1417320"/>
          <a:ext cx="3017519" cy="3246120"/>
        </p:xfrm>
        <a:graphic>
          <a:graphicData uri="http://schemas.openxmlformats.org/drawingml/2006/table">
            <a:tbl>
              <a:tblPr firstRow="0" bandRow="0"/>
              <a:tblGrid>
                <a:gridCol w="484293"/>
                <a:gridCol w="2533226"/>
              </a:tblGrid>
              <a:tr h="36068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0680">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literals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Two kinds of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Escape sequences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Raw strings and triple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reading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Indexes: a number for every 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Slices: cutting out a piece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in, not in and strings that never change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literals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string is a necklace of beads: you can read every bead, but you cannot swap one in place.</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405765">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05765">
                <a:tc>
                  <a:txBody>
                    <a:bodyPr wrap="square"/>
                    <a:lstStyle/>
                    <a:p>
                      <a:r>
                        <a:rPr sz="1300" b="1" i="0">
                          <a:solidFill>
                            <a:srgbClr val="1F2933"/>
                          </a:solidFill>
                          <a:latin typeface="Calibri"/>
                        </a:rPr>
                        <a:t>Working with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necklace of letters. You can look at any bead, count them, or make a new necklace.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String Literals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sign written exactly as it will hang on the shop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Double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bigger envelope, with room inside for an apostrophe.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Escape Sequences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stage direction in a script: it says 'tab here' instead of being spoken.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Raw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photocopy: every mark, every backslash, is copied as it stands.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Multiline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notepad: the line breaks you press stay on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Multiline Comments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sticky note on the code that Python never reads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kinds of quotes</a:t>
            </a:r>
          </a:p>
        </p:txBody>
      </p:sp>
      <p:sp>
        <p:nvSpPr>
          <p:cNvPr id="4" name="code"/>
          <p:cNvSpPr/>
          <p:nvPr/>
        </p:nvSpPr>
        <p:spPr>
          <a:xfrm>
            <a:off x="365760" y="841248"/>
            <a:ext cx="4530851"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"Alice's cat"</a:t>
            </a:r>
          </a:p>
          <a:p>
            <a:pPr algn="l"/>
            <a:r>
              <a:rPr sz="1100" b="0" i="0">
                <a:solidFill>
                  <a:srgbClr val="8FA3B8"/>
                </a:solidFill>
                <a:latin typeface="Courier New"/>
              </a:rPr>
              <a:t>&gt;&gt;&gt; </a:t>
            </a:r>
            <a:r>
              <a:rPr sz="1100" b="0" i="0">
                <a:solidFill>
                  <a:srgbClr val="E6EDF3"/>
                </a:solidFill>
                <a:latin typeface="Courier New"/>
              </a:rPr>
              <a: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'Bob\'s cat'</a:t>
            </a:r>
          </a:p>
        </p:txBody>
      </p:sp>
      <p:sp>
        <p:nvSpPr>
          <p:cNvPr id="5" name="explanation"/>
          <p:cNvSpPr txBox="1"/>
          <p:nvPr/>
        </p:nvSpPr>
        <p:spPr>
          <a:xfrm>
            <a:off x="4878324" y="841248"/>
            <a:ext cx="3899915" cy="523748"/>
          </a:xfrm>
          <a:prstGeom prst="rect">
            <a:avLst/>
          </a:prstGeom>
          <a:noFill/>
        </p:spPr>
        <p:txBody>
          <a:bodyPr wrap="square" lIns="128016" rIns="128016" tIns="18288" bIns="18288" anchor="ctr">
            <a:spAutoFit/>
          </a:bodyPr>
          <a:lstStyle/>
          <a:p>
            <a:r>
              <a:rPr sz="1200" b="0" i="0">
                <a:solidFill>
                  <a:srgbClr val="1F2933"/>
                </a:solidFill>
                <a:latin typeface="Calibri"/>
              </a:rPr>
              <a:t>Double quotes let an apostrophe sit inside the text. In single quotes a backslash escapes it.</a:t>
            </a:r>
          </a:p>
        </p:txBody>
      </p:sp>
      <p:sp>
        <p:nvSpPr>
          <p:cNvPr id="6" name="code"/>
          <p:cNvSpPr/>
          <p:nvPr/>
        </p:nvSpPr>
        <p:spPr>
          <a:xfrm>
            <a:off x="365760" y="1419860"/>
            <a:ext cx="453085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a</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b</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b</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4878324" y="1419860"/>
            <a:ext cx="3899915" cy="699516"/>
          </a:xfrm>
          <a:prstGeom prst="rect">
            <a:avLst/>
          </a:prstGeom>
          <a:noFill/>
        </p:spPr>
        <p:txBody>
          <a:bodyPr wrap="square" lIns="128016" rIns="128016" tIns="18288" bIns="18288" anchor="ctr">
            <a:spAutoFit/>
          </a:bodyPr>
          <a:lstStyle/>
          <a:p>
            <a:r>
              <a:rPr sz="1200" b="0" i="0">
                <a:solidFill>
                  <a:srgbClr val="1F2933"/>
                </a:solidFill>
                <a:latin typeface="Calibri"/>
              </a:rPr>
              <a:t>Both strings hold a plain apostrophe. The backslash is not stored, so lengths count real characters only.</a:t>
            </a:r>
          </a:p>
        </p:txBody>
      </p:sp>
      <p:sp>
        <p:nvSpPr>
          <p:cNvPr id="8" name="code"/>
          <p:cNvSpPr/>
          <p:nvPr/>
        </p:nvSpPr>
        <p:spPr>
          <a:xfrm>
            <a:off x="365760" y="2174240"/>
            <a:ext cx="453085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b</a:t>
            </a:r>
            <a:r>
              <a:rPr sz="1100" b="0" i="0">
                <a:solidFill>
                  <a:srgbClr val="9BE3A8"/>
                </a:solidFill>
                <a:latin typeface="Courier New"/>
              </a:rPr>
              <a:t>'a'</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r</a:t>
            </a:r>
            <a:r>
              <a:rPr sz="1100" b="0" i="0">
                <a:solidFill>
                  <a:srgbClr val="9BE3A8"/>
                </a:solidFill>
                <a:latin typeface="Courier New"/>
              </a:rPr>
              <a:t>'a'</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9" name="explanation"/>
          <p:cNvSpPr txBox="1"/>
          <p:nvPr/>
        </p:nvSpPr>
        <p:spPr>
          <a:xfrm>
            <a:off x="4878324" y="2174240"/>
            <a:ext cx="3899915" cy="509016"/>
          </a:xfrm>
          <a:prstGeom prst="rect">
            <a:avLst/>
          </a:prstGeom>
          <a:noFill/>
        </p:spPr>
        <p:txBody>
          <a:bodyPr wrap="square" lIns="128016" rIns="128016" tIns="18288" bIns="18288" anchor="ctr">
            <a:spAutoFit/>
          </a:bodyPr>
          <a:lstStyle/>
          <a:p>
            <a:r>
              <a:rPr sz="1200" b="0" i="0">
                <a:solidFill>
                  <a:srgbClr val="1F2933"/>
                </a:solidFill>
                <a:latin typeface="Calibri"/>
              </a:rPr>
              <a:t>A b prefix builds bytes, not text. An r prefix still builds an ordinary str.</a:t>
            </a:r>
          </a:p>
        </p:txBody>
      </p:sp>
      <p:sp>
        <p:nvSpPr>
          <p:cNvPr id="10" name="result label"/>
          <p:cNvSpPr txBox="1"/>
          <p:nvPr/>
        </p:nvSpPr>
        <p:spPr>
          <a:xfrm>
            <a:off x="365760" y="27564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30728"/>
          <a:ext cx="8412479" cy="1577845"/>
        </p:xfrm>
        <a:graphic>
          <a:graphicData uri="http://schemas.openxmlformats.org/drawingml/2006/table">
            <a:tbl>
              <a:tblPr firstRow="0" bandRow="0"/>
              <a:tblGrid>
                <a:gridCol w="3282919"/>
                <a:gridCol w="2667371"/>
                <a:gridCol w="1025912"/>
                <a:gridCol w="1436277"/>
              </a:tblGrid>
              <a:tr h="315569">
                <a:tc>
                  <a:txBody>
                    <a:bodyPr wrap="square"/>
                    <a:lstStyle/>
                    <a:p>
                      <a:r>
                        <a:rPr sz="1100" b="1" i="0">
                          <a:solidFill>
                            <a:srgbClr val="FFFFFF"/>
                          </a:solidFill>
                          <a:latin typeface="Calibri"/>
                        </a:rPr>
                        <a:t>Literal you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Text it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Length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5569">
                <a:tc>
                  <a:txBody>
                    <a:bodyPr wrap="square"/>
                    <a:lstStyle/>
                    <a:p>
                      <a:r>
                        <a:rPr sz="1100" b="0" i="0">
                          <a:solidFill>
                            <a:srgbClr val="1F2933"/>
                          </a:solidFill>
                          <a:latin typeface="Courier New"/>
                        </a:rPr>
                        <a:t>"Alice's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ourier New"/>
                        </a:rPr>
                        <a:t>Alice's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5569">
                <a:tc>
                  <a:txBody>
                    <a:bodyPr wrap="square"/>
                    <a:lstStyle/>
                    <a:p>
                      <a:r>
                        <a:rPr sz="1100" b="0" i="0">
                          <a:solidFill>
                            <a:srgbClr val="1F2933"/>
                          </a:solidFill>
                          <a:latin typeface="Courier New"/>
                        </a:rPr>
                        <a:t>'Bob\'s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ourier New"/>
                        </a:rPr>
                        <a:t>Bob's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5569">
                <a:tc>
                  <a:txBody>
                    <a:bodyPr wrap="square"/>
                    <a:lstStyle/>
                    <a:p>
                      <a:r>
                        <a:rPr sz="1100" b="0" i="0">
                          <a:solidFill>
                            <a:srgbClr val="1F2933"/>
                          </a:solidFill>
                          <a:latin typeface="Courier New"/>
                        </a:rPr>
                        <a:t>b'a'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ourier New"/>
                        </a:rPr>
                        <a:t>b'a'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5569">
                <a:tc>
                  <a:txBody>
                    <a:bodyPr wrap="square"/>
                    <a:lstStyle/>
                    <a:p>
                      <a:r>
                        <a:rPr sz="1100" b="0" i="0">
                          <a:solidFill>
                            <a:srgbClr val="1F2933"/>
                          </a:solidFill>
                          <a:latin typeface="Courier New"/>
                        </a:rPr>
                        <a:t>r'a'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backslash is typed but never stored.</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Escape sequences</a:t>
            </a:r>
          </a:p>
        </p:txBody>
      </p:sp>
      <p:sp>
        <p:nvSpPr>
          <p:cNvPr id="4" name="code"/>
          <p:cNvSpPr/>
          <p:nvPr/>
        </p:nvSpPr>
        <p:spPr>
          <a:xfrm>
            <a:off x="365760" y="841248"/>
            <a:ext cx="473659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'a\tb'</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'a\tb'</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'line1\nline2'</a:t>
            </a:r>
            <a:r>
              <a:rPr sz="1400" b="0" i="0">
                <a:solidFill>
                  <a:srgbClr val="E6EDF3"/>
                </a:solidFill>
                <a:latin typeface="Courier New"/>
              </a:rPr>
              <a:t>.</a:t>
            </a:r>
            <a:r>
              <a:rPr sz="1400" b="0" i="0">
                <a:solidFill>
                  <a:srgbClr val="E6EDF3"/>
                </a:solidFill>
                <a:latin typeface="Courier New"/>
              </a:rPr>
              <a:t>split</a:t>
            </a:r>
            <a:r>
              <a:rPr sz="1400" b="0" i="0">
                <a:solidFill>
                  <a:srgbClr val="E6EDF3"/>
                </a:solidFill>
                <a:latin typeface="Courier New"/>
              </a:rPr>
              <a:t>(</a:t>
            </a:r>
            <a:r>
              <a:rPr sz="1400" b="0" i="0">
                <a:solidFill>
                  <a:srgbClr val="9BE3A8"/>
                </a:solidFill>
                <a:latin typeface="Courier New"/>
              </a:rPr>
              <a:t>'\n'</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5084064" y="841248"/>
            <a:ext cx="3694175" cy="723328"/>
          </a:xfrm>
          <a:prstGeom prst="rect">
            <a:avLst/>
          </a:prstGeom>
          <a:noFill/>
        </p:spPr>
        <p:txBody>
          <a:bodyPr wrap="square" lIns="128016" rIns="128016" tIns="18288" bIns="18288" anchor="ctr">
            <a:spAutoFit/>
          </a:bodyPr>
          <a:lstStyle/>
          <a:p>
            <a:r>
              <a:rPr sz="1250" b="0" i="0">
                <a:solidFill>
                  <a:srgbClr val="1F2933"/>
                </a:solidFill>
                <a:latin typeface="Calibri"/>
              </a:rPr>
              <a:t>A tab and a newline each count as one character. Splitting on the newline cuts the text into two lines.</a:t>
            </a:r>
          </a:p>
        </p:txBody>
      </p:sp>
      <p:sp>
        <p:nvSpPr>
          <p:cNvPr id="6" name="code"/>
          <p:cNvSpPr/>
          <p:nvPr/>
        </p:nvSpPr>
        <p:spPr>
          <a:xfrm>
            <a:off x="365760" y="1619440"/>
            <a:ext cx="473659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5084064" y="1619440"/>
            <a:ext cx="3694175" cy="723328"/>
          </a:xfrm>
          <a:prstGeom prst="rect">
            <a:avLst/>
          </a:prstGeom>
          <a:noFill/>
        </p:spPr>
        <p:txBody>
          <a:bodyPr wrap="square" lIns="128016" rIns="128016" tIns="18288" bIns="18288" anchor="ctr">
            <a:spAutoFit/>
          </a:bodyPr>
          <a:lstStyle/>
          <a:p>
            <a:r>
              <a:rPr sz="1250" b="0" i="0">
                <a:solidFill>
                  <a:srgbClr val="1F2933"/>
                </a:solidFill>
                <a:latin typeface="Calibri"/>
              </a:rPr>
              <a:t>An escaped backslash or quote is also one character. The backslash only tells Python what comes next.</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8412477" cy="1152144"/>
        </p:xfrm>
        <a:graphic>
          <a:graphicData uri="http://schemas.openxmlformats.org/drawingml/2006/table">
            <a:tbl>
              <a:tblPr firstRow="0" bandRow="0"/>
              <a:tblGrid>
                <a:gridCol w="1242752"/>
                <a:gridCol w="1433945"/>
                <a:gridCol w="1433945"/>
                <a:gridCol w="1433945"/>
                <a:gridCol w="1433945"/>
                <a:gridCol w="1433945"/>
              </a:tblGrid>
              <a:tr h="384048">
                <a:tc>
                  <a:txBody>
                    <a:bodyPr wrap="square"/>
                    <a:lstStyle/>
                    <a:p>
                      <a:r>
                        <a:rPr sz="1300" b="1" i="0">
                          <a:solidFill>
                            <a:srgbClr val="FFFFFF"/>
                          </a:solidFill>
                          <a:latin typeface="Calibri"/>
                        </a:rPr>
                        <a:t>Escape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r>
                        <a:rPr sz="1300" b="1" i="0">
                          <a:solidFill>
                            <a:srgbClr val="1F2933"/>
                          </a:solidFill>
                          <a:latin typeface="Calibri"/>
                        </a:rPr>
                        <a:t>Makes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apostrophe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double quote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tab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new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backslash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r>
                        <a:rPr sz="1300" b="1" i="0">
                          <a:solidFill>
                            <a:srgbClr val="1F2933"/>
                          </a:solidFill>
                          <a:latin typeface="Calibri"/>
                        </a:rPr>
                        <a:t>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escape is two typed characters and one stored character.</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Raw strings and triple quotes</a:t>
            </a:r>
          </a:p>
        </p:txBody>
      </p:sp>
      <p:sp>
        <p:nvSpPr>
          <p:cNvPr id="4" name="code"/>
          <p:cNvSpPr/>
          <p:nvPr/>
        </p:nvSpPr>
        <p:spPr>
          <a:xfrm>
            <a:off x="365760" y="841248"/>
            <a:ext cx="420319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path</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t>
            </a:r>
            <a:r>
              <a:rPr sz="1400" b="0" i="0">
                <a:solidFill>
                  <a:srgbClr val="9BE3A8"/>
                </a:solidFill>
                <a:latin typeface="Courier New"/>
              </a:rPr>
              <a:t>'C:\Users\Alice\Desktop'</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path</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path</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r</a:t>
            </a:r>
            <a:r>
              <a:rPr sz="1400" b="0" i="0">
                <a:solidFill>
                  <a:srgbClr val="9BE3A8"/>
                </a:solidFill>
                <a:latin typeface="Courier New"/>
              </a:rPr>
              <a:t>'\n'</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'\n'</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550664" y="841248"/>
            <a:ext cx="4227575" cy="833628"/>
          </a:xfrm>
          <a:prstGeom prst="rect">
            <a:avLst/>
          </a:prstGeom>
          <a:noFill/>
        </p:spPr>
        <p:txBody>
          <a:bodyPr wrap="square" lIns="128016" rIns="128016" tIns="18288" bIns="18288" anchor="ctr">
            <a:spAutoFit/>
          </a:bodyPr>
          <a:lstStyle/>
          <a:p>
            <a:r>
              <a:rPr sz="1250" b="0" i="0">
                <a:solidFill>
                  <a:srgbClr val="1F2933"/>
                </a:solidFill>
                <a:latin typeface="Calibri"/>
              </a:rPr>
              <a:t>A raw string keeps every backslash as typed. So r'\n' has two characters, while '\n' has one.</a:t>
            </a:r>
          </a:p>
        </p:txBody>
      </p:sp>
      <p:sp>
        <p:nvSpPr>
          <p:cNvPr id="6" name="code"/>
          <p:cNvSpPr/>
          <p:nvPr/>
        </p:nvSpPr>
        <p:spPr>
          <a:xfrm>
            <a:off x="365760" y="1729740"/>
            <a:ext cx="420319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note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'''She said "it's fine"'''</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note</a:t>
            </a:r>
            <a:r>
              <a:rPr sz="1400" b="0" i="0">
                <a:solidFill>
                  <a:srgbClr val="E6EDF3"/>
                </a:solidFill>
                <a:latin typeface="Courier New"/>
              </a:rPr>
              <a:t>)</a:t>
            </a:r>
          </a:p>
        </p:txBody>
      </p:sp>
      <p:sp>
        <p:nvSpPr>
          <p:cNvPr id="7" name="explanation"/>
          <p:cNvSpPr txBox="1"/>
          <p:nvPr/>
        </p:nvSpPr>
        <p:spPr>
          <a:xfrm>
            <a:off x="4550664" y="1729740"/>
            <a:ext cx="4227575" cy="616712"/>
          </a:xfrm>
          <a:prstGeom prst="rect">
            <a:avLst/>
          </a:prstGeom>
          <a:noFill/>
        </p:spPr>
        <p:txBody>
          <a:bodyPr wrap="square" lIns="128016" rIns="128016" tIns="18288" bIns="18288" anchor="ctr">
            <a:spAutoFit/>
          </a:bodyPr>
          <a:lstStyle/>
          <a:p>
            <a:r>
              <a:rPr sz="1250" b="0" i="0">
                <a:solidFill>
                  <a:srgbClr val="1F2933"/>
                </a:solidFill>
                <a:latin typeface="Calibri"/>
              </a:rPr>
              <a:t>Triple quotes may hold both kinds of quote, and real line breaks too. No escapes are needed inside.</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3924"/>
            <a:ext cx="1371600" cy="5029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r'\n'</a:t>
            </a:r>
          </a:p>
        </p:txBody>
      </p:sp>
      <p:cxnSp>
        <p:nvCxnSpPr>
          <p:cNvPr id="10" name="arrow"/>
          <p:cNvCxnSpPr/>
          <p:nvPr/>
        </p:nvCxnSpPr>
        <p:spPr>
          <a:xfrm>
            <a:off x="1783080" y="2945384"/>
            <a:ext cx="6400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14600" y="2693924"/>
            <a:ext cx="502920" cy="5029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12" name="Rounded Rectangle 11"/>
          <p:cNvSpPr/>
          <p:nvPr/>
        </p:nvSpPr>
        <p:spPr>
          <a:xfrm>
            <a:off x="3081528" y="2693924"/>
            <a:ext cx="502920" cy="5029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n</a:t>
            </a:r>
          </a:p>
        </p:txBody>
      </p:sp>
      <p:sp>
        <p:nvSpPr>
          <p:cNvPr id="13" name="TextBox 12"/>
          <p:cNvSpPr txBox="1"/>
          <p:nvPr/>
        </p:nvSpPr>
        <p:spPr>
          <a:xfrm>
            <a:off x="3785615" y="2693924"/>
            <a:ext cx="4389120" cy="502920"/>
          </a:xfrm>
          <a:prstGeom prst="rect">
            <a:avLst/>
          </a:prstGeom>
          <a:noFill/>
        </p:spPr>
        <p:txBody>
          <a:bodyPr wrap="square" lIns="45720" rIns="45720" tIns="27432" bIns="27432" anchor="ctr">
            <a:spAutoFit/>
          </a:bodyPr>
          <a:lstStyle/>
          <a:p>
            <a:r>
              <a:rPr sz="1200" b="0" i="0">
                <a:solidFill>
                  <a:srgbClr val="1F2933"/>
                </a:solidFill>
                <a:latin typeface="Calibri"/>
              </a:rPr>
              <a:t>2 characters - the backslash is kept</a:t>
            </a:r>
          </a:p>
        </p:txBody>
      </p:sp>
      <p:sp>
        <p:nvSpPr>
          <p:cNvPr id="14" name="Rounded Rectangle 13"/>
          <p:cNvSpPr/>
          <p:nvPr/>
        </p:nvSpPr>
        <p:spPr>
          <a:xfrm>
            <a:off x="365760" y="3288284"/>
            <a:ext cx="1371600" cy="5029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'\n'</a:t>
            </a:r>
          </a:p>
        </p:txBody>
      </p:sp>
      <p:cxnSp>
        <p:nvCxnSpPr>
          <p:cNvPr id="15" name="arrow"/>
          <p:cNvCxnSpPr/>
          <p:nvPr/>
        </p:nvCxnSpPr>
        <p:spPr>
          <a:xfrm>
            <a:off x="1783080" y="3539744"/>
            <a:ext cx="6400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514600" y="3288284"/>
            <a:ext cx="502920" cy="5029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17" name="TextBox 16"/>
          <p:cNvSpPr txBox="1"/>
          <p:nvPr/>
        </p:nvSpPr>
        <p:spPr>
          <a:xfrm>
            <a:off x="3218688" y="3288284"/>
            <a:ext cx="4389120" cy="502920"/>
          </a:xfrm>
          <a:prstGeom prst="rect">
            <a:avLst/>
          </a:prstGeom>
          <a:noFill/>
        </p:spPr>
        <p:txBody>
          <a:bodyPr wrap="square" lIns="45720" rIns="45720" tIns="27432" bIns="27432" anchor="ctr">
            <a:spAutoFit/>
          </a:bodyPr>
          <a:lstStyle/>
          <a:p>
            <a:r>
              <a:rPr sz="1200" b="0" i="0">
                <a:solidFill>
                  <a:srgbClr val="1F2933"/>
                </a:solidFill>
                <a:latin typeface="Calibri"/>
              </a:rPr>
              <a:t>1 character - one line break</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Raw keeps backslashes; triple quotes keep line breaks.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reading a string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index is the number on a cinema seat; a slice is a block of neighbouring seats.</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405765">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05765">
                <a:tc>
                  <a:txBody>
                    <a:bodyPr wrap="square"/>
                    <a:lstStyle/>
                    <a:p>
                      <a:r>
                        <a:rPr sz="1300" b="1" i="0">
                          <a:solidFill>
                            <a:srgbClr val="1F2933"/>
                          </a:solidFill>
                          <a:latin typeface="Calibri"/>
                        </a:rPr>
                        <a:t>Indexes and Slices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Seat numbers in one row, counted from the left or back from the right wall.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number on a coat-check ticket: it leads you to exactly one coat.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Slice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piece of cake cut between two marks; the second mark is not included.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The in and not in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Ctrl+F on a page: it only answers yes or 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Counting the beads on the necklace.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notice board: whatever you pin up is shown to everyone.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question at a reception desk: the program waits for the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Indexes: a number for every character</a:t>
            </a:r>
          </a:p>
        </p:txBody>
      </p:sp>
      <p:sp>
        <p:nvSpPr>
          <p:cNvPr id="4" name="code"/>
          <p:cNvSpPr/>
          <p:nvPr/>
        </p:nvSpPr>
        <p:spPr>
          <a:xfrm>
            <a:off x="365760" y="841248"/>
            <a:ext cx="51023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greeting</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'Hello, world!'</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greeting</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greeting</a:t>
            </a:r>
            <a:r>
              <a:rPr sz="1200" b="0" i="0">
                <a:solidFill>
                  <a:srgbClr val="E6EDF3"/>
                </a:solidFill>
                <a:latin typeface="Courier New"/>
              </a:rPr>
              <a:t>[</a:t>
            </a:r>
            <a:r>
              <a:rPr sz="1200" b="0" i="0">
                <a:solidFill>
                  <a:srgbClr val="7CC4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greeting</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449824" y="841248"/>
            <a:ext cx="3328416" cy="723328"/>
          </a:xfrm>
          <a:prstGeom prst="rect">
            <a:avLst/>
          </a:prstGeom>
          <a:noFill/>
        </p:spPr>
        <p:txBody>
          <a:bodyPr wrap="square" lIns="128016" rIns="128016" tIns="18288" bIns="18288" anchor="ctr">
            <a:spAutoFit/>
          </a:bodyPr>
          <a:lstStyle/>
          <a:p>
            <a:r>
              <a:rPr sz="1250" b="0" i="0">
                <a:solidFill>
                  <a:srgbClr val="1F2933"/>
                </a:solidFill>
                <a:latin typeface="Calibri"/>
              </a:rPr>
              <a:t>Counting starts at 0 on the left. Negative numbers count back from the end, so -1 is the last character.</a:t>
            </a:r>
          </a:p>
        </p:txBody>
      </p:sp>
      <p:sp>
        <p:nvSpPr>
          <p:cNvPr id="6" name="code"/>
          <p:cNvSpPr/>
          <p:nvPr/>
        </p:nvSpPr>
        <p:spPr>
          <a:xfrm>
            <a:off x="365760" y="1619440"/>
            <a:ext cx="51023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greeting</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greeting</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greeting</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449824" y="1619440"/>
            <a:ext cx="3328416" cy="723328"/>
          </a:xfrm>
          <a:prstGeom prst="rect">
            <a:avLst/>
          </a:prstGeom>
          <a:noFill/>
        </p:spPr>
        <p:txBody>
          <a:bodyPr wrap="square" lIns="128016" rIns="128016" tIns="18288" bIns="18288" anchor="ctr">
            <a:spAutoFit/>
          </a:bodyPr>
          <a:lstStyle/>
          <a:p>
            <a:r>
              <a:rPr sz="1250" b="0" i="0">
                <a:solidFill>
                  <a:srgbClr val="1F2933"/>
                </a:solidFill>
                <a:latin typeface="Calibri"/>
              </a:rPr>
              <a:t>The last index is the length minus one. Index -1 reaches the same character without any arithmetic.</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1005839" y="3257169"/>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H</a:t>
            </a:r>
          </a:p>
        </p:txBody>
      </p:sp>
      <p:sp>
        <p:nvSpPr>
          <p:cNvPr id="10" name="TextBox 9"/>
          <p:cNvSpPr txBox="1"/>
          <p:nvPr/>
        </p:nvSpPr>
        <p:spPr>
          <a:xfrm>
            <a:off x="100583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1" name="TextBox 10"/>
          <p:cNvSpPr txBox="1"/>
          <p:nvPr/>
        </p:nvSpPr>
        <p:spPr>
          <a:xfrm>
            <a:off x="100583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-13</a:t>
            </a:r>
          </a:p>
        </p:txBody>
      </p:sp>
      <p:sp>
        <p:nvSpPr>
          <p:cNvPr id="12" name="Rounded Rectangle 11"/>
          <p:cNvSpPr/>
          <p:nvPr/>
        </p:nvSpPr>
        <p:spPr>
          <a:xfrm>
            <a:off x="155447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e</a:t>
            </a:r>
          </a:p>
        </p:txBody>
      </p:sp>
      <p:sp>
        <p:nvSpPr>
          <p:cNvPr id="13" name="TextBox 12"/>
          <p:cNvSpPr txBox="1"/>
          <p:nvPr/>
        </p:nvSpPr>
        <p:spPr>
          <a:xfrm>
            <a:off x="155447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4" name="TextBox 13"/>
          <p:cNvSpPr txBox="1"/>
          <p:nvPr/>
        </p:nvSpPr>
        <p:spPr>
          <a:xfrm>
            <a:off x="155447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-12</a:t>
            </a:r>
          </a:p>
        </p:txBody>
      </p:sp>
      <p:sp>
        <p:nvSpPr>
          <p:cNvPr id="15" name="Rounded Rectangle 14"/>
          <p:cNvSpPr/>
          <p:nvPr/>
        </p:nvSpPr>
        <p:spPr>
          <a:xfrm>
            <a:off x="2103120"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l</a:t>
            </a:r>
          </a:p>
        </p:txBody>
      </p:sp>
      <p:sp>
        <p:nvSpPr>
          <p:cNvPr id="16" name="TextBox 15"/>
          <p:cNvSpPr txBox="1"/>
          <p:nvPr/>
        </p:nvSpPr>
        <p:spPr>
          <a:xfrm>
            <a:off x="2103120"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7" name="TextBox 16"/>
          <p:cNvSpPr txBox="1"/>
          <p:nvPr/>
        </p:nvSpPr>
        <p:spPr>
          <a:xfrm>
            <a:off x="2103120"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-11</a:t>
            </a:r>
          </a:p>
        </p:txBody>
      </p:sp>
      <p:sp>
        <p:nvSpPr>
          <p:cNvPr id="18" name="Rounded Rectangle 17"/>
          <p:cNvSpPr/>
          <p:nvPr/>
        </p:nvSpPr>
        <p:spPr>
          <a:xfrm>
            <a:off x="265175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l</a:t>
            </a:r>
          </a:p>
        </p:txBody>
      </p:sp>
      <p:sp>
        <p:nvSpPr>
          <p:cNvPr id="19" name="TextBox 18"/>
          <p:cNvSpPr txBox="1"/>
          <p:nvPr/>
        </p:nvSpPr>
        <p:spPr>
          <a:xfrm>
            <a:off x="265175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20" name="TextBox 19"/>
          <p:cNvSpPr txBox="1"/>
          <p:nvPr/>
        </p:nvSpPr>
        <p:spPr>
          <a:xfrm>
            <a:off x="265175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-10</a:t>
            </a:r>
          </a:p>
        </p:txBody>
      </p:sp>
      <p:sp>
        <p:nvSpPr>
          <p:cNvPr id="21" name="Rounded Rectangle 20"/>
          <p:cNvSpPr/>
          <p:nvPr/>
        </p:nvSpPr>
        <p:spPr>
          <a:xfrm>
            <a:off x="3200399" y="3257169"/>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o</a:t>
            </a:r>
          </a:p>
        </p:txBody>
      </p:sp>
      <p:sp>
        <p:nvSpPr>
          <p:cNvPr id="22" name="TextBox 21"/>
          <p:cNvSpPr txBox="1"/>
          <p:nvPr/>
        </p:nvSpPr>
        <p:spPr>
          <a:xfrm>
            <a:off x="320039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23" name="TextBox 22"/>
          <p:cNvSpPr txBox="1"/>
          <p:nvPr/>
        </p:nvSpPr>
        <p:spPr>
          <a:xfrm>
            <a:off x="320039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-9</a:t>
            </a:r>
          </a:p>
        </p:txBody>
      </p:sp>
      <p:sp>
        <p:nvSpPr>
          <p:cNvPr id="24" name="Rounded Rectangle 23"/>
          <p:cNvSpPr/>
          <p:nvPr/>
        </p:nvSpPr>
        <p:spPr>
          <a:xfrm>
            <a:off x="374903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25" name="TextBox 24"/>
          <p:cNvSpPr txBox="1"/>
          <p:nvPr/>
        </p:nvSpPr>
        <p:spPr>
          <a:xfrm>
            <a:off x="374903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26" name="TextBox 25"/>
          <p:cNvSpPr txBox="1"/>
          <p:nvPr/>
        </p:nvSpPr>
        <p:spPr>
          <a:xfrm>
            <a:off x="374903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-8</a:t>
            </a:r>
          </a:p>
        </p:txBody>
      </p:sp>
      <p:sp>
        <p:nvSpPr>
          <p:cNvPr id="27" name="Rounded Rectangle 26"/>
          <p:cNvSpPr/>
          <p:nvPr/>
        </p:nvSpPr>
        <p:spPr>
          <a:xfrm>
            <a:off x="429767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28" name="TextBox 27"/>
          <p:cNvSpPr txBox="1"/>
          <p:nvPr/>
        </p:nvSpPr>
        <p:spPr>
          <a:xfrm>
            <a:off x="429767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29" name="TextBox 28"/>
          <p:cNvSpPr txBox="1"/>
          <p:nvPr/>
        </p:nvSpPr>
        <p:spPr>
          <a:xfrm>
            <a:off x="429767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-7</a:t>
            </a:r>
          </a:p>
        </p:txBody>
      </p:sp>
      <p:sp>
        <p:nvSpPr>
          <p:cNvPr id="30" name="Rounded Rectangle 29"/>
          <p:cNvSpPr/>
          <p:nvPr/>
        </p:nvSpPr>
        <p:spPr>
          <a:xfrm>
            <a:off x="4846320"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w</a:t>
            </a:r>
          </a:p>
        </p:txBody>
      </p:sp>
      <p:sp>
        <p:nvSpPr>
          <p:cNvPr id="31" name="TextBox 30"/>
          <p:cNvSpPr txBox="1"/>
          <p:nvPr/>
        </p:nvSpPr>
        <p:spPr>
          <a:xfrm>
            <a:off x="4846320"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32" name="TextBox 31"/>
          <p:cNvSpPr txBox="1"/>
          <p:nvPr/>
        </p:nvSpPr>
        <p:spPr>
          <a:xfrm>
            <a:off x="4846320"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-6</a:t>
            </a:r>
          </a:p>
        </p:txBody>
      </p:sp>
      <p:sp>
        <p:nvSpPr>
          <p:cNvPr id="33" name="Rounded Rectangle 32"/>
          <p:cNvSpPr/>
          <p:nvPr/>
        </p:nvSpPr>
        <p:spPr>
          <a:xfrm>
            <a:off x="539495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o</a:t>
            </a:r>
          </a:p>
        </p:txBody>
      </p:sp>
      <p:sp>
        <p:nvSpPr>
          <p:cNvPr id="34" name="TextBox 33"/>
          <p:cNvSpPr txBox="1"/>
          <p:nvPr/>
        </p:nvSpPr>
        <p:spPr>
          <a:xfrm>
            <a:off x="539495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35" name="TextBox 34"/>
          <p:cNvSpPr txBox="1"/>
          <p:nvPr/>
        </p:nvSpPr>
        <p:spPr>
          <a:xfrm>
            <a:off x="539495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-5</a:t>
            </a:r>
          </a:p>
        </p:txBody>
      </p:sp>
      <p:sp>
        <p:nvSpPr>
          <p:cNvPr id="36" name="Rounded Rectangle 35"/>
          <p:cNvSpPr/>
          <p:nvPr/>
        </p:nvSpPr>
        <p:spPr>
          <a:xfrm>
            <a:off x="594359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r</a:t>
            </a:r>
          </a:p>
        </p:txBody>
      </p:sp>
      <p:sp>
        <p:nvSpPr>
          <p:cNvPr id="37" name="TextBox 36"/>
          <p:cNvSpPr txBox="1"/>
          <p:nvPr/>
        </p:nvSpPr>
        <p:spPr>
          <a:xfrm>
            <a:off x="594359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38" name="TextBox 37"/>
          <p:cNvSpPr txBox="1"/>
          <p:nvPr/>
        </p:nvSpPr>
        <p:spPr>
          <a:xfrm>
            <a:off x="594359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-4</a:t>
            </a:r>
          </a:p>
        </p:txBody>
      </p:sp>
      <p:sp>
        <p:nvSpPr>
          <p:cNvPr id="39" name="Rounded Rectangle 38"/>
          <p:cNvSpPr/>
          <p:nvPr/>
        </p:nvSpPr>
        <p:spPr>
          <a:xfrm>
            <a:off x="6492240"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l</a:t>
            </a:r>
          </a:p>
        </p:txBody>
      </p:sp>
      <p:sp>
        <p:nvSpPr>
          <p:cNvPr id="40" name="TextBox 39"/>
          <p:cNvSpPr txBox="1"/>
          <p:nvPr/>
        </p:nvSpPr>
        <p:spPr>
          <a:xfrm>
            <a:off x="6492240"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41" name="TextBox 40"/>
          <p:cNvSpPr txBox="1"/>
          <p:nvPr/>
        </p:nvSpPr>
        <p:spPr>
          <a:xfrm>
            <a:off x="6492240"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-3</a:t>
            </a:r>
          </a:p>
        </p:txBody>
      </p:sp>
      <p:sp>
        <p:nvSpPr>
          <p:cNvPr id="42" name="Rounded Rectangle 41"/>
          <p:cNvSpPr/>
          <p:nvPr/>
        </p:nvSpPr>
        <p:spPr>
          <a:xfrm>
            <a:off x="7040879" y="3257169"/>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d</a:t>
            </a:r>
          </a:p>
        </p:txBody>
      </p:sp>
      <p:sp>
        <p:nvSpPr>
          <p:cNvPr id="43" name="TextBox 42"/>
          <p:cNvSpPr txBox="1"/>
          <p:nvPr/>
        </p:nvSpPr>
        <p:spPr>
          <a:xfrm>
            <a:off x="704087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44" name="TextBox 43"/>
          <p:cNvSpPr txBox="1"/>
          <p:nvPr/>
        </p:nvSpPr>
        <p:spPr>
          <a:xfrm>
            <a:off x="704087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-2</a:t>
            </a:r>
          </a:p>
        </p:txBody>
      </p:sp>
      <p:sp>
        <p:nvSpPr>
          <p:cNvPr id="45" name="Rounded Rectangle 44"/>
          <p:cNvSpPr/>
          <p:nvPr/>
        </p:nvSpPr>
        <p:spPr>
          <a:xfrm>
            <a:off x="7589519" y="3257169"/>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46" name="TextBox 45"/>
          <p:cNvSpPr txBox="1"/>
          <p:nvPr/>
        </p:nvSpPr>
        <p:spPr>
          <a:xfrm>
            <a:off x="7589519" y="3641217"/>
            <a:ext cx="521207"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47" name="TextBox 46"/>
          <p:cNvSpPr txBox="1"/>
          <p:nvPr/>
        </p:nvSpPr>
        <p:spPr>
          <a:xfrm>
            <a:off x="7589519" y="3796665"/>
            <a:ext cx="521207" cy="182880"/>
          </a:xfrm>
          <a:prstGeom prst="rect">
            <a:avLst/>
          </a:prstGeom>
          <a:noFill/>
        </p:spPr>
        <p:txBody>
          <a:bodyPr wrap="square" lIns="0" rIns="0" tIns="0" bIns="0" anchor="t">
            <a:spAutoFit/>
          </a:bodyPr>
          <a:lstStyle/>
          <a:p>
            <a:pPr algn="ctr"/>
            <a:r>
              <a:rPr sz="900" b="0" i="0">
                <a:solidFill>
                  <a:srgbClr val="B83A1B"/>
                </a:solidFill>
                <a:latin typeface="Calibri"/>
              </a:rPr>
              <a:t>-1</a:t>
            </a:r>
          </a:p>
        </p:txBody>
      </p:sp>
      <p:sp>
        <p:nvSpPr>
          <p:cNvPr id="48" name="Rounded Rectangle 47"/>
          <p:cNvSpPr/>
          <p:nvPr/>
        </p:nvSpPr>
        <p:spPr>
          <a:xfrm>
            <a:off x="475487" y="2690241"/>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greeting[0] = 'H'</a:t>
            </a:r>
          </a:p>
        </p:txBody>
      </p:sp>
      <p:cxnSp>
        <p:nvCxnSpPr>
          <p:cNvPr id="49" name="arrow"/>
          <p:cNvCxnSpPr/>
          <p:nvPr/>
        </p:nvCxnSpPr>
        <p:spPr>
          <a:xfrm>
            <a:off x="1252727" y="2973705"/>
            <a:ext cx="0" cy="26517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2670047" y="2690241"/>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greeting[4] = 'o'</a:t>
            </a:r>
          </a:p>
        </p:txBody>
      </p:sp>
      <p:cxnSp>
        <p:nvCxnSpPr>
          <p:cNvPr id="51" name="arrow"/>
          <p:cNvCxnSpPr/>
          <p:nvPr/>
        </p:nvCxnSpPr>
        <p:spPr>
          <a:xfrm>
            <a:off x="3447287" y="2973705"/>
            <a:ext cx="0" cy="26517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7059168" y="2690241"/>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greeting[-1] = '!'</a:t>
            </a:r>
          </a:p>
        </p:txBody>
      </p:sp>
      <p:cxnSp>
        <p:nvCxnSpPr>
          <p:cNvPr id="53" name="arrow"/>
          <p:cNvCxnSpPr/>
          <p:nvPr/>
        </p:nvCxnSpPr>
        <p:spPr>
          <a:xfrm>
            <a:off x="7836408" y="2973705"/>
            <a:ext cx="0" cy="26517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Index 0 is first, index -1 is last.</a:t>
            </a:r>
          </a:p>
        </p:txBody>
      </p:sp>
      <p:sp>
        <p:nvSpPr>
          <p:cNvPr id="5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Slices: cutting out a piece</a:t>
            </a:r>
          </a:p>
        </p:txBody>
      </p:sp>
      <p:sp>
        <p:nvSpPr>
          <p:cNvPr id="4" name="code"/>
          <p:cNvSpPr/>
          <p:nvPr/>
        </p:nvSpPr>
        <p:spPr>
          <a:xfrm>
            <a:off x="365760" y="841248"/>
            <a:ext cx="5102351"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greeting</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'Hello, world!'</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greeting</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7CC4FF"/>
                </a:solidFill>
                <a:latin typeface="Courier New"/>
              </a:rPr>
              <a:t>5</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greeting</a:t>
            </a:r>
            <a:r>
              <a:rPr sz="1200" b="0" i="0">
                <a:solidFill>
                  <a:srgbClr val="E6EDF3"/>
                </a:solidFill>
                <a:latin typeface="Courier New"/>
              </a:rPr>
              <a:t>[</a:t>
            </a:r>
            <a:r>
              <a:rPr sz="1200" b="0" i="0">
                <a:solidFill>
                  <a:srgbClr val="7CC4FF"/>
                </a:solidFill>
                <a:latin typeface="Courier New"/>
              </a:rPr>
              <a:t>7</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449824" y="841248"/>
            <a:ext cx="3328416" cy="554736"/>
          </a:xfrm>
          <a:prstGeom prst="rect">
            <a:avLst/>
          </a:prstGeom>
          <a:noFill/>
        </p:spPr>
        <p:txBody>
          <a:bodyPr wrap="square" lIns="128016" rIns="128016" tIns="18288" bIns="18288" anchor="ctr">
            <a:spAutoFit/>
          </a:bodyPr>
          <a:lstStyle/>
          <a:p>
            <a:r>
              <a:rPr sz="1250" b="0" i="0">
                <a:solidFill>
                  <a:srgbClr val="1F2933"/>
                </a:solidFill>
                <a:latin typeface="Calibri"/>
              </a:rPr>
              <a:t>A slice takes the characters from start up to, but not including, stop.</a:t>
            </a:r>
          </a:p>
        </p:txBody>
      </p:sp>
      <p:sp>
        <p:nvSpPr>
          <p:cNvPr id="6" name="code"/>
          <p:cNvSpPr/>
          <p:nvPr/>
        </p:nvSpPr>
        <p:spPr>
          <a:xfrm>
            <a:off x="365760" y="1450848"/>
            <a:ext cx="51023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greeting</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5</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greeting</a:t>
            </a:r>
            <a:r>
              <a:rPr sz="1200" b="0" i="0">
                <a:solidFill>
                  <a:srgbClr val="E6EDF3"/>
                </a:solidFill>
                <a:latin typeface="Courier New"/>
              </a:rPr>
              <a:t>[</a:t>
            </a:r>
            <a:r>
              <a:rPr sz="1200" b="0" i="0">
                <a:solidFill>
                  <a:srgbClr val="7CC4FF"/>
                </a:solidFill>
                <a:latin typeface="Courier New"/>
              </a:rPr>
              <a:t>7</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greeting</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449824" y="1450848"/>
            <a:ext cx="3328416" cy="723328"/>
          </a:xfrm>
          <a:prstGeom prst="rect">
            <a:avLst/>
          </a:prstGeom>
          <a:noFill/>
        </p:spPr>
        <p:txBody>
          <a:bodyPr wrap="square" lIns="128016" rIns="128016" tIns="18288" bIns="18288" anchor="ctr">
            <a:spAutoFit/>
          </a:bodyPr>
          <a:lstStyle/>
          <a:p>
            <a:r>
              <a:rPr sz="1250" b="0" i="0">
                <a:solidFill>
                  <a:srgbClr val="1F2933"/>
                </a:solidFill>
                <a:latin typeface="Calibri"/>
              </a:rPr>
              <a:t>Leave out start or stop to run to an edge. A step of -1 walks backwards and reverses the text.</a:t>
            </a:r>
          </a:p>
        </p:txBody>
      </p:sp>
      <p:sp>
        <p:nvSpPr>
          <p:cNvPr id="8" name="result label"/>
          <p:cNvSpPr txBox="1"/>
          <p:nvPr/>
        </p:nvSpPr>
        <p:spPr>
          <a:xfrm>
            <a:off x="365760" y="22473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1005839" y="3024568"/>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H</a:t>
            </a:r>
          </a:p>
        </p:txBody>
      </p:sp>
      <p:sp>
        <p:nvSpPr>
          <p:cNvPr id="10" name="TextBox 9"/>
          <p:cNvSpPr txBox="1"/>
          <p:nvPr/>
        </p:nvSpPr>
        <p:spPr>
          <a:xfrm>
            <a:off x="100583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1" name="TextBox 10"/>
          <p:cNvSpPr txBox="1"/>
          <p:nvPr/>
        </p:nvSpPr>
        <p:spPr>
          <a:xfrm>
            <a:off x="100583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-13</a:t>
            </a:r>
          </a:p>
        </p:txBody>
      </p:sp>
      <p:sp>
        <p:nvSpPr>
          <p:cNvPr id="12" name="Rounded Rectangle 11"/>
          <p:cNvSpPr/>
          <p:nvPr/>
        </p:nvSpPr>
        <p:spPr>
          <a:xfrm>
            <a:off x="1554479" y="3024568"/>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e</a:t>
            </a:r>
          </a:p>
        </p:txBody>
      </p:sp>
      <p:sp>
        <p:nvSpPr>
          <p:cNvPr id="13" name="TextBox 12"/>
          <p:cNvSpPr txBox="1"/>
          <p:nvPr/>
        </p:nvSpPr>
        <p:spPr>
          <a:xfrm>
            <a:off x="155447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4" name="TextBox 13"/>
          <p:cNvSpPr txBox="1"/>
          <p:nvPr/>
        </p:nvSpPr>
        <p:spPr>
          <a:xfrm>
            <a:off x="155447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-12</a:t>
            </a:r>
          </a:p>
        </p:txBody>
      </p:sp>
      <p:sp>
        <p:nvSpPr>
          <p:cNvPr id="15" name="Rounded Rectangle 14"/>
          <p:cNvSpPr/>
          <p:nvPr/>
        </p:nvSpPr>
        <p:spPr>
          <a:xfrm>
            <a:off x="2103120" y="3024568"/>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l</a:t>
            </a:r>
          </a:p>
        </p:txBody>
      </p:sp>
      <p:sp>
        <p:nvSpPr>
          <p:cNvPr id="16" name="TextBox 15"/>
          <p:cNvSpPr txBox="1"/>
          <p:nvPr/>
        </p:nvSpPr>
        <p:spPr>
          <a:xfrm>
            <a:off x="2103120"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7" name="TextBox 16"/>
          <p:cNvSpPr txBox="1"/>
          <p:nvPr/>
        </p:nvSpPr>
        <p:spPr>
          <a:xfrm>
            <a:off x="2103120"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-11</a:t>
            </a:r>
          </a:p>
        </p:txBody>
      </p:sp>
      <p:sp>
        <p:nvSpPr>
          <p:cNvPr id="18" name="Rounded Rectangle 17"/>
          <p:cNvSpPr/>
          <p:nvPr/>
        </p:nvSpPr>
        <p:spPr>
          <a:xfrm>
            <a:off x="2651759" y="3024568"/>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l</a:t>
            </a:r>
          </a:p>
        </p:txBody>
      </p:sp>
      <p:sp>
        <p:nvSpPr>
          <p:cNvPr id="19" name="TextBox 18"/>
          <p:cNvSpPr txBox="1"/>
          <p:nvPr/>
        </p:nvSpPr>
        <p:spPr>
          <a:xfrm>
            <a:off x="265175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20" name="TextBox 19"/>
          <p:cNvSpPr txBox="1"/>
          <p:nvPr/>
        </p:nvSpPr>
        <p:spPr>
          <a:xfrm>
            <a:off x="265175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-10</a:t>
            </a:r>
          </a:p>
        </p:txBody>
      </p:sp>
      <p:sp>
        <p:nvSpPr>
          <p:cNvPr id="21" name="Rounded Rectangle 20"/>
          <p:cNvSpPr/>
          <p:nvPr/>
        </p:nvSpPr>
        <p:spPr>
          <a:xfrm>
            <a:off x="3200399" y="3024568"/>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o</a:t>
            </a:r>
          </a:p>
        </p:txBody>
      </p:sp>
      <p:sp>
        <p:nvSpPr>
          <p:cNvPr id="22" name="TextBox 21"/>
          <p:cNvSpPr txBox="1"/>
          <p:nvPr/>
        </p:nvSpPr>
        <p:spPr>
          <a:xfrm>
            <a:off x="320039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23" name="TextBox 22"/>
          <p:cNvSpPr txBox="1"/>
          <p:nvPr/>
        </p:nvSpPr>
        <p:spPr>
          <a:xfrm>
            <a:off x="320039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-9</a:t>
            </a:r>
          </a:p>
        </p:txBody>
      </p:sp>
      <p:sp>
        <p:nvSpPr>
          <p:cNvPr id="24" name="Rounded Rectangle 23"/>
          <p:cNvSpPr/>
          <p:nvPr/>
        </p:nvSpPr>
        <p:spPr>
          <a:xfrm>
            <a:off x="3749039" y="3024568"/>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25" name="TextBox 24"/>
          <p:cNvSpPr txBox="1"/>
          <p:nvPr/>
        </p:nvSpPr>
        <p:spPr>
          <a:xfrm>
            <a:off x="374903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26" name="TextBox 25"/>
          <p:cNvSpPr txBox="1"/>
          <p:nvPr/>
        </p:nvSpPr>
        <p:spPr>
          <a:xfrm>
            <a:off x="374903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-8</a:t>
            </a:r>
          </a:p>
        </p:txBody>
      </p:sp>
      <p:sp>
        <p:nvSpPr>
          <p:cNvPr id="27" name="Rounded Rectangle 26"/>
          <p:cNvSpPr/>
          <p:nvPr/>
        </p:nvSpPr>
        <p:spPr>
          <a:xfrm>
            <a:off x="4297679" y="3024568"/>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28" name="TextBox 27"/>
          <p:cNvSpPr txBox="1"/>
          <p:nvPr/>
        </p:nvSpPr>
        <p:spPr>
          <a:xfrm>
            <a:off x="429767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29" name="TextBox 28"/>
          <p:cNvSpPr txBox="1"/>
          <p:nvPr/>
        </p:nvSpPr>
        <p:spPr>
          <a:xfrm>
            <a:off x="429767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-7</a:t>
            </a:r>
          </a:p>
        </p:txBody>
      </p:sp>
      <p:sp>
        <p:nvSpPr>
          <p:cNvPr id="30" name="Rounded Rectangle 29"/>
          <p:cNvSpPr/>
          <p:nvPr/>
        </p:nvSpPr>
        <p:spPr>
          <a:xfrm>
            <a:off x="4846320" y="3024568"/>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w</a:t>
            </a:r>
          </a:p>
        </p:txBody>
      </p:sp>
      <p:sp>
        <p:nvSpPr>
          <p:cNvPr id="31" name="TextBox 30"/>
          <p:cNvSpPr txBox="1"/>
          <p:nvPr/>
        </p:nvSpPr>
        <p:spPr>
          <a:xfrm>
            <a:off x="4846320"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32" name="TextBox 31"/>
          <p:cNvSpPr txBox="1"/>
          <p:nvPr/>
        </p:nvSpPr>
        <p:spPr>
          <a:xfrm>
            <a:off x="4846320"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-6</a:t>
            </a:r>
          </a:p>
        </p:txBody>
      </p:sp>
      <p:sp>
        <p:nvSpPr>
          <p:cNvPr id="33" name="Rounded Rectangle 32"/>
          <p:cNvSpPr/>
          <p:nvPr/>
        </p:nvSpPr>
        <p:spPr>
          <a:xfrm>
            <a:off x="5394959" y="3024568"/>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o</a:t>
            </a:r>
          </a:p>
        </p:txBody>
      </p:sp>
      <p:sp>
        <p:nvSpPr>
          <p:cNvPr id="34" name="TextBox 33"/>
          <p:cNvSpPr txBox="1"/>
          <p:nvPr/>
        </p:nvSpPr>
        <p:spPr>
          <a:xfrm>
            <a:off x="539495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35" name="TextBox 34"/>
          <p:cNvSpPr txBox="1"/>
          <p:nvPr/>
        </p:nvSpPr>
        <p:spPr>
          <a:xfrm>
            <a:off x="539495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-5</a:t>
            </a:r>
          </a:p>
        </p:txBody>
      </p:sp>
      <p:sp>
        <p:nvSpPr>
          <p:cNvPr id="36" name="Rounded Rectangle 35"/>
          <p:cNvSpPr/>
          <p:nvPr/>
        </p:nvSpPr>
        <p:spPr>
          <a:xfrm>
            <a:off x="5943599" y="3024568"/>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r</a:t>
            </a:r>
          </a:p>
        </p:txBody>
      </p:sp>
      <p:sp>
        <p:nvSpPr>
          <p:cNvPr id="37" name="TextBox 36"/>
          <p:cNvSpPr txBox="1"/>
          <p:nvPr/>
        </p:nvSpPr>
        <p:spPr>
          <a:xfrm>
            <a:off x="594359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38" name="TextBox 37"/>
          <p:cNvSpPr txBox="1"/>
          <p:nvPr/>
        </p:nvSpPr>
        <p:spPr>
          <a:xfrm>
            <a:off x="594359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-4</a:t>
            </a:r>
          </a:p>
        </p:txBody>
      </p:sp>
      <p:sp>
        <p:nvSpPr>
          <p:cNvPr id="39" name="Rounded Rectangle 38"/>
          <p:cNvSpPr/>
          <p:nvPr/>
        </p:nvSpPr>
        <p:spPr>
          <a:xfrm>
            <a:off x="6492240" y="3024568"/>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l</a:t>
            </a:r>
          </a:p>
        </p:txBody>
      </p:sp>
      <p:sp>
        <p:nvSpPr>
          <p:cNvPr id="40" name="TextBox 39"/>
          <p:cNvSpPr txBox="1"/>
          <p:nvPr/>
        </p:nvSpPr>
        <p:spPr>
          <a:xfrm>
            <a:off x="6492240"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41" name="TextBox 40"/>
          <p:cNvSpPr txBox="1"/>
          <p:nvPr/>
        </p:nvSpPr>
        <p:spPr>
          <a:xfrm>
            <a:off x="6492240"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-3</a:t>
            </a:r>
          </a:p>
        </p:txBody>
      </p:sp>
      <p:sp>
        <p:nvSpPr>
          <p:cNvPr id="42" name="Rounded Rectangle 41"/>
          <p:cNvSpPr/>
          <p:nvPr/>
        </p:nvSpPr>
        <p:spPr>
          <a:xfrm>
            <a:off x="7040879" y="3024568"/>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d</a:t>
            </a:r>
          </a:p>
        </p:txBody>
      </p:sp>
      <p:sp>
        <p:nvSpPr>
          <p:cNvPr id="43" name="TextBox 42"/>
          <p:cNvSpPr txBox="1"/>
          <p:nvPr/>
        </p:nvSpPr>
        <p:spPr>
          <a:xfrm>
            <a:off x="704087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44" name="TextBox 43"/>
          <p:cNvSpPr txBox="1"/>
          <p:nvPr/>
        </p:nvSpPr>
        <p:spPr>
          <a:xfrm>
            <a:off x="704087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-2</a:t>
            </a:r>
          </a:p>
        </p:txBody>
      </p:sp>
      <p:sp>
        <p:nvSpPr>
          <p:cNvPr id="45" name="Rounded Rectangle 44"/>
          <p:cNvSpPr/>
          <p:nvPr/>
        </p:nvSpPr>
        <p:spPr>
          <a:xfrm>
            <a:off x="7589519" y="3024568"/>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ourier New"/>
              </a:rPr>
              <a:t>!</a:t>
            </a:r>
          </a:p>
        </p:txBody>
      </p:sp>
      <p:sp>
        <p:nvSpPr>
          <p:cNvPr id="46" name="TextBox 45"/>
          <p:cNvSpPr txBox="1"/>
          <p:nvPr/>
        </p:nvSpPr>
        <p:spPr>
          <a:xfrm>
            <a:off x="7589519" y="3408616"/>
            <a:ext cx="521207"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47" name="TextBox 46"/>
          <p:cNvSpPr txBox="1"/>
          <p:nvPr/>
        </p:nvSpPr>
        <p:spPr>
          <a:xfrm>
            <a:off x="7589519" y="3564064"/>
            <a:ext cx="521207" cy="182880"/>
          </a:xfrm>
          <a:prstGeom prst="rect">
            <a:avLst/>
          </a:prstGeom>
          <a:noFill/>
        </p:spPr>
        <p:txBody>
          <a:bodyPr wrap="square" lIns="0" rIns="0" tIns="0" bIns="0" anchor="t">
            <a:spAutoFit/>
          </a:bodyPr>
          <a:lstStyle/>
          <a:p>
            <a:pPr algn="ctr"/>
            <a:r>
              <a:rPr sz="900" b="0" i="0">
                <a:solidFill>
                  <a:srgbClr val="B83A1B"/>
                </a:solidFill>
                <a:latin typeface="Calibri"/>
              </a:rPr>
              <a:t>-1</a:t>
            </a:r>
          </a:p>
        </p:txBody>
      </p:sp>
      <p:sp>
        <p:nvSpPr>
          <p:cNvPr id="48" name="Rounded Rectangle 47"/>
          <p:cNvSpPr/>
          <p:nvPr/>
        </p:nvSpPr>
        <p:spPr>
          <a:xfrm>
            <a:off x="1161287" y="2521648"/>
            <a:ext cx="237744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greeting[0:5] = 'Hello'</a:t>
            </a:r>
          </a:p>
        </p:txBody>
      </p:sp>
      <p:cxnSp>
        <p:nvCxnSpPr>
          <p:cNvPr id="49" name="arrow"/>
          <p:cNvCxnSpPr/>
          <p:nvPr/>
        </p:nvCxnSpPr>
        <p:spPr>
          <a:xfrm>
            <a:off x="2350008" y="2805112"/>
            <a:ext cx="0" cy="201168"/>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4910327" y="2521648"/>
            <a:ext cx="25603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greeting[7:-1] = 'world'</a:t>
            </a:r>
          </a:p>
        </p:txBody>
      </p:sp>
      <p:cxnSp>
        <p:nvCxnSpPr>
          <p:cNvPr id="51" name="arrow"/>
          <p:cNvCxnSpPr/>
          <p:nvPr/>
        </p:nvCxnSpPr>
        <p:spPr>
          <a:xfrm>
            <a:off x="6190488" y="2805112"/>
            <a:ext cx="0" cy="201168"/>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005839" y="3893248"/>
            <a:ext cx="603504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greeting[::-1] = '!dlrow ,olleH'  (step -1 walks backwards)</a:t>
            </a:r>
          </a:p>
        </p:txBody>
      </p:sp>
      <p:sp>
        <p:nvSpPr>
          <p:cNvPr id="5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slice stops before its stop index.</a:t>
            </a:r>
          </a:p>
        </p:txBody>
      </p:sp>
      <p:sp>
        <p:nvSpPr>
          <p:cNvPr id="5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 not in and strings that never change</a:t>
            </a:r>
          </a:p>
        </p:txBody>
      </p:sp>
      <p:sp>
        <p:nvSpPr>
          <p:cNvPr id="4" name="code"/>
          <p:cNvSpPr/>
          <p:nvPr/>
        </p:nvSpPr>
        <p:spPr>
          <a:xfrm>
            <a:off x="365760" y="841248"/>
            <a:ext cx="8412480"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name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'Zophie a cat'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name</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7CC4FF"/>
                </a:solidFill>
                <a:latin typeface="Courier New"/>
              </a:rPr>
              <a:t>7</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'the'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name</a:t>
            </a:r>
            <a:r>
              <a:rPr sz="1300" b="0" i="0">
                <a:solidFill>
                  <a:srgbClr val="E6EDF3"/>
                </a:solidFill>
                <a:latin typeface="Courier New"/>
              </a:rPr>
              <a:t>[</a:t>
            </a:r>
            <a:r>
              <a:rPr sz="1300" b="0" i="0">
                <a:solidFill>
                  <a:srgbClr val="7CC4FF"/>
                </a:solidFill>
                <a:latin typeface="Courier New"/>
              </a:rPr>
              <a:t>8</a:t>
            </a:r>
            <a:r>
              <a:rPr sz="1300" b="0" i="0">
                <a:solidFill>
                  <a:srgbClr val="E6EDF3"/>
                </a:solidFill>
                <a:latin typeface="Courier New"/>
              </a:rPr>
              <a:t>:</a:t>
            </a:r>
            <a:r>
              <a:rPr sz="1300" b="0" i="0">
                <a:solidFill>
                  <a:srgbClr val="7CC4FF"/>
                </a:solidFill>
                <a:latin typeface="Courier New"/>
              </a:rPr>
              <a:t>12</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365760" y="1436116"/>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A string cannot be changed in place. To edit it, build a new string from slices of the old one.</a:t>
            </a:r>
          </a:p>
        </p:txBody>
      </p:sp>
      <p:sp>
        <p:nvSpPr>
          <p:cNvPr id="6" name="code"/>
          <p:cNvSpPr/>
          <p:nvPr/>
        </p:nvSpPr>
        <p:spPr>
          <a:xfrm>
            <a:off x="365760" y="1808289"/>
            <a:ext cx="8412480"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'Hello'</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9BE3A8"/>
                </a:solidFill>
                <a:latin typeface="Courier New"/>
              </a:rPr>
              <a:t>'Hello, World'</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'HELLO'</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9BE3A8"/>
                </a:solidFill>
                <a:latin typeface="Courier New"/>
              </a:rPr>
              <a:t>'Hello, World'</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9BE3A8"/>
                </a:solidFill>
                <a:latin typeface="Courier New"/>
              </a:rPr>
              <a:t>'spam'</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'cats'</a:t>
            </a:r>
            <a:r>
              <a:rPr sz="1300" b="0" i="0">
                <a:solidFill>
                  <a:srgbClr val="E6EDF3"/>
                </a:solidFill>
                <a:latin typeface="Courier New"/>
              </a:rPr>
              <a:t> </a:t>
            </a:r>
            <a:r>
              <a:rPr sz="1300" b="0" i="0">
                <a:solidFill>
                  <a:srgbClr val="C9A0FF"/>
                </a:solidFill>
                <a:latin typeface="Courier New"/>
              </a:rPr>
              <a:t>not</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9BE3A8"/>
                </a:solidFill>
                <a:latin typeface="Courier New"/>
              </a:rPr>
              <a:t>'cats and dogs'</a:t>
            </a:r>
            <a:r>
              <a:rPr sz="1300" b="0" i="0">
                <a:solidFill>
                  <a:srgbClr val="E6EDF3"/>
                </a:solidFill>
                <a:latin typeface="Courier New"/>
              </a:rPr>
              <a:t>)</a:t>
            </a:r>
          </a:p>
        </p:txBody>
      </p:sp>
      <p:sp>
        <p:nvSpPr>
          <p:cNvPr id="7" name="explanation"/>
          <p:cNvSpPr txBox="1"/>
          <p:nvPr/>
        </p:nvSpPr>
        <p:spPr>
          <a:xfrm>
            <a:off x="365760" y="2403157"/>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The in operator asks whether one text sits inside another, and it is case sensitive. The empty string is inside every string.</a:t>
            </a:r>
          </a:p>
        </p:txBody>
      </p:sp>
      <p:sp>
        <p:nvSpPr>
          <p:cNvPr id="8" name="result label"/>
          <p:cNvSpPr txBox="1"/>
          <p:nvPr/>
        </p:nvSpPr>
        <p:spPr>
          <a:xfrm>
            <a:off x="365760" y="29920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66376"/>
          <a:ext cx="8412479" cy="1342194"/>
        </p:xfrm>
        <a:graphic>
          <a:graphicData uri="http://schemas.openxmlformats.org/drawingml/2006/table">
            <a:tbl>
              <a:tblPr firstRow="0" bandRow="0"/>
              <a:tblGrid>
                <a:gridCol w="5334743"/>
                <a:gridCol w="3077736"/>
              </a:tblGrid>
              <a:tr h="223699">
                <a:tc>
                  <a:txBody>
                    <a:bodyPr wrap="square"/>
                    <a:lstStyle/>
                    <a:p>
                      <a:r>
                        <a:rPr sz="10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Python answers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3699">
                <a:tc>
                  <a:txBody>
                    <a:bodyPr wrap="square"/>
                    <a:lstStyle/>
                    <a:p>
                      <a:r>
                        <a:rPr sz="1000" b="0" i="0">
                          <a:solidFill>
                            <a:srgbClr val="1F2933"/>
                          </a:solidFill>
                          <a:latin typeface="Courier New"/>
                        </a:rPr>
                        <a:t>'Hello' in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699">
                <a:tc>
                  <a:txBody>
                    <a:bodyPr wrap="square"/>
                    <a:lstStyle/>
                    <a:p>
                      <a:r>
                        <a:rPr sz="1000" b="0" i="0">
                          <a:solidFill>
                            <a:srgbClr val="1F2933"/>
                          </a:solidFill>
                          <a:latin typeface="Courier New"/>
                        </a:rPr>
                        <a:t>'HELLO' in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699">
                <a:tc>
                  <a:txBody>
                    <a:bodyPr wrap="square"/>
                    <a:lstStyle/>
                    <a:p>
                      <a:r>
                        <a:rPr sz="1000" b="0" i="0">
                          <a:solidFill>
                            <a:srgbClr val="1F2933"/>
                          </a:solidFill>
                          <a:latin typeface="Courier New"/>
                        </a:rPr>
                        <a:t>'' in 'spam'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699">
                <a:tc>
                  <a:txBody>
                    <a:bodyPr wrap="square"/>
                    <a:lstStyle/>
                    <a:p>
                      <a:r>
                        <a:rPr sz="1000" b="0" i="0">
                          <a:solidFill>
                            <a:srgbClr val="1F2933"/>
                          </a:solidFill>
                          <a:latin typeface="Courier New"/>
                        </a:rPr>
                        <a:t>'cats' not in 'cats and dogs'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699">
                <a:tc>
                  <a:txBody>
                    <a:bodyPr wrap="square"/>
                    <a:lstStyle/>
                    <a:p>
                      <a:r>
                        <a:rPr sz="1000" b="0" i="0">
                          <a:solidFill>
                            <a:srgbClr val="1F2933"/>
                          </a:solidFill>
                          <a:latin typeface="Courier New"/>
                        </a:rPr>
                        <a:t>name[0:7] + 'the' + name[8:12]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'Zophie the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Strings never change; you build new ones.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Formatting text</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Putting values into text: f-strings and the older styles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F-string</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Text with holes that fill themselves from variables.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Format specifier</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code after a colon for decimals, width and alignment.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Debug specifier</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An equals sign that prints the name and the value.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Older styles</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The percent operator and format() still fill slots.</a:t>
            </a:r>
          </a:p>
        </p:txBody>
      </p:sp>
      <p:graphicFrame>
        <p:nvGraphicFramePr>
          <p:cNvPr id="13" name="table"/>
          <p:cNvGraphicFramePr>
            <a:graphicFrameLocks noGrp="1"/>
          </p:cNvGraphicFramePr>
          <p:nvPr/>
        </p:nvGraphicFramePr>
        <p:xfrm>
          <a:off x="5760720" y="1417320"/>
          <a:ext cx="3017519" cy="2194560"/>
        </p:xfrm>
        <a:graphic>
          <a:graphicData uri="http://schemas.openxmlformats.org/drawingml/2006/table">
            <a:tbl>
              <a:tblPr firstRow="0" bandRow="0"/>
              <a:tblGrid>
                <a:gridCol w="484293"/>
                <a:gridCol w="2533226"/>
              </a:tblGrid>
              <a:tr h="36576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formatting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Story: one proposal gave Python the f-string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F-strings: text with holes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Format specifications after the colon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Older styles: %s, format() and plus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formatting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f-string is a form letter whose blanks fill themselves from your address book.</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F-Strings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form letter: write {name} once and every copy gets the right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F-String Alternatives: %s and 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Mail-merge with slots: the values wait in a queue, or in numbered mailboxes.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numbered mailbox: each value waits in its slot until the text asks for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Useful String Methods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Tools on a workbench: each hands back a new piece and leaves the original alone.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one proposal gave Python the f-string</a:t>
            </a:r>
          </a:p>
        </p:txBody>
      </p:sp>
      <p:pic>
        <p:nvPicPr>
          <p:cNvPr id="4" name="photo pep498" descr="Picture for the story: one proposal gave Python the f-string"/>
          <p:cNvPicPr>
            <a:picLocks noChangeAspect="1"/>
          </p:cNvPicPr>
          <p:nvPr/>
        </p:nvPicPr>
        <p:blipFill>
          <a:blip r:embed="rId3"/>
          <a:stretch>
            <a:fillRect/>
          </a:stretch>
        </p:blipFill>
        <p:spPr>
          <a:xfrm>
            <a:off x="365759" y="1005839"/>
            <a:ext cx="2651760" cy="265176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Python logo. Source: python.org, Python Software Foundation, used under its trademark policy.</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Eric V. Smith, author of PEP 498, Literal String Interpolation.</a:t>
            </a:r>
          </a:p>
        </p:txBody>
      </p:sp>
      <p:sp>
        <p:nvSpPr>
          <p:cNvPr id="8" name="card"/>
          <p:cNvSpPr/>
          <p:nvPr/>
        </p:nvSpPr>
        <p:spPr>
          <a:xfrm>
            <a:off x="3200400" y="146304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f-string: a literal with expressions inside braces.</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The proposal was created on 1 August 2015; Python 3.6 shipped it.</a:t>
            </a:r>
          </a:p>
        </p:txBody>
      </p:sp>
      <p:sp>
        <p:nvSpPr>
          <p:cNvPr id="12" name="card"/>
          <p:cNvSpPr/>
          <p:nvPr/>
        </p:nvSpPr>
        <p:spPr>
          <a:xfrm>
            <a:off x="3200400" y="255117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Python Enhancement Proposal index at peps.python.org.</a:t>
            </a:r>
          </a:p>
        </p:txBody>
      </p:sp>
      <p:sp>
        <p:nvSpPr>
          <p:cNvPr id="14" name="card"/>
          <p:cNvSpPr/>
          <p:nvPr/>
        </p:nvSpPr>
        <p:spPr>
          <a:xfrm>
            <a:off x="3200400" y="301752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752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Older styles keep the text and its values apart; one literal keeps them together.</a:t>
            </a:r>
          </a:p>
        </p:txBody>
      </p:sp>
      <p:sp>
        <p:nvSpPr>
          <p:cNvPr id="16" name="card"/>
          <p:cNvSpPr/>
          <p:nvPr/>
        </p:nvSpPr>
        <p:spPr>
          <a:xfrm>
            <a:off x="3200400" y="3639311"/>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39311"/>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f'My name is {name}' works the same in every Python release since 3.6.</a:t>
            </a:r>
          </a:p>
        </p:txBody>
      </p:sp>
      <p:sp>
        <p:nvSpPr>
          <p:cNvPr id="18" name="read"/>
          <p:cNvSpPr txBox="1"/>
          <p:nvPr/>
        </p:nvSpPr>
        <p:spPr>
          <a:xfrm>
            <a:off x="3200400" y="427939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PEP 498 (peps.python.org)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F-strings: text with holes</a:t>
            </a:r>
          </a:p>
        </p:txBody>
      </p:sp>
      <p:sp>
        <p:nvSpPr>
          <p:cNvPr id="4" name="code"/>
          <p:cNvSpPr/>
          <p:nvPr/>
        </p:nvSpPr>
        <p:spPr>
          <a:xfrm>
            <a:off x="365760" y="841248"/>
            <a:ext cx="5033771"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name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'Al'</a:t>
            </a:r>
          </a:p>
          <a:p>
            <a:pPr algn="l"/>
            <a:r>
              <a:rPr sz="1100" b="0" i="0">
                <a:solidFill>
                  <a:srgbClr val="8FA3B8"/>
                </a:solidFill>
                <a:latin typeface="Courier New"/>
              </a:rPr>
              <a:t>&gt;&gt;&gt; </a:t>
            </a:r>
            <a:r>
              <a:rPr sz="1100" b="0" i="0">
                <a:solidFill>
                  <a:srgbClr val="E6EDF3"/>
                </a:solidFill>
                <a:latin typeface="Courier New"/>
              </a:rPr>
              <a:t>age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4000</a:t>
            </a:r>
          </a:p>
        </p:txBody>
      </p:sp>
      <p:sp>
        <p:nvSpPr>
          <p:cNvPr id="5" name="explanation"/>
          <p:cNvSpPr txBox="1"/>
          <p:nvPr/>
        </p:nvSpPr>
        <p:spPr>
          <a:xfrm>
            <a:off x="5381244" y="841248"/>
            <a:ext cx="3396996" cy="523748"/>
          </a:xfrm>
          <a:prstGeom prst="rect">
            <a:avLst/>
          </a:prstGeom>
          <a:noFill/>
        </p:spPr>
        <p:txBody>
          <a:bodyPr wrap="square" lIns="128016" rIns="128016" tIns="18288" bIns="18288" anchor="ctr">
            <a:spAutoFit/>
          </a:bodyPr>
          <a:lstStyle/>
          <a:p>
            <a:r>
              <a:rPr sz="1200" b="0" i="0">
                <a:solidFill>
                  <a:srgbClr val="1F2933"/>
                </a:solidFill>
                <a:latin typeface="Calibri"/>
              </a:rPr>
              <a:t>Two ordinary variables. An f-string will reach into them by name.</a:t>
            </a:r>
          </a:p>
        </p:txBody>
      </p:sp>
      <p:sp>
        <p:nvSpPr>
          <p:cNvPr id="6" name="code"/>
          <p:cNvSpPr/>
          <p:nvPr/>
        </p:nvSpPr>
        <p:spPr>
          <a:xfrm>
            <a:off x="365760" y="1419860"/>
            <a:ext cx="503377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f'My name is {name}. I am {age} years old.'</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f'In ten years I will be {age + 10}. {{name}}'</a:t>
            </a:r>
            <a:r>
              <a:rPr sz="1100" b="0" i="0">
                <a:solidFill>
                  <a:srgbClr val="E6EDF3"/>
                </a:solidFill>
                <a:latin typeface="Courier New"/>
              </a:rPr>
              <a:t>)</a:t>
            </a:r>
          </a:p>
        </p:txBody>
      </p:sp>
      <p:sp>
        <p:nvSpPr>
          <p:cNvPr id="7" name="explanation"/>
          <p:cNvSpPr txBox="1"/>
          <p:nvPr/>
        </p:nvSpPr>
        <p:spPr>
          <a:xfrm>
            <a:off x="5381244" y="1419860"/>
            <a:ext cx="3396996" cy="699516"/>
          </a:xfrm>
          <a:prstGeom prst="rect">
            <a:avLst/>
          </a:prstGeom>
          <a:noFill/>
        </p:spPr>
        <p:txBody>
          <a:bodyPr wrap="square" lIns="128016" rIns="128016" tIns="18288" bIns="18288" anchor="ctr">
            <a:spAutoFit/>
          </a:bodyPr>
          <a:lstStyle/>
          <a:p>
            <a:r>
              <a:rPr sz="1200" b="0" i="0">
                <a:solidFill>
                  <a:srgbClr val="1F2933"/>
                </a:solidFill>
                <a:latin typeface="Calibri"/>
              </a:rPr>
              <a:t>Anything inside braces is evaluated and pasted in, even a sum. Doubled braces print one literal brace.</a:t>
            </a:r>
          </a:p>
        </p:txBody>
      </p:sp>
      <p:sp>
        <p:nvSpPr>
          <p:cNvPr id="8" name="result label"/>
          <p:cNvSpPr txBox="1"/>
          <p:nvPr/>
        </p:nvSpPr>
        <p:spPr>
          <a:xfrm>
            <a:off x="365760" y="21925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466848"/>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My name is </a:t>
            </a:r>
          </a:p>
        </p:txBody>
      </p:sp>
      <p:sp>
        <p:nvSpPr>
          <p:cNvPr id="10" name="Rounded Rectangle 9"/>
          <p:cNvSpPr/>
          <p:nvPr/>
        </p:nvSpPr>
        <p:spPr>
          <a:xfrm>
            <a:off x="365760" y="3335528"/>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My name is </a:t>
            </a:r>
          </a:p>
        </p:txBody>
      </p:sp>
      <p:cxnSp>
        <p:nvCxnSpPr>
          <p:cNvPr id="11" name="arrow"/>
          <p:cNvCxnSpPr/>
          <p:nvPr/>
        </p:nvCxnSpPr>
        <p:spPr>
          <a:xfrm>
            <a:off x="1163116" y="2832607"/>
            <a:ext cx="0" cy="484633"/>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70201" y="2466848"/>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{name}</a:t>
            </a:r>
          </a:p>
        </p:txBody>
      </p:sp>
      <p:sp>
        <p:nvSpPr>
          <p:cNvPr id="13" name="Rounded Rectangle 12"/>
          <p:cNvSpPr/>
          <p:nvPr/>
        </p:nvSpPr>
        <p:spPr>
          <a:xfrm>
            <a:off x="2070201" y="3335528"/>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Al</a:t>
            </a:r>
          </a:p>
        </p:txBody>
      </p:sp>
      <p:cxnSp>
        <p:nvCxnSpPr>
          <p:cNvPr id="14" name="arrow"/>
          <p:cNvCxnSpPr/>
          <p:nvPr/>
        </p:nvCxnSpPr>
        <p:spPr>
          <a:xfrm>
            <a:off x="2867558" y="2832607"/>
            <a:ext cx="0" cy="484633"/>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74643" y="2466848"/>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I am </a:t>
            </a:r>
          </a:p>
        </p:txBody>
      </p:sp>
      <p:sp>
        <p:nvSpPr>
          <p:cNvPr id="16" name="Rounded Rectangle 15"/>
          <p:cNvSpPr/>
          <p:nvPr/>
        </p:nvSpPr>
        <p:spPr>
          <a:xfrm>
            <a:off x="3774643" y="3335528"/>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I am </a:t>
            </a:r>
          </a:p>
        </p:txBody>
      </p:sp>
      <p:cxnSp>
        <p:nvCxnSpPr>
          <p:cNvPr id="17" name="arrow"/>
          <p:cNvCxnSpPr/>
          <p:nvPr/>
        </p:nvCxnSpPr>
        <p:spPr>
          <a:xfrm>
            <a:off x="4572000" y="2832607"/>
            <a:ext cx="0" cy="484633"/>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79084" y="2466848"/>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{age}</a:t>
            </a:r>
          </a:p>
        </p:txBody>
      </p:sp>
      <p:sp>
        <p:nvSpPr>
          <p:cNvPr id="19" name="Rounded Rectangle 18"/>
          <p:cNvSpPr/>
          <p:nvPr/>
        </p:nvSpPr>
        <p:spPr>
          <a:xfrm>
            <a:off x="5479084" y="3335528"/>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4000</a:t>
            </a:r>
          </a:p>
        </p:txBody>
      </p:sp>
      <p:cxnSp>
        <p:nvCxnSpPr>
          <p:cNvPr id="20" name="arrow"/>
          <p:cNvCxnSpPr/>
          <p:nvPr/>
        </p:nvCxnSpPr>
        <p:spPr>
          <a:xfrm>
            <a:off x="6276441" y="2832607"/>
            <a:ext cx="0" cy="484633"/>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83526" y="2466848"/>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years old.</a:t>
            </a:r>
          </a:p>
        </p:txBody>
      </p:sp>
      <p:sp>
        <p:nvSpPr>
          <p:cNvPr id="22" name="Rounded Rectangle 21"/>
          <p:cNvSpPr/>
          <p:nvPr/>
        </p:nvSpPr>
        <p:spPr>
          <a:xfrm>
            <a:off x="7183526" y="3335528"/>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years old.</a:t>
            </a:r>
          </a:p>
        </p:txBody>
      </p:sp>
      <p:cxnSp>
        <p:nvCxnSpPr>
          <p:cNvPr id="23" name="arrow"/>
          <p:cNvCxnSpPr/>
          <p:nvPr/>
        </p:nvCxnSpPr>
        <p:spPr>
          <a:xfrm>
            <a:off x="7980883" y="2832607"/>
            <a:ext cx="0" cy="484633"/>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5760" y="2878328"/>
            <a:ext cx="2743200" cy="228600"/>
          </a:xfrm>
          <a:prstGeom prst="rect">
            <a:avLst/>
          </a:prstGeom>
          <a:noFill/>
        </p:spPr>
        <p:txBody>
          <a:bodyPr wrap="square" lIns="45720" rIns="45720" tIns="27432" bIns="27432" anchor="t">
            <a:spAutoFit/>
          </a:bodyPr>
          <a:lstStyle/>
          <a:p>
            <a:r>
              <a:rPr sz="900" b="0" i="1">
                <a:solidFill>
                  <a:srgbClr val="5B6773"/>
                </a:solidFill>
                <a:latin typeface="Calibri"/>
              </a:rPr>
              <a:t>template</a:t>
            </a:r>
          </a:p>
        </p:txBody>
      </p:sp>
      <p:sp>
        <p:nvSpPr>
          <p:cNvPr id="25" name="TextBox 24"/>
          <p:cNvSpPr txBox="1"/>
          <p:nvPr/>
        </p:nvSpPr>
        <p:spPr>
          <a:xfrm>
            <a:off x="365760" y="3719576"/>
            <a:ext cx="2743200" cy="228600"/>
          </a:xfrm>
          <a:prstGeom prst="rect">
            <a:avLst/>
          </a:prstGeom>
          <a:noFill/>
        </p:spPr>
        <p:txBody>
          <a:bodyPr wrap="square" lIns="45720" rIns="45720" tIns="27432" bIns="27432" anchor="t">
            <a:spAutoFit/>
          </a:bodyPr>
          <a:lstStyle/>
          <a:p>
            <a:r>
              <a:rPr sz="900" b="0" i="1">
                <a:solidFill>
                  <a:srgbClr val="5B6773"/>
                </a:solidFill>
                <a:latin typeface="Calibri"/>
              </a:rPr>
              <a:t>what is printed</a:t>
            </a:r>
          </a:p>
        </p:txBody>
      </p:sp>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Braces run Python and paste the answer.</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Format specifications after the colon</a:t>
            </a:r>
          </a:p>
        </p:txBody>
      </p:sp>
      <p:sp>
        <p:nvSpPr>
          <p:cNvPr id="4" name="code"/>
          <p:cNvSpPr/>
          <p:nvPr/>
        </p:nvSpPr>
        <p:spPr>
          <a:xfrm>
            <a:off x="365760" y="841248"/>
            <a:ext cx="49499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f'{3.14159:.2f}|{42:&gt;6}|{42:^6}|'</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f'{1234567:,}|{255:#x}'</a:t>
            </a:r>
            <a:r>
              <a:rPr sz="1400" b="0" i="0">
                <a:solidFill>
                  <a:srgbClr val="E6EDF3"/>
                </a:solidFill>
                <a:latin typeface="Courier New"/>
              </a:rPr>
              <a:t>)</a:t>
            </a:r>
          </a:p>
        </p:txBody>
      </p:sp>
      <p:sp>
        <p:nvSpPr>
          <p:cNvPr id="5" name="explanation"/>
          <p:cNvSpPr txBox="1"/>
          <p:nvPr/>
        </p:nvSpPr>
        <p:spPr>
          <a:xfrm>
            <a:off x="5297424" y="841248"/>
            <a:ext cx="3480816" cy="723328"/>
          </a:xfrm>
          <a:prstGeom prst="rect">
            <a:avLst/>
          </a:prstGeom>
          <a:noFill/>
        </p:spPr>
        <p:txBody>
          <a:bodyPr wrap="square" lIns="128016" rIns="128016" tIns="18288" bIns="18288" anchor="ctr">
            <a:spAutoFit/>
          </a:bodyPr>
          <a:lstStyle/>
          <a:p>
            <a:r>
              <a:rPr sz="1250" b="0" i="0">
                <a:solidFill>
                  <a:srgbClr val="1F2933"/>
                </a:solidFill>
                <a:latin typeface="Calibri"/>
              </a:rPr>
              <a:t>The text after a colon says how to show the value: decimals, width, alignment, separators, hexadecimal.</a:t>
            </a:r>
          </a:p>
        </p:txBody>
      </p:sp>
      <p:sp>
        <p:nvSpPr>
          <p:cNvPr id="6" name="code"/>
          <p:cNvSpPr/>
          <p:nvPr/>
        </p:nvSpPr>
        <p:spPr>
          <a:xfrm>
            <a:off x="365760" y="1619440"/>
            <a:ext cx="49499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n</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f'{n=}'</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f'{n + 1 = }'</a:t>
            </a:r>
            <a:r>
              <a:rPr sz="1400" b="0" i="0">
                <a:solidFill>
                  <a:srgbClr val="E6EDF3"/>
                </a:solidFill>
                <a:latin typeface="Courier New"/>
              </a:rPr>
              <a:t>)</a:t>
            </a:r>
          </a:p>
        </p:txBody>
      </p:sp>
      <p:sp>
        <p:nvSpPr>
          <p:cNvPr id="7" name="explanation"/>
          <p:cNvSpPr txBox="1"/>
          <p:nvPr/>
        </p:nvSpPr>
        <p:spPr>
          <a:xfrm>
            <a:off x="5297424" y="1619440"/>
            <a:ext cx="3480816" cy="723328"/>
          </a:xfrm>
          <a:prstGeom prst="rect">
            <a:avLst/>
          </a:prstGeom>
          <a:noFill/>
        </p:spPr>
        <p:txBody>
          <a:bodyPr wrap="square" lIns="128016" rIns="128016" tIns="18288" bIns="18288" anchor="ctr">
            <a:spAutoFit/>
          </a:bodyPr>
          <a:lstStyle/>
          <a:p>
            <a:r>
              <a:rPr sz="1250" b="0" i="0">
                <a:solidFill>
                  <a:srgbClr val="1F2933"/>
                </a:solidFill>
                <a:latin typeface="Calibri"/>
              </a:rPr>
              <a:t>An equals sign prints the expression and its value. It is the quickest way to debug a value.</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8412478" cy="1918329"/>
        </p:xfrm>
        <a:graphic>
          <a:graphicData uri="http://schemas.openxmlformats.org/drawingml/2006/table">
            <a:tbl>
              <a:tblPr firstRow="0" bandRow="0"/>
              <a:tblGrid>
                <a:gridCol w="1520327"/>
                <a:gridCol w="2027103"/>
                <a:gridCol w="2837945"/>
                <a:gridCol w="2027103"/>
              </a:tblGrid>
              <a:tr h="274047">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After the colon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Shown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047">
                <a:tc>
                  <a:txBody>
                    <a:bodyPr wrap="square"/>
                    <a:lstStyle/>
                    <a:p>
                      <a:r>
                        <a:rPr sz="1000" b="0" i="0">
                          <a:solidFill>
                            <a:srgbClr val="1F2933"/>
                          </a:solidFill>
                          <a:latin typeface="Courier New"/>
                        </a:rPr>
                        <a:t>3.14159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2 decimals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0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&gt;6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width 6, 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047">
                <a:tc>
                  <a:txBody>
                    <a:bodyPr wrap="square"/>
                    <a:lstStyle/>
                    <a:p>
                      <a:r>
                        <a:rPr sz="100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width 6, centred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  42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00" b="0" i="0">
                          <a:solidFill>
                            <a:srgbClr val="1F2933"/>
                          </a:solidFill>
                          <a:latin typeface="Courier New"/>
                        </a:rPr>
                        <a:t>1234567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thousands comma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'1,234,567'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047">
                <a:tc>
                  <a:txBody>
                    <a:bodyPr wrap="square"/>
                    <a:lstStyle/>
                    <a:p>
                      <a:r>
                        <a:rPr sz="1000" b="0" i="0">
                          <a:solidFill>
                            <a:srgbClr val="1F2933"/>
                          </a:solidFill>
                          <a:latin typeface="Courier New"/>
                        </a:rPr>
                        <a:t>255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hexadecimal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'0xff'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00" b="0" i="0">
                          <a:solidFill>
                            <a:srgbClr val="1F2933"/>
                          </a:solidFill>
                          <a:latin typeface="Courier New"/>
                        </a:rPr>
                        <a:t>n =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 (as {n=})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name and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After the colon: decimals, width, alignment, separators.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Older styles: %s, format() and plus</a:t>
            </a:r>
          </a:p>
        </p:txBody>
      </p:sp>
      <p:sp>
        <p:nvSpPr>
          <p:cNvPr id="4" name="code"/>
          <p:cNvSpPr/>
          <p:nvPr/>
        </p:nvSpPr>
        <p:spPr>
          <a:xfrm>
            <a:off x="365760" y="841248"/>
            <a:ext cx="505663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name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'Al'</a:t>
            </a:r>
          </a:p>
          <a:p>
            <a:pPr algn="l"/>
            <a:r>
              <a:rPr sz="1050" b="0" i="0">
                <a:solidFill>
                  <a:srgbClr val="8FA3B8"/>
                </a:solidFill>
                <a:latin typeface="Courier New"/>
              </a:rPr>
              <a:t>&gt;&gt;&gt; </a:t>
            </a:r>
            <a:r>
              <a:rPr sz="1050" b="0" i="0">
                <a:solidFill>
                  <a:srgbClr val="E6EDF3"/>
                </a:solidFill>
                <a:latin typeface="Courier New"/>
              </a:rPr>
              <a:t>age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4000</a:t>
            </a:r>
          </a:p>
        </p:txBody>
      </p:sp>
      <p:sp>
        <p:nvSpPr>
          <p:cNvPr id="5" name="explanation"/>
          <p:cNvSpPr txBox="1"/>
          <p:nvPr/>
        </p:nvSpPr>
        <p:spPr>
          <a:xfrm>
            <a:off x="5404104" y="841248"/>
            <a:ext cx="3374136" cy="509016"/>
          </a:xfrm>
          <a:prstGeom prst="rect">
            <a:avLst/>
          </a:prstGeom>
          <a:noFill/>
        </p:spPr>
        <p:txBody>
          <a:bodyPr wrap="square" lIns="128016" rIns="128016" tIns="18288" bIns="18288" anchor="ctr">
            <a:spAutoFit/>
          </a:bodyPr>
          <a:lstStyle/>
          <a:p>
            <a:r>
              <a:rPr sz="1200" b="0" i="0">
                <a:solidFill>
                  <a:srgbClr val="1F2933"/>
                </a:solidFill>
                <a:latin typeface="Calibri"/>
              </a:rPr>
              <a:t>The same two variables, now used by the older formatting styles.</a:t>
            </a:r>
          </a:p>
        </p:txBody>
      </p:sp>
      <p:sp>
        <p:nvSpPr>
          <p:cNvPr id="6" name="code"/>
          <p:cNvSpPr/>
          <p:nvPr/>
        </p:nvSpPr>
        <p:spPr>
          <a:xfrm>
            <a:off x="365760" y="1405128"/>
            <a:ext cx="50566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'My name is %s. I am %s years old.'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age</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'{1} years ago, {0} was born.'</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age</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5404104" y="1405128"/>
            <a:ext cx="3374136" cy="699516"/>
          </a:xfrm>
          <a:prstGeom prst="rect">
            <a:avLst/>
          </a:prstGeom>
          <a:noFill/>
        </p:spPr>
        <p:txBody>
          <a:bodyPr wrap="square" lIns="128016" rIns="128016" tIns="18288" bIns="18288" anchor="ctr">
            <a:spAutoFit/>
          </a:bodyPr>
          <a:lstStyle/>
          <a:p>
            <a:r>
              <a:rPr sz="1200" b="0" i="0">
                <a:solidFill>
                  <a:srgbClr val="1F2933"/>
                </a:solidFill>
                <a:latin typeface="Calibri"/>
              </a:rPr>
              <a:t>A percent s slot takes values in order. A numbered brace slot takes values by position, in any order.</a:t>
            </a:r>
          </a:p>
        </p:txBody>
      </p:sp>
      <p:sp>
        <p:nvSpPr>
          <p:cNvPr id="8" name="code"/>
          <p:cNvSpPr/>
          <p:nvPr/>
        </p:nvSpPr>
        <p:spPr>
          <a:xfrm>
            <a:off x="365760" y="2159507"/>
            <a:ext cx="505663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'Py'</a:t>
            </a:r>
            <a:r>
              <a:rPr sz="1050" b="0" i="0">
                <a:solidFill>
                  <a:srgbClr val="E6EDF3"/>
                </a:solidFill>
                <a:latin typeface="Courier New"/>
              </a:rPr>
              <a:t> </a:t>
            </a:r>
            <a:r>
              <a:rPr sz="1050" b="0" i="0">
                <a:solidFill>
                  <a:srgbClr val="9BE3A8"/>
                </a:solidFill>
                <a:latin typeface="Courier New"/>
              </a:rPr>
              <a:t>'thon'</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3</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'un'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'ium'</a:t>
            </a:r>
            <a:r>
              <a:rPr sz="1050" b="0" i="0">
                <a:solidFill>
                  <a:srgbClr val="E6EDF3"/>
                </a:solidFill>
                <a:latin typeface="Courier New"/>
              </a:rPr>
              <a:t>)</a:t>
            </a:r>
          </a:p>
        </p:txBody>
      </p:sp>
      <p:sp>
        <p:nvSpPr>
          <p:cNvPr id="9" name="explanation"/>
          <p:cNvSpPr txBox="1"/>
          <p:nvPr/>
        </p:nvSpPr>
        <p:spPr>
          <a:xfrm>
            <a:off x="5404104" y="2159507"/>
            <a:ext cx="3374136" cy="509016"/>
          </a:xfrm>
          <a:prstGeom prst="rect">
            <a:avLst/>
          </a:prstGeom>
          <a:noFill/>
        </p:spPr>
        <p:txBody>
          <a:bodyPr wrap="square" lIns="128016" rIns="128016" tIns="18288" bIns="18288" anchor="ctr">
            <a:spAutoFit/>
          </a:bodyPr>
          <a:lstStyle/>
          <a:p>
            <a:r>
              <a:rPr sz="1200" b="0" i="0">
                <a:solidFill>
                  <a:srgbClr val="1F2933"/>
                </a:solidFill>
                <a:latin typeface="Calibri"/>
              </a:rPr>
              <a:t>Neighbouring literals join. The star repeats a string, and plus joins two.</a:t>
            </a:r>
          </a:p>
        </p:txBody>
      </p:sp>
      <p:sp>
        <p:nvSpPr>
          <p:cNvPr id="10" name="result label"/>
          <p:cNvSpPr txBox="1"/>
          <p:nvPr/>
        </p:nvSpPr>
        <p:spPr>
          <a:xfrm>
            <a:off x="365760" y="27416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15996"/>
          <a:ext cx="8412479" cy="1592580"/>
        </p:xfrm>
        <a:graphic>
          <a:graphicData uri="http://schemas.openxmlformats.org/drawingml/2006/table">
            <a:tbl>
              <a:tblPr firstRow="0" bandRow="0"/>
              <a:tblGrid>
                <a:gridCol w="1301931"/>
                <a:gridCol w="6008914"/>
                <a:gridCol w="1101634"/>
              </a:tblGrid>
              <a:tr h="318516">
                <a:tc>
                  <a:txBody>
                    <a:bodyPr wrap="square"/>
                    <a:lstStyle/>
                    <a:p>
                      <a:r>
                        <a:rPr sz="1100" b="1" i="0">
                          <a:solidFill>
                            <a:srgbClr val="FFFFFF"/>
                          </a:solidFill>
                          <a:latin typeface="Calibri"/>
                        </a:rPr>
                        <a:t>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you write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Same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8516">
                <a:tc>
                  <a:txBody>
                    <a:bodyPr wrap="square"/>
                    <a:lstStyle/>
                    <a:p>
                      <a:r>
                        <a:rPr sz="1100" b="1" i="0">
                          <a:solidFill>
                            <a:srgbClr val="1F2933"/>
                          </a:solidFill>
                          <a:latin typeface="Calibri"/>
                        </a:rPr>
                        <a:t>f-string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ourier New"/>
                        </a:rPr>
                        <a:t>f'My name is {name}. I am {age} years old.'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8516">
                <a:tc>
                  <a:txBody>
                    <a:bodyPr wrap="square"/>
                    <a:lstStyle/>
                    <a:p>
                      <a:r>
                        <a:rPr sz="1100" b="1" i="0">
                          <a:solidFill>
                            <a:srgbClr val="1F2933"/>
                          </a:solidFill>
                          <a:latin typeface="Calibri"/>
                        </a:rPr>
                        <a:t>% 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ourier New"/>
                        </a:rPr>
                        <a:t>'My name is %s. I am %s years old.' % (name, 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8516">
                <a:tc>
                  <a:txBody>
                    <a:bodyPr wrap="square"/>
                    <a:lstStyle/>
                    <a:p>
                      <a:r>
                        <a:rPr sz="1100" b="1" i="0">
                          <a:solidFill>
                            <a:srgbClr val="1F2933"/>
                          </a:solidFill>
                          <a:latin typeface="Calibri"/>
                        </a:rPr>
                        <a:t>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ourier New"/>
                        </a:rPr>
                        <a:t>'My name is {}. I am {} years old.'.format(name, 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8516">
                <a:tc>
                  <a:txBody>
                    <a:bodyPr wrap="square"/>
                    <a:lstStyle/>
                    <a:p>
                      <a:r>
                        <a:rPr sz="1100" b="1" i="0">
                          <a:solidFill>
                            <a:srgbClr val="1F2933"/>
                          </a:solidFill>
                          <a:latin typeface="Calibri"/>
                        </a:rPr>
                        <a:t>plus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ourier New"/>
                        </a:rPr>
                        <a:t>'My name is ' + name + '. I am ' + str(age) + ' years...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Four styles, one result; prefer the f-string.</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String methods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Methods that make a new string, test the string, or cut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Make a new string</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upper, lower, strip and rjust return a changed copy.</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Test the string</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isalpha, isdecimal and startswith answer True or False.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Cut and join</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split, partition and join take text apart and back.</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Find and replace</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find, count and replace search inside the text.</a:t>
            </a:r>
          </a:p>
        </p:txBody>
      </p:sp>
      <p:graphicFrame>
        <p:nvGraphicFramePr>
          <p:cNvPr id="13" name="table"/>
          <p:cNvGraphicFramePr>
            <a:graphicFrameLocks noGrp="1"/>
          </p:cNvGraphicFramePr>
          <p:nvPr/>
        </p:nvGraphicFramePr>
        <p:xfrm>
          <a:off x="5760720" y="1417320"/>
          <a:ext cx="3017519" cy="3246120"/>
        </p:xfrm>
        <a:graphic>
          <a:graphicData uri="http://schemas.openxmlformats.org/drawingml/2006/table">
            <a:tbl>
              <a:tblPr firstRow="0" bandRow="0"/>
              <a:tblGrid>
                <a:gridCol w="484293"/>
                <a:gridCol w="2533226"/>
              </a:tblGrid>
              <a:tr h="27051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0510">
                <a:tc>
                  <a:txBody>
                    <a:bodyPr wrap="square"/>
                    <a:lstStyle/>
                    <a:p>
                      <a:r>
                        <a:rPr sz="100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case and tests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Changing the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Testing what a string is made of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Testing upper, lower and title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tests, join and split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Start, end and affixes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Joining and splitting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padding and trimming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Justifying and centring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Removing whitespace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Finding, counting and replacing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case and tests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upper and lower are a photocopier with a stamp: the original sheet stays as it was.</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360680">
                <a:tc>
                  <a:txBody>
                    <a:bodyPr wrap="square"/>
                    <a:lstStyle/>
                    <a:p>
                      <a:r>
                        <a:rPr sz="12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0680">
                <a:tc>
                  <a:txBody>
                    <a:bodyPr wrap="square"/>
                    <a:lstStyle/>
                    <a:p>
                      <a:r>
                        <a:rPr sz="1250" b="1" i="0">
                          <a:solidFill>
                            <a:srgbClr val="1F2933"/>
                          </a:solidFill>
                          <a:latin typeface="Calibri"/>
                        </a:rPr>
                        <a:t>Changing the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Photocopying a letter with a capitals stamp. The original letter is untouched.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megaphone: the same words, shouted in capitals.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whisper: the same words, all in small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Checking String Characteristics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bouncer with a checklist: letters only? digits only? all capitals?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isupper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Asks: is every letter shouting?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islower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Asks: is every letter whispering?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isalpha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crossword box that accepts letters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isalnum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licence plate: letters and digits, nothing else.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Changing the case</a:t>
            </a:r>
          </a:p>
        </p:txBody>
      </p:sp>
      <p:sp>
        <p:nvSpPr>
          <p:cNvPr id="4" name="code"/>
          <p:cNvSpPr/>
          <p:nvPr/>
        </p:nvSpPr>
        <p:spPr>
          <a:xfrm>
            <a:off x="365760" y="841248"/>
            <a:ext cx="484327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'Hello, world!'</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a:t>
            </a:r>
            <a:r>
              <a:rPr sz="1400" b="0" i="0">
                <a:solidFill>
                  <a:srgbClr val="E6EDF3"/>
                </a:solidFill>
                <a:latin typeface="Courier New"/>
              </a:rPr>
              <a:t>.</a:t>
            </a:r>
            <a:r>
              <a:rPr sz="1400" b="0" i="0">
                <a:solidFill>
                  <a:srgbClr val="E6EDF3"/>
                </a:solidFill>
                <a:latin typeface="Courier New"/>
              </a:rPr>
              <a:t>upper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a:t>
            </a:r>
            <a:r>
              <a:rPr sz="1400" b="0" i="0">
                <a:solidFill>
                  <a:srgbClr val="E6EDF3"/>
                </a:solidFill>
                <a:latin typeface="Courier New"/>
              </a:rPr>
              <a:t>.</a:t>
            </a:r>
            <a:r>
              <a:rPr sz="1400" b="0" i="0">
                <a:solidFill>
                  <a:srgbClr val="E6EDF3"/>
                </a:solidFill>
                <a:latin typeface="Courier New"/>
              </a:rPr>
              <a:t>lower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5190744" y="841248"/>
            <a:ext cx="3587496" cy="833628"/>
          </a:xfrm>
          <a:prstGeom prst="rect">
            <a:avLst/>
          </a:prstGeom>
          <a:noFill/>
        </p:spPr>
        <p:txBody>
          <a:bodyPr wrap="square" lIns="128016" rIns="128016" tIns="18288" bIns="18288" anchor="ctr">
            <a:spAutoFit/>
          </a:bodyPr>
          <a:lstStyle/>
          <a:p>
            <a:r>
              <a:rPr sz="1250" b="0" i="0">
                <a:solidFill>
                  <a:srgbClr val="1F2933"/>
                </a:solidFill>
                <a:latin typeface="Calibri"/>
              </a:rPr>
              <a:t>upper and lower never change s. Each returns a new string, so you must keep or print the result.</a:t>
            </a:r>
          </a:p>
        </p:txBody>
      </p:sp>
      <p:sp>
        <p:nvSpPr>
          <p:cNvPr id="6" name="code"/>
          <p:cNvSpPr/>
          <p:nvPr/>
        </p:nvSpPr>
        <p:spPr>
          <a:xfrm>
            <a:off x="365760" y="1729740"/>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'great'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'GREat'</a:t>
            </a:r>
            <a:r>
              <a:rPr sz="1400" b="0" i="0">
                <a:solidFill>
                  <a:srgbClr val="E6EDF3"/>
                </a:solidFill>
                <a:latin typeface="Courier New"/>
              </a:rPr>
              <a:t>.</a:t>
            </a:r>
            <a:r>
              <a:rPr sz="1400" b="0" i="0">
                <a:solidFill>
                  <a:srgbClr val="E6EDF3"/>
                </a:solidFill>
                <a:latin typeface="Courier New"/>
              </a:rPr>
              <a:t>lower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'straße'</a:t>
            </a:r>
            <a:r>
              <a:rPr sz="1400" b="0" i="0">
                <a:solidFill>
                  <a:srgbClr val="E6EDF3"/>
                </a:solidFill>
                <a:latin typeface="Courier New"/>
              </a:rPr>
              <a:t>.</a:t>
            </a:r>
            <a:r>
              <a:rPr sz="1400" b="0" i="0">
                <a:solidFill>
                  <a:srgbClr val="E6EDF3"/>
                </a:solidFill>
                <a:latin typeface="Courier New"/>
              </a:rPr>
              <a:t>casefold</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'strasse'</a:t>
            </a:r>
            <a:r>
              <a:rPr sz="1400" b="0" i="0">
                <a:solidFill>
                  <a:srgbClr val="E6EDF3"/>
                </a:solidFill>
                <a:latin typeface="Courier New"/>
              </a:rPr>
              <a:t>)</a:t>
            </a:r>
          </a:p>
        </p:txBody>
      </p:sp>
      <p:sp>
        <p:nvSpPr>
          <p:cNvPr id="7" name="explanation"/>
          <p:cNvSpPr txBox="1"/>
          <p:nvPr/>
        </p:nvSpPr>
        <p:spPr>
          <a:xfrm>
            <a:off x="5190744" y="1729740"/>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Compare after lowering to ignore case. casefold goes further: the German sharp s equals ss.</a:t>
            </a:r>
          </a:p>
        </p:txBody>
      </p:sp>
      <p:sp>
        <p:nvSpPr>
          <p:cNvPr id="8" name="result label"/>
          <p:cNvSpPr txBox="1"/>
          <p:nvPr/>
        </p:nvSpPr>
        <p:spPr>
          <a:xfrm>
            <a:off x="365760" y="252622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00540"/>
          <a:ext cx="8412479" cy="1808034"/>
        </p:xfrm>
        <a:graphic>
          <a:graphicData uri="http://schemas.openxmlformats.org/drawingml/2006/table">
            <a:tbl>
              <a:tblPr firstRow="0" bandRow="0"/>
              <a:tblGrid>
                <a:gridCol w="4015047"/>
                <a:gridCol w="3059083"/>
                <a:gridCol w="1338349"/>
              </a:tblGrid>
              <a:tr h="301339">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Python answers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01339">
                <a:tc>
                  <a:txBody>
                    <a:bodyPr wrap="square"/>
                    <a:lstStyle/>
                    <a:p>
                      <a:r>
                        <a:rPr sz="1050" b="0" i="0">
                          <a:solidFill>
                            <a:srgbClr val="1F2933"/>
                          </a:solidFill>
                          <a:latin typeface="Courier New"/>
                        </a:rPr>
                        <a:t>s.upper()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339">
                <a:tc>
                  <a:txBody>
                    <a:bodyPr wrap="square"/>
                    <a:lstStyle/>
                    <a:p>
                      <a:r>
                        <a:rPr sz="1050" b="0" i="0">
                          <a:solidFill>
                            <a:srgbClr val="1F2933"/>
                          </a:solidFill>
                          <a:latin typeface="Courier New"/>
                        </a:rPr>
                        <a:t>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339">
                <a:tc>
                  <a:txBody>
                    <a:bodyPr wrap="square"/>
                    <a:lstStyle/>
                    <a:p>
                      <a:r>
                        <a:rPr sz="1050" b="0" i="0">
                          <a:solidFill>
                            <a:srgbClr val="1F2933"/>
                          </a:solidFill>
                          <a:latin typeface="Courier New"/>
                        </a:rPr>
                        <a:t>'great' == 'GREat'.lower()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339">
                <a:tc>
                  <a:txBody>
                    <a:bodyPr wrap="square"/>
                    <a:lstStyle/>
                    <a:p>
                      <a:r>
                        <a:rPr sz="1050" b="0" i="0">
                          <a:solidFill>
                            <a:srgbClr val="1F2933"/>
                          </a:solidFill>
                          <a:latin typeface="Courier New"/>
                        </a:rPr>
                        <a:t>'straße'.casefold() == 'strasse'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339">
                <a:tc>
                  <a:txBody>
                    <a:bodyPr wrap="square"/>
                    <a:lstStyle/>
                    <a:p>
                      <a:r>
                        <a:rPr sz="1050" b="0" i="0">
                          <a:solidFill>
                            <a:srgbClr val="1F2933"/>
                          </a:solidFill>
                          <a:latin typeface="Courier New"/>
                        </a:rPr>
                        <a:t>s (after all calls)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method returns a new string; the original stays.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Testing what a string is made of</a:t>
            </a:r>
          </a:p>
        </p:txBody>
      </p:sp>
      <p:sp>
        <p:nvSpPr>
          <p:cNvPr id="4" name="code"/>
          <p:cNvSpPr/>
          <p:nvPr/>
        </p:nvSpPr>
        <p:spPr>
          <a:xfrm>
            <a:off x="365760" y="841248"/>
            <a:ext cx="441655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'hello'</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'Hello'</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'abc123'</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'123'</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 '</a:t>
            </a:r>
            <a:r>
              <a:rPr sz="1050" b="0" i="0">
                <a:solidFill>
                  <a:srgbClr val="E6EDF3"/>
                </a:solidFill>
                <a:latin typeface="Courier New"/>
              </a:rPr>
              <a:t>]</a:t>
            </a:r>
          </a:p>
        </p:txBody>
      </p:sp>
      <p:sp>
        <p:nvSpPr>
          <p:cNvPr id="5" name="explanation"/>
          <p:cNvSpPr txBox="1"/>
          <p:nvPr/>
        </p:nvSpPr>
        <p:spPr>
          <a:xfrm>
            <a:off x="4764024" y="841248"/>
            <a:ext cx="4014215" cy="509016"/>
          </a:xfrm>
          <a:prstGeom prst="rect">
            <a:avLst/>
          </a:prstGeom>
          <a:noFill/>
        </p:spPr>
        <p:txBody>
          <a:bodyPr wrap="square" lIns="128016" rIns="128016" tIns="18288" bIns="18288" anchor="ctr">
            <a:spAutoFit/>
          </a:bodyPr>
          <a:lstStyle/>
          <a:p>
            <a:r>
              <a:rPr sz="1200" b="0" i="0">
                <a:solidFill>
                  <a:srgbClr val="1F2933"/>
                </a:solidFill>
                <a:latin typeface="Calibri"/>
              </a:rPr>
              <a:t>Five sample strings: letters, a capital, letters with digits, digits only and a single space.</a:t>
            </a:r>
          </a:p>
        </p:txBody>
      </p:sp>
      <p:sp>
        <p:nvSpPr>
          <p:cNvPr id="6" name="code"/>
          <p:cNvSpPr/>
          <p:nvPr/>
        </p:nvSpPr>
        <p:spPr>
          <a:xfrm>
            <a:off x="365760" y="1405128"/>
            <a:ext cx="441655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isalpha</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isalnum</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4764024" y="1405128"/>
            <a:ext cx="4014215" cy="699516"/>
          </a:xfrm>
          <a:prstGeom prst="rect">
            <a:avLst/>
          </a:prstGeom>
          <a:noFill/>
        </p:spPr>
        <p:txBody>
          <a:bodyPr wrap="square" lIns="128016" rIns="128016" tIns="18288" bIns="18288" anchor="ctr">
            <a:spAutoFit/>
          </a:bodyPr>
          <a:lstStyle/>
          <a:p>
            <a:r>
              <a:rPr sz="1200" b="0" i="0">
                <a:solidFill>
                  <a:srgbClr val="1F2933"/>
                </a:solidFill>
                <a:latin typeface="Calibri"/>
              </a:rPr>
              <a:t>isalpha wants letters only. isalnum also accepts digits. Each test returns True or False for the whole string.</a:t>
            </a:r>
          </a:p>
        </p:txBody>
      </p:sp>
      <p:sp>
        <p:nvSpPr>
          <p:cNvPr id="8" name="code"/>
          <p:cNvSpPr/>
          <p:nvPr/>
        </p:nvSpPr>
        <p:spPr>
          <a:xfrm>
            <a:off x="365760" y="2159507"/>
            <a:ext cx="441655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isdecimal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isspace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p:txBody>
      </p:sp>
      <p:sp>
        <p:nvSpPr>
          <p:cNvPr id="9" name="explanation"/>
          <p:cNvSpPr txBox="1"/>
          <p:nvPr/>
        </p:nvSpPr>
        <p:spPr>
          <a:xfrm>
            <a:off x="4764024" y="2159507"/>
            <a:ext cx="4014215" cy="509016"/>
          </a:xfrm>
          <a:prstGeom prst="rect">
            <a:avLst/>
          </a:prstGeom>
          <a:noFill/>
        </p:spPr>
        <p:txBody>
          <a:bodyPr wrap="square" lIns="128016" rIns="128016" tIns="18288" bIns="18288" anchor="ctr">
            <a:spAutoFit/>
          </a:bodyPr>
          <a:lstStyle/>
          <a:p>
            <a:r>
              <a:rPr sz="1200" b="0" i="0">
                <a:solidFill>
                  <a:srgbClr val="1F2933"/>
                </a:solidFill>
                <a:latin typeface="Calibri"/>
              </a:rPr>
              <a:t>isdecimal wants digits only. isspace wants nothing but blanks, tabs and line breaks.</a:t>
            </a:r>
          </a:p>
        </p:txBody>
      </p:sp>
      <p:sp>
        <p:nvSpPr>
          <p:cNvPr id="10" name="result label"/>
          <p:cNvSpPr txBox="1"/>
          <p:nvPr/>
        </p:nvSpPr>
        <p:spPr>
          <a:xfrm>
            <a:off x="365760" y="27416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15996"/>
          <a:ext cx="8412475" cy="1592580"/>
        </p:xfrm>
        <a:graphic>
          <a:graphicData uri="http://schemas.openxmlformats.org/drawingml/2006/table">
            <a:tbl>
              <a:tblPr firstRow="0" bandRow="0"/>
              <a:tblGrid>
                <a:gridCol w="2072639"/>
                <a:gridCol w="1584959"/>
                <a:gridCol w="1584959"/>
                <a:gridCol w="1584959"/>
                <a:gridCol w="1584959"/>
              </a:tblGrid>
              <a:tr h="265430">
                <a:tc>
                  <a:txBody>
                    <a:bodyPr wrap="square"/>
                    <a:lstStyle/>
                    <a:p>
                      <a:r>
                        <a:rPr sz="1000" b="1" i="0">
                          <a:solidFill>
                            <a:srgbClr val="FFFFFF"/>
                          </a:solidFill>
                          <a:latin typeface="Calibri"/>
                        </a:rPr>
                        <a:t>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isalpha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isalnum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isdecimal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5430">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430">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5430">
                <a:tc>
                  <a:txBody>
                    <a:bodyPr wrap="square"/>
                    <a:lstStyle/>
                    <a:p>
                      <a:r>
                        <a:rPr sz="1000" b="0" i="0">
                          <a:solidFill>
                            <a:srgbClr val="1F2933"/>
                          </a:solidFill>
                          <a:latin typeface="Courier New"/>
                        </a:rPr>
                        <a:t>'abc123'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430">
                <a:tc>
                  <a:txBody>
                    <a:bodyPr wrap="square"/>
                    <a:lstStyle/>
                    <a:p>
                      <a:r>
                        <a:rPr sz="1000" b="0" i="0">
                          <a:solidFill>
                            <a:srgbClr val="1F2933"/>
                          </a:solidFill>
                          <a:latin typeface="Courier New"/>
                        </a:rPr>
                        <a: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5430">
                <a:tc>
                  <a:txBody>
                    <a:bodyPr wrap="square"/>
                    <a:lstStyle/>
                    <a:p>
                      <a:r>
                        <a:rPr sz="10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test answers for the whole string.</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Testing upper, lower and title case</a:t>
            </a:r>
          </a:p>
        </p:txBody>
      </p:sp>
      <p:sp>
        <p:nvSpPr>
          <p:cNvPr id="4" name="code"/>
          <p:cNvSpPr/>
          <p:nvPr/>
        </p:nvSpPr>
        <p:spPr>
          <a:xfrm>
            <a:off x="365760" y="841248"/>
            <a:ext cx="513664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'hello'</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'Hello'</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'HELLO'</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'Hello World'</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'123'</a:t>
            </a:r>
            <a:r>
              <a:rPr sz="1050" b="0" i="0">
                <a:solidFill>
                  <a:srgbClr val="E6EDF3"/>
                </a:solidFill>
                <a:latin typeface="Courier New"/>
              </a:rPr>
              <a:t>]</a:t>
            </a:r>
          </a:p>
        </p:txBody>
      </p:sp>
      <p:sp>
        <p:nvSpPr>
          <p:cNvPr id="5" name="explanation"/>
          <p:cNvSpPr txBox="1"/>
          <p:nvPr/>
        </p:nvSpPr>
        <p:spPr>
          <a:xfrm>
            <a:off x="5484114" y="841248"/>
            <a:ext cx="3294125" cy="509016"/>
          </a:xfrm>
          <a:prstGeom prst="rect">
            <a:avLst/>
          </a:prstGeom>
          <a:noFill/>
        </p:spPr>
        <p:txBody>
          <a:bodyPr wrap="square" lIns="128016" rIns="128016" tIns="18288" bIns="18288" anchor="ctr">
            <a:spAutoFit/>
          </a:bodyPr>
          <a:lstStyle/>
          <a:p>
            <a:r>
              <a:rPr sz="1200" b="0" i="0">
                <a:solidFill>
                  <a:srgbClr val="1F2933"/>
                </a:solidFill>
                <a:latin typeface="Calibri"/>
              </a:rPr>
              <a:t>Five samples. Digits have no case at all, which matters for the tests below.</a:t>
            </a:r>
          </a:p>
        </p:txBody>
      </p:sp>
      <p:sp>
        <p:nvSpPr>
          <p:cNvPr id="6" name="code"/>
          <p:cNvSpPr/>
          <p:nvPr/>
        </p:nvSpPr>
        <p:spPr>
          <a:xfrm>
            <a:off x="365760" y="1405128"/>
            <a:ext cx="513664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isupper</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islower</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istitle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5484114" y="1405128"/>
            <a:ext cx="3294125" cy="699516"/>
          </a:xfrm>
          <a:prstGeom prst="rect">
            <a:avLst/>
          </a:prstGeom>
          <a:noFill/>
        </p:spPr>
        <p:txBody>
          <a:bodyPr wrap="square" lIns="128016" rIns="128016" tIns="18288" bIns="18288" anchor="ctr">
            <a:spAutoFit/>
          </a:bodyPr>
          <a:lstStyle/>
          <a:p>
            <a:r>
              <a:rPr sz="1200" b="0" i="0">
                <a:solidFill>
                  <a:srgbClr val="1F2933"/>
                </a:solidFill>
                <a:latin typeface="Calibri"/>
              </a:rPr>
              <a:t>isupper and islower need at least one letter and all letters in that case. istitle wants every word capitalised.</a:t>
            </a:r>
          </a:p>
        </p:txBody>
      </p:sp>
      <p:sp>
        <p:nvSpPr>
          <p:cNvPr id="8" name="result label"/>
          <p:cNvSpPr txBox="1"/>
          <p:nvPr/>
        </p:nvSpPr>
        <p:spPr>
          <a:xfrm>
            <a:off x="365760" y="217779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452116"/>
          <a:ext cx="8412479" cy="2084832"/>
        </p:xfrm>
        <a:graphic>
          <a:graphicData uri="http://schemas.openxmlformats.org/drawingml/2006/table">
            <a:tbl>
              <a:tblPr firstRow="0" bandRow="0"/>
              <a:tblGrid>
                <a:gridCol w="2553788"/>
                <a:gridCol w="1952897"/>
                <a:gridCol w="1952897"/>
                <a:gridCol w="1952897"/>
              </a:tblGrid>
              <a:tr h="347472">
                <a:tc>
                  <a:txBody>
                    <a:bodyPr wrap="square"/>
                    <a:lstStyle/>
                    <a:p>
                      <a:r>
                        <a:rPr sz="1200" b="1" i="0">
                          <a:solidFill>
                            <a:srgbClr val="FFFFFF"/>
                          </a:solidFill>
                          <a:latin typeface="Calibri"/>
                        </a:rPr>
                        <a:t>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isupper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islower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istitle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2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2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r>
                        <a:rPr sz="12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20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r>
                        <a:rPr sz="1200" b="0" i="0">
                          <a:solidFill>
                            <a:srgbClr val="1F2933"/>
                          </a:solidFill>
                          <a:latin typeface="Courier New"/>
                        </a:rPr>
                        <a: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Digits have no case.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tests, join and split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split is a pair of scissors; join is a thread that ties the pieces together again.</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324612">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4612">
                <a:tc>
                  <a:txBody>
                    <a:bodyPr wrap="square"/>
                    <a:lstStyle/>
                    <a:p>
                      <a:r>
                        <a:rPr sz="1100" b="1" i="0">
                          <a:solidFill>
                            <a:srgbClr val="1F2933"/>
                          </a:solidFill>
                          <a:latin typeface="Calibri"/>
                        </a:rPr>
                        <a:t>isdecimal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PIN pad: digits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isspace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An empty page: nothing but blanks.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istitle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book title: every word starts with a capital.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Checking the Start or End of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Reading only the first or last word on an envelope.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startswith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Glancing at the greeting at the top of a letter.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endswith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Checking the stamp on a parcel, or the extension on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Joining and Splitting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Cutting a loaf into slices, and threading beads back onto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thread between beads: you choose what goes between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split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Scissors that cut wherever the marker appears.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Start, end and affixes</a:t>
            </a:r>
          </a:p>
        </p:txBody>
      </p:sp>
      <p:sp>
        <p:nvSpPr>
          <p:cNvPr id="4" name="code"/>
          <p:cNvSpPr/>
          <p:nvPr/>
        </p:nvSpPr>
        <p:spPr>
          <a:xfrm>
            <a:off x="365760" y="841248"/>
            <a:ext cx="50109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'Hello, world!'</a:t>
            </a:r>
            <a:r>
              <a:rPr sz="1300" b="0" i="0">
                <a:solidFill>
                  <a:srgbClr val="E6EDF3"/>
                </a:solidFill>
                <a:latin typeface="Courier New"/>
              </a:rPr>
              <a:t>.</a:t>
            </a:r>
            <a:r>
              <a:rPr sz="1300" b="0" i="0">
                <a:solidFill>
                  <a:srgbClr val="E6EDF3"/>
                </a:solidFill>
                <a:latin typeface="Courier New"/>
              </a:rPr>
              <a:t>startswith</a:t>
            </a:r>
            <a:r>
              <a:rPr sz="1300" b="0" i="0">
                <a:solidFill>
                  <a:srgbClr val="E6EDF3"/>
                </a:solidFill>
                <a:latin typeface="Courier New"/>
              </a:rPr>
              <a:t>(</a:t>
            </a:r>
            <a:r>
              <a:rPr sz="1300" b="0" i="0">
                <a:solidFill>
                  <a:srgbClr val="9BE3A8"/>
                </a:solidFill>
                <a:latin typeface="Courier New"/>
              </a:rPr>
              <a:t>'Hello'</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'notes.txt'</a:t>
            </a:r>
            <a:r>
              <a:rPr sz="1300" b="0" i="0">
                <a:solidFill>
                  <a:srgbClr val="E6EDF3"/>
                </a:solidFill>
                <a:latin typeface="Courier New"/>
              </a:rPr>
              <a:t>.</a:t>
            </a:r>
            <a:r>
              <a:rPr sz="1300" b="0" i="0">
                <a:solidFill>
                  <a:srgbClr val="E6EDF3"/>
                </a:solidFill>
                <a:latin typeface="Courier New"/>
              </a:rPr>
              <a:t>endswith</a:t>
            </a:r>
            <a:r>
              <a:rPr sz="1300" b="0" i="0">
                <a:solidFill>
                  <a:srgbClr val="E6EDF3"/>
                </a:solidFill>
                <a:latin typeface="Courier New"/>
              </a:rPr>
              <a:t>(</a:t>
            </a:r>
            <a:r>
              <a:rPr sz="1300" b="0" i="0">
                <a:solidFill>
                  <a:srgbClr val="E6EDF3"/>
                </a:solidFill>
                <a:latin typeface="Courier New"/>
              </a:rPr>
              <a:t>(</a:t>
            </a:r>
            <a:r>
              <a:rPr sz="1300" b="0" i="0">
                <a:solidFill>
                  <a:srgbClr val="9BE3A8"/>
                </a:solidFill>
                <a:latin typeface="Courier New"/>
              </a:rPr>
              <a:t>'.py'</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'.txt'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5358384" y="841248"/>
            <a:ext cx="3419856" cy="723328"/>
          </a:xfrm>
          <a:prstGeom prst="rect">
            <a:avLst/>
          </a:prstGeom>
          <a:noFill/>
        </p:spPr>
        <p:txBody>
          <a:bodyPr wrap="square" lIns="128016" rIns="128016" tIns="18288" bIns="18288" anchor="ctr">
            <a:spAutoFit/>
          </a:bodyPr>
          <a:lstStyle/>
          <a:p>
            <a:r>
              <a:rPr sz="1250" b="0" i="0">
                <a:solidFill>
                  <a:srgbClr val="1F2933"/>
                </a:solidFill>
                <a:latin typeface="Calibri"/>
              </a:rPr>
              <a:t>startswith and endswith test one end of a string. Give endswith a tuple to accept several endings.</a:t>
            </a:r>
          </a:p>
        </p:txBody>
      </p:sp>
      <p:sp>
        <p:nvSpPr>
          <p:cNvPr id="6" name="code"/>
          <p:cNvSpPr/>
          <p:nvPr/>
        </p:nvSpPr>
        <p:spPr>
          <a:xfrm>
            <a:off x="365760" y="1619440"/>
            <a:ext cx="50109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'report.txt'</a:t>
            </a:r>
            <a:r>
              <a:rPr sz="1300" b="0" i="0">
                <a:solidFill>
                  <a:srgbClr val="E6EDF3"/>
                </a:solidFill>
                <a:latin typeface="Courier New"/>
              </a:rPr>
              <a:t>.</a:t>
            </a:r>
            <a:r>
              <a:rPr sz="1300" b="0" i="0">
                <a:solidFill>
                  <a:srgbClr val="E6EDF3"/>
                </a:solidFill>
                <a:latin typeface="Courier New"/>
              </a:rPr>
              <a:t>removesuffix</a:t>
            </a:r>
            <a:r>
              <a:rPr sz="1300" b="0" i="0">
                <a:solidFill>
                  <a:srgbClr val="E6EDF3"/>
                </a:solidFill>
                <a:latin typeface="Courier New"/>
              </a:rPr>
              <a:t>(</a:t>
            </a:r>
            <a:r>
              <a:rPr sz="1300" b="0" i="0">
                <a:solidFill>
                  <a:srgbClr val="9BE3A8"/>
                </a:solidFill>
                <a:latin typeface="Courier New"/>
              </a:rPr>
              <a:t>'.txt'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'test_a.py'</a:t>
            </a:r>
            <a:r>
              <a:rPr sz="1300" b="0" i="0">
                <a:solidFill>
                  <a:srgbClr val="E6EDF3"/>
                </a:solidFill>
                <a:latin typeface="Courier New"/>
              </a:rPr>
              <a:t>.</a:t>
            </a:r>
            <a:r>
              <a:rPr sz="1300" b="0" i="0">
                <a:solidFill>
                  <a:srgbClr val="E6EDF3"/>
                </a:solidFill>
                <a:latin typeface="Courier New"/>
              </a:rPr>
              <a:t>removeprefix</a:t>
            </a:r>
            <a:r>
              <a:rPr sz="1300" b="0" i="0">
                <a:solidFill>
                  <a:srgbClr val="E6EDF3"/>
                </a:solidFill>
                <a:latin typeface="Courier New"/>
              </a:rPr>
              <a:t>(</a:t>
            </a:r>
            <a:r>
              <a:rPr sz="1300" b="0" i="0">
                <a:solidFill>
                  <a:srgbClr val="9BE3A8"/>
                </a:solidFill>
                <a:latin typeface="Courier New"/>
              </a:rPr>
              <a:t>'test_'</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358384" y="1619440"/>
            <a:ext cx="3419856" cy="723328"/>
          </a:xfrm>
          <a:prstGeom prst="rect">
            <a:avLst/>
          </a:prstGeom>
          <a:noFill/>
        </p:spPr>
        <p:txBody>
          <a:bodyPr wrap="square" lIns="128016" rIns="128016" tIns="18288" bIns="18288" anchor="ctr">
            <a:spAutoFit/>
          </a:bodyPr>
          <a:lstStyle/>
          <a:p>
            <a:r>
              <a:rPr sz="1250" b="0" i="0">
                <a:solidFill>
                  <a:srgbClr val="1F2933"/>
                </a:solidFill>
                <a:latin typeface="Calibri"/>
              </a:rPr>
              <a:t>removesuffix and removeprefix cut off exactly that text, once. strip would remove a set of characters.</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0241"/>
            <a:ext cx="10058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report.txt</a:t>
            </a:r>
          </a:p>
        </p:txBody>
      </p:sp>
      <p:sp>
        <p:nvSpPr>
          <p:cNvPr id="10" name="Rounded Rectangle 9"/>
          <p:cNvSpPr/>
          <p:nvPr/>
        </p:nvSpPr>
        <p:spPr>
          <a:xfrm>
            <a:off x="1463040" y="2690241"/>
            <a:ext cx="749808"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report</a:t>
            </a:r>
          </a:p>
        </p:txBody>
      </p:sp>
      <p:sp>
        <p:nvSpPr>
          <p:cNvPr id="11" name="Rounded Rectangle 10"/>
          <p:cNvSpPr/>
          <p:nvPr/>
        </p:nvSpPr>
        <p:spPr>
          <a:xfrm>
            <a:off x="2258568" y="2690241"/>
            <a:ext cx="6858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.txt</a:t>
            </a:r>
          </a:p>
        </p:txBody>
      </p:sp>
      <p:cxnSp>
        <p:nvCxnSpPr>
          <p:cNvPr id="12" name="arrow"/>
          <p:cNvCxnSpPr/>
          <p:nvPr/>
        </p:nvCxnSpPr>
        <p:spPr>
          <a:xfrm>
            <a:off x="3035808" y="2854833"/>
            <a:ext cx="15361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17720" y="2690241"/>
            <a:ext cx="2011680" cy="329184"/>
          </a:xfrm>
          <a:prstGeom prst="rect">
            <a:avLst/>
          </a:prstGeom>
          <a:noFill/>
        </p:spPr>
        <p:txBody>
          <a:bodyPr wrap="square" lIns="45720" rIns="45720" tIns="27432" bIns="27432" anchor="ctr">
            <a:spAutoFit/>
          </a:bodyPr>
          <a:lstStyle/>
          <a:p>
            <a:r>
              <a:rPr sz="1050" b="0" i="0">
                <a:solidFill>
                  <a:srgbClr val="5B6773"/>
                </a:solidFill>
                <a:latin typeface="Courier New"/>
              </a:rPr>
              <a:t>.removesuffix('.txt')</a:t>
            </a:r>
          </a:p>
        </p:txBody>
      </p:sp>
      <p:cxnSp>
        <p:nvCxnSpPr>
          <p:cNvPr id="14" name="arrow"/>
          <p:cNvCxnSpPr/>
          <p:nvPr/>
        </p:nvCxnSpPr>
        <p:spPr>
          <a:xfrm>
            <a:off x="6629400" y="2854833"/>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95160" y="2690241"/>
            <a:ext cx="128016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report</a:t>
            </a:r>
          </a:p>
        </p:txBody>
      </p:sp>
      <p:sp>
        <p:nvSpPr>
          <p:cNvPr id="16" name="Rounded Rectangle 15"/>
          <p:cNvSpPr/>
          <p:nvPr/>
        </p:nvSpPr>
        <p:spPr>
          <a:xfrm>
            <a:off x="365760" y="3147441"/>
            <a:ext cx="10058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test_a.py</a:t>
            </a:r>
          </a:p>
        </p:txBody>
      </p:sp>
      <p:sp>
        <p:nvSpPr>
          <p:cNvPr id="17" name="Rounded Rectangle 16"/>
          <p:cNvSpPr/>
          <p:nvPr/>
        </p:nvSpPr>
        <p:spPr>
          <a:xfrm>
            <a:off x="1463040" y="3147441"/>
            <a:ext cx="6858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test_</a:t>
            </a:r>
          </a:p>
        </p:txBody>
      </p:sp>
      <p:sp>
        <p:nvSpPr>
          <p:cNvPr id="18" name="Rounded Rectangle 17"/>
          <p:cNvSpPr/>
          <p:nvPr/>
        </p:nvSpPr>
        <p:spPr>
          <a:xfrm>
            <a:off x="2194560" y="3147441"/>
            <a:ext cx="68580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a.py</a:t>
            </a:r>
          </a:p>
        </p:txBody>
      </p:sp>
      <p:cxnSp>
        <p:nvCxnSpPr>
          <p:cNvPr id="19" name="arrow"/>
          <p:cNvCxnSpPr/>
          <p:nvPr/>
        </p:nvCxnSpPr>
        <p:spPr>
          <a:xfrm>
            <a:off x="2971800" y="3312033"/>
            <a:ext cx="160020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17720" y="3147441"/>
            <a:ext cx="2011680" cy="329184"/>
          </a:xfrm>
          <a:prstGeom prst="rect">
            <a:avLst/>
          </a:prstGeom>
          <a:noFill/>
        </p:spPr>
        <p:txBody>
          <a:bodyPr wrap="square" lIns="45720" rIns="45720" tIns="27432" bIns="27432" anchor="ctr">
            <a:spAutoFit/>
          </a:bodyPr>
          <a:lstStyle/>
          <a:p>
            <a:r>
              <a:rPr sz="1050" b="0" i="0">
                <a:solidFill>
                  <a:srgbClr val="5B6773"/>
                </a:solidFill>
                <a:latin typeface="Courier New"/>
              </a:rPr>
              <a:t>.removeprefix('test_')</a:t>
            </a:r>
          </a:p>
        </p:txBody>
      </p:sp>
      <p:cxnSp>
        <p:nvCxnSpPr>
          <p:cNvPr id="21" name="arrow"/>
          <p:cNvCxnSpPr/>
          <p:nvPr/>
        </p:nvCxnSpPr>
        <p:spPr>
          <a:xfrm>
            <a:off x="6629400" y="3312033"/>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995160" y="3147441"/>
            <a:ext cx="128016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a.py</a:t>
            </a:r>
          </a:p>
        </p:txBody>
      </p:sp>
      <p:sp>
        <p:nvSpPr>
          <p:cNvPr id="23" name="Rounded Rectangle 22"/>
          <p:cNvSpPr/>
          <p:nvPr/>
        </p:nvSpPr>
        <p:spPr>
          <a:xfrm>
            <a:off x="365760" y="3650361"/>
            <a:ext cx="38404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startswith('Hello') on 'Hello, world!'  -&gt;  True</a:t>
            </a:r>
          </a:p>
        </p:txBody>
      </p:sp>
      <p:sp>
        <p:nvSpPr>
          <p:cNvPr id="24" name="Rounded Rectangle 23"/>
          <p:cNvSpPr/>
          <p:nvPr/>
        </p:nvSpPr>
        <p:spPr>
          <a:xfrm>
            <a:off x="4389120" y="3650361"/>
            <a:ext cx="38404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'notes.txt'.endswith(('.py', '.txt'))  -&gt;  True</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Cut exact text with removeprefix and removesuffix.</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Joining and splitting</a:t>
            </a:r>
          </a:p>
        </p:txBody>
      </p:sp>
      <p:sp>
        <p:nvSpPr>
          <p:cNvPr id="4" name="code"/>
          <p:cNvSpPr/>
          <p:nvPr/>
        </p:nvSpPr>
        <p:spPr>
          <a:xfrm>
            <a:off x="365760" y="841248"/>
            <a:ext cx="4462272"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 '</a:t>
            </a:r>
            <a:r>
              <a:rPr sz="1200" b="0" i="0">
                <a:solidFill>
                  <a:srgbClr val="E6EDF3"/>
                </a:solidFill>
                <a:latin typeface="Courier New"/>
              </a:rPr>
              <a:t>.</a:t>
            </a:r>
            <a:r>
              <a:rPr sz="1200" b="0" i="0">
                <a:solidFill>
                  <a:srgbClr val="E6EDF3"/>
                </a:solidFill>
                <a:latin typeface="Courier New"/>
              </a:rPr>
              <a:t>join</a:t>
            </a:r>
            <a:r>
              <a:rPr sz="1200" b="0" i="0">
                <a:solidFill>
                  <a:srgbClr val="E6EDF3"/>
                </a:solidFill>
                <a:latin typeface="Courier New"/>
              </a:rPr>
              <a:t>(</a:t>
            </a:r>
            <a:r>
              <a:rPr sz="1200" b="0" i="0">
                <a:solidFill>
                  <a:srgbClr val="E6EDF3"/>
                </a:solidFill>
                <a:latin typeface="Courier New"/>
              </a:rPr>
              <a:t>[</a:t>
            </a:r>
            <a:r>
              <a:rPr sz="1200" b="0" i="0">
                <a:solidFill>
                  <a:srgbClr val="9BE3A8"/>
                </a:solidFill>
                <a:latin typeface="Courier New"/>
              </a:rPr>
              <a:t>'cats'</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'rats'</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'bats'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4809744" y="841248"/>
            <a:ext cx="3968495" cy="524891"/>
          </a:xfrm>
          <a:prstGeom prst="rect">
            <a:avLst/>
          </a:prstGeom>
          <a:noFill/>
        </p:spPr>
        <p:txBody>
          <a:bodyPr wrap="square" lIns="128016" rIns="128016" tIns="18288" bIns="18288" anchor="ctr">
            <a:spAutoFit/>
          </a:bodyPr>
          <a:lstStyle/>
          <a:p>
            <a:r>
              <a:rPr sz="1250" b="0" i="0">
                <a:solidFill>
                  <a:srgbClr val="1F2933"/>
                </a:solidFill>
                <a:latin typeface="Calibri"/>
              </a:rPr>
              <a:t>join glues a list of strings with the string it is called on between them.</a:t>
            </a:r>
          </a:p>
        </p:txBody>
      </p:sp>
      <p:sp>
        <p:nvSpPr>
          <p:cNvPr id="6" name="code"/>
          <p:cNvSpPr/>
          <p:nvPr/>
        </p:nvSpPr>
        <p:spPr>
          <a:xfrm>
            <a:off x="365760" y="1421003"/>
            <a:ext cx="4462272"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'My name is Simon'</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9BE3A8"/>
                </a:solidFill>
                <a:latin typeface="Courier New"/>
              </a:rPr>
              <a:t>'m'</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'My name is Simon'</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4809744" y="1421003"/>
            <a:ext cx="3968495" cy="554736"/>
          </a:xfrm>
          <a:prstGeom prst="rect">
            <a:avLst/>
          </a:prstGeom>
          <a:noFill/>
        </p:spPr>
        <p:txBody>
          <a:bodyPr wrap="square" lIns="128016" rIns="128016" tIns="18288" bIns="18288" anchor="ctr">
            <a:spAutoFit/>
          </a:bodyPr>
          <a:lstStyle/>
          <a:p>
            <a:r>
              <a:rPr sz="1250" b="0" i="0">
                <a:solidFill>
                  <a:srgbClr val="1F2933"/>
                </a:solidFill>
                <a:latin typeface="Calibri"/>
              </a:rPr>
              <a:t>split cuts at a chosen text. With no argument it cuts at every run of whitespace.</a:t>
            </a:r>
          </a:p>
        </p:txBody>
      </p:sp>
      <p:sp>
        <p:nvSpPr>
          <p:cNvPr id="8" name="code"/>
          <p:cNvSpPr/>
          <p:nvPr/>
        </p:nvSpPr>
        <p:spPr>
          <a:xfrm>
            <a:off x="365760" y="2030603"/>
            <a:ext cx="4462272"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'one\r\ntwo\nthree'</a:t>
            </a:r>
            <a:r>
              <a:rPr sz="1200" b="0" i="0">
                <a:solidFill>
                  <a:srgbClr val="E6EDF3"/>
                </a:solidFill>
                <a:latin typeface="Courier New"/>
              </a:rPr>
              <a:t>.</a:t>
            </a:r>
            <a:r>
              <a:rPr sz="1200" b="0" i="0">
                <a:solidFill>
                  <a:srgbClr val="E6EDF3"/>
                </a:solidFill>
                <a:latin typeface="Courier New"/>
              </a:rPr>
              <a:t>splitlines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'Monty Python'</a:t>
            </a:r>
            <a:r>
              <a:rPr sz="1200" b="0" i="0">
                <a:solidFill>
                  <a:srgbClr val="E6EDF3"/>
                </a:solidFill>
                <a:latin typeface="Courier New"/>
              </a:rPr>
              <a:t>.</a:t>
            </a:r>
            <a:r>
              <a:rPr sz="1200" b="0" i="0">
                <a:solidFill>
                  <a:srgbClr val="E6EDF3"/>
                </a:solidFill>
                <a:latin typeface="Courier New"/>
              </a:rPr>
              <a:t>partition</a:t>
            </a:r>
            <a:r>
              <a:rPr sz="1200" b="0" i="0">
                <a:solidFill>
                  <a:srgbClr val="E6EDF3"/>
                </a:solidFill>
                <a:latin typeface="Courier New"/>
              </a:rPr>
              <a:t>(</a:t>
            </a:r>
            <a:r>
              <a:rPr sz="1200" b="0" i="0">
                <a:solidFill>
                  <a:srgbClr val="9BE3A8"/>
                </a:solidFill>
                <a:latin typeface="Courier New"/>
              </a:rPr>
              <a:t>' '</a:t>
            </a:r>
            <a:r>
              <a:rPr sz="1200" b="0" i="0">
                <a:solidFill>
                  <a:srgbClr val="E6EDF3"/>
                </a:solidFill>
                <a:latin typeface="Courier New"/>
              </a:rPr>
              <a:t>)</a:t>
            </a:r>
            <a:r>
              <a:rPr sz="1200" b="0" i="0">
                <a:solidFill>
                  <a:srgbClr val="E6EDF3"/>
                </a:solidFill>
                <a:latin typeface="Courier New"/>
              </a:rPr>
              <a:t>)</a:t>
            </a:r>
          </a:p>
        </p:txBody>
      </p:sp>
      <p:sp>
        <p:nvSpPr>
          <p:cNvPr id="9" name="explanation"/>
          <p:cNvSpPr txBox="1"/>
          <p:nvPr/>
        </p:nvSpPr>
        <p:spPr>
          <a:xfrm>
            <a:off x="4809744" y="2030603"/>
            <a:ext cx="3968495" cy="554736"/>
          </a:xfrm>
          <a:prstGeom prst="rect">
            <a:avLst/>
          </a:prstGeom>
          <a:noFill/>
        </p:spPr>
        <p:txBody>
          <a:bodyPr wrap="square" lIns="128016" rIns="128016" tIns="18288" bIns="18288" anchor="ctr">
            <a:spAutoFit/>
          </a:bodyPr>
          <a:lstStyle/>
          <a:p>
            <a:r>
              <a:rPr sz="1250" b="0" i="0">
                <a:solidFill>
                  <a:srgbClr val="1F2933"/>
                </a:solidFill>
                <a:latin typeface="Calibri"/>
              </a:rPr>
              <a:t>splitlines handles every kind of line break. partition cuts once and keeps the separator.</a:t>
            </a:r>
          </a:p>
        </p:txBody>
      </p:sp>
      <p:sp>
        <p:nvSpPr>
          <p:cNvPr id="10" name="result label"/>
          <p:cNvSpPr txBox="1"/>
          <p:nvPr/>
        </p:nvSpPr>
        <p:spPr>
          <a:xfrm>
            <a:off x="365760" y="265849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2932811"/>
          <a:ext cx="4037990" cy="1675765"/>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572000" y="2978531"/>
          <a:ext cx="4206239" cy="1481328"/>
        </p:xfrm>
        <a:graphic>
          <a:graphicData uri="http://schemas.openxmlformats.org/drawingml/2006/table">
            <a:tbl>
              <a:tblPr firstRow="0" bandRow="0"/>
              <a:tblGrid>
                <a:gridCol w="1287624"/>
                <a:gridCol w="2918615"/>
              </a:tblGrid>
              <a:tr h="246888">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Pieces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ourier New"/>
                        </a:rPr>
                        <a:t>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'cats, rats, bats'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split('m')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['My na', 'e is Si',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split()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['My', 'name', 'is', 'Simon']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splitlines()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['one', 'two', 'three']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partition('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('Monty', ' ',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split cuts, join ties.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padding and trimming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rjust, ljust and center move a book to the right, left or middle of a shelf.</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360680">
                <a:tc>
                  <a:txBody>
                    <a:bodyPr wrap="square"/>
                    <a:lstStyle/>
                    <a:p>
                      <a:r>
                        <a:rPr sz="12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0680">
                <a:tc>
                  <a:txBody>
                    <a:bodyPr wrap="square"/>
                    <a:lstStyle/>
                    <a:p>
                      <a:r>
                        <a:rPr sz="1250" b="1" i="0">
                          <a:solidFill>
                            <a:srgbClr val="1F2933"/>
                          </a:solidFill>
                          <a:latin typeface="Calibri"/>
                        </a:rPr>
                        <a:t>Justifying and Centering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bookshelf of fixed width: push the book to either end, or to the middle.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rjust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Pushing the book to the right end of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ljust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Pushing the book to the left end of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center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Placing the book exactly in the middle of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Removing Whitespace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Trimming the white border off a photo 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Trimming both borders of the 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lstrip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Trimming the left border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rstrip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Trimming the right border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Justifying and centring text</a:t>
            </a:r>
          </a:p>
        </p:txBody>
      </p:sp>
      <p:sp>
        <p:nvSpPr>
          <p:cNvPr id="4" name="code"/>
          <p:cNvSpPr/>
          <p:nvPr/>
        </p:nvSpPr>
        <p:spPr>
          <a:xfrm>
            <a:off x="365760" y="841248"/>
            <a:ext cx="45232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rjust</a:t>
            </a:r>
            <a:r>
              <a:rPr sz="1400" b="0" i="0">
                <a:solidFill>
                  <a:srgbClr val="E6EDF3"/>
                </a:solidFill>
                <a:latin typeface="Courier New"/>
              </a:rPr>
              <a:t>(</a:t>
            </a:r>
            <a:r>
              <a:rPr sz="1400" b="0" i="0">
                <a:solidFill>
                  <a:srgbClr val="7CC4FF"/>
                </a:solidFill>
                <a:latin typeface="Courier New"/>
              </a:rPr>
              <a:t>10</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ljust</a:t>
            </a:r>
            <a:r>
              <a:rPr sz="1400" b="0" i="0">
                <a:solidFill>
                  <a:srgbClr val="E6EDF3"/>
                </a:solidFill>
                <a:latin typeface="Courier New"/>
              </a:rPr>
              <a:t>(</a:t>
            </a:r>
            <a:r>
              <a:rPr sz="1400" b="0" i="0">
                <a:solidFill>
                  <a:srgbClr val="7CC4FF"/>
                </a:solidFill>
                <a:latin typeface="Courier New"/>
              </a:rPr>
              <a:t>10</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p>
        </p:txBody>
      </p:sp>
      <p:sp>
        <p:nvSpPr>
          <p:cNvPr id="5" name="explanation"/>
          <p:cNvSpPr txBox="1"/>
          <p:nvPr/>
        </p:nvSpPr>
        <p:spPr>
          <a:xfrm>
            <a:off x="4870704" y="841248"/>
            <a:ext cx="3907535" cy="723328"/>
          </a:xfrm>
          <a:prstGeom prst="rect">
            <a:avLst/>
          </a:prstGeom>
          <a:noFill/>
        </p:spPr>
        <p:txBody>
          <a:bodyPr wrap="square" lIns="128016" rIns="128016" tIns="18288" bIns="18288" anchor="ctr">
            <a:spAutoFit/>
          </a:bodyPr>
          <a:lstStyle/>
          <a:p>
            <a:r>
              <a:rPr sz="1250" b="0" i="0">
                <a:solidFill>
                  <a:srgbClr val="1F2933"/>
                </a:solidFill>
                <a:latin typeface="Calibri"/>
              </a:rPr>
              <a:t>rjust pads on the left, ljust on the right, up to the width you give. An optional fill character replaces the spaces.</a:t>
            </a:r>
          </a:p>
        </p:txBody>
      </p:sp>
      <p:sp>
        <p:nvSpPr>
          <p:cNvPr id="6" name="code"/>
          <p:cNvSpPr/>
          <p:nvPr/>
        </p:nvSpPr>
        <p:spPr>
          <a:xfrm>
            <a:off x="365760" y="1619440"/>
            <a:ext cx="4523232"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center</a:t>
            </a:r>
            <a:r>
              <a:rPr sz="1400" b="0" i="0">
                <a:solidFill>
                  <a:srgbClr val="E6EDF3"/>
                </a:solidFill>
                <a:latin typeface="Courier New"/>
              </a:rPr>
              <a:t>(</a:t>
            </a:r>
            <a:r>
              <a:rPr sz="1400" b="0" i="0">
                <a:solidFill>
                  <a:srgbClr val="7CC4FF"/>
                </a:solidFill>
                <a:latin typeface="Courier New"/>
              </a:rPr>
              <a:t>20</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p>
        </p:txBody>
      </p:sp>
      <p:sp>
        <p:nvSpPr>
          <p:cNvPr id="7" name="explanation"/>
          <p:cNvSpPr txBox="1"/>
          <p:nvPr/>
        </p:nvSpPr>
        <p:spPr>
          <a:xfrm>
            <a:off x="4870704" y="1619440"/>
            <a:ext cx="3907535" cy="524891"/>
          </a:xfrm>
          <a:prstGeom prst="rect">
            <a:avLst/>
          </a:prstGeom>
          <a:noFill/>
        </p:spPr>
        <p:txBody>
          <a:bodyPr wrap="square" lIns="128016" rIns="128016" tIns="18288" bIns="18288" anchor="ctr">
            <a:spAutoFit/>
          </a:bodyPr>
          <a:lstStyle/>
          <a:p>
            <a:r>
              <a:rPr sz="1250" b="0" i="0">
                <a:solidFill>
                  <a:srgbClr val="1F2933"/>
                </a:solidFill>
                <a:latin typeface="Calibri"/>
              </a:rPr>
              <a:t>center pads both sides. The bar after each result makes the trailing padding visible.</a:t>
            </a:r>
          </a:p>
        </p:txBody>
      </p:sp>
      <p:sp>
        <p:nvSpPr>
          <p:cNvPr id="8" name="result label"/>
          <p:cNvSpPr txBox="1"/>
          <p:nvPr/>
        </p:nvSpPr>
        <p:spPr>
          <a:xfrm>
            <a:off x="365760" y="221748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491803"/>
            <a:ext cx="2286000" cy="347472"/>
          </a:xfrm>
          <a:prstGeom prst="rect">
            <a:avLst/>
          </a:prstGeom>
          <a:noFill/>
        </p:spPr>
        <p:txBody>
          <a:bodyPr wrap="square" lIns="45720" rIns="45720" tIns="27432" bIns="27432" anchor="ctr">
            <a:spAutoFit/>
          </a:bodyPr>
          <a:lstStyle/>
          <a:p>
            <a:r>
              <a:rPr sz="950" b="0" i="0">
                <a:solidFill>
                  <a:srgbClr val="5B6773"/>
                </a:solidFill>
                <a:latin typeface="Courier New"/>
              </a:rPr>
              <a:t>'Hello'.rjust(10)</a:t>
            </a:r>
          </a:p>
        </p:txBody>
      </p:sp>
      <p:sp>
        <p:nvSpPr>
          <p:cNvPr id="10" name="Rounded Rectangle 9"/>
          <p:cNvSpPr/>
          <p:nvPr/>
        </p:nvSpPr>
        <p:spPr>
          <a:xfrm>
            <a:off x="2743200" y="2491803"/>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a:r>
          </a:p>
        </p:txBody>
      </p:sp>
      <p:sp>
        <p:nvSpPr>
          <p:cNvPr id="11" name="Rounded Rectangle 10"/>
          <p:cNvSpPr/>
          <p:nvPr/>
        </p:nvSpPr>
        <p:spPr>
          <a:xfrm>
            <a:off x="2990088" y="2491803"/>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a:r>
          </a:p>
        </p:txBody>
      </p:sp>
      <p:sp>
        <p:nvSpPr>
          <p:cNvPr id="12" name="Rounded Rectangle 11"/>
          <p:cNvSpPr/>
          <p:nvPr/>
        </p:nvSpPr>
        <p:spPr>
          <a:xfrm>
            <a:off x="3236976" y="2491803"/>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a:r>
          </a:p>
        </p:txBody>
      </p:sp>
      <p:sp>
        <p:nvSpPr>
          <p:cNvPr id="13" name="Rounded Rectangle 12"/>
          <p:cNvSpPr/>
          <p:nvPr/>
        </p:nvSpPr>
        <p:spPr>
          <a:xfrm>
            <a:off x="3483864" y="2491803"/>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a:r>
          </a:p>
        </p:txBody>
      </p:sp>
      <p:sp>
        <p:nvSpPr>
          <p:cNvPr id="14" name="Rounded Rectangle 13"/>
          <p:cNvSpPr/>
          <p:nvPr/>
        </p:nvSpPr>
        <p:spPr>
          <a:xfrm>
            <a:off x="3730752" y="2491803"/>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
            </a:r>
          </a:p>
        </p:txBody>
      </p:sp>
      <p:sp>
        <p:nvSpPr>
          <p:cNvPr id="15" name="Rounded Rectangle 14"/>
          <p:cNvSpPr/>
          <p:nvPr/>
        </p:nvSpPr>
        <p:spPr>
          <a:xfrm>
            <a:off x="3977639" y="2491803"/>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H</a:t>
            </a:r>
          </a:p>
        </p:txBody>
      </p:sp>
      <p:sp>
        <p:nvSpPr>
          <p:cNvPr id="16" name="Rounded Rectangle 15"/>
          <p:cNvSpPr/>
          <p:nvPr/>
        </p:nvSpPr>
        <p:spPr>
          <a:xfrm>
            <a:off x="4224528" y="2491803"/>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e</a:t>
            </a:r>
          </a:p>
        </p:txBody>
      </p:sp>
      <p:sp>
        <p:nvSpPr>
          <p:cNvPr id="17" name="Rounded Rectangle 16"/>
          <p:cNvSpPr/>
          <p:nvPr/>
        </p:nvSpPr>
        <p:spPr>
          <a:xfrm>
            <a:off x="4471416" y="2491803"/>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a:t>
            </a:r>
          </a:p>
        </p:txBody>
      </p:sp>
      <p:sp>
        <p:nvSpPr>
          <p:cNvPr id="18" name="Rounded Rectangle 17"/>
          <p:cNvSpPr/>
          <p:nvPr/>
        </p:nvSpPr>
        <p:spPr>
          <a:xfrm>
            <a:off x="4718304" y="2491803"/>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a:t>
            </a:r>
          </a:p>
        </p:txBody>
      </p:sp>
      <p:sp>
        <p:nvSpPr>
          <p:cNvPr id="19" name="Rounded Rectangle 18"/>
          <p:cNvSpPr/>
          <p:nvPr/>
        </p:nvSpPr>
        <p:spPr>
          <a:xfrm>
            <a:off x="4965192" y="2491803"/>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o</a:t>
            </a:r>
          </a:p>
        </p:txBody>
      </p:sp>
      <p:cxnSp>
        <p:nvCxnSpPr>
          <p:cNvPr id="20" name="arrow"/>
          <p:cNvCxnSpPr/>
          <p:nvPr/>
        </p:nvCxnSpPr>
        <p:spPr>
          <a:xfrm>
            <a:off x="5257800" y="2665539"/>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23560" y="2491803"/>
            <a:ext cx="1097280" cy="347472"/>
          </a:xfrm>
          <a:prstGeom prst="rect">
            <a:avLst/>
          </a:prstGeom>
          <a:noFill/>
        </p:spPr>
        <p:txBody>
          <a:bodyPr wrap="square" lIns="45720" rIns="45720" tIns="27432" bIns="27432" anchor="ctr">
            <a:spAutoFit/>
          </a:bodyPr>
          <a:lstStyle/>
          <a:p>
            <a:r>
              <a:rPr sz="1050" b="0" i="0">
                <a:solidFill>
                  <a:srgbClr val="1F2933"/>
                </a:solidFill>
                <a:latin typeface="Calibri"/>
              </a:rPr>
              <a:t>width 10</a:t>
            </a:r>
          </a:p>
        </p:txBody>
      </p:sp>
      <p:sp>
        <p:nvSpPr>
          <p:cNvPr id="22" name="TextBox 21"/>
          <p:cNvSpPr txBox="1"/>
          <p:nvPr/>
        </p:nvSpPr>
        <p:spPr>
          <a:xfrm>
            <a:off x="365760" y="2967291"/>
            <a:ext cx="2286000" cy="347472"/>
          </a:xfrm>
          <a:prstGeom prst="rect">
            <a:avLst/>
          </a:prstGeom>
          <a:noFill/>
        </p:spPr>
        <p:txBody>
          <a:bodyPr wrap="square" lIns="45720" rIns="45720" tIns="27432" bIns="27432" anchor="ctr">
            <a:spAutoFit/>
          </a:bodyPr>
          <a:lstStyle/>
          <a:p>
            <a:r>
              <a:rPr sz="950" b="0" i="0">
                <a:solidFill>
                  <a:srgbClr val="5B6773"/>
                </a:solidFill>
                <a:latin typeface="Courier New"/>
              </a:rPr>
              <a:t>'Hello'.ljust(10, '-')</a:t>
            </a:r>
          </a:p>
        </p:txBody>
      </p:sp>
      <p:sp>
        <p:nvSpPr>
          <p:cNvPr id="23" name="Rounded Rectangle 22"/>
          <p:cNvSpPr/>
          <p:nvPr/>
        </p:nvSpPr>
        <p:spPr>
          <a:xfrm>
            <a:off x="2743200" y="2967291"/>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H</a:t>
            </a:r>
          </a:p>
        </p:txBody>
      </p:sp>
      <p:sp>
        <p:nvSpPr>
          <p:cNvPr id="24" name="Rounded Rectangle 23"/>
          <p:cNvSpPr/>
          <p:nvPr/>
        </p:nvSpPr>
        <p:spPr>
          <a:xfrm>
            <a:off x="2990088" y="2967291"/>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e</a:t>
            </a:r>
          </a:p>
        </p:txBody>
      </p:sp>
      <p:sp>
        <p:nvSpPr>
          <p:cNvPr id="25" name="Rounded Rectangle 24"/>
          <p:cNvSpPr/>
          <p:nvPr/>
        </p:nvSpPr>
        <p:spPr>
          <a:xfrm>
            <a:off x="3236976" y="2967291"/>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a:t>
            </a:r>
          </a:p>
        </p:txBody>
      </p:sp>
      <p:sp>
        <p:nvSpPr>
          <p:cNvPr id="26" name="Rounded Rectangle 25"/>
          <p:cNvSpPr/>
          <p:nvPr/>
        </p:nvSpPr>
        <p:spPr>
          <a:xfrm>
            <a:off x="3483864" y="2967291"/>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a:t>
            </a:r>
          </a:p>
        </p:txBody>
      </p:sp>
      <p:sp>
        <p:nvSpPr>
          <p:cNvPr id="27" name="Rounded Rectangle 26"/>
          <p:cNvSpPr/>
          <p:nvPr/>
        </p:nvSpPr>
        <p:spPr>
          <a:xfrm>
            <a:off x="3730752" y="2967291"/>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o</a:t>
            </a:r>
          </a:p>
        </p:txBody>
      </p:sp>
      <p:sp>
        <p:nvSpPr>
          <p:cNvPr id="28" name="Rounded Rectangle 27"/>
          <p:cNvSpPr/>
          <p:nvPr/>
        </p:nvSpPr>
        <p:spPr>
          <a:xfrm>
            <a:off x="3977639" y="2967291"/>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29" name="Rounded Rectangle 28"/>
          <p:cNvSpPr/>
          <p:nvPr/>
        </p:nvSpPr>
        <p:spPr>
          <a:xfrm>
            <a:off x="4224528" y="2967291"/>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30" name="Rounded Rectangle 29"/>
          <p:cNvSpPr/>
          <p:nvPr/>
        </p:nvSpPr>
        <p:spPr>
          <a:xfrm>
            <a:off x="4471416" y="2967291"/>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31" name="Rounded Rectangle 30"/>
          <p:cNvSpPr/>
          <p:nvPr/>
        </p:nvSpPr>
        <p:spPr>
          <a:xfrm>
            <a:off x="4718304" y="2967291"/>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32" name="Rounded Rectangle 31"/>
          <p:cNvSpPr/>
          <p:nvPr/>
        </p:nvSpPr>
        <p:spPr>
          <a:xfrm>
            <a:off x="4965192" y="2967291"/>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cxnSp>
        <p:nvCxnSpPr>
          <p:cNvPr id="33" name="arrow"/>
          <p:cNvCxnSpPr/>
          <p:nvPr/>
        </p:nvCxnSpPr>
        <p:spPr>
          <a:xfrm>
            <a:off x="5257800" y="3141027"/>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23560" y="2967291"/>
            <a:ext cx="1097280" cy="347472"/>
          </a:xfrm>
          <a:prstGeom prst="rect">
            <a:avLst/>
          </a:prstGeom>
          <a:noFill/>
        </p:spPr>
        <p:txBody>
          <a:bodyPr wrap="square" lIns="45720" rIns="45720" tIns="27432" bIns="27432" anchor="ctr">
            <a:spAutoFit/>
          </a:bodyPr>
          <a:lstStyle/>
          <a:p>
            <a:r>
              <a:rPr sz="1050" b="0" i="0">
                <a:solidFill>
                  <a:srgbClr val="1F2933"/>
                </a:solidFill>
                <a:latin typeface="Calibri"/>
              </a:rPr>
              <a:t>width 10</a:t>
            </a:r>
          </a:p>
        </p:txBody>
      </p:sp>
      <p:sp>
        <p:nvSpPr>
          <p:cNvPr id="35" name="TextBox 34"/>
          <p:cNvSpPr txBox="1"/>
          <p:nvPr/>
        </p:nvSpPr>
        <p:spPr>
          <a:xfrm>
            <a:off x="365760" y="3442779"/>
            <a:ext cx="2286000" cy="347472"/>
          </a:xfrm>
          <a:prstGeom prst="rect">
            <a:avLst/>
          </a:prstGeom>
          <a:noFill/>
        </p:spPr>
        <p:txBody>
          <a:bodyPr wrap="square" lIns="45720" rIns="45720" tIns="27432" bIns="27432" anchor="ctr">
            <a:spAutoFit/>
          </a:bodyPr>
          <a:lstStyle/>
          <a:p>
            <a:r>
              <a:rPr sz="950" b="0" i="0">
                <a:solidFill>
                  <a:srgbClr val="5B6773"/>
                </a:solidFill>
                <a:latin typeface="Courier New"/>
              </a:rPr>
              <a:t>'Hello'.center(20, '=')</a:t>
            </a:r>
          </a:p>
        </p:txBody>
      </p:sp>
      <p:sp>
        <p:nvSpPr>
          <p:cNvPr id="36" name="Rounded Rectangle 35"/>
          <p:cNvSpPr/>
          <p:nvPr/>
        </p:nvSpPr>
        <p:spPr>
          <a:xfrm>
            <a:off x="2743200"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37" name="Rounded Rectangle 36"/>
          <p:cNvSpPr/>
          <p:nvPr/>
        </p:nvSpPr>
        <p:spPr>
          <a:xfrm>
            <a:off x="2990088"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38" name="Rounded Rectangle 37"/>
          <p:cNvSpPr/>
          <p:nvPr/>
        </p:nvSpPr>
        <p:spPr>
          <a:xfrm>
            <a:off x="3236976"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39" name="Rounded Rectangle 38"/>
          <p:cNvSpPr/>
          <p:nvPr/>
        </p:nvSpPr>
        <p:spPr>
          <a:xfrm>
            <a:off x="3483864"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40" name="Rounded Rectangle 39"/>
          <p:cNvSpPr/>
          <p:nvPr/>
        </p:nvSpPr>
        <p:spPr>
          <a:xfrm>
            <a:off x="3730752"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41" name="Rounded Rectangle 40"/>
          <p:cNvSpPr/>
          <p:nvPr/>
        </p:nvSpPr>
        <p:spPr>
          <a:xfrm>
            <a:off x="3977639"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42" name="Rounded Rectangle 41"/>
          <p:cNvSpPr/>
          <p:nvPr/>
        </p:nvSpPr>
        <p:spPr>
          <a:xfrm>
            <a:off x="4224528"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43" name="Rounded Rectangle 42"/>
          <p:cNvSpPr/>
          <p:nvPr/>
        </p:nvSpPr>
        <p:spPr>
          <a:xfrm>
            <a:off x="4471416" y="3442779"/>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H</a:t>
            </a:r>
          </a:p>
        </p:txBody>
      </p:sp>
      <p:sp>
        <p:nvSpPr>
          <p:cNvPr id="44" name="Rounded Rectangle 43"/>
          <p:cNvSpPr/>
          <p:nvPr/>
        </p:nvSpPr>
        <p:spPr>
          <a:xfrm>
            <a:off x="4718304" y="3442779"/>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e</a:t>
            </a:r>
          </a:p>
        </p:txBody>
      </p:sp>
      <p:sp>
        <p:nvSpPr>
          <p:cNvPr id="45" name="Rounded Rectangle 44"/>
          <p:cNvSpPr/>
          <p:nvPr/>
        </p:nvSpPr>
        <p:spPr>
          <a:xfrm>
            <a:off x="4965192" y="3442779"/>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a:t>
            </a:r>
          </a:p>
        </p:txBody>
      </p:sp>
      <p:sp>
        <p:nvSpPr>
          <p:cNvPr id="46" name="Rounded Rectangle 45"/>
          <p:cNvSpPr/>
          <p:nvPr/>
        </p:nvSpPr>
        <p:spPr>
          <a:xfrm>
            <a:off x="5212080" y="3442779"/>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a:t>
            </a:r>
          </a:p>
        </p:txBody>
      </p:sp>
      <p:sp>
        <p:nvSpPr>
          <p:cNvPr id="47" name="Rounded Rectangle 46"/>
          <p:cNvSpPr/>
          <p:nvPr/>
        </p:nvSpPr>
        <p:spPr>
          <a:xfrm>
            <a:off x="5458968" y="3442779"/>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o</a:t>
            </a:r>
          </a:p>
        </p:txBody>
      </p:sp>
      <p:sp>
        <p:nvSpPr>
          <p:cNvPr id="48" name="Rounded Rectangle 47"/>
          <p:cNvSpPr/>
          <p:nvPr/>
        </p:nvSpPr>
        <p:spPr>
          <a:xfrm>
            <a:off x="5705856"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49" name="Rounded Rectangle 48"/>
          <p:cNvSpPr/>
          <p:nvPr/>
        </p:nvSpPr>
        <p:spPr>
          <a:xfrm>
            <a:off x="5952744"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50" name="Rounded Rectangle 49"/>
          <p:cNvSpPr/>
          <p:nvPr/>
        </p:nvSpPr>
        <p:spPr>
          <a:xfrm>
            <a:off x="6199632"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51" name="Rounded Rectangle 50"/>
          <p:cNvSpPr/>
          <p:nvPr/>
        </p:nvSpPr>
        <p:spPr>
          <a:xfrm>
            <a:off x="6446520"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52" name="Rounded Rectangle 51"/>
          <p:cNvSpPr/>
          <p:nvPr/>
        </p:nvSpPr>
        <p:spPr>
          <a:xfrm>
            <a:off x="6693408"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53" name="Rounded Rectangle 52"/>
          <p:cNvSpPr/>
          <p:nvPr/>
        </p:nvSpPr>
        <p:spPr>
          <a:xfrm>
            <a:off x="6940296"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54" name="Rounded Rectangle 53"/>
          <p:cNvSpPr/>
          <p:nvPr/>
        </p:nvSpPr>
        <p:spPr>
          <a:xfrm>
            <a:off x="7187184"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sp>
        <p:nvSpPr>
          <p:cNvPr id="55" name="Rounded Rectangle 54"/>
          <p:cNvSpPr/>
          <p:nvPr/>
        </p:nvSpPr>
        <p:spPr>
          <a:xfrm>
            <a:off x="7434072" y="3442779"/>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
            </a:r>
          </a:p>
        </p:txBody>
      </p:sp>
      <p:cxnSp>
        <p:nvCxnSpPr>
          <p:cNvPr id="56" name="arrow"/>
          <p:cNvCxnSpPr/>
          <p:nvPr/>
        </p:nvCxnSpPr>
        <p:spPr>
          <a:xfrm>
            <a:off x="7726680" y="3616515"/>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092440" y="3442779"/>
            <a:ext cx="1097280" cy="347472"/>
          </a:xfrm>
          <a:prstGeom prst="rect">
            <a:avLst/>
          </a:prstGeom>
          <a:noFill/>
        </p:spPr>
        <p:txBody>
          <a:bodyPr wrap="square" lIns="45720" rIns="45720" tIns="27432" bIns="27432" anchor="ctr">
            <a:spAutoFit/>
          </a:bodyPr>
          <a:lstStyle/>
          <a:p>
            <a:r>
              <a:rPr sz="1050" b="0" i="0">
                <a:solidFill>
                  <a:srgbClr val="1F2933"/>
                </a:solidFill>
                <a:latin typeface="Calibri"/>
              </a:rPr>
              <a:t>width 20</a:t>
            </a:r>
          </a:p>
        </p:txBody>
      </p:sp>
      <p:sp>
        <p:nvSpPr>
          <p:cNvPr id="5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Padding makes columns line up.</a:t>
            </a:r>
          </a:p>
        </p:txBody>
      </p:sp>
      <p:sp>
        <p:nvSpPr>
          <p:cNvPr id="6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Removing whitespace</a:t>
            </a:r>
          </a:p>
        </p:txBody>
      </p:sp>
      <p:sp>
        <p:nvSpPr>
          <p:cNvPr id="4" name="code"/>
          <p:cNvSpPr/>
          <p:nvPr/>
        </p:nvSpPr>
        <p:spPr>
          <a:xfrm>
            <a:off x="365760" y="841248"/>
            <a:ext cx="8412480"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    Hello, World    '</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strip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lstrip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rstrip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365760" y="1374140"/>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strip removes blanks at both ends, lstrip on the left only, rstrip on the right only. The lengths show what was cut.</a:t>
            </a:r>
          </a:p>
        </p:txBody>
      </p:sp>
      <p:sp>
        <p:nvSpPr>
          <p:cNvPr id="6" name="code"/>
          <p:cNvSpPr/>
          <p:nvPr/>
        </p:nvSpPr>
        <p:spPr>
          <a:xfrm>
            <a:off x="365760" y="1928876"/>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'SpamSpamBaconSpamEggsSpamSpam'</a:t>
            </a:r>
            <a:r>
              <a:rPr sz="1100" b="0" i="0">
                <a:solidFill>
                  <a:srgbClr val="E6EDF3"/>
                </a:solidFill>
                <a:latin typeface="Courier New"/>
              </a:rPr>
              <a:t>.</a:t>
            </a:r>
            <a:r>
              <a:rPr sz="1100" b="0" i="0">
                <a:solidFill>
                  <a:srgbClr val="E6EDF3"/>
                </a:solidFill>
                <a:latin typeface="Courier New"/>
              </a:rPr>
              <a:t>strip</a:t>
            </a:r>
            <a:r>
              <a:rPr sz="1100" b="0" i="0">
                <a:solidFill>
                  <a:srgbClr val="E6EDF3"/>
                </a:solidFill>
                <a:latin typeface="Courier New"/>
              </a:rPr>
              <a:t>(</a:t>
            </a:r>
            <a:r>
              <a:rPr sz="1100" b="0" i="0">
                <a:solidFill>
                  <a:srgbClr val="9BE3A8"/>
                </a:solidFill>
                <a:latin typeface="Courier New"/>
              </a:rPr>
              <a:t>'ampS'</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291334"/>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Given an argument, strip removes any of those characters, in any order, from both ends. It is a set, not a word.</a:t>
            </a:r>
          </a:p>
        </p:txBody>
      </p:sp>
      <p:sp>
        <p:nvSpPr>
          <p:cNvPr id="8" name="result label"/>
          <p:cNvSpPr txBox="1"/>
          <p:nvPr/>
        </p:nvSpPr>
        <p:spPr>
          <a:xfrm>
            <a:off x="365760" y="286435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138677"/>
          <a:ext cx="5047488" cy="1469898"/>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5665622" y="3321558"/>
          <a:ext cx="3112616" cy="1097280"/>
        </p:xfrm>
        <a:graphic>
          <a:graphicData uri="http://schemas.openxmlformats.org/drawingml/2006/table">
            <a:tbl>
              <a:tblPr firstRow="0" bandRow="0"/>
              <a:tblGrid>
                <a:gridCol w="1281666"/>
                <a:gridCol w="915475"/>
                <a:gridCol w="915475"/>
              </a:tblGrid>
              <a:tr h="27432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Left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lstrip()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rstrip()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strip(chars) removes a set, not a word.</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Finding, counting and replacing</a:t>
            </a:r>
          </a:p>
        </p:txBody>
      </p:sp>
      <p:sp>
        <p:nvSpPr>
          <p:cNvPr id="4" name="code"/>
          <p:cNvSpPr/>
          <p:nvPr/>
        </p:nvSpPr>
        <p:spPr>
          <a:xfrm>
            <a:off x="365760" y="841248"/>
            <a:ext cx="8412480"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'spam eggs spam'</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find</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find</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count</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365760" y="1374140"/>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find gives the index of the first match, or -1. A start argument skips ahead. count tallies the matches.</a:t>
            </a:r>
          </a:p>
        </p:txBody>
      </p:sp>
      <p:sp>
        <p:nvSpPr>
          <p:cNvPr id="6" name="code"/>
          <p:cNvSpPr/>
          <p:nvPr/>
        </p:nvSpPr>
        <p:spPr>
          <a:xfrm>
            <a:off x="365760" y="1738376"/>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replace</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'ham'</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10083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replace returns a new string. The last argument limits how many matches change.</a:t>
            </a:r>
          </a:p>
        </p:txBody>
      </p:sp>
      <p:sp>
        <p:nvSpPr>
          <p:cNvPr id="8" name="result label"/>
          <p:cNvSpPr txBox="1"/>
          <p:nvPr/>
        </p:nvSpPr>
        <p:spPr>
          <a:xfrm>
            <a:off x="365760" y="248335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731519"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s</a:t>
            </a:r>
          </a:p>
        </p:txBody>
      </p:sp>
      <p:sp>
        <p:nvSpPr>
          <p:cNvPr id="10" name="TextBox 9"/>
          <p:cNvSpPr txBox="1"/>
          <p:nvPr/>
        </p:nvSpPr>
        <p:spPr>
          <a:xfrm>
            <a:off x="73151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1" name="Rounded Rectangle 10"/>
          <p:cNvSpPr/>
          <p:nvPr/>
        </p:nvSpPr>
        <p:spPr>
          <a:xfrm>
            <a:off x="1280159"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p</a:t>
            </a:r>
          </a:p>
        </p:txBody>
      </p:sp>
      <p:sp>
        <p:nvSpPr>
          <p:cNvPr id="12" name="TextBox 11"/>
          <p:cNvSpPr txBox="1"/>
          <p:nvPr/>
        </p:nvSpPr>
        <p:spPr>
          <a:xfrm>
            <a:off x="128015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3" name="Rounded Rectangle 12"/>
          <p:cNvSpPr/>
          <p:nvPr/>
        </p:nvSpPr>
        <p:spPr>
          <a:xfrm>
            <a:off x="1828799"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a:t>
            </a:r>
          </a:p>
        </p:txBody>
      </p:sp>
      <p:sp>
        <p:nvSpPr>
          <p:cNvPr id="14" name="TextBox 13"/>
          <p:cNvSpPr txBox="1"/>
          <p:nvPr/>
        </p:nvSpPr>
        <p:spPr>
          <a:xfrm>
            <a:off x="182879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5" name="Rounded Rectangle 14"/>
          <p:cNvSpPr/>
          <p:nvPr/>
        </p:nvSpPr>
        <p:spPr>
          <a:xfrm>
            <a:off x="2377439"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m</a:t>
            </a:r>
          </a:p>
        </p:txBody>
      </p:sp>
      <p:sp>
        <p:nvSpPr>
          <p:cNvPr id="16" name="TextBox 15"/>
          <p:cNvSpPr txBox="1"/>
          <p:nvPr/>
        </p:nvSpPr>
        <p:spPr>
          <a:xfrm>
            <a:off x="237743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17" name="Rounded Rectangle 16"/>
          <p:cNvSpPr/>
          <p:nvPr/>
        </p:nvSpPr>
        <p:spPr>
          <a:xfrm>
            <a:off x="2926079" y="2757678"/>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sp>
        <p:nvSpPr>
          <p:cNvPr id="18" name="TextBox 17"/>
          <p:cNvSpPr txBox="1"/>
          <p:nvPr/>
        </p:nvSpPr>
        <p:spPr>
          <a:xfrm>
            <a:off x="292607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19" name="Rounded Rectangle 18"/>
          <p:cNvSpPr/>
          <p:nvPr/>
        </p:nvSpPr>
        <p:spPr>
          <a:xfrm>
            <a:off x="3474719" y="2757678"/>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e</a:t>
            </a:r>
          </a:p>
        </p:txBody>
      </p:sp>
      <p:sp>
        <p:nvSpPr>
          <p:cNvPr id="20" name="TextBox 19"/>
          <p:cNvSpPr txBox="1"/>
          <p:nvPr/>
        </p:nvSpPr>
        <p:spPr>
          <a:xfrm>
            <a:off x="347471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21" name="Rounded Rectangle 20"/>
          <p:cNvSpPr/>
          <p:nvPr/>
        </p:nvSpPr>
        <p:spPr>
          <a:xfrm>
            <a:off x="4023359" y="2757678"/>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g</a:t>
            </a:r>
          </a:p>
        </p:txBody>
      </p:sp>
      <p:sp>
        <p:nvSpPr>
          <p:cNvPr id="22" name="TextBox 21"/>
          <p:cNvSpPr txBox="1"/>
          <p:nvPr/>
        </p:nvSpPr>
        <p:spPr>
          <a:xfrm>
            <a:off x="402335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23" name="Rounded Rectangle 22"/>
          <p:cNvSpPr/>
          <p:nvPr/>
        </p:nvSpPr>
        <p:spPr>
          <a:xfrm>
            <a:off x="4572000" y="2757678"/>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g</a:t>
            </a:r>
          </a:p>
        </p:txBody>
      </p:sp>
      <p:sp>
        <p:nvSpPr>
          <p:cNvPr id="24" name="TextBox 23"/>
          <p:cNvSpPr txBox="1"/>
          <p:nvPr/>
        </p:nvSpPr>
        <p:spPr>
          <a:xfrm>
            <a:off x="4572000"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25" name="Rounded Rectangle 24"/>
          <p:cNvSpPr/>
          <p:nvPr/>
        </p:nvSpPr>
        <p:spPr>
          <a:xfrm>
            <a:off x="5120640" y="2757678"/>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s</a:t>
            </a:r>
          </a:p>
        </p:txBody>
      </p:sp>
      <p:sp>
        <p:nvSpPr>
          <p:cNvPr id="26" name="TextBox 25"/>
          <p:cNvSpPr txBox="1"/>
          <p:nvPr/>
        </p:nvSpPr>
        <p:spPr>
          <a:xfrm>
            <a:off x="5120640"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27" name="Rounded Rectangle 26"/>
          <p:cNvSpPr/>
          <p:nvPr/>
        </p:nvSpPr>
        <p:spPr>
          <a:xfrm>
            <a:off x="5669279" y="2757678"/>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sp>
        <p:nvSpPr>
          <p:cNvPr id="28" name="TextBox 27"/>
          <p:cNvSpPr txBox="1"/>
          <p:nvPr/>
        </p:nvSpPr>
        <p:spPr>
          <a:xfrm>
            <a:off x="566927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29" name="Rounded Rectangle 28"/>
          <p:cNvSpPr/>
          <p:nvPr/>
        </p:nvSpPr>
        <p:spPr>
          <a:xfrm>
            <a:off x="6217920"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s</a:t>
            </a:r>
          </a:p>
        </p:txBody>
      </p:sp>
      <p:sp>
        <p:nvSpPr>
          <p:cNvPr id="30" name="TextBox 29"/>
          <p:cNvSpPr txBox="1"/>
          <p:nvPr/>
        </p:nvSpPr>
        <p:spPr>
          <a:xfrm>
            <a:off x="6217920"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31" name="Rounded Rectangle 30"/>
          <p:cNvSpPr/>
          <p:nvPr/>
        </p:nvSpPr>
        <p:spPr>
          <a:xfrm>
            <a:off x="6766559"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p</a:t>
            </a:r>
          </a:p>
        </p:txBody>
      </p:sp>
      <p:sp>
        <p:nvSpPr>
          <p:cNvPr id="32" name="TextBox 31"/>
          <p:cNvSpPr txBox="1"/>
          <p:nvPr/>
        </p:nvSpPr>
        <p:spPr>
          <a:xfrm>
            <a:off x="676655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33" name="Rounded Rectangle 32"/>
          <p:cNvSpPr/>
          <p:nvPr/>
        </p:nvSpPr>
        <p:spPr>
          <a:xfrm>
            <a:off x="7315199"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a:t>
            </a:r>
          </a:p>
        </p:txBody>
      </p:sp>
      <p:sp>
        <p:nvSpPr>
          <p:cNvPr id="34" name="TextBox 33"/>
          <p:cNvSpPr txBox="1"/>
          <p:nvPr/>
        </p:nvSpPr>
        <p:spPr>
          <a:xfrm>
            <a:off x="7315199"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35" name="Rounded Rectangle 34"/>
          <p:cNvSpPr/>
          <p:nvPr/>
        </p:nvSpPr>
        <p:spPr>
          <a:xfrm>
            <a:off x="7863840" y="2757678"/>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m</a:t>
            </a:r>
          </a:p>
        </p:txBody>
      </p:sp>
      <p:sp>
        <p:nvSpPr>
          <p:cNvPr id="36" name="TextBox 35"/>
          <p:cNvSpPr txBox="1"/>
          <p:nvPr/>
        </p:nvSpPr>
        <p:spPr>
          <a:xfrm>
            <a:off x="7863840" y="3123438"/>
            <a:ext cx="521207" cy="182880"/>
          </a:xfrm>
          <a:prstGeom prst="rect">
            <a:avLst/>
          </a:prstGeom>
          <a:noFill/>
        </p:spPr>
        <p:txBody>
          <a:bodyPr wrap="square" lIns="0" rIns="0" tIns="0" bIns="0" anchor="t">
            <a:spAutoFit/>
          </a:bodyPr>
          <a:lstStyle/>
          <a:p>
            <a:pPr algn="ctr"/>
            <a:r>
              <a:rPr sz="900" b="0" i="0">
                <a:solidFill>
                  <a:srgbClr val="5B6773"/>
                </a:solidFill>
                <a:latin typeface="Calibri"/>
              </a:rPr>
              <a:t>13</a:t>
            </a:r>
          </a:p>
        </p:txBody>
      </p:sp>
      <p:sp>
        <p:nvSpPr>
          <p:cNvPr id="37" name="Rounded Rectangle 36"/>
          <p:cNvSpPr/>
          <p:nvPr/>
        </p:nvSpPr>
        <p:spPr>
          <a:xfrm>
            <a:off x="731519" y="3470910"/>
            <a:ext cx="21031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find('spam') = 0</a:t>
            </a:r>
          </a:p>
        </p:txBody>
      </p:sp>
      <p:cxnSp>
        <p:nvCxnSpPr>
          <p:cNvPr id="38" name="arrow"/>
          <p:cNvCxnSpPr/>
          <p:nvPr/>
        </p:nvCxnSpPr>
        <p:spPr>
          <a:xfrm flipV="1">
            <a:off x="978407" y="3342894"/>
            <a:ext cx="0" cy="109728"/>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017519" y="3470910"/>
            <a:ext cx="21031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count('spam') = 2</a:t>
            </a:r>
          </a:p>
        </p:txBody>
      </p:sp>
      <p:sp>
        <p:nvSpPr>
          <p:cNvPr id="40" name="Rounded Rectangle 39"/>
          <p:cNvSpPr/>
          <p:nvPr/>
        </p:nvSpPr>
        <p:spPr>
          <a:xfrm>
            <a:off x="5486400" y="3470910"/>
            <a:ext cx="246888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find('spam', 1) = 10</a:t>
            </a:r>
          </a:p>
        </p:txBody>
      </p:sp>
      <p:cxnSp>
        <p:nvCxnSpPr>
          <p:cNvPr id="41" name="arrow"/>
          <p:cNvCxnSpPr/>
          <p:nvPr/>
        </p:nvCxnSpPr>
        <p:spPr>
          <a:xfrm flipV="1">
            <a:off x="6464807" y="3342894"/>
            <a:ext cx="0" cy="109728"/>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731519" y="3854958"/>
            <a:ext cx="548640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replace('spam', 'ham', 1) -&gt; 'ham eggs spam'</a:t>
            </a:r>
          </a:p>
        </p:txBody>
      </p:sp>
      <p:sp>
        <p:nvSpPr>
          <p:cNvPr id="4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says where, count says how many.</a:t>
            </a:r>
          </a:p>
        </p:txBody>
      </p:sp>
      <p:sp>
        <p:nvSpPr>
          <p:cNvPr id="4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Characters and bytes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Every character is a number, and bytes depend on the encoding</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Code point</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The number Unicode gives to one character.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ord and chr</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Two functions that convert between character and number.</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Encoding</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The rule that turns code points into bytes.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UTF-8</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One to four bytes per character, ASCII unchanged.</a:t>
            </a:r>
          </a:p>
        </p:txBody>
      </p:sp>
      <p:graphicFrame>
        <p:nvGraphicFramePr>
          <p:cNvPr id="13" name="table"/>
          <p:cNvGraphicFramePr>
            <a:graphicFrameLocks noGrp="1"/>
          </p:cNvGraphicFramePr>
          <p:nvPr/>
        </p:nvGraphicFramePr>
        <p:xfrm>
          <a:off x="5760720" y="1417320"/>
          <a:ext cx="3017519" cy="2560320"/>
        </p:xfrm>
        <a:graphic>
          <a:graphicData uri="http://schemas.openxmlformats.org/drawingml/2006/table">
            <a:tbl>
              <a:tblPr firstRow="0" bandRow="0"/>
              <a:tblGrid>
                <a:gridCol w="484293"/>
                <a:gridCol w="2533226"/>
              </a:tblGrid>
              <a:tr h="36576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characters and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Story: nine companies agree on one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Code points: ord() and 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Story: UTF-8 on a diner placemat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Characters are not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Re-running the book's rjust 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characters and bytes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Every character has a locker number; the encoding decides how many boxes carry it.</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Numeric Code Points of 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locker room where every character has a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Unicode code 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catalogue number in one library shared by every language.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Looking up the number of a locker from the name on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a locker by its number and taking out the 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Encoding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shipping box: text must be packed into bytes to travel and unpacked to be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nine companies agree on one table</a:t>
            </a:r>
          </a:p>
        </p:txBody>
      </p:sp>
      <p:pic>
        <p:nvPicPr>
          <p:cNvPr id="4" name="photo unicode" descr="Picture for the story: nine companies agree on one table"/>
          <p:cNvPicPr>
            <a:picLocks noChangeAspect="1"/>
          </p:cNvPicPr>
          <p:nvPr/>
        </p:nvPicPr>
        <p:blipFill>
          <a:blip r:embed="rId3"/>
          <a:stretch>
            <a:fillRect/>
          </a:stretch>
        </p:blipFill>
        <p:spPr>
          <a:xfrm>
            <a:off x="365760" y="1005840"/>
            <a:ext cx="2651760" cy="265176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Unicode logo. Wikimedia Commons, CC BY-SA 4.0.</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Apple, GO, IBM, Metaphor, Microsoft, NeXT, Novell, the Research Libraries Group and Sun Microsystems.</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They formed Unicode Inc. to keep one table that gives every character its number.</a:t>
            </a:r>
          </a:p>
        </p:txBody>
      </p:sp>
      <p:sp>
        <p:nvSpPr>
          <p:cNvPr id="10" name="card"/>
          <p:cNvSpPr/>
          <p:nvPr/>
        </p:nvSpPr>
        <p:spPr>
          <a:xfrm>
            <a:off x="3200400" y="20848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Announced on 19 February 1991.</a:t>
            </a:r>
          </a:p>
        </p:txBody>
      </p:sp>
      <p:sp>
        <p:nvSpPr>
          <p:cNvPr id="12" name="card"/>
          <p:cNvSpPr/>
          <p:nvPr/>
        </p:nvSpPr>
        <p:spPr>
          <a:xfrm>
            <a:off x="3200400" y="255117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Mountain View, California, in a press release.</a:t>
            </a:r>
          </a:p>
        </p:txBody>
      </p:sp>
      <p:sp>
        <p:nvSpPr>
          <p:cNvPr id="14" name="card"/>
          <p:cNvSpPr/>
          <p:nvPr/>
        </p:nvSpPr>
        <p:spPr>
          <a:xfrm>
            <a:off x="3200400" y="301752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752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With one shared numbering, any program can agree on what a number means.</a:t>
            </a:r>
          </a:p>
        </p:txBody>
      </p:sp>
      <p:sp>
        <p:nvSpPr>
          <p:cNvPr id="16" name="card"/>
          <p:cNvSpPr/>
          <p:nvPr/>
        </p:nvSpPr>
        <p:spPr>
          <a:xfrm>
            <a:off x="3200400" y="3639311"/>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39311"/>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ord('A') is 65 and chr(8364) is the euro sign because that table says so.</a:t>
            </a:r>
          </a:p>
        </p:txBody>
      </p:sp>
      <p:sp>
        <p:nvSpPr>
          <p:cNvPr id="18" name="read"/>
          <p:cNvSpPr txBox="1"/>
          <p:nvPr/>
        </p:nvSpPr>
        <p:spPr>
          <a:xfrm>
            <a:off x="3200400" y="427939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The 1991 press release (unicode.org)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Code points: ord() and chr()</a:t>
            </a:r>
          </a:p>
        </p:txBody>
      </p:sp>
      <p:sp>
        <p:nvSpPr>
          <p:cNvPr id="4" name="code"/>
          <p:cNvSpPr/>
          <p:nvPr/>
        </p:nvSpPr>
        <p:spPr>
          <a:xfrm>
            <a:off x="365760" y="841248"/>
            <a:ext cx="491185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ord</a:t>
            </a:r>
            <a:r>
              <a:rPr sz="1300" b="0" i="0">
                <a:solidFill>
                  <a:srgbClr val="E6EDF3"/>
                </a:solidFill>
                <a:latin typeface="Courier New"/>
              </a:rPr>
              <a:t>(</a:t>
            </a:r>
            <a:r>
              <a:rPr sz="1300" b="0" i="0">
                <a:solidFill>
                  <a:srgbClr val="9BE3A8"/>
                </a:solidFill>
                <a:latin typeface="Courier New"/>
              </a:rPr>
              <a:t>'A'</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chr</a:t>
            </a:r>
            <a:r>
              <a:rPr sz="1300" b="0" i="0">
                <a:solidFill>
                  <a:srgbClr val="E6EDF3"/>
                </a:solidFill>
                <a:latin typeface="Courier New"/>
              </a:rPr>
              <a:t>(</a:t>
            </a:r>
            <a:r>
              <a:rPr sz="1300" b="0" i="0">
                <a:solidFill>
                  <a:srgbClr val="7CC4FF"/>
                </a:solidFill>
                <a:latin typeface="Courier New"/>
              </a:rPr>
              <a:t>65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chr</a:t>
            </a:r>
            <a:r>
              <a:rPr sz="1300" b="0" i="0">
                <a:solidFill>
                  <a:srgbClr val="E6EDF3"/>
                </a:solidFill>
                <a:latin typeface="Courier New"/>
              </a:rPr>
              <a:t>(</a:t>
            </a:r>
            <a:r>
              <a:rPr sz="1300" b="0" i="0">
                <a:solidFill>
                  <a:srgbClr val="E6EDF3"/>
                </a:solidFill>
                <a:latin typeface="Courier New"/>
              </a:rPr>
              <a:t>ord</a:t>
            </a:r>
            <a:r>
              <a:rPr sz="1300" b="0" i="0">
                <a:solidFill>
                  <a:srgbClr val="E6EDF3"/>
                </a:solidFill>
                <a:latin typeface="Courier New"/>
              </a:rPr>
              <a:t>(</a:t>
            </a:r>
            <a:r>
              <a:rPr sz="1300" b="0" i="0">
                <a:solidFill>
                  <a:srgbClr val="9BE3A8"/>
                </a:solidFill>
                <a:latin typeface="Courier New"/>
              </a:rPr>
              <a:t>'A'</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5259324" y="841248"/>
            <a:ext cx="3518916" cy="524891"/>
          </a:xfrm>
          <a:prstGeom prst="rect">
            <a:avLst/>
          </a:prstGeom>
          <a:noFill/>
        </p:spPr>
        <p:txBody>
          <a:bodyPr wrap="square" lIns="128016" rIns="128016" tIns="18288" bIns="18288" anchor="ctr">
            <a:spAutoFit/>
          </a:bodyPr>
          <a:lstStyle/>
          <a:p>
            <a:r>
              <a:rPr sz="1250" b="0" i="0">
                <a:solidFill>
                  <a:srgbClr val="1F2933"/>
                </a:solidFill>
                <a:latin typeface="Calibri"/>
              </a:rPr>
              <a:t>ord turns a character into its number. chr turns a number back into a character.</a:t>
            </a:r>
          </a:p>
        </p:txBody>
      </p:sp>
      <p:sp>
        <p:nvSpPr>
          <p:cNvPr id="6" name="code"/>
          <p:cNvSpPr/>
          <p:nvPr/>
        </p:nvSpPr>
        <p:spPr>
          <a:xfrm>
            <a:off x="365760" y="1421003"/>
            <a:ext cx="49118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ord</a:t>
            </a:r>
            <a:r>
              <a:rPr sz="1300" b="0" i="0">
                <a:solidFill>
                  <a:srgbClr val="E6EDF3"/>
                </a:solidFill>
                <a:latin typeface="Courier New"/>
              </a:rPr>
              <a:t>(</a:t>
            </a:r>
            <a:r>
              <a:rPr sz="1300" b="0" i="0">
                <a:solidFill>
                  <a:srgbClr val="E6EDF3"/>
                </a:solidFill>
                <a:latin typeface="Courier New"/>
              </a:rPr>
              <a:t>c</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c</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9BE3A8"/>
                </a:solidFill>
                <a:latin typeface="Courier New"/>
              </a:rPr>
              <a:t>'Hello'</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259324" y="1421003"/>
            <a:ext cx="3518916" cy="723328"/>
          </a:xfrm>
          <a:prstGeom prst="rect">
            <a:avLst/>
          </a:prstGeom>
          <a:noFill/>
        </p:spPr>
        <p:txBody>
          <a:bodyPr wrap="square" lIns="128016" rIns="128016" tIns="18288" bIns="18288" anchor="ctr">
            <a:spAutoFit/>
          </a:bodyPr>
          <a:lstStyle/>
          <a:p>
            <a:r>
              <a:rPr sz="1250" b="0" i="0">
                <a:solidFill>
                  <a:srgbClr val="1F2933"/>
                </a:solidFill>
                <a:latin typeface="Calibri"/>
              </a:rPr>
              <a:t>Every character has a number. Capitals and small letters have different numbers, a fixed distance apart.</a:t>
            </a:r>
          </a:p>
        </p:txBody>
      </p:sp>
      <p:sp>
        <p:nvSpPr>
          <p:cNvPr id="8" name="result label"/>
          <p:cNvSpPr txBox="1"/>
          <p:nvPr/>
        </p:nvSpPr>
        <p:spPr>
          <a:xfrm>
            <a:off x="365760" y="221748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491803"/>
          <a:ext cx="5215737" cy="2116772"/>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5833872" y="2583243"/>
          <a:ext cx="2944366" cy="1371600"/>
        </p:xfrm>
        <a:graphic>
          <a:graphicData uri="http://schemas.openxmlformats.org/drawingml/2006/table">
            <a:tbl>
              <a:tblPr firstRow="0" bandRow="0"/>
              <a:tblGrid>
                <a:gridCol w="2024252"/>
                <a:gridCol w="920114"/>
              </a:tblGrid>
              <a:tr h="27432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ord('A')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chr(65)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chr(ord('A')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ord('a') - ord('A')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character is a number.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UTF-8 on a diner placemat</a:t>
            </a:r>
          </a:p>
        </p:txBody>
      </p:sp>
      <p:pic>
        <p:nvPicPr>
          <p:cNvPr id="4" name="photo utf8" descr="Picture for the story: UTF-8 on a diner placemat"/>
          <p:cNvPicPr>
            <a:picLocks noChangeAspect="1"/>
          </p:cNvPicPr>
          <p:nvPr/>
        </p:nvPicPr>
        <p:blipFill>
          <a:blip r:embed="rId3"/>
          <a:stretch>
            <a:fillRect/>
          </a:stretch>
        </p:blipFill>
        <p:spPr>
          <a:xfrm>
            <a:off x="365760" y="925239"/>
            <a:ext cx="2651760" cy="2812961"/>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Ken Thompson, 2019. Photo: A.C.Diller, CC BY-SA 4.0,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Ken Thompson and Rob Pike of Bell Labs, designing for the Plan 9 operating system.</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An encoding in which a character takes one to four bytes and plain ASCII stays unchanged.</a:t>
            </a:r>
          </a:p>
        </p:txBody>
      </p:sp>
      <p:sp>
        <p:nvSpPr>
          <p:cNvPr id="10" name="card"/>
          <p:cNvSpPr/>
          <p:nvPr/>
        </p:nvSpPr>
        <p:spPr>
          <a:xfrm>
            <a:off x="3200400" y="20848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September 1992, in a single evening.</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A diner in New Jersey, on a placemat, in Rob Pike's own words.</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Programs needed one encoding for every language that did not break old ASCII text.</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'café'.encode('utf-8') is that encoding at work: four characters become five bytes.</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Rob Pike: UTF-8 history (doc.cat-v.org)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Characters are not bytes</a:t>
            </a:r>
          </a:p>
        </p:txBody>
      </p:sp>
      <p:sp>
        <p:nvSpPr>
          <p:cNvPr id="4" name="code"/>
          <p:cNvSpPr/>
          <p:nvPr/>
        </p:nvSpPr>
        <p:spPr>
          <a:xfrm>
            <a:off x="365760" y="841248"/>
            <a:ext cx="49194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'café'</a:t>
            </a:r>
            <a:r>
              <a:rPr sz="1200" b="0" i="0">
                <a:solidFill>
                  <a:srgbClr val="E6EDF3"/>
                </a:solidFill>
                <a:latin typeface="Courier New"/>
              </a:rPr>
              <a:t>.</a:t>
            </a:r>
            <a:r>
              <a:rPr sz="1200" b="0" i="0">
                <a:solidFill>
                  <a:srgbClr val="E6EDF3"/>
                </a:solidFill>
                <a:latin typeface="Courier New"/>
              </a:rPr>
              <a:t>encode</a:t>
            </a:r>
            <a:r>
              <a:rPr sz="1200" b="0" i="0">
                <a:solidFill>
                  <a:srgbClr val="E6EDF3"/>
                </a:solidFill>
                <a:latin typeface="Courier New"/>
              </a:rPr>
              <a:t>(</a:t>
            </a:r>
            <a:r>
              <a:rPr sz="1200" b="0" i="0">
                <a:solidFill>
                  <a:srgbClr val="9BE3A8"/>
                </a:solidFill>
                <a:latin typeface="Courier New"/>
              </a:rPr>
              <a:t>'utf-8'</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9BE3A8"/>
                </a:solidFill>
                <a:latin typeface="Courier New"/>
              </a:rPr>
              <a:t>'café'</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len</a:t>
            </a:r>
            <a:r>
              <a:rPr sz="1200" b="0" i="0">
                <a:solidFill>
                  <a:srgbClr val="E6EDF3"/>
                </a:solidFill>
                <a:latin typeface="Courier New"/>
              </a:rPr>
              <a:t>(</a:t>
            </a:r>
            <a:r>
              <a:rPr sz="1200" b="0" i="0">
                <a:solidFill>
                  <a:srgbClr val="9BE3A8"/>
                </a:solidFill>
                <a:latin typeface="Courier New"/>
              </a:rPr>
              <a:t>'café'</a:t>
            </a:r>
            <a:r>
              <a:rPr sz="1200" b="0" i="0">
                <a:solidFill>
                  <a:srgbClr val="E6EDF3"/>
                </a:solidFill>
                <a:latin typeface="Courier New"/>
              </a:rPr>
              <a:t>.</a:t>
            </a:r>
            <a:r>
              <a:rPr sz="1200" b="0" i="0">
                <a:solidFill>
                  <a:srgbClr val="E6EDF3"/>
                </a:solidFill>
                <a:latin typeface="Courier New"/>
              </a:rPr>
              <a:t>encode</a:t>
            </a:r>
            <a:r>
              <a:rPr sz="1200" b="0" i="0">
                <a:solidFill>
                  <a:srgbClr val="E6EDF3"/>
                </a:solidFill>
                <a:latin typeface="Courier New"/>
              </a:rPr>
              <a:t>(</a:t>
            </a:r>
            <a:r>
              <a:rPr sz="1200" b="0" i="0">
                <a:solidFill>
                  <a:srgbClr val="9BE3A8"/>
                </a:solidFill>
                <a:latin typeface="Courier New"/>
              </a:rPr>
              <a:t>'utf-8'</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266944" y="841248"/>
            <a:ext cx="3511295" cy="723328"/>
          </a:xfrm>
          <a:prstGeom prst="rect">
            <a:avLst/>
          </a:prstGeom>
          <a:noFill/>
        </p:spPr>
        <p:txBody>
          <a:bodyPr wrap="square" lIns="128016" rIns="128016" tIns="18288" bIns="18288" anchor="ctr">
            <a:spAutoFit/>
          </a:bodyPr>
          <a:lstStyle/>
          <a:p>
            <a:r>
              <a:rPr sz="1250" b="0" i="0">
                <a:solidFill>
                  <a:srgbClr val="1F2933"/>
                </a:solidFill>
                <a:latin typeface="Calibri"/>
              </a:rPr>
              <a:t>Four characters become five bytes in UTF-8, because the accented letter takes two bytes.</a:t>
            </a:r>
          </a:p>
        </p:txBody>
      </p:sp>
      <p:sp>
        <p:nvSpPr>
          <p:cNvPr id="6" name="code"/>
          <p:cNvSpPr/>
          <p:nvPr/>
        </p:nvSpPr>
        <p:spPr>
          <a:xfrm>
            <a:off x="365760" y="1619440"/>
            <a:ext cx="49194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encode</a:t>
            </a:r>
            <a:r>
              <a:rPr sz="1200" b="0" i="0">
                <a:solidFill>
                  <a:srgbClr val="E6EDF3"/>
                </a:solidFill>
                <a:latin typeface="Courier New"/>
              </a:rPr>
              <a:t>(</a:t>
            </a:r>
            <a:r>
              <a:rPr sz="1200" b="0" i="0">
                <a:solidFill>
                  <a:srgbClr val="9BE3A8"/>
                </a:solidFill>
                <a:latin typeface="Courier New"/>
              </a:rPr>
              <a:t>'utf-8'</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9BE3A8"/>
                </a:solidFill>
                <a:latin typeface="Courier New"/>
              </a:rPr>
              <a:t>'a€é'</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'café'</a:t>
            </a:r>
            <a:r>
              <a:rPr sz="1200" b="0" i="0">
                <a:solidFill>
                  <a:srgbClr val="E6EDF3"/>
                </a:solidFill>
                <a:latin typeface="Courier New"/>
              </a:rPr>
              <a:t>.</a:t>
            </a:r>
            <a:r>
              <a:rPr sz="1200" b="0" i="0">
                <a:solidFill>
                  <a:srgbClr val="E6EDF3"/>
                </a:solidFill>
                <a:latin typeface="Courier New"/>
              </a:rPr>
              <a:t>encode</a:t>
            </a:r>
            <a:r>
              <a:rPr sz="1200" b="0" i="0">
                <a:solidFill>
                  <a:srgbClr val="E6EDF3"/>
                </a:solidFill>
                <a:latin typeface="Courier New"/>
              </a:rPr>
              <a:t>(</a:t>
            </a:r>
            <a:r>
              <a:rPr sz="1200" b="0" i="0">
                <a:solidFill>
                  <a:srgbClr val="9BE3A8"/>
                </a:solidFill>
                <a:latin typeface="Courier New"/>
              </a:rPr>
              <a:t>'ascii'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errors</a:t>
            </a:r>
            <a:r>
              <a:rPr sz="1200" b="0" i="0">
                <a:solidFill>
                  <a:srgbClr val="E6EDF3"/>
                </a:solidFill>
                <a:latin typeface="Courier New"/>
              </a:rPr>
              <a:t>=</a:t>
            </a:r>
            <a:r>
              <a:rPr sz="1200" b="0" i="0">
                <a:solidFill>
                  <a:srgbClr val="9BE3A8"/>
                </a:solidFill>
                <a:latin typeface="Courier New"/>
              </a:rPr>
              <a:t>'replace'</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266944" y="1619440"/>
            <a:ext cx="3511295" cy="723328"/>
          </a:xfrm>
          <a:prstGeom prst="rect">
            <a:avLst/>
          </a:prstGeom>
          <a:noFill/>
        </p:spPr>
        <p:txBody>
          <a:bodyPr wrap="square" lIns="128016" rIns="128016" tIns="18288" bIns="18288" anchor="ctr">
            <a:spAutoFit/>
          </a:bodyPr>
          <a:lstStyle/>
          <a:p>
            <a:r>
              <a:rPr sz="1250" b="0" i="0">
                <a:solidFill>
                  <a:srgbClr val="1F2933"/>
                </a:solidFill>
                <a:latin typeface="Calibri"/>
              </a:rPr>
              <a:t>UTF-8 spends one to four bytes per character. ASCII cannot hold the accent, so errors=replace puts a question mark.</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90241"/>
          <a:ext cx="4626864" cy="1918335"/>
        </p:xfrm>
        <a:graphic>
          <a:graphicData uri="http://schemas.openxmlformats.org/drawingml/2006/chart">
            <c:chart xmlns:c="http://schemas.openxmlformats.org/drawingml/2006/chart" r:id="rId3"/>
          </a:graphicData>
        </a:graphic>
      </p:graphicFrame>
      <p:sp>
        <p:nvSpPr>
          <p:cNvPr id="10" name="TextBox 9"/>
          <p:cNvSpPr txBox="1"/>
          <p:nvPr/>
        </p:nvSpPr>
        <p:spPr>
          <a:xfrm>
            <a:off x="5413248" y="2690241"/>
            <a:ext cx="3291840" cy="228600"/>
          </a:xfrm>
          <a:prstGeom prst="rect">
            <a:avLst/>
          </a:prstGeom>
          <a:noFill/>
        </p:spPr>
        <p:txBody>
          <a:bodyPr wrap="square" lIns="45720" rIns="45720" tIns="27432" bIns="27432" anchor="t">
            <a:spAutoFit/>
          </a:bodyPr>
          <a:lstStyle/>
          <a:p>
            <a:r>
              <a:rPr sz="1050" b="1" i="0">
                <a:solidFill>
                  <a:srgbClr val="1F2933"/>
                </a:solidFill>
                <a:latin typeface="Calibri"/>
              </a:rPr>
              <a:t>'café': 4 characters, 5 bytes</a:t>
            </a:r>
          </a:p>
        </p:txBody>
      </p:sp>
      <p:sp>
        <p:nvSpPr>
          <p:cNvPr id="11" name="Rounded Rectangle 10"/>
          <p:cNvSpPr/>
          <p:nvPr/>
        </p:nvSpPr>
        <p:spPr>
          <a:xfrm>
            <a:off x="5413248" y="3056000"/>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c</a:t>
            </a:r>
          </a:p>
        </p:txBody>
      </p:sp>
      <p:sp>
        <p:nvSpPr>
          <p:cNvPr id="12" name="Rounded Rectangle 11"/>
          <p:cNvSpPr/>
          <p:nvPr/>
        </p:nvSpPr>
        <p:spPr>
          <a:xfrm>
            <a:off x="5413248" y="3604641"/>
            <a:ext cx="704088" cy="310896"/>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63</a:t>
            </a:r>
          </a:p>
        </p:txBody>
      </p:sp>
      <p:cxnSp>
        <p:nvCxnSpPr>
          <p:cNvPr id="13" name="arrow"/>
          <p:cNvCxnSpPr/>
          <p:nvPr/>
        </p:nvCxnSpPr>
        <p:spPr>
          <a:xfrm>
            <a:off x="5779008" y="3440048"/>
            <a:ext cx="0" cy="146305"/>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90488" y="3056000"/>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a</a:t>
            </a:r>
          </a:p>
        </p:txBody>
      </p:sp>
      <p:sp>
        <p:nvSpPr>
          <p:cNvPr id="15" name="Rounded Rectangle 14"/>
          <p:cNvSpPr/>
          <p:nvPr/>
        </p:nvSpPr>
        <p:spPr>
          <a:xfrm>
            <a:off x="6190488" y="3604641"/>
            <a:ext cx="704088" cy="310896"/>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61</a:t>
            </a:r>
          </a:p>
        </p:txBody>
      </p:sp>
      <p:cxnSp>
        <p:nvCxnSpPr>
          <p:cNvPr id="16" name="arrow"/>
          <p:cNvCxnSpPr/>
          <p:nvPr/>
        </p:nvCxnSpPr>
        <p:spPr>
          <a:xfrm>
            <a:off x="6556248" y="3440048"/>
            <a:ext cx="0" cy="146305"/>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67728" y="3056000"/>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f</a:t>
            </a:r>
          </a:p>
        </p:txBody>
      </p:sp>
      <p:sp>
        <p:nvSpPr>
          <p:cNvPr id="18" name="Rounded Rectangle 17"/>
          <p:cNvSpPr/>
          <p:nvPr/>
        </p:nvSpPr>
        <p:spPr>
          <a:xfrm>
            <a:off x="6967728" y="3604641"/>
            <a:ext cx="704088" cy="310896"/>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66</a:t>
            </a:r>
          </a:p>
        </p:txBody>
      </p:sp>
      <p:cxnSp>
        <p:nvCxnSpPr>
          <p:cNvPr id="19" name="arrow"/>
          <p:cNvCxnSpPr/>
          <p:nvPr/>
        </p:nvCxnSpPr>
        <p:spPr>
          <a:xfrm>
            <a:off x="7333488" y="3440048"/>
            <a:ext cx="0" cy="146305"/>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44967" y="3056000"/>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é</a:t>
            </a:r>
          </a:p>
        </p:txBody>
      </p:sp>
      <p:sp>
        <p:nvSpPr>
          <p:cNvPr id="21" name="Rounded Rectangle 20"/>
          <p:cNvSpPr/>
          <p:nvPr/>
        </p:nvSpPr>
        <p:spPr>
          <a:xfrm>
            <a:off x="7744967" y="3604641"/>
            <a:ext cx="338328" cy="310896"/>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c3</a:t>
            </a:r>
          </a:p>
        </p:txBody>
      </p:sp>
      <p:sp>
        <p:nvSpPr>
          <p:cNvPr id="22" name="Rounded Rectangle 21"/>
          <p:cNvSpPr/>
          <p:nvPr/>
        </p:nvSpPr>
        <p:spPr>
          <a:xfrm>
            <a:off x="8110727" y="3604641"/>
            <a:ext cx="338328" cy="310896"/>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a9</a:t>
            </a:r>
          </a:p>
        </p:txBody>
      </p:sp>
      <p:cxnSp>
        <p:nvCxnSpPr>
          <p:cNvPr id="23" name="arrow"/>
          <p:cNvCxnSpPr/>
          <p:nvPr/>
        </p:nvCxnSpPr>
        <p:spPr>
          <a:xfrm>
            <a:off x="8110727" y="3440048"/>
            <a:ext cx="0" cy="146305"/>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Characters are not bytes.</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Re-running the book's rjust lines</a:t>
            </a:r>
          </a:p>
        </p:txBody>
      </p:sp>
      <p:sp>
        <p:nvSpPr>
          <p:cNvPr id="4" name="code"/>
          <p:cNvSpPr/>
          <p:nvPr/>
        </p:nvSpPr>
        <p:spPr>
          <a:xfrm>
            <a:off x="365760" y="841248"/>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rjust</a:t>
            </a:r>
            <a:r>
              <a:rPr sz="1400" b="0" i="0">
                <a:solidFill>
                  <a:srgbClr val="E6EDF3"/>
                </a:solidFill>
                <a:latin typeface="Courier New"/>
              </a:rPr>
              <a:t>(</a:t>
            </a:r>
            <a:r>
              <a:rPr sz="1400" b="0" i="0">
                <a:solidFill>
                  <a:srgbClr val="7CC4FF"/>
                </a:solidFill>
                <a:latin typeface="Courier New"/>
              </a:rPr>
              <a:t>20</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r>
              <a:rPr sz="1400" b="0" i="0">
                <a:solidFill>
                  <a:srgbClr val="E6EDF3"/>
                </a:solidFill>
                <a:latin typeface="Courier New"/>
              </a:rPr>
              <a:t>rjust</a:t>
            </a:r>
            <a:r>
              <a:rPr sz="1400" b="0" i="0">
                <a:solidFill>
                  <a:srgbClr val="E6EDF3"/>
                </a:solidFill>
                <a:latin typeface="Courier New"/>
              </a:rPr>
              <a:t>(</a:t>
            </a:r>
            <a:r>
              <a:rPr sz="1400" b="0" i="0">
                <a:solidFill>
                  <a:srgbClr val="7CC4FF"/>
                </a:solidFill>
                <a:latin typeface="Courier New"/>
              </a:rPr>
              <a:t>20</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65760" y="146710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Count the padding Python really adds. Running the book's lines shows its printed spaces differ by one.</a:t>
            </a:r>
          </a:p>
        </p:txBody>
      </p:sp>
      <p:sp>
        <p:nvSpPr>
          <p:cNvPr id="6" name="result label"/>
          <p:cNvSpPr txBox="1"/>
          <p:nvPr/>
        </p:nvSpPr>
        <p:spPr>
          <a:xfrm>
            <a:off x="365760" y="185756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chart"/>
          <p:cNvGraphicFramePr>
            <a:graphicFrameLocks noGrp="1"/>
          </p:cNvGraphicFramePr>
          <p:nvPr/>
        </p:nvGraphicFramePr>
        <p:xfrm>
          <a:off x="365760" y="2131885"/>
          <a:ext cx="5215737" cy="2476690"/>
        </p:xfrm>
        <a:graphic>
          <a:graphicData uri="http://schemas.openxmlformats.org/drawingml/2006/chart">
            <c:chart xmlns:c="http://schemas.openxmlformats.org/drawingml/2006/chart" r:id="rId3"/>
          </a:graphicData>
        </a:graphic>
      </p:graphicFrame>
      <p:sp>
        <p:nvSpPr>
          <p:cNvPr id="8" name="TextBox 7"/>
          <p:cNvSpPr txBox="1"/>
          <p:nvPr/>
        </p:nvSpPr>
        <p:spPr>
          <a:xfrm>
            <a:off x="5917996" y="2314765"/>
            <a:ext cx="2860243" cy="1280160"/>
          </a:xfrm>
          <a:prstGeom prst="rect">
            <a:avLst/>
          </a:prstGeom>
          <a:noFill/>
        </p:spPr>
        <p:txBody>
          <a:bodyPr wrap="square" lIns="45720" rIns="45720" tIns="27432" bIns="27432" anchor="t">
            <a:spAutoFit/>
          </a:bodyPr>
          <a:lstStyle/>
          <a:p>
            <a:r>
              <a:rPr sz="1050" b="0" i="1">
                <a:solidFill>
                  <a:srgbClr val="5B6773"/>
                </a:solidFill>
                <a:latin typeface="Calibri"/>
              </a:rPr>
              <a:t>Leading spaces counted.</a:t>
            </a:r>
          </a:p>
          <a:p>
            <a:r>
              <a:rPr sz="1050" b="0" i="1">
                <a:solidFill>
                  <a:srgbClr val="5B6773"/>
                </a:solidFill>
                <a:latin typeface="Calibri"/>
              </a:rPr>
              <a:t>Book figures come from the chapter research (finding on printed outputs).</a:t>
            </a:r>
          </a:p>
        </p:txBody>
      </p:sp>
      <p:sp>
        <p:nvSpPr>
          <p:cNvPr id="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the book's lines before you trust them.</a:t>
            </a:r>
          </a:p>
        </p:txBody>
      </p:sp>
      <p:sp>
        <p:nvSpPr>
          <p:cNvPr id="1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Programs and the clipboard</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Small programs that use everything from parts 1 to 4</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Alternating case</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Position decides whether a letter is upper or lower.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Pig Latin</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Move the opening consonants to the end and add ay.</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Table printer</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Pad every cell to the width of its column.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Clipboard program</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Paste the text, change it, copy it back.</a:t>
            </a:r>
          </a:p>
        </p:txBody>
      </p:sp>
      <p:graphicFrame>
        <p:nvGraphicFramePr>
          <p:cNvPr id="13" name="table"/>
          <p:cNvGraphicFramePr>
            <a:graphicFrameLocks noGrp="1"/>
          </p:cNvGraphicFramePr>
          <p:nvPr/>
        </p:nvGraphicFramePr>
        <p:xfrm>
          <a:off x="5760720" y="1417320"/>
          <a:ext cx="3017519" cy="2560320"/>
        </p:xfrm>
        <a:graphic>
          <a:graphicData uri="http://schemas.openxmlformats.org/drawingml/2006/table">
            <a:tbl>
              <a:tblPr firstRow="0" bandRow="0"/>
              <a:tblGrid>
                <a:gridCol w="484293"/>
                <a:gridCol w="2533226"/>
              </a:tblGrid>
              <a:tr h="36576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programs and the clipboard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Program: alternating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Program: Pig Latin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Practice program: table printer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Story: copy and paste is fifty years old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Clipboard programs: copy, change, paste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programs and the clipboard</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clipboard is one shelf next to your desk: a new copy replaces whatever was there.</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405765">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05765">
                <a:tc>
                  <a:txBody>
                    <a:bodyPr wrap="square"/>
                    <a:lstStyle/>
                    <a:p>
                      <a:r>
                        <a:rPr sz="1300" b="1" i="0">
                          <a:solidFill>
                            <a:srgbClr val="1F2933"/>
                          </a:solidFill>
                          <a:latin typeface="Calibri"/>
                        </a:rPr>
                        <a:t>Copying and Pasting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Putting a note on the shelf, and reading it back later.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ClipboardPrograms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An assembly line: take the item from the shelf, change it, put it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pyperclip.copy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Placing a new note on the shelf; the old note is gone.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pyperclip.paste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Reading the note on the shelf without taking it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Project 2: Add Bullets to Wiki Markup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Stamping a star in front of every line of a shopping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A Short Program: Pig Latin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children's secret code: move the opening sounds to the back and add 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Practice Program: Table Printer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typesetter measuring every column so all rows line 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Program: alternating case</a:t>
            </a:r>
          </a:p>
        </p:txBody>
      </p:sp>
      <p:sp>
        <p:nvSpPr>
          <p:cNvPr id="4" name="code"/>
          <p:cNvSpPr/>
          <p:nvPr/>
        </p:nvSpPr>
        <p:spPr>
          <a:xfrm>
            <a:off x="365760" y="841248"/>
            <a:ext cx="8412480" cy="3997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flip</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lambda</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c</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c</a:t>
            </a:r>
            <a:r>
              <a:rPr sz="1400" b="0" i="0">
                <a:solidFill>
                  <a:srgbClr val="E6EDF3"/>
                </a:solidFill>
                <a:latin typeface="Courier New"/>
              </a:rPr>
              <a:t>.</a:t>
            </a:r>
            <a:r>
              <a:rPr sz="1400" b="0" i="0">
                <a:solidFill>
                  <a:srgbClr val="E6EDF3"/>
                </a:solidFill>
                <a:latin typeface="Courier New"/>
              </a:rPr>
              <a:t>lower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if</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r>
              <a:rPr sz="1400" b="0" i="0">
                <a:solidFill>
                  <a:srgbClr val="E6EDF3"/>
                </a:solidFill>
                <a:latin typeface="Courier New"/>
              </a:rPr>
              <a:t> </a:t>
            </a:r>
            <a:r>
              <a:rPr sz="1400" b="0" i="0">
                <a:solidFill>
                  <a:srgbClr val="C9A0FF"/>
                </a:solidFill>
                <a:latin typeface="Courier New"/>
              </a:rPr>
              <a:t>else</a:t>
            </a:r>
            <a:r>
              <a:rPr sz="1400" b="0" i="0">
                <a:solidFill>
                  <a:srgbClr val="E6EDF3"/>
                </a:solidFill>
                <a:latin typeface="Courier New"/>
              </a:rPr>
              <a:t> </a:t>
            </a:r>
            <a:r>
              <a:rPr sz="1400" b="0" i="0">
                <a:solidFill>
                  <a:srgbClr val="E6EDF3"/>
                </a:solidFill>
                <a:latin typeface="Courier New"/>
              </a:rPr>
              <a:t>c</a:t>
            </a:r>
            <a:r>
              <a:rPr sz="1400" b="0" i="0">
                <a:solidFill>
                  <a:srgbClr val="E6EDF3"/>
                </a:solidFill>
                <a:latin typeface="Courier New"/>
              </a:rPr>
              <a:t>.</a:t>
            </a:r>
            <a:r>
              <a:rPr sz="1400" b="0" i="0">
                <a:solidFill>
                  <a:srgbClr val="E6EDF3"/>
                </a:solidFill>
                <a:latin typeface="Courier New"/>
              </a:rPr>
              <a:t>upper</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65760" y="1250188"/>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A tiny rule: even positions go to lower case, odd positions to upper case.</a:t>
            </a:r>
          </a:p>
        </p:txBody>
      </p:sp>
      <p:sp>
        <p:nvSpPr>
          <p:cNvPr id="6" name="code"/>
          <p:cNvSpPr/>
          <p:nvPr/>
        </p:nvSpPr>
        <p:spPr>
          <a:xfrm>
            <a:off x="365760" y="1622361"/>
            <a:ext cx="8412480" cy="3997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join</a:t>
            </a:r>
            <a:r>
              <a:rPr sz="1400" b="0" i="0">
                <a:solidFill>
                  <a:srgbClr val="E6EDF3"/>
                </a:solidFill>
                <a:latin typeface="Courier New"/>
              </a:rPr>
              <a:t>(</a:t>
            </a:r>
            <a:r>
              <a:rPr sz="1400" b="0" i="0">
                <a:solidFill>
                  <a:srgbClr val="E6EDF3"/>
                </a:solidFill>
                <a:latin typeface="Courier New"/>
              </a:rPr>
              <a:t>flip</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c</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c</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enumerate</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5760" y="2031301"/>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enumerate hands out each character with its position. join glues the new characters into one string.</a:t>
            </a:r>
          </a:p>
        </p:txBody>
      </p:sp>
      <p:sp>
        <p:nvSpPr>
          <p:cNvPr id="8" name="result label"/>
          <p:cNvSpPr txBox="1"/>
          <p:nvPr/>
        </p:nvSpPr>
        <p:spPr>
          <a:xfrm>
            <a:off x="365760" y="242176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886967"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H</a:t>
            </a:r>
          </a:p>
        </p:txBody>
      </p:sp>
      <p:cxnSp>
        <p:nvCxnSpPr>
          <p:cNvPr id="10" name="arrow"/>
          <p:cNvCxnSpPr/>
          <p:nvPr/>
        </p:nvCxnSpPr>
        <p:spPr>
          <a:xfrm>
            <a:off x="1152143"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86967"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h</a:t>
            </a:r>
          </a:p>
        </p:txBody>
      </p:sp>
      <p:sp>
        <p:nvSpPr>
          <p:cNvPr id="12" name="TextBox 11"/>
          <p:cNvSpPr txBox="1"/>
          <p:nvPr/>
        </p:nvSpPr>
        <p:spPr>
          <a:xfrm>
            <a:off x="886967"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3" name="Rounded Rectangle 12"/>
          <p:cNvSpPr/>
          <p:nvPr/>
        </p:nvSpPr>
        <p:spPr>
          <a:xfrm>
            <a:off x="1453895"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e</a:t>
            </a:r>
          </a:p>
        </p:txBody>
      </p:sp>
      <p:cxnSp>
        <p:nvCxnSpPr>
          <p:cNvPr id="14" name="arrow"/>
          <p:cNvCxnSpPr/>
          <p:nvPr/>
        </p:nvCxnSpPr>
        <p:spPr>
          <a:xfrm>
            <a:off x="1719071" y="3080131"/>
            <a:ext cx="0" cy="329183"/>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453895" y="3427603"/>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E</a:t>
            </a:r>
          </a:p>
        </p:txBody>
      </p:sp>
      <p:sp>
        <p:nvSpPr>
          <p:cNvPr id="16" name="TextBox 15"/>
          <p:cNvSpPr txBox="1"/>
          <p:nvPr/>
        </p:nvSpPr>
        <p:spPr>
          <a:xfrm>
            <a:off x="1453895"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7" name="Rounded Rectangle 16"/>
          <p:cNvSpPr/>
          <p:nvPr/>
        </p:nvSpPr>
        <p:spPr>
          <a:xfrm>
            <a:off x="2020823"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l</a:t>
            </a:r>
          </a:p>
        </p:txBody>
      </p:sp>
      <p:cxnSp>
        <p:nvCxnSpPr>
          <p:cNvPr id="18" name="arrow"/>
          <p:cNvCxnSpPr/>
          <p:nvPr/>
        </p:nvCxnSpPr>
        <p:spPr>
          <a:xfrm>
            <a:off x="2285999"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020823"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l</a:t>
            </a:r>
          </a:p>
        </p:txBody>
      </p:sp>
      <p:sp>
        <p:nvSpPr>
          <p:cNvPr id="20" name="TextBox 19"/>
          <p:cNvSpPr txBox="1"/>
          <p:nvPr/>
        </p:nvSpPr>
        <p:spPr>
          <a:xfrm>
            <a:off x="2020823"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21" name="Rounded Rectangle 20"/>
          <p:cNvSpPr/>
          <p:nvPr/>
        </p:nvSpPr>
        <p:spPr>
          <a:xfrm>
            <a:off x="2587751"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l</a:t>
            </a:r>
          </a:p>
        </p:txBody>
      </p:sp>
      <p:cxnSp>
        <p:nvCxnSpPr>
          <p:cNvPr id="22" name="arrow"/>
          <p:cNvCxnSpPr/>
          <p:nvPr/>
        </p:nvCxnSpPr>
        <p:spPr>
          <a:xfrm>
            <a:off x="2852927" y="3080131"/>
            <a:ext cx="0" cy="329183"/>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587751" y="3427603"/>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L</a:t>
            </a:r>
          </a:p>
        </p:txBody>
      </p:sp>
      <p:sp>
        <p:nvSpPr>
          <p:cNvPr id="24" name="TextBox 23"/>
          <p:cNvSpPr txBox="1"/>
          <p:nvPr/>
        </p:nvSpPr>
        <p:spPr>
          <a:xfrm>
            <a:off x="2587751"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25" name="Rounded Rectangle 24"/>
          <p:cNvSpPr/>
          <p:nvPr/>
        </p:nvSpPr>
        <p:spPr>
          <a:xfrm>
            <a:off x="3154679"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o</a:t>
            </a:r>
          </a:p>
        </p:txBody>
      </p:sp>
      <p:cxnSp>
        <p:nvCxnSpPr>
          <p:cNvPr id="26" name="arrow"/>
          <p:cNvCxnSpPr/>
          <p:nvPr/>
        </p:nvCxnSpPr>
        <p:spPr>
          <a:xfrm>
            <a:off x="3419855"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154679"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o</a:t>
            </a:r>
          </a:p>
        </p:txBody>
      </p:sp>
      <p:sp>
        <p:nvSpPr>
          <p:cNvPr id="28" name="TextBox 27"/>
          <p:cNvSpPr txBox="1"/>
          <p:nvPr/>
        </p:nvSpPr>
        <p:spPr>
          <a:xfrm>
            <a:off x="3154679"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29" name="Rounded Rectangle 28"/>
          <p:cNvSpPr/>
          <p:nvPr/>
        </p:nvSpPr>
        <p:spPr>
          <a:xfrm>
            <a:off x="3721607"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cxnSp>
        <p:nvCxnSpPr>
          <p:cNvPr id="30" name="arrow"/>
          <p:cNvCxnSpPr/>
          <p:nvPr/>
        </p:nvCxnSpPr>
        <p:spPr>
          <a:xfrm>
            <a:off x="3986783"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721607"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sp>
        <p:nvSpPr>
          <p:cNvPr id="32" name="TextBox 31"/>
          <p:cNvSpPr txBox="1"/>
          <p:nvPr/>
        </p:nvSpPr>
        <p:spPr>
          <a:xfrm>
            <a:off x="3721607"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33" name="Rounded Rectangle 32"/>
          <p:cNvSpPr/>
          <p:nvPr/>
        </p:nvSpPr>
        <p:spPr>
          <a:xfrm>
            <a:off x="4288536"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cxnSp>
        <p:nvCxnSpPr>
          <p:cNvPr id="34" name="arrow"/>
          <p:cNvCxnSpPr/>
          <p:nvPr/>
        </p:nvCxnSpPr>
        <p:spPr>
          <a:xfrm>
            <a:off x="4553712"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288536"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sp>
        <p:nvSpPr>
          <p:cNvPr id="36" name="TextBox 35"/>
          <p:cNvSpPr txBox="1"/>
          <p:nvPr/>
        </p:nvSpPr>
        <p:spPr>
          <a:xfrm>
            <a:off x="4288536"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37" name="Rounded Rectangle 36"/>
          <p:cNvSpPr/>
          <p:nvPr/>
        </p:nvSpPr>
        <p:spPr>
          <a:xfrm>
            <a:off x="4855464"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w</a:t>
            </a:r>
          </a:p>
        </p:txBody>
      </p:sp>
      <p:cxnSp>
        <p:nvCxnSpPr>
          <p:cNvPr id="38" name="arrow"/>
          <p:cNvCxnSpPr/>
          <p:nvPr/>
        </p:nvCxnSpPr>
        <p:spPr>
          <a:xfrm>
            <a:off x="5120640" y="3080131"/>
            <a:ext cx="0" cy="329183"/>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855464" y="3427603"/>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W</a:t>
            </a:r>
          </a:p>
        </p:txBody>
      </p:sp>
      <p:sp>
        <p:nvSpPr>
          <p:cNvPr id="40" name="TextBox 39"/>
          <p:cNvSpPr txBox="1"/>
          <p:nvPr/>
        </p:nvSpPr>
        <p:spPr>
          <a:xfrm>
            <a:off x="4855464"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41" name="Rounded Rectangle 40"/>
          <p:cNvSpPr/>
          <p:nvPr/>
        </p:nvSpPr>
        <p:spPr>
          <a:xfrm>
            <a:off x="5422392"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o</a:t>
            </a:r>
          </a:p>
        </p:txBody>
      </p:sp>
      <p:cxnSp>
        <p:nvCxnSpPr>
          <p:cNvPr id="42" name="arrow"/>
          <p:cNvCxnSpPr/>
          <p:nvPr/>
        </p:nvCxnSpPr>
        <p:spPr>
          <a:xfrm>
            <a:off x="5687568"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5422392"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o</a:t>
            </a:r>
          </a:p>
        </p:txBody>
      </p:sp>
      <p:sp>
        <p:nvSpPr>
          <p:cNvPr id="44" name="TextBox 43"/>
          <p:cNvSpPr txBox="1"/>
          <p:nvPr/>
        </p:nvSpPr>
        <p:spPr>
          <a:xfrm>
            <a:off x="5422392"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45" name="Rounded Rectangle 44"/>
          <p:cNvSpPr/>
          <p:nvPr/>
        </p:nvSpPr>
        <p:spPr>
          <a:xfrm>
            <a:off x="5989320"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r</a:t>
            </a:r>
          </a:p>
        </p:txBody>
      </p:sp>
      <p:cxnSp>
        <p:nvCxnSpPr>
          <p:cNvPr id="46" name="arrow"/>
          <p:cNvCxnSpPr/>
          <p:nvPr/>
        </p:nvCxnSpPr>
        <p:spPr>
          <a:xfrm>
            <a:off x="6254496" y="3080131"/>
            <a:ext cx="0" cy="329183"/>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989320" y="3427603"/>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R</a:t>
            </a:r>
          </a:p>
        </p:txBody>
      </p:sp>
      <p:sp>
        <p:nvSpPr>
          <p:cNvPr id="48" name="TextBox 47"/>
          <p:cNvSpPr txBox="1"/>
          <p:nvPr/>
        </p:nvSpPr>
        <p:spPr>
          <a:xfrm>
            <a:off x="5989320"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49" name="Rounded Rectangle 48"/>
          <p:cNvSpPr/>
          <p:nvPr/>
        </p:nvSpPr>
        <p:spPr>
          <a:xfrm>
            <a:off x="6556248"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l</a:t>
            </a:r>
          </a:p>
        </p:txBody>
      </p:sp>
      <p:cxnSp>
        <p:nvCxnSpPr>
          <p:cNvPr id="50" name="arrow"/>
          <p:cNvCxnSpPr/>
          <p:nvPr/>
        </p:nvCxnSpPr>
        <p:spPr>
          <a:xfrm>
            <a:off x="6821424"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6556248"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l</a:t>
            </a:r>
          </a:p>
        </p:txBody>
      </p:sp>
      <p:sp>
        <p:nvSpPr>
          <p:cNvPr id="52" name="TextBox 51"/>
          <p:cNvSpPr txBox="1"/>
          <p:nvPr/>
        </p:nvSpPr>
        <p:spPr>
          <a:xfrm>
            <a:off x="6556248"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53" name="Rounded Rectangle 52"/>
          <p:cNvSpPr/>
          <p:nvPr/>
        </p:nvSpPr>
        <p:spPr>
          <a:xfrm>
            <a:off x="7123176"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d</a:t>
            </a:r>
          </a:p>
        </p:txBody>
      </p:sp>
      <p:cxnSp>
        <p:nvCxnSpPr>
          <p:cNvPr id="54" name="arrow"/>
          <p:cNvCxnSpPr/>
          <p:nvPr/>
        </p:nvCxnSpPr>
        <p:spPr>
          <a:xfrm>
            <a:off x="7388352" y="3080131"/>
            <a:ext cx="0" cy="329183"/>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123176" y="3427603"/>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D</a:t>
            </a:r>
          </a:p>
        </p:txBody>
      </p:sp>
      <p:sp>
        <p:nvSpPr>
          <p:cNvPr id="56" name="TextBox 55"/>
          <p:cNvSpPr txBox="1"/>
          <p:nvPr/>
        </p:nvSpPr>
        <p:spPr>
          <a:xfrm>
            <a:off x="7123176"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57" name="Rounded Rectangle 56"/>
          <p:cNvSpPr/>
          <p:nvPr/>
        </p:nvSpPr>
        <p:spPr>
          <a:xfrm>
            <a:off x="7690103" y="2696083"/>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cxnSp>
        <p:nvCxnSpPr>
          <p:cNvPr id="58" name="arrow"/>
          <p:cNvCxnSpPr/>
          <p:nvPr/>
        </p:nvCxnSpPr>
        <p:spPr>
          <a:xfrm>
            <a:off x="7955279" y="3080131"/>
            <a:ext cx="0" cy="329183"/>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7690103" y="3427603"/>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ourier New"/>
              </a:rPr>
              <a:t>!</a:t>
            </a:r>
          </a:p>
        </p:txBody>
      </p:sp>
      <p:sp>
        <p:nvSpPr>
          <p:cNvPr id="60" name="TextBox 59"/>
          <p:cNvSpPr txBox="1"/>
          <p:nvPr/>
        </p:nvSpPr>
        <p:spPr>
          <a:xfrm>
            <a:off x="7690103" y="3811651"/>
            <a:ext cx="530352"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61" name="TextBox 60"/>
          <p:cNvSpPr txBox="1"/>
          <p:nvPr/>
        </p:nvSpPr>
        <p:spPr>
          <a:xfrm>
            <a:off x="365760" y="3994530"/>
            <a:ext cx="8412480" cy="228600"/>
          </a:xfrm>
          <a:prstGeom prst="rect">
            <a:avLst/>
          </a:prstGeom>
          <a:noFill/>
        </p:spPr>
        <p:txBody>
          <a:bodyPr wrap="square" lIns="45720" rIns="45720" tIns="27432" bIns="27432" anchor="t">
            <a:spAutoFit/>
          </a:bodyPr>
          <a:lstStyle/>
          <a:p>
            <a:pPr algn="ctr"/>
            <a:r>
              <a:rPr sz="1000" b="0" i="0">
                <a:solidFill>
                  <a:srgbClr val="5B6773"/>
                </a:solidFill>
                <a:latin typeface="Calibri"/>
              </a:rPr>
              <a:t>even index: lower case (teal)   odd index: upper case (amber)</a:t>
            </a:r>
          </a:p>
        </p:txBody>
      </p:sp>
      <p:sp>
        <p:nvSpPr>
          <p:cNvPr id="6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Position decides the case.</a:t>
            </a:r>
          </a:p>
        </p:txBody>
      </p:sp>
      <p:sp>
        <p:nvSpPr>
          <p:cNvPr id="6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Program: Pig Latin</a:t>
            </a:r>
          </a:p>
        </p:txBody>
      </p:sp>
      <p:sp>
        <p:nvSpPr>
          <p:cNvPr id="4" name="code"/>
          <p:cNvSpPr/>
          <p:nvPr/>
        </p:nvSpPr>
        <p:spPr>
          <a:xfrm>
            <a:off x="365760" y="841248"/>
            <a:ext cx="8412480" cy="3378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cut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enumerate</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9BE3A8"/>
                </a:solidFill>
                <a:latin typeface="Courier New"/>
              </a:rPr>
              <a:t>'aeiouy'</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365760" y="1188212"/>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cut finds where the first vowel sits. That is the length of the opening consonants.</a:t>
            </a:r>
          </a:p>
        </p:txBody>
      </p:sp>
      <p:sp>
        <p:nvSpPr>
          <p:cNvPr id="6" name="code"/>
          <p:cNvSpPr/>
          <p:nvPr/>
        </p:nvSpPr>
        <p:spPr>
          <a:xfrm>
            <a:off x="365760" y="1536573"/>
            <a:ext cx="8412480" cy="3378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pig</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cut</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cut</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'yay'</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cut</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9BE3A8"/>
                </a:solidFill>
                <a:latin typeface="Courier New"/>
              </a:rPr>
              <a:t>'ay'</a:t>
            </a:r>
            <a:r>
              <a:rPr sz="1000" b="0" i="0">
                <a:solidFill>
                  <a:srgbClr val="E6EDF3"/>
                </a:solidFill>
                <a:latin typeface="Courier New"/>
              </a:rPr>
              <a:t>)</a:t>
            </a:r>
          </a:p>
        </p:txBody>
      </p:sp>
      <p:sp>
        <p:nvSpPr>
          <p:cNvPr id="7" name="explanation"/>
          <p:cNvSpPr txBox="1"/>
          <p:nvPr/>
        </p:nvSpPr>
        <p:spPr>
          <a:xfrm>
            <a:off x="365760" y="1883537"/>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Move the opening consonants to the end and add ay. A word that starts with a vowel just gets yay.</a:t>
            </a:r>
          </a:p>
        </p:txBody>
      </p:sp>
      <p:sp>
        <p:nvSpPr>
          <p:cNvPr id="8" name="code"/>
          <p:cNvSpPr/>
          <p:nvPr/>
        </p:nvSpPr>
        <p:spPr>
          <a:xfrm>
            <a:off x="365760" y="2231898"/>
            <a:ext cx="8412480" cy="3378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pig</a:t>
            </a:r>
            <a:r>
              <a:rPr sz="1000" b="0" i="0">
                <a:solidFill>
                  <a:srgbClr val="E6EDF3"/>
                </a:solidFill>
                <a:latin typeface="Courier New"/>
              </a:rPr>
              <a:t>(</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9BE3A8"/>
                </a:solidFill>
                <a:latin typeface="Courier New"/>
              </a:rPr>
              <a:t>'my name is al'</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365760" y="2578862"/>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split makes the words, pig translates each one, join puts the sentence back together.</a:t>
            </a:r>
          </a:p>
        </p:txBody>
      </p:sp>
      <p:sp>
        <p:nvSpPr>
          <p:cNvPr id="10" name="result label"/>
          <p:cNvSpPr txBox="1"/>
          <p:nvPr/>
        </p:nvSpPr>
        <p:spPr>
          <a:xfrm>
            <a:off x="365760" y="294551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19831"/>
          <a:ext cx="8412478" cy="1388740"/>
        </p:xfrm>
        <a:graphic>
          <a:graphicData uri="http://schemas.openxmlformats.org/drawingml/2006/table">
            <a:tbl>
              <a:tblPr firstRow="0" bandRow="0"/>
              <a:tblGrid>
                <a:gridCol w="1442139"/>
                <a:gridCol w="2643922"/>
                <a:gridCol w="1922852"/>
                <a:gridCol w="2403565"/>
              </a:tblGrid>
              <a:tr h="277748">
                <a:tc>
                  <a:txBody>
                    <a:bodyPr wrap="square"/>
                    <a:lstStyle/>
                    <a:p>
                      <a:r>
                        <a:rPr sz="1000" b="1" i="0">
                          <a:solidFill>
                            <a:srgbClr val="FFFFFF"/>
                          </a:solidFill>
                          <a:latin typeface="Calibri"/>
                        </a:rPr>
                        <a:t>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Opening consonants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Pig Latin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7748">
                <a:tc>
                  <a:txBody>
                    <a:bodyPr wrap="square"/>
                    <a:lstStyle/>
                    <a:p>
                      <a:r>
                        <a:rPr sz="1000" b="0" i="0">
                          <a:solidFill>
                            <a:srgbClr val="1F2933"/>
                          </a:solidFill>
                          <a:latin typeface="Courier New"/>
                        </a:rPr>
                        <a:t>my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ymay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7748">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amenay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7748">
                <a:tc>
                  <a:txBody>
                    <a:bodyPr wrap="square"/>
                    <a:lstStyle/>
                    <a:p>
                      <a:r>
                        <a:rPr sz="1000" b="0" i="0">
                          <a:solidFill>
                            <a:srgbClr val="1F2933"/>
                          </a:solidFill>
                          <a:latin typeface="Courier New"/>
                        </a:rPr>
                        <a:t>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isyay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7748">
                <a:tc>
                  <a:txBody>
                    <a:bodyPr wrap="square"/>
                    <a:lstStyle/>
                    <a:p>
                      <a:r>
                        <a:rPr sz="100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alyay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the first vowel, then rearrange.</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table printer</a:t>
            </a:r>
          </a:p>
        </p:txBody>
      </p:sp>
      <p:sp>
        <p:nvSpPr>
          <p:cNvPr id="4" name="code"/>
          <p:cNvSpPr/>
          <p:nvPr/>
        </p:nvSpPr>
        <p:spPr>
          <a:xfrm>
            <a:off x="365760" y="841248"/>
            <a:ext cx="8412480"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'apples'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'oranges'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'cherries'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'banana'</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'Bob'</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'Carol'</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'David'</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'dogs'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'cats'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'moose'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'goose'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table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a:t>
            </a:r>
          </a:p>
        </p:txBody>
      </p:sp>
      <p:sp>
        <p:nvSpPr>
          <p:cNvPr id="5" name="explanation"/>
          <p:cNvSpPr txBox="1"/>
          <p:nvPr/>
        </p:nvSpPr>
        <p:spPr>
          <a:xfrm>
            <a:off x="365760" y="1715007"/>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A table is a list of columns. Each column is a list of strings.</a:t>
            </a:r>
          </a:p>
        </p:txBody>
      </p:sp>
      <p:sp>
        <p:nvSpPr>
          <p:cNvPr id="6" name="code"/>
          <p:cNvSpPr/>
          <p:nvPr/>
        </p:nvSpPr>
        <p:spPr>
          <a:xfrm>
            <a:off x="365760" y="2079244"/>
            <a:ext cx="8412480"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max</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col</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col</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table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'\n'</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9BE3A8"/>
                </a:solidFill>
                <a:latin typeface="Courier New"/>
              </a:rPr>
              <a:t>' '</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rjust</a:t>
            </a:r>
            <a:r>
              <a:rPr sz="1100" b="0" i="0">
                <a:solidFill>
                  <a:srgbClr val="E6EDF3"/>
                </a:solidFill>
                <a:latin typeface="Courier New"/>
              </a:rPr>
              <a:t>(</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j</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j</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enumerate</a:t>
            </a:r>
            <a:r>
              <a:rPr sz="1100" b="0" i="0">
                <a:solidFill>
                  <a:srgbClr val="E6EDF3"/>
                </a:solidFill>
                <a:latin typeface="Courier New"/>
              </a:rPr>
              <a:t>(</a:t>
            </a:r>
            <a:r>
              <a:rPr sz="1100" b="0" i="0">
                <a:solidFill>
                  <a:srgbClr val="E6EDF3"/>
                </a:solidFill>
                <a:latin typeface="Courier New"/>
              </a:rPr>
              <a:t>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zip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table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612136"/>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 column is as wide as its longest string. zip(*table) turns columns into rows, rjust pads every cell, and join builds each line.</a:t>
            </a:r>
          </a:p>
        </p:txBody>
      </p:sp>
      <p:sp>
        <p:nvSpPr>
          <p:cNvPr id="8" name="result label"/>
          <p:cNvSpPr txBox="1"/>
          <p:nvPr/>
        </p:nvSpPr>
        <p:spPr>
          <a:xfrm>
            <a:off x="365760" y="31851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59480"/>
          <a:ext cx="4626863" cy="1149096"/>
        </p:xfrm>
        <a:graphic>
          <a:graphicData uri="http://schemas.openxmlformats.org/drawingml/2006/table">
            <a:tbl>
              <a:tblPr firstRow="0" bandRow="0"/>
              <a:tblGrid>
                <a:gridCol w="2056383"/>
                <a:gridCol w="1285240"/>
                <a:gridCol w="1285240"/>
              </a:tblGrid>
              <a:tr h="287274">
                <a:tc>
                  <a:txBody>
                    <a:bodyPr wrap="square"/>
                    <a:lstStyle/>
                    <a:p>
                      <a:pPr algn="r"/>
                      <a:r>
                        <a:rPr sz="1000" b="0" i="0">
                          <a:solidFill>
                            <a:srgbClr val="1F2933"/>
                          </a:solidFill>
                          <a:latin typeface="Courier New"/>
                        </a:rPr>
                        <a:t>apples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dogs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87274">
                <a:tc>
                  <a:txBody>
                    <a:bodyPr wrap="square"/>
                    <a:lstStyle/>
                    <a:p>
                      <a:pPr algn="r"/>
                      <a:r>
                        <a:rPr sz="1000" b="0" i="0">
                          <a:solidFill>
                            <a:srgbClr val="1F2933"/>
                          </a:solidFill>
                          <a:latin typeface="Courier New"/>
                        </a:rPr>
                        <a:t>oranges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cats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87274">
                <a:tc>
                  <a:txBody>
                    <a:bodyPr wrap="square"/>
                    <a:lstStyle/>
                    <a:p>
                      <a:pPr algn="r"/>
                      <a:r>
                        <a:rPr sz="1000" b="0" i="0">
                          <a:solidFill>
                            <a:srgbClr val="1F2933"/>
                          </a:solidFill>
                          <a:latin typeface="Courier New"/>
                        </a:rPr>
                        <a:t>cherries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Carol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moose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87274">
                <a:tc>
                  <a:txBody>
                    <a:bodyPr wrap="square"/>
                    <a:lstStyle/>
                    <a:p>
                      <a:pPr algn="r"/>
                      <a:r>
                        <a:rPr sz="1000" b="0" i="0">
                          <a:solidFill>
                            <a:srgbClr val="1F2933"/>
                          </a:solidFill>
                          <a:latin typeface="Courier New"/>
                        </a:rPr>
                        <a:t>banana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David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goose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413248" y="3459480"/>
          <a:ext cx="3364991" cy="1149096"/>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Column width is the longest string.</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copy and paste is fifty years old</a:t>
            </a:r>
          </a:p>
        </p:txBody>
      </p:sp>
      <p:pic>
        <p:nvPicPr>
          <p:cNvPr id="4" name="photo tesler" descr="Picture for the story: copy and paste is fifty years old"/>
          <p:cNvPicPr>
            <a:picLocks noChangeAspect="1"/>
          </p:cNvPicPr>
          <p:nvPr/>
        </p:nvPicPr>
        <p:blipFill>
          <a:blip r:embed="rId3"/>
          <a:stretch>
            <a:fillRect/>
          </a:stretch>
        </p:blipFill>
        <p:spPr>
          <a:xfrm>
            <a:off x="545056" y="868680"/>
            <a:ext cx="2293166"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Larry Tesler, 2007. Photo: Yahoo! Blog, CC BY 2.0,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Larry Tesler, working with Tim Mott.</a:t>
            </a:r>
          </a:p>
        </p:txBody>
      </p:sp>
      <p:sp>
        <p:nvSpPr>
          <p:cNvPr id="8" name="card"/>
          <p:cNvSpPr/>
          <p:nvPr/>
        </p:nvSpPr>
        <p:spPr>
          <a:xfrm>
            <a:off x="3200400" y="130759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cut, copy and paste model for editing text.</a:t>
            </a:r>
          </a:p>
        </p:txBody>
      </p:sp>
      <p:sp>
        <p:nvSpPr>
          <p:cNvPr id="10" name="card"/>
          <p:cNvSpPr/>
          <p:nvPr/>
        </p:nvSpPr>
        <p:spPr>
          <a:xfrm>
            <a:off x="3200400" y="177393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77393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From 1973; Tesler died on 16 February 2020, aged 74.</a:t>
            </a:r>
          </a:p>
        </p:txBody>
      </p:sp>
      <p:sp>
        <p:nvSpPr>
          <p:cNvPr id="12" name="card"/>
          <p:cNvSpPr/>
          <p:nvPr/>
        </p:nvSpPr>
        <p:spPr>
          <a:xfrm>
            <a:off x="3200400" y="224028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24028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Xerox PARC in Palo Alto, California, on the Gypsy word processor.</a:t>
            </a:r>
          </a:p>
        </p:txBody>
      </p:sp>
      <p:sp>
        <p:nvSpPr>
          <p:cNvPr id="14" name="card"/>
          <p:cNvSpPr/>
          <p:nvPr/>
        </p:nvSpPr>
        <p:spPr>
          <a:xfrm>
            <a:off x="3200400" y="286207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86207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Editing needs one simple idea: select, hold somewhere, insert elsewhere.</a:t>
            </a:r>
          </a:p>
        </p:txBody>
      </p:sp>
      <p:sp>
        <p:nvSpPr>
          <p:cNvPr id="16" name="card"/>
          <p:cNvSpPr/>
          <p:nvPr/>
        </p:nvSpPr>
        <p:spPr>
          <a:xfrm>
            <a:off x="3200400" y="3483863"/>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83863"/>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pyperclip.copy() and pyperclip.paste() are that idea in two function calls.</a:t>
            </a:r>
          </a:p>
        </p:txBody>
      </p:sp>
      <p:sp>
        <p:nvSpPr>
          <p:cNvPr id="18" name="read"/>
          <p:cNvSpPr txBox="1"/>
          <p:nvPr/>
        </p:nvSpPr>
        <p:spPr>
          <a:xfrm>
            <a:off x="3200400" y="4123943"/>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Larry Tesler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Clipboard programs: copy, change, paste</a:t>
            </a:r>
          </a:p>
        </p:txBody>
      </p:sp>
      <p:sp>
        <p:nvSpPr>
          <p:cNvPr id="4" name="code"/>
          <p:cNvSpPr/>
          <p:nvPr/>
        </p:nvSpPr>
        <p:spPr>
          <a:xfrm>
            <a:off x="365760" y="841248"/>
            <a:ext cx="8412480"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shelf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'Alice\nBob\nCarol'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shelf</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5" name="explanation"/>
          <p:cNvSpPr txBox="1"/>
          <p:nvPr/>
        </p:nvSpPr>
        <p:spPr>
          <a:xfrm>
            <a:off x="365760" y="1343152"/>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 list of one item stands in for the clipboard here. pyperclip.paste() would hand you that text.</a:t>
            </a:r>
          </a:p>
        </p:txBody>
      </p:sp>
      <p:sp>
        <p:nvSpPr>
          <p:cNvPr id="6" name="code"/>
          <p:cNvSpPr/>
          <p:nvPr/>
        </p:nvSpPr>
        <p:spPr>
          <a:xfrm>
            <a:off x="365760" y="1691513"/>
            <a:ext cx="8412480"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lines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9BE3A8"/>
                </a:solidFill>
                <a:latin typeface="Courier New"/>
              </a:rPr>
              <a:t>'\n'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shelf</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line</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line</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lines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shelf</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365760" y="2348356"/>
            <a:ext cx="8412480" cy="477266"/>
          </a:xfrm>
          <a:prstGeom prst="rect">
            <a:avLst/>
          </a:prstGeom>
          <a:noFill/>
        </p:spPr>
        <p:txBody>
          <a:bodyPr wrap="square" lIns="109728" rIns="109728" tIns="18288" bIns="18288" anchor="ctr">
            <a:spAutoFit/>
          </a:bodyPr>
          <a:lstStyle/>
          <a:p>
            <a:r>
              <a:rPr sz="1100" b="0" i="0">
                <a:solidFill>
                  <a:srgbClr val="1F2933"/>
                </a:solidFill>
                <a:latin typeface="Calibri"/>
              </a:rPr>
              <a:t>Split into lines, put a star in front of each, join, and put the result back. pyperclip.copy() would do that last step.</a:t>
            </a:r>
          </a:p>
        </p:txBody>
      </p:sp>
      <p:sp>
        <p:nvSpPr>
          <p:cNvPr id="8" name="result label"/>
          <p:cNvSpPr txBox="1"/>
          <p:nvPr/>
        </p:nvSpPr>
        <p:spPr>
          <a:xfrm>
            <a:off x="365760" y="288963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63951"/>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ourier New"/>
              </a:rPr>
              <a:t>paste()</a:t>
            </a:r>
          </a:p>
        </p:txBody>
      </p:sp>
      <p:sp>
        <p:nvSpPr>
          <p:cNvPr id="10" name="Rounded Rectangle 9"/>
          <p:cNvSpPr/>
          <p:nvPr/>
        </p:nvSpPr>
        <p:spPr>
          <a:xfrm>
            <a:off x="365760" y="3575431"/>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'Alice⏎Bob⏎Carol'</a:t>
            </a:r>
          </a:p>
        </p:txBody>
      </p:sp>
      <p:cxnSp>
        <p:nvCxnSpPr>
          <p:cNvPr id="11" name="arrow"/>
          <p:cNvCxnSpPr/>
          <p:nvPr/>
        </p:nvCxnSpPr>
        <p:spPr>
          <a:xfrm>
            <a:off x="1847088" y="3328543"/>
            <a:ext cx="237743"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03120" y="3163951"/>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ourier New"/>
              </a:rPr>
              <a:t>split('\n')</a:t>
            </a:r>
          </a:p>
        </p:txBody>
      </p:sp>
      <p:sp>
        <p:nvSpPr>
          <p:cNvPr id="13" name="Rounded Rectangle 12"/>
          <p:cNvSpPr/>
          <p:nvPr/>
        </p:nvSpPr>
        <p:spPr>
          <a:xfrm>
            <a:off x="2103120" y="3575431"/>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['Alice', 'Bob', 'Carol']</a:t>
            </a:r>
          </a:p>
        </p:txBody>
      </p:sp>
      <p:cxnSp>
        <p:nvCxnSpPr>
          <p:cNvPr id="14" name="arrow"/>
          <p:cNvCxnSpPr/>
          <p:nvPr/>
        </p:nvCxnSpPr>
        <p:spPr>
          <a:xfrm>
            <a:off x="3584447" y="3328543"/>
            <a:ext cx="237744"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40480" y="3163951"/>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ourier New"/>
              </a:rPr>
              <a:t>'* ' + line</a:t>
            </a:r>
          </a:p>
        </p:txBody>
      </p:sp>
      <p:sp>
        <p:nvSpPr>
          <p:cNvPr id="16" name="Rounded Rectangle 15"/>
          <p:cNvSpPr/>
          <p:nvPr/>
        </p:nvSpPr>
        <p:spPr>
          <a:xfrm>
            <a:off x="3840480" y="3575431"/>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 Alice', '* Bob', '* Carol']</a:t>
            </a:r>
          </a:p>
        </p:txBody>
      </p:sp>
      <p:cxnSp>
        <p:nvCxnSpPr>
          <p:cNvPr id="17" name="arrow"/>
          <p:cNvCxnSpPr/>
          <p:nvPr/>
        </p:nvCxnSpPr>
        <p:spPr>
          <a:xfrm>
            <a:off x="5321807" y="3328543"/>
            <a:ext cx="237745"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577840" y="3163951"/>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ourier New"/>
              </a:rPr>
              <a:t>'\n'.join(...)</a:t>
            </a:r>
          </a:p>
        </p:txBody>
      </p:sp>
      <p:sp>
        <p:nvSpPr>
          <p:cNvPr id="19" name="Rounded Rectangle 18"/>
          <p:cNvSpPr/>
          <p:nvPr/>
        </p:nvSpPr>
        <p:spPr>
          <a:xfrm>
            <a:off x="5577840" y="3575431"/>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 Alice⏎* Bob⏎* Carol'</a:t>
            </a:r>
          </a:p>
        </p:txBody>
      </p:sp>
      <p:cxnSp>
        <p:nvCxnSpPr>
          <p:cNvPr id="20" name="arrow"/>
          <p:cNvCxnSpPr/>
          <p:nvPr/>
        </p:nvCxnSpPr>
        <p:spPr>
          <a:xfrm>
            <a:off x="7059167" y="3328543"/>
            <a:ext cx="237745"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15200" y="3163951"/>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ourier New"/>
              </a:rPr>
              <a:t>copy()</a:t>
            </a:r>
          </a:p>
        </p:txBody>
      </p:sp>
      <p:sp>
        <p:nvSpPr>
          <p:cNvPr id="22" name="Rounded Rectangle 21"/>
          <p:cNvSpPr/>
          <p:nvPr/>
        </p:nvSpPr>
        <p:spPr>
          <a:xfrm>
            <a:off x="7315200" y="3575431"/>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back on the shelf</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Paste, change, copy: the same three steps.</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9" cy="3584448"/>
        </p:xfrm>
        <a:graphic>
          <a:graphicData uri="http://schemas.openxmlformats.org/drawingml/2006/table">
            <a:tbl>
              <a:tblPr firstRow="0" bandRow="0"/>
              <a:tblGrid>
                <a:gridCol w="3291839"/>
                <a:gridCol w="731520"/>
                <a:gridCol w="4206240"/>
              </a:tblGrid>
              <a:tr h="512064">
                <a:tc>
                  <a:txBody>
                    <a:bodyPr wrap="square"/>
                    <a:lstStyle/>
                    <a:p>
                      <a:r>
                        <a:rPr sz="135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5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12064">
                <a:tc>
                  <a:txBody>
                    <a:bodyPr wrap="square"/>
                    <a:lstStyle/>
                    <a:p>
                      <a:r>
                        <a:rPr sz="1350" b="1" i="0">
                          <a:solidFill>
                            <a:srgbClr val="1F2933"/>
                          </a:solidFill>
                          <a:latin typeface="Calibri"/>
                        </a:rPr>
                        <a:t>f'{x=}' debug specifier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Prints the name and the value together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2064">
                <a:tc>
                  <a:txBody>
                    <a:bodyPr wrap="square"/>
                    <a:lstStyle/>
                    <a:p>
                      <a:r>
                        <a:rPr sz="1350" b="1" i="0">
                          <a:solidFill>
                            <a:srgbClr val="1F2933"/>
                          </a:solidFill>
                          <a:latin typeface="Calibri"/>
                        </a:rPr>
                        <a:t>removeprefix, removesuffix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Cut exact text, not a set of 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2064">
                <a:tc>
                  <a:txBody>
                    <a:bodyPr wrap="square"/>
                    <a:lstStyle/>
                    <a:p>
                      <a:r>
                        <a:rPr sz="1350" b="1" i="0">
                          <a:solidFill>
                            <a:srgbClr val="1F2933"/>
                          </a:solidFill>
                          <a:latin typeface="Calibri"/>
                        </a:rPr>
                        <a:t>f-string restrictions lifted (PEP 701)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5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 field may reuse the quote and hold a backslash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2064">
                <a:tc>
                  <a:txBody>
                    <a:bodyPr wrap="square"/>
                    <a:lstStyle/>
                    <a:p>
                      <a:r>
                        <a:rPr sz="1350" b="1" i="0">
                          <a:solidFill>
                            <a:srgbClr val="1F2933"/>
                          </a:solidFill>
                          <a:latin typeface="Calibri"/>
                        </a:rPr>
                        <a:t>Unknown escape such as \d warns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5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The backslash is kept, and a SyntaxWarning appears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2064">
                <a:tc>
                  <a:txBody>
                    <a:bodyPr wrap="square"/>
                    <a:lstStyle/>
                    <a:p>
                      <a:r>
                        <a:rPr sz="1350" b="1" i="0">
                          <a:solidFill>
                            <a:srgbClr val="1F2933"/>
                          </a:solidFill>
                          <a:latin typeface="Calibri"/>
                        </a:rPr>
                        <a:t>Template strings, t'...' (PEP 750)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5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 Template object to process; a SyntaxError in 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2064">
                <a:tc>
                  <a:txBody>
                    <a:bodyPr wrap="square"/>
                    <a:lstStyle/>
                    <a:p>
                      <a:r>
                        <a:rPr sz="1350" b="1" i="0">
                          <a:solidFill>
                            <a:srgbClr val="1F2933"/>
                          </a:solidFill>
                          <a:latin typeface="Calibri"/>
                        </a:rPr>
                        <a:t>UTF-8 mode by default (PEP 686)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50" b="0" i="0">
                          <a:solidFill>
                            <a:srgbClr val="1F2933"/>
                          </a:solidFill>
                          <a:latin typeface="Calibri"/>
                        </a:rPr>
                        <a:t>3.15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open() will no longer depend on the locale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Strings never change in place; every operation makes a new string or an answer.</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Quotes, escapes, raw and triple quotes decide which characters the literal holds.</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Indexes and slices read pieces; in and not in test for text inside text.</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f-strings put values into text; the specifier after the colon shapes them.</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Methods make, test or cut; characters are numbers; bytes depend on the encoding.</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String methods in this chapter, by what they give back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 string operation changes a string in place.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'a-b-c'.split('-')[::-1] give? Name the slice rule you used.</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Write one line that centres your name in 30 characters, with * as filler.</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'Hello'.upper() leave 'Hello' unchanged? What must you write to keep the result?</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Change the Pig Latin lambda so a word that starts with a vowel gets way, not yay.</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one line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97280"/>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115568"/>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Book: Automate the Boring Stuff, 3rd edition, chapter 8</a:t>
            </a:r>
          </a:p>
          <a:p>
            <a:r>
              <a:rPr sz="950" b="0" i="0">
                <a:solidFill>
                  <a:srgbClr val="0E7C86"/>
                </a:solidFill>
                <a:latin typeface="Calibri"/>
                <a:hlinkClick r:id="rId3"/>
              </a:rPr>
              <a:t>https://automatetheboringstuff.com/3e/chapter8.html</a:t>
            </a:r>
          </a:p>
        </p:txBody>
      </p:sp>
      <p:sp>
        <p:nvSpPr>
          <p:cNvPr id="7" name="card"/>
          <p:cNvSpPr/>
          <p:nvPr/>
        </p:nvSpPr>
        <p:spPr>
          <a:xfrm>
            <a:off x="365760" y="1700784"/>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719072"/>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Python documentation: string methods</a:t>
            </a:r>
          </a:p>
          <a:p>
            <a:r>
              <a:rPr sz="950" b="0" i="0">
                <a:solidFill>
                  <a:srgbClr val="0E7C86"/>
                </a:solidFill>
                <a:latin typeface="Calibri"/>
                <a:hlinkClick r:id="rId4"/>
              </a:rPr>
              <a:t>docs.python.org</a:t>
            </a:r>
          </a:p>
        </p:txBody>
      </p:sp>
      <p:sp>
        <p:nvSpPr>
          <p:cNvPr id="9" name="card"/>
          <p:cNvSpPr/>
          <p:nvPr/>
        </p:nvSpPr>
        <p:spPr>
          <a:xfrm>
            <a:off x="365760" y="2304288"/>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322576"/>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Python tutorial: text and strings</a:t>
            </a:r>
          </a:p>
          <a:p>
            <a:r>
              <a:rPr sz="950" b="0" i="0">
                <a:solidFill>
                  <a:srgbClr val="0E7C86"/>
                </a:solidFill>
                <a:latin typeface="Calibri"/>
                <a:hlinkClick r:id="rId5"/>
              </a:rPr>
              <a:t>https://docs.python.org/3/tutorial/introduction.html#text</a:t>
            </a:r>
          </a:p>
        </p:txBody>
      </p:sp>
      <p:sp>
        <p:nvSpPr>
          <p:cNvPr id="11" name="card"/>
          <p:cNvSpPr/>
          <p:nvPr/>
        </p:nvSpPr>
        <p:spPr>
          <a:xfrm>
            <a:off x="365760" y="2907791"/>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926079"/>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Format specification mini-language</a:t>
            </a:r>
          </a:p>
          <a:p>
            <a:r>
              <a:rPr sz="950" b="0" i="0">
                <a:solidFill>
                  <a:srgbClr val="0E7C86"/>
                </a:solidFill>
                <a:latin typeface="Calibri"/>
                <a:hlinkClick r:id="rId6"/>
              </a:rPr>
              <a:t>docs.python.org</a:t>
            </a:r>
          </a:p>
        </p:txBody>
      </p:sp>
      <p:sp>
        <p:nvSpPr>
          <p:cNvPr id="13" name="card"/>
          <p:cNvSpPr/>
          <p:nvPr/>
        </p:nvSpPr>
        <p:spPr>
          <a:xfrm>
            <a:off x="365760" y="3511296"/>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529584"/>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Unicode HOWTO</a:t>
            </a:r>
          </a:p>
          <a:p>
            <a:r>
              <a:rPr sz="950" b="0" i="0">
                <a:solidFill>
                  <a:srgbClr val="0E7C86"/>
                </a:solidFill>
                <a:latin typeface="Calibri"/>
                <a:hlinkClick r:id="rId7"/>
              </a:rPr>
              <a:t>https://docs.python.org/3/howto/unicode.html</a:t>
            </a:r>
          </a:p>
        </p:txBody>
      </p:sp>
      <p:sp>
        <p:nvSpPr>
          <p:cNvPr id="15" name="card"/>
          <p:cNvSpPr/>
          <p:nvPr/>
        </p:nvSpPr>
        <p:spPr>
          <a:xfrm>
            <a:off x="365760" y="4114800"/>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4133087"/>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PEP 498: Literal String Interpolation</a:t>
            </a:r>
          </a:p>
          <a:p>
            <a:r>
              <a:rPr sz="950" b="0" i="0">
                <a:solidFill>
                  <a:srgbClr val="0E7C86"/>
                </a:solidFill>
                <a:latin typeface="Calibri"/>
                <a:hlinkClick r:id="rId8"/>
              </a:rPr>
              <a:t>https://peps.python.org/pep-0498/</a:t>
            </a:r>
          </a:p>
        </p:txBody>
      </p:sp>
      <p:sp>
        <p:nvSpPr>
          <p:cNvPr id="17" name="card"/>
          <p:cNvSpPr/>
          <p:nvPr/>
        </p:nvSpPr>
        <p:spPr>
          <a:xfrm>
            <a:off x="4663440" y="1097280"/>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736592" y="1115568"/>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PEP 750: Template Strings</a:t>
            </a:r>
          </a:p>
          <a:p>
            <a:r>
              <a:rPr sz="950" b="0" i="0">
                <a:solidFill>
                  <a:srgbClr val="0E7C86"/>
                </a:solidFill>
                <a:latin typeface="Calibri"/>
                <a:hlinkClick r:id="rId9"/>
              </a:rPr>
              <a:t>https://peps.python.org/pep-0750/</a:t>
            </a:r>
          </a:p>
        </p:txBody>
      </p:sp>
      <p:sp>
        <p:nvSpPr>
          <p:cNvPr id="19" name="card"/>
          <p:cNvSpPr/>
          <p:nvPr/>
        </p:nvSpPr>
        <p:spPr>
          <a:xfrm>
            <a:off x="4663440" y="1700784"/>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719072"/>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Rob Pike: UTF-8 history</a:t>
            </a:r>
          </a:p>
          <a:p>
            <a:r>
              <a:rPr sz="950" b="0" i="0">
                <a:solidFill>
                  <a:srgbClr val="0E7C86"/>
                </a:solidFill>
                <a:latin typeface="Calibri"/>
                <a:hlinkClick r:id="rId10"/>
              </a:rPr>
              <a:t>https://doc.cat-v.org/bell_labs/utf-8_history</a:t>
            </a:r>
          </a:p>
        </p:txBody>
      </p:sp>
      <p:sp>
        <p:nvSpPr>
          <p:cNvPr id="21" name="card"/>
          <p:cNvSpPr/>
          <p:nvPr/>
        </p:nvSpPr>
        <p:spPr>
          <a:xfrm>
            <a:off x="4663440" y="2304288"/>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2322576"/>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Unicode Inc. press release, 1991</a:t>
            </a:r>
          </a:p>
          <a:p>
            <a:r>
              <a:rPr sz="950" b="0" i="0">
                <a:solidFill>
                  <a:srgbClr val="0E7C86"/>
                </a:solidFill>
                <a:latin typeface="Calibri"/>
                <a:hlinkClick r:id="rId11"/>
              </a:rPr>
              <a:t>https://www.unicode.org/history/first-pr.htm</a:t>
            </a:r>
          </a:p>
        </p:txBody>
      </p:sp>
      <p:sp>
        <p:nvSpPr>
          <p:cNvPr id="23" name="card"/>
          <p:cNvSpPr/>
          <p:nvPr/>
        </p:nvSpPr>
        <p:spPr>
          <a:xfrm>
            <a:off x="4663440" y="2907791"/>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926079"/>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Larry Tesler on Wikipedia</a:t>
            </a:r>
          </a:p>
          <a:p>
            <a:r>
              <a:rPr sz="950" b="0" i="0">
                <a:solidFill>
                  <a:srgbClr val="0E7C86"/>
                </a:solidFill>
                <a:latin typeface="Calibri"/>
                <a:hlinkClick r:id="rId12"/>
              </a:rPr>
              <a:t>https://en.wikipedia.org/wiki/Larry_Tesler</a:t>
            </a:r>
          </a:p>
        </p:txBody>
      </p:sp>
      <p:sp>
        <p:nvSpPr>
          <p:cNvPr id="25" name="card"/>
          <p:cNvSpPr/>
          <p:nvPr/>
        </p:nvSpPr>
        <p:spPr>
          <a:xfrm>
            <a:off x="4663440" y="3511296"/>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3529584"/>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Video: Characters, Symbols and the Unicode Miracle (Computerphile)</a:t>
            </a:r>
          </a:p>
          <a:p>
            <a:r>
              <a:rPr sz="950" b="0" i="0">
                <a:solidFill>
                  <a:srgbClr val="0E7C86"/>
                </a:solidFill>
                <a:latin typeface="Calibri"/>
                <a:hlinkClick r:id="rId13"/>
              </a:rPr>
              <a:t>https://www.youtube.com/watch?v=MijmeoH9LT4</a:t>
            </a:r>
          </a:p>
        </p:txBody>
      </p:sp>
      <p:sp>
        <p:nvSpPr>
          <p:cNvPr id="2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2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8: Strings and Text Editing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