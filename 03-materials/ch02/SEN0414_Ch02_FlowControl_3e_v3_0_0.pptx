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Chapter 1 computed values; chapter 2 lets programs choose between them. Today: the two-valued algebra, the if family, and the 2021 match statement.
FULL TEXT: course page,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parts, from Boole's algebra to honest errors - with whole programs and their transcripts verified off this very file.
ASK: Which part do you expect to be hardest - mark it now, check at the summary.
FULL TEXT: course page, chapter 2 - every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Flow control is the part of a program that decides which instructions run, in what order and how often. The textbook puts it plainly: based on how expressions evaluate, a program can decide to skip instructions, repeat them, or choose one of several instructions to run, and flow control statements decide which Python instructions to execute under which conditions (Sweigart, 2025).
FULL TEXT: course page, chapter 2 - FlowControl.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Flow control is the part of a program that decides which instructions run, in what order and how often. The textbook puts it plainly: based on how expressions evaluate, a program can decide to skip instructions, repeat them, or choose one of several instructions to run, and flow control statements decide which Python instructions to execute under which conditions (Sweigart, 2025).
FULL TEXT: course page, chapter 2 - FlowControl, BooleanOperation.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Chapter 1 introduced the value as a piece of data that a program can compute with, and it named three kinds of value: integers, floating-point numbers and strings. Chapter 2 adds a fourth kind, the Boolean value, which has only two members, True and False, and which answers a yes-or-no question (Sweigart, 2025).
FULL TEXT: course page, chapter 2 -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(1847 and 1854): A shoemaker's son from Lincoln taught himself mathematics, and in 'The Mathematical Analysis of Logic' (1847) and 'The Laws of Thought' (1854) showed that reasoning itself obeys algebra: statements as values, AND and OR as operations. He never saw a computer. A century later his algebra became the switching logic of every circuit, and Python names its True-and-False type bool after him - every condition on today's slides is Boole's arithmetic.
SOURCE: George Boole, 'The Mathematical Analysis of Logic' (1847) and 'An Investigation of the Laws of Thought' (1854); biography at en.wikipedia.org/wiki/George_Boole. Portrait: public domain, via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Chapter 1 introduced the value as a piece of data that a program can compute with, and it named three kinds of value: integers, floating-point numbers and strings. Chapter 2 adds a fourth kind, the Boolean value, which has only two members, True and False, and which answers a yes-or-no question (Sweigart, 2025).
ASK: Why is 1 == 1.0 True but '1' == 1 False?
FULL TEXT: course page, chapter 2 - Value,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Chapter 1 introduced the value as a piece of data that a program can compute with, and it named three kinds of value: integers, floating-point numbers and strings. Chapter 2 adds a fourth kind, the Boolean value, which has only two members, True and False, and which answers a yes-or-no question (Sweigart, 2025).
ASK: When would 'if x:' and 'if x != 0:' disagree? (think containers)
FULL TEXT: course page, chapter 2 -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Boolean operations combine truth values into new truth values. Python has three Boolean operators, and, or and not.
FULL TEXT: course page, chapter 2 - BooleanOperation.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Boolean operations combine truth values into new truth values. Python has three Boolean operators, and, or and not.
ASK: Rewrite 'x != 0 and 10 / x &gt; 1' with the operands swapped - what changes?
FULL TEXT: course page, chapter 2 - BooleanOperation.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Flow control is the part of a program that decides which instructions run, in what order and how often. The textbook puts it plainly: based on how expressions evaluate, a program can decide to skip instructions, repeat them, or choose one of several instructions to run, and flow control statements decide which Python instructions to execute under which conditions (Sweigart, 2025).
FULL TEXT: course page, chapter 2 - FlowControl.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(design decision of the late 1980s): Most languages mark blocks with braces and treat indentation as decoration; Python makes the indentation itself the block. The choice came from ABC, the teaching language Guido van Rossum worked on at CWI before Python, and the design FAQ still defends it: what you see is what the interpreter sees, so a program cannot look right and group wrong. The chapter's two indentation programs run the same lines indented two ways - and print different stories.
SOURCE: The Python design FAQ, 'Why does Python use indentation for grouping of statements?' (docs.python.org/3/faq/design.html); the ABC lineage per van Rossum's documented history of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Flow control is the part of a program that decides which instructions run, in what order and how often. The textbook puts it plainly: based on how expressions evaluate, a program can decide to skip instructions, repeat them, or choose one of several instructions to run, and flow control statements decide which Python instructions to execute under which conditions (Sweigart, 2025).
ASK: Move 'Access granted.' one level left - what changes in the transcript?
FULL TEXT: course page, chapter 2 - FlowControl.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Flow control is the part of a program that decides which instructions run, in what order and how often. The textbook puts it plainly: based on how expressions evaluate, a program can decide to skip instructions, repeat them, or choose one of several instructions to run, and flow control statements decide which Python instructions to execute under which conditions (Sweigart, 2025).
ASK: Swap the first two rungs of the ladder - which inputs now answer differently?
FULL TEXT: course page, chapter 2 - FlowControl.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Modern practice is the way Python programmers work today: the constructs that current Python offers beyond the textbook and the conventions that experienced developers follow when they write conditions. An advanced course teaches this practice next to the basics of the book, so that students do not have to unlearn habits later.
FULL TEXT: course page, chapter 2 - ModernPractice.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(accepted 2021-02; shipped 2021-10 in Python 3.10): For decades Python answered 'where is my switch statement?' with dictionaries and elif chains. In February 2021 the Steering Council accepted structural pattern matching - PEPs 634, 635 and 636 - and Python 3.10 shipped the match statement that October. It is more than a switch: patterns destructure data and bind names. The chapter's match programs - command words, status codes, captures, guards - run the real thing, and their transcripts are on these slides.
SOURCE: PEP 634/635/636 (structural pattern matching), accepted by the Python Steering Council in February 2021; first released in Python 3.10, October 2021. Tutorial: peps.python.org/pep-0636.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Flow control is the part of a program that decides which instructions run, in what order and how often. The textbook puts it plainly: based on how expressions evaluate, a program can decide to skip instructions, repeat them, or choose one of several instructions to run, and flow control statements decide which Python instructions to execute under which conditions (Sweigart, 2025).
ASK: Which elif ladder from earlier would you rewrite as a match - and which not?
FULL TEXT: course page, chapter 2 - FlowControl, ModernPractice.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Modern practice is the way Python programmers work today: the constructs that current Python offers beyond the textbook and the conventions that experienced developers follow when they write conditions. An advanced course teaches this practice next to the basics of the book, so that students do not have to unlearn habits later.
ASK: Why does the bare x := 3 refuse while (x := 3) works?
FULL TEXT: course page, chapter 2 - ModernPractice.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error report is what Python prints when it cannot carry out a line of a program. The report names the kind of error and gives a message about it, and for errors that happen while the program runs it also shows the lines through which execution arrived.
ASK: Which of the four can an if statement guard against - and which cannot?
FULL TEXT: course page, chapter 2 - ErrorReport.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lines, one per part; the agenda names the slides that prove each.
ASK: Which line would you defend first, and with which slide?
FULL TEXT: course page, chapter 2 - every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link is a source the chapter corpus cites and checked. PEP 636 is the gentlest tutorial ever attached to a PEP - read it with tonight's homework.
ASK: Find the PEP 8 rule these slides obeyed every time they tested emptiness.
FULL TEXT: course page, chapter 2 - ModernPractice.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claims, each carried by a program whose transcript you watched. Next week: loops - doing it again until it is done.
FULL TEXT: course page,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n.wikipedia.org/wiki/George_Boole" TargetMode="External"/><Relationship Id="rId1" Type="http://schemas.openxmlformats.org/officeDocument/2006/relationships/image" Target="../media/image-6-1.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cs.python.org/3/faq/design.html#why-does-python-use-indentation-for-grouping-of-statements"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peps.python.org/pep-0636/"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automatetheboringstuff.com/3e/chapter2.html" TargetMode="External"/><Relationship Id="rId2" Type="http://schemas.openxmlformats.org/officeDocument/2006/relationships/hyperlink" Target="https://docs.python.org/3/tutorial/controlflow.html" TargetMode="External"/><Relationship Id="rId3" Type="http://schemas.openxmlformats.org/officeDocument/2006/relationships/hyperlink" Target="https://docs.python.org/3/library/stdtypes.html" TargetMode="External"/><Relationship Id="rId4" Type="http://schemas.openxmlformats.org/officeDocument/2006/relationships/hyperlink" Target="https://docs.python.org/3/reference/compound_stmts.html" TargetMode="External"/><Relationship Id="rId5" Type="http://schemas.openxmlformats.org/officeDocument/2006/relationships/hyperlink" Target="https://peps.python.org/pep-0636/" TargetMode="External"/><Relationship Id="rId6" Type="http://schemas.openxmlformats.org/officeDocument/2006/relationships/hyperlink" Target="https://peps.python.org/pep-0572/" TargetMode="External"/><Relationship Id="rId7" Type="http://schemas.openxmlformats.org/officeDocument/2006/relationships/hyperlink" Target="https://peps.python.org/pep-0008/" TargetMode="External"/><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548640" y="960120"/>
            <a:ext cx="731520" cy="731520"/>
          </a:xfrm>
          <a:prstGeom prst="roundRect">
            <a:avLst>
              <a:gd name="adj" fmla="val 12500"/>
            </a:avLst>
          </a:prstGeom>
          <a:solidFill>
            <a:srgbClr val="2F6D62"/>
          </a:solidFill>
          <a:ln w="19050">
            <a:solidFill>
              <a:srgbClr val="D97A14"/>
            </a:solidFill>
            <a:prstDash val="solid"/>
          </a:ln>
        </p:spPr>
      </p:sp>
      <p:sp>
        <p:nvSpPr>
          <p:cNvPr id="3" name="Shape 1"/>
          <p:cNvSpPr/>
          <p:nvPr/>
        </p:nvSpPr>
        <p:spPr>
          <a:xfrm>
            <a:off x="1280160" y="1325880"/>
            <a:ext cx="228600" cy="0"/>
          </a:xfrm>
          <a:prstGeom prst="line">
            <a:avLst/>
          </a:prstGeom>
          <a:noFill/>
          <a:ln w="19050">
            <a:solidFill>
              <a:srgbClr val="D97A14"/>
            </a:solidFill>
            <a:prstDash val="solid"/>
          </a:ln>
        </p:spPr>
      </p:sp>
      <p:sp>
        <p:nvSpPr>
          <p:cNvPr id="4" name="Shape 2"/>
          <p:cNvSpPr/>
          <p:nvPr/>
        </p:nvSpPr>
        <p:spPr>
          <a:xfrm>
            <a:off x="1508760" y="960120"/>
            <a:ext cx="731520" cy="731520"/>
          </a:xfrm>
          <a:prstGeom prst="roundRect">
            <a:avLst>
              <a:gd name="adj" fmla="val 12500"/>
            </a:avLst>
          </a:prstGeom>
          <a:solidFill>
            <a:srgbClr val="2F6D62"/>
          </a:solidFill>
          <a:ln w="19050">
            <a:solidFill>
              <a:srgbClr val="D97A14"/>
            </a:solidFill>
            <a:prstDash val="solid"/>
          </a:ln>
        </p:spPr>
      </p:sp>
      <p:sp>
        <p:nvSpPr>
          <p:cNvPr id="5" name="Shape 3"/>
          <p:cNvSpPr/>
          <p:nvPr/>
        </p:nvSpPr>
        <p:spPr>
          <a:xfrm>
            <a:off x="2240280" y="1325880"/>
            <a:ext cx="228600" cy="0"/>
          </a:xfrm>
          <a:prstGeom prst="line">
            <a:avLst/>
          </a:prstGeom>
          <a:noFill/>
          <a:ln w="19050">
            <a:solidFill>
              <a:srgbClr val="D97A14"/>
            </a:solidFill>
            <a:prstDash val="solid"/>
          </a:ln>
        </p:spPr>
      </p:sp>
      <p:sp>
        <p:nvSpPr>
          <p:cNvPr id="6" name="Shape 4"/>
          <p:cNvSpPr/>
          <p:nvPr/>
        </p:nvSpPr>
        <p:spPr>
          <a:xfrm>
            <a:off x="2468880" y="960120"/>
            <a:ext cx="731520" cy="731520"/>
          </a:xfrm>
          <a:prstGeom prst="roundRect">
            <a:avLst>
              <a:gd name="adj" fmla="val 12500"/>
            </a:avLst>
          </a:prstGeom>
          <a:solidFill>
            <a:srgbClr val="D97A14"/>
          </a:solidFill>
          <a:ln w="19050">
            <a:solidFill>
              <a:srgbClr val="D97A14"/>
            </a:solidFill>
            <a:prstDash val="solid"/>
          </a:ln>
        </p:spPr>
      </p:sp>
      <p:sp>
        <p:nvSpPr>
          <p:cNvPr id="7" name="Text 5"/>
          <p:cNvSpPr txBox="1"/>
          <p:nvPr/>
        </p:nvSpPr>
        <p:spPr>
          <a:xfrm>
            <a:off x="2468880" y="96012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&gt;&gt;&gt;</a:t>
            </a:r>
            <a:endParaRPr lang="en-US" sz="2000" dirty="0"/>
          </a:p>
        </p:txBody>
      </p:sp>
      <p:sp>
        <p:nvSpPr>
          <p:cNvPr id="8" name="Text 6"/>
          <p:cNvSpPr txBox="1"/>
          <p:nvPr/>
        </p:nvSpPr>
        <p:spPr>
          <a:xfrm>
            <a:off x="548640" y="2011680"/>
            <a:ext cx="8046720" cy="731520"/>
          </a:xfrm>
          <a:prstGeom prst="rect">
            <a:avLst/>
          </a:prstGeom>
          <a:noFill/>
          <a:ln/>
        </p:spPr>
        <p:txBody>
          <a:bodyPr wrap="square" lIns="0" tIns="0" rIns="0" bIns="0" rtlCol="0" anchor="ctr"/>
          <a:lstStyle/>
          <a:p>
            <a:pPr indent="0" marL="0">
              <a:buNone/>
            </a:pPr>
            <a:r>
              <a:rPr lang="en-US" sz="3600" b="1" dirty="0">
                <a:solidFill>
                  <a:srgbClr val="2B2622"/>
                </a:solidFill>
                <a:latin typeface="Cambria" pitchFamily="34" charset="0"/>
                <a:ea typeface="Cambria" pitchFamily="34" charset="-122"/>
                <a:cs typeface="Cambria" pitchFamily="34" charset="-120"/>
              </a:rPr>
              <a:t>Chapter 2: Flow Control</a:t>
            </a:r>
            <a:endParaRPr lang="en-US" sz="3600" dirty="0"/>
          </a:p>
        </p:txBody>
      </p:sp>
      <p:sp>
        <p:nvSpPr>
          <p:cNvPr id="9" name="Text 7"/>
          <p:cNvSpPr txBox="1"/>
          <p:nvPr/>
        </p:nvSpPr>
        <p:spPr>
          <a:xfrm>
            <a:off x="548640" y="2743200"/>
            <a:ext cx="8046720" cy="640080"/>
          </a:xfrm>
          <a:prstGeom prst="rect">
            <a:avLst/>
          </a:prstGeom>
          <a:noFill/>
          <a:ln/>
        </p:spPr>
        <p:txBody>
          <a:bodyPr wrap="square" lIns="0" tIns="0" rIns="0" bIns="0" rtlCol="0" anchor="t"/>
          <a:lstStyle/>
          <a:p>
            <a:pPr indent="0" marL="0">
              <a:buNone/>
            </a:pPr>
            <a:r>
              <a:rPr lang="en-US" sz="1600" i="1" dirty="0">
                <a:solidFill>
                  <a:srgbClr val="2F6D62"/>
                </a:solidFill>
                <a:latin typeface="Calibri" pitchFamily="34" charset="0"/>
                <a:ea typeface="Calibri" pitchFamily="34" charset="-122"/>
                <a:cs typeface="Calibri" pitchFamily="34" charset="-120"/>
              </a:rPr>
              <a:t>Booleans, branches, and the programs that finally make decisions</a:t>
            </a:r>
            <a:endParaRPr lang="en-US" sz="1600" dirty="0"/>
          </a:p>
        </p:txBody>
      </p:sp>
      <p:sp>
        <p:nvSpPr>
          <p:cNvPr id="10" name="Text 8"/>
          <p:cNvSpPr txBox="1"/>
          <p:nvPr/>
        </p:nvSpPr>
        <p:spPr>
          <a:xfrm>
            <a:off x="548640" y="4224528"/>
            <a:ext cx="8046720" cy="411480"/>
          </a:xfrm>
          <a:prstGeom prst="rect">
            <a:avLst/>
          </a:prstGeom>
          <a:noFill/>
          <a:ln/>
        </p:spPr>
        <p:txBody>
          <a:bodyPr wrap="square" lIns="0" tIns="0" rIns="0" bIns="0" rtlCol="0" anchor="ctr"/>
          <a:lstStyle/>
          <a:p>
            <a:pPr indent="0" marL="0">
              <a:buNone/>
            </a:pPr>
            <a:r>
              <a:rPr lang="en-US" sz="1200" dirty="0">
                <a:solidFill>
                  <a:srgbClr val="6E655C"/>
                </a:solidFill>
                <a:latin typeface="Calibri" pitchFamily="34" charset="0"/>
                <a:ea typeface="Calibri" pitchFamily="34" charset="-122"/>
                <a:cs typeface="Calibri" pitchFamily="34" charset="-120"/>
              </a:rPr>
              <a:t>SEN0414 Advanced Programming · Fall 2026 · Yusuf Altunel, PhD · İstanbul Kültür University</a:t>
            </a:r>
            <a:endParaRPr lang="en-US" sz="1200" dirty="0"/>
          </a:p>
        </p:txBody>
      </p:sp>
      <p:sp>
        <p:nvSpPr>
          <p:cNvPr id="11" name="Shape 9"/>
          <p:cNvSpPr/>
          <p:nvPr/>
        </p:nvSpPr>
        <p:spPr>
          <a:xfrm>
            <a:off x="5486400" y="1188720"/>
            <a:ext cx="3200400" cy="1554480"/>
          </a:xfrm>
          <a:prstGeom prst="roundRect">
            <a:avLst>
              <a:gd name="adj" fmla="val 5882"/>
            </a:avLst>
          </a:prstGeom>
          <a:solidFill>
            <a:srgbClr val="23272E"/>
          </a:solidFill>
          <a:ln w="12700">
            <a:solidFill>
              <a:srgbClr val="23272E"/>
            </a:solidFill>
            <a:prstDash val="solid"/>
          </a:ln>
        </p:spPr>
      </p:sp>
      <p:sp>
        <p:nvSpPr>
          <p:cNvPr id="12" name="Text 10"/>
          <p:cNvSpPr txBox="1"/>
          <p:nvPr/>
        </p:nvSpPr>
        <p:spPr>
          <a:xfrm>
            <a:off x="5669280" y="1307592"/>
            <a:ext cx="2834640" cy="1316736"/>
          </a:xfrm>
          <a:prstGeom prst="rect">
            <a:avLst/>
          </a:prstGeom>
          <a:noFill/>
          <a:ln/>
        </p:spPr>
        <p:txBody>
          <a:bodyPr wrap="square" lIns="0" tIns="0" rIns="0" bIns="0" rtlCol="0" anchor="t"/>
          <a:lstStyle/>
          <a:p>
            <a:pPr indent="0" marL="0">
              <a:buNone/>
            </a:pPr>
            <a:r>
              <a:rPr lang="en-US" sz="1200" b="1" dirty="0">
                <a:solidFill>
                  <a:srgbClr val="D97A14"/>
                </a:solidFill>
                <a:latin typeface="Courier New" pitchFamily="34" charset="0"/>
                <a:ea typeface="Courier New" pitchFamily="34" charset="-122"/>
                <a:cs typeface="Courier New" pitchFamily="34" charset="-120"/>
              </a:rPr>
              <a:t>&gt;&gt;&gt; </a:t>
            </a:r>
            <a:pPr indent="0" marL="0">
              <a:buNone/>
            </a:pPr>
            <a:r>
              <a:rPr lang="en-US" sz="1200" dirty="0">
                <a:solidFill>
                  <a:srgbClr val="E6EDF3"/>
                </a:solidFill>
                <a:latin typeface="Courier New" pitchFamily="34" charset="0"/>
                <a:ea typeface="Courier New" pitchFamily="34" charset="-122"/>
                <a:cs typeface="Courier New" pitchFamily="34" charset="-120"/>
              </a:rPr>
              <a:t>2 + 2 == 4</a:t>
            </a:r>
            <a:endParaRPr lang="en-US" sz="1200" dirty="0"/>
          </a:p>
          <a:p>
            <a:pPr indent="0" marL="0">
              <a:buNone/>
            </a:pPr>
            <a:r>
              <a:rPr lang="en-US" sz="1200" dirty="0">
                <a:solidFill>
                  <a:srgbClr val="7EE787"/>
                </a:solidFill>
                <a:latin typeface="Courier New" pitchFamily="34" charset="0"/>
                <a:ea typeface="Courier New" pitchFamily="34" charset="-122"/>
                <a:cs typeface="Courier New" pitchFamily="34" charset="-120"/>
              </a:rPr>
              <a:t>True</a:t>
            </a:r>
            <a:endParaRPr lang="en-US" sz="1200" dirty="0"/>
          </a:p>
          <a:p>
            <a:pPr indent="0" marL="0">
              <a:buNone/>
            </a:pPr>
            <a:r>
              <a:rPr lang="en-US" sz="1200" b="1" dirty="0">
                <a:solidFill>
                  <a:srgbClr val="D97A14"/>
                </a:solidFill>
                <a:latin typeface="Courier New" pitchFamily="34" charset="0"/>
                <a:ea typeface="Courier New" pitchFamily="34" charset="-122"/>
                <a:cs typeface="Courier New" pitchFamily="34" charset="-120"/>
              </a:rPr>
              <a:t>&gt;&gt;&gt; </a:t>
            </a:r>
            <a:pPr indent="0" marL="0">
              <a:buNone/>
            </a:pPr>
            <a:r>
              <a:rPr lang="en-US" sz="1200" dirty="0">
                <a:solidFill>
                  <a:srgbClr val="E6EDF3"/>
                </a:solidFill>
                <a:latin typeface="Courier New" pitchFamily="34" charset="0"/>
                <a:ea typeface="Courier New" pitchFamily="34" charset="-122"/>
                <a:cs typeface="Courier New" pitchFamily="34" charset="-120"/>
              </a:rPr>
              <a:t>bool('')</a:t>
            </a:r>
            <a:endParaRPr lang="en-US" sz="1200" dirty="0"/>
          </a:p>
          <a:p>
            <a:pPr indent="0" marL="0">
              <a:buNone/>
            </a:pPr>
            <a:r>
              <a:rPr lang="en-US" sz="1200" dirty="0">
                <a:solidFill>
                  <a:srgbClr val="7EE787"/>
                </a:solidFill>
                <a:latin typeface="Courier New" pitchFamily="34" charset="0"/>
                <a:ea typeface="Courier New" pitchFamily="34" charset="-122"/>
                <a:cs typeface="Courier New" pitchFamily="34" charset="-120"/>
              </a:rPr>
              <a:t>False</a:t>
            </a:r>
            <a:endParaRPr lang="en-US" sz="1200" dirty="0"/>
          </a:p>
        </p:txBody>
      </p:sp>
      <p:sp>
        <p:nvSpPr>
          <p:cNvPr id="13" name="Text 11"/>
          <p:cNvSpPr txBox="1"/>
          <p:nvPr/>
        </p:nvSpPr>
        <p:spPr>
          <a:xfrm>
            <a:off x="5486400" y="2761488"/>
            <a:ext cx="320040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Today's route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Five parts; every number is a slide you can jump to</a:t>
            </a:r>
            <a:endParaRPr lang="en-US" sz="1300" dirty="0"/>
          </a:p>
        </p:txBody>
      </p:sp>
      <p:sp>
        <p:nvSpPr>
          <p:cNvPr id="6" name="Shape 4"/>
          <p:cNvSpPr/>
          <p:nvPr/>
        </p:nvSpPr>
        <p:spPr>
          <a:xfrm>
            <a:off x="457200" y="140817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081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371600"/>
            <a:ext cx="5193792" cy="585216"/>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Questions and the chapter map  (slides 3-4)</a:t>
            </a:r>
            <a:endParaRPr lang="en-US" sz="1250" dirty="0"/>
          </a:p>
        </p:txBody>
      </p:sp>
      <p:sp>
        <p:nvSpPr>
          <p:cNvPr id="9" name="Shape 7"/>
          <p:cNvSpPr/>
          <p:nvPr/>
        </p:nvSpPr>
        <p:spPr>
          <a:xfrm>
            <a:off x="457200" y="2029968"/>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299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993392"/>
            <a:ext cx="5193792" cy="585216"/>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Booleans and truthiness - the two-valued algebra  (slides 5-8)</a:t>
            </a:r>
            <a:endParaRPr lang="en-US" sz="1250" dirty="0"/>
          </a:p>
        </p:txBody>
      </p:sp>
      <p:sp>
        <p:nvSpPr>
          <p:cNvPr id="12" name="Shape 10"/>
          <p:cNvSpPr/>
          <p:nvPr/>
        </p:nvSpPr>
        <p:spPr>
          <a:xfrm>
            <a:off x="457200" y="2651760"/>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65176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615184"/>
            <a:ext cx="5193792" cy="585216"/>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Combining conditions - and, or, not, laziness  (slides 9-10)</a:t>
            </a:r>
            <a:endParaRPr lang="en-US" sz="1250" dirty="0"/>
          </a:p>
        </p:txBody>
      </p:sp>
      <p:sp>
        <p:nvSpPr>
          <p:cNvPr id="15" name="Shape 13"/>
          <p:cNvSpPr/>
          <p:nvPr/>
        </p:nvSpPr>
        <p:spPr>
          <a:xfrm>
            <a:off x="457200" y="3273552"/>
            <a:ext cx="402336" cy="402336"/>
          </a:xfrm>
          <a:prstGeom prst="ellipse">
            <a:avLst/>
          </a:prstGeom>
          <a:solidFill>
            <a:srgbClr val="D97A14"/>
          </a:solidFill>
          <a:ln w="12700">
            <a:solidFill>
              <a:srgbClr val="D97A14"/>
            </a:solidFill>
            <a:prstDash val="solid"/>
          </a:ln>
        </p:spPr>
      </p:sp>
      <p:sp>
        <p:nvSpPr>
          <p:cNvPr id="16" name="Text 14"/>
          <p:cNvSpPr txBox="1"/>
          <p:nvPr/>
        </p:nvSpPr>
        <p:spPr>
          <a:xfrm>
            <a:off x="457200" y="327355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3236976"/>
            <a:ext cx="5193792" cy="585216"/>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Branching - if, elif, and the indentation  (slides 11-14)</a:t>
            </a:r>
            <a:endParaRPr lang="en-US" sz="1250" dirty="0"/>
          </a:p>
        </p:txBody>
      </p:sp>
      <p:sp>
        <p:nvSpPr>
          <p:cNvPr id="18" name="Shape 16"/>
          <p:cNvSpPr/>
          <p:nvPr/>
        </p:nvSpPr>
        <p:spPr>
          <a:xfrm>
            <a:off x="457200" y="3895344"/>
            <a:ext cx="402336" cy="402336"/>
          </a:xfrm>
          <a:prstGeom prst="ellipse">
            <a:avLst/>
          </a:prstGeom>
          <a:solidFill>
            <a:srgbClr val="D97A14"/>
          </a:solidFill>
          <a:ln w="12700">
            <a:solidFill>
              <a:srgbClr val="D97A14"/>
            </a:solidFill>
            <a:prstDash val="solid"/>
          </a:ln>
        </p:spPr>
      </p:sp>
      <p:sp>
        <p:nvSpPr>
          <p:cNvPr id="19" name="Text 17"/>
          <p:cNvSpPr txBox="1"/>
          <p:nvPr/>
        </p:nvSpPr>
        <p:spPr>
          <a:xfrm>
            <a:off x="457200" y="389534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024128" y="3858768"/>
            <a:ext cx="5193792" cy="585216"/>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Patterns, style, errors, summary, resources  (slides 15-22)</a:t>
            </a:r>
            <a:endParaRPr lang="en-US" sz="1250" dirty="0"/>
          </a:p>
        </p:txBody>
      </p:sp>
      <p:sp>
        <p:nvSpPr>
          <p:cNvPr id="21" name="Shape 19"/>
          <p:cNvSpPr/>
          <p:nvPr/>
        </p:nvSpPr>
        <p:spPr>
          <a:xfrm>
            <a:off x="6446520" y="1371600"/>
            <a:ext cx="2240280" cy="950976"/>
          </a:xfrm>
          <a:prstGeom prst="roundRect">
            <a:avLst>
              <a:gd name="adj" fmla="val 7692"/>
            </a:avLst>
          </a:prstGeom>
          <a:solidFill>
            <a:srgbClr val="F2ECE1"/>
          </a:solidFill>
          <a:ln w="12700">
            <a:solidFill>
              <a:srgbClr val="DFD6C7"/>
            </a:solidFill>
            <a:prstDash val="solid"/>
          </a:ln>
        </p:spPr>
      </p:sp>
      <p:sp>
        <p:nvSpPr>
          <p:cNvPr id="22" name="Text 20"/>
          <p:cNvSpPr txBox="1"/>
          <p:nvPr/>
        </p:nvSpPr>
        <p:spPr>
          <a:xfrm>
            <a:off x="6556248" y="1408176"/>
            <a:ext cx="2020824" cy="494508"/>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22</a:t>
            </a:r>
            <a:endParaRPr lang="en-US" sz="2600" dirty="0"/>
          </a:p>
        </p:txBody>
      </p:sp>
      <p:sp>
        <p:nvSpPr>
          <p:cNvPr id="23" name="Text 21"/>
          <p:cNvSpPr txBox="1"/>
          <p:nvPr/>
        </p:nvSpPr>
        <p:spPr>
          <a:xfrm>
            <a:off x="6556248" y="1866108"/>
            <a:ext cx="2020824" cy="418429"/>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slides, numbered bottom-right</a:t>
            </a:r>
            <a:endParaRPr lang="en-US" sz="1100" dirty="0"/>
          </a:p>
        </p:txBody>
      </p:sp>
      <p:sp>
        <p:nvSpPr>
          <p:cNvPr id="24" name="Shape 22"/>
          <p:cNvSpPr/>
          <p:nvPr/>
        </p:nvSpPr>
        <p:spPr>
          <a:xfrm>
            <a:off x="6446520" y="2450592"/>
            <a:ext cx="2240280" cy="950976"/>
          </a:xfrm>
          <a:prstGeom prst="roundRect">
            <a:avLst>
              <a:gd name="adj" fmla="val 7692"/>
            </a:avLst>
          </a:prstGeom>
          <a:solidFill>
            <a:srgbClr val="F2ECE1"/>
          </a:solidFill>
          <a:ln w="12700">
            <a:solidFill>
              <a:srgbClr val="DFD6C7"/>
            </a:solidFill>
            <a:prstDash val="solid"/>
          </a:ln>
        </p:spPr>
      </p:sp>
      <p:sp>
        <p:nvSpPr>
          <p:cNvPr id="25" name="Text 23"/>
          <p:cNvSpPr txBox="1"/>
          <p:nvPr/>
        </p:nvSpPr>
        <p:spPr>
          <a:xfrm>
            <a:off x="6556248" y="2487168"/>
            <a:ext cx="2020824" cy="494508"/>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3</a:t>
            </a:r>
            <a:endParaRPr lang="en-US" sz="2600" dirty="0"/>
          </a:p>
        </p:txBody>
      </p:sp>
      <p:sp>
        <p:nvSpPr>
          <p:cNvPr id="26" name="Text 24"/>
          <p:cNvSpPr txBox="1"/>
          <p:nvPr/>
        </p:nvSpPr>
        <p:spPr>
          <a:xfrm>
            <a:off x="6556248" y="2945100"/>
            <a:ext cx="2020824" cy="418429"/>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true stories, each with WHO / WHERE / WHEN / READ</a:t>
            </a:r>
            <a:endParaRPr lang="en-US" sz="1100" dirty="0"/>
          </a:p>
        </p:txBody>
      </p:sp>
      <p:sp>
        <p:nvSpPr>
          <p:cNvPr id="27" name="Shape 25"/>
          <p:cNvSpPr/>
          <p:nvPr/>
        </p:nvSpPr>
        <p:spPr>
          <a:xfrm>
            <a:off x="6446520" y="3529584"/>
            <a:ext cx="2240280" cy="950976"/>
          </a:xfrm>
          <a:prstGeom prst="roundRect">
            <a:avLst>
              <a:gd name="adj" fmla="val 7692"/>
            </a:avLst>
          </a:prstGeom>
          <a:solidFill>
            <a:srgbClr val="F2ECE1"/>
          </a:solidFill>
          <a:ln w="12700">
            <a:solidFill>
              <a:srgbClr val="DFD6C7"/>
            </a:solidFill>
            <a:prstDash val="solid"/>
          </a:ln>
        </p:spPr>
      </p:sp>
      <p:sp>
        <p:nvSpPr>
          <p:cNvPr id="28" name="Text 26"/>
          <p:cNvSpPr txBox="1"/>
          <p:nvPr/>
        </p:nvSpPr>
        <p:spPr>
          <a:xfrm>
            <a:off x="6556248" y="3566160"/>
            <a:ext cx="2020824" cy="494508"/>
          </a:xfrm>
          <a:prstGeom prst="rect">
            <a:avLst/>
          </a:prstGeom>
          <a:noFill/>
          <a:ln/>
        </p:spPr>
        <p:txBody>
          <a:bodyPr wrap="square" lIns="0" tIns="0" rIns="0" bIns="0" rtlCol="0" anchor="ctr"/>
          <a:lstStyle/>
          <a:p>
            <a:pPr indent="0" marL="0">
              <a:buNone/>
            </a:pPr>
            <a:r>
              <a:rPr lang="en-US" sz="2600" b="1" dirty="0">
                <a:solidFill>
                  <a:srgbClr val="D97A14"/>
                </a:solidFill>
                <a:latin typeface="Cambria" pitchFamily="34" charset="0"/>
                <a:ea typeface="Cambria" pitchFamily="34" charset="-122"/>
                <a:cs typeface="Cambria" pitchFamily="34" charset="-120"/>
              </a:rPr>
              <a:t>22</a:t>
            </a:r>
            <a:endParaRPr lang="en-US" sz="2600" dirty="0"/>
          </a:p>
        </p:txBody>
      </p:sp>
      <p:sp>
        <p:nvSpPr>
          <p:cNvPr id="29" name="Text 27"/>
          <p:cNvSpPr txBox="1"/>
          <p:nvPr/>
        </p:nvSpPr>
        <p:spPr>
          <a:xfrm>
            <a:off x="6556248" y="4024092"/>
            <a:ext cx="2020824" cy="418429"/>
          </a:xfrm>
          <a:prstGeom prst="rect">
            <a:avLst/>
          </a:prstGeom>
          <a:noFill/>
          <a:ln/>
        </p:spPr>
        <p:txBody>
          <a:bodyPr wrap="square" lIns="0" tIns="0" rIns="0" bIns="0" rtlCol="0" anchor="t"/>
          <a:lstStyle/>
          <a:p>
            <a:pPr indent="0" marL="0">
              <a:buNone/>
            </a:pPr>
            <a:r>
              <a:rPr lang="en-US" sz="1100" dirty="0">
                <a:solidFill>
                  <a:srgbClr val="6E655C"/>
                </a:solidFill>
                <a:latin typeface="Calibri" pitchFamily="34" charset="0"/>
                <a:ea typeface="Calibri" pitchFamily="34" charset="-122"/>
                <a:cs typeface="Calibri" pitchFamily="34" charset="-120"/>
              </a:rPr>
              <a:t>consoles and whole programs, run live</a:t>
            </a:r>
            <a:endParaRPr lang="en-US" sz="1100" dirty="0"/>
          </a:p>
        </p:txBody>
      </p:sp>
      <p:sp>
        <p:nvSpPr>
          <p:cNvPr id="30" name="Shape 28"/>
          <p:cNvSpPr/>
          <p:nvPr/>
        </p:nvSpPr>
        <p:spPr>
          <a:xfrm>
            <a:off x="457200" y="4636008"/>
            <a:ext cx="91440" cy="310896"/>
          </a:xfrm>
          <a:prstGeom prst="rect">
            <a:avLst/>
          </a:prstGeom>
          <a:solidFill>
            <a:srgbClr val="D97A14"/>
          </a:solidFill>
          <a:ln w="12700">
            <a:solidFill>
              <a:srgbClr val="D97A14"/>
            </a:solidFill>
            <a:prstDash val="solid"/>
          </a:ln>
        </p:spPr>
      </p:sp>
      <p:sp>
        <p:nvSpPr>
          <p:cNvPr id="31" name="Text 29"/>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Five parts - and every transcript on screen really printed</a:t>
            </a:r>
            <a:endParaRPr lang="en-US" sz="1350" dirty="0"/>
          </a:p>
        </p:txBody>
      </p:sp>
      <p:sp>
        <p:nvSpPr>
          <p:cNvPr id="32" name="Text 30"/>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 / 22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questions this chapter answers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Its own competency questions - we return to each</a:t>
            </a:r>
            <a:endParaRPr lang="en-US" sz="1300" dirty="0"/>
          </a:p>
        </p:txBody>
      </p:sp>
      <p:sp>
        <p:nvSpPr>
          <p:cNvPr id="6" name="Shape 4"/>
          <p:cNvSpPr/>
          <p:nvPr/>
        </p:nvSpPr>
        <p:spPr>
          <a:xfrm>
            <a:off x="457200" y="140817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081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371600"/>
            <a:ext cx="7662672" cy="621792"/>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Which constructs decide which block runs, and on what kind of value?</a:t>
            </a:r>
            <a:endParaRPr lang="en-US" sz="1300" dirty="0"/>
          </a:p>
        </p:txBody>
      </p:sp>
      <p:sp>
        <p:nvSpPr>
          <p:cNvPr id="9" name="Shape 7"/>
          <p:cNvSpPr/>
          <p:nvPr/>
        </p:nvSpPr>
        <p:spPr>
          <a:xfrm>
            <a:off x="457200" y="2066544"/>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6654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2029968"/>
            <a:ext cx="7662672" cy="621792"/>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Which concepts reach beyond the 3rd edition into current Python, and on what source?</a:t>
            </a:r>
            <a:endParaRPr lang="en-US" sz="1300" dirty="0"/>
          </a:p>
        </p:txBody>
      </p:sp>
      <p:sp>
        <p:nvSpPr>
          <p:cNvPr id="12" name="Shape 10"/>
          <p:cNvSpPr/>
          <p:nvPr/>
        </p:nvSpPr>
        <p:spPr>
          <a:xfrm>
            <a:off x="457200" y="2724912"/>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724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688336"/>
            <a:ext cx="7662672" cy="621792"/>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Which errors can the chapter's conditions and programs raise, and what does each message say?</a:t>
            </a:r>
            <a:endParaRPr lang="en-US" sz="1300" dirty="0"/>
          </a:p>
        </p:txBody>
      </p:sp>
      <p:sp>
        <p:nvSpPr>
          <p:cNvPr id="15" name="Shape 13"/>
          <p:cNvSpPr/>
          <p:nvPr/>
        </p:nvSpPr>
        <p:spPr>
          <a:xfrm>
            <a:off x="457200" y="3383280"/>
            <a:ext cx="402336" cy="402336"/>
          </a:xfrm>
          <a:prstGeom prst="ellipse">
            <a:avLst/>
          </a:prstGeom>
          <a:solidFill>
            <a:srgbClr val="D97A14"/>
          </a:solidFill>
          <a:ln w="12700">
            <a:solidFill>
              <a:srgbClr val="D97A14"/>
            </a:solidFill>
            <a:prstDash val="solid"/>
          </a:ln>
        </p:spPr>
      </p:sp>
      <p:sp>
        <p:nvSpPr>
          <p:cNvPr id="16" name="Text 14"/>
          <p:cNvSpPr txBox="1"/>
          <p:nvPr/>
        </p:nvSpPr>
        <p:spPr>
          <a:xfrm>
            <a:off x="457200" y="33832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3346704"/>
            <a:ext cx="7662672" cy="621792"/>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Which terms do the explanations of this chapter rely on, and is each one a concept of this chapter or of chapter 1?</a:t>
            </a:r>
            <a:endParaRPr lang="en-US" sz="1300" dirty="0"/>
          </a:p>
        </p:txBody>
      </p:sp>
      <p:sp>
        <p:nvSpPr>
          <p:cNvPr id="18" name="Shape 16"/>
          <p:cNvSpPr/>
          <p:nvPr/>
        </p:nvSpPr>
        <p:spPr>
          <a:xfrm>
            <a:off x="457200" y="3931920"/>
            <a:ext cx="2487168" cy="420624"/>
          </a:xfrm>
          <a:prstGeom prst="roundRect">
            <a:avLst>
              <a:gd name="adj" fmla="val 50000"/>
            </a:avLst>
          </a:prstGeom>
          <a:solidFill>
            <a:srgbClr val="F2ECE1"/>
          </a:solidFill>
          <a:ln w="12700">
            <a:solidFill>
              <a:srgbClr val="D97A14"/>
            </a:solidFill>
            <a:prstDash val="solid"/>
          </a:ln>
        </p:spPr>
      </p:sp>
      <p:sp>
        <p:nvSpPr>
          <p:cNvPr id="19" name="Text 17"/>
          <p:cNvSpPr txBox="1"/>
          <p:nvPr/>
        </p:nvSpPr>
        <p:spPr>
          <a:xfrm>
            <a:off x="457200" y="3931920"/>
            <a:ext cx="2487168" cy="420624"/>
          </a:xfrm>
          <a:prstGeom prst="rect">
            <a:avLst/>
          </a:prstGeom>
          <a:noFill/>
          <a:ln/>
        </p:spPr>
        <p:txBody>
          <a:bodyPr wrap="square" lIns="0" tIns="0" rIns="0" bIns="0" rtlCol="0" anchor="ctr"/>
          <a:lstStyle/>
          <a:p>
            <a:pPr algn="ctr" indent="0" marL="0">
              <a:buNone/>
            </a:pPr>
            <a:r>
              <a:rPr lang="en-US" sz="1250" dirty="0">
                <a:solidFill>
                  <a:srgbClr val="2B2622"/>
                </a:solidFill>
                <a:latin typeface="Calibri" pitchFamily="34" charset="0"/>
                <a:ea typeface="Calibri" pitchFamily="34" charset="-122"/>
                <a:cs typeface="Calibri" pitchFamily="34" charset="-120"/>
              </a:rPr>
              <a:t>every answer ran</a:t>
            </a:r>
            <a:endParaRPr lang="en-US" sz="1250" dirty="0"/>
          </a:p>
        </p:txBody>
      </p:sp>
      <p:sp>
        <p:nvSpPr>
          <p:cNvPr id="20" name="Shape 18"/>
          <p:cNvSpPr/>
          <p:nvPr/>
        </p:nvSpPr>
        <p:spPr>
          <a:xfrm>
            <a:off x="3145536" y="3931920"/>
            <a:ext cx="4458843" cy="420624"/>
          </a:xfrm>
          <a:prstGeom prst="roundRect">
            <a:avLst>
              <a:gd name="adj" fmla="val 50000"/>
            </a:avLst>
          </a:prstGeom>
          <a:solidFill>
            <a:srgbClr val="F2ECE1"/>
          </a:solidFill>
          <a:ln w="12700">
            <a:solidFill>
              <a:srgbClr val="D97A14"/>
            </a:solidFill>
            <a:prstDash val="solid"/>
          </a:ln>
        </p:spPr>
      </p:sp>
      <p:sp>
        <p:nvSpPr>
          <p:cNvPr id="21" name="Text 19"/>
          <p:cNvSpPr txBox="1"/>
          <p:nvPr/>
        </p:nvSpPr>
        <p:spPr>
          <a:xfrm>
            <a:off x="3145536" y="3931920"/>
            <a:ext cx="4458843" cy="420624"/>
          </a:xfrm>
          <a:prstGeom prst="rect">
            <a:avLst/>
          </a:prstGeom>
          <a:noFill/>
          <a:ln/>
        </p:spPr>
        <p:txBody>
          <a:bodyPr wrap="square" lIns="0" tIns="0" rIns="0" bIns="0" rtlCol="0" anchor="ctr"/>
          <a:lstStyle/>
          <a:p>
            <a:pPr algn="ctr" indent="0" marL="0">
              <a:buNone/>
            </a:pPr>
            <a:r>
              <a:rPr lang="en-US" sz="1250" dirty="0">
                <a:solidFill>
                  <a:srgbClr val="2B2622"/>
                </a:solidFill>
                <a:latin typeface="Calibri" pitchFamily="34" charset="0"/>
                <a:ea typeface="Calibri" pitchFamily="34" charset="-122"/>
                <a:cs typeface="Calibri" pitchFamily="34" charset="-120"/>
              </a:rPr>
              <a:t>whole programs with transcripts</a:t>
            </a:r>
            <a:endParaRPr lang="en-US" sz="1250" dirty="0"/>
          </a:p>
        </p:txBody>
      </p:sp>
      <p:sp>
        <p:nvSpPr>
          <p:cNvPr id="22" name="Shape 20"/>
          <p:cNvSpPr/>
          <p:nvPr/>
        </p:nvSpPr>
        <p:spPr>
          <a:xfrm>
            <a:off x="457200" y="4517136"/>
            <a:ext cx="3275838" cy="420624"/>
          </a:xfrm>
          <a:prstGeom prst="roundRect">
            <a:avLst>
              <a:gd name="adj" fmla="val 50000"/>
            </a:avLst>
          </a:prstGeom>
          <a:solidFill>
            <a:srgbClr val="F2ECE1"/>
          </a:solidFill>
          <a:ln w="12700">
            <a:solidFill>
              <a:srgbClr val="D97A14"/>
            </a:solidFill>
            <a:prstDash val="solid"/>
          </a:ln>
        </p:spPr>
      </p:sp>
      <p:sp>
        <p:nvSpPr>
          <p:cNvPr id="23" name="Text 21"/>
          <p:cNvSpPr txBox="1"/>
          <p:nvPr/>
        </p:nvSpPr>
        <p:spPr>
          <a:xfrm>
            <a:off x="457200" y="4517136"/>
            <a:ext cx="3275838" cy="420624"/>
          </a:xfrm>
          <a:prstGeom prst="rect">
            <a:avLst/>
          </a:prstGeom>
          <a:noFill/>
          <a:ln/>
        </p:spPr>
        <p:txBody>
          <a:bodyPr wrap="square" lIns="0" tIns="0" rIns="0" bIns="0" rtlCol="0" anchor="ctr"/>
          <a:lstStyle/>
          <a:p>
            <a:pPr algn="ctr" indent="0" marL="0">
              <a:buNone/>
            </a:pPr>
            <a:r>
              <a:rPr lang="en-US" sz="1250" dirty="0">
                <a:solidFill>
                  <a:srgbClr val="2B2622"/>
                </a:solidFill>
                <a:latin typeface="Calibri" pitchFamily="34" charset="0"/>
                <a:ea typeface="Calibri" pitchFamily="34" charset="-122"/>
                <a:cs typeface="Calibri" pitchFamily="34" charset="-120"/>
              </a:rPr>
              <a:t>errors are answers too</a:t>
            </a:r>
            <a:endParaRPr lang="en-US" sz="1250" dirty="0"/>
          </a:p>
        </p:txBody>
      </p:sp>
      <p:sp>
        <p:nvSpPr>
          <p:cNvPr id="24"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5"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If you can answer these, chapter 2 is yours</a:t>
            </a:r>
            <a:endParaRPr lang="en-US" sz="1350" dirty="0"/>
          </a:p>
        </p:txBody>
      </p:sp>
      <p:sp>
        <p:nvSpPr>
          <p:cNvPr id="26"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3 / 22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One chapter, seven branches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concept map the whole chapter hangs on</a:t>
            </a:r>
            <a:endParaRPr lang="en-US" sz="1300" dirty="0"/>
          </a:p>
        </p:txBody>
      </p:sp>
      <p:sp>
        <p:nvSpPr>
          <p:cNvPr id="6" name="Text 4"/>
          <p:cNvSpPr txBox="1"/>
          <p:nvPr/>
        </p:nvSpPr>
        <p:spPr>
          <a:xfrm>
            <a:off x="457200" y="1060704"/>
            <a:ext cx="8229600" cy="42976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Seven branches; the count under each is how many concepts the course page explains for it - today walks the spine.</a:t>
            </a:r>
            <a:endParaRPr lang="en-US" sz="1250" dirty="0"/>
          </a:p>
        </p:txBody>
      </p:sp>
      <p:sp>
        <p:nvSpPr>
          <p:cNvPr id="7" name="Shape 5"/>
          <p:cNvSpPr/>
          <p:nvPr/>
        </p:nvSpPr>
        <p:spPr>
          <a:xfrm>
            <a:off x="457200" y="1554480"/>
            <a:ext cx="1947672" cy="1261872"/>
          </a:xfrm>
          <a:prstGeom prst="roundRect">
            <a:avLst>
              <a:gd name="adj" fmla="val 5797"/>
            </a:avLst>
          </a:prstGeom>
          <a:solidFill>
            <a:srgbClr val="F2ECE1"/>
          </a:solidFill>
          <a:ln w="12700">
            <a:solidFill>
              <a:srgbClr val="DFD6C7"/>
            </a:solidFill>
            <a:prstDash val="solid"/>
          </a:ln>
        </p:spPr>
      </p:sp>
      <p:sp>
        <p:nvSpPr>
          <p:cNvPr id="8" name="Text 6"/>
          <p:cNvSpPr txBox="1"/>
          <p:nvPr/>
        </p:nvSpPr>
        <p:spPr>
          <a:xfrm>
            <a:off x="548640" y="1609344"/>
            <a:ext cx="1764792" cy="11521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Value</a:t>
            </a:r>
            <a:endParaRPr lang="en-US" sz="1250" dirty="0"/>
          </a:p>
          <a:p>
            <a:pPr algn="ctr" indent="0" marL="0">
              <a:buNone/>
            </a:pPr>
            <a:r>
              <a:rPr lang="en-US" sz="1000" dirty="0">
                <a:solidFill>
                  <a:srgbClr val="6E655C"/>
                </a:solidFill>
                <a:latin typeface="Calibri" pitchFamily="34" charset="0"/>
                <a:ea typeface="Calibri" pitchFamily="34" charset="-122"/>
                <a:cs typeface="Calibri" pitchFamily="34" charset="-120"/>
              </a:rPr>
              <a:t>5 concepts</a:t>
            </a:r>
            <a:endParaRPr lang="en-US" sz="1250" dirty="0"/>
          </a:p>
        </p:txBody>
      </p:sp>
      <p:sp>
        <p:nvSpPr>
          <p:cNvPr id="9" name="Shape 7"/>
          <p:cNvSpPr/>
          <p:nvPr/>
        </p:nvSpPr>
        <p:spPr>
          <a:xfrm>
            <a:off x="2551176" y="1554480"/>
            <a:ext cx="1947672" cy="1261872"/>
          </a:xfrm>
          <a:prstGeom prst="roundRect">
            <a:avLst>
              <a:gd name="adj" fmla="val 5797"/>
            </a:avLst>
          </a:prstGeom>
          <a:solidFill>
            <a:srgbClr val="F2ECE1"/>
          </a:solidFill>
          <a:ln w="12700">
            <a:solidFill>
              <a:srgbClr val="DFD6C7"/>
            </a:solidFill>
            <a:prstDash val="solid"/>
          </a:ln>
        </p:spPr>
      </p:sp>
      <p:sp>
        <p:nvSpPr>
          <p:cNvPr id="10" name="Text 8"/>
          <p:cNvSpPr txBox="1"/>
          <p:nvPr/>
        </p:nvSpPr>
        <p:spPr>
          <a:xfrm>
            <a:off x="2642616" y="1609344"/>
            <a:ext cx="1764792" cy="11521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Comparison</a:t>
            </a:r>
            <a:endParaRPr lang="en-US" sz="1250" dirty="0"/>
          </a:p>
          <a:p>
            <a:pPr algn="ctr" indent="0" marL="0">
              <a:buNone/>
            </a:pPr>
            <a:r>
              <a:rPr lang="en-US" sz="1000" dirty="0">
                <a:solidFill>
                  <a:srgbClr val="6E655C"/>
                </a:solidFill>
                <a:latin typeface="Calibri" pitchFamily="34" charset="0"/>
                <a:ea typeface="Calibri" pitchFamily="34" charset="-122"/>
                <a:cs typeface="Calibri" pitchFamily="34" charset="-120"/>
              </a:rPr>
              <a:t>8 concepts</a:t>
            </a:r>
            <a:endParaRPr lang="en-US" sz="1250" dirty="0"/>
          </a:p>
        </p:txBody>
      </p:sp>
      <p:sp>
        <p:nvSpPr>
          <p:cNvPr id="11" name="Shape 9"/>
          <p:cNvSpPr/>
          <p:nvPr/>
        </p:nvSpPr>
        <p:spPr>
          <a:xfrm>
            <a:off x="4645152" y="1554480"/>
            <a:ext cx="1947672" cy="1261872"/>
          </a:xfrm>
          <a:prstGeom prst="roundRect">
            <a:avLst>
              <a:gd name="adj" fmla="val 5797"/>
            </a:avLst>
          </a:prstGeom>
          <a:solidFill>
            <a:srgbClr val="F2ECE1"/>
          </a:solidFill>
          <a:ln w="12700">
            <a:solidFill>
              <a:srgbClr val="DFD6C7"/>
            </a:solidFill>
            <a:prstDash val="solid"/>
          </a:ln>
        </p:spPr>
      </p:sp>
      <p:sp>
        <p:nvSpPr>
          <p:cNvPr id="12" name="Text 10"/>
          <p:cNvSpPr txBox="1"/>
          <p:nvPr/>
        </p:nvSpPr>
        <p:spPr>
          <a:xfrm>
            <a:off x="4736592" y="1609344"/>
            <a:ext cx="1764792" cy="11521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Boolean Operation</a:t>
            </a:r>
            <a:endParaRPr lang="en-US" sz="1250" dirty="0"/>
          </a:p>
          <a:p>
            <a:pPr algn="ctr" indent="0" marL="0">
              <a:buNone/>
            </a:pPr>
            <a:r>
              <a:rPr lang="en-US" sz="1000" dirty="0">
                <a:solidFill>
                  <a:srgbClr val="6E655C"/>
                </a:solidFill>
                <a:latin typeface="Calibri" pitchFamily="34" charset="0"/>
                <a:ea typeface="Calibri" pitchFamily="34" charset="-122"/>
                <a:cs typeface="Calibri" pitchFamily="34" charset="-120"/>
              </a:rPr>
              <a:t>11 concepts</a:t>
            </a:r>
            <a:endParaRPr lang="en-US" sz="1250" dirty="0"/>
          </a:p>
        </p:txBody>
      </p:sp>
      <p:sp>
        <p:nvSpPr>
          <p:cNvPr id="13" name="Shape 11"/>
          <p:cNvSpPr/>
          <p:nvPr/>
        </p:nvSpPr>
        <p:spPr>
          <a:xfrm>
            <a:off x="6739128" y="1554480"/>
            <a:ext cx="1947672" cy="1261872"/>
          </a:xfrm>
          <a:prstGeom prst="roundRect">
            <a:avLst>
              <a:gd name="adj" fmla="val 5797"/>
            </a:avLst>
          </a:prstGeom>
          <a:solidFill>
            <a:srgbClr val="D97A14"/>
          </a:solidFill>
          <a:ln w="12700">
            <a:solidFill>
              <a:srgbClr val="D97A14"/>
            </a:solidFill>
            <a:prstDash val="solid"/>
          </a:ln>
        </p:spPr>
      </p:sp>
      <p:sp>
        <p:nvSpPr>
          <p:cNvPr id="14" name="Text 12"/>
          <p:cNvSpPr txBox="1"/>
          <p:nvPr/>
        </p:nvSpPr>
        <p:spPr>
          <a:xfrm>
            <a:off x="6830568" y="1609344"/>
            <a:ext cx="1764792"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Flow Control</a:t>
            </a:r>
            <a:endParaRPr lang="en-US" sz="1250" dirty="0"/>
          </a:p>
          <a:p>
            <a:pPr algn="ctr" indent="0" marL="0">
              <a:buNone/>
            </a:pPr>
            <a:r>
              <a:rPr lang="en-US" sz="1000" dirty="0">
                <a:solidFill>
                  <a:srgbClr val="FFFFFF"/>
                </a:solidFill>
                <a:latin typeface="Calibri" pitchFamily="34" charset="0"/>
                <a:ea typeface="Calibri" pitchFamily="34" charset="-122"/>
                <a:cs typeface="Calibri" pitchFamily="34" charset="-120"/>
              </a:rPr>
              <a:t>18 concepts</a:t>
            </a:r>
            <a:endParaRPr lang="en-US" sz="1250" dirty="0"/>
          </a:p>
        </p:txBody>
      </p:sp>
      <p:sp>
        <p:nvSpPr>
          <p:cNvPr id="15" name="Shape 13"/>
          <p:cNvSpPr/>
          <p:nvPr/>
        </p:nvSpPr>
        <p:spPr>
          <a:xfrm>
            <a:off x="457200" y="2944368"/>
            <a:ext cx="1947672" cy="1261872"/>
          </a:xfrm>
          <a:prstGeom prst="roundRect">
            <a:avLst>
              <a:gd name="adj" fmla="val 5797"/>
            </a:avLst>
          </a:prstGeom>
          <a:solidFill>
            <a:srgbClr val="F2ECE1"/>
          </a:solidFill>
          <a:ln w="12700">
            <a:solidFill>
              <a:srgbClr val="DFD6C7"/>
            </a:solidFill>
            <a:prstDash val="solid"/>
          </a:ln>
        </p:spPr>
      </p:sp>
      <p:sp>
        <p:nvSpPr>
          <p:cNvPr id="16" name="Text 14"/>
          <p:cNvSpPr txBox="1"/>
          <p:nvPr/>
        </p:nvSpPr>
        <p:spPr>
          <a:xfrm>
            <a:off x="548640" y="2999232"/>
            <a:ext cx="1764792" cy="11521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Worked Program</a:t>
            </a:r>
            <a:endParaRPr lang="en-US" sz="1250" dirty="0"/>
          </a:p>
          <a:p>
            <a:pPr algn="ctr" indent="0" marL="0">
              <a:buNone/>
            </a:pPr>
            <a:r>
              <a:rPr lang="en-US" sz="1000" dirty="0">
                <a:solidFill>
                  <a:srgbClr val="6E655C"/>
                </a:solidFill>
                <a:latin typeface="Calibri" pitchFamily="34" charset="0"/>
                <a:ea typeface="Calibri" pitchFamily="34" charset="-122"/>
                <a:cs typeface="Calibri" pitchFamily="34" charset="-120"/>
              </a:rPr>
              <a:t>5 concepts</a:t>
            </a:r>
            <a:endParaRPr lang="en-US" sz="1250" dirty="0"/>
          </a:p>
        </p:txBody>
      </p:sp>
      <p:sp>
        <p:nvSpPr>
          <p:cNvPr id="17" name="Shape 15"/>
          <p:cNvSpPr/>
          <p:nvPr/>
        </p:nvSpPr>
        <p:spPr>
          <a:xfrm>
            <a:off x="2551176" y="2944368"/>
            <a:ext cx="1947672" cy="1261872"/>
          </a:xfrm>
          <a:prstGeom prst="roundRect">
            <a:avLst>
              <a:gd name="adj" fmla="val 5797"/>
            </a:avLst>
          </a:prstGeom>
          <a:solidFill>
            <a:srgbClr val="F2ECE1"/>
          </a:solidFill>
          <a:ln w="12700">
            <a:solidFill>
              <a:srgbClr val="DFD6C7"/>
            </a:solidFill>
            <a:prstDash val="solid"/>
          </a:ln>
        </p:spPr>
      </p:sp>
      <p:sp>
        <p:nvSpPr>
          <p:cNvPr id="18" name="Text 16"/>
          <p:cNvSpPr txBox="1"/>
          <p:nvPr/>
        </p:nvSpPr>
        <p:spPr>
          <a:xfrm>
            <a:off x="2642616" y="2999232"/>
            <a:ext cx="1764792" cy="11521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Error Report</a:t>
            </a:r>
            <a:endParaRPr lang="en-US" sz="1250" dirty="0"/>
          </a:p>
          <a:p>
            <a:pPr algn="ctr" indent="0" marL="0">
              <a:buNone/>
            </a:pPr>
            <a:r>
              <a:rPr lang="en-US" sz="1000" dirty="0">
                <a:solidFill>
                  <a:srgbClr val="6E655C"/>
                </a:solidFill>
                <a:latin typeface="Calibri" pitchFamily="34" charset="0"/>
                <a:ea typeface="Calibri" pitchFamily="34" charset="-122"/>
                <a:cs typeface="Calibri" pitchFamily="34" charset="-120"/>
              </a:rPr>
              <a:t>7 concepts</a:t>
            </a:r>
            <a:endParaRPr lang="en-US" sz="1250" dirty="0"/>
          </a:p>
        </p:txBody>
      </p:sp>
      <p:sp>
        <p:nvSpPr>
          <p:cNvPr id="19" name="Shape 17"/>
          <p:cNvSpPr/>
          <p:nvPr/>
        </p:nvSpPr>
        <p:spPr>
          <a:xfrm>
            <a:off x="4645152" y="2944368"/>
            <a:ext cx="1947672" cy="1261872"/>
          </a:xfrm>
          <a:prstGeom prst="roundRect">
            <a:avLst>
              <a:gd name="adj" fmla="val 5797"/>
            </a:avLst>
          </a:prstGeom>
          <a:solidFill>
            <a:srgbClr val="F2ECE1"/>
          </a:solidFill>
          <a:ln w="12700">
            <a:solidFill>
              <a:srgbClr val="DFD6C7"/>
            </a:solidFill>
            <a:prstDash val="solid"/>
          </a:ln>
        </p:spPr>
      </p:sp>
      <p:sp>
        <p:nvSpPr>
          <p:cNvPr id="20" name="Text 18"/>
          <p:cNvSpPr txBox="1"/>
          <p:nvPr/>
        </p:nvSpPr>
        <p:spPr>
          <a:xfrm>
            <a:off x="4736592" y="2999232"/>
            <a:ext cx="1764792" cy="1152144"/>
          </a:xfrm>
          <a:prstGeom prst="rect">
            <a:avLst/>
          </a:prstGeom>
          <a:noFill/>
          <a:ln/>
        </p:spPr>
        <p:txBody>
          <a:bodyPr wrap="square" lIns="0" tIns="0" rIns="0" bIns="0" rtlCol="0" anchor="ctr"/>
          <a:lstStyle/>
          <a:p>
            <a:pPr algn="ctr" indent="0" marL="0">
              <a:buNone/>
            </a:pPr>
            <a:r>
              <a:rPr lang="en-US" sz="1250" b="1" dirty="0">
                <a:solidFill>
                  <a:srgbClr val="2B2622"/>
                </a:solidFill>
                <a:latin typeface="Calibri" pitchFamily="34" charset="0"/>
                <a:ea typeface="Calibri" pitchFamily="34" charset="-122"/>
                <a:cs typeface="Calibri" pitchFamily="34" charset="-120"/>
              </a:rPr>
              <a:t>Modern Practice</a:t>
            </a:r>
            <a:endParaRPr lang="en-US" sz="1250" dirty="0"/>
          </a:p>
          <a:p>
            <a:pPr algn="ctr" indent="0" marL="0">
              <a:buNone/>
            </a:pPr>
            <a:r>
              <a:rPr lang="en-US" sz="1000" dirty="0">
                <a:solidFill>
                  <a:srgbClr val="6E655C"/>
                </a:solidFill>
                <a:latin typeface="Calibri" pitchFamily="34" charset="0"/>
                <a:ea typeface="Calibri" pitchFamily="34" charset="-122"/>
                <a:cs typeface="Calibri" pitchFamily="34" charset="-120"/>
              </a:rPr>
              <a:t>12 concepts</a:t>
            </a:r>
            <a:endParaRPr lang="en-US" sz="1250" dirty="0"/>
          </a:p>
        </p:txBody>
      </p:sp>
      <p:sp>
        <p:nvSpPr>
          <p:cNvPr id="21" name="Shape 19"/>
          <p:cNvSpPr/>
          <p:nvPr/>
        </p:nvSpPr>
        <p:spPr>
          <a:xfrm>
            <a:off x="457200" y="4636008"/>
            <a:ext cx="91440" cy="310896"/>
          </a:xfrm>
          <a:prstGeom prst="rect">
            <a:avLst/>
          </a:prstGeom>
          <a:solidFill>
            <a:srgbClr val="D97A14"/>
          </a:solidFill>
          <a:ln w="12700">
            <a:solidFill>
              <a:srgbClr val="D97A14"/>
            </a:solidFill>
            <a:prstDash val="solid"/>
          </a:ln>
        </p:spPr>
      </p:sp>
      <p:sp>
        <p:nvSpPr>
          <p:cNvPr id="22" name="Text 2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Seven branches - every slide today lives on this map</a:t>
            </a:r>
            <a:endParaRPr lang="en-US" sz="1350" dirty="0"/>
          </a:p>
        </p:txBody>
      </p:sp>
      <p:sp>
        <p:nvSpPr>
          <p:cNvPr id="23"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4 / 22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Booleans and truthiness</a:t>
            </a:r>
            <a:endParaRPr lang="en-US" sz="3200" dirty="0"/>
          </a:p>
        </p:txBody>
      </p:sp>
      <p:sp>
        <p:nvSpPr>
          <p:cNvPr id="5" name="Text 3"/>
          <p:cNvSpPr txBox="1"/>
          <p:nvPr/>
        </p:nvSpPr>
        <p:spPr>
          <a:xfrm>
            <a:off x="777240" y="1645920"/>
            <a:ext cx="7863840" cy="822960"/>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The two-valued algebra under every decision</a:t>
            </a:r>
            <a:endParaRPr lang="en-US" sz="1500" dirty="0"/>
          </a:p>
        </p:txBody>
      </p:sp>
      <p:sp>
        <p:nvSpPr>
          <p:cNvPr id="6" name="Shape 4"/>
          <p:cNvSpPr/>
          <p:nvPr/>
        </p:nvSpPr>
        <p:spPr>
          <a:xfrm>
            <a:off x="777240" y="2697480"/>
            <a:ext cx="1856232" cy="1737360"/>
          </a:xfrm>
          <a:prstGeom prst="roundRect">
            <a:avLst>
              <a:gd name="adj" fmla="val 4211"/>
            </a:avLst>
          </a:prstGeom>
          <a:solidFill>
            <a:srgbClr val="2F6D62"/>
          </a:solidFill>
          <a:ln w="12700">
            <a:solidFill>
              <a:srgbClr val="2F6D62"/>
            </a:solidFill>
            <a:prstDash val="solid"/>
          </a:ln>
        </p:spPr>
      </p:sp>
      <p:sp>
        <p:nvSpPr>
          <p:cNvPr id="7" name="Text 5"/>
          <p:cNvSpPr txBox="1"/>
          <p:nvPr/>
        </p:nvSpPr>
        <p:spPr>
          <a:xfrm>
            <a:off x="850392"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bool</a:t>
            </a:r>
            <a:pPr algn="ctr" indent="0" marL="0">
              <a:buNone/>
            </a:pPr>
            <a:endParaRPr lang="en-US" sz="1400" dirty="0"/>
          </a:p>
        </p:txBody>
      </p:sp>
      <p:sp>
        <p:nvSpPr>
          <p:cNvPr id="8" name="Shape 6"/>
          <p:cNvSpPr/>
          <p:nvPr/>
        </p:nvSpPr>
        <p:spPr>
          <a:xfrm>
            <a:off x="2779776" y="2697480"/>
            <a:ext cx="1856232" cy="1737360"/>
          </a:xfrm>
          <a:prstGeom prst="roundRect">
            <a:avLst>
              <a:gd name="adj" fmla="val 4211"/>
            </a:avLst>
          </a:prstGeom>
          <a:solidFill>
            <a:srgbClr val="2F6D62"/>
          </a:solidFill>
          <a:ln w="12700">
            <a:solidFill>
              <a:srgbClr val="2F6D62"/>
            </a:solidFill>
            <a:prstDash val="solid"/>
          </a:ln>
        </p:spPr>
      </p:sp>
      <p:sp>
        <p:nvSpPr>
          <p:cNvPr id="9" name="Text 7"/>
          <p:cNvSpPr txBox="1"/>
          <p:nvPr/>
        </p:nvSpPr>
        <p:spPr>
          <a:xfrm>
            <a:off x="2852928"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Truthiness</a:t>
            </a:r>
            <a:pPr algn="ctr" indent="0" marL="0">
              <a:buNone/>
            </a:pPr>
            <a:endParaRPr lang="en-US" sz="1400" dirty="0"/>
          </a:p>
        </p:txBody>
      </p:sp>
      <p:sp>
        <p:nvSpPr>
          <p:cNvPr id="10" name="Shape 8"/>
          <p:cNvSpPr/>
          <p:nvPr/>
        </p:nvSpPr>
        <p:spPr>
          <a:xfrm>
            <a:off x="4782312" y="2697480"/>
            <a:ext cx="1856232" cy="1737360"/>
          </a:xfrm>
          <a:prstGeom prst="roundRect">
            <a:avLst>
              <a:gd name="adj" fmla="val 4211"/>
            </a:avLst>
          </a:prstGeom>
          <a:solidFill>
            <a:srgbClr val="2F6D62"/>
          </a:solidFill>
          <a:ln w="12700">
            <a:solidFill>
              <a:srgbClr val="2F6D62"/>
            </a:solidFill>
            <a:prstDash val="solid"/>
          </a:ln>
        </p:spPr>
      </p:sp>
      <p:sp>
        <p:nvSpPr>
          <p:cNvPr id="11" name="Text 9"/>
          <p:cNvSpPr txBox="1"/>
          <p:nvPr/>
        </p:nvSpPr>
        <p:spPr>
          <a:xfrm>
            <a:off x="4855464"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Comparisons</a:t>
            </a:r>
            <a:pPr algn="ctr" indent="0" marL="0">
              <a:buNone/>
            </a:pPr>
            <a:endParaRPr lang="en-US" sz="1400" dirty="0"/>
          </a:p>
        </p:txBody>
      </p:sp>
      <p:sp>
        <p:nvSpPr>
          <p:cNvPr id="12" name="Shape 10"/>
          <p:cNvSpPr/>
          <p:nvPr/>
        </p:nvSpPr>
        <p:spPr>
          <a:xfrm>
            <a:off x="6784848" y="2697480"/>
            <a:ext cx="1856232" cy="1737360"/>
          </a:xfrm>
          <a:prstGeom prst="roundRect">
            <a:avLst>
              <a:gd name="adj" fmla="val 4211"/>
            </a:avLst>
          </a:prstGeom>
          <a:solidFill>
            <a:srgbClr val="2F6D62"/>
          </a:solidFill>
          <a:ln w="12700">
            <a:solidFill>
              <a:srgbClr val="2F6D62"/>
            </a:solidFill>
            <a:prstDash val="solid"/>
          </a:ln>
        </p:spPr>
      </p:sp>
      <p:sp>
        <p:nvSpPr>
          <p:cNvPr id="13" name="Text 11"/>
          <p:cNvSpPr txBox="1"/>
          <p:nvPr/>
        </p:nvSpPr>
        <p:spPr>
          <a:xfrm>
            <a:off x="6858000"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Chaining</a:t>
            </a:r>
            <a:pPr algn="ctr" indent="0" marL="0">
              <a:buNone/>
            </a:pPr>
            <a:endParaRPr lang="en-US" sz="1400" dirty="0"/>
          </a:p>
        </p:txBody>
      </p:sp>
      <p:sp>
        <p:nvSpPr>
          <p:cNvPr id="14"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5 / 22</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man inside the bool type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1847 and 1854</a:t>
            </a:r>
            <a:endParaRPr lang="en-US" sz="1300" dirty="0"/>
          </a:p>
        </p:txBody>
      </p:sp>
      <p:pic>
        <p:nvPicPr>
          <p:cNvPr id="6" name="Image 0" descr="../../03-materials/ch02/assets/photo_george_boole.jpg">    </p:cNvPr>
          <p:cNvPicPr>
            <a:picLocks noChangeAspect="1"/>
          </p:cNvPicPr>
          <p:nvPr/>
        </p:nvPicPr>
        <p:blipFill>
          <a:blip r:embed="rId1"/>
          <a:srcRect l="0" r="0" t="0" b="0"/>
          <a:stretch/>
        </p:blipFill>
        <p:spPr>
          <a:xfrm>
            <a:off x="457200" y="1325880"/>
            <a:ext cx="2468880" cy="2834640"/>
          </a:xfrm>
          <a:prstGeom prst="rect">
            <a:avLst/>
          </a:prstGeom>
        </p:spPr>
      </p:pic>
      <p:sp>
        <p:nvSpPr>
          <p:cNvPr id="7" name="Text 4"/>
          <p:cNvSpPr txBox="1"/>
          <p:nvPr/>
        </p:nvSpPr>
        <p:spPr>
          <a:xfrm>
            <a:off x="457200" y="4178808"/>
            <a:ext cx="2468880" cy="329184"/>
          </a:xfrm>
          <a:prstGeom prst="rect">
            <a:avLst/>
          </a:prstGeom>
          <a:noFill/>
          <a:ln/>
        </p:spPr>
        <p:txBody>
          <a:bodyPr wrap="square" lIns="0" tIns="0" rIns="0" bIns="0" rtlCol="0" anchor="ctr"/>
          <a:lstStyle/>
          <a:p>
            <a:pPr algn="ctr" indent="0" marL="0">
              <a:buNone/>
            </a:pPr>
            <a:r>
              <a:rPr lang="en-US" sz="900" i="1" dirty="0">
                <a:solidFill>
                  <a:srgbClr val="6E655C"/>
                </a:solidFill>
                <a:latin typeface="Calibri" pitchFamily="34" charset="0"/>
                <a:ea typeface="Calibri" pitchFamily="34" charset="-122"/>
                <a:cs typeface="Calibri" pitchFamily="34" charset="-120"/>
              </a:rPr>
              <a:t>George Boole - public domain, via Wikimedia Commons</a:t>
            </a:r>
            <a:endParaRPr lang="en-US" sz="900" dirty="0"/>
          </a:p>
        </p:txBody>
      </p:sp>
      <p:sp>
        <p:nvSpPr>
          <p:cNvPr id="8" name="Shape 5"/>
          <p:cNvSpPr/>
          <p:nvPr/>
        </p:nvSpPr>
        <p:spPr>
          <a:xfrm>
            <a:off x="3291840" y="1570482"/>
            <a:ext cx="128016" cy="128016"/>
          </a:xfrm>
          <a:prstGeom prst="diamond">
            <a:avLst/>
          </a:prstGeom>
          <a:solidFill>
            <a:srgbClr val="D97A14"/>
          </a:solidFill>
          <a:ln w="12700">
            <a:solidFill>
              <a:srgbClr val="D97A14"/>
            </a:solidFill>
            <a:prstDash val="solid"/>
          </a:ln>
        </p:spPr>
      </p:sp>
      <p:sp>
        <p:nvSpPr>
          <p:cNvPr id="9" name="Text 6"/>
          <p:cNvSpPr txBox="1"/>
          <p:nvPr/>
        </p:nvSpPr>
        <p:spPr>
          <a:xfrm>
            <a:off x="3566160" y="1371600"/>
            <a:ext cx="5120640" cy="525780"/>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A shoemaker's son from Lincoln, self-taught</a:t>
            </a:r>
            <a:endParaRPr lang="en-US" sz="1300" dirty="0"/>
          </a:p>
        </p:txBody>
      </p:sp>
      <p:sp>
        <p:nvSpPr>
          <p:cNvPr id="10" name="Shape 7"/>
          <p:cNvSpPr/>
          <p:nvPr/>
        </p:nvSpPr>
        <p:spPr>
          <a:xfrm>
            <a:off x="3291840" y="2096262"/>
            <a:ext cx="128016" cy="128016"/>
          </a:xfrm>
          <a:prstGeom prst="diamond">
            <a:avLst/>
          </a:prstGeom>
          <a:solidFill>
            <a:srgbClr val="D97A14"/>
          </a:solidFill>
          <a:ln w="12700">
            <a:solidFill>
              <a:srgbClr val="D97A14"/>
            </a:solidFill>
            <a:prstDash val="solid"/>
          </a:ln>
        </p:spPr>
      </p:sp>
      <p:sp>
        <p:nvSpPr>
          <p:cNvPr id="11" name="Text 8"/>
          <p:cNvSpPr txBox="1"/>
          <p:nvPr/>
        </p:nvSpPr>
        <p:spPr>
          <a:xfrm>
            <a:off x="3566160" y="1897380"/>
            <a:ext cx="5120640" cy="525780"/>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1847 and 1854: reasoning itself obeys algebra</a:t>
            </a:r>
            <a:endParaRPr lang="en-US" sz="1300" dirty="0"/>
          </a:p>
        </p:txBody>
      </p:sp>
      <p:sp>
        <p:nvSpPr>
          <p:cNvPr id="12" name="Shape 9"/>
          <p:cNvSpPr/>
          <p:nvPr/>
        </p:nvSpPr>
        <p:spPr>
          <a:xfrm>
            <a:off x="3291840" y="2622042"/>
            <a:ext cx="128016" cy="128016"/>
          </a:xfrm>
          <a:prstGeom prst="diamond">
            <a:avLst/>
          </a:prstGeom>
          <a:solidFill>
            <a:srgbClr val="D97A14"/>
          </a:solidFill>
          <a:ln w="12700">
            <a:solidFill>
              <a:srgbClr val="D97A14"/>
            </a:solidFill>
            <a:prstDash val="solid"/>
          </a:ln>
        </p:spPr>
      </p:sp>
      <p:sp>
        <p:nvSpPr>
          <p:cNvPr id="13" name="Text 10"/>
          <p:cNvSpPr txBox="1"/>
          <p:nvPr/>
        </p:nvSpPr>
        <p:spPr>
          <a:xfrm>
            <a:off x="3566160" y="2423160"/>
            <a:ext cx="5120640" cy="525780"/>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He never saw a computer; every circuit runs his logic</a:t>
            </a:r>
            <a:endParaRPr lang="en-US" sz="1300" dirty="0"/>
          </a:p>
        </p:txBody>
      </p:sp>
      <p:sp>
        <p:nvSpPr>
          <p:cNvPr id="14" name="Shape 11"/>
          <p:cNvSpPr/>
          <p:nvPr/>
        </p:nvSpPr>
        <p:spPr>
          <a:xfrm>
            <a:off x="3291840" y="3147822"/>
            <a:ext cx="128016" cy="128016"/>
          </a:xfrm>
          <a:prstGeom prst="diamond">
            <a:avLst/>
          </a:prstGeom>
          <a:solidFill>
            <a:srgbClr val="D97A14"/>
          </a:solidFill>
          <a:ln w="12700">
            <a:solidFill>
              <a:srgbClr val="D97A14"/>
            </a:solidFill>
            <a:prstDash val="solid"/>
          </a:ln>
        </p:spPr>
      </p:sp>
      <p:sp>
        <p:nvSpPr>
          <p:cNvPr id="15" name="Text 12"/>
          <p:cNvSpPr txBox="1"/>
          <p:nvPr/>
        </p:nvSpPr>
        <p:spPr>
          <a:xfrm>
            <a:off x="3566160" y="2948940"/>
            <a:ext cx="5120640" cy="525780"/>
          </a:xfrm>
          <a:prstGeom prst="rect">
            <a:avLst/>
          </a:prstGeom>
          <a:noFill/>
          <a:ln/>
        </p:spPr>
        <p:txBody>
          <a:bodyPr wrap="square" lIns="0" tIns="0" rIns="0" bIns="0" rtlCol="0" anchor="ctr"/>
          <a:lstStyle/>
          <a:p>
            <a:pPr indent="0" marL="0">
              <a:buNone/>
            </a:pPr>
            <a:r>
              <a:rPr lang="en-US" sz="1300" dirty="0">
                <a:solidFill>
                  <a:srgbClr val="2B2622"/>
                </a:solidFill>
                <a:latin typeface="Calibri" pitchFamily="34" charset="0"/>
                <a:ea typeface="Calibri" pitchFamily="34" charset="-122"/>
                <a:cs typeface="Calibri" pitchFamily="34" charset="-120"/>
              </a:rPr>
              <a:t>Python's True-and-False type carries his name: bool</a:t>
            </a:r>
            <a:endParaRPr lang="en-US" sz="1300" dirty="0"/>
          </a:p>
        </p:txBody>
      </p:sp>
      <p:sp>
        <p:nvSpPr>
          <p:cNvPr id="16" name="Shape 13"/>
          <p:cNvSpPr/>
          <p:nvPr/>
        </p:nvSpPr>
        <p:spPr>
          <a:xfrm>
            <a:off x="3291840" y="3703320"/>
            <a:ext cx="1570391" cy="365760"/>
          </a:xfrm>
          <a:prstGeom prst="roundRect">
            <a:avLst>
              <a:gd name="adj" fmla="val 50000"/>
            </a:avLst>
          </a:prstGeom>
          <a:solidFill>
            <a:srgbClr val="EFE9DC"/>
          </a:solidFill>
          <a:ln w="9525">
            <a:solidFill>
              <a:srgbClr val="DFD6C7"/>
            </a:solidFill>
            <a:prstDash val="solid"/>
          </a:ln>
        </p:spPr>
      </p:sp>
      <p:sp>
        <p:nvSpPr>
          <p:cNvPr id="17" name="Text 14"/>
          <p:cNvSpPr txBox="1"/>
          <p:nvPr/>
        </p:nvSpPr>
        <p:spPr>
          <a:xfrm>
            <a:off x="3383280" y="3703320"/>
            <a:ext cx="142408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WHO  </a:t>
            </a:r>
            <a:pPr indent="0" marL="0">
              <a:buNone/>
            </a:pPr>
            <a:r>
              <a:rPr lang="en-US" sz="900" dirty="0">
                <a:solidFill>
                  <a:srgbClr val="2B2622"/>
                </a:solidFill>
                <a:latin typeface="Calibri" pitchFamily="34" charset="0"/>
                <a:ea typeface="Calibri" pitchFamily="34" charset="-122"/>
                <a:cs typeface="Calibri" pitchFamily="34" charset="-120"/>
              </a:rPr>
              <a:t>George Boole, self-ta…</a:t>
            </a:r>
            <a:endParaRPr lang="en-US" sz="750" dirty="0"/>
          </a:p>
        </p:txBody>
      </p:sp>
      <p:sp>
        <p:nvSpPr>
          <p:cNvPr id="18" name="Shape 15"/>
          <p:cNvSpPr/>
          <p:nvPr/>
        </p:nvSpPr>
        <p:spPr>
          <a:xfrm>
            <a:off x="4971959" y="3703320"/>
            <a:ext cx="1570391" cy="365760"/>
          </a:xfrm>
          <a:prstGeom prst="roundRect">
            <a:avLst>
              <a:gd name="adj" fmla="val 50000"/>
            </a:avLst>
          </a:prstGeom>
          <a:solidFill>
            <a:srgbClr val="EFE9DC"/>
          </a:solidFill>
          <a:ln w="9525">
            <a:solidFill>
              <a:srgbClr val="DFD6C7"/>
            </a:solidFill>
            <a:prstDash val="solid"/>
          </a:ln>
        </p:spPr>
      </p:sp>
      <p:sp>
        <p:nvSpPr>
          <p:cNvPr id="19" name="Text 16"/>
          <p:cNvSpPr txBox="1"/>
          <p:nvPr/>
        </p:nvSpPr>
        <p:spPr>
          <a:xfrm>
            <a:off x="5063399" y="3703320"/>
            <a:ext cx="142408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WHERE  </a:t>
            </a:r>
            <a:pPr indent="0" marL="0">
              <a:buNone/>
            </a:pPr>
            <a:r>
              <a:rPr lang="en-US" sz="900" dirty="0">
                <a:solidFill>
                  <a:srgbClr val="2B2622"/>
                </a:solidFill>
                <a:latin typeface="Calibri" pitchFamily="34" charset="0"/>
                <a:ea typeface="Calibri" pitchFamily="34" charset="-122"/>
                <a:cs typeface="Calibri" pitchFamily="34" charset="-120"/>
              </a:rPr>
              <a:t>Lincoln, England and …</a:t>
            </a:r>
            <a:endParaRPr lang="en-US" sz="750" dirty="0"/>
          </a:p>
        </p:txBody>
      </p:sp>
      <p:sp>
        <p:nvSpPr>
          <p:cNvPr id="20" name="Shape 17"/>
          <p:cNvSpPr/>
          <p:nvPr/>
        </p:nvSpPr>
        <p:spPr>
          <a:xfrm>
            <a:off x="6652077" y="3703320"/>
            <a:ext cx="861182" cy="365760"/>
          </a:xfrm>
          <a:prstGeom prst="roundRect">
            <a:avLst>
              <a:gd name="adj" fmla="val 50000"/>
            </a:avLst>
          </a:prstGeom>
          <a:solidFill>
            <a:srgbClr val="EFE9DC"/>
          </a:solidFill>
          <a:ln w="9525">
            <a:solidFill>
              <a:srgbClr val="DFD6C7"/>
            </a:solidFill>
            <a:prstDash val="solid"/>
          </a:ln>
        </p:spPr>
      </p:sp>
      <p:sp>
        <p:nvSpPr>
          <p:cNvPr id="21" name="Text 18"/>
          <p:cNvSpPr txBox="1"/>
          <p:nvPr/>
        </p:nvSpPr>
        <p:spPr>
          <a:xfrm>
            <a:off x="6743517" y="3703320"/>
            <a:ext cx="714878"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WHEN  </a:t>
            </a:r>
            <a:pPr indent="0" marL="0">
              <a:buNone/>
            </a:pPr>
            <a:r>
              <a:rPr lang="en-US" sz="900" dirty="0">
                <a:solidFill>
                  <a:srgbClr val="2B2622"/>
                </a:solidFill>
                <a:latin typeface="Calibri" pitchFamily="34" charset="0"/>
                <a:ea typeface="Calibri" pitchFamily="34" charset="-122"/>
                <a:cs typeface="Calibri" pitchFamily="34" charset="-120"/>
              </a:rPr>
              <a:t>1847 an…</a:t>
            </a:r>
            <a:endParaRPr lang="en-US" sz="750" dirty="0"/>
          </a:p>
        </p:txBody>
      </p:sp>
      <p:sp>
        <p:nvSpPr>
          <p:cNvPr id="22" name="Shape 19"/>
          <p:cNvSpPr/>
          <p:nvPr/>
        </p:nvSpPr>
        <p:spPr>
          <a:xfrm>
            <a:off x="7622987" y="3703320"/>
            <a:ext cx="1063813" cy="365760"/>
          </a:xfrm>
          <a:prstGeom prst="roundRect">
            <a:avLst>
              <a:gd name="adj" fmla="val 50000"/>
            </a:avLst>
          </a:prstGeom>
          <a:solidFill>
            <a:srgbClr val="2F6D62"/>
          </a:solidFill>
          <a:ln w="9525">
            <a:solidFill>
              <a:srgbClr val="2F6D62"/>
            </a:solidFill>
            <a:prstDash val="solid"/>
          </a:ln>
        </p:spPr>
      </p:sp>
      <p:sp>
        <p:nvSpPr>
          <p:cNvPr id="23" name="Text 20"/>
          <p:cNvSpPr txBox="1"/>
          <p:nvPr/>
        </p:nvSpPr>
        <p:spPr>
          <a:xfrm>
            <a:off x="7714427" y="3703320"/>
            <a:ext cx="917509"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pPr indent="0" marL="0">
              <a:buNone/>
            </a:pPr>
            <a:r>
              <a:rPr lang="en-US" sz="9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en.wikipedi…</a:t>
            </a:r>
            <a:endParaRPr lang="en-US" sz="750" dirty="0"/>
          </a:p>
        </p:txBody>
      </p:sp>
      <p:sp>
        <p:nvSpPr>
          <p:cNvPr id="24" name="Shape 21"/>
          <p:cNvSpPr/>
          <p:nvPr/>
        </p:nvSpPr>
        <p:spPr>
          <a:xfrm>
            <a:off x="457200" y="4636008"/>
            <a:ext cx="91440" cy="310896"/>
          </a:xfrm>
          <a:prstGeom prst="rect">
            <a:avLst/>
          </a:prstGeom>
          <a:solidFill>
            <a:srgbClr val="D97A14"/>
          </a:solidFill>
          <a:ln w="12700">
            <a:solidFill>
              <a:srgbClr val="D97A14"/>
            </a:solidFill>
            <a:prstDash val="solid"/>
          </a:ln>
        </p:spPr>
      </p:sp>
      <p:sp>
        <p:nvSpPr>
          <p:cNvPr id="25"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Every if statement runs on one Victorian's algebra</a:t>
            </a:r>
            <a:endParaRPr lang="en-US" sz="1350" dirty="0"/>
          </a:p>
        </p:txBody>
      </p:sp>
      <p:sp>
        <p:nvSpPr>
          <p:cNvPr id="26"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6 / 22</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Two values rule everything</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bool, and the comparisons that produce it</a:t>
            </a:r>
            <a:endParaRPr lang="en-US" sz="1300" dirty="0"/>
          </a:p>
        </p:txBody>
      </p:sp>
      <p:sp>
        <p:nvSpPr>
          <p:cNvPr id="6" name="Text 4"/>
          <p:cNvSpPr txBox="1"/>
          <p:nvPr/>
        </p:nvSpPr>
        <p:spPr>
          <a:xfrm>
            <a:off x="457200" y="1143000"/>
            <a:ext cx="393192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a type with two citizens</a:t>
            </a:r>
            <a:endParaRPr lang="en-US" sz="1150" dirty="0"/>
          </a:p>
        </p:txBody>
      </p:sp>
      <p:sp>
        <p:nvSpPr>
          <p:cNvPr id="7" name="Shape 5"/>
          <p:cNvSpPr/>
          <p:nvPr/>
        </p:nvSpPr>
        <p:spPr>
          <a:xfrm>
            <a:off x="457200" y="1417320"/>
            <a:ext cx="3931920" cy="1481328"/>
          </a:xfrm>
          <a:prstGeom prst="roundRect">
            <a:avLst>
              <a:gd name="adj" fmla="val 6173"/>
            </a:avLst>
          </a:prstGeom>
          <a:solidFill>
            <a:srgbClr val="23272E"/>
          </a:solidFill>
          <a:ln w="12700">
            <a:solidFill>
              <a:srgbClr val="23272E"/>
            </a:solidFill>
            <a:prstDash val="solid"/>
          </a:ln>
        </p:spPr>
      </p:sp>
      <p:sp>
        <p:nvSpPr>
          <p:cNvPr id="8" name="Text 6"/>
          <p:cNvSpPr txBox="1"/>
          <p:nvPr/>
        </p:nvSpPr>
        <p:spPr>
          <a:xfrm>
            <a:off x="640080" y="1536192"/>
            <a:ext cx="3566160" cy="1243584"/>
          </a:xfrm>
          <a:prstGeom prst="rect">
            <a:avLst/>
          </a:prstGeom>
          <a:noFill/>
          <a:ln/>
        </p:spPr>
        <p:txBody>
          <a:bodyPr wrap="square" lIns="0" tIns="0" rIns="0" bIns="0" rtlCol="0" anchor="t"/>
          <a:lstStyle/>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42 == 42</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True</a:t>
            </a:r>
            <a:endParaRPr lang="en-US" sz="730" dirty="0"/>
          </a:p>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42 == 99</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False</a:t>
            </a:r>
            <a:endParaRPr lang="en-US" sz="730" dirty="0"/>
          </a:p>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True + True</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2</a:t>
            </a:r>
            <a:endParaRPr lang="en-US" sz="730" dirty="0"/>
          </a:p>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int(True)</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1</a:t>
            </a:r>
            <a:endParaRPr lang="en-US" sz="730" dirty="0"/>
          </a:p>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'True' == True</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False</a:t>
            </a:r>
            <a:endParaRPr lang="en-US" sz="730" dirty="0"/>
          </a:p>
        </p:txBody>
      </p:sp>
      <p:sp>
        <p:nvSpPr>
          <p:cNvPr id="9" name="Text 7"/>
          <p:cNvSpPr txBox="1"/>
          <p:nvPr/>
        </p:nvSpPr>
        <p:spPr>
          <a:xfrm>
            <a:off x="457200" y="2916936"/>
            <a:ext cx="393192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0" name="Text 8"/>
          <p:cNvSpPr txBox="1"/>
          <p:nvPr/>
        </p:nvSpPr>
        <p:spPr>
          <a:xfrm>
            <a:off x="4663440" y="1143000"/>
            <a:ext cx="402336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 asks; = stores - the classic mix-up, refused</a:t>
            </a:r>
            <a:endParaRPr lang="en-US" sz="1150" dirty="0"/>
          </a:p>
        </p:txBody>
      </p:sp>
      <p:sp>
        <p:nvSpPr>
          <p:cNvPr id="11" name="Shape 9"/>
          <p:cNvSpPr/>
          <p:nvPr/>
        </p:nvSpPr>
        <p:spPr>
          <a:xfrm>
            <a:off x="4663440" y="1417320"/>
            <a:ext cx="4023360" cy="1481328"/>
          </a:xfrm>
          <a:prstGeom prst="roundRect">
            <a:avLst>
              <a:gd name="adj" fmla="val 6173"/>
            </a:avLst>
          </a:prstGeom>
          <a:solidFill>
            <a:srgbClr val="23272E"/>
          </a:solidFill>
          <a:ln w="12700">
            <a:solidFill>
              <a:srgbClr val="23272E"/>
            </a:solidFill>
            <a:prstDash val="solid"/>
          </a:ln>
        </p:spPr>
      </p:sp>
      <p:sp>
        <p:nvSpPr>
          <p:cNvPr id="12" name="Text 10"/>
          <p:cNvSpPr txBox="1"/>
          <p:nvPr/>
        </p:nvSpPr>
        <p:spPr>
          <a:xfrm>
            <a:off x="4846320" y="1536192"/>
            <a:ext cx="3657600" cy="1243584"/>
          </a:xfrm>
          <a:prstGeom prst="rect">
            <a:avLst/>
          </a:prstGeom>
          <a:noFill/>
          <a:ln/>
        </p:spPr>
        <p:txBody>
          <a:bodyPr wrap="square" lIns="0" tIns="0" rIns="0" bIns="0" rtlCol="0" anchor="t"/>
          <a:lstStyle/>
          <a:p>
            <a:pPr indent="0" marL="0">
              <a:buNone/>
            </a:pPr>
            <a:r>
              <a:rPr lang="en-US" sz="950" b="1" dirty="0">
                <a:solidFill>
                  <a:srgbClr val="D97A14"/>
                </a:solidFill>
                <a:latin typeface="Courier New" pitchFamily="34" charset="0"/>
                <a:ea typeface="Courier New" pitchFamily="34" charset="-122"/>
                <a:cs typeface="Courier New" pitchFamily="34" charset="-120"/>
              </a:rPr>
              <a:t>&gt;&gt;&gt; </a:t>
            </a:r>
            <a:pPr indent="0" marL="0">
              <a:buNone/>
            </a:pPr>
            <a:r>
              <a:rPr lang="en-US" sz="950" dirty="0">
                <a:solidFill>
                  <a:srgbClr val="E6EDF3"/>
                </a:solidFill>
                <a:latin typeface="Courier New" pitchFamily="34" charset="0"/>
                <a:ea typeface="Courier New" pitchFamily="34" charset="-122"/>
                <a:cs typeface="Courier New" pitchFamily="34" charset="-120"/>
              </a:rPr>
              <a:t>'hello' == 'hello'</a:t>
            </a:r>
            <a:endParaRPr lang="en-US" sz="950" dirty="0"/>
          </a:p>
          <a:p>
            <a:pPr indent="0" marL="0">
              <a:buNone/>
            </a:pPr>
            <a:r>
              <a:rPr lang="en-US" sz="950" dirty="0">
                <a:solidFill>
                  <a:srgbClr val="7EE787"/>
                </a:solidFill>
                <a:latin typeface="Courier New" pitchFamily="34" charset="0"/>
                <a:ea typeface="Courier New" pitchFamily="34" charset="-122"/>
                <a:cs typeface="Courier New" pitchFamily="34" charset="-120"/>
              </a:rPr>
              <a:t>True</a:t>
            </a:r>
            <a:endParaRPr lang="en-US" sz="950" dirty="0"/>
          </a:p>
          <a:p>
            <a:pPr indent="0" marL="0">
              <a:buNone/>
            </a:pPr>
            <a:r>
              <a:rPr lang="en-US" sz="950" b="1" dirty="0">
                <a:solidFill>
                  <a:srgbClr val="D97A14"/>
                </a:solidFill>
                <a:latin typeface="Courier New" pitchFamily="34" charset="0"/>
                <a:ea typeface="Courier New" pitchFamily="34" charset="-122"/>
                <a:cs typeface="Courier New" pitchFamily="34" charset="-120"/>
              </a:rPr>
              <a:t>&gt;&gt;&gt; </a:t>
            </a:r>
            <a:pPr indent="0" marL="0">
              <a:buNone/>
            </a:pPr>
            <a:r>
              <a:rPr lang="en-US" sz="950" dirty="0">
                <a:solidFill>
                  <a:srgbClr val="E6EDF3"/>
                </a:solidFill>
                <a:latin typeface="Courier New" pitchFamily="34" charset="0"/>
                <a:ea typeface="Courier New" pitchFamily="34" charset="-122"/>
                <a:cs typeface="Courier New" pitchFamily="34" charset="-120"/>
              </a:rPr>
              <a:t>42 == '42'</a:t>
            </a:r>
            <a:endParaRPr lang="en-US" sz="950" dirty="0"/>
          </a:p>
          <a:p>
            <a:pPr indent="0" marL="0">
              <a:buNone/>
            </a:pPr>
            <a:r>
              <a:rPr lang="en-US" sz="950" dirty="0">
                <a:solidFill>
                  <a:srgbClr val="7EE787"/>
                </a:solidFill>
                <a:latin typeface="Courier New" pitchFamily="34" charset="0"/>
                <a:ea typeface="Courier New" pitchFamily="34" charset="-122"/>
                <a:cs typeface="Courier New" pitchFamily="34" charset="-120"/>
              </a:rPr>
              <a:t>False</a:t>
            </a:r>
            <a:endParaRPr lang="en-US" sz="950" dirty="0"/>
          </a:p>
          <a:p>
            <a:pPr indent="0" marL="0">
              <a:buNone/>
            </a:pPr>
            <a:r>
              <a:rPr lang="en-US" sz="950" b="1" dirty="0">
                <a:solidFill>
                  <a:srgbClr val="D97A14"/>
                </a:solidFill>
                <a:latin typeface="Courier New" pitchFamily="34" charset="0"/>
                <a:ea typeface="Courier New" pitchFamily="34" charset="-122"/>
                <a:cs typeface="Courier New" pitchFamily="34" charset="-120"/>
              </a:rPr>
              <a:t>&gt;&gt;&gt; </a:t>
            </a:r>
            <a:pPr indent="0" marL="0">
              <a:buNone/>
            </a:pPr>
            <a:r>
              <a:rPr lang="en-US" sz="950" dirty="0">
                <a:solidFill>
                  <a:srgbClr val="E6EDF3"/>
                </a:solidFill>
                <a:latin typeface="Courier New" pitchFamily="34" charset="0"/>
                <a:ea typeface="Courier New" pitchFamily="34" charset="-122"/>
                <a:cs typeface="Courier New" pitchFamily="34" charset="-120"/>
              </a:rPr>
              <a:t>None is None</a:t>
            </a:r>
            <a:endParaRPr lang="en-US" sz="950" dirty="0"/>
          </a:p>
          <a:p>
            <a:pPr indent="0" marL="0">
              <a:buNone/>
            </a:pPr>
            <a:r>
              <a:rPr lang="en-US" sz="950" dirty="0">
                <a:solidFill>
                  <a:srgbClr val="7EE787"/>
                </a:solidFill>
                <a:latin typeface="Courier New" pitchFamily="34" charset="0"/>
                <a:ea typeface="Courier New" pitchFamily="34" charset="-122"/>
                <a:cs typeface="Courier New" pitchFamily="34" charset="-120"/>
              </a:rPr>
              <a:t>True</a:t>
            </a:r>
            <a:endParaRPr lang="en-US" sz="950" dirty="0"/>
          </a:p>
        </p:txBody>
      </p:sp>
      <p:sp>
        <p:nvSpPr>
          <p:cNvPr id="13" name="Text 11"/>
          <p:cNvSpPr txBox="1"/>
          <p:nvPr/>
        </p:nvSpPr>
        <p:spPr>
          <a:xfrm>
            <a:off x="4663440" y="2916936"/>
            <a:ext cx="402336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4" name="Text 12"/>
          <p:cNvSpPr txBox="1"/>
          <p:nvPr/>
        </p:nvSpPr>
        <p:spPr>
          <a:xfrm>
            <a:off x="457200" y="2880360"/>
            <a:ext cx="822960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comparisons chain like mathematics - 18 &lt; age &lt; 65 just works</a:t>
            </a:r>
            <a:endParaRPr lang="en-US" sz="1150" dirty="0"/>
          </a:p>
        </p:txBody>
      </p:sp>
      <p:sp>
        <p:nvSpPr>
          <p:cNvPr id="15" name="Shape 13"/>
          <p:cNvSpPr/>
          <p:nvPr/>
        </p:nvSpPr>
        <p:spPr>
          <a:xfrm>
            <a:off x="457200" y="3154680"/>
            <a:ext cx="8229600" cy="1325880"/>
          </a:xfrm>
          <a:prstGeom prst="roundRect">
            <a:avLst>
              <a:gd name="adj" fmla="val 6897"/>
            </a:avLst>
          </a:prstGeom>
          <a:solidFill>
            <a:srgbClr val="23272E"/>
          </a:solidFill>
          <a:ln w="12700">
            <a:solidFill>
              <a:srgbClr val="23272E"/>
            </a:solidFill>
            <a:prstDash val="solid"/>
          </a:ln>
        </p:spPr>
      </p:sp>
      <p:sp>
        <p:nvSpPr>
          <p:cNvPr id="16" name="Text 14"/>
          <p:cNvSpPr txBox="1"/>
          <p:nvPr/>
        </p:nvSpPr>
        <p:spPr>
          <a:xfrm>
            <a:off x="640080" y="3273552"/>
            <a:ext cx="7863840" cy="1088136"/>
          </a:xfrm>
          <a:prstGeom prst="rect">
            <a:avLst/>
          </a:prstGeom>
          <a:noFill/>
          <a:ln/>
        </p:spPr>
        <p:txBody>
          <a:bodyPr wrap="square" lIns="0" tIns="0" rIns="0" bIns="0" rtlCol="0" anchor="t"/>
          <a:lstStyle/>
          <a:p>
            <a:pPr indent="0" marL="0">
              <a:buNone/>
            </a:pPr>
            <a:r>
              <a:rPr lang="en-US" sz="800" b="1" dirty="0">
                <a:solidFill>
                  <a:srgbClr val="D97A14"/>
                </a:solidFill>
                <a:latin typeface="Courier New" pitchFamily="34" charset="0"/>
                <a:ea typeface="Courier New" pitchFamily="34" charset="-122"/>
                <a:cs typeface="Courier New" pitchFamily="34" charset="-120"/>
              </a:rPr>
              <a:t>&gt;&gt;&gt; </a:t>
            </a:r>
            <a:pPr indent="0" marL="0">
              <a:buNone/>
            </a:pPr>
            <a:r>
              <a:rPr lang="en-US" sz="800" dirty="0">
                <a:solidFill>
                  <a:srgbClr val="E6EDF3"/>
                </a:solidFill>
                <a:latin typeface="Courier New" pitchFamily="34" charset="0"/>
                <a:ea typeface="Courier New" pitchFamily="34" charset="-122"/>
                <a:cs typeface="Courier New" pitchFamily="34" charset="-120"/>
              </a:rPr>
              <a:t>1 &lt; 2 &lt; 3</a:t>
            </a:r>
            <a:endParaRPr lang="en-US" sz="800" dirty="0"/>
          </a:p>
          <a:p>
            <a:pPr indent="0" marL="0">
              <a:buNone/>
            </a:pPr>
            <a:r>
              <a:rPr lang="en-US" sz="800" dirty="0">
                <a:solidFill>
                  <a:srgbClr val="7EE787"/>
                </a:solidFill>
                <a:latin typeface="Courier New" pitchFamily="34" charset="0"/>
                <a:ea typeface="Courier New" pitchFamily="34" charset="-122"/>
                <a:cs typeface="Courier New" pitchFamily="34" charset="-120"/>
              </a:rPr>
              <a:t>True</a:t>
            </a:r>
            <a:endParaRPr lang="en-US" sz="800" dirty="0"/>
          </a:p>
          <a:p>
            <a:pPr indent="0" marL="0">
              <a:buNone/>
            </a:pPr>
            <a:r>
              <a:rPr lang="en-US" sz="800" b="1" dirty="0">
                <a:solidFill>
                  <a:srgbClr val="D97A14"/>
                </a:solidFill>
                <a:latin typeface="Courier New" pitchFamily="34" charset="0"/>
                <a:ea typeface="Courier New" pitchFamily="34" charset="-122"/>
                <a:cs typeface="Courier New" pitchFamily="34" charset="-120"/>
              </a:rPr>
              <a:t>&gt;&gt;&gt; </a:t>
            </a:r>
            <a:pPr indent="0" marL="0">
              <a:buNone/>
            </a:pPr>
            <a:r>
              <a:rPr lang="en-US" sz="800" dirty="0">
                <a:solidFill>
                  <a:srgbClr val="E6EDF3"/>
                </a:solidFill>
                <a:latin typeface="Courier New" pitchFamily="34" charset="0"/>
                <a:ea typeface="Courier New" pitchFamily="34" charset="-122"/>
                <a:cs typeface="Courier New" pitchFamily="34" charset="-120"/>
              </a:rPr>
              <a:t>3 &gt; 2 &gt; 5</a:t>
            </a:r>
            <a:endParaRPr lang="en-US" sz="800" dirty="0"/>
          </a:p>
          <a:p>
            <a:pPr indent="0" marL="0">
              <a:buNone/>
            </a:pPr>
            <a:r>
              <a:rPr lang="en-US" sz="800" dirty="0">
                <a:solidFill>
                  <a:srgbClr val="7EE787"/>
                </a:solidFill>
                <a:latin typeface="Courier New" pitchFamily="34" charset="0"/>
                <a:ea typeface="Courier New" pitchFamily="34" charset="-122"/>
                <a:cs typeface="Courier New" pitchFamily="34" charset="-120"/>
              </a:rPr>
              <a:t>False</a:t>
            </a:r>
            <a:endParaRPr lang="en-US" sz="800" dirty="0"/>
          </a:p>
          <a:p>
            <a:pPr indent="0" marL="0">
              <a:buNone/>
            </a:pPr>
            <a:r>
              <a:rPr lang="en-US" sz="800" b="1" dirty="0">
                <a:solidFill>
                  <a:srgbClr val="D97A14"/>
                </a:solidFill>
                <a:latin typeface="Courier New" pitchFamily="34" charset="0"/>
                <a:ea typeface="Courier New" pitchFamily="34" charset="-122"/>
                <a:cs typeface="Courier New" pitchFamily="34" charset="-120"/>
              </a:rPr>
              <a:t>&gt;&gt;&gt; </a:t>
            </a:r>
            <a:pPr indent="0" marL="0">
              <a:buNone/>
            </a:pPr>
            <a:r>
              <a:rPr lang="en-US" sz="800" dirty="0">
                <a:solidFill>
                  <a:srgbClr val="E6EDF3"/>
                </a:solidFill>
                <a:latin typeface="Courier New" pitchFamily="34" charset="0"/>
                <a:ea typeface="Courier New" pitchFamily="34" charset="-122"/>
                <a:cs typeface="Courier New" pitchFamily="34" charset="-120"/>
              </a:rPr>
              <a:t>5 &lt; 3 &lt; 1 / 0</a:t>
            </a:r>
            <a:endParaRPr lang="en-US" sz="800" dirty="0"/>
          </a:p>
          <a:p>
            <a:pPr indent="0" marL="0">
              <a:buNone/>
            </a:pPr>
            <a:r>
              <a:rPr lang="en-US" sz="800" dirty="0">
                <a:solidFill>
                  <a:srgbClr val="7EE787"/>
                </a:solidFill>
                <a:latin typeface="Courier New" pitchFamily="34" charset="0"/>
                <a:ea typeface="Courier New" pitchFamily="34" charset="-122"/>
                <a:cs typeface="Courier New" pitchFamily="34" charset="-120"/>
              </a:rPr>
              <a:t>False</a:t>
            </a:r>
            <a:endParaRPr lang="en-US" sz="800" dirty="0"/>
          </a:p>
          <a:p>
            <a:pPr indent="0" marL="0">
              <a:buNone/>
            </a:pPr>
            <a:r>
              <a:rPr lang="en-US" sz="800" b="1" dirty="0">
                <a:solidFill>
                  <a:srgbClr val="D97A14"/>
                </a:solidFill>
                <a:latin typeface="Courier New" pitchFamily="34" charset="0"/>
                <a:ea typeface="Courier New" pitchFamily="34" charset="-122"/>
                <a:cs typeface="Courier New" pitchFamily="34" charset="-120"/>
              </a:rPr>
              <a:t>&gt;&gt;&gt; </a:t>
            </a:r>
            <a:pPr indent="0" marL="0">
              <a:buNone/>
            </a:pPr>
            <a:r>
              <a:rPr lang="en-US" sz="800" dirty="0">
                <a:solidFill>
                  <a:srgbClr val="E6EDF3"/>
                </a:solidFill>
                <a:latin typeface="Courier New" pitchFamily="34" charset="0"/>
                <a:ea typeface="Courier New" pitchFamily="34" charset="-122"/>
                <a:cs typeface="Courier New" pitchFamily="34" charset="-120"/>
              </a:rPr>
              <a:t>1 &lt; 2 &gt; 1.5</a:t>
            </a:r>
            <a:endParaRPr lang="en-US" sz="800" dirty="0"/>
          </a:p>
          <a:p>
            <a:pPr indent="0" marL="0">
              <a:buNone/>
            </a:pPr>
            <a:r>
              <a:rPr lang="en-US" sz="800" dirty="0">
                <a:solidFill>
                  <a:srgbClr val="7EE787"/>
                </a:solidFill>
                <a:latin typeface="Courier New" pitchFamily="34" charset="0"/>
                <a:ea typeface="Courier New" pitchFamily="34" charset="-122"/>
                <a:cs typeface="Courier New" pitchFamily="34" charset="-120"/>
              </a:rPr>
              <a:t>True</a:t>
            </a:r>
            <a:endParaRPr lang="en-US" sz="800" dirty="0"/>
          </a:p>
        </p:txBody>
      </p:sp>
      <p:sp>
        <p:nvSpPr>
          <p:cNvPr id="17" name="Text 15"/>
          <p:cNvSpPr txBox="1"/>
          <p:nvPr/>
        </p:nvSpPr>
        <p:spPr>
          <a:xfrm>
            <a:off x="457200" y="4498848"/>
            <a:ext cx="822960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bool is a type like any other - with only two citizens</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7 / 22</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Truthiness: what counts as something</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Every value answers bool() - emptiness answers False</a:t>
            </a:r>
            <a:endParaRPr lang="en-US" sz="1300" dirty="0"/>
          </a:p>
        </p:txBody>
      </p:sp>
      <p:sp>
        <p:nvSpPr>
          <p:cNvPr id="6" name="Shape 4"/>
          <p:cNvSpPr/>
          <p:nvPr/>
        </p:nvSpPr>
        <p:spPr>
          <a:xfrm>
            <a:off x="457200" y="149961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996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46304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Zero, empty text, empty containers: falsy</a:t>
            </a:r>
            <a:endParaRPr lang="en-US" sz="1050" dirty="0"/>
          </a:p>
        </p:txBody>
      </p:sp>
      <p:sp>
        <p:nvSpPr>
          <p:cNvPr id="9" name="Shape 7"/>
          <p:cNvSpPr/>
          <p:nvPr/>
        </p:nvSpPr>
        <p:spPr>
          <a:xfrm>
            <a:off x="457200" y="2078736"/>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78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204216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Everything else: truthy</a:t>
            </a:r>
            <a:endParaRPr lang="en-US" sz="1050" dirty="0"/>
          </a:p>
        </p:txBody>
      </p:sp>
      <p:sp>
        <p:nvSpPr>
          <p:cNvPr id="12" name="Shape 10"/>
          <p:cNvSpPr/>
          <p:nvPr/>
        </p:nvSpPr>
        <p:spPr>
          <a:xfrm>
            <a:off x="457200" y="2657856"/>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6578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62128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So 'if name:' reads as 'if name is not empty'</a:t>
            </a:r>
            <a:endParaRPr lang="en-US" sz="1050" dirty="0"/>
          </a:p>
        </p:txBody>
      </p:sp>
      <p:sp>
        <p:nvSpPr>
          <p:cNvPr id="15" name="Text 13"/>
          <p:cNvSpPr txBox="1"/>
          <p:nvPr/>
        </p:nvSpPr>
        <p:spPr>
          <a:xfrm>
            <a:off x="3931920" y="1143000"/>
            <a:ext cx="475488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census, run</a:t>
            </a:r>
            <a:endParaRPr lang="en-US" sz="1150" dirty="0"/>
          </a:p>
        </p:txBody>
      </p:sp>
      <p:sp>
        <p:nvSpPr>
          <p:cNvPr id="16" name="Shape 14"/>
          <p:cNvSpPr/>
          <p:nvPr/>
        </p:nvSpPr>
        <p:spPr>
          <a:xfrm>
            <a:off x="3931920" y="1417320"/>
            <a:ext cx="4754880" cy="1371600"/>
          </a:xfrm>
          <a:prstGeom prst="roundRect">
            <a:avLst>
              <a:gd name="adj" fmla="val 6667"/>
            </a:avLst>
          </a:prstGeom>
          <a:solidFill>
            <a:srgbClr val="23272E"/>
          </a:solidFill>
          <a:ln w="12700">
            <a:solidFill>
              <a:srgbClr val="23272E"/>
            </a:solidFill>
            <a:prstDash val="solid"/>
          </a:ln>
        </p:spPr>
      </p:sp>
      <p:sp>
        <p:nvSpPr>
          <p:cNvPr id="17" name="Text 15"/>
          <p:cNvSpPr txBox="1"/>
          <p:nvPr/>
        </p:nvSpPr>
        <p:spPr>
          <a:xfrm>
            <a:off x="4114800" y="1536192"/>
            <a:ext cx="4389120" cy="1133856"/>
          </a:xfrm>
          <a:prstGeom prst="rect">
            <a:avLst/>
          </a:prstGeom>
          <a:noFill/>
          <a:ln/>
        </p:spPr>
        <p:txBody>
          <a:bodyPr wrap="square" lIns="0" tIns="0" rIns="0" bIns="0" rtlCol="0" anchor="t"/>
          <a:lstStyle/>
          <a:p>
            <a:pPr indent="0" marL="0">
              <a:buNone/>
            </a:pPr>
            <a:r>
              <a:rPr lang="en-US" sz="830" b="1" dirty="0">
                <a:solidFill>
                  <a:srgbClr val="D97A14"/>
                </a:solidFill>
                <a:latin typeface="Courier New" pitchFamily="34" charset="0"/>
                <a:ea typeface="Courier New" pitchFamily="34" charset="-122"/>
                <a:cs typeface="Courier New" pitchFamily="34" charset="-120"/>
              </a:rPr>
              <a:t>&gt;&gt;&gt; </a:t>
            </a:r>
            <a:pPr indent="0" marL="0">
              <a:buNone/>
            </a:pPr>
            <a:r>
              <a:rPr lang="en-US" sz="830" dirty="0">
                <a:solidFill>
                  <a:srgbClr val="E6EDF3"/>
                </a:solidFill>
                <a:latin typeface="Courier New" pitchFamily="34" charset="0"/>
                <a:ea typeface="Courier New" pitchFamily="34" charset="-122"/>
                <a:cs typeface="Courier New" pitchFamily="34" charset="-120"/>
              </a:rPr>
              <a:t>True</a:t>
            </a:r>
            <a:endParaRPr lang="en-US" sz="830" dirty="0"/>
          </a:p>
          <a:p>
            <a:pPr indent="0" marL="0">
              <a:buNone/>
            </a:pPr>
            <a:r>
              <a:rPr lang="en-US" sz="830" dirty="0">
                <a:solidFill>
                  <a:srgbClr val="7EE787"/>
                </a:solidFill>
                <a:latin typeface="Courier New" pitchFamily="34" charset="0"/>
                <a:ea typeface="Courier New" pitchFamily="34" charset="-122"/>
                <a:cs typeface="Courier New" pitchFamily="34" charset="-120"/>
              </a:rPr>
              <a:t>True</a:t>
            </a:r>
            <a:endParaRPr lang="en-US" sz="830" dirty="0"/>
          </a:p>
          <a:p>
            <a:pPr indent="0" marL="0">
              <a:buNone/>
            </a:pPr>
            <a:r>
              <a:rPr lang="en-US" sz="830" b="1" dirty="0">
                <a:solidFill>
                  <a:srgbClr val="D97A14"/>
                </a:solidFill>
                <a:latin typeface="Courier New" pitchFamily="34" charset="0"/>
                <a:ea typeface="Courier New" pitchFamily="34" charset="-122"/>
                <a:cs typeface="Courier New" pitchFamily="34" charset="-120"/>
              </a:rPr>
              <a:t>&gt;&gt;&gt; </a:t>
            </a:r>
            <a:pPr indent="0" marL="0">
              <a:buNone/>
            </a:pPr>
            <a:r>
              <a:rPr lang="en-US" sz="830" dirty="0">
                <a:solidFill>
                  <a:srgbClr val="E6EDF3"/>
                </a:solidFill>
                <a:latin typeface="Courier New" pitchFamily="34" charset="0"/>
                <a:ea typeface="Courier New" pitchFamily="34" charset="-122"/>
                <a:cs typeface="Courier New" pitchFamily="34" charset="-120"/>
              </a:rPr>
              <a:t>bool(1)</a:t>
            </a:r>
            <a:endParaRPr lang="en-US" sz="830" dirty="0"/>
          </a:p>
          <a:p>
            <a:pPr indent="0" marL="0">
              <a:buNone/>
            </a:pPr>
            <a:r>
              <a:rPr lang="en-US" sz="830" dirty="0">
                <a:solidFill>
                  <a:srgbClr val="7EE787"/>
                </a:solidFill>
                <a:latin typeface="Courier New" pitchFamily="34" charset="0"/>
                <a:ea typeface="Courier New" pitchFamily="34" charset="-122"/>
                <a:cs typeface="Courier New" pitchFamily="34" charset="-120"/>
              </a:rPr>
              <a:t>True</a:t>
            </a:r>
            <a:endParaRPr lang="en-US" sz="830" dirty="0"/>
          </a:p>
          <a:p>
            <a:pPr indent="0" marL="0">
              <a:buNone/>
            </a:pPr>
            <a:r>
              <a:rPr lang="en-US" sz="830" b="1" dirty="0">
                <a:solidFill>
                  <a:srgbClr val="D97A14"/>
                </a:solidFill>
                <a:latin typeface="Courier New" pitchFamily="34" charset="0"/>
                <a:ea typeface="Courier New" pitchFamily="34" charset="-122"/>
                <a:cs typeface="Courier New" pitchFamily="34" charset="-120"/>
              </a:rPr>
              <a:t>&gt;&gt;&gt; </a:t>
            </a:r>
            <a:pPr indent="0" marL="0">
              <a:buNone/>
            </a:pPr>
            <a:r>
              <a:rPr lang="en-US" sz="830" dirty="0">
                <a:solidFill>
                  <a:srgbClr val="E6EDF3"/>
                </a:solidFill>
                <a:latin typeface="Courier New" pitchFamily="34" charset="0"/>
                <a:ea typeface="Courier New" pitchFamily="34" charset="-122"/>
                <a:cs typeface="Courier New" pitchFamily="34" charset="-120"/>
              </a:rPr>
              <a:t>bool(0)</a:t>
            </a:r>
            <a:endParaRPr lang="en-US" sz="830" dirty="0"/>
          </a:p>
          <a:p>
            <a:pPr indent="0" marL="0">
              <a:buNone/>
            </a:pPr>
            <a:r>
              <a:rPr lang="en-US" sz="830" dirty="0">
                <a:solidFill>
                  <a:srgbClr val="7EE787"/>
                </a:solidFill>
                <a:latin typeface="Courier New" pitchFamily="34" charset="0"/>
                <a:ea typeface="Courier New" pitchFamily="34" charset="-122"/>
                <a:cs typeface="Courier New" pitchFamily="34" charset="-120"/>
              </a:rPr>
              <a:t>False</a:t>
            </a:r>
            <a:endParaRPr lang="en-US" sz="830" dirty="0"/>
          </a:p>
          <a:p>
            <a:pPr indent="0" marL="0">
              <a:buNone/>
            </a:pPr>
            <a:r>
              <a:rPr lang="en-US" sz="830" b="1" dirty="0">
                <a:solidFill>
                  <a:srgbClr val="D97A14"/>
                </a:solidFill>
                <a:latin typeface="Courier New" pitchFamily="34" charset="0"/>
                <a:ea typeface="Courier New" pitchFamily="34" charset="-122"/>
                <a:cs typeface="Courier New" pitchFamily="34" charset="-120"/>
              </a:rPr>
              <a:t>&gt;&gt;&gt; </a:t>
            </a:r>
            <a:pPr indent="0" marL="0">
              <a:buNone/>
            </a:pPr>
            <a:r>
              <a:rPr lang="en-US" sz="830" dirty="0">
                <a:solidFill>
                  <a:srgbClr val="E6EDF3"/>
                </a:solidFill>
                <a:latin typeface="Courier New" pitchFamily="34" charset="0"/>
                <a:ea typeface="Courier New" pitchFamily="34" charset="-122"/>
                <a:cs typeface="Courier New" pitchFamily="34" charset="-120"/>
              </a:rPr>
              <a:t>bool('text')</a:t>
            </a:r>
            <a:endParaRPr lang="en-US" sz="830" dirty="0"/>
          </a:p>
          <a:p>
            <a:pPr indent="0" marL="0">
              <a:buNone/>
            </a:pPr>
            <a:r>
              <a:rPr lang="en-US" sz="830" dirty="0">
                <a:solidFill>
                  <a:srgbClr val="7EE787"/>
                </a:solidFill>
                <a:latin typeface="Courier New" pitchFamily="34" charset="0"/>
                <a:ea typeface="Courier New" pitchFamily="34" charset="-122"/>
                <a:cs typeface="Courier New" pitchFamily="34" charset="-120"/>
              </a:rPr>
              <a:t>True</a:t>
            </a:r>
            <a:endParaRPr lang="en-US" sz="830" dirty="0"/>
          </a:p>
        </p:txBody>
      </p:sp>
      <p:sp>
        <p:nvSpPr>
          <p:cNvPr id="18" name="Text 16"/>
          <p:cNvSpPr txBox="1"/>
          <p:nvPr/>
        </p:nvSpPr>
        <p:spPr>
          <a:xfrm>
            <a:off x="3931920" y="2807208"/>
            <a:ext cx="475488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9" name="Text 17"/>
          <p:cNvSpPr txBox="1"/>
          <p:nvPr/>
        </p:nvSpPr>
        <p:spPr>
          <a:xfrm>
            <a:off x="457200" y="2944368"/>
            <a:ext cx="822960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idiom the style guide prefers</a:t>
            </a:r>
            <a:endParaRPr lang="en-US" sz="1150" dirty="0"/>
          </a:p>
        </p:txBody>
      </p:sp>
      <p:sp>
        <p:nvSpPr>
          <p:cNvPr id="20" name="Shape 18"/>
          <p:cNvSpPr/>
          <p:nvPr/>
        </p:nvSpPr>
        <p:spPr>
          <a:xfrm>
            <a:off x="457200" y="3218688"/>
            <a:ext cx="8229600" cy="1261872"/>
          </a:xfrm>
          <a:prstGeom prst="roundRect">
            <a:avLst>
              <a:gd name="adj" fmla="val 7246"/>
            </a:avLst>
          </a:prstGeom>
          <a:solidFill>
            <a:srgbClr val="23272E"/>
          </a:solidFill>
          <a:ln w="12700">
            <a:solidFill>
              <a:srgbClr val="23272E"/>
            </a:solidFill>
            <a:prstDash val="solid"/>
          </a:ln>
        </p:spPr>
      </p:sp>
      <p:sp>
        <p:nvSpPr>
          <p:cNvPr id="21" name="Text 19"/>
          <p:cNvSpPr txBox="1"/>
          <p:nvPr/>
        </p:nvSpPr>
        <p:spPr>
          <a:xfrm>
            <a:off x="640080" y="3337560"/>
            <a:ext cx="7863840" cy="1024128"/>
          </a:xfrm>
          <a:prstGeom prst="rect">
            <a:avLst/>
          </a:prstGeom>
          <a:noFill/>
          <a:ln/>
        </p:spPr>
        <p:txBody>
          <a:bodyPr wrap="square" lIns="0" tIns="0" rIns="0" bIns="0" rtlCol="0" anchor="t"/>
          <a:lstStyle/>
          <a:p>
            <a:pPr indent="0" marL="0">
              <a:buNone/>
            </a:pPr>
            <a:r>
              <a:rPr lang="en-US" sz="750" b="1" dirty="0">
                <a:solidFill>
                  <a:srgbClr val="D97A14"/>
                </a:solidFill>
                <a:latin typeface="Courier New" pitchFamily="34" charset="0"/>
                <a:ea typeface="Courier New" pitchFamily="34" charset="-122"/>
                <a:cs typeface="Courier New" pitchFamily="34" charset="-120"/>
              </a:rPr>
              <a:t>&gt;&gt;&gt; </a:t>
            </a:r>
            <a:pPr indent="0" marL="0">
              <a:buNone/>
            </a:pPr>
            <a:r>
              <a:rPr lang="en-US" sz="750" dirty="0">
                <a:solidFill>
                  <a:srgbClr val="E6EDF3"/>
                </a:solidFill>
                <a:latin typeface="Courier New" pitchFamily="34" charset="0"/>
                <a:ea typeface="Courier New" pitchFamily="34" charset="-122"/>
                <a:cs typeface="Courier New" pitchFamily="34" charset="-120"/>
              </a:rPr>
              <a:t>bool([])</a:t>
            </a:r>
            <a:endParaRPr lang="en-US" sz="750" dirty="0"/>
          </a:p>
          <a:p>
            <a:pPr indent="0" marL="0">
              <a:buNone/>
            </a:pPr>
            <a:r>
              <a:rPr lang="en-US" sz="750" dirty="0">
                <a:solidFill>
                  <a:srgbClr val="7EE787"/>
                </a:solidFill>
                <a:latin typeface="Courier New" pitchFamily="34" charset="0"/>
                <a:ea typeface="Courier New" pitchFamily="34" charset="-122"/>
                <a:cs typeface="Courier New" pitchFamily="34" charset="-120"/>
              </a:rPr>
              <a:t>False</a:t>
            </a:r>
            <a:endParaRPr lang="en-US" sz="750" dirty="0"/>
          </a:p>
          <a:p>
            <a:pPr indent="0" marL="0">
              <a:buNone/>
            </a:pPr>
            <a:r>
              <a:rPr lang="en-US" sz="750" b="1" dirty="0">
                <a:solidFill>
                  <a:srgbClr val="D97A14"/>
                </a:solidFill>
                <a:latin typeface="Courier New" pitchFamily="34" charset="0"/>
                <a:ea typeface="Courier New" pitchFamily="34" charset="-122"/>
                <a:cs typeface="Courier New" pitchFamily="34" charset="-120"/>
              </a:rPr>
              <a:t>&gt;&gt;&gt; </a:t>
            </a:r>
            <a:pPr indent="0" marL="0">
              <a:buNone/>
            </a:pPr>
            <a:r>
              <a:rPr lang="en-US" sz="750" dirty="0">
                <a:solidFill>
                  <a:srgbClr val="E6EDF3"/>
                </a:solidFill>
                <a:latin typeface="Courier New" pitchFamily="34" charset="0"/>
                <a:ea typeface="Courier New" pitchFamily="34" charset="-122"/>
                <a:cs typeface="Courier New" pitchFamily="34" charset="-120"/>
              </a:rPr>
              <a:t>len([])</a:t>
            </a:r>
            <a:endParaRPr lang="en-US" sz="750" dirty="0"/>
          </a:p>
          <a:p>
            <a:pPr indent="0" marL="0">
              <a:buNone/>
            </a:pPr>
            <a:r>
              <a:rPr lang="en-US" sz="750" dirty="0">
                <a:solidFill>
                  <a:srgbClr val="7EE787"/>
                </a:solidFill>
                <a:latin typeface="Courier New" pitchFamily="34" charset="0"/>
                <a:ea typeface="Courier New" pitchFamily="34" charset="-122"/>
                <a:cs typeface="Courier New" pitchFamily="34" charset="-120"/>
              </a:rPr>
              <a:t>0</a:t>
            </a:r>
            <a:endParaRPr lang="en-US" sz="750" dirty="0"/>
          </a:p>
          <a:p>
            <a:pPr indent="0" marL="0">
              <a:buNone/>
            </a:pPr>
            <a:r>
              <a:rPr lang="en-US" sz="750" b="1" dirty="0">
                <a:solidFill>
                  <a:srgbClr val="D97A14"/>
                </a:solidFill>
                <a:latin typeface="Courier New" pitchFamily="34" charset="0"/>
                <a:ea typeface="Courier New" pitchFamily="34" charset="-122"/>
                <a:cs typeface="Courier New" pitchFamily="34" charset="-120"/>
              </a:rPr>
              <a:t>&gt;&gt;&gt; </a:t>
            </a:r>
            <a:pPr indent="0" marL="0">
              <a:buNone/>
            </a:pPr>
            <a:r>
              <a:rPr lang="en-US" sz="750" dirty="0">
                <a:solidFill>
                  <a:srgbClr val="E6EDF3"/>
                </a:solidFill>
                <a:latin typeface="Courier New" pitchFamily="34" charset="0"/>
                <a:ea typeface="Courier New" pitchFamily="34" charset="-122"/>
                <a:cs typeface="Courier New" pitchFamily="34" charset="-120"/>
              </a:rPr>
              <a:t>bool([1, 2])</a:t>
            </a:r>
            <a:endParaRPr lang="en-US" sz="750" dirty="0"/>
          </a:p>
          <a:p>
            <a:pPr indent="0" marL="0">
              <a:buNone/>
            </a:pPr>
            <a:r>
              <a:rPr lang="en-US" sz="750" dirty="0">
                <a:solidFill>
                  <a:srgbClr val="7EE787"/>
                </a:solidFill>
                <a:latin typeface="Courier New" pitchFamily="34" charset="0"/>
                <a:ea typeface="Courier New" pitchFamily="34" charset="-122"/>
                <a:cs typeface="Courier New" pitchFamily="34" charset="-120"/>
              </a:rPr>
              <a:t>True</a:t>
            </a:r>
            <a:endParaRPr lang="en-US" sz="750" dirty="0"/>
          </a:p>
          <a:p>
            <a:pPr indent="0" marL="0">
              <a:buNone/>
            </a:pPr>
            <a:r>
              <a:rPr lang="en-US" sz="750" b="1" dirty="0">
                <a:solidFill>
                  <a:srgbClr val="D97A14"/>
                </a:solidFill>
                <a:latin typeface="Courier New" pitchFamily="34" charset="0"/>
                <a:ea typeface="Courier New" pitchFamily="34" charset="-122"/>
                <a:cs typeface="Courier New" pitchFamily="34" charset="-120"/>
              </a:rPr>
              <a:t>&gt;&gt;&gt; </a:t>
            </a:r>
            <a:pPr indent="0" marL="0">
              <a:buNone/>
            </a:pPr>
            <a:r>
              <a:rPr lang="en-US" sz="750" dirty="0">
                <a:solidFill>
                  <a:srgbClr val="E6EDF3"/>
                </a:solidFill>
                <a:latin typeface="Courier New" pitchFamily="34" charset="0"/>
                <a:ea typeface="Courier New" pitchFamily="34" charset="-122"/>
                <a:cs typeface="Courier New" pitchFamily="34" charset="-120"/>
              </a:rPr>
              <a:t>len([1, 2])</a:t>
            </a:r>
            <a:endParaRPr lang="en-US" sz="750" dirty="0"/>
          </a:p>
          <a:p>
            <a:pPr indent="0" marL="0">
              <a:buNone/>
            </a:pPr>
            <a:r>
              <a:rPr lang="en-US" sz="750" dirty="0">
                <a:solidFill>
                  <a:srgbClr val="7EE787"/>
                </a:solidFill>
                <a:latin typeface="Courier New" pitchFamily="34" charset="0"/>
                <a:ea typeface="Courier New" pitchFamily="34" charset="-122"/>
                <a:cs typeface="Courier New" pitchFamily="34" charset="-120"/>
              </a:rPr>
              <a:t>2</a:t>
            </a:r>
            <a:endParaRPr lang="en-US" sz="750" dirty="0"/>
          </a:p>
        </p:txBody>
      </p:sp>
      <p:sp>
        <p:nvSpPr>
          <p:cNvPr id="22" name="Text 20"/>
          <p:cNvSpPr txBox="1"/>
          <p:nvPr/>
        </p:nvSpPr>
        <p:spPr>
          <a:xfrm>
            <a:off x="457200" y="4498848"/>
            <a:ext cx="822960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Emptiness is False; if name: is idiomatic Python</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8 / 22</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Combining conditions</a:t>
            </a:r>
            <a:endParaRPr lang="en-US" sz="3200" dirty="0"/>
          </a:p>
        </p:txBody>
      </p:sp>
      <p:sp>
        <p:nvSpPr>
          <p:cNvPr id="5" name="Text 3"/>
          <p:cNvSpPr txBox="1"/>
          <p:nvPr/>
        </p:nvSpPr>
        <p:spPr>
          <a:xfrm>
            <a:off x="777240" y="1645920"/>
            <a:ext cx="7863840" cy="822960"/>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and, or, not - Boole's three operations</a:t>
            </a:r>
            <a:endParaRPr lang="en-US" sz="1500" dirty="0"/>
          </a:p>
        </p:txBody>
      </p:sp>
      <p:sp>
        <p:nvSpPr>
          <p:cNvPr id="6" name="Shape 4"/>
          <p:cNvSpPr/>
          <p:nvPr/>
        </p:nvSpPr>
        <p:spPr>
          <a:xfrm>
            <a:off x="777240" y="2697480"/>
            <a:ext cx="1856232" cy="1737360"/>
          </a:xfrm>
          <a:prstGeom prst="roundRect">
            <a:avLst>
              <a:gd name="adj" fmla="val 4211"/>
            </a:avLst>
          </a:prstGeom>
          <a:solidFill>
            <a:srgbClr val="2F6D62"/>
          </a:solidFill>
          <a:ln w="12700">
            <a:solidFill>
              <a:srgbClr val="2F6D62"/>
            </a:solidFill>
            <a:prstDash val="solid"/>
          </a:ln>
        </p:spPr>
      </p:sp>
      <p:sp>
        <p:nvSpPr>
          <p:cNvPr id="7" name="Text 5"/>
          <p:cNvSpPr txBox="1"/>
          <p:nvPr/>
        </p:nvSpPr>
        <p:spPr>
          <a:xfrm>
            <a:off x="850392"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and / or</a:t>
            </a:r>
            <a:pPr algn="ctr" indent="0" marL="0">
              <a:buNone/>
            </a:pPr>
            <a:endParaRPr lang="en-US" sz="1400" dirty="0"/>
          </a:p>
        </p:txBody>
      </p:sp>
      <p:sp>
        <p:nvSpPr>
          <p:cNvPr id="8" name="Shape 6"/>
          <p:cNvSpPr/>
          <p:nvPr/>
        </p:nvSpPr>
        <p:spPr>
          <a:xfrm>
            <a:off x="2779776" y="2697480"/>
            <a:ext cx="1856232" cy="1737360"/>
          </a:xfrm>
          <a:prstGeom prst="roundRect">
            <a:avLst>
              <a:gd name="adj" fmla="val 4211"/>
            </a:avLst>
          </a:prstGeom>
          <a:solidFill>
            <a:srgbClr val="2F6D62"/>
          </a:solidFill>
          <a:ln w="12700">
            <a:solidFill>
              <a:srgbClr val="2F6D62"/>
            </a:solidFill>
            <a:prstDash val="solid"/>
          </a:ln>
        </p:spPr>
      </p:sp>
      <p:sp>
        <p:nvSpPr>
          <p:cNvPr id="9" name="Text 7"/>
          <p:cNvSpPr txBox="1"/>
          <p:nvPr/>
        </p:nvSpPr>
        <p:spPr>
          <a:xfrm>
            <a:off x="2852928"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not</a:t>
            </a:r>
            <a:pPr algn="ctr" indent="0" marL="0">
              <a:buNone/>
            </a:pPr>
            <a:endParaRPr lang="en-US" sz="1400" dirty="0"/>
          </a:p>
        </p:txBody>
      </p:sp>
      <p:sp>
        <p:nvSpPr>
          <p:cNvPr id="10" name="Shape 8"/>
          <p:cNvSpPr/>
          <p:nvPr/>
        </p:nvSpPr>
        <p:spPr>
          <a:xfrm>
            <a:off x="4782312" y="2697480"/>
            <a:ext cx="1856232" cy="1737360"/>
          </a:xfrm>
          <a:prstGeom prst="roundRect">
            <a:avLst>
              <a:gd name="adj" fmla="val 4211"/>
            </a:avLst>
          </a:prstGeom>
          <a:solidFill>
            <a:srgbClr val="2F6D62"/>
          </a:solidFill>
          <a:ln w="12700">
            <a:solidFill>
              <a:srgbClr val="2F6D62"/>
            </a:solidFill>
            <a:prstDash val="solid"/>
          </a:ln>
        </p:spPr>
      </p:sp>
      <p:sp>
        <p:nvSpPr>
          <p:cNvPr id="11" name="Text 9"/>
          <p:cNvSpPr txBox="1"/>
          <p:nvPr/>
        </p:nvSpPr>
        <p:spPr>
          <a:xfrm>
            <a:off x="4855464"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Short-circuit</a:t>
            </a:r>
            <a:pPr algn="ctr" indent="0" marL="0">
              <a:buNone/>
            </a:pPr>
            <a:endParaRPr lang="en-US" sz="1400" dirty="0"/>
          </a:p>
        </p:txBody>
      </p:sp>
      <p:sp>
        <p:nvSpPr>
          <p:cNvPr id="12" name="Shape 10"/>
          <p:cNvSpPr/>
          <p:nvPr/>
        </p:nvSpPr>
        <p:spPr>
          <a:xfrm>
            <a:off x="6784848" y="2697480"/>
            <a:ext cx="1856232" cy="1737360"/>
          </a:xfrm>
          <a:prstGeom prst="roundRect">
            <a:avLst>
              <a:gd name="adj" fmla="val 4211"/>
            </a:avLst>
          </a:prstGeom>
          <a:solidFill>
            <a:srgbClr val="2F6D62"/>
          </a:solidFill>
          <a:ln w="12700">
            <a:solidFill>
              <a:srgbClr val="2F6D62"/>
            </a:solidFill>
            <a:prstDash val="solid"/>
          </a:ln>
        </p:spPr>
      </p:sp>
      <p:sp>
        <p:nvSpPr>
          <p:cNvPr id="13" name="Text 11"/>
          <p:cNvSpPr txBox="1"/>
          <p:nvPr/>
        </p:nvSpPr>
        <p:spPr>
          <a:xfrm>
            <a:off x="6858000"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Precedence</a:t>
            </a:r>
            <a:pPr algn="ctr" indent="0" marL="0">
              <a:buNone/>
            </a:pPr>
            <a:endParaRPr lang="en-US" sz="1400" dirty="0"/>
          </a:p>
        </p:txBody>
      </p:sp>
      <p:sp>
        <p:nvSpPr>
          <p:cNvPr id="14"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9 / 22</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and, or, not - and who gets lazy</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Short-circuiting, shown misbehaving on purpose</a:t>
            </a:r>
            <a:endParaRPr lang="en-US" sz="1300" dirty="0"/>
          </a:p>
        </p:txBody>
      </p:sp>
      <p:sp>
        <p:nvSpPr>
          <p:cNvPr id="6" name="Text 4"/>
          <p:cNvSpPr txBox="1"/>
          <p:nvPr/>
        </p:nvSpPr>
        <p:spPr>
          <a:xfrm>
            <a:off x="457200" y="1188720"/>
            <a:ext cx="393192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truth tables, sampled</a:t>
            </a:r>
            <a:endParaRPr lang="en-US" sz="1150" dirty="0"/>
          </a:p>
        </p:txBody>
      </p:sp>
      <p:sp>
        <p:nvSpPr>
          <p:cNvPr id="7" name="Shape 5"/>
          <p:cNvSpPr/>
          <p:nvPr/>
        </p:nvSpPr>
        <p:spPr>
          <a:xfrm>
            <a:off x="457200" y="1463040"/>
            <a:ext cx="3931920" cy="1371600"/>
          </a:xfrm>
          <a:prstGeom prst="roundRect">
            <a:avLst>
              <a:gd name="adj" fmla="val 6667"/>
            </a:avLst>
          </a:prstGeom>
          <a:solidFill>
            <a:srgbClr val="23272E"/>
          </a:solidFill>
          <a:ln w="12700">
            <a:solidFill>
              <a:srgbClr val="23272E"/>
            </a:solidFill>
            <a:prstDash val="solid"/>
          </a:ln>
        </p:spPr>
      </p:sp>
      <p:sp>
        <p:nvSpPr>
          <p:cNvPr id="8" name="Text 6"/>
          <p:cNvSpPr txBox="1"/>
          <p:nvPr/>
        </p:nvSpPr>
        <p:spPr>
          <a:xfrm>
            <a:off x="640080" y="1581912"/>
            <a:ext cx="3566160" cy="1133856"/>
          </a:xfrm>
          <a:prstGeom prst="rect">
            <a:avLst/>
          </a:prstGeom>
          <a:noFill/>
          <a:ln/>
        </p:spPr>
        <p:txBody>
          <a:bodyPr wrap="square" lIns="0" tIns="0" rIns="0" bIns="0" rtlCol="0" anchor="t"/>
          <a:lstStyle/>
          <a:p>
            <a:pPr indent="0" marL="0">
              <a:buNone/>
            </a:pPr>
            <a:r>
              <a:rPr lang="en-US" sz="950" b="1" dirty="0">
                <a:solidFill>
                  <a:srgbClr val="D97A14"/>
                </a:solidFill>
                <a:latin typeface="Courier New" pitchFamily="34" charset="0"/>
                <a:ea typeface="Courier New" pitchFamily="34" charset="-122"/>
                <a:cs typeface="Courier New" pitchFamily="34" charset="-120"/>
              </a:rPr>
              <a:t>&gt;&gt;&gt; </a:t>
            </a:r>
            <a:pPr indent="0" marL="0">
              <a:buNone/>
            </a:pPr>
            <a:r>
              <a:rPr lang="en-US" sz="950" dirty="0">
                <a:solidFill>
                  <a:srgbClr val="E6EDF3"/>
                </a:solidFill>
                <a:latin typeface="Courier New" pitchFamily="34" charset="0"/>
                <a:ea typeface="Courier New" pitchFamily="34" charset="-122"/>
                <a:cs typeface="Courier New" pitchFamily="34" charset="-120"/>
              </a:rPr>
              <a:t>(4 &lt; 5) and (5 &lt; 6)</a:t>
            </a:r>
            <a:endParaRPr lang="en-US" sz="950" dirty="0"/>
          </a:p>
          <a:p>
            <a:pPr indent="0" marL="0">
              <a:buNone/>
            </a:pPr>
            <a:r>
              <a:rPr lang="en-US" sz="950" dirty="0">
                <a:solidFill>
                  <a:srgbClr val="7EE787"/>
                </a:solidFill>
                <a:latin typeface="Courier New" pitchFamily="34" charset="0"/>
                <a:ea typeface="Courier New" pitchFamily="34" charset="-122"/>
                <a:cs typeface="Courier New" pitchFamily="34" charset="-120"/>
              </a:rPr>
              <a:t>True</a:t>
            </a:r>
            <a:endParaRPr lang="en-US" sz="950" dirty="0"/>
          </a:p>
          <a:p>
            <a:pPr indent="0" marL="0">
              <a:buNone/>
            </a:pPr>
            <a:r>
              <a:rPr lang="en-US" sz="950" b="1" dirty="0">
                <a:solidFill>
                  <a:srgbClr val="D97A14"/>
                </a:solidFill>
                <a:latin typeface="Courier New" pitchFamily="34" charset="0"/>
                <a:ea typeface="Courier New" pitchFamily="34" charset="-122"/>
                <a:cs typeface="Courier New" pitchFamily="34" charset="-120"/>
              </a:rPr>
              <a:t>&gt;&gt;&gt; </a:t>
            </a:r>
            <a:pPr indent="0" marL="0">
              <a:buNone/>
            </a:pPr>
            <a:r>
              <a:rPr lang="en-US" sz="950" dirty="0">
                <a:solidFill>
                  <a:srgbClr val="E6EDF3"/>
                </a:solidFill>
                <a:latin typeface="Courier New" pitchFamily="34" charset="0"/>
                <a:ea typeface="Courier New" pitchFamily="34" charset="-122"/>
                <a:cs typeface="Courier New" pitchFamily="34" charset="-120"/>
              </a:rPr>
              <a:t>False or True</a:t>
            </a:r>
            <a:endParaRPr lang="en-US" sz="950" dirty="0"/>
          </a:p>
          <a:p>
            <a:pPr indent="0" marL="0">
              <a:buNone/>
            </a:pPr>
            <a:r>
              <a:rPr lang="en-US" sz="950" dirty="0">
                <a:solidFill>
                  <a:srgbClr val="7EE787"/>
                </a:solidFill>
                <a:latin typeface="Courier New" pitchFamily="34" charset="0"/>
                <a:ea typeface="Courier New" pitchFamily="34" charset="-122"/>
                <a:cs typeface="Courier New" pitchFamily="34" charset="-120"/>
              </a:rPr>
              <a:t>True</a:t>
            </a:r>
            <a:endParaRPr lang="en-US" sz="950" dirty="0"/>
          </a:p>
          <a:p>
            <a:pPr indent="0" marL="0">
              <a:buNone/>
            </a:pPr>
            <a:r>
              <a:rPr lang="en-US" sz="950" b="1" dirty="0">
                <a:solidFill>
                  <a:srgbClr val="D97A14"/>
                </a:solidFill>
                <a:latin typeface="Courier New" pitchFamily="34" charset="0"/>
                <a:ea typeface="Courier New" pitchFamily="34" charset="-122"/>
                <a:cs typeface="Courier New" pitchFamily="34" charset="-120"/>
              </a:rPr>
              <a:t>&gt;&gt;&gt; </a:t>
            </a:r>
            <a:pPr indent="0" marL="0">
              <a:buNone/>
            </a:pPr>
            <a:r>
              <a:rPr lang="en-US" sz="950" dirty="0">
                <a:solidFill>
                  <a:srgbClr val="E6EDF3"/>
                </a:solidFill>
                <a:latin typeface="Courier New" pitchFamily="34" charset="0"/>
                <a:ea typeface="Courier New" pitchFamily="34" charset="-122"/>
                <a:cs typeface="Courier New" pitchFamily="34" charset="-120"/>
              </a:rPr>
              <a:t>not not not not True</a:t>
            </a:r>
            <a:endParaRPr lang="en-US" sz="950" dirty="0"/>
          </a:p>
          <a:p>
            <a:pPr indent="0" marL="0">
              <a:buNone/>
            </a:pPr>
            <a:r>
              <a:rPr lang="en-US" sz="950" dirty="0">
                <a:solidFill>
                  <a:srgbClr val="7EE787"/>
                </a:solidFill>
                <a:latin typeface="Courier New" pitchFamily="34" charset="0"/>
                <a:ea typeface="Courier New" pitchFamily="34" charset="-122"/>
                <a:cs typeface="Courier New" pitchFamily="34" charset="-120"/>
              </a:rPr>
              <a:t>True</a:t>
            </a:r>
            <a:endParaRPr lang="en-US" sz="950" dirty="0"/>
          </a:p>
        </p:txBody>
      </p:sp>
      <p:sp>
        <p:nvSpPr>
          <p:cNvPr id="9" name="Text 7"/>
          <p:cNvSpPr txBox="1"/>
          <p:nvPr/>
        </p:nvSpPr>
        <p:spPr>
          <a:xfrm>
            <a:off x="457200" y="2852928"/>
            <a:ext cx="393192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0" name="Text 8"/>
          <p:cNvSpPr txBox="1"/>
          <p:nvPr/>
        </p:nvSpPr>
        <p:spPr>
          <a:xfrm>
            <a:off x="4663440" y="1188720"/>
            <a:ext cx="402336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right side may never run - even a 1/0 survives</a:t>
            </a:r>
            <a:endParaRPr lang="en-US" sz="1150" dirty="0"/>
          </a:p>
        </p:txBody>
      </p:sp>
      <p:sp>
        <p:nvSpPr>
          <p:cNvPr id="11" name="Shape 9"/>
          <p:cNvSpPr/>
          <p:nvPr/>
        </p:nvSpPr>
        <p:spPr>
          <a:xfrm>
            <a:off x="4663440" y="1463040"/>
            <a:ext cx="4023360" cy="1737360"/>
          </a:xfrm>
          <a:prstGeom prst="roundRect">
            <a:avLst>
              <a:gd name="adj" fmla="val 5263"/>
            </a:avLst>
          </a:prstGeom>
          <a:solidFill>
            <a:srgbClr val="23272E"/>
          </a:solidFill>
          <a:ln w="12700">
            <a:solidFill>
              <a:srgbClr val="23272E"/>
            </a:solidFill>
            <a:prstDash val="solid"/>
          </a:ln>
        </p:spPr>
      </p:sp>
      <p:sp>
        <p:nvSpPr>
          <p:cNvPr id="12" name="Text 10"/>
          <p:cNvSpPr txBox="1"/>
          <p:nvPr/>
        </p:nvSpPr>
        <p:spPr>
          <a:xfrm>
            <a:off x="4846320" y="1581912"/>
            <a:ext cx="3657600" cy="1499616"/>
          </a:xfrm>
          <a:prstGeom prst="rect">
            <a:avLst/>
          </a:prstGeom>
          <a:noFill/>
          <a:ln/>
        </p:spPr>
        <p:txBody>
          <a:bodyPr wrap="square" lIns="0" tIns="0" rIns="0" bIns="0" rtlCol="0" anchor="t"/>
          <a:lstStyle/>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1 or 1 / 0</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1</a:t>
            </a:r>
            <a:endParaRPr lang="en-US" sz="850" dirty="0"/>
          </a:p>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0 and 1 / 0</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0</a:t>
            </a:r>
            <a:endParaRPr lang="en-US" sz="850" dirty="0"/>
          </a:p>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False and 1 / 0</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False</a:t>
            </a:r>
            <a:endParaRPr lang="en-US" sz="850" dirty="0"/>
          </a:p>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1 and 1 / 0</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ZeroDivisionError: division by zero</a:t>
            </a:r>
            <a:endParaRPr lang="en-US" sz="850" dirty="0"/>
          </a:p>
        </p:txBody>
      </p:sp>
      <p:sp>
        <p:nvSpPr>
          <p:cNvPr id="13" name="Text 11"/>
          <p:cNvSpPr txBox="1"/>
          <p:nvPr/>
        </p:nvSpPr>
        <p:spPr>
          <a:xfrm>
            <a:off x="4663440" y="3218688"/>
            <a:ext cx="402336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4" name="Text 12"/>
          <p:cNvSpPr txBox="1"/>
          <p:nvPr/>
        </p:nvSpPr>
        <p:spPr>
          <a:xfrm>
            <a:off x="457200" y="2999232"/>
            <a:ext cx="822960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program version: the guard runs first, so the crash never comes</a:t>
            </a:r>
            <a:endParaRPr lang="en-US" sz="1150" dirty="0"/>
          </a:p>
        </p:txBody>
      </p:sp>
      <p:sp>
        <p:nvSpPr>
          <p:cNvPr id="15" name="Shape 13"/>
          <p:cNvSpPr/>
          <p:nvPr/>
        </p:nvSpPr>
        <p:spPr>
          <a:xfrm>
            <a:off x="457200" y="3273552"/>
            <a:ext cx="8229600" cy="1261872"/>
          </a:xfrm>
          <a:prstGeom prst="roundRect">
            <a:avLst>
              <a:gd name="adj" fmla="val 7246"/>
            </a:avLst>
          </a:prstGeom>
          <a:solidFill>
            <a:srgbClr val="23272E"/>
          </a:solidFill>
          <a:ln w="12700">
            <a:solidFill>
              <a:srgbClr val="23272E"/>
            </a:solidFill>
            <a:prstDash val="solid"/>
          </a:ln>
        </p:spPr>
      </p:sp>
      <p:sp>
        <p:nvSpPr>
          <p:cNvPr id="16" name="Text 14"/>
          <p:cNvSpPr txBox="1"/>
          <p:nvPr/>
        </p:nvSpPr>
        <p:spPr>
          <a:xfrm>
            <a:off x="640080" y="3392424"/>
            <a:ext cx="7863840" cy="1024128"/>
          </a:xfrm>
          <a:prstGeom prst="rect">
            <a:avLst/>
          </a:prstGeom>
          <a:noFill/>
          <a:ln/>
        </p:spPr>
        <p:txBody>
          <a:bodyPr wrap="square" lIns="0" tIns="0" rIns="0" bIns="0" rtlCol="0" anchor="t"/>
          <a:lstStyle/>
          <a:p>
            <a:pPr indent="0" marL="0">
              <a:buNone/>
            </a:pPr>
            <a:r>
              <a:rPr lang="en-US" sz="760" dirty="0">
                <a:solidFill>
                  <a:srgbClr val="E6EDF3"/>
                </a:solidFill>
                <a:latin typeface="Courier New" pitchFamily="34" charset="0"/>
                <a:ea typeface="Courier New" pitchFamily="34" charset="-122"/>
                <a:cs typeface="Courier New" pitchFamily="34" charset="-120"/>
              </a:rPr>
              <a:t>x = </a:t>
            </a:r>
            <a:pPr indent="0" marL="0">
              <a:buNone/>
            </a:pPr>
            <a:r>
              <a:rPr lang="en-US" sz="760" dirty="0">
                <a:solidFill>
                  <a:srgbClr val="FFD28A"/>
                </a:solidFill>
                <a:latin typeface="Courier New" pitchFamily="34" charset="0"/>
                <a:ea typeface="Courier New" pitchFamily="34" charset="-122"/>
                <a:cs typeface="Courier New" pitchFamily="34" charset="-120"/>
              </a:rPr>
              <a:t>0</a:t>
            </a:r>
            <a:endParaRPr lang="en-US" sz="760" dirty="0"/>
          </a:p>
          <a:p>
            <a:pPr indent="0" marL="0">
              <a:buNone/>
            </a:pPr>
            <a:r>
              <a:rPr lang="en-US" sz="760" dirty="0">
                <a:solidFill>
                  <a:srgbClr val="E6EDF3"/>
                </a:solidFill>
                <a:latin typeface="Courier New" pitchFamily="34" charset="0"/>
                <a:ea typeface="Courier New" pitchFamily="34" charset="-122"/>
                <a:cs typeface="Courier New" pitchFamily="34" charset="-120"/>
              </a:rPr>
              <a:t>print(x != </a:t>
            </a:r>
            <a:pPr indent="0" marL="0">
              <a:buNone/>
            </a:pPr>
            <a:r>
              <a:rPr lang="en-US" sz="760" dirty="0">
                <a:solidFill>
                  <a:srgbClr val="FFD28A"/>
                </a:solidFill>
                <a:latin typeface="Courier New" pitchFamily="34" charset="0"/>
                <a:ea typeface="Courier New" pitchFamily="34" charset="-122"/>
                <a:cs typeface="Courier New" pitchFamily="34" charset="-120"/>
              </a:rPr>
              <a:t>0</a:t>
            </a:r>
            <a:pPr indent="0" marL="0">
              <a:buNone/>
            </a:pPr>
            <a:r>
              <a:rPr lang="en-US" sz="760" dirty="0">
                <a:solidFill>
                  <a:srgbClr val="E6EDF3"/>
                </a:solidFill>
                <a:latin typeface="Courier New" pitchFamily="34" charset="0"/>
                <a:ea typeface="Courier New" pitchFamily="34" charset="-122"/>
                <a:cs typeface="Courier New" pitchFamily="34" charset="-120"/>
              </a:rPr>
              <a:t> </a:t>
            </a:r>
            <a:pPr indent="0" marL="0">
              <a:buNone/>
            </a:pPr>
            <a:r>
              <a:rPr lang="en-US" sz="760" b="1" dirty="0">
                <a:solidFill>
                  <a:srgbClr val="F2A860"/>
                </a:solidFill>
                <a:latin typeface="Courier New" pitchFamily="34" charset="0"/>
                <a:ea typeface="Courier New" pitchFamily="34" charset="-122"/>
                <a:cs typeface="Courier New" pitchFamily="34" charset="-120"/>
              </a:rPr>
              <a:t>and</a:t>
            </a:r>
            <a:pPr indent="0" marL="0">
              <a:buNone/>
            </a:pPr>
            <a:r>
              <a:rPr lang="en-US" sz="760" dirty="0">
                <a:solidFill>
                  <a:srgbClr val="E6EDF3"/>
                </a:solidFill>
                <a:latin typeface="Courier New" pitchFamily="34" charset="0"/>
                <a:ea typeface="Courier New" pitchFamily="34" charset="-122"/>
                <a:cs typeface="Courier New" pitchFamily="34" charset="-120"/>
              </a:rPr>
              <a:t> </a:t>
            </a:r>
            <a:pPr indent="0" marL="0">
              <a:buNone/>
            </a:pPr>
            <a:r>
              <a:rPr lang="en-US" sz="760" dirty="0">
                <a:solidFill>
                  <a:srgbClr val="FFD28A"/>
                </a:solidFill>
                <a:latin typeface="Courier New" pitchFamily="34" charset="0"/>
                <a:ea typeface="Courier New" pitchFamily="34" charset="-122"/>
                <a:cs typeface="Courier New" pitchFamily="34" charset="-120"/>
              </a:rPr>
              <a:t>10</a:t>
            </a:r>
            <a:pPr indent="0" marL="0">
              <a:buNone/>
            </a:pPr>
            <a:r>
              <a:rPr lang="en-US" sz="760" dirty="0">
                <a:solidFill>
                  <a:srgbClr val="E6EDF3"/>
                </a:solidFill>
                <a:latin typeface="Courier New" pitchFamily="34" charset="0"/>
                <a:ea typeface="Courier New" pitchFamily="34" charset="-122"/>
                <a:cs typeface="Courier New" pitchFamily="34" charset="-120"/>
              </a:rPr>
              <a:t> / x &gt; </a:t>
            </a:r>
            <a:pPr indent="0" marL="0">
              <a:buNone/>
            </a:pPr>
            <a:r>
              <a:rPr lang="en-US" sz="760" dirty="0">
                <a:solidFill>
                  <a:srgbClr val="FFD28A"/>
                </a:solidFill>
                <a:latin typeface="Courier New" pitchFamily="34" charset="0"/>
                <a:ea typeface="Courier New" pitchFamily="34" charset="-122"/>
                <a:cs typeface="Courier New" pitchFamily="34" charset="-120"/>
              </a:rPr>
              <a:t>2</a:t>
            </a:r>
            <a:pPr indent="0" marL="0">
              <a:buNone/>
            </a:pPr>
            <a:r>
              <a:rPr lang="en-US" sz="760" dirty="0">
                <a:solidFill>
                  <a:srgbClr val="E6EDF3"/>
                </a:solidFill>
                <a:latin typeface="Courier New" pitchFamily="34" charset="0"/>
                <a:ea typeface="Courier New" pitchFamily="34" charset="-122"/>
                <a:cs typeface="Courier New" pitchFamily="34" charset="-120"/>
              </a:rPr>
              <a:t>)</a:t>
            </a:r>
            <a:endParaRPr lang="en-US" sz="760" dirty="0"/>
          </a:p>
          <a:p>
            <a:pPr indent="0" marL="0">
              <a:buNone/>
            </a:pPr>
            <a:r>
              <a:rPr lang="en-US" sz="760" b="1" dirty="0">
                <a:solidFill>
                  <a:srgbClr val="F2A860"/>
                </a:solidFill>
                <a:latin typeface="Courier New" pitchFamily="34" charset="0"/>
                <a:ea typeface="Courier New" pitchFamily="34" charset="-122"/>
                <a:cs typeface="Courier New" pitchFamily="34" charset="-120"/>
              </a:rPr>
              <a:t>False</a:t>
            </a:r>
            <a:pPr indent="0" marL="0">
              <a:buNone/>
            </a:pPr>
            <a:r>
              <a:rPr lang="en-US" sz="760" dirty="0">
                <a:solidFill>
                  <a:srgbClr val="E6EDF3"/>
                </a:solidFill>
                <a:latin typeface="Courier New" pitchFamily="34" charset="0"/>
                <a:ea typeface="Courier New" pitchFamily="34" charset="-122"/>
                <a:cs typeface="Courier New" pitchFamily="34" charset="-120"/>
              </a:rPr>
              <a:t> </a:t>
            </a:r>
            <a:pPr indent="0" marL="0">
              <a:buNone/>
            </a:pPr>
            <a:r>
              <a:rPr lang="en-US" sz="760" b="1" dirty="0">
                <a:solidFill>
                  <a:srgbClr val="F2A860"/>
                </a:solidFill>
                <a:latin typeface="Courier New" pitchFamily="34" charset="0"/>
                <a:ea typeface="Courier New" pitchFamily="34" charset="-122"/>
                <a:cs typeface="Courier New" pitchFamily="34" charset="-120"/>
              </a:rPr>
              <a:t>and</a:t>
            </a:r>
            <a:pPr indent="0" marL="0">
              <a:buNone/>
            </a:pPr>
            <a:r>
              <a:rPr lang="en-US" sz="760" dirty="0">
                <a:solidFill>
                  <a:srgbClr val="E6EDF3"/>
                </a:solidFill>
                <a:latin typeface="Courier New" pitchFamily="34" charset="0"/>
                <a:ea typeface="Courier New" pitchFamily="34" charset="-122"/>
                <a:cs typeface="Courier New" pitchFamily="34" charset="-120"/>
              </a:rPr>
              <a:t> print(</a:t>
            </a:r>
            <a:pPr indent="0" marL="0">
              <a:buNone/>
            </a:pPr>
            <a:r>
              <a:rPr lang="en-US" sz="760" dirty="0">
                <a:solidFill>
                  <a:srgbClr val="9ECBFF"/>
                </a:solidFill>
                <a:latin typeface="Courier New" pitchFamily="34" charset="0"/>
                <a:ea typeface="Courier New" pitchFamily="34" charset="-122"/>
                <a:cs typeface="Courier New" pitchFamily="34" charset="-120"/>
              </a:rPr>
              <a:t>'this is never printed'</a:t>
            </a:r>
            <a:pPr indent="0" marL="0">
              <a:buNone/>
            </a:pPr>
            <a:r>
              <a:rPr lang="en-US" sz="760" dirty="0">
                <a:solidFill>
                  <a:srgbClr val="E6EDF3"/>
                </a:solidFill>
                <a:latin typeface="Courier New" pitchFamily="34" charset="0"/>
                <a:ea typeface="Courier New" pitchFamily="34" charset="-122"/>
                <a:cs typeface="Courier New" pitchFamily="34" charset="-120"/>
              </a:rPr>
              <a:t>)</a:t>
            </a:r>
            <a:endParaRPr lang="en-US" sz="760" dirty="0"/>
          </a:p>
          <a:p>
            <a:pPr indent="0" marL="0">
              <a:buNone/>
            </a:pPr>
            <a:r>
              <a:rPr lang="en-US" sz="760" b="1" dirty="0">
                <a:solidFill>
                  <a:srgbClr val="F2A860"/>
                </a:solidFill>
                <a:latin typeface="Courier New" pitchFamily="34" charset="0"/>
                <a:ea typeface="Courier New" pitchFamily="34" charset="-122"/>
                <a:cs typeface="Courier New" pitchFamily="34" charset="-120"/>
              </a:rPr>
              <a:t>True</a:t>
            </a:r>
            <a:pPr indent="0" marL="0">
              <a:buNone/>
            </a:pPr>
            <a:r>
              <a:rPr lang="en-US" sz="760" dirty="0">
                <a:solidFill>
                  <a:srgbClr val="E6EDF3"/>
                </a:solidFill>
                <a:latin typeface="Courier New" pitchFamily="34" charset="0"/>
                <a:ea typeface="Courier New" pitchFamily="34" charset="-122"/>
                <a:cs typeface="Courier New" pitchFamily="34" charset="-120"/>
              </a:rPr>
              <a:t> </a:t>
            </a:r>
            <a:pPr indent="0" marL="0">
              <a:buNone/>
            </a:pPr>
            <a:r>
              <a:rPr lang="en-US" sz="760" b="1" dirty="0">
                <a:solidFill>
                  <a:srgbClr val="F2A860"/>
                </a:solidFill>
                <a:latin typeface="Courier New" pitchFamily="34" charset="0"/>
                <a:ea typeface="Courier New" pitchFamily="34" charset="-122"/>
                <a:cs typeface="Courier New" pitchFamily="34" charset="-120"/>
              </a:rPr>
              <a:t>and</a:t>
            </a:r>
            <a:pPr indent="0" marL="0">
              <a:buNone/>
            </a:pPr>
            <a:r>
              <a:rPr lang="en-US" sz="760" dirty="0">
                <a:solidFill>
                  <a:srgbClr val="E6EDF3"/>
                </a:solidFill>
                <a:latin typeface="Courier New" pitchFamily="34" charset="0"/>
                <a:ea typeface="Courier New" pitchFamily="34" charset="-122"/>
                <a:cs typeface="Courier New" pitchFamily="34" charset="-120"/>
              </a:rPr>
              <a:t> print(</a:t>
            </a:r>
            <a:pPr indent="0" marL="0">
              <a:buNone/>
            </a:pPr>
            <a:r>
              <a:rPr lang="en-US" sz="760" dirty="0">
                <a:solidFill>
                  <a:srgbClr val="9ECBFF"/>
                </a:solidFill>
                <a:latin typeface="Courier New" pitchFamily="34" charset="0"/>
                <a:ea typeface="Courier New" pitchFamily="34" charset="-122"/>
                <a:cs typeface="Courier New" pitchFamily="34" charset="-120"/>
              </a:rPr>
              <a:t>'this is printed'</a:t>
            </a:r>
            <a:pPr indent="0" marL="0">
              <a:buNone/>
            </a:pPr>
            <a:r>
              <a:rPr lang="en-US" sz="760" dirty="0">
                <a:solidFill>
                  <a:srgbClr val="E6EDF3"/>
                </a:solidFill>
                <a:latin typeface="Courier New" pitchFamily="34" charset="0"/>
                <a:ea typeface="Courier New" pitchFamily="34" charset="-122"/>
                <a:cs typeface="Courier New" pitchFamily="34" charset="-120"/>
              </a:rPr>
              <a:t>)</a:t>
            </a:r>
            <a:endParaRPr lang="en-US" sz="760" dirty="0"/>
          </a:p>
          <a:p>
            <a:pPr indent="0" marL="0">
              <a:buNone/>
            </a:pPr>
            <a:r>
              <a:rPr lang="en-US" sz="760" b="1" dirty="0">
                <a:solidFill>
                  <a:srgbClr val="D97A14"/>
                </a:solidFill>
                <a:latin typeface="Courier New" pitchFamily="34" charset="0"/>
                <a:ea typeface="Courier New" pitchFamily="34" charset="-122"/>
                <a:cs typeface="Courier New" pitchFamily="34" charset="-120"/>
              </a:rPr>
              <a:t>prints </a:t>
            </a:r>
            <a:pPr indent="0" marL="0">
              <a:buNone/>
            </a:pPr>
            <a:r>
              <a:rPr lang="en-US" sz="760" dirty="0">
                <a:solidFill>
                  <a:srgbClr val="7EE787"/>
                </a:solidFill>
                <a:latin typeface="Courier New" pitchFamily="34" charset="0"/>
                <a:ea typeface="Courier New" pitchFamily="34" charset="-122"/>
                <a:cs typeface="Courier New" pitchFamily="34" charset="-120"/>
              </a:rPr>
              <a:t>False</a:t>
            </a:r>
            <a:endParaRPr lang="en-US" sz="760" dirty="0"/>
          </a:p>
          <a:p>
            <a:pPr indent="0" marL="0">
              <a:buNone/>
            </a:pPr>
            <a:r>
              <a:rPr lang="en-US" sz="760" dirty="0">
                <a:solidFill>
                  <a:srgbClr val="7EE787"/>
                </a:solidFill>
                <a:latin typeface="Courier New" pitchFamily="34" charset="0"/>
                <a:ea typeface="Courier New" pitchFamily="34" charset="-122"/>
                <a:cs typeface="Courier New" pitchFamily="34" charset="-120"/>
              </a:rPr>
              <a:t>this is printed</a:t>
            </a:r>
            <a:endParaRPr lang="en-US" sz="760" dirty="0"/>
          </a:p>
        </p:txBody>
      </p:sp>
      <p:sp>
        <p:nvSpPr>
          <p:cNvPr id="17" name="Text 15"/>
          <p:cNvSpPr txBox="1"/>
          <p:nvPr/>
        </p:nvSpPr>
        <p:spPr>
          <a:xfrm>
            <a:off x="640080" y="4261104"/>
            <a:ext cx="786384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shortcircuit_v1_0_0.py, lines 1 to 4 of 4, run under Python 3.13.16</a:t>
            </a:r>
            <a:endParaRPr lang="en-US" sz="75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Short-circuiting is a feature you will deliberately use</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10 / 22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Branching</a:t>
            </a:r>
            <a:endParaRPr lang="en-US" sz="3200" dirty="0"/>
          </a:p>
        </p:txBody>
      </p:sp>
      <p:sp>
        <p:nvSpPr>
          <p:cNvPr id="5" name="Text 3"/>
          <p:cNvSpPr txBox="1"/>
          <p:nvPr/>
        </p:nvSpPr>
        <p:spPr>
          <a:xfrm>
            <a:off x="777240" y="1645920"/>
            <a:ext cx="7863840" cy="822960"/>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The if family, and the indentation that owns it</a:t>
            </a:r>
            <a:endParaRPr lang="en-US" sz="1500" dirty="0"/>
          </a:p>
        </p:txBody>
      </p:sp>
      <p:sp>
        <p:nvSpPr>
          <p:cNvPr id="6" name="Shape 4"/>
          <p:cNvSpPr/>
          <p:nvPr/>
        </p:nvSpPr>
        <p:spPr>
          <a:xfrm>
            <a:off x="777240" y="2697480"/>
            <a:ext cx="1856232" cy="1737360"/>
          </a:xfrm>
          <a:prstGeom prst="roundRect">
            <a:avLst>
              <a:gd name="adj" fmla="val 4211"/>
            </a:avLst>
          </a:prstGeom>
          <a:solidFill>
            <a:srgbClr val="2F6D62"/>
          </a:solidFill>
          <a:ln w="12700">
            <a:solidFill>
              <a:srgbClr val="2F6D62"/>
            </a:solidFill>
            <a:prstDash val="solid"/>
          </a:ln>
        </p:spPr>
      </p:sp>
      <p:sp>
        <p:nvSpPr>
          <p:cNvPr id="7" name="Text 5"/>
          <p:cNvSpPr txBox="1"/>
          <p:nvPr/>
        </p:nvSpPr>
        <p:spPr>
          <a:xfrm>
            <a:off x="850392"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if / else</a:t>
            </a:r>
            <a:pPr algn="ctr" indent="0" marL="0">
              <a:buNone/>
            </a:pPr>
            <a:endParaRPr lang="en-US" sz="1400" dirty="0"/>
          </a:p>
        </p:txBody>
      </p:sp>
      <p:sp>
        <p:nvSpPr>
          <p:cNvPr id="8" name="Shape 6"/>
          <p:cNvSpPr/>
          <p:nvPr/>
        </p:nvSpPr>
        <p:spPr>
          <a:xfrm>
            <a:off x="2779776" y="2697480"/>
            <a:ext cx="1856232" cy="1737360"/>
          </a:xfrm>
          <a:prstGeom prst="roundRect">
            <a:avLst>
              <a:gd name="adj" fmla="val 4211"/>
            </a:avLst>
          </a:prstGeom>
          <a:solidFill>
            <a:srgbClr val="2F6D62"/>
          </a:solidFill>
          <a:ln w="12700">
            <a:solidFill>
              <a:srgbClr val="2F6D62"/>
            </a:solidFill>
            <a:prstDash val="solid"/>
          </a:ln>
        </p:spPr>
      </p:sp>
      <p:sp>
        <p:nvSpPr>
          <p:cNvPr id="9" name="Text 7"/>
          <p:cNvSpPr txBox="1"/>
          <p:nvPr/>
        </p:nvSpPr>
        <p:spPr>
          <a:xfrm>
            <a:off x="2852928"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Indentation</a:t>
            </a:r>
            <a:pPr algn="ctr" indent="0" marL="0">
              <a:buNone/>
            </a:pPr>
            <a:endParaRPr lang="en-US" sz="1400" dirty="0"/>
          </a:p>
        </p:txBody>
      </p:sp>
      <p:sp>
        <p:nvSpPr>
          <p:cNvPr id="10" name="Shape 8"/>
          <p:cNvSpPr/>
          <p:nvPr/>
        </p:nvSpPr>
        <p:spPr>
          <a:xfrm>
            <a:off x="4782312" y="2697480"/>
            <a:ext cx="1856232" cy="1737360"/>
          </a:xfrm>
          <a:prstGeom prst="roundRect">
            <a:avLst>
              <a:gd name="adj" fmla="val 4211"/>
            </a:avLst>
          </a:prstGeom>
          <a:solidFill>
            <a:srgbClr val="2F6D62"/>
          </a:solidFill>
          <a:ln w="12700">
            <a:solidFill>
              <a:srgbClr val="2F6D62"/>
            </a:solidFill>
            <a:prstDash val="solid"/>
          </a:ln>
        </p:spPr>
      </p:sp>
      <p:sp>
        <p:nvSpPr>
          <p:cNvPr id="11" name="Text 9"/>
          <p:cNvSpPr txBox="1"/>
          <p:nvPr/>
        </p:nvSpPr>
        <p:spPr>
          <a:xfrm>
            <a:off x="4855464"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elif ladders</a:t>
            </a:r>
            <a:pPr algn="ctr" indent="0" marL="0">
              <a:buNone/>
            </a:pPr>
            <a:endParaRPr lang="en-US" sz="1400" dirty="0"/>
          </a:p>
        </p:txBody>
      </p:sp>
      <p:sp>
        <p:nvSpPr>
          <p:cNvPr id="12" name="Shape 10"/>
          <p:cNvSpPr/>
          <p:nvPr/>
        </p:nvSpPr>
        <p:spPr>
          <a:xfrm>
            <a:off x="6784848" y="2697480"/>
            <a:ext cx="1856232" cy="1737360"/>
          </a:xfrm>
          <a:prstGeom prst="roundRect">
            <a:avLst>
              <a:gd name="adj" fmla="val 4211"/>
            </a:avLst>
          </a:prstGeom>
          <a:solidFill>
            <a:srgbClr val="2F6D62"/>
          </a:solidFill>
          <a:ln w="12700">
            <a:solidFill>
              <a:srgbClr val="2F6D62"/>
            </a:solidFill>
            <a:prstDash val="solid"/>
          </a:ln>
        </p:spPr>
      </p:sp>
      <p:sp>
        <p:nvSpPr>
          <p:cNvPr id="13" name="Text 11"/>
          <p:cNvSpPr txBox="1"/>
          <p:nvPr/>
        </p:nvSpPr>
        <p:spPr>
          <a:xfrm>
            <a:off x="6858000"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Nesting</a:t>
            </a:r>
            <a:pPr algn="ctr" indent="0" marL="0">
              <a:buNone/>
            </a:pPr>
            <a:endParaRPr lang="en-US" sz="1400" dirty="0"/>
          </a:p>
        </p:txBody>
      </p:sp>
      <p:sp>
        <p:nvSpPr>
          <p:cNvPr id="14"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11 / 22</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whitespace that is the syntax</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design decision of the late 1980s</a:t>
            </a:r>
            <a:endParaRPr lang="en-US" sz="1300" dirty="0"/>
          </a:p>
        </p:txBody>
      </p:sp>
      <p:sp>
        <p:nvSpPr>
          <p:cNvPr id="6" name="Shape 4"/>
          <p:cNvSpPr/>
          <p:nvPr/>
        </p:nvSpPr>
        <p:spPr>
          <a:xfrm>
            <a:off x="457200" y="1490472"/>
            <a:ext cx="128016" cy="128016"/>
          </a:xfrm>
          <a:prstGeom prst="diamond">
            <a:avLst/>
          </a:prstGeom>
          <a:solidFill>
            <a:srgbClr val="D97A14"/>
          </a:solidFill>
          <a:ln w="12700">
            <a:solidFill>
              <a:srgbClr val="D97A14"/>
            </a:solidFill>
            <a:prstDash val="solid"/>
          </a:ln>
        </p:spPr>
      </p:sp>
      <p:sp>
        <p:nvSpPr>
          <p:cNvPr id="7" name="Text 5"/>
          <p:cNvSpPr txBox="1"/>
          <p:nvPr/>
        </p:nvSpPr>
        <p:spPr>
          <a:xfrm>
            <a:off x="731520" y="1325880"/>
            <a:ext cx="7955280" cy="457200"/>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Same five lines, one space of difference - and two different programs</a:t>
            </a:r>
            <a:endParaRPr lang="en-US" sz="1250" dirty="0"/>
          </a:p>
        </p:txBody>
      </p:sp>
      <p:sp>
        <p:nvSpPr>
          <p:cNvPr id="8" name="Shape 6"/>
          <p:cNvSpPr/>
          <p:nvPr/>
        </p:nvSpPr>
        <p:spPr>
          <a:xfrm>
            <a:off x="457200" y="1947672"/>
            <a:ext cx="128016" cy="128016"/>
          </a:xfrm>
          <a:prstGeom prst="diamond">
            <a:avLst/>
          </a:prstGeom>
          <a:solidFill>
            <a:srgbClr val="D97A14"/>
          </a:solidFill>
          <a:ln w="12700">
            <a:solidFill>
              <a:srgbClr val="D97A14"/>
            </a:solidFill>
            <a:prstDash val="solid"/>
          </a:ln>
        </p:spPr>
      </p:sp>
      <p:sp>
        <p:nvSpPr>
          <p:cNvPr id="9" name="Text 7"/>
          <p:cNvSpPr txBox="1"/>
          <p:nvPr/>
        </p:nvSpPr>
        <p:spPr>
          <a:xfrm>
            <a:off x="731520" y="1783080"/>
            <a:ext cx="7955280" cy="457200"/>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A lesson carried from the ABC language: what you see is what the interpreter sees</a:t>
            </a:r>
            <a:endParaRPr lang="en-US" sz="1250" dirty="0"/>
          </a:p>
        </p:txBody>
      </p:sp>
      <p:sp>
        <p:nvSpPr>
          <p:cNvPr id="10" name="Text 8"/>
          <p:cNvSpPr txBox="1"/>
          <p:nvPr/>
        </p:nvSpPr>
        <p:spPr>
          <a:xfrm>
            <a:off x="457200" y="2103120"/>
            <a:ext cx="393192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'always' inside the block</a:t>
            </a:r>
            <a:endParaRPr lang="en-US" sz="1150" dirty="0"/>
          </a:p>
        </p:txBody>
      </p:sp>
      <p:sp>
        <p:nvSpPr>
          <p:cNvPr id="11" name="Shape 9"/>
          <p:cNvSpPr/>
          <p:nvPr/>
        </p:nvSpPr>
        <p:spPr>
          <a:xfrm>
            <a:off x="457200" y="2377440"/>
            <a:ext cx="3931920" cy="1600200"/>
          </a:xfrm>
          <a:prstGeom prst="roundRect">
            <a:avLst>
              <a:gd name="adj" fmla="val 5714"/>
            </a:avLst>
          </a:prstGeom>
          <a:solidFill>
            <a:srgbClr val="23272E"/>
          </a:solidFill>
          <a:ln w="12700">
            <a:solidFill>
              <a:srgbClr val="23272E"/>
            </a:solidFill>
            <a:prstDash val="solid"/>
          </a:ln>
        </p:spPr>
      </p:sp>
      <p:sp>
        <p:nvSpPr>
          <p:cNvPr id="12" name="Text 10"/>
          <p:cNvSpPr txBox="1"/>
          <p:nvPr/>
        </p:nvSpPr>
        <p:spPr>
          <a:xfrm>
            <a:off x="640080" y="2496312"/>
            <a:ext cx="3566160" cy="1362456"/>
          </a:xfrm>
          <a:prstGeom prst="rect">
            <a:avLst/>
          </a:prstGeom>
          <a:noFill/>
          <a:ln/>
        </p:spPr>
        <p:txBody>
          <a:bodyPr wrap="square" lIns="0" tIns="0" rIns="0" bIns="0" rtlCol="0" anchor="t"/>
          <a:lstStyle/>
          <a:p>
            <a:pPr indent="0" marL="0">
              <a:buNone/>
            </a:pPr>
            <a:r>
              <a:rPr lang="en-US" sz="900" dirty="0">
                <a:solidFill>
                  <a:srgbClr val="E6EDF3"/>
                </a:solidFill>
                <a:latin typeface="Courier New" pitchFamily="34" charset="0"/>
                <a:ea typeface="Courier New" pitchFamily="34" charset="-122"/>
                <a:cs typeface="Courier New" pitchFamily="34" charset="-120"/>
              </a:rPr>
              <a:t>x = </a:t>
            </a:r>
            <a:pPr indent="0" marL="0">
              <a:buNone/>
            </a:pPr>
            <a:r>
              <a:rPr lang="en-US" sz="900" dirty="0">
                <a:solidFill>
                  <a:srgbClr val="FFD28A"/>
                </a:solidFill>
                <a:latin typeface="Courier New" pitchFamily="34" charset="0"/>
                <a:ea typeface="Courier New" pitchFamily="34" charset="-122"/>
                <a:cs typeface="Courier New" pitchFamily="34" charset="-120"/>
              </a:rPr>
              <a:t>1</a:t>
            </a:r>
            <a:endParaRPr lang="en-US" sz="900" dirty="0"/>
          </a:p>
          <a:p>
            <a:pPr indent="0" marL="0">
              <a:buNone/>
            </a:pPr>
            <a:r>
              <a:rPr lang="en-US" sz="900" b="1" dirty="0">
                <a:solidFill>
                  <a:srgbClr val="F2A860"/>
                </a:solidFill>
                <a:latin typeface="Courier New" pitchFamily="34" charset="0"/>
                <a:ea typeface="Courier New" pitchFamily="34" charset="-122"/>
                <a:cs typeface="Courier New" pitchFamily="34" charset="-120"/>
              </a:rPr>
              <a:t>if</a:t>
            </a:r>
            <a:pPr indent="0" marL="0">
              <a:buNone/>
            </a:pPr>
            <a:r>
              <a:rPr lang="en-US" sz="900" dirty="0">
                <a:solidFill>
                  <a:srgbClr val="E6EDF3"/>
                </a:solidFill>
                <a:latin typeface="Courier New" pitchFamily="34" charset="0"/>
                <a:ea typeface="Courier New" pitchFamily="34" charset="-122"/>
                <a:cs typeface="Courier New" pitchFamily="34" charset="-120"/>
              </a:rPr>
              <a:t> x &gt; </a:t>
            </a:r>
            <a:pPr indent="0" marL="0">
              <a:buNone/>
            </a:pPr>
            <a:r>
              <a:rPr lang="en-US" sz="900" dirty="0">
                <a:solidFill>
                  <a:srgbClr val="FFD28A"/>
                </a:solidFill>
                <a:latin typeface="Courier New" pitchFamily="34" charset="0"/>
                <a:ea typeface="Courier New" pitchFamily="34" charset="-122"/>
                <a:cs typeface="Courier New" pitchFamily="34" charset="-120"/>
              </a:rPr>
              <a:t>3</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'big'</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'always'</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print(</a:t>
            </a:r>
            <a:pPr indent="0" marL="0">
              <a:buNone/>
            </a:pPr>
            <a:r>
              <a:rPr lang="en-US" sz="900" dirty="0">
                <a:solidFill>
                  <a:srgbClr val="9ECBFF"/>
                </a:solidFill>
                <a:latin typeface="Courier New" pitchFamily="34" charset="0"/>
                <a:ea typeface="Courier New" pitchFamily="34" charset="-122"/>
                <a:cs typeface="Courier New" pitchFamily="34" charset="-120"/>
              </a:rPr>
              <a:t>'end'</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prints </a:t>
            </a:r>
            <a:pPr indent="0" marL="0">
              <a:buNone/>
            </a:pPr>
            <a:r>
              <a:rPr lang="en-US" sz="900" dirty="0">
                <a:solidFill>
                  <a:srgbClr val="7EE787"/>
                </a:solidFill>
                <a:latin typeface="Courier New" pitchFamily="34" charset="0"/>
                <a:ea typeface="Courier New" pitchFamily="34" charset="-122"/>
                <a:cs typeface="Courier New" pitchFamily="34" charset="-120"/>
              </a:rPr>
              <a:t>end</a:t>
            </a:r>
            <a:endParaRPr lang="en-US" sz="900" dirty="0"/>
          </a:p>
        </p:txBody>
      </p:sp>
      <p:sp>
        <p:nvSpPr>
          <p:cNvPr id="13" name="Text 11"/>
          <p:cNvSpPr txBox="1"/>
          <p:nvPr/>
        </p:nvSpPr>
        <p:spPr>
          <a:xfrm>
            <a:off x="640080" y="3703320"/>
            <a:ext cx="356616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indent_in_v1_0_0.py, lines 1 to 5 of 5, run under Python 3.13.16</a:t>
            </a:r>
            <a:endParaRPr lang="en-US" sz="750" dirty="0"/>
          </a:p>
        </p:txBody>
      </p:sp>
      <p:sp>
        <p:nvSpPr>
          <p:cNvPr id="14" name="Text 12"/>
          <p:cNvSpPr txBox="1"/>
          <p:nvPr/>
        </p:nvSpPr>
        <p:spPr>
          <a:xfrm>
            <a:off x="4663440" y="2103120"/>
            <a:ext cx="402336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'always' outside - it prints</a:t>
            </a:r>
            <a:endParaRPr lang="en-US" sz="1150" dirty="0"/>
          </a:p>
        </p:txBody>
      </p:sp>
      <p:sp>
        <p:nvSpPr>
          <p:cNvPr id="15" name="Shape 13"/>
          <p:cNvSpPr/>
          <p:nvPr/>
        </p:nvSpPr>
        <p:spPr>
          <a:xfrm>
            <a:off x="4663440" y="2377440"/>
            <a:ext cx="4023360" cy="1600200"/>
          </a:xfrm>
          <a:prstGeom prst="roundRect">
            <a:avLst>
              <a:gd name="adj" fmla="val 5714"/>
            </a:avLst>
          </a:prstGeom>
          <a:solidFill>
            <a:srgbClr val="23272E"/>
          </a:solidFill>
          <a:ln w="12700">
            <a:solidFill>
              <a:srgbClr val="23272E"/>
            </a:solidFill>
            <a:prstDash val="solid"/>
          </a:ln>
        </p:spPr>
      </p:sp>
      <p:sp>
        <p:nvSpPr>
          <p:cNvPr id="16" name="Text 14"/>
          <p:cNvSpPr txBox="1"/>
          <p:nvPr/>
        </p:nvSpPr>
        <p:spPr>
          <a:xfrm>
            <a:off x="4846320" y="2496312"/>
            <a:ext cx="3657600" cy="1362456"/>
          </a:xfrm>
          <a:prstGeom prst="rect">
            <a:avLst/>
          </a:prstGeom>
          <a:noFill/>
          <a:ln/>
        </p:spPr>
        <p:txBody>
          <a:bodyPr wrap="square" lIns="0" tIns="0" rIns="0" bIns="0" rtlCol="0" anchor="t"/>
          <a:lstStyle/>
          <a:p>
            <a:pPr indent="0" marL="0">
              <a:buNone/>
            </a:pPr>
            <a:r>
              <a:rPr lang="en-US" sz="900" dirty="0">
                <a:solidFill>
                  <a:srgbClr val="E6EDF3"/>
                </a:solidFill>
                <a:latin typeface="Courier New" pitchFamily="34" charset="0"/>
                <a:ea typeface="Courier New" pitchFamily="34" charset="-122"/>
                <a:cs typeface="Courier New" pitchFamily="34" charset="-120"/>
              </a:rPr>
              <a:t>x = </a:t>
            </a:r>
            <a:pPr indent="0" marL="0">
              <a:buNone/>
            </a:pPr>
            <a:r>
              <a:rPr lang="en-US" sz="900" dirty="0">
                <a:solidFill>
                  <a:srgbClr val="FFD28A"/>
                </a:solidFill>
                <a:latin typeface="Courier New" pitchFamily="34" charset="0"/>
                <a:ea typeface="Courier New" pitchFamily="34" charset="-122"/>
                <a:cs typeface="Courier New" pitchFamily="34" charset="-120"/>
              </a:rPr>
              <a:t>1</a:t>
            </a:r>
            <a:endParaRPr lang="en-US" sz="900" dirty="0"/>
          </a:p>
          <a:p>
            <a:pPr indent="0" marL="0">
              <a:buNone/>
            </a:pPr>
            <a:r>
              <a:rPr lang="en-US" sz="900" b="1" dirty="0">
                <a:solidFill>
                  <a:srgbClr val="F2A860"/>
                </a:solidFill>
                <a:latin typeface="Courier New" pitchFamily="34" charset="0"/>
                <a:ea typeface="Courier New" pitchFamily="34" charset="-122"/>
                <a:cs typeface="Courier New" pitchFamily="34" charset="-120"/>
              </a:rPr>
              <a:t>if</a:t>
            </a:r>
            <a:pPr indent="0" marL="0">
              <a:buNone/>
            </a:pPr>
            <a:r>
              <a:rPr lang="en-US" sz="900" dirty="0">
                <a:solidFill>
                  <a:srgbClr val="E6EDF3"/>
                </a:solidFill>
                <a:latin typeface="Courier New" pitchFamily="34" charset="0"/>
                <a:ea typeface="Courier New" pitchFamily="34" charset="-122"/>
                <a:cs typeface="Courier New" pitchFamily="34" charset="-120"/>
              </a:rPr>
              <a:t> x &gt; </a:t>
            </a:r>
            <a:pPr indent="0" marL="0">
              <a:buNone/>
            </a:pPr>
            <a:r>
              <a:rPr lang="en-US" sz="900" dirty="0">
                <a:solidFill>
                  <a:srgbClr val="FFD28A"/>
                </a:solidFill>
                <a:latin typeface="Courier New" pitchFamily="34" charset="0"/>
                <a:ea typeface="Courier New" pitchFamily="34" charset="-122"/>
                <a:cs typeface="Courier New" pitchFamily="34" charset="-120"/>
              </a:rPr>
              <a:t>3</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'big'</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print(</a:t>
            </a:r>
            <a:pPr indent="0" marL="0">
              <a:buNone/>
            </a:pPr>
            <a:r>
              <a:rPr lang="en-US" sz="900" dirty="0">
                <a:solidFill>
                  <a:srgbClr val="9ECBFF"/>
                </a:solidFill>
                <a:latin typeface="Courier New" pitchFamily="34" charset="0"/>
                <a:ea typeface="Courier New" pitchFamily="34" charset="-122"/>
                <a:cs typeface="Courier New" pitchFamily="34" charset="-120"/>
              </a:rPr>
              <a:t>'always'</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print(</a:t>
            </a:r>
            <a:pPr indent="0" marL="0">
              <a:buNone/>
            </a:pPr>
            <a:r>
              <a:rPr lang="en-US" sz="900" dirty="0">
                <a:solidFill>
                  <a:srgbClr val="9ECBFF"/>
                </a:solidFill>
                <a:latin typeface="Courier New" pitchFamily="34" charset="0"/>
                <a:ea typeface="Courier New" pitchFamily="34" charset="-122"/>
                <a:cs typeface="Courier New" pitchFamily="34" charset="-120"/>
              </a:rPr>
              <a:t>'end'</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prints </a:t>
            </a:r>
            <a:pPr indent="0" marL="0">
              <a:buNone/>
            </a:pPr>
            <a:r>
              <a:rPr lang="en-US" sz="900" dirty="0">
                <a:solidFill>
                  <a:srgbClr val="7EE787"/>
                </a:solidFill>
                <a:latin typeface="Courier New" pitchFamily="34" charset="0"/>
                <a:ea typeface="Courier New" pitchFamily="34" charset="-122"/>
                <a:cs typeface="Courier New" pitchFamily="34" charset="-120"/>
              </a:rPr>
              <a:t>always</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end</a:t>
            </a:r>
            <a:endParaRPr lang="en-US" sz="900" dirty="0"/>
          </a:p>
        </p:txBody>
      </p:sp>
      <p:sp>
        <p:nvSpPr>
          <p:cNvPr id="17" name="Text 15"/>
          <p:cNvSpPr txBox="1"/>
          <p:nvPr/>
        </p:nvSpPr>
        <p:spPr>
          <a:xfrm>
            <a:off x="4846320" y="3703320"/>
            <a:ext cx="365760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indent_out_v1_0_0.py, lines 1 to 5 of 5, run under Python 3.13.16</a:t>
            </a:r>
            <a:endParaRPr lang="en-US" sz="750" dirty="0"/>
          </a:p>
        </p:txBody>
      </p:sp>
      <p:sp>
        <p:nvSpPr>
          <p:cNvPr id="18" name="Shape 16"/>
          <p:cNvSpPr/>
          <p:nvPr/>
        </p:nvSpPr>
        <p:spPr>
          <a:xfrm>
            <a:off x="457200" y="4160520"/>
            <a:ext cx="2449129" cy="365760"/>
          </a:xfrm>
          <a:prstGeom prst="roundRect">
            <a:avLst>
              <a:gd name="adj" fmla="val 50000"/>
            </a:avLst>
          </a:prstGeom>
          <a:solidFill>
            <a:srgbClr val="EFE9DC"/>
          </a:solidFill>
          <a:ln w="9525">
            <a:solidFill>
              <a:srgbClr val="DFD6C7"/>
            </a:solidFill>
            <a:prstDash val="solid"/>
          </a:ln>
        </p:spPr>
      </p:sp>
      <p:sp>
        <p:nvSpPr>
          <p:cNvPr id="19" name="Text 17"/>
          <p:cNvSpPr txBox="1"/>
          <p:nvPr/>
        </p:nvSpPr>
        <p:spPr>
          <a:xfrm>
            <a:off x="548640" y="4160520"/>
            <a:ext cx="2302825"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WHO  </a:t>
            </a:r>
            <a:pPr indent="0" marL="0">
              <a:buNone/>
            </a:pPr>
            <a:r>
              <a:rPr lang="en-US" sz="800" dirty="0">
                <a:solidFill>
                  <a:srgbClr val="2B2622"/>
                </a:solidFill>
                <a:latin typeface="Calibri" pitchFamily="34" charset="0"/>
                <a:ea typeface="Calibri" pitchFamily="34" charset="-122"/>
                <a:cs typeface="Calibri" pitchFamily="34" charset="-120"/>
              </a:rPr>
              <a:t>Guido van Rossum, carrying a lesson fr…</a:t>
            </a:r>
            <a:endParaRPr lang="en-US" sz="750" dirty="0"/>
          </a:p>
        </p:txBody>
      </p:sp>
      <p:sp>
        <p:nvSpPr>
          <p:cNvPr id="20" name="Shape 18"/>
          <p:cNvSpPr/>
          <p:nvPr/>
        </p:nvSpPr>
        <p:spPr>
          <a:xfrm>
            <a:off x="3016057" y="4160520"/>
            <a:ext cx="2449129" cy="365760"/>
          </a:xfrm>
          <a:prstGeom prst="roundRect">
            <a:avLst>
              <a:gd name="adj" fmla="val 50000"/>
            </a:avLst>
          </a:prstGeom>
          <a:solidFill>
            <a:srgbClr val="EFE9DC"/>
          </a:solidFill>
          <a:ln w="9525">
            <a:solidFill>
              <a:srgbClr val="DFD6C7"/>
            </a:solidFill>
            <a:prstDash val="solid"/>
          </a:ln>
        </p:spPr>
      </p:sp>
      <p:sp>
        <p:nvSpPr>
          <p:cNvPr id="21" name="Text 19"/>
          <p:cNvSpPr txBox="1"/>
          <p:nvPr/>
        </p:nvSpPr>
        <p:spPr>
          <a:xfrm>
            <a:off x="3107497" y="4160520"/>
            <a:ext cx="2302825"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WHERE  </a:t>
            </a:r>
            <a:pPr indent="0" marL="0">
              <a:buNone/>
            </a:pPr>
            <a:r>
              <a:rPr lang="en-US" sz="800" dirty="0">
                <a:solidFill>
                  <a:srgbClr val="2B2622"/>
                </a:solidFill>
                <a:latin typeface="Calibri" pitchFamily="34" charset="0"/>
                <a:ea typeface="Calibri" pitchFamily="34" charset="-122"/>
                <a:cs typeface="Calibri" pitchFamily="34" charset="-120"/>
              </a:rPr>
              <a:t>documented in Python's own design FAQ</a:t>
            </a:r>
            <a:endParaRPr lang="en-US" sz="750" dirty="0"/>
          </a:p>
        </p:txBody>
      </p:sp>
      <p:sp>
        <p:nvSpPr>
          <p:cNvPr id="22" name="Shape 20"/>
          <p:cNvSpPr/>
          <p:nvPr/>
        </p:nvSpPr>
        <p:spPr>
          <a:xfrm>
            <a:off x="5574914" y="4160520"/>
            <a:ext cx="1343071" cy="365760"/>
          </a:xfrm>
          <a:prstGeom prst="roundRect">
            <a:avLst>
              <a:gd name="adj" fmla="val 50000"/>
            </a:avLst>
          </a:prstGeom>
          <a:solidFill>
            <a:srgbClr val="EFE9DC"/>
          </a:solidFill>
          <a:ln w="9525">
            <a:solidFill>
              <a:srgbClr val="DFD6C7"/>
            </a:solidFill>
            <a:prstDash val="solid"/>
          </a:ln>
        </p:spPr>
      </p:sp>
      <p:sp>
        <p:nvSpPr>
          <p:cNvPr id="23" name="Text 21"/>
          <p:cNvSpPr txBox="1"/>
          <p:nvPr/>
        </p:nvSpPr>
        <p:spPr>
          <a:xfrm>
            <a:off x="5666354" y="4160520"/>
            <a:ext cx="119676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WHEN  </a:t>
            </a:r>
            <a:pPr indent="0" marL="0">
              <a:buNone/>
            </a:pPr>
            <a:r>
              <a:rPr lang="en-US" sz="900" dirty="0">
                <a:solidFill>
                  <a:srgbClr val="2B2622"/>
                </a:solidFill>
                <a:latin typeface="Calibri" pitchFamily="34" charset="0"/>
                <a:ea typeface="Calibri" pitchFamily="34" charset="-122"/>
                <a:cs typeface="Calibri" pitchFamily="34" charset="-120"/>
              </a:rPr>
              <a:t>design decision …</a:t>
            </a:r>
            <a:endParaRPr lang="en-US" sz="750" dirty="0"/>
          </a:p>
        </p:txBody>
      </p:sp>
      <p:sp>
        <p:nvSpPr>
          <p:cNvPr id="24" name="Shape 22"/>
          <p:cNvSpPr/>
          <p:nvPr/>
        </p:nvSpPr>
        <p:spPr>
          <a:xfrm>
            <a:off x="7027713" y="4160520"/>
            <a:ext cx="1659087" cy="365760"/>
          </a:xfrm>
          <a:prstGeom prst="roundRect">
            <a:avLst>
              <a:gd name="adj" fmla="val 50000"/>
            </a:avLst>
          </a:prstGeom>
          <a:solidFill>
            <a:srgbClr val="2F6D62"/>
          </a:solidFill>
          <a:ln w="9525">
            <a:solidFill>
              <a:srgbClr val="2F6D62"/>
            </a:solidFill>
            <a:prstDash val="solid"/>
          </a:ln>
        </p:spPr>
      </p:sp>
      <p:sp>
        <p:nvSpPr>
          <p:cNvPr id="25" name="Text 23"/>
          <p:cNvSpPr txBox="1"/>
          <p:nvPr/>
        </p:nvSpPr>
        <p:spPr>
          <a:xfrm>
            <a:off x="7119153" y="4160520"/>
            <a:ext cx="1512783"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pPr indent="0" marL="0">
              <a:buNone/>
            </a:pPr>
            <a:r>
              <a:rPr lang="en-US" sz="9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docs.python.org</a:t>
            </a:r>
            <a:endParaRPr lang="en-US" sz="750" dirty="0"/>
          </a:p>
        </p:txBody>
      </p:sp>
      <p:sp>
        <p:nvSpPr>
          <p:cNvPr id="26" name="Shape 24"/>
          <p:cNvSpPr/>
          <p:nvPr/>
        </p:nvSpPr>
        <p:spPr>
          <a:xfrm>
            <a:off x="457200" y="4636008"/>
            <a:ext cx="91440" cy="310896"/>
          </a:xfrm>
          <a:prstGeom prst="rect">
            <a:avLst/>
          </a:prstGeom>
          <a:solidFill>
            <a:srgbClr val="D97A14"/>
          </a:solidFill>
          <a:ln w="12700">
            <a:solidFill>
              <a:srgbClr val="D97A14"/>
            </a:solidFill>
            <a:prstDash val="solid"/>
          </a:ln>
        </p:spPr>
      </p:sp>
      <p:sp>
        <p:nvSpPr>
          <p:cNvPr id="27" name="Text 25"/>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In Python the layout cannot lie about the logic</a:t>
            </a:r>
            <a:endParaRPr lang="en-US" sz="1350" dirty="0"/>
          </a:p>
        </p:txBody>
      </p:sp>
      <p:sp>
        <p:nvSpPr>
          <p:cNvPr id="28" name="Text 26"/>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12 / 22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if, else - and the block that belongs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chapter's password program, whole</a:t>
            </a:r>
            <a:endParaRPr lang="en-US" sz="1300" dirty="0"/>
          </a:p>
        </p:txBody>
      </p:sp>
      <p:sp>
        <p:nvSpPr>
          <p:cNvPr id="6" name="Shape 4"/>
          <p:cNvSpPr/>
          <p:nvPr/>
        </p:nvSpPr>
        <p:spPr>
          <a:xfrm>
            <a:off x="457200" y="145389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5389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41732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The condition ends in a colon; the block indents</a:t>
            </a:r>
            <a:endParaRPr lang="en-US" sz="1050" dirty="0"/>
          </a:p>
        </p:txBody>
      </p:sp>
      <p:sp>
        <p:nvSpPr>
          <p:cNvPr id="9" name="Shape 7"/>
          <p:cNvSpPr/>
          <p:nvPr/>
        </p:nvSpPr>
        <p:spPr>
          <a:xfrm>
            <a:off x="457200" y="2033016"/>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330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99644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else answers the same condition's No</a:t>
            </a:r>
            <a:endParaRPr lang="en-US" sz="1050" dirty="0"/>
          </a:p>
        </p:txBody>
      </p:sp>
      <p:sp>
        <p:nvSpPr>
          <p:cNvPr id="12" name="Shape 10"/>
          <p:cNvSpPr/>
          <p:nvPr/>
        </p:nvSpPr>
        <p:spPr>
          <a:xfrm>
            <a:off x="457200" y="2612136"/>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6121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57556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Blocks nest: the inner if runs only inside the outer Yes</a:t>
            </a:r>
            <a:endParaRPr lang="en-US" sz="1050" dirty="0"/>
          </a:p>
        </p:txBody>
      </p:sp>
      <p:sp>
        <p:nvSpPr>
          <p:cNvPr id="15" name="Text 13"/>
          <p:cNvSpPr txBox="1"/>
          <p:nvPr/>
        </p:nvSpPr>
        <p:spPr>
          <a:xfrm>
            <a:off x="3931920" y="1143000"/>
            <a:ext cx="475488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nested decisions, and both prints that follow</a:t>
            </a:r>
            <a:endParaRPr lang="en-US" sz="1150" dirty="0"/>
          </a:p>
        </p:txBody>
      </p:sp>
      <p:sp>
        <p:nvSpPr>
          <p:cNvPr id="16" name="Shape 14"/>
          <p:cNvSpPr/>
          <p:nvPr/>
        </p:nvSpPr>
        <p:spPr>
          <a:xfrm>
            <a:off x="3931920" y="1417320"/>
            <a:ext cx="4754880" cy="2377440"/>
          </a:xfrm>
          <a:prstGeom prst="roundRect">
            <a:avLst>
              <a:gd name="adj" fmla="val 3846"/>
            </a:avLst>
          </a:prstGeom>
          <a:solidFill>
            <a:srgbClr val="23272E"/>
          </a:solidFill>
          <a:ln w="12700">
            <a:solidFill>
              <a:srgbClr val="23272E"/>
            </a:solidFill>
            <a:prstDash val="solid"/>
          </a:ln>
        </p:spPr>
      </p:sp>
      <p:sp>
        <p:nvSpPr>
          <p:cNvPr id="17" name="Text 15"/>
          <p:cNvSpPr txBox="1"/>
          <p:nvPr/>
        </p:nvSpPr>
        <p:spPr>
          <a:xfrm>
            <a:off x="4114800" y="1536192"/>
            <a:ext cx="4389120" cy="2139696"/>
          </a:xfrm>
          <a:prstGeom prst="rect">
            <a:avLst/>
          </a:prstGeom>
          <a:noFill/>
          <a:ln/>
        </p:spPr>
        <p:txBody>
          <a:bodyPr wrap="square" lIns="0" tIns="0" rIns="0" bIns="0" rtlCol="0" anchor="t"/>
          <a:lstStyle/>
          <a:p>
            <a:pPr indent="0" marL="0">
              <a:buNone/>
            </a:pPr>
            <a:r>
              <a:rPr lang="en-US" sz="900" dirty="0">
                <a:solidFill>
                  <a:srgbClr val="E6EDF3"/>
                </a:solidFill>
                <a:latin typeface="Courier New" pitchFamily="34" charset="0"/>
                <a:ea typeface="Courier New" pitchFamily="34" charset="-122"/>
                <a:cs typeface="Courier New" pitchFamily="34" charset="-120"/>
              </a:rPr>
              <a:t>username = </a:t>
            </a:r>
            <a:pPr indent="0" marL="0">
              <a:buNone/>
            </a:pPr>
            <a:r>
              <a:rPr lang="en-US" sz="900" dirty="0">
                <a:solidFill>
                  <a:srgbClr val="9ECBFF"/>
                </a:solidFill>
                <a:latin typeface="Courier New" pitchFamily="34" charset="0"/>
                <a:ea typeface="Courier New" pitchFamily="34" charset="-122"/>
                <a:cs typeface="Courier New" pitchFamily="34" charset="-120"/>
              </a:rPr>
              <a:t>'Mary'</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password = </a:t>
            </a:r>
            <a:pPr indent="0" marL="0">
              <a:buNone/>
            </a:pPr>
            <a:r>
              <a:rPr lang="en-US" sz="900" dirty="0">
                <a:solidFill>
                  <a:srgbClr val="9ECBFF"/>
                </a:solidFill>
                <a:latin typeface="Courier New" pitchFamily="34" charset="0"/>
                <a:ea typeface="Courier New" pitchFamily="34" charset="-122"/>
                <a:cs typeface="Courier New" pitchFamily="34" charset="-120"/>
              </a:rPr>
              <a:t>'swordfish'</a:t>
            </a:r>
            <a:endParaRPr lang="en-US" sz="900" dirty="0"/>
          </a:p>
          <a:p>
            <a:pPr indent="0" marL="0">
              <a:buNone/>
            </a:pPr>
            <a:r>
              <a:rPr lang="en-US" sz="900" b="1" dirty="0">
                <a:solidFill>
                  <a:srgbClr val="F2A860"/>
                </a:solidFill>
                <a:latin typeface="Courier New" pitchFamily="34" charset="0"/>
                <a:ea typeface="Courier New" pitchFamily="34" charset="-122"/>
                <a:cs typeface="Courier New" pitchFamily="34" charset="-120"/>
              </a:rPr>
              <a:t>if</a:t>
            </a:r>
            <a:pPr indent="0" marL="0">
              <a:buNone/>
            </a:pPr>
            <a:r>
              <a:rPr lang="en-US" sz="900" dirty="0">
                <a:solidFill>
                  <a:srgbClr val="E6EDF3"/>
                </a:solidFill>
                <a:latin typeface="Courier New" pitchFamily="34" charset="0"/>
                <a:ea typeface="Courier New" pitchFamily="34" charset="-122"/>
                <a:cs typeface="Courier New" pitchFamily="34" charset="-120"/>
              </a:rPr>
              <a:t> username == </a:t>
            </a:r>
            <a:pPr indent="0" marL="0">
              <a:buNone/>
            </a:pPr>
            <a:r>
              <a:rPr lang="en-US" sz="900" dirty="0">
                <a:solidFill>
                  <a:srgbClr val="9ECBFF"/>
                </a:solidFill>
                <a:latin typeface="Courier New" pitchFamily="34" charset="0"/>
                <a:ea typeface="Courier New" pitchFamily="34" charset="-122"/>
                <a:cs typeface="Courier New" pitchFamily="34" charset="-120"/>
              </a:rPr>
              <a:t>'Mary'</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'Hello, Mary'</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a:t>
            </a:r>
            <a:pPr indent="0" marL="0">
              <a:buNone/>
            </a:pPr>
            <a:r>
              <a:rPr lang="en-US" sz="900" b="1" dirty="0">
                <a:solidFill>
                  <a:srgbClr val="F2A860"/>
                </a:solidFill>
                <a:latin typeface="Courier New" pitchFamily="34" charset="0"/>
                <a:ea typeface="Courier New" pitchFamily="34" charset="-122"/>
                <a:cs typeface="Courier New" pitchFamily="34" charset="-120"/>
              </a:rPr>
              <a:t>if</a:t>
            </a:r>
            <a:pPr indent="0" marL="0">
              <a:buNone/>
            </a:pPr>
            <a:r>
              <a:rPr lang="en-US" sz="900" dirty="0">
                <a:solidFill>
                  <a:srgbClr val="E6EDF3"/>
                </a:solidFill>
                <a:latin typeface="Courier New" pitchFamily="34" charset="0"/>
                <a:ea typeface="Courier New" pitchFamily="34" charset="-122"/>
                <a:cs typeface="Courier New" pitchFamily="34" charset="-120"/>
              </a:rPr>
              <a:t> password == </a:t>
            </a:r>
            <a:pPr indent="0" marL="0">
              <a:buNone/>
            </a:pPr>
            <a:r>
              <a:rPr lang="en-US" sz="900" dirty="0">
                <a:solidFill>
                  <a:srgbClr val="9ECBFF"/>
                </a:solidFill>
                <a:latin typeface="Courier New" pitchFamily="34" charset="0"/>
                <a:ea typeface="Courier New" pitchFamily="34" charset="-122"/>
                <a:cs typeface="Courier New" pitchFamily="34" charset="-120"/>
              </a:rPr>
              <a:t>'swordfish'</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'Access granted.'</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a:t>
            </a:r>
            <a:pPr indent="0" marL="0">
              <a:buNone/>
            </a:pPr>
            <a:r>
              <a:rPr lang="en-US" sz="900" b="1" dirty="0">
                <a:solidFill>
                  <a:srgbClr val="F2A860"/>
                </a:solidFill>
                <a:latin typeface="Courier New" pitchFamily="34" charset="0"/>
                <a:ea typeface="Courier New" pitchFamily="34" charset="-122"/>
                <a:cs typeface="Courier New" pitchFamily="34" charset="-120"/>
              </a:rPr>
              <a:t>else</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'Wrong password.'</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prints </a:t>
            </a:r>
            <a:pPr indent="0" marL="0">
              <a:buNone/>
            </a:pPr>
            <a:r>
              <a:rPr lang="en-US" sz="900" dirty="0">
                <a:solidFill>
                  <a:srgbClr val="7EE787"/>
                </a:solidFill>
                <a:latin typeface="Courier New" pitchFamily="34" charset="0"/>
                <a:ea typeface="Courier New" pitchFamily="34" charset="-122"/>
                <a:cs typeface="Courier New" pitchFamily="34" charset="-120"/>
              </a:rPr>
              <a:t>Hello, Mary</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Access granted.</a:t>
            </a:r>
            <a:endParaRPr lang="en-US" sz="900" dirty="0"/>
          </a:p>
        </p:txBody>
      </p:sp>
      <p:sp>
        <p:nvSpPr>
          <p:cNvPr id="18" name="Text 16"/>
          <p:cNvSpPr txBox="1"/>
          <p:nvPr/>
        </p:nvSpPr>
        <p:spPr>
          <a:xfrm>
            <a:off x="4114800" y="3520440"/>
            <a:ext cx="438912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password_v1_0_0.py, lines 1 to 8 of 8, run under Python 3.13.16</a:t>
            </a:r>
            <a:endParaRPr lang="en-US" sz="750" dirty="0"/>
          </a:p>
        </p:txBody>
      </p:sp>
      <p:sp>
        <p:nvSpPr>
          <p:cNvPr id="19" name="Shape 17"/>
          <p:cNvSpPr/>
          <p:nvPr/>
        </p:nvSpPr>
        <p:spPr>
          <a:xfrm>
            <a:off x="457200" y="3429000"/>
            <a:ext cx="3246120" cy="402336"/>
          </a:xfrm>
          <a:prstGeom prst="roundRect">
            <a:avLst>
              <a:gd name="adj" fmla="val 50000"/>
            </a:avLst>
          </a:prstGeom>
          <a:solidFill>
            <a:srgbClr val="2F6D62"/>
          </a:solidFill>
          <a:ln w="12700">
            <a:solidFill>
              <a:srgbClr val="2F6D62"/>
            </a:solidFill>
            <a:prstDash val="solid"/>
          </a:ln>
        </p:spPr>
      </p:sp>
      <p:sp>
        <p:nvSpPr>
          <p:cNvPr id="20" name="Text 18"/>
          <p:cNvSpPr txBox="1"/>
          <p:nvPr/>
        </p:nvSpPr>
        <p:spPr>
          <a:xfrm>
            <a:off x="457200" y="3429000"/>
            <a:ext cx="324612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colon opens; indent owns</a:t>
            </a:r>
            <a:endParaRPr lang="en-US" sz="1300" dirty="0"/>
          </a:p>
        </p:txBody>
      </p:sp>
      <p:sp>
        <p:nvSpPr>
          <p:cNvPr id="21" name="Shape 19"/>
          <p:cNvSpPr/>
          <p:nvPr/>
        </p:nvSpPr>
        <p:spPr>
          <a:xfrm>
            <a:off x="457200" y="4636008"/>
            <a:ext cx="91440" cy="310896"/>
          </a:xfrm>
          <a:prstGeom prst="rect">
            <a:avLst/>
          </a:prstGeom>
          <a:solidFill>
            <a:srgbClr val="D97A14"/>
          </a:solidFill>
          <a:ln w="12700">
            <a:solidFill>
              <a:srgbClr val="D97A14"/>
            </a:solidFill>
            <a:prstDash val="solid"/>
          </a:ln>
        </p:spPr>
      </p:sp>
      <p:sp>
        <p:nvSpPr>
          <p:cNvPr id="22" name="Text 2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The colon opens a block; the indent owns it</a:t>
            </a:r>
            <a:endParaRPr lang="en-US" sz="1350" dirty="0"/>
          </a:p>
        </p:txBody>
      </p:sp>
      <p:sp>
        <p:nvSpPr>
          <p:cNvPr id="23"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13 / 22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elif: the ladder with one exit</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Order decides which rung fires</a:t>
            </a:r>
            <a:endParaRPr lang="en-US" sz="1300" dirty="0"/>
          </a:p>
        </p:txBody>
      </p:sp>
      <p:sp>
        <p:nvSpPr>
          <p:cNvPr id="6" name="Text 4"/>
          <p:cNvSpPr txBox="1"/>
          <p:nvPr/>
        </p:nvSpPr>
        <p:spPr>
          <a:xfrm>
            <a:off x="457200" y="1143000"/>
            <a:ext cx="393192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ladder takes exactly one rung</a:t>
            </a:r>
            <a:endParaRPr lang="en-US" sz="1150" dirty="0"/>
          </a:p>
        </p:txBody>
      </p:sp>
      <p:sp>
        <p:nvSpPr>
          <p:cNvPr id="7" name="Shape 5"/>
          <p:cNvSpPr/>
          <p:nvPr/>
        </p:nvSpPr>
        <p:spPr>
          <a:xfrm>
            <a:off x="457200" y="1417320"/>
            <a:ext cx="3931920" cy="2286000"/>
          </a:xfrm>
          <a:prstGeom prst="roundRect">
            <a:avLst>
              <a:gd name="adj" fmla="val 4000"/>
            </a:avLst>
          </a:prstGeom>
          <a:solidFill>
            <a:srgbClr val="23272E"/>
          </a:solidFill>
          <a:ln w="12700">
            <a:solidFill>
              <a:srgbClr val="23272E"/>
            </a:solidFill>
            <a:prstDash val="solid"/>
          </a:ln>
        </p:spPr>
      </p:sp>
      <p:sp>
        <p:nvSpPr>
          <p:cNvPr id="8" name="Text 6"/>
          <p:cNvSpPr txBox="1"/>
          <p:nvPr/>
        </p:nvSpPr>
        <p:spPr>
          <a:xfrm>
            <a:off x="640080" y="1536192"/>
            <a:ext cx="3566160" cy="2048256"/>
          </a:xfrm>
          <a:prstGeom prst="rect">
            <a:avLst/>
          </a:prstGeom>
          <a:noFill/>
          <a:ln/>
        </p:spPr>
        <p:txBody>
          <a:bodyPr wrap="square" lIns="0" tIns="0" rIns="0" bIns="0" rtlCol="0" anchor="t"/>
          <a:lstStyle/>
          <a:p>
            <a:pPr indent="0" marL="0">
              <a:buNone/>
            </a:pPr>
            <a:r>
              <a:rPr lang="en-US" sz="890" dirty="0">
                <a:solidFill>
                  <a:srgbClr val="E6EDF3"/>
                </a:solidFill>
                <a:latin typeface="Courier New" pitchFamily="34" charset="0"/>
                <a:ea typeface="Courier New" pitchFamily="34" charset="-122"/>
                <a:cs typeface="Courier New" pitchFamily="34" charset="-120"/>
              </a:rPr>
              <a:t>name = </a:t>
            </a:r>
            <a:pPr indent="0" marL="0">
              <a:buNone/>
            </a:pPr>
            <a:r>
              <a:rPr lang="en-US" sz="890" dirty="0">
                <a:solidFill>
                  <a:srgbClr val="9ECBFF"/>
                </a:solidFill>
                <a:latin typeface="Courier New" pitchFamily="34" charset="0"/>
                <a:ea typeface="Courier New" pitchFamily="34" charset="-122"/>
                <a:cs typeface="Courier New" pitchFamily="34" charset="-120"/>
              </a:rPr>
              <a:t>'Carol'</a:t>
            </a:r>
            <a:endParaRPr lang="en-US" sz="890" dirty="0"/>
          </a:p>
          <a:p>
            <a:pPr indent="0" marL="0">
              <a:buNone/>
            </a:pPr>
            <a:r>
              <a:rPr lang="en-US" sz="890" dirty="0">
                <a:solidFill>
                  <a:srgbClr val="E6EDF3"/>
                </a:solidFill>
                <a:latin typeface="Courier New" pitchFamily="34" charset="0"/>
                <a:ea typeface="Courier New" pitchFamily="34" charset="-122"/>
                <a:cs typeface="Courier New" pitchFamily="34" charset="-120"/>
              </a:rPr>
              <a:t>age = </a:t>
            </a:r>
            <a:pPr indent="0" marL="0">
              <a:buNone/>
            </a:pPr>
            <a:r>
              <a:rPr lang="en-US" sz="890" dirty="0">
                <a:solidFill>
                  <a:srgbClr val="FFD28A"/>
                </a:solidFill>
                <a:latin typeface="Courier New" pitchFamily="34" charset="0"/>
                <a:ea typeface="Courier New" pitchFamily="34" charset="-122"/>
                <a:cs typeface="Courier New" pitchFamily="34" charset="-120"/>
              </a:rPr>
              <a:t>3000</a:t>
            </a:r>
            <a:endParaRPr lang="en-US" sz="890" dirty="0"/>
          </a:p>
          <a:p>
            <a:pPr indent="0" marL="0">
              <a:buNone/>
            </a:pPr>
            <a:r>
              <a:rPr lang="en-US" sz="890" b="1" dirty="0">
                <a:solidFill>
                  <a:srgbClr val="F2A860"/>
                </a:solidFill>
                <a:latin typeface="Courier New" pitchFamily="34" charset="0"/>
                <a:ea typeface="Courier New" pitchFamily="34" charset="-122"/>
                <a:cs typeface="Courier New" pitchFamily="34" charset="-120"/>
              </a:rPr>
              <a:t>if</a:t>
            </a:r>
            <a:pPr indent="0" marL="0">
              <a:buNone/>
            </a:pPr>
            <a:r>
              <a:rPr lang="en-US" sz="890" dirty="0">
                <a:solidFill>
                  <a:srgbClr val="E6EDF3"/>
                </a:solidFill>
                <a:latin typeface="Courier New" pitchFamily="34" charset="0"/>
                <a:ea typeface="Courier New" pitchFamily="34" charset="-122"/>
                <a:cs typeface="Courier New" pitchFamily="34" charset="-120"/>
              </a:rPr>
              <a:t> name == </a:t>
            </a:r>
            <a:pPr indent="0" marL="0">
              <a:buNone/>
            </a:pPr>
            <a:r>
              <a:rPr lang="en-US" sz="890" dirty="0">
                <a:solidFill>
                  <a:srgbClr val="9ECBFF"/>
                </a:solidFill>
                <a:latin typeface="Courier New" pitchFamily="34" charset="0"/>
                <a:ea typeface="Courier New" pitchFamily="34" charset="-122"/>
                <a:cs typeface="Courier New" pitchFamily="34" charset="-120"/>
              </a:rPr>
              <a:t>'Alice'</a:t>
            </a:r>
            <a:pPr indent="0" marL="0">
              <a:buNone/>
            </a:pPr>
            <a:r>
              <a:rPr lang="en-US" sz="890" dirty="0">
                <a:solidFill>
                  <a:srgbClr val="E6EDF3"/>
                </a:solidFill>
                <a:latin typeface="Courier New" pitchFamily="34" charset="0"/>
                <a:ea typeface="Courier New" pitchFamily="34" charset="-122"/>
                <a:cs typeface="Courier New" pitchFamily="34" charset="-120"/>
              </a:rPr>
              <a:t>:</a:t>
            </a:r>
            <a:endParaRPr lang="en-US" sz="890" dirty="0"/>
          </a:p>
          <a:p>
            <a:pPr indent="0" marL="0">
              <a:buNone/>
            </a:pPr>
            <a:r>
              <a:rPr lang="en-US" sz="890" dirty="0">
                <a:solidFill>
                  <a:srgbClr val="E6EDF3"/>
                </a:solidFill>
                <a:latin typeface="Courier New" pitchFamily="34" charset="0"/>
                <a:ea typeface="Courier New" pitchFamily="34" charset="-122"/>
                <a:cs typeface="Courier New" pitchFamily="34" charset="-120"/>
              </a:rPr>
              <a:t>    print(</a:t>
            </a:r>
            <a:pPr indent="0" marL="0">
              <a:buNone/>
            </a:pPr>
            <a:r>
              <a:rPr lang="en-US" sz="890" dirty="0">
                <a:solidFill>
                  <a:srgbClr val="9ECBFF"/>
                </a:solidFill>
                <a:latin typeface="Courier New" pitchFamily="34" charset="0"/>
                <a:ea typeface="Courier New" pitchFamily="34" charset="-122"/>
                <a:cs typeface="Courier New" pitchFamily="34" charset="-120"/>
              </a:rPr>
              <a:t>'Hi, Alice.'</a:t>
            </a:r>
            <a:pPr indent="0" marL="0">
              <a:buNone/>
            </a:pPr>
            <a:r>
              <a:rPr lang="en-US" sz="890" dirty="0">
                <a:solidFill>
                  <a:srgbClr val="E6EDF3"/>
                </a:solidFill>
                <a:latin typeface="Courier New" pitchFamily="34" charset="0"/>
                <a:ea typeface="Courier New" pitchFamily="34" charset="-122"/>
                <a:cs typeface="Courier New" pitchFamily="34" charset="-120"/>
              </a:rPr>
              <a:t>)</a:t>
            </a:r>
            <a:endParaRPr lang="en-US" sz="890" dirty="0"/>
          </a:p>
          <a:p>
            <a:pPr indent="0" marL="0">
              <a:buNone/>
            </a:pPr>
            <a:r>
              <a:rPr lang="en-US" sz="890" b="1" dirty="0">
                <a:solidFill>
                  <a:srgbClr val="F2A860"/>
                </a:solidFill>
                <a:latin typeface="Courier New" pitchFamily="34" charset="0"/>
                <a:ea typeface="Courier New" pitchFamily="34" charset="-122"/>
                <a:cs typeface="Courier New" pitchFamily="34" charset="-120"/>
              </a:rPr>
              <a:t>elif</a:t>
            </a:r>
            <a:pPr indent="0" marL="0">
              <a:buNone/>
            </a:pPr>
            <a:r>
              <a:rPr lang="en-US" sz="890" dirty="0">
                <a:solidFill>
                  <a:srgbClr val="E6EDF3"/>
                </a:solidFill>
                <a:latin typeface="Courier New" pitchFamily="34" charset="0"/>
                <a:ea typeface="Courier New" pitchFamily="34" charset="-122"/>
                <a:cs typeface="Courier New" pitchFamily="34" charset="-120"/>
              </a:rPr>
              <a:t> age &lt; </a:t>
            </a:r>
            <a:pPr indent="0" marL="0">
              <a:buNone/>
            </a:pPr>
            <a:r>
              <a:rPr lang="en-US" sz="890" dirty="0">
                <a:solidFill>
                  <a:srgbClr val="FFD28A"/>
                </a:solidFill>
                <a:latin typeface="Courier New" pitchFamily="34" charset="0"/>
                <a:ea typeface="Courier New" pitchFamily="34" charset="-122"/>
                <a:cs typeface="Courier New" pitchFamily="34" charset="-120"/>
              </a:rPr>
              <a:t>12</a:t>
            </a:r>
            <a:pPr indent="0" marL="0">
              <a:buNone/>
            </a:pPr>
            <a:r>
              <a:rPr lang="en-US" sz="890" dirty="0">
                <a:solidFill>
                  <a:srgbClr val="E6EDF3"/>
                </a:solidFill>
                <a:latin typeface="Courier New" pitchFamily="34" charset="0"/>
                <a:ea typeface="Courier New" pitchFamily="34" charset="-122"/>
                <a:cs typeface="Courier New" pitchFamily="34" charset="-120"/>
              </a:rPr>
              <a:t>:</a:t>
            </a:r>
            <a:endParaRPr lang="en-US" sz="890" dirty="0"/>
          </a:p>
          <a:p>
            <a:pPr indent="0" marL="0">
              <a:buNone/>
            </a:pPr>
            <a:r>
              <a:rPr lang="en-US" sz="890" dirty="0">
                <a:solidFill>
                  <a:srgbClr val="E6EDF3"/>
                </a:solidFill>
                <a:latin typeface="Courier New" pitchFamily="34" charset="0"/>
                <a:ea typeface="Courier New" pitchFamily="34" charset="-122"/>
                <a:cs typeface="Courier New" pitchFamily="34" charset="-120"/>
              </a:rPr>
              <a:t>    print(</a:t>
            </a:r>
            <a:pPr indent="0" marL="0">
              <a:buNone/>
            </a:pPr>
            <a:r>
              <a:rPr lang="en-US" sz="890" dirty="0">
                <a:solidFill>
                  <a:srgbClr val="9ECBFF"/>
                </a:solidFill>
                <a:latin typeface="Courier New" pitchFamily="34" charset="0"/>
                <a:ea typeface="Courier New" pitchFamily="34" charset="-122"/>
                <a:cs typeface="Courier New" pitchFamily="34" charset="-120"/>
              </a:rPr>
              <a:t>'You are not Alice, kiddo.'</a:t>
            </a:r>
            <a:pPr indent="0" marL="0">
              <a:buNone/>
            </a:pPr>
            <a:r>
              <a:rPr lang="en-US" sz="890" dirty="0">
                <a:solidFill>
                  <a:srgbClr val="E6EDF3"/>
                </a:solidFill>
                <a:latin typeface="Courier New" pitchFamily="34" charset="0"/>
                <a:ea typeface="Courier New" pitchFamily="34" charset="-122"/>
                <a:cs typeface="Courier New" pitchFamily="34" charset="-120"/>
              </a:rPr>
              <a:t>)</a:t>
            </a:r>
            <a:endParaRPr lang="en-US" sz="890" dirty="0"/>
          </a:p>
          <a:p>
            <a:pPr indent="0" marL="0">
              <a:buNone/>
            </a:pPr>
            <a:r>
              <a:rPr lang="en-US" sz="890" b="1" dirty="0">
                <a:solidFill>
                  <a:srgbClr val="F2A860"/>
                </a:solidFill>
                <a:latin typeface="Courier New" pitchFamily="34" charset="0"/>
                <a:ea typeface="Courier New" pitchFamily="34" charset="-122"/>
                <a:cs typeface="Courier New" pitchFamily="34" charset="-120"/>
              </a:rPr>
              <a:t>else</a:t>
            </a:r>
            <a:pPr indent="0" marL="0">
              <a:buNone/>
            </a:pPr>
            <a:r>
              <a:rPr lang="en-US" sz="890" dirty="0">
                <a:solidFill>
                  <a:srgbClr val="E6EDF3"/>
                </a:solidFill>
                <a:latin typeface="Courier New" pitchFamily="34" charset="0"/>
                <a:ea typeface="Courier New" pitchFamily="34" charset="-122"/>
                <a:cs typeface="Courier New" pitchFamily="34" charset="-120"/>
              </a:rPr>
              <a:t>:</a:t>
            </a:r>
            <a:endParaRPr lang="en-US" sz="890" dirty="0"/>
          </a:p>
          <a:p>
            <a:pPr indent="0" marL="0">
              <a:buNone/>
            </a:pPr>
            <a:r>
              <a:rPr lang="en-US" sz="890" dirty="0">
                <a:solidFill>
                  <a:srgbClr val="E6EDF3"/>
                </a:solidFill>
                <a:latin typeface="Courier New" pitchFamily="34" charset="0"/>
                <a:ea typeface="Courier New" pitchFamily="34" charset="-122"/>
                <a:cs typeface="Courier New" pitchFamily="34" charset="-120"/>
              </a:rPr>
              <a:t>    print(</a:t>
            </a:r>
            <a:pPr indent="0" marL="0">
              <a:buNone/>
            </a:pPr>
            <a:r>
              <a:rPr lang="en-US" sz="890" dirty="0">
                <a:solidFill>
                  <a:srgbClr val="9ECBFF"/>
                </a:solidFill>
                <a:latin typeface="Courier New" pitchFamily="34" charset="0"/>
                <a:ea typeface="Courier New" pitchFamily="34" charset="-122"/>
                <a:cs typeface="Courier New" pitchFamily="34" charset="-120"/>
              </a:rPr>
              <a:t>'You are neither Alice nor a little kid.'</a:t>
            </a:r>
            <a:pPr indent="0" marL="0">
              <a:buNone/>
            </a:pPr>
            <a:r>
              <a:rPr lang="en-US" sz="890" dirty="0">
                <a:solidFill>
                  <a:srgbClr val="E6EDF3"/>
                </a:solidFill>
                <a:latin typeface="Courier New" pitchFamily="34" charset="0"/>
                <a:ea typeface="Courier New" pitchFamily="34" charset="-122"/>
                <a:cs typeface="Courier New" pitchFamily="34" charset="-120"/>
              </a:rPr>
              <a:t>)</a:t>
            </a:r>
            <a:endParaRPr lang="en-US" sz="890" dirty="0"/>
          </a:p>
          <a:p>
            <a:pPr indent="0" marL="0">
              <a:buNone/>
            </a:pPr>
            <a:r>
              <a:rPr lang="en-US" sz="890" b="1" dirty="0">
                <a:solidFill>
                  <a:srgbClr val="D97A14"/>
                </a:solidFill>
                <a:latin typeface="Courier New" pitchFamily="34" charset="0"/>
                <a:ea typeface="Courier New" pitchFamily="34" charset="-122"/>
                <a:cs typeface="Courier New" pitchFamily="34" charset="-120"/>
              </a:rPr>
              <a:t>prints </a:t>
            </a:r>
            <a:pPr indent="0" marL="0">
              <a:buNone/>
            </a:pPr>
            <a:r>
              <a:rPr lang="en-US" sz="890" dirty="0">
                <a:solidFill>
                  <a:srgbClr val="7EE787"/>
                </a:solidFill>
                <a:latin typeface="Courier New" pitchFamily="34" charset="0"/>
                <a:ea typeface="Courier New" pitchFamily="34" charset="-122"/>
                <a:cs typeface="Courier New" pitchFamily="34" charset="-120"/>
              </a:rPr>
              <a:t>You are neither Alice nor a little kid.</a:t>
            </a:r>
            <a:endParaRPr lang="en-US" sz="890" dirty="0"/>
          </a:p>
        </p:txBody>
      </p:sp>
      <p:sp>
        <p:nvSpPr>
          <p:cNvPr id="9" name="Text 7"/>
          <p:cNvSpPr txBox="1"/>
          <p:nvPr/>
        </p:nvSpPr>
        <p:spPr>
          <a:xfrm>
            <a:off x="640080" y="3429000"/>
            <a:ext cx="356616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littlekid_v1_0_0.py, lines 1 to 8 of 8, run under Python 3.13.16</a:t>
            </a:r>
            <a:endParaRPr lang="en-US" sz="750" dirty="0"/>
          </a:p>
        </p:txBody>
      </p:sp>
      <p:sp>
        <p:nvSpPr>
          <p:cNvPr id="10" name="Text 8"/>
          <p:cNvSpPr txBox="1"/>
          <p:nvPr/>
        </p:nvSpPr>
        <p:spPr>
          <a:xfrm>
            <a:off x="4663440" y="1143000"/>
            <a:ext cx="402336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conditions may combine and, or, not</a:t>
            </a:r>
            <a:endParaRPr lang="en-US" sz="1150" dirty="0"/>
          </a:p>
        </p:txBody>
      </p:sp>
      <p:sp>
        <p:nvSpPr>
          <p:cNvPr id="11" name="Shape 9"/>
          <p:cNvSpPr/>
          <p:nvPr/>
        </p:nvSpPr>
        <p:spPr>
          <a:xfrm>
            <a:off x="4663440" y="1417320"/>
            <a:ext cx="4023360" cy="2651760"/>
          </a:xfrm>
          <a:prstGeom prst="roundRect">
            <a:avLst>
              <a:gd name="adj" fmla="val 3448"/>
            </a:avLst>
          </a:prstGeom>
          <a:solidFill>
            <a:srgbClr val="23272E"/>
          </a:solidFill>
          <a:ln w="12700">
            <a:solidFill>
              <a:srgbClr val="23272E"/>
            </a:solidFill>
            <a:prstDash val="solid"/>
          </a:ln>
        </p:spPr>
      </p:sp>
      <p:sp>
        <p:nvSpPr>
          <p:cNvPr id="12" name="Text 10"/>
          <p:cNvSpPr txBox="1"/>
          <p:nvPr/>
        </p:nvSpPr>
        <p:spPr>
          <a:xfrm>
            <a:off x="4846320" y="1536192"/>
            <a:ext cx="3657600" cy="2414016"/>
          </a:xfrm>
          <a:prstGeom prst="rect">
            <a:avLst/>
          </a:prstGeom>
          <a:noFill/>
          <a:ln/>
        </p:spPr>
        <p:txBody>
          <a:bodyPr wrap="square" lIns="0" tIns="0" rIns="0" bIns="0" rtlCol="0" anchor="t"/>
          <a:lstStyle/>
          <a:p>
            <a:pPr indent="0" marL="0">
              <a:buNone/>
            </a:pPr>
            <a:r>
              <a:rPr lang="en-US" sz="720" dirty="0">
                <a:solidFill>
                  <a:srgbClr val="E6EDF3"/>
                </a:solidFill>
                <a:latin typeface="Courier New" pitchFamily="34" charset="0"/>
                <a:ea typeface="Courier New" pitchFamily="34" charset="-122"/>
                <a:cs typeface="Courier New" pitchFamily="34" charset="-120"/>
              </a:rPr>
              <a:t>name = </a:t>
            </a:r>
            <a:pPr indent="0" marL="0">
              <a:buNone/>
            </a:pPr>
            <a:r>
              <a:rPr lang="en-US" sz="720" dirty="0">
                <a:solidFill>
                  <a:srgbClr val="9ECBFF"/>
                </a:solidFill>
                <a:latin typeface="Courier New" pitchFamily="34" charset="0"/>
                <a:ea typeface="Courier New" pitchFamily="34" charset="-122"/>
                <a:cs typeface="Courier New" pitchFamily="34" charset="-120"/>
              </a:rPr>
              <a:t>'Carol'</a:t>
            </a:r>
            <a:endParaRPr lang="en-US" sz="720" dirty="0"/>
          </a:p>
          <a:p>
            <a:pPr indent="0" marL="0">
              <a:buNone/>
            </a:pPr>
            <a:r>
              <a:rPr lang="en-US" sz="720" dirty="0">
                <a:solidFill>
                  <a:srgbClr val="E6EDF3"/>
                </a:solidFill>
                <a:latin typeface="Courier New" pitchFamily="34" charset="0"/>
                <a:ea typeface="Courier New" pitchFamily="34" charset="-122"/>
                <a:cs typeface="Courier New" pitchFamily="34" charset="-120"/>
              </a:rPr>
              <a:t>age = </a:t>
            </a:r>
            <a:pPr indent="0" marL="0">
              <a:buNone/>
            </a:pPr>
            <a:r>
              <a:rPr lang="en-US" sz="720" dirty="0">
                <a:solidFill>
                  <a:srgbClr val="FFD28A"/>
                </a:solidFill>
                <a:latin typeface="Courier New" pitchFamily="34" charset="0"/>
                <a:ea typeface="Courier New" pitchFamily="34" charset="-122"/>
                <a:cs typeface="Courier New" pitchFamily="34" charset="-120"/>
              </a:rPr>
              <a:t>3000</a:t>
            </a:r>
            <a:endParaRPr lang="en-US" sz="720" dirty="0"/>
          </a:p>
          <a:p>
            <a:pPr indent="0" marL="0">
              <a:buNone/>
            </a:pPr>
            <a:r>
              <a:rPr lang="en-US" sz="720" b="1" dirty="0">
                <a:solidFill>
                  <a:srgbClr val="F2A860"/>
                </a:solidFill>
                <a:latin typeface="Courier New" pitchFamily="34" charset="0"/>
                <a:ea typeface="Courier New" pitchFamily="34" charset="-122"/>
                <a:cs typeface="Courier New" pitchFamily="34" charset="-120"/>
              </a:rPr>
              <a:t>if</a:t>
            </a:r>
            <a:pPr indent="0" marL="0">
              <a:buNone/>
            </a:pPr>
            <a:r>
              <a:rPr lang="en-US" sz="720" dirty="0">
                <a:solidFill>
                  <a:srgbClr val="E6EDF3"/>
                </a:solidFill>
                <a:latin typeface="Courier New" pitchFamily="34" charset="0"/>
                <a:ea typeface="Courier New" pitchFamily="34" charset="-122"/>
                <a:cs typeface="Courier New" pitchFamily="34" charset="-120"/>
              </a:rPr>
              <a:t> name == </a:t>
            </a:r>
            <a:pPr indent="0" marL="0">
              <a:buNone/>
            </a:pPr>
            <a:r>
              <a:rPr lang="en-US" sz="720" dirty="0">
                <a:solidFill>
                  <a:srgbClr val="9ECBFF"/>
                </a:solidFill>
                <a:latin typeface="Courier New" pitchFamily="34" charset="0"/>
                <a:ea typeface="Courier New" pitchFamily="34" charset="-122"/>
                <a:cs typeface="Courier New" pitchFamily="34" charset="-120"/>
              </a:rPr>
              <a:t>'Alice'</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dirty="0">
                <a:solidFill>
                  <a:srgbClr val="E6EDF3"/>
                </a:solidFill>
                <a:latin typeface="Courier New" pitchFamily="34" charset="0"/>
                <a:ea typeface="Courier New" pitchFamily="34" charset="-122"/>
                <a:cs typeface="Courier New" pitchFamily="34" charset="-120"/>
              </a:rPr>
              <a:t>    print(</a:t>
            </a:r>
            <a:pPr indent="0" marL="0">
              <a:buNone/>
            </a:pPr>
            <a:r>
              <a:rPr lang="en-US" sz="720" dirty="0">
                <a:solidFill>
                  <a:srgbClr val="9ECBFF"/>
                </a:solidFill>
                <a:latin typeface="Courier New" pitchFamily="34" charset="0"/>
                <a:ea typeface="Courier New" pitchFamily="34" charset="-122"/>
                <a:cs typeface="Courier New" pitchFamily="34" charset="-120"/>
              </a:rPr>
              <a:t>'Hi, Alice.'</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b="1" dirty="0">
                <a:solidFill>
                  <a:srgbClr val="F2A860"/>
                </a:solidFill>
                <a:latin typeface="Courier New" pitchFamily="34" charset="0"/>
                <a:ea typeface="Courier New" pitchFamily="34" charset="-122"/>
                <a:cs typeface="Courier New" pitchFamily="34" charset="-120"/>
              </a:rPr>
              <a:t>elif</a:t>
            </a:r>
            <a:pPr indent="0" marL="0">
              <a:buNone/>
            </a:pPr>
            <a:r>
              <a:rPr lang="en-US" sz="720" dirty="0">
                <a:solidFill>
                  <a:srgbClr val="E6EDF3"/>
                </a:solidFill>
                <a:latin typeface="Courier New" pitchFamily="34" charset="0"/>
                <a:ea typeface="Courier New" pitchFamily="34" charset="-122"/>
                <a:cs typeface="Courier New" pitchFamily="34" charset="-120"/>
              </a:rPr>
              <a:t> age &lt; </a:t>
            </a:r>
            <a:pPr indent="0" marL="0">
              <a:buNone/>
            </a:pPr>
            <a:r>
              <a:rPr lang="en-US" sz="720" dirty="0">
                <a:solidFill>
                  <a:srgbClr val="FFD28A"/>
                </a:solidFill>
                <a:latin typeface="Courier New" pitchFamily="34" charset="0"/>
                <a:ea typeface="Courier New" pitchFamily="34" charset="-122"/>
                <a:cs typeface="Courier New" pitchFamily="34" charset="-120"/>
              </a:rPr>
              <a:t>12</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dirty="0">
                <a:solidFill>
                  <a:srgbClr val="E6EDF3"/>
                </a:solidFill>
                <a:latin typeface="Courier New" pitchFamily="34" charset="0"/>
                <a:ea typeface="Courier New" pitchFamily="34" charset="-122"/>
                <a:cs typeface="Courier New" pitchFamily="34" charset="-120"/>
              </a:rPr>
              <a:t>    print(</a:t>
            </a:r>
            <a:pPr indent="0" marL="0">
              <a:buNone/>
            </a:pPr>
            <a:r>
              <a:rPr lang="en-US" sz="720" dirty="0">
                <a:solidFill>
                  <a:srgbClr val="9ECBFF"/>
                </a:solidFill>
                <a:latin typeface="Courier New" pitchFamily="34" charset="0"/>
                <a:ea typeface="Courier New" pitchFamily="34" charset="-122"/>
                <a:cs typeface="Courier New" pitchFamily="34" charset="-120"/>
              </a:rPr>
              <a:t>'You are not Alice, kiddo.'</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b="1" dirty="0">
                <a:solidFill>
                  <a:srgbClr val="F2A860"/>
                </a:solidFill>
                <a:latin typeface="Courier New" pitchFamily="34" charset="0"/>
                <a:ea typeface="Courier New" pitchFamily="34" charset="-122"/>
                <a:cs typeface="Courier New" pitchFamily="34" charset="-120"/>
              </a:rPr>
              <a:t>elif</a:t>
            </a:r>
            <a:pPr indent="0" marL="0">
              <a:buNone/>
            </a:pPr>
            <a:r>
              <a:rPr lang="en-US" sz="720" dirty="0">
                <a:solidFill>
                  <a:srgbClr val="E6EDF3"/>
                </a:solidFill>
                <a:latin typeface="Courier New" pitchFamily="34" charset="0"/>
                <a:ea typeface="Courier New" pitchFamily="34" charset="-122"/>
                <a:cs typeface="Courier New" pitchFamily="34" charset="-120"/>
              </a:rPr>
              <a:t> age &gt; </a:t>
            </a:r>
            <a:pPr indent="0" marL="0">
              <a:buNone/>
            </a:pPr>
            <a:r>
              <a:rPr lang="en-US" sz="720" dirty="0">
                <a:solidFill>
                  <a:srgbClr val="FFD28A"/>
                </a:solidFill>
                <a:latin typeface="Courier New" pitchFamily="34" charset="0"/>
                <a:ea typeface="Courier New" pitchFamily="34" charset="-122"/>
                <a:cs typeface="Courier New" pitchFamily="34" charset="-120"/>
              </a:rPr>
              <a:t>2000</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dirty="0">
                <a:solidFill>
                  <a:srgbClr val="E6EDF3"/>
                </a:solidFill>
                <a:latin typeface="Courier New" pitchFamily="34" charset="0"/>
                <a:ea typeface="Courier New" pitchFamily="34" charset="-122"/>
                <a:cs typeface="Courier New" pitchFamily="34" charset="-120"/>
              </a:rPr>
              <a:t>    print(</a:t>
            </a:r>
            <a:pPr indent="0" marL="0">
              <a:buNone/>
            </a:pPr>
            <a:r>
              <a:rPr lang="en-US" sz="720" dirty="0">
                <a:solidFill>
                  <a:srgbClr val="9ECBFF"/>
                </a:solidFill>
                <a:latin typeface="Courier New" pitchFamily="34" charset="0"/>
                <a:ea typeface="Courier New" pitchFamily="34" charset="-122"/>
                <a:cs typeface="Courier New" pitchFamily="34" charset="-120"/>
              </a:rPr>
              <a:t>'Unlike you, Alice is not an undead, immortal vampire.'</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b="1" dirty="0">
                <a:solidFill>
                  <a:srgbClr val="F2A860"/>
                </a:solidFill>
                <a:latin typeface="Courier New" pitchFamily="34" charset="0"/>
                <a:ea typeface="Courier New" pitchFamily="34" charset="-122"/>
                <a:cs typeface="Courier New" pitchFamily="34" charset="-120"/>
              </a:rPr>
              <a:t>elif</a:t>
            </a:r>
            <a:pPr indent="0" marL="0">
              <a:buNone/>
            </a:pPr>
            <a:r>
              <a:rPr lang="en-US" sz="720" dirty="0">
                <a:solidFill>
                  <a:srgbClr val="E6EDF3"/>
                </a:solidFill>
                <a:latin typeface="Courier New" pitchFamily="34" charset="0"/>
                <a:ea typeface="Courier New" pitchFamily="34" charset="-122"/>
                <a:cs typeface="Courier New" pitchFamily="34" charset="-120"/>
              </a:rPr>
              <a:t> age &gt; </a:t>
            </a:r>
            <a:pPr indent="0" marL="0">
              <a:buNone/>
            </a:pPr>
            <a:r>
              <a:rPr lang="en-US" sz="720" dirty="0">
                <a:solidFill>
                  <a:srgbClr val="FFD28A"/>
                </a:solidFill>
                <a:latin typeface="Courier New" pitchFamily="34" charset="0"/>
                <a:ea typeface="Courier New" pitchFamily="34" charset="-122"/>
                <a:cs typeface="Courier New" pitchFamily="34" charset="-120"/>
              </a:rPr>
              <a:t>100</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dirty="0">
                <a:solidFill>
                  <a:srgbClr val="E6EDF3"/>
                </a:solidFill>
                <a:latin typeface="Courier New" pitchFamily="34" charset="0"/>
                <a:ea typeface="Courier New" pitchFamily="34" charset="-122"/>
                <a:cs typeface="Courier New" pitchFamily="34" charset="-120"/>
              </a:rPr>
              <a:t>    print(</a:t>
            </a:r>
            <a:pPr indent="0" marL="0">
              <a:buNone/>
            </a:pPr>
            <a:r>
              <a:rPr lang="en-US" sz="720" dirty="0">
                <a:solidFill>
                  <a:srgbClr val="9ECBFF"/>
                </a:solidFill>
                <a:latin typeface="Courier New" pitchFamily="34" charset="0"/>
                <a:ea typeface="Courier New" pitchFamily="34" charset="-122"/>
                <a:cs typeface="Courier New" pitchFamily="34" charset="-120"/>
              </a:rPr>
              <a:t>'You are not Alice, grannie.'</a:t>
            </a:r>
            <a:pPr indent="0" marL="0">
              <a:buNone/>
            </a:pPr>
            <a:r>
              <a:rPr lang="en-US" sz="720" dirty="0">
                <a:solidFill>
                  <a:srgbClr val="E6EDF3"/>
                </a:solidFill>
                <a:latin typeface="Courier New" pitchFamily="34" charset="0"/>
                <a:ea typeface="Courier New" pitchFamily="34" charset="-122"/>
                <a:cs typeface="Courier New" pitchFamily="34" charset="-120"/>
              </a:rPr>
              <a:t>)</a:t>
            </a:r>
            <a:endParaRPr lang="en-US" sz="720" dirty="0"/>
          </a:p>
          <a:p>
            <a:pPr indent="0" marL="0">
              <a:buNone/>
            </a:pPr>
            <a:r>
              <a:rPr lang="en-US" sz="720" b="1" dirty="0">
                <a:solidFill>
                  <a:srgbClr val="D97A14"/>
                </a:solidFill>
                <a:latin typeface="Courier New" pitchFamily="34" charset="0"/>
                <a:ea typeface="Courier New" pitchFamily="34" charset="-122"/>
                <a:cs typeface="Courier New" pitchFamily="34" charset="-120"/>
              </a:rPr>
              <a:t>prints </a:t>
            </a:r>
            <a:pPr indent="0" marL="0">
              <a:buNone/>
            </a:pPr>
            <a:r>
              <a:rPr lang="en-US" sz="720" dirty="0">
                <a:solidFill>
                  <a:srgbClr val="7EE787"/>
                </a:solidFill>
                <a:latin typeface="Courier New" pitchFamily="34" charset="0"/>
                <a:ea typeface="Courier New" pitchFamily="34" charset="-122"/>
                <a:cs typeface="Courier New" pitchFamily="34" charset="-120"/>
              </a:rPr>
              <a:t>Unlike you, Alice is not an undead, immortal vampire.</a:t>
            </a:r>
            <a:endParaRPr lang="en-US" sz="720" dirty="0"/>
          </a:p>
        </p:txBody>
      </p:sp>
      <p:sp>
        <p:nvSpPr>
          <p:cNvPr id="13" name="Text 11"/>
          <p:cNvSpPr txBox="1"/>
          <p:nvPr/>
        </p:nvSpPr>
        <p:spPr>
          <a:xfrm>
            <a:off x="4846320" y="3794760"/>
            <a:ext cx="365760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vampire_v1_0_0.py, lines 1 to 10 of 10, run under Python 3.13.16</a:t>
            </a:r>
            <a:endParaRPr lang="en-US" sz="750" dirty="0"/>
          </a:p>
        </p:txBody>
      </p:sp>
      <p:sp>
        <p:nvSpPr>
          <p:cNvPr id="14" name="Shape 12"/>
          <p:cNvSpPr/>
          <p:nvPr/>
        </p:nvSpPr>
        <p:spPr>
          <a:xfrm>
            <a:off x="457200" y="3977640"/>
            <a:ext cx="2276856" cy="420624"/>
          </a:xfrm>
          <a:prstGeom prst="roundRect">
            <a:avLst>
              <a:gd name="adj" fmla="val 50000"/>
            </a:avLst>
          </a:prstGeom>
          <a:solidFill>
            <a:srgbClr val="F2ECE1"/>
          </a:solidFill>
          <a:ln w="12700">
            <a:solidFill>
              <a:srgbClr val="D97A14"/>
            </a:solidFill>
            <a:prstDash val="solid"/>
          </a:ln>
        </p:spPr>
      </p:sp>
      <p:sp>
        <p:nvSpPr>
          <p:cNvPr id="15" name="Text 13"/>
          <p:cNvSpPr txBox="1"/>
          <p:nvPr/>
        </p:nvSpPr>
        <p:spPr>
          <a:xfrm>
            <a:off x="457200" y="3977640"/>
            <a:ext cx="2276856" cy="420624"/>
          </a:xfrm>
          <a:prstGeom prst="rect">
            <a:avLst/>
          </a:prstGeom>
          <a:noFill/>
          <a:ln/>
        </p:spPr>
        <p:txBody>
          <a:bodyPr wrap="square" lIns="0" tIns="0" rIns="0" bIns="0" rtlCol="0" anchor="ctr"/>
          <a:lstStyle/>
          <a:p>
            <a:pPr algn="ctr" indent="0" marL="0">
              <a:buNone/>
            </a:pPr>
            <a:r>
              <a:rPr lang="en-US" sz="1200" dirty="0">
                <a:solidFill>
                  <a:srgbClr val="2B2622"/>
                </a:solidFill>
                <a:latin typeface="Calibri" pitchFamily="34" charset="0"/>
                <a:ea typeface="Calibri" pitchFamily="34" charset="-122"/>
                <a:cs typeface="Calibri" pitchFamily="34" charset="-120"/>
              </a:rPr>
              <a:t>first true wins</a:t>
            </a:r>
            <a:endParaRPr lang="en-US" sz="1200" dirty="0"/>
          </a:p>
        </p:txBody>
      </p:sp>
      <p:sp>
        <p:nvSpPr>
          <p:cNvPr id="16" name="Shape 14"/>
          <p:cNvSpPr/>
          <p:nvPr/>
        </p:nvSpPr>
        <p:spPr>
          <a:xfrm>
            <a:off x="457200" y="4562856"/>
            <a:ext cx="2276856" cy="420624"/>
          </a:xfrm>
          <a:prstGeom prst="roundRect">
            <a:avLst>
              <a:gd name="adj" fmla="val 50000"/>
            </a:avLst>
          </a:prstGeom>
          <a:solidFill>
            <a:srgbClr val="F2ECE1"/>
          </a:solidFill>
          <a:ln w="12700">
            <a:solidFill>
              <a:srgbClr val="D97A14"/>
            </a:solidFill>
            <a:prstDash val="solid"/>
          </a:ln>
        </p:spPr>
      </p:sp>
      <p:sp>
        <p:nvSpPr>
          <p:cNvPr id="17" name="Text 15"/>
          <p:cNvSpPr txBox="1"/>
          <p:nvPr/>
        </p:nvSpPr>
        <p:spPr>
          <a:xfrm>
            <a:off x="457200" y="4562856"/>
            <a:ext cx="2276856" cy="420624"/>
          </a:xfrm>
          <a:prstGeom prst="rect">
            <a:avLst/>
          </a:prstGeom>
          <a:noFill/>
          <a:ln/>
        </p:spPr>
        <p:txBody>
          <a:bodyPr wrap="square" lIns="0" tIns="0" rIns="0" bIns="0" rtlCol="0" anchor="ctr"/>
          <a:lstStyle/>
          <a:p>
            <a:pPr algn="ctr" indent="0" marL="0">
              <a:buNone/>
            </a:pPr>
            <a:r>
              <a:rPr lang="en-US" sz="1200" dirty="0">
                <a:solidFill>
                  <a:srgbClr val="2B2622"/>
                </a:solidFill>
                <a:latin typeface="Calibri" pitchFamily="34" charset="0"/>
                <a:ea typeface="Calibri" pitchFamily="34" charset="-122"/>
                <a:cs typeface="Calibri" pitchFamily="34" charset="-120"/>
              </a:rPr>
              <a:t>else = none did</a:t>
            </a:r>
            <a:endParaRPr lang="en-US" sz="1200" dirty="0"/>
          </a:p>
        </p:txBody>
      </p:sp>
      <p:sp>
        <p:nvSpPr>
          <p:cNvPr id="18" name="Shape 16"/>
          <p:cNvSpPr/>
          <p:nvPr/>
        </p:nvSpPr>
        <p:spPr>
          <a:xfrm>
            <a:off x="457200" y="4636008"/>
            <a:ext cx="91440" cy="310896"/>
          </a:xfrm>
          <a:prstGeom prst="rect">
            <a:avLst/>
          </a:prstGeom>
          <a:solidFill>
            <a:srgbClr val="D97A14"/>
          </a:solidFill>
          <a:ln w="12700">
            <a:solidFill>
              <a:srgbClr val="D97A14"/>
            </a:solidFill>
            <a:prstDash val="solid"/>
          </a:ln>
        </p:spPr>
      </p:sp>
      <p:sp>
        <p:nvSpPr>
          <p:cNvPr id="19" name="Text 17"/>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One ladder, one rung taken - order decides</a:t>
            </a:r>
            <a:endParaRPr lang="en-US" sz="1350" dirty="0"/>
          </a:p>
        </p:txBody>
      </p:sp>
      <p:sp>
        <p:nvSpPr>
          <p:cNvPr id="20" name="Text 18"/>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14 / 22</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Shape 1"/>
          <p:cNvSpPr/>
          <p:nvPr/>
        </p:nvSpPr>
        <p:spPr>
          <a:xfrm>
            <a:off x="457200" y="960120"/>
            <a:ext cx="128016" cy="1417320"/>
          </a:xfrm>
          <a:prstGeom prst="rect">
            <a:avLst/>
          </a:prstGeom>
          <a:solidFill>
            <a:srgbClr val="D97A14"/>
          </a:solidFill>
          <a:ln w="12700">
            <a:solidFill>
              <a:srgbClr val="D97A14"/>
            </a:solidFill>
            <a:prstDash val="solid"/>
          </a:ln>
        </p:spPr>
      </p:sp>
      <p:sp>
        <p:nvSpPr>
          <p:cNvPr id="4" name="Text 2"/>
          <p:cNvSpPr txBox="1"/>
          <p:nvPr/>
        </p:nvSpPr>
        <p:spPr>
          <a:xfrm>
            <a:off x="777240" y="932688"/>
            <a:ext cx="7863840" cy="658368"/>
          </a:xfrm>
          <a:prstGeom prst="rect">
            <a:avLst/>
          </a:prstGeom>
          <a:noFill/>
          <a:ln/>
        </p:spPr>
        <p:txBody>
          <a:bodyPr wrap="square" lIns="0" tIns="0" rIns="0" bIns="0" rtlCol="0" anchor="ctr"/>
          <a:lstStyle/>
          <a:p>
            <a:pPr indent="0" marL="0">
              <a:buNone/>
            </a:pPr>
            <a:r>
              <a:rPr lang="en-US" sz="3200" b="1" dirty="0">
                <a:solidFill>
                  <a:srgbClr val="2B2622"/>
                </a:solidFill>
                <a:latin typeface="Cambria" pitchFamily="34" charset="0"/>
                <a:ea typeface="Cambria" pitchFamily="34" charset="-122"/>
                <a:cs typeface="Cambria" pitchFamily="34" charset="-120"/>
              </a:rPr>
              <a:t>Patterns, style, errors</a:t>
            </a:r>
            <a:endParaRPr lang="en-US" sz="3200" dirty="0"/>
          </a:p>
        </p:txBody>
      </p:sp>
      <p:sp>
        <p:nvSpPr>
          <p:cNvPr id="5" name="Text 3"/>
          <p:cNvSpPr txBox="1"/>
          <p:nvPr/>
        </p:nvSpPr>
        <p:spPr>
          <a:xfrm>
            <a:off x="777240" y="1645920"/>
            <a:ext cx="7863840" cy="822960"/>
          </a:xfrm>
          <a:prstGeom prst="rect">
            <a:avLst/>
          </a:prstGeom>
          <a:noFill/>
          <a:ln/>
        </p:spPr>
        <p:txBody>
          <a:bodyPr wrap="square" lIns="0" tIns="0" rIns="0" bIns="0" rtlCol="0" anchor="t"/>
          <a:lstStyle/>
          <a:p>
            <a:pPr indent="0" marL="0">
              <a:buNone/>
            </a:pPr>
            <a:r>
              <a:rPr lang="en-US" sz="1500" i="1" dirty="0">
                <a:solidFill>
                  <a:srgbClr val="2F6D62"/>
                </a:solidFill>
                <a:latin typeface="Calibri" pitchFamily="34" charset="0"/>
                <a:ea typeface="Calibri" pitchFamily="34" charset="-122"/>
                <a:cs typeface="Calibri" pitchFamily="34" charset="-120"/>
              </a:rPr>
              <a:t>The 2021 match statement, the walrus, and honest failures</a:t>
            </a:r>
            <a:endParaRPr lang="en-US" sz="1500" dirty="0"/>
          </a:p>
        </p:txBody>
      </p:sp>
      <p:sp>
        <p:nvSpPr>
          <p:cNvPr id="6" name="Shape 4"/>
          <p:cNvSpPr/>
          <p:nvPr/>
        </p:nvSpPr>
        <p:spPr>
          <a:xfrm>
            <a:off x="777240" y="2697480"/>
            <a:ext cx="1856232" cy="1737360"/>
          </a:xfrm>
          <a:prstGeom prst="roundRect">
            <a:avLst>
              <a:gd name="adj" fmla="val 4211"/>
            </a:avLst>
          </a:prstGeom>
          <a:solidFill>
            <a:srgbClr val="2F6D62"/>
          </a:solidFill>
          <a:ln w="12700">
            <a:solidFill>
              <a:srgbClr val="2F6D62"/>
            </a:solidFill>
            <a:prstDash val="solid"/>
          </a:ln>
        </p:spPr>
      </p:sp>
      <p:sp>
        <p:nvSpPr>
          <p:cNvPr id="7" name="Text 5"/>
          <p:cNvSpPr txBox="1"/>
          <p:nvPr/>
        </p:nvSpPr>
        <p:spPr>
          <a:xfrm>
            <a:off x="850392"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pPr algn="ctr" indent="0" marL="0">
              <a:buNone/>
            </a:pPr>
            <a:endParaRPr lang="en-US" sz="1400" dirty="0"/>
          </a:p>
        </p:txBody>
      </p:sp>
      <p:sp>
        <p:nvSpPr>
          <p:cNvPr id="8" name="Shape 6"/>
          <p:cNvSpPr/>
          <p:nvPr/>
        </p:nvSpPr>
        <p:spPr>
          <a:xfrm>
            <a:off x="2779776" y="2697480"/>
            <a:ext cx="1856232" cy="1737360"/>
          </a:xfrm>
          <a:prstGeom prst="roundRect">
            <a:avLst>
              <a:gd name="adj" fmla="val 4211"/>
            </a:avLst>
          </a:prstGeom>
          <a:solidFill>
            <a:srgbClr val="2F6D62"/>
          </a:solidFill>
          <a:ln w="12700">
            <a:solidFill>
              <a:srgbClr val="2F6D62"/>
            </a:solidFill>
            <a:prstDash val="solid"/>
          </a:ln>
        </p:spPr>
      </p:sp>
      <p:sp>
        <p:nvSpPr>
          <p:cNvPr id="9" name="Text 7"/>
          <p:cNvSpPr txBox="1"/>
          <p:nvPr/>
        </p:nvSpPr>
        <p:spPr>
          <a:xfrm>
            <a:off x="2852928"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Guards and captures</a:t>
            </a:r>
            <a:pPr algn="ctr" indent="0" marL="0">
              <a:buNone/>
            </a:pPr>
            <a:endParaRPr lang="en-US" sz="1400" dirty="0"/>
          </a:p>
        </p:txBody>
      </p:sp>
      <p:sp>
        <p:nvSpPr>
          <p:cNvPr id="10" name="Shape 8"/>
          <p:cNvSpPr/>
          <p:nvPr/>
        </p:nvSpPr>
        <p:spPr>
          <a:xfrm>
            <a:off x="4782312" y="2697480"/>
            <a:ext cx="1856232" cy="1737360"/>
          </a:xfrm>
          <a:prstGeom prst="roundRect">
            <a:avLst>
              <a:gd name="adj" fmla="val 4211"/>
            </a:avLst>
          </a:prstGeom>
          <a:solidFill>
            <a:srgbClr val="2F6D62"/>
          </a:solidFill>
          <a:ln w="12700">
            <a:solidFill>
              <a:srgbClr val="2F6D62"/>
            </a:solidFill>
            <a:prstDash val="solid"/>
          </a:ln>
        </p:spPr>
      </p:sp>
      <p:sp>
        <p:nvSpPr>
          <p:cNvPr id="11" name="Text 9"/>
          <p:cNvSpPr txBox="1"/>
          <p:nvPr/>
        </p:nvSpPr>
        <p:spPr>
          <a:xfrm>
            <a:off x="4855464"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 walrus</a:t>
            </a:r>
            <a:pPr algn="ctr" indent="0" marL="0">
              <a:buNone/>
            </a:pPr>
            <a:endParaRPr lang="en-US" sz="1400" dirty="0"/>
          </a:p>
        </p:txBody>
      </p:sp>
      <p:sp>
        <p:nvSpPr>
          <p:cNvPr id="12" name="Shape 10"/>
          <p:cNvSpPr/>
          <p:nvPr/>
        </p:nvSpPr>
        <p:spPr>
          <a:xfrm>
            <a:off x="6784848" y="2697480"/>
            <a:ext cx="1856232" cy="1737360"/>
          </a:xfrm>
          <a:prstGeom prst="roundRect">
            <a:avLst>
              <a:gd name="adj" fmla="val 4211"/>
            </a:avLst>
          </a:prstGeom>
          <a:solidFill>
            <a:srgbClr val="2F6D62"/>
          </a:solidFill>
          <a:ln w="12700">
            <a:solidFill>
              <a:srgbClr val="2F6D62"/>
            </a:solidFill>
            <a:prstDash val="solid"/>
          </a:ln>
        </p:spPr>
      </p:sp>
      <p:sp>
        <p:nvSpPr>
          <p:cNvPr id="13" name="Text 11"/>
          <p:cNvSpPr txBox="1"/>
          <p:nvPr/>
        </p:nvSpPr>
        <p:spPr>
          <a:xfrm>
            <a:off x="6858000" y="2743200"/>
            <a:ext cx="1709928" cy="1645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Error reports</a:t>
            </a:r>
            <a:pPr algn="ctr" indent="0" marL="0">
              <a:buNone/>
            </a:pPr>
            <a:endParaRPr lang="en-US" sz="1400" dirty="0"/>
          </a:p>
        </p:txBody>
      </p:sp>
      <p:sp>
        <p:nvSpPr>
          <p:cNvPr id="14" name="Text 1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15 / 22</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A thirty-year-old wish, granted in 3.10</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accepted 2021-02; shipped 2021-10 in Python 3.10</a:t>
            </a:r>
            <a:endParaRPr lang="en-US" sz="1300" dirty="0"/>
          </a:p>
        </p:txBody>
      </p:sp>
      <p:sp>
        <p:nvSpPr>
          <p:cNvPr id="6" name="Shape 4"/>
          <p:cNvSpPr/>
          <p:nvPr/>
        </p:nvSpPr>
        <p:spPr>
          <a:xfrm>
            <a:off x="457200" y="1424940"/>
            <a:ext cx="128016" cy="128016"/>
          </a:xfrm>
          <a:prstGeom prst="diamond">
            <a:avLst/>
          </a:prstGeom>
          <a:solidFill>
            <a:srgbClr val="D97A14"/>
          </a:solidFill>
          <a:ln w="12700">
            <a:solidFill>
              <a:srgbClr val="D97A14"/>
            </a:solidFill>
            <a:prstDash val="solid"/>
          </a:ln>
        </p:spPr>
      </p:sp>
      <p:sp>
        <p:nvSpPr>
          <p:cNvPr id="7" name="Text 5"/>
          <p:cNvSpPr txBox="1"/>
          <p:nvPr/>
        </p:nvSpPr>
        <p:spPr>
          <a:xfrm>
            <a:off x="731520" y="1298448"/>
            <a:ext cx="7955280" cy="381000"/>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'Where is my switch?' - answered for decades with elif chains</a:t>
            </a:r>
            <a:endParaRPr lang="en-US" sz="1250" dirty="0"/>
          </a:p>
        </p:txBody>
      </p:sp>
      <p:sp>
        <p:nvSpPr>
          <p:cNvPr id="8" name="Shape 6"/>
          <p:cNvSpPr/>
          <p:nvPr/>
        </p:nvSpPr>
        <p:spPr>
          <a:xfrm>
            <a:off x="457200" y="1805940"/>
            <a:ext cx="128016" cy="128016"/>
          </a:xfrm>
          <a:prstGeom prst="diamond">
            <a:avLst/>
          </a:prstGeom>
          <a:solidFill>
            <a:srgbClr val="D97A14"/>
          </a:solidFill>
          <a:ln w="12700">
            <a:solidFill>
              <a:srgbClr val="D97A14"/>
            </a:solidFill>
            <a:prstDash val="solid"/>
          </a:ln>
        </p:spPr>
      </p:sp>
      <p:sp>
        <p:nvSpPr>
          <p:cNvPr id="9" name="Text 7"/>
          <p:cNvSpPr txBox="1"/>
          <p:nvPr/>
        </p:nvSpPr>
        <p:spPr>
          <a:xfrm>
            <a:off x="731520" y="1679448"/>
            <a:ext cx="7955280" cy="381000"/>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February 2021: the Steering Council accepts PEPs 634-636</a:t>
            </a:r>
            <a:endParaRPr lang="en-US" sz="1250" dirty="0"/>
          </a:p>
        </p:txBody>
      </p:sp>
      <p:sp>
        <p:nvSpPr>
          <p:cNvPr id="10" name="Shape 8"/>
          <p:cNvSpPr/>
          <p:nvPr/>
        </p:nvSpPr>
        <p:spPr>
          <a:xfrm>
            <a:off x="457200" y="2186940"/>
            <a:ext cx="128016" cy="128016"/>
          </a:xfrm>
          <a:prstGeom prst="diamond">
            <a:avLst/>
          </a:prstGeom>
          <a:solidFill>
            <a:srgbClr val="D97A14"/>
          </a:solidFill>
          <a:ln w="12700">
            <a:solidFill>
              <a:srgbClr val="D97A14"/>
            </a:solidFill>
            <a:prstDash val="solid"/>
          </a:ln>
        </p:spPr>
      </p:sp>
      <p:sp>
        <p:nvSpPr>
          <p:cNvPr id="11" name="Text 9"/>
          <p:cNvSpPr txBox="1"/>
          <p:nvPr/>
        </p:nvSpPr>
        <p:spPr>
          <a:xfrm>
            <a:off x="731520" y="2060448"/>
            <a:ext cx="7955280" cy="381000"/>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October 2021: Python 3.10 ships match - patterns that destructure and bind</a:t>
            </a:r>
            <a:endParaRPr lang="en-US" sz="1250" dirty="0"/>
          </a:p>
        </p:txBody>
      </p:sp>
      <p:sp>
        <p:nvSpPr>
          <p:cNvPr id="12" name="Text 10"/>
          <p:cNvSpPr txBox="1"/>
          <p:nvPr/>
        </p:nvSpPr>
        <p:spPr>
          <a:xfrm>
            <a:off x="457200" y="2267712"/>
            <a:ext cx="822960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first match: command words, one case wins</a:t>
            </a:r>
            <a:endParaRPr lang="en-US" sz="1150" dirty="0"/>
          </a:p>
        </p:txBody>
      </p:sp>
      <p:sp>
        <p:nvSpPr>
          <p:cNvPr id="13" name="Shape 11"/>
          <p:cNvSpPr/>
          <p:nvPr/>
        </p:nvSpPr>
        <p:spPr>
          <a:xfrm>
            <a:off x="457200" y="2542032"/>
            <a:ext cx="8229600" cy="1554480"/>
          </a:xfrm>
          <a:prstGeom prst="roundRect">
            <a:avLst>
              <a:gd name="adj" fmla="val 5882"/>
            </a:avLst>
          </a:prstGeom>
          <a:solidFill>
            <a:srgbClr val="23272E"/>
          </a:solidFill>
          <a:ln w="12700">
            <a:solidFill>
              <a:srgbClr val="23272E"/>
            </a:solidFill>
            <a:prstDash val="solid"/>
          </a:ln>
        </p:spPr>
      </p:sp>
      <p:sp>
        <p:nvSpPr>
          <p:cNvPr id="14" name="Text 12"/>
          <p:cNvSpPr txBox="1"/>
          <p:nvPr/>
        </p:nvSpPr>
        <p:spPr>
          <a:xfrm>
            <a:off x="640080" y="2660904"/>
            <a:ext cx="7863840" cy="1316736"/>
          </a:xfrm>
          <a:prstGeom prst="rect">
            <a:avLst/>
          </a:prstGeom>
          <a:noFill/>
          <a:ln/>
        </p:spPr>
        <p:txBody>
          <a:bodyPr wrap="square" lIns="0" tIns="0" rIns="0" bIns="0" rtlCol="0" anchor="t"/>
          <a:lstStyle/>
          <a:p>
            <a:pPr indent="0" marL="0">
              <a:buNone/>
            </a:pPr>
            <a:r>
              <a:rPr lang="en-US" sz="700" dirty="0">
                <a:solidFill>
                  <a:srgbClr val="E6EDF3"/>
                </a:solidFill>
                <a:latin typeface="Courier New" pitchFamily="34" charset="0"/>
                <a:ea typeface="Courier New" pitchFamily="34" charset="-122"/>
                <a:cs typeface="Courier New" pitchFamily="34" charset="-120"/>
              </a:rPr>
              <a:t>command = </a:t>
            </a:r>
            <a:pPr indent="0" marL="0">
              <a:buNone/>
            </a:pPr>
            <a:r>
              <a:rPr lang="en-US" sz="700" dirty="0">
                <a:solidFill>
                  <a:srgbClr val="9ECBFF"/>
                </a:solidFill>
                <a:latin typeface="Courier New" pitchFamily="34" charset="0"/>
                <a:ea typeface="Courier New" pitchFamily="34" charset="-122"/>
                <a:cs typeface="Courier New" pitchFamily="34" charset="-120"/>
              </a:rPr>
              <a:t>'quit'</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match command:</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    case </a:t>
            </a:r>
            <a:pPr indent="0" marL="0">
              <a:buNone/>
            </a:pPr>
            <a:r>
              <a:rPr lang="en-US" sz="700" dirty="0">
                <a:solidFill>
                  <a:srgbClr val="9ECBFF"/>
                </a:solidFill>
                <a:latin typeface="Courier New" pitchFamily="34" charset="0"/>
                <a:ea typeface="Courier New" pitchFamily="34" charset="-122"/>
                <a:cs typeface="Courier New" pitchFamily="34" charset="-120"/>
              </a:rPr>
              <a:t>'go'</a:t>
            </a:r>
            <a:pPr indent="0" marL="0">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        print(</a:t>
            </a:r>
            <a:pPr indent="0" marL="0">
              <a:buNone/>
            </a:pPr>
            <a:r>
              <a:rPr lang="en-US" sz="700" dirty="0">
                <a:solidFill>
                  <a:srgbClr val="9ECBFF"/>
                </a:solidFill>
                <a:latin typeface="Courier New" pitchFamily="34" charset="0"/>
                <a:ea typeface="Courier New" pitchFamily="34" charset="-122"/>
                <a:cs typeface="Courier New" pitchFamily="34" charset="-120"/>
              </a:rPr>
              <a:t>'going'</a:t>
            </a:r>
            <a:pPr indent="0" marL="0">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    case </a:t>
            </a:r>
            <a:pPr indent="0" marL="0">
              <a:buNone/>
            </a:pPr>
            <a:r>
              <a:rPr lang="en-US" sz="700" dirty="0">
                <a:solidFill>
                  <a:srgbClr val="9ECBFF"/>
                </a:solidFill>
                <a:latin typeface="Courier New" pitchFamily="34" charset="0"/>
                <a:ea typeface="Courier New" pitchFamily="34" charset="-122"/>
                <a:cs typeface="Courier New" pitchFamily="34" charset="-120"/>
              </a:rPr>
              <a:t>'quit'</a:t>
            </a:r>
            <a:pPr indent="0" marL="0">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        print(</a:t>
            </a:r>
            <a:pPr indent="0" marL="0">
              <a:buNone/>
            </a:pPr>
            <a:r>
              <a:rPr lang="en-US" sz="700" dirty="0">
                <a:solidFill>
                  <a:srgbClr val="9ECBFF"/>
                </a:solidFill>
                <a:latin typeface="Courier New" pitchFamily="34" charset="0"/>
                <a:ea typeface="Courier New" pitchFamily="34" charset="-122"/>
                <a:cs typeface="Courier New" pitchFamily="34" charset="-120"/>
              </a:rPr>
              <a:t>'bye'</a:t>
            </a:r>
            <a:pPr indent="0" marL="0">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    case _:</a:t>
            </a:r>
            <a:endParaRPr lang="en-US" sz="700" dirty="0"/>
          </a:p>
          <a:p>
            <a:pPr indent="0" marL="0">
              <a:buNone/>
            </a:pPr>
            <a:r>
              <a:rPr lang="en-US" sz="700" dirty="0">
                <a:solidFill>
                  <a:srgbClr val="E6EDF3"/>
                </a:solidFill>
                <a:latin typeface="Courier New" pitchFamily="34" charset="0"/>
                <a:ea typeface="Courier New" pitchFamily="34" charset="-122"/>
                <a:cs typeface="Courier New" pitchFamily="34" charset="-120"/>
              </a:rPr>
              <a:t>        print(</a:t>
            </a:r>
            <a:pPr indent="0" marL="0">
              <a:buNone/>
            </a:pPr>
            <a:r>
              <a:rPr lang="en-US" sz="700" dirty="0">
                <a:solidFill>
                  <a:srgbClr val="9ECBFF"/>
                </a:solidFill>
                <a:latin typeface="Courier New" pitchFamily="34" charset="0"/>
                <a:ea typeface="Courier New" pitchFamily="34" charset="-122"/>
                <a:cs typeface="Courier New" pitchFamily="34" charset="-120"/>
              </a:rPr>
              <a:t>'unknown'</a:t>
            </a:r>
            <a:pPr indent="0" marL="0">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buNone/>
            </a:pPr>
            <a:r>
              <a:rPr lang="en-US" sz="700" b="1" dirty="0">
                <a:solidFill>
                  <a:srgbClr val="D97A14"/>
                </a:solidFill>
                <a:latin typeface="Courier New" pitchFamily="34" charset="0"/>
                <a:ea typeface="Courier New" pitchFamily="34" charset="-122"/>
                <a:cs typeface="Courier New" pitchFamily="34" charset="-120"/>
              </a:rPr>
              <a:t>prints </a:t>
            </a:r>
            <a:pPr indent="0" marL="0">
              <a:buNone/>
            </a:pPr>
            <a:r>
              <a:rPr lang="en-US" sz="700" dirty="0">
                <a:solidFill>
                  <a:srgbClr val="7EE787"/>
                </a:solidFill>
                <a:latin typeface="Courier New" pitchFamily="34" charset="0"/>
                <a:ea typeface="Courier New" pitchFamily="34" charset="-122"/>
                <a:cs typeface="Courier New" pitchFamily="34" charset="-120"/>
              </a:rPr>
              <a:t>bye</a:t>
            </a:r>
            <a:endParaRPr lang="en-US" sz="700" dirty="0"/>
          </a:p>
        </p:txBody>
      </p:sp>
      <p:sp>
        <p:nvSpPr>
          <p:cNvPr id="15" name="Text 13"/>
          <p:cNvSpPr txBox="1"/>
          <p:nvPr/>
        </p:nvSpPr>
        <p:spPr>
          <a:xfrm>
            <a:off x="640080" y="3822192"/>
            <a:ext cx="786384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match_command_v1_0_0.py, lines 1 to 8 of 8, run under Python 3.13.16</a:t>
            </a:r>
            <a:endParaRPr lang="en-US" sz="750" dirty="0"/>
          </a:p>
        </p:txBody>
      </p:sp>
      <p:sp>
        <p:nvSpPr>
          <p:cNvPr id="16" name="Shape 14"/>
          <p:cNvSpPr/>
          <p:nvPr/>
        </p:nvSpPr>
        <p:spPr>
          <a:xfrm>
            <a:off x="457200" y="4169664"/>
            <a:ext cx="2449129" cy="365760"/>
          </a:xfrm>
          <a:prstGeom prst="roundRect">
            <a:avLst>
              <a:gd name="adj" fmla="val 50000"/>
            </a:avLst>
          </a:prstGeom>
          <a:solidFill>
            <a:srgbClr val="EFE9DC"/>
          </a:solidFill>
          <a:ln w="9525">
            <a:solidFill>
              <a:srgbClr val="DFD6C7"/>
            </a:solidFill>
            <a:prstDash val="solid"/>
          </a:ln>
        </p:spPr>
      </p:sp>
      <p:sp>
        <p:nvSpPr>
          <p:cNvPr id="17" name="Text 15"/>
          <p:cNvSpPr txBox="1"/>
          <p:nvPr/>
        </p:nvSpPr>
        <p:spPr>
          <a:xfrm>
            <a:off x="548640" y="4169664"/>
            <a:ext cx="2302825"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WHO  </a:t>
            </a:r>
            <a:pPr indent="0" marL="0">
              <a:buNone/>
            </a:pPr>
            <a:r>
              <a:rPr lang="en-US" sz="800" dirty="0">
                <a:solidFill>
                  <a:srgbClr val="2B2622"/>
                </a:solidFill>
                <a:latin typeface="Calibri" pitchFamily="34" charset="0"/>
                <a:ea typeface="Calibri" pitchFamily="34" charset="-122"/>
                <a:cs typeface="Calibri" pitchFamily="34" charset="-120"/>
              </a:rPr>
              <a:t>PEPs 634-636 by Brandt Bucher, Guido v…</a:t>
            </a:r>
            <a:endParaRPr lang="en-US" sz="750" dirty="0"/>
          </a:p>
        </p:txBody>
      </p:sp>
      <p:sp>
        <p:nvSpPr>
          <p:cNvPr id="18" name="Shape 16"/>
          <p:cNvSpPr/>
          <p:nvPr/>
        </p:nvSpPr>
        <p:spPr>
          <a:xfrm>
            <a:off x="3016057" y="4169664"/>
            <a:ext cx="2449129" cy="365760"/>
          </a:xfrm>
          <a:prstGeom prst="roundRect">
            <a:avLst>
              <a:gd name="adj" fmla="val 50000"/>
            </a:avLst>
          </a:prstGeom>
          <a:solidFill>
            <a:srgbClr val="EFE9DC"/>
          </a:solidFill>
          <a:ln w="9525">
            <a:solidFill>
              <a:srgbClr val="DFD6C7"/>
            </a:solidFill>
            <a:prstDash val="solid"/>
          </a:ln>
        </p:spPr>
      </p:sp>
      <p:sp>
        <p:nvSpPr>
          <p:cNvPr id="19" name="Text 17"/>
          <p:cNvSpPr txBox="1"/>
          <p:nvPr/>
        </p:nvSpPr>
        <p:spPr>
          <a:xfrm>
            <a:off x="3107497" y="4169664"/>
            <a:ext cx="2302825"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WHERE  </a:t>
            </a:r>
            <a:pPr indent="0" marL="0">
              <a:buNone/>
            </a:pPr>
            <a:r>
              <a:rPr lang="en-US" sz="800" dirty="0">
                <a:solidFill>
                  <a:srgbClr val="2B2622"/>
                </a:solidFill>
                <a:latin typeface="Calibri" pitchFamily="34" charset="0"/>
                <a:ea typeface="Calibri" pitchFamily="34" charset="-122"/>
                <a:cs typeface="Calibri" pitchFamily="34" charset="-120"/>
              </a:rPr>
              <a:t>peps.python.org; the Steering Council'…</a:t>
            </a:r>
            <a:endParaRPr lang="en-US" sz="750" dirty="0"/>
          </a:p>
        </p:txBody>
      </p:sp>
      <p:sp>
        <p:nvSpPr>
          <p:cNvPr id="20" name="Shape 18"/>
          <p:cNvSpPr/>
          <p:nvPr/>
        </p:nvSpPr>
        <p:spPr>
          <a:xfrm>
            <a:off x="5574914" y="4169664"/>
            <a:ext cx="1343071" cy="365760"/>
          </a:xfrm>
          <a:prstGeom prst="roundRect">
            <a:avLst>
              <a:gd name="adj" fmla="val 50000"/>
            </a:avLst>
          </a:prstGeom>
          <a:solidFill>
            <a:srgbClr val="EFE9DC"/>
          </a:solidFill>
          <a:ln w="9525">
            <a:solidFill>
              <a:srgbClr val="DFD6C7"/>
            </a:solidFill>
            <a:prstDash val="solid"/>
          </a:ln>
        </p:spPr>
      </p:sp>
      <p:sp>
        <p:nvSpPr>
          <p:cNvPr id="21" name="Text 19"/>
          <p:cNvSpPr txBox="1"/>
          <p:nvPr/>
        </p:nvSpPr>
        <p:spPr>
          <a:xfrm>
            <a:off x="5666354" y="4169664"/>
            <a:ext cx="1196767" cy="365760"/>
          </a:xfrm>
          <a:prstGeom prst="rect">
            <a:avLst/>
          </a:prstGeom>
          <a:noFill/>
          <a:ln/>
        </p:spPr>
        <p:txBody>
          <a:bodyPr wrap="square" lIns="0" tIns="0" rIns="0" bIns="0" rtlCol="0" anchor="ctr"/>
          <a:lstStyle/>
          <a:p>
            <a:pPr indent="0" marL="0">
              <a:buNone/>
            </a:pPr>
            <a:r>
              <a:rPr lang="en-US" sz="750" b="1" dirty="0">
                <a:solidFill>
                  <a:srgbClr val="2F6D62"/>
                </a:solidFill>
                <a:latin typeface="Calibri" pitchFamily="34" charset="0"/>
                <a:ea typeface="Calibri" pitchFamily="34" charset="-122"/>
                <a:cs typeface="Calibri" pitchFamily="34" charset="-120"/>
              </a:rPr>
              <a:t>WHEN  </a:t>
            </a:r>
            <a:pPr indent="0" marL="0">
              <a:buNone/>
            </a:pPr>
            <a:r>
              <a:rPr lang="en-US" sz="900" dirty="0">
                <a:solidFill>
                  <a:srgbClr val="2B2622"/>
                </a:solidFill>
                <a:latin typeface="Calibri" pitchFamily="34" charset="0"/>
                <a:ea typeface="Calibri" pitchFamily="34" charset="-122"/>
                <a:cs typeface="Calibri" pitchFamily="34" charset="-120"/>
              </a:rPr>
              <a:t>accepted 2021-02…</a:t>
            </a:r>
            <a:endParaRPr lang="en-US" sz="750" dirty="0"/>
          </a:p>
        </p:txBody>
      </p:sp>
      <p:sp>
        <p:nvSpPr>
          <p:cNvPr id="22" name="Shape 20"/>
          <p:cNvSpPr/>
          <p:nvPr/>
        </p:nvSpPr>
        <p:spPr>
          <a:xfrm>
            <a:off x="7027713" y="4169664"/>
            <a:ext cx="1659087" cy="365760"/>
          </a:xfrm>
          <a:prstGeom prst="roundRect">
            <a:avLst>
              <a:gd name="adj" fmla="val 50000"/>
            </a:avLst>
          </a:prstGeom>
          <a:solidFill>
            <a:srgbClr val="2F6D62"/>
          </a:solidFill>
          <a:ln w="9525">
            <a:solidFill>
              <a:srgbClr val="2F6D62"/>
            </a:solidFill>
            <a:prstDash val="solid"/>
          </a:ln>
        </p:spPr>
      </p:sp>
      <p:sp>
        <p:nvSpPr>
          <p:cNvPr id="23" name="Text 21"/>
          <p:cNvSpPr txBox="1"/>
          <p:nvPr/>
        </p:nvSpPr>
        <p:spPr>
          <a:xfrm>
            <a:off x="7119153" y="4169664"/>
            <a:ext cx="1512783" cy="365760"/>
          </a:xfrm>
          <a:prstGeom prst="rect">
            <a:avLst/>
          </a:prstGeom>
          <a:noFill/>
          <a:ln/>
        </p:spPr>
        <p:txBody>
          <a:bodyPr wrap="square" lIns="0" tIns="0" rIns="0" bIns="0" rtlCol="0" anchor="ctr"/>
          <a:lstStyle/>
          <a:p>
            <a:pPr indent="0" marL="0">
              <a:buNone/>
            </a:pPr>
            <a:r>
              <a:rPr lang="en-US" sz="750" b="1" dirty="0">
                <a:solidFill>
                  <a:srgbClr val="D7E4E0"/>
                </a:solidFill>
                <a:latin typeface="Calibri" pitchFamily="34" charset="0"/>
                <a:ea typeface="Calibri" pitchFamily="34" charset="-122"/>
                <a:cs typeface="Calibri" pitchFamily="34" charset="-120"/>
              </a:rPr>
              <a:t>READ  </a:t>
            </a:r>
            <a:pPr indent="0" marL="0">
              <a:buNone/>
            </a:pPr>
            <a:r>
              <a:rPr lang="en-US" sz="9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peps.python.org</a:t>
            </a:r>
            <a:endParaRPr lang="en-US" sz="750" dirty="0"/>
          </a:p>
        </p:txBody>
      </p:sp>
      <p:sp>
        <p:nvSpPr>
          <p:cNvPr id="24"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5"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match is a 2021 feature - you saw it arrive</a:t>
            </a:r>
            <a:endParaRPr lang="en-US" sz="1350" dirty="0"/>
          </a:p>
        </p:txBody>
      </p:sp>
      <p:sp>
        <p:nvSpPr>
          <p:cNvPr id="26"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16 / 22</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match: patterns, captures, guards</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More than a switch - the pattern binds what it matches</a:t>
            </a:r>
            <a:endParaRPr lang="en-US" sz="1300" dirty="0"/>
          </a:p>
        </p:txBody>
      </p:sp>
      <p:sp>
        <p:nvSpPr>
          <p:cNvPr id="6" name="Text 4"/>
          <p:cNvSpPr txBox="1"/>
          <p:nvPr/>
        </p:nvSpPr>
        <p:spPr>
          <a:xfrm>
            <a:off x="457200" y="1143000"/>
            <a:ext cx="512064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a guard refines the pattern; the capture is a real name</a:t>
            </a:r>
            <a:endParaRPr lang="en-US" sz="1150" dirty="0"/>
          </a:p>
        </p:txBody>
      </p:sp>
      <p:sp>
        <p:nvSpPr>
          <p:cNvPr id="7" name="Shape 5"/>
          <p:cNvSpPr/>
          <p:nvPr/>
        </p:nvSpPr>
        <p:spPr>
          <a:xfrm>
            <a:off x="457200" y="1417320"/>
            <a:ext cx="5120640" cy="2103120"/>
          </a:xfrm>
          <a:prstGeom prst="roundRect">
            <a:avLst>
              <a:gd name="adj" fmla="val 4348"/>
            </a:avLst>
          </a:prstGeom>
          <a:solidFill>
            <a:srgbClr val="23272E"/>
          </a:solidFill>
          <a:ln w="12700">
            <a:solidFill>
              <a:srgbClr val="23272E"/>
            </a:solidFill>
            <a:prstDash val="solid"/>
          </a:ln>
        </p:spPr>
      </p:sp>
      <p:sp>
        <p:nvSpPr>
          <p:cNvPr id="8" name="Text 6"/>
          <p:cNvSpPr txBox="1"/>
          <p:nvPr/>
        </p:nvSpPr>
        <p:spPr>
          <a:xfrm>
            <a:off x="640080" y="1536192"/>
            <a:ext cx="4754880" cy="1865376"/>
          </a:xfrm>
          <a:prstGeom prst="rect">
            <a:avLst/>
          </a:prstGeom>
          <a:noFill/>
          <a:ln/>
        </p:spPr>
        <p:txBody>
          <a:bodyPr wrap="square" lIns="0" tIns="0" rIns="0" bIns="0" rtlCol="0" anchor="t"/>
          <a:lstStyle/>
          <a:p>
            <a:pPr indent="0" marL="0">
              <a:buNone/>
            </a:pPr>
            <a:r>
              <a:rPr lang="en-US" sz="900" b="1" dirty="0">
                <a:solidFill>
                  <a:srgbClr val="F2A860"/>
                </a:solidFill>
                <a:latin typeface="Courier New" pitchFamily="34" charset="0"/>
                <a:ea typeface="Courier New" pitchFamily="34" charset="-122"/>
                <a:cs typeface="Courier New" pitchFamily="34" charset="-120"/>
              </a:rPr>
              <a:t>for</a:t>
            </a:r>
            <a:pPr indent="0" marL="0">
              <a:buNone/>
            </a:pPr>
            <a:r>
              <a:rPr lang="en-US" sz="900" dirty="0">
                <a:solidFill>
                  <a:srgbClr val="E6EDF3"/>
                </a:solidFill>
                <a:latin typeface="Courier New" pitchFamily="34" charset="0"/>
                <a:ea typeface="Courier New" pitchFamily="34" charset="-122"/>
                <a:cs typeface="Courier New" pitchFamily="34" charset="-120"/>
              </a:rPr>
              <a:t> point </a:t>
            </a:r>
            <a:pPr indent="0" marL="0">
              <a:buNone/>
            </a:pPr>
            <a:r>
              <a:rPr lang="en-US" sz="900" b="1" dirty="0">
                <a:solidFill>
                  <a:srgbClr val="F2A860"/>
                </a:solidFill>
                <a:latin typeface="Courier New" pitchFamily="34" charset="0"/>
                <a:ea typeface="Courier New" pitchFamily="34" charset="-122"/>
                <a:cs typeface="Courier New" pitchFamily="34" charset="-120"/>
              </a:rPr>
              <a:t>in</a:t>
            </a:r>
            <a:pPr indent="0" marL="0">
              <a:buNone/>
            </a:pPr>
            <a:r>
              <a:rPr lang="en-US" sz="900" dirty="0">
                <a:solidFill>
                  <a:srgbClr val="E6EDF3"/>
                </a:solidFill>
                <a:latin typeface="Courier New" pitchFamily="34" charset="0"/>
                <a:ea typeface="Courier New" pitchFamily="34" charset="-122"/>
                <a:cs typeface="Courier New" pitchFamily="34" charset="-120"/>
              </a:rPr>
              <a:t> [(</a:t>
            </a:r>
            <a:pPr indent="0" marL="0">
              <a:buNone/>
            </a:pPr>
            <a:r>
              <a:rPr lang="en-US" sz="900" dirty="0">
                <a:solidFill>
                  <a:srgbClr val="FFD28A"/>
                </a:solidFill>
                <a:latin typeface="Courier New" pitchFamily="34" charset="0"/>
                <a:ea typeface="Courier New" pitchFamily="34" charset="-122"/>
                <a:cs typeface="Courier New" pitchFamily="34" charset="-120"/>
              </a:rPr>
              <a:t>3</a:t>
            </a:r>
            <a:pPr indent="0" marL="0">
              <a:buNone/>
            </a:pPr>
            <a:r>
              <a:rPr lang="en-US" sz="900" dirty="0">
                <a:solidFill>
                  <a:srgbClr val="E6EDF3"/>
                </a:solidFill>
                <a:latin typeface="Courier New" pitchFamily="34" charset="0"/>
                <a:ea typeface="Courier New" pitchFamily="34" charset="-122"/>
                <a:cs typeface="Courier New" pitchFamily="34" charset="-120"/>
              </a:rPr>
              <a:t>, </a:t>
            </a:r>
            <a:pPr indent="0" marL="0">
              <a:buNone/>
            </a:pPr>
            <a:r>
              <a:rPr lang="en-US" sz="900" dirty="0">
                <a:solidFill>
                  <a:srgbClr val="FFD28A"/>
                </a:solidFill>
                <a:latin typeface="Courier New" pitchFamily="34" charset="0"/>
                <a:ea typeface="Courier New" pitchFamily="34" charset="-122"/>
                <a:cs typeface="Courier New" pitchFamily="34" charset="-120"/>
              </a:rPr>
              <a:t>3</a:t>
            </a:r>
            <a:pPr indent="0" marL="0">
              <a:buNone/>
            </a:pPr>
            <a:r>
              <a:rPr lang="en-US" sz="900" dirty="0">
                <a:solidFill>
                  <a:srgbClr val="E6EDF3"/>
                </a:solidFill>
                <a:latin typeface="Courier New" pitchFamily="34" charset="0"/>
                <a:ea typeface="Courier New" pitchFamily="34" charset="-122"/>
                <a:cs typeface="Courier New" pitchFamily="34" charset="-120"/>
              </a:rPr>
              <a:t>), (</a:t>
            </a:r>
            <a:pPr indent="0" marL="0">
              <a:buNone/>
            </a:pPr>
            <a:r>
              <a:rPr lang="en-US" sz="900" dirty="0">
                <a:solidFill>
                  <a:srgbClr val="FFD28A"/>
                </a:solidFill>
                <a:latin typeface="Courier New" pitchFamily="34" charset="0"/>
                <a:ea typeface="Courier New" pitchFamily="34" charset="-122"/>
                <a:cs typeface="Courier New" pitchFamily="34" charset="-120"/>
              </a:rPr>
              <a:t>3</a:t>
            </a:r>
            <a:pPr indent="0" marL="0">
              <a:buNone/>
            </a:pPr>
            <a:r>
              <a:rPr lang="en-US" sz="900" dirty="0">
                <a:solidFill>
                  <a:srgbClr val="E6EDF3"/>
                </a:solidFill>
                <a:latin typeface="Courier New" pitchFamily="34" charset="0"/>
                <a:ea typeface="Courier New" pitchFamily="34" charset="-122"/>
                <a:cs typeface="Courier New" pitchFamily="34" charset="-120"/>
              </a:rPr>
              <a:t>, </a:t>
            </a:r>
            <a:pPr indent="0" marL="0">
              <a:buNone/>
            </a:pPr>
            <a:r>
              <a:rPr lang="en-US" sz="900" dirty="0">
                <a:solidFill>
                  <a:srgbClr val="FFD28A"/>
                </a:solidFill>
                <a:latin typeface="Courier New" pitchFamily="34" charset="0"/>
                <a:ea typeface="Courier New" pitchFamily="34" charset="-122"/>
                <a:cs typeface="Courier New" pitchFamily="34" charset="-120"/>
              </a:rPr>
              <a:t>4</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match point:</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case (x, y) </a:t>
            </a:r>
            <a:pPr indent="0" marL="0">
              <a:buNone/>
            </a:pPr>
            <a:r>
              <a:rPr lang="en-US" sz="900" b="1" dirty="0">
                <a:solidFill>
                  <a:srgbClr val="F2A860"/>
                </a:solidFill>
                <a:latin typeface="Courier New" pitchFamily="34" charset="0"/>
                <a:ea typeface="Courier New" pitchFamily="34" charset="-122"/>
                <a:cs typeface="Courier New" pitchFamily="34" charset="-120"/>
              </a:rPr>
              <a:t>if</a:t>
            </a:r>
            <a:pPr indent="0" marL="0">
              <a:buNone/>
            </a:pPr>
            <a:r>
              <a:rPr lang="en-US" sz="900" dirty="0">
                <a:solidFill>
                  <a:srgbClr val="E6EDF3"/>
                </a:solidFill>
                <a:latin typeface="Courier New" pitchFamily="34" charset="0"/>
                <a:ea typeface="Courier New" pitchFamily="34" charset="-122"/>
                <a:cs typeface="Courier New" pitchFamily="34" charset="-120"/>
              </a:rPr>
              <a:t> x == y:</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'on the diagonal at'</a:t>
            </a:r>
            <a:pPr indent="0" marL="0">
              <a:buNone/>
            </a:pPr>
            <a:r>
              <a:rPr lang="en-US" sz="900" dirty="0">
                <a:solidFill>
                  <a:srgbClr val="E6EDF3"/>
                </a:solidFill>
                <a:latin typeface="Courier New" pitchFamily="34" charset="0"/>
                <a:ea typeface="Courier New" pitchFamily="34" charset="-122"/>
                <a:cs typeface="Courier New" pitchFamily="34" charset="-120"/>
              </a:rPr>
              <a:t>, x)</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case (x, y):</a:t>
            </a:r>
            <a:endParaRPr lang="en-US" sz="900" dirty="0"/>
          </a:p>
          <a:p>
            <a:pPr indent="0" marL="0">
              <a:buNone/>
            </a:pPr>
            <a:r>
              <a:rPr lang="en-US" sz="900" dirty="0">
                <a:solidFill>
                  <a:srgbClr val="E6EDF3"/>
                </a:solidFill>
                <a:latin typeface="Courier New" pitchFamily="34" charset="0"/>
                <a:ea typeface="Courier New" pitchFamily="34" charset="-122"/>
                <a:cs typeface="Courier New" pitchFamily="34" charset="-120"/>
              </a:rPr>
              <a:t>            print(</a:t>
            </a:r>
            <a:pPr indent="0" marL="0">
              <a:buNone/>
            </a:pPr>
            <a:r>
              <a:rPr lang="en-US" sz="900" dirty="0">
                <a:solidFill>
                  <a:srgbClr val="9ECBFF"/>
                </a:solidFill>
                <a:latin typeface="Courier New" pitchFamily="34" charset="0"/>
                <a:ea typeface="Courier New" pitchFamily="34" charset="-122"/>
                <a:cs typeface="Courier New" pitchFamily="34" charset="-120"/>
              </a:rPr>
              <a:t>'elsewhere'</a:t>
            </a:r>
            <a:pPr indent="0" marL="0">
              <a:buNone/>
            </a:pPr>
            <a:r>
              <a:rPr lang="en-US" sz="900" dirty="0">
                <a:solidFill>
                  <a:srgbClr val="E6EDF3"/>
                </a:solidFill>
                <a:latin typeface="Courier New" pitchFamily="34" charset="0"/>
                <a:ea typeface="Courier New" pitchFamily="34" charset="-122"/>
                <a:cs typeface="Courier New" pitchFamily="34" charset="-120"/>
              </a:rPr>
              <a:t>)</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prints </a:t>
            </a:r>
            <a:pPr indent="0" marL="0">
              <a:buNone/>
            </a:pPr>
            <a:r>
              <a:rPr lang="en-US" sz="900" dirty="0">
                <a:solidFill>
                  <a:srgbClr val="7EE787"/>
                </a:solidFill>
                <a:latin typeface="Courier New" pitchFamily="34" charset="0"/>
                <a:ea typeface="Courier New" pitchFamily="34" charset="-122"/>
                <a:cs typeface="Courier New" pitchFamily="34" charset="-120"/>
              </a:rPr>
              <a:t>on the diagonal at 3</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elsewhere</a:t>
            </a:r>
            <a:endParaRPr lang="en-US" sz="900" dirty="0"/>
          </a:p>
        </p:txBody>
      </p:sp>
      <p:sp>
        <p:nvSpPr>
          <p:cNvPr id="9" name="Text 7"/>
          <p:cNvSpPr txBox="1"/>
          <p:nvPr/>
        </p:nvSpPr>
        <p:spPr>
          <a:xfrm>
            <a:off x="640080" y="3246120"/>
            <a:ext cx="475488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match_guard_v1_0_0.py, lines 1 to 6 of 6, run under Python 3.13.16</a:t>
            </a:r>
            <a:endParaRPr lang="en-US" sz="750" dirty="0"/>
          </a:p>
        </p:txBody>
      </p:sp>
      <p:sp>
        <p:nvSpPr>
          <p:cNvPr id="10" name="Shape 8"/>
          <p:cNvSpPr/>
          <p:nvPr/>
        </p:nvSpPr>
        <p:spPr>
          <a:xfrm>
            <a:off x="5852160" y="1499616"/>
            <a:ext cx="402336" cy="402336"/>
          </a:xfrm>
          <a:prstGeom prst="ellipse">
            <a:avLst/>
          </a:prstGeom>
          <a:solidFill>
            <a:srgbClr val="D97A14"/>
          </a:solidFill>
          <a:ln w="12700">
            <a:solidFill>
              <a:srgbClr val="D97A14"/>
            </a:solidFill>
            <a:prstDash val="solid"/>
          </a:ln>
        </p:spPr>
      </p:sp>
      <p:sp>
        <p:nvSpPr>
          <p:cNvPr id="11" name="Text 9"/>
          <p:cNvSpPr txBox="1"/>
          <p:nvPr/>
        </p:nvSpPr>
        <p:spPr>
          <a:xfrm>
            <a:off x="5852160" y="14996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6419088" y="1463040"/>
            <a:ext cx="226771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case (x, y) destructures a pair</a:t>
            </a:r>
            <a:endParaRPr lang="en-US" sz="1050" dirty="0"/>
          </a:p>
        </p:txBody>
      </p:sp>
      <p:sp>
        <p:nvSpPr>
          <p:cNvPr id="13" name="Shape 11"/>
          <p:cNvSpPr/>
          <p:nvPr/>
        </p:nvSpPr>
        <p:spPr>
          <a:xfrm>
            <a:off x="5852160" y="2078736"/>
            <a:ext cx="402336" cy="402336"/>
          </a:xfrm>
          <a:prstGeom prst="ellipse">
            <a:avLst/>
          </a:prstGeom>
          <a:solidFill>
            <a:srgbClr val="D97A14"/>
          </a:solidFill>
          <a:ln w="12700">
            <a:solidFill>
              <a:srgbClr val="D97A14"/>
            </a:solidFill>
            <a:prstDash val="solid"/>
          </a:ln>
        </p:spPr>
      </p:sp>
      <p:sp>
        <p:nvSpPr>
          <p:cNvPr id="14" name="Text 12"/>
          <p:cNvSpPr txBox="1"/>
          <p:nvPr/>
        </p:nvSpPr>
        <p:spPr>
          <a:xfrm>
            <a:off x="5852160" y="2078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3"/>
          <p:cNvSpPr txBox="1"/>
          <p:nvPr/>
        </p:nvSpPr>
        <p:spPr>
          <a:xfrm>
            <a:off x="6419088" y="2042160"/>
            <a:ext cx="226771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if x == y guards the case</a:t>
            </a:r>
            <a:endParaRPr lang="en-US" sz="1050" dirty="0"/>
          </a:p>
        </p:txBody>
      </p:sp>
      <p:sp>
        <p:nvSpPr>
          <p:cNvPr id="16" name="Shape 14"/>
          <p:cNvSpPr/>
          <p:nvPr/>
        </p:nvSpPr>
        <p:spPr>
          <a:xfrm>
            <a:off x="5852160" y="2657856"/>
            <a:ext cx="402336" cy="402336"/>
          </a:xfrm>
          <a:prstGeom prst="ellipse">
            <a:avLst/>
          </a:prstGeom>
          <a:solidFill>
            <a:srgbClr val="D97A14"/>
          </a:solidFill>
          <a:ln w="12700">
            <a:solidFill>
              <a:srgbClr val="D97A14"/>
            </a:solidFill>
            <a:prstDash val="solid"/>
          </a:ln>
        </p:spPr>
      </p:sp>
      <p:sp>
        <p:nvSpPr>
          <p:cNvPr id="17" name="Text 15"/>
          <p:cNvSpPr txBox="1"/>
          <p:nvPr/>
        </p:nvSpPr>
        <p:spPr>
          <a:xfrm>
            <a:off x="5852160" y="26578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6419088" y="2621280"/>
            <a:ext cx="226771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the bound names outlive the match</a:t>
            </a:r>
            <a:endParaRPr lang="en-US" sz="1050" dirty="0"/>
          </a:p>
        </p:txBody>
      </p:sp>
      <p:sp>
        <p:nvSpPr>
          <p:cNvPr id="19" name="Shape 17"/>
          <p:cNvSpPr/>
          <p:nvPr/>
        </p:nvSpPr>
        <p:spPr>
          <a:xfrm>
            <a:off x="457200" y="3749040"/>
            <a:ext cx="2403043" cy="420624"/>
          </a:xfrm>
          <a:prstGeom prst="roundRect">
            <a:avLst>
              <a:gd name="adj" fmla="val 50000"/>
            </a:avLst>
          </a:prstGeom>
          <a:solidFill>
            <a:srgbClr val="F2ECE1"/>
          </a:solidFill>
          <a:ln w="12700">
            <a:solidFill>
              <a:srgbClr val="D97A14"/>
            </a:solidFill>
            <a:prstDash val="solid"/>
          </a:ln>
        </p:spPr>
      </p:sp>
      <p:sp>
        <p:nvSpPr>
          <p:cNvPr id="20" name="Text 18"/>
          <p:cNvSpPr txBox="1"/>
          <p:nvPr/>
        </p:nvSpPr>
        <p:spPr>
          <a:xfrm>
            <a:off x="457200" y="3749040"/>
            <a:ext cx="2403043" cy="420624"/>
          </a:xfrm>
          <a:prstGeom prst="rect">
            <a:avLst/>
          </a:prstGeom>
          <a:noFill/>
          <a:ln/>
        </p:spPr>
        <p:txBody>
          <a:bodyPr wrap="square" lIns="0" tIns="0" rIns="0" bIns="0" rtlCol="0" anchor="ctr"/>
          <a:lstStyle/>
          <a:p>
            <a:pPr algn="ctr" indent="0" marL="0">
              <a:buNone/>
            </a:pPr>
            <a:r>
              <a:rPr lang="en-US" sz="1200" dirty="0">
                <a:solidFill>
                  <a:srgbClr val="2B2622"/>
                </a:solidFill>
                <a:latin typeface="Calibri" pitchFamily="34" charset="0"/>
                <a:ea typeface="Calibri" pitchFamily="34" charset="-122"/>
                <a:cs typeface="Calibri" pitchFamily="34" charset="-120"/>
              </a:rPr>
              <a:t>literal patterns</a:t>
            </a:r>
            <a:endParaRPr lang="en-US" sz="1200" dirty="0"/>
          </a:p>
        </p:txBody>
      </p:sp>
      <p:sp>
        <p:nvSpPr>
          <p:cNvPr id="21" name="Shape 19"/>
          <p:cNvSpPr/>
          <p:nvPr/>
        </p:nvSpPr>
        <p:spPr>
          <a:xfrm>
            <a:off x="3061411" y="3749040"/>
            <a:ext cx="2403043" cy="420624"/>
          </a:xfrm>
          <a:prstGeom prst="roundRect">
            <a:avLst>
              <a:gd name="adj" fmla="val 50000"/>
            </a:avLst>
          </a:prstGeom>
          <a:solidFill>
            <a:srgbClr val="F2ECE1"/>
          </a:solidFill>
          <a:ln w="12700">
            <a:solidFill>
              <a:srgbClr val="D97A14"/>
            </a:solidFill>
            <a:prstDash val="solid"/>
          </a:ln>
        </p:spPr>
      </p:sp>
      <p:sp>
        <p:nvSpPr>
          <p:cNvPr id="22" name="Text 20"/>
          <p:cNvSpPr txBox="1"/>
          <p:nvPr/>
        </p:nvSpPr>
        <p:spPr>
          <a:xfrm>
            <a:off x="3061411" y="3749040"/>
            <a:ext cx="2403043" cy="420624"/>
          </a:xfrm>
          <a:prstGeom prst="rect">
            <a:avLst/>
          </a:prstGeom>
          <a:noFill/>
          <a:ln/>
        </p:spPr>
        <p:txBody>
          <a:bodyPr wrap="square" lIns="0" tIns="0" rIns="0" bIns="0" rtlCol="0" anchor="ctr"/>
          <a:lstStyle/>
          <a:p>
            <a:pPr algn="ctr" indent="0" marL="0">
              <a:buNone/>
            </a:pPr>
            <a:r>
              <a:rPr lang="en-US" sz="1200" dirty="0">
                <a:solidFill>
                  <a:srgbClr val="2B2622"/>
                </a:solidFill>
                <a:latin typeface="Calibri" pitchFamily="34" charset="0"/>
                <a:ea typeface="Calibri" pitchFamily="34" charset="-122"/>
                <a:cs typeface="Calibri" pitchFamily="34" charset="-120"/>
              </a:rPr>
              <a:t>capture patterns</a:t>
            </a:r>
            <a:endParaRPr lang="en-US" sz="1200" dirty="0"/>
          </a:p>
        </p:txBody>
      </p:sp>
      <p:sp>
        <p:nvSpPr>
          <p:cNvPr id="23" name="Shape 21"/>
          <p:cNvSpPr/>
          <p:nvPr/>
        </p:nvSpPr>
        <p:spPr>
          <a:xfrm>
            <a:off x="5665622" y="3749040"/>
            <a:ext cx="2529230" cy="420624"/>
          </a:xfrm>
          <a:prstGeom prst="roundRect">
            <a:avLst>
              <a:gd name="adj" fmla="val 50000"/>
            </a:avLst>
          </a:prstGeom>
          <a:solidFill>
            <a:srgbClr val="F2ECE1"/>
          </a:solidFill>
          <a:ln w="12700">
            <a:solidFill>
              <a:srgbClr val="D97A14"/>
            </a:solidFill>
            <a:prstDash val="solid"/>
          </a:ln>
        </p:spPr>
      </p:sp>
      <p:sp>
        <p:nvSpPr>
          <p:cNvPr id="24" name="Text 22"/>
          <p:cNvSpPr txBox="1"/>
          <p:nvPr/>
        </p:nvSpPr>
        <p:spPr>
          <a:xfrm>
            <a:off x="5665622" y="3749040"/>
            <a:ext cx="2529230" cy="420624"/>
          </a:xfrm>
          <a:prstGeom prst="rect">
            <a:avLst/>
          </a:prstGeom>
          <a:noFill/>
          <a:ln/>
        </p:spPr>
        <p:txBody>
          <a:bodyPr wrap="square" lIns="0" tIns="0" rIns="0" bIns="0" rtlCol="0" anchor="ctr"/>
          <a:lstStyle/>
          <a:p>
            <a:pPr algn="ctr" indent="0" marL="0">
              <a:buNone/>
            </a:pPr>
            <a:r>
              <a:rPr lang="en-US" sz="1200" dirty="0">
                <a:solidFill>
                  <a:srgbClr val="2B2622"/>
                </a:solidFill>
                <a:latin typeface="Calibri" pitchFamily="34" charset="0"/>
                <a:ea typeface="Calibri" pitchFamily="34" charset="-122"/>
                <a:cs typeface="Calibri" pitchFamily="34" charset="-120"/>
              </a:rPr>
              <a:t>sequence patterns</a:t>
            </a:r>
            <a:endParaRPr lang="en-US" sz="1200" dirty="0"/>
          </a:p>
        </p:txBody>
      </p:sp>
      <p:sp>
        <p:nvSpPr>
          <p:cNvPr id="25" name="Shape 23"/>
          <p:cNvSpPr/>
          <p:nvPr/>
        </p:nvSpPr>
        <p:spPr>
          <a:xfrm>
            <a:off x="457200" y="4334256"/>
            <a:ext cx="1141171" cy="420624"/>
          </a:xfrm>
          <a:prstGeom prst="roundRect">
            <a:avLst>
              <a:gd name="adj" fmla="val 50000"/>
            </a:avLst>
          </a:prstGeom>
          <a:solidFill>
            <a:srgbClr val="F2ECE1"/>
          </a:solidFill>
          <a:ln w="12700">
            <a:solidFill>
              <a:srgbClr val="D97A14"/>
            </a:solidFill>
            <a:prstDash val="solid"/>
          </a:ln>
        </p:spPr>
      </p:sp>
      <p:sp>
        <p:nvSpPr>
          <p:cNvPr id="26" name="Text 24"/>
          <p:cNvSpPr txBox="1"/>
          <p:nvPr/>
        </p:nvSpPr>
        <p:spPr>
          <a:xfrm>
            <a:off x="457200" y="4334256"/>
            <a:ext cx="1141171" cy="420624"/>
          </a:xfrm>
          <a:prstGeom prst="rect">
            <a:avLst/>
          </a:prstGeom>
          <a:noFill/>
          <a:ln/>
        </p:spPr>
        <p:txBody>
          <a:bodyPr wrap="square" lIns="0" tIns="0" rIns="0" bIns="0" rtlCol="0" anchor="ctr"/>
          <a:lstStyle/>
          <a:p>
            <a:pPr algn="ctr" indent="0" marL="0">
              <a:buNone/>
            </a:pPr>
            <a:r>
              <a:rPr lang="en-US" sz="1200" dirty="0">
                <a:solidFill>
                  <a:srgbClr val="2B2622"/>
                </a:solidFill>
                <a:latin typeface="Calibri" pitchFamily="34" charset="0"/>
                <a:ea typeface="Calibri" pitchFamily="34" charset="-122"/>
                <a:cs typeface="Calibri" pitchFamily="34" charset="-120"/>
              </a:rPr>
              <a:t>guards</a:t>
            </a:r>
            <a:endParaRPr lang="en-US" sz="1200" dirty="0"/>
          </a:p>
        </p:txBody>
      </p:sp>
      <p:sp>
        <p:nvSpPr>
          <p:cNvPr id="27" name="Shape 25"/>
          <p:cNvSpPr/>
          <p:nvPr/>
        </p:nvSpPr>
        <p:spPr>
          <a:xfrm>
            <a:off x="457200" y="4636008"/>
            <a:ext cx="91440" cy="310896"/>
          </a:xfrm>
          <a:prstGeom prst="rect">
            <a:avLst/>
          </a:prstGeom>
          <a:solidFill>
            <a:srgbClr val="D97A14"/>
          </a:solidFill>
          <a:ln w="12700">
            <a:solidFill>
              <a:srgbClr val="D97A14"/>
            </a:solidFill>
            <a:prstDash val="solid"/>
          </a:ln>
        </p:spPr>
      </p:sp>
      <p:sp>
        <p:nvSpPr>
          <p:cNvPr id="28" name="Text 26"/>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 pattern can destructure and bind, not just compare</a:t>
            </a:r>
            <a:endParaRPr lang="en-US" sz="1350" dirty="0"/>
          </a:p>
        </p:txBody>
      </p:sp>
      <p:sp>
        <p:nvSpPr>
          <p:cNvPr id="29" name="Text 27"/>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17 / 22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The walrus: test and keep in one move</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PEP 572's := - assignment inside the expression</a:t>
            </a:r>
            <a:endParaRPr lang="en-US" sz="1300" dirty="0"/>
          </a:p>
        </p:txBody>
      </p:sp>
      <p:sp>
        <p:nvSpPr>
          <p:cNvPr id="6" name="Shape 4"/>
          <p:cNvSpPr/>
          <p:nvPr/>
        </p:nvSpPr>
        <p:spPr>
          <a:xfrm>
            <a:off x="457200" y="149961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996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46304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Alone, x := 3 is a SyntaxError on purpose</a:t>
            </a:r>
            <a:endParaRPr lang="en-US" sz="1050" dirty="0"/>
          </a:p>
        </p:txBody>
      </p:sp>
      <p:sp>
        <p:nvSpPr>
          <p:cNvPr id="9" name="Shape 7"/>
          <p:cNvSpPr/>
          <p:nvPr/>
        </p:nvSpPr>
        <p:spPr>
          <a:xfrm>
            <a:off x="457200" y="2078736"/>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787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204216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Inside a condition it assigns AND tests</a:t>
            </a:r>
            <a:endParaRPr lang="en-US" sz="1050" dirty="0"/>
          </a:p>
        </p:txBody>
      </p:sp>
      <p:sp>
        <p:nvSpPr>
          <p:cNvPr id="12" name="Shape 10"/>
          <p:cNvSpPr/>
          <p:nvPr/>
        </p:nvSpPr>
        <p:spPr>
          <a:xfrm>
            <a:off x="457200" y="2657856"/>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6578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621280"/>
            <a:ext cx="2679192" cy="542544"/>
          </a:xfrm>
          <a:prstGeom prst="rect">
            <a:avLst/>
          </a:prstGeom>
          <a:noFill/>
          <a:ln/>
        </p:spPr>
        <p:txBody>
          <a:bodyPr wrap="square" lIns="0" tIns="0" rIns="0" bIns="0" rtlCol="0" anchor="ctr"/>
          <a:lstStyle/>
          <a:p>
            <a:pPr indent="0" marL="0">
              <a:buNone/>
            </a:pPr>
            <a:r>
              <a:rPr lang="en-US" sz="1050" dirty="0">
                <a:solidFill>
                  <a:srgbClr val="2B2622"/>
                </a:solidFill>
                <a:latin typeface="Calibri" pitchFamily="34" charset="0"/>
                <a:ea typeface="Calibri" pitchFamily="34" charset="-122"/>
                <a:cs typeface="Calibri" pitchFamily="34" charset="-120"/>
              </a:rPr>
              <a:t>Style: use it where it removes a duplicate call</a:t>
            </a:r>
            <a:endParaRPr lang="en-US" sz="1050" dirty="0"/>
          </a:p>
        </p:txBody>
      </p:sp>
      <p:sp>
        <p:nvSpPr>
          <p:cNvPr id="15" name="Text 13"/>
          <p:cNvSpPr txBox="1"/>
          <p:nvPr/>
        </p:nvSpPr>
        <p:spPr>
          <a:xfrm>
            <a:off x="3931920" y="1188720"/>
            <a:ext cx="475488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operator, probed at its edges</a:t>
            </a:r>
            <a:endParaRPr lang="en-US" sz="1150" dirty="0"/>
          </a:p>
        </p:txBody>
      </p:sp>
      <p:sp>
        <p:nvSpPr>
          <p:cNvPr id="16" name="Shape 14"/>
          <p:cNvSpPr/>
          <p:nvPr/>
        </p:nvSpPr>
        <p:spPr>
          <a:xfrm>
            <a:off x="3931920" y="1463040"/>
            <a:ext cx="4754880" cy="1463040"/>
          </a:xfrm>
          <a:prstGeom prst="roundRect">
            <a:avLst>
              <a:gd name="adj" fmla="val 6250"/>
            </a:avLst>
          </a:prstGeom>
          <a:solidFill>
            <a:srgbClr val="23272E"/>
          </a:solidFill>
          <a:ln w="12700">
            <a:solidFill>
              <a:srgbClr val="23272E"/>
            </a:solidFill>
            <a:prstDash val="solid"/>
          </a:ln>
        </p:spPr>
      </p:sp>
      <p:sp>
        <p:nvSpPr>
          <p:cNvPr id="17" name="Text 15"/>
          <p:cNvSpPr txBox="1"/>
          <p:nvPr/>
        </p:nvSpPr>
        <p:spPr>
          <a:xfrm>
            <a:off x="4114800" y="1581912"/>
            <a:ext cx="4389120" cy="1225296"/>
          </a:xfrm>
          <a:prstGeom prst="rect">
            <a:avLst/>
          </a:prstGeom>
          <a:noFill/>
          <a:ln/>
        </p:spPr>
        <p:txBody>
          <a:bodyPr wrap="square" lIns="0" tIns="0" rIns="0" bIns="0" rtlCol="0" anchor="t"/>
          <a:lstStyle/>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(limit := 10) &gt; 5</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True</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limit</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10</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x := 3</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SyntaxError: invalid syntax (&lt;string&gt;, line 1)</a:t>
            </a:r>
            <a:endParaRPr lang="en-US" sz="900" dirty="0"/>
          </a:p>
        </p:txBody>
      </p:sp>
      <p:sp>
        <p:nvSpPr>
          <p:cNvPr id="18" name="Text 16"/>
          <p:cNvSpPr txBox="1"/>
          <p:nvPr/>
        </p:nvSpPr>
        <p:spPr>
          <a:xfrm>
            <a:off x="3931920" y="2944368"/>
            <a:ext cx="475488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9" name="Text 17"/>
          <p:cNvSpPr txBox="1"/>
          <p:nvPr/>
        </p:nvSpPr>
        <p:spPr>
          <a:xfrm>
            <a:off x="457200" y="3108960"/>
            <a:ext cx="822960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the honest use: compute once, test, reuse</a:t>
            </a:r>
            <a:endParaRPr lang="en-US" sz="1150" dirty="0"/>
          </a:p>
        </p:txBody>
      </p:sp>
      <p:sp>
        <p:nvSpPr>
          <p:cNvPr id="20" name="Shape 18"/>
          <p:cNvSpPr/>
          <p:nvPr/>
        </p:nvSpPr>
        <p:spPr>
          <a:xfrm>
            <a:off x="457200" y="3383280"/>
            <a:ext cx="8229600" cy="1051560"/>
          </a:xfrm>
          <a:prstGeom prst="roundRect">
            <a:avLst>
              <a:gd name="adj" fmla="val 8696"/>
            </a:avLst>
          </a:prstGeom>
          <a:solidFill>
            <a:srgbClr val="23272E"/>
          </a:solidFill>
          <a:ln w="12700">
            <a:solidFill>
              <a:srgbClr val="23272E"/>
            </a:solidFill>
            <a:prstDash val="solid"/>
          </a:ln>
        </p:spPr>
      </p:sp>
      <p:sp>
        <p:nvSpPr>
          <p:cNvPr id="21" name="Text 19"/>
          <p:cNvSpPr txBox="1"/>
          <p:nvPr/>
        </p:nvSpPr>
        <p:spPr>
          <a:xfrm>
            <a:off x="640080" y="3502152"/>
            <a:ext cx="7863840" cy="813816"/>
          </a:xfrm>
          <a:prstGeom prst="rect">
            <a:avLst/>
          </a:prstGeom>
          <a:noFill/>
          <a:ln/>
        </p:spPr>
        <p:txBody>
          <a:bodyPr wrap="square" lIns="0" tIns="0" rIns="0" bIns="0" rtlCol="0" anchor="t"/>
          <a:lstStyle/>
          <a:p>
            <a:pPr indent="0" marL="0">
              <a:buNone/>
            </a:pPr>
            <a:r>
              <a:rPr lang="en-US" sz="820" dirty="0">
                <a:solidFill>
                  <a:srgbClr val="E6EDF3"/>
                </a:solidFill>
                <a:latin typeface="Courier New" pitchFamily="34" charset="0"/>
                <a:ea typeface="Courier New" pitchFamily="34" charset="-122"/>
                <a:cs typeface="Courier New" pitchFamily="34" charset="-120"/>
              </a:rPr>
              <a:t>name = </a:t>
            </a:r>
            <a:pPr indent="0" marL="0">
              <a:buNone/>
            </a:pPr>
            <a:r>
              <a:rPr lang="en-US" sz="820" dirty="0">
                <a:solidFill>
                  <a:srgbClr val="9ECBFF"/>
                </a:solidFill>
                <a:latin typeface="Courier New" pitchFamily="34" charset="0"/>
                <a:ea typeface="Courier New" pitchFamily="34" charset="-122"/>
                <a:cs typeface="Courier New" pitchFamily="34" charset="-120"/>
              </a:rPr>
              <a:t>'Alice'</a:t>
            </a:r>
            <a:endParaRPr lang="en-US" sz="820" dirty="0"/>
          </a:p>
          <a:p>
            <a:pPr indent="0" marL="0">
              <a:buNone/>
            </a:pPr>
            <a:r>
              <a:rPr lang="en-US" sz="820" b="1" dirty="0">
                <a:solidFill>
                  <a:srgbClr val="F2A860"/>
                </a:solidFill>
                <a:latin typeface="Courier New" pitchFamily="34" charset="0"/>
                <a:ea typeface="Courier New" pitchFamily="34" charset="-122"/>
                <a:cs typeface="Courier New" pitchFamily="34" charset="-120"/>
              </a:rPr>
              <a:t>if</a:t>
            </a:r>
            <a:pPr indent="0" marL="0">
              <a:buNone/>
            </a:pPr>
            <a:r>
              <a:rPr lang="en-US" sz="820" dirty="0">
                <a:solidFill>
                  <a:srgbClr val="E6EDF3"/>
                </a:solidFill>
                <a:latin typeface="Courier New" pitchFamily="34" charset="0"/>
                <a:ea typeface="Courier New" pitchFamily="34" charset="-122"/>
                <a:cs typeface="Courier New" pitchFamily="34" charset="-120"/>
              </a:rPr>
              <a:t> (size := len(name)) &gt; </a:t>
            </a:r>
            <a:pPr indent="0" marL="0">
              <a:buNone/>
            </a:pPr>
            <a:r>
              <a:rPr lang="en-US" sz="820" dirty="0">
                <a:solidFill>
                  <a:srgbClr val="FFD28A"/>
                </a:solidFill>
                <a:latin typeface="Courier New" pitchFamily="34" charset="0"/>
                <a:ea typeface="Courier New" pitchFamily="34" charset="-122"/>
                <a:cs typeface="Courier New" pitchFamily="34" charset="-120"/>
              </a:rPr>
              <a:t>3</a:t>
            </a:r>
            <a:pPr indent="0" marL="0">
              <a:buNone/>
            </a:pPr>
            <a:r>
              <a:rPr lang="en-US" sz="820" dirty="0">
                <a:solidFill>
                  <a:srgbClr val="E6EDF3"/>
                </a:solidFill>
                <a:latin typeface="Courier New" pitchFamily="34" charset="0"/>
                <a:ea typeface="Courier New" pitchFamily="34" charset="-122"/>
                <a:cs typeface="Courier New" pitchFamily="34" charset="-120"/>
              </a:rPr>
              <a:t>:</a:t>
            </a:r>
            <a:endParaRPr lang="en-US" sz="820" dirty="0"/>
          </a:p>
          <a:p>
            <a:pPr indent="0" marL="0">
              <a:buNone/>
            </a:pPr>
            <a:r>
              <a:rPr lang="en-US" sz="820" dirty="0">
                <a:solidFill>
                  <a:srgbClr val="E6EDF3"/>
                </a:solidFill>
                <a:latin typeface="Courier New" pitchFamily="34" charset="0"/>
                <a:ea typeface="Courier New" pitchFamily="34" charset="-122"/>
                <a:cs typeface="Courier New" pitchFamily="34" charset="-120"/>
              </a:rPr>
              <a:t>    print(size)</a:t>
            </a:r>
            <a:endParaRPr lang="en-US" sz="820" dirty="0"/>
          </a:p>
          <a:p>
            <a:pPr indent="0" marL="0">
              <a:buNone/>
            </a:pPr>
            <a:r>
              <a:rPr lang="en-US" sz="820" b="1" dirty="0">
                <a:solidFill>
                  <a:srgbClr val="D97A14"/>
                </a:solidFill>
                <a:latin typeface="Courier New" pitchFamily="34" charset="0"/>
                <a:ea typeface="Courier New" pitchFamily="34" charset="-122"/>
                <a:cs typeface="Courier New" pitchFamily="34" charset="-120"/>
              </a:rPr>
              <a:t>prints </a:t>
            </a:r>
            <a:pPr indent="0" marL="0">
              <a:buNone/>
            </a:pPr>
            <a:r>
              <a:rPr lang="en-US" sz="820" dirty="0">
                <a:solidFill>
                  <a:srgbClr val="7EE787"/>
                </a:solidFill>
                <a:latin typeface="Courier New" pitchFamily="34" charset="0"/>
                <a:ea typeface="Courier New" pitchFamily="34" charset="-122"/>
                <a:cs typeface="Courier New" pitchFamily="34" charset="-120"/>
              </a:rPr>
              <a:t>5</a:t>
            </a:r>
            <a:endParaRPr lang="en-US" sz="820" dirty="0"/>
          </a:p>
        </p:txBody>
      </p:sp>
      <p:sp>
        <p:nvSpPr>
          <p:cNvPr id="22" name="Text 20"/>
          <p:cNvSpPr txBox="1"/>
          <p:nvPr/>
        </p:nvSpPr>
        <p:spPr>
          <a:xfrm>
            <a:off x="640080" y="4160520"/>
            <a:ext cx="7863840" cy="237744"/>
          </a:xfrm>
          <a:prstGeom prst="rect">
            <a:avLst/>
          </a:prstGeom>
          <a:noFill/>
          <a:ln/>
        </p:spPr>
        <p:txBody>
          <a:bodyPr wrap="square" lIns="0" tIns="0" rIns="0" bIns="0" rtlCol="0" anchor="ctr"/>
          <a:lstStyle/>
          <a:p>
            <a:pPr algn="r" indent="0" marL="0">
              <a:buNone/>
            </a:pPr>
            <a:r>
              <a:rPr lang="en-US" sz="750" i="1" dirty="0">
                <a:solidFill>
                  <a:srgbClr val="8B949E"/>
                </a:solidFill>
                <a:latin typeface="Calibri" pitchFamily="34" charset="0"/>
                <a:ea typeface="Calibri" pitchFamily="34" charset="-122"/>
                <a:cs typeface="Calibri" pitchFamily="34" charset="-120"/>
              </a:rPr>
              <a:t>program walrus_size_v1_0_0.py, lines 1 to 3 of 3, run under Python 3.13.16</a:t>
            </a:r>
            <a:endParaRPr lang="en-US" sz="750" dirty="0"/>
          </a:p>
        </p:txBody>
      </p:sp>
      <p:sp>
        <p:nvSpPr>
          <p:cNvPr id="23" name="Shape 21"/>
          <p:cNvSpPr/>
          <p:nvPr/>
        </p:nvSpPr>
        <p:spPr>
          <a:xfrm>
            <a:off x="457200" y="4636008"/>
            <a:ext cx="91440" cy="310896"/>
          </a:xfrm>
          <a:prstGeom prst="rect">
            <a:avLst/>
          </a:prstGeom>
          <a:solidFill>
            <a:srgbClr val="D97A14"/>
          </a:solidFill>
          <a:ln w="12700">
            <a:solidFill>
              <a:srgbClr val="D97A14"/>
            </a:solidFill>
            <a:prstDash val="solid"/>
          </a:ln>
        </p:spPr>
      </p:sp>
      <p:sp>
        <p:nvSpPr>
          <p:cNvPr id="24" name="Text 22"/>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Assign inside the expression - sparingly, by style</a:t>
            </a:r>
            <a:endParaRPr lang="en-US" sz="1350" dirty="0"/>
          </a:p>
        </p:txBody>
      </p:sp>
      <p:sp>
        <p:nvSpPr>
          <p:cNvPr id="25" name="Text 23"/>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18 / 22</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500" b="1" dirty="0">
                <a:solidFill>
                  <a:srgbClr val="2B2622"/>
                </a:solidFill>
                <a:latin typeface="Cambria" pitchFamily="34" charset="0"/>
                <a:ea typeface="Cambria" pitchFamily="34" charset="-122"/>
                <a:cs typeface="Cambria" pitchFamily="34" charset="-120"/>
              </a:rPr>
              <a:t>Three errors you will actually meet</a:t>
            </a:r>
            <a:endParaRPr lang="en-US" sz="25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Read them as answers, not accidents</a:t>
            </a:r>
            <a:endParaRPr lang="en-US" sz="1300" dirty="0"/>
          </a:p>
        </p:txBody>
      </p:sp>
      <p:sp>
        <p:nvSpPr>
          <p:cNvPr id="6" name="Text 4"/>
          <p:cNvSpPr txBox="1"/>
          <p:nvPr/>
        </p:nvSpPr>
        <p:spPr>
          <a:xfrm>
            <a:off x="457200" y="1143000"/>
            <a:ext cx="393192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NameError: the name was never stored</a:t>
            </a:r>
            <a:endParaRPr lang="en-US" sz="1150" dirty="0"/>
          </a:p>
        </p:txBody>
      </p:sp>
      <p:sp>
        <p:nvSpPr>
          <p:cNvPr id="7" name="Shape 5"/>
          <p:cNvSpPr/>
          <p:nvPr/>
        </p:nvSpPr>
        <p:spPr>
          <a:xfrm>
            <a:off x="457200" y="1417320"/>
            <a:ext cx="3931920" cy="1188720"/>
          </a:xfrm>
          <a:prstGeom prst="roundRect">
            <a:avLst>
              <a:gd name="adj" fmla="val 7692"/>
            </a:avLst>
          </a:prstGeom>
          <a:solidFill>
            <a:srgbClr val="23272E"/>
          </a:solidFill>
          <a:ln w="12700">
            <a:solidFill>
              <a:srgbClr val="23272E"/>
            </a:solidFill>
            <a:prstDash val="solid"/>
          </a:ln>
        </p:spPr>
      </p:sp>
      <p:sp>
        <p:nvSpPr>
          <p:cNvPr id="8" name="Text 6"/>
          <p:cNvSpPr txBox="1"/>
          <p:nvPr/>
        </p:nvSpPr>
        <p:spPr>
          <a:xfrm>
            <a:off x="640080" y="1536192"/>
            <a:ext cx="3566160" cy="950976"/>
          </a:xfrm>
          <a:prstGeom prst="rect">
            <a:avLst/>
          </a:prstGeom>
          <a:noFill/>
          <a:ln/>
        </p:spPr>
        <p:txBody>
          <a:bodyPr wrap="square" lIns="0" tIns="0" rIns="0" bIns="0" rtlCol="0" anchor="t"/>
          <a:lstStyle/>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true</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NameError: name 'true' is not defined</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4 + spam * 3</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NameError: name 'spam' is not defined</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discrepancy</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NameError: name 'discrepancy' is not defined</a:t>
            </a:r>
            <a:endParaRPr lang="en-US" sz="900" dirty="0"/>
          </a:p>
        </p:txBody>
      </p:sp>
      <p:sp>
        <p:nvSpPr>
          <p:cNvPr id="9" name="Text 7"/>
          <p:cNvSpPr txBox="1"/>
          <p:nvPr/>
        </p:nvSpPr>
        <p:spPr>
          <a:xfrm>
            <a:off x="457200" y="2624328"/>
            <a:ext cx="393192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0" name="Text 8"/>
          <p:cNvSpPr txBox="1"/>
          <p:nvPr/>
        </p:nvSpPr>
        <p:spPr>
          <a:xfrm>
            <a:off x="4663440" y="1143000"/>
            <a:ext cx="402336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TypeError: right operation, wrong types</a:t>
            </a:r>
            <a:endParaRPr lang="en-US" sz="1150" dirty="0"/>
          </a:p>
        </p:txBody>
      </p:sp>
      <p:sp>
        <p:nvSpPr>
          <p:cNvPr id="11" name="Shape 9"/>
          <p:cNvSpPr/>
          <p:nvPr/>
        </p:nvSpPr>
        <p:spPr>
          <a:xfrm>
            <a:off x="4663440" y="1417320"/>
            <a:ext cx="4023360" cy="1188720"/>
          </a:xfrm>
          <a:prstGeom prst="roundRect">
            <a:avLst>
              <a:gd name="adj" fmla="val 7692"/>
            </a:avLst>
          </a:prstGeom>
          <a:solidFill>
            <a:srgbClr val="23272E"/>
          </a:solidFill>
          <a:ln w="12700">
            <a:solidFill>
              <a:srgbClr val="23272E"/>
            </a:solidFill>
            <a:prstDash val="solid"/>
          </a:ln>
        </p:spPr>
      </p:sp>
      <p:sp>
        <p:nvSpPr>
          <p:cNvPr id="12" name="Text 10"/>
          <p:cNvSpPr txBox="1"/>
          <p:nvPr/>
        </p:nvSpPr>
        <p:spPr>
          <a:xfrm>
            <a:off x="4846320" y="1536192"/>
            <a:ext cx="3657600" cy="950976"/>
          </a:xfrm>
          <a:prstGeom prst="rect">
            <a:avLst/>
          </a:prstGeom>
          <a:noFill/>
          <a:ln/>
        </p:spPr>
        <p:txBody>
          <a:bodyPr wrap="square" lIns="0" tIns="0" rIns="0" bIns="0" rtlCol="0" anchor="t"/>
          <a:lstStyle/>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3 &lt; '4'</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TypeError: '&lt;' not supported between instances of 'int' and 'str'</a:t>
            </a:r>
            <a:endParaRPr lang="en-US" sz="730" dirty="0"/>
          </a:p>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'Alice' + 42</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TypeError: can only concatenate str (not "int") to str</a:t>
            </a:r>
            <a:endParaRPr lang="en-US" sz="730" dirty="0"/>
          </a:p>
          <a:p>
            <a:pPr indent="0" marL="0">
              <a:buNone/>
            </a:pPr>
            <a:r>
              <a:rPr lang="en-US" sz="730" b="1" dirty="0">
                <a:solidFill>
                  <a:srgbClr val="D97A14"/>
                </a:solidFill>
                <a:latin typeface="Courier New" pitchFamily="34" charset="0"/>
                <a:ea typeface="Courier New" pitchFamily="34" charset="-122"/>
                <a:cs typeface="Courier New" pitchFamily="34" charset="-120"/>
              </a:rPr>
              <a:t>&gt;&gt;&gt; </a:t>
            </a:r>
            <a:pPr indent="0" marL="0">
              <a:buNone/>
            </a:pPr>
            <a:r>
              <a:rPr lang="en-US" sz="730" dirty="0">
                <a:solidFill>
                  <a:srgbClr val="E6EDF3"/>
                </a:solidFill>
                <a:latin typeface="Courier New" pitchFamily="34" charset="0"/>
                <a:ea typeface="Courier New" pitchFamily="34" charset="-122"/>
                <a:cs typeface="Courier New" pitchFamily="34" charset="-120"/>
              </a:rPr>
              <a:t>42 == '42'</a:t>
            </a:r>
            <a:endParaRPr lang="en-US" sz="730" dirty="0"/>
          </a:p>
          <a:p>
            <a:pPr indent="0" marL="0">
              <a:buNone/>
            </a:pPr>
            <a:r>
              <a:rPr lang="en-US" sz="730" dirty="0">
                <a:solidFill>
                  <a:srgbClr val="7EE787"/>
                </a:solidFill>
                <a:latin typeface="Courier New" pitchFamily="34" charset="0"/>
                <a:ea typeface="Courier New" pitchFamily="34" charset="-122"/>
                <a:cs typeface="Courier New" pitchFamily="34" charset="-120"/>
              </a:rPr>
              <a:t>False</a:t>
            </a:r>
            <a:endParaRPr lang="en-US" sz="730" dirty="0"/>
          </a:p>
        </p:txBody>
      </p:sp>
      <p:sp>
        <p:nvSpPr>
          <p:cNvPr id="13" name="Text 11"/>
          <p:cNvSpPr txBox="1"/>
          <p:nvPr/>
        </p:nvSpPr>
        <p:spPr>
          <a:xfrm>
            <a:off x="4663440" y="2624328"/>
            <a:ext cx="402336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4" name="Text 12"/>
          <p:cNvSpPr txBox="1"/>
          <p:nvPr/>
        </p:nvSpPr>
        <p:spPr>
          <a:xfrm>
            <a:off x="457200" y="2606040"/>
            <a:ext cx="393192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ZeroDivisionError - floats included</a:t>
            </a:r>
            <a:endParaRPr lang="en-US" sz="1150" dirty="0"/>
          </a:p>
        </p:txBody>
      </p:sp>
      <p:sp>
        <p:nvSpPr>
          <p:cNvPr id="15" name="Shape 13"/>
          <p:cNvSpPr/>
          <p:nvPr/>
        </p:nvSpPr>
        <p:spPr>
          <a:xfrm>
            <a:off x="457200" y="2880360"/>
            <a:ext cx="3931920" cy="1188720"/>
          </a:xfrm>
          <a:prstGeom prst="roundRect">
            <a:avLst>
              <a:gd name="adj" fmla="val 7692"/>
            </a:avLst>
          </a:prstGeom>
          <a:solidFill>
            <a:srgbClr val="23272E"/>
          </a:solidFill>
          <a:ln w="12700">
            <a:solidFill>
              <a:srgbClr val="23272E"/>
            </a:solidFill>
            <a:prstDash val="solid"/>
          </a:ln>
        </p:spPr>
      </p:sp>
      <p:sp>
        <p:nvSpPr>
          <p:cNvPr id="16" name="Text 14"/>
          <p:cNvSpPr txBox="1"/>
          <p:nvPr/>
        </p:nvSpPr>
        <p:spPr>
          <a:xfrm>
            <a:off x="640080" y="2999232"/>
            <a:ext cx="3566160" cy="950976"/>
          </a:xfrm>
          <a:prstGeom prst="rect">
            <a:avLst/>
          </a:prstGeom>
          <a:noFill/>
          <a:ln/>
        </p:spPr>
        <p:txBody>
          <a:bodyPr wrap="square" lIns="0" tIns="0" rIns="0" bIns="0" rtlCol="0" anchor="t"/>
          <a:lstStyle/>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1 / 0</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ZeroDivisionError: division by zero</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1 % 0</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ZeroDivisionError: integer modulo by zero</a:t>
            </a:r>
            <a:endParaRPr lang="en-US" sz="900" dirty="0"/>
          </a:p>
          <a:p>
            <a:pPr indent="0" marL="0">
              <a:buNone/>
            </a:pPr>
            <a:r>
              <a:rPr lang="en-US" sz="900" b="1" dirty="0">
                <a:solidFill>
                  <a:srgbClr val="D97A14"/>
                </a:solidFill>
                <a:latin typeface="Courier New" pitchFamily="34" charset="0"/>
                <a:ea typeface="Courier New" pitchFamily="34" charset="-122"/>
                <a:cs typeface="Courier New" pitchFamily="34" charset="-120"/>
              </a:rPr>
              <a:t>&gt;&gt;&gt; </a:t>
            </a:r>
            <a:pPr indent="0" marL="0">
              <a:buNone/>
            </a:pPr>
            <a:r>
              <a:rPr lang="en-US" sz="900" dirty="0">
                <a:solidFill>
                  <a:srgbClr val="E6EDF3"/>
                </a:solidFill>
                <a:latin typeface="Courier New" pitchFamily="34" charset="0"/>
                <a:ea typeface="Courier New" pitchFamily="34" charset="-122"/>
                <a:cs typeface="Courier New" pitchFamily="34" charset="-120"/>
              </a:rPr>
              <a:t>1 / 0.0</a:t>
            </a:r>
            <a:endParaRPr lang="en-US" sz="900" dirty="0"/>
          </a:p>
          <a:p>
            <a:pPr indent="0" marL="0">
              <a:buNone/>
            </a:pPr>
            <a:r>
              <a:rPr lang="en-US" sz="900" dirty="0">
                <a:solidFill>
                  <a:srgbClr val="7EE787"/>
                </a:solidFill>
                <a:latin typeface="Courier New" pitchFamily="34" charset="0"/>
                <a:ea typeface="Courier New" pitchFamily="34" charset="-122"/>
                <a:cs typeface="Courier New" pitchFamily="34" charset="-120"/>
              </a:rPr>
              <a:t>ZeroDivisionError: float division by zero</a:t>
            </a:r>
            <a:endParaRPr lang="en-US" sz="900" dirty="0"/>
          </a:p>
        </p:txBody>
      </p:sp>
      <p:sp>
        <p:nvSpPr>
          <p:cNvPr id="17" name="Text 15"/>
          <p:cNvSpPr txBox="1"/>
          <p:nvPr/>
        </p:nvSpPr>
        <p:spPr>
          <a:xfrm>
            <a:off x="457200" y="4087368"/>
            <a:ext cx="393192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18" name="Text 16"/>
          <p:cNvSpPr txBox="1"/>
          <p:nvPr/>
        </p:nvSpPr>
        <p:spPr>
          <a:xfrm>
            <a:off x="4663440" y="2606040"/>
            <a:ext cx="4023360" cy="256032"/>
          </a:xfrm>
          <a:prstGeom prst="rect">
            <a:avLst/>
          </a:prstGeom>
          <a:noFill/>
          <a:ln/>
        </p:spPr>
        <p:txBody>
          <a:bodyPr wrap="square" lIns="0" tIns="0" rIns="0" bIns="0" rtlCol="0" anchor="b"/>
          <a:lstStyle/>
          <a:p>
            <a:pPr indent="0" marL="0">
              <a:buNone/>
            </a:pPr>
            <a:r>
              <a:rPr lang="en-US" sz="1150" b="1" dirty="0">
                <a:solidFill>
                  <a:srgbClr val="2F6D62"/>
                </a:solidFill>
                <a:latin typeface="Calibri" pitchFamily="34" charset="0"/>
                <a:ea typeface="Calibri" pitchFamily="34" charset="-122"/>
                <a:cs typeface="Calibri" pitchFamily="34" charset="-120"/>
              </a:rPr>
              <a:t>SyntaxError: refused before running at all</a:t>
            </a:r>
            <a:endParaRPr lang="en-US" sz="1150" dirty="0"/>
          </a:p>
        </p:txBody>
      </p:sp>
      <p:sp>
        <p:nvSpPr>
          <p:cNvPr id="19" name="Shape 17"/>
          <p:cNvSpPr/>
          <p:nvPr/>
        </p:nvSpPr>
        <p:spPr>
          <a:xfrm>
            <a:off x="4663440" y="2880360"/>
            <a:ext cx="4023360" cy="1188720"/>
          </a:xfrm>
          <a:prstGeom prst="roundRect">
            <a:avLst>
              <a:gd name="adj" fmla="val 7692"/>
            </a:avLst>
          </a:prstGeom>
          <a:solidFill>
            <a:srgbClr val="23272E"/>
          </a:solidFill>
          <a:ln w="12700">
            <a:solidFill>
              <a:srgbClr val="23272E"/>
            </a:solidFill>
            <a:prstDash val="solid"/>
          </a:ln>
        </p:spPr>
      </p:sp>
      <p:sp>
        <p:nvSpPr>
          <p:cNvPr id="20" name="Text 18"/>
          <p:cNvSpPr txBox="1"/>
          <p:nvPr/>
        </p:nvSpPr>
        <p:spPr>
          <a:xfrm>
            <a:off x="4846320" y="2999232"/>
            <a:ext cx="3657600" cy="950976"/>
          </a:xfrm>
          <a:prstGeom prst="rect">
            <a:avLst/>
          </a:prstGeom>
          <a:noFill/>
          <a:ln/>
        </p:spPr>
        <p:txBody>
          <a:bodyPr wrap="square" lIns="0" tIns="0" rIns="0" bIns="0" rtlCol="0" anchor="t"/>
          <a:lstStyle/>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if = 3</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SyntaxError: invalid syntax (&lt;string&gt;, line 1)</a:t>
            </a:r>
            <a:endParaRPr lang="en-US" sz="850" dirty="0"/>
          </a:p>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4 == not 5</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SyntaxError: invalid syntax (&lt;string&gt;, line 1)</a:t>
            </a:r>
            <a:endParaRPr lang="en-US" sz="850" dirty="0"/>
          </a:p>
          <a:p>
            <a:pPr indent="0" marL="0">
              <a:buNone/>
            </a:pPr>
            <a:r>
              <a:rPr lang="en-US" sz="850" b="1" dirty="0">
                <a:solidFill>
                  <a:srgbClr val="D97A14"/>
                </a:solidFill>
                <a:latin typeface="Courier New" pitchFamily="34" charset="0"/>
                <a:ea typeface="Courier New" pitchFamily="34" charset="-122"/>
                <a:cs typeface="Courier New" pitchFamily="34" charset="-120"/>
              </a:rPr>
              <a:t>&gt;&gt;&gt; </a:t>
            </a:r>
            <a:pPr indent="0" marL="0">
              <a:buNone/>
            </a:pPr>
            <a:r>
              <a:rPr lang="en-US" sz="850" dirty="0">
                <a:solidFill>
                  <a:srgbClr val="E6EDF3"/>
                </a:solidFill>
                <a:latin typeface="Courier New" pitchFamily="34" charset="0"/>
                <a:ea typeface="Courier New" pitchFamily="34" charset="-122"/>
                <a:cs typeface="Courier New" pitchFamily="34" charset="-120"/>
              </a:rPr>
              <a:t>x := 3</a:t>
            </a:r>
            <a:endParaRPr lang="en-US" sz="850" dirty="0"/>
          </a:p>
          <a:p>
            <a:pPr indent="0" marL="0">
              <a:buNone/>
            </a:pPr>
            <a:r>
              <a:rPr lang="en-US" sz="850" dirty="0">
                <a:solidFill>
                  <a:srgbClr val="7EE787"/>
                </a:solidFill>
                <a:latin typeface="Courier New" pitchFamily="34" charset="0"/>
                <a:ea typeface="Courier New" pitchFamily="34" charset="-122"/>
                <a:cs typeface="Courier New" pitchFamily="34" charset="-120"/>
              </a:rPr>
              <a:t>SyntaxError: invalid syntax (&lt;string&gt;, line 1)</a:t>
            </a:r>
            <a:endParaRPr lang="en-US" sz="850" dirty="0"/>
          </a:p>
        </p:txBody>
      </p:sp>
      <p:sp>
        <p:nvSpPr>
          <p:cNvPr id="21" name="Text 19"/>
          <p:cNvSpPr txBox="1"/>
          <p:nvPr/>
        </p:nvSpPr>
        <p:spPr>
          <a:xfrm>
            <a:off x="4663440" y="4087368"/>
            <a:ext cx="4023360" cy="219456"/>
          </a:xfrm>
          <a:prstGeom prst="rect">
            <a:avLst/>
          </a:prstGeom>
          <a:noFill/>
          <a:ln/>
        </p:spPr>
        <p:txBody>
          <a:bodyPr wrap="square" lIns="0" tIns="0" rIns="0" bIns="0" rtlCol="0" anchor="ctr"/>
          <a:lstStyle/>
          <a:p>
            <a:pPr algn="r" indent="0" marL="0">
              <a:buNone/>
            </a:pPr>
            <a:r>
              <a:rPr lang="en-US" sz="900" i="1" dirty="0">
                <a:solidFill>
                  <a:srgbClr val="6E655C"/>
                </a:solidFill>
                <a:latin typeface="Calibri" pitchFamily="34" charset="0"/>
                <a:ea typeface="Calibri" pitchFamily="34" charset="-122"/>
                <a:cs typeface="Calibri" pitchFamily="34" charset="-120"/>
              </a:rPr>
              <a:t>run under Python 3.13.16</a:t>
            </a:r>
            <a:endParaRPr lang="en-US" sz="900" dirty="0"/>
          </a:p>
        </p:txBody>
      </p:sp>
      <p:sp>
        <p:nvSpPr>
          <p:cNvPr id="22" name="Shape 20"/>
          <p:cNvSpPr/>
          <p:nvPr/>
        </p:nvSpPr>
        <p:spPr>
          <a:xfrm>
            <a:off x="457200" y="4636008"/>
            <a:ext cx="91440" cy="310896"/>
          </a:xfrm>
          <a:prstGeom prst="rect">
            <a:avLst/>
          </a:prstGeom>
          <a:solidFill>
            <a:srgbClr val="D97A14"/>
          </a:solidFill>
          <a:ln w="12700">
            <a:solidFill>
              <a:srgbClr val="D97A14"/>
            </a:solidFill>
            <a:prstDash val="solid"/>
          </a:ln>
        </p:spPr>
      </p:sp>
      <p:sp>
        <p:nvSpPr>
          <p:cNvPr id="23" name="Text 21"/>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Read the last line first - Python names its reasons</a:t>
            </a:r>
            <a:endParaRPr lang="en-US" sz="1350" dirty="0"/>
          </a:p>
        </p:txBody>
      </p:sp>
      <p:sp>
        <p:nvSpPr>
          <p:cNvPr id="24" name="Text 22"/>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19 / 22</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The chapter in five lines</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One line per part - each one provable from its slides</a:t>
            </a:r>
            <a:endParaRPr lang="en-US" sz="1300" dirty="0"/>
          </a:p>
        </p:txBody>
      </p:sp>
      <p:sp>
        <p:nvSpPr>
          <p:cNvPr id="6" name="Shape 4"/>
          <p:cNvSpPr/>
          <p:nvPr/>
        </p:nvSpPr>
        <p:spPr>
          <a:xfrm>
            <a:off x="457200" y="1408176"/>
            <a:ext cx="402336" cy="402336"/>
          </a:xfrm>
          <a:prstGeom prst="ellipse">
            <a:avLst/>
          </a:prstGeom>
          <a:solidFill>
            <a:srgbClr val="D97A14"/>
          </a:solidFill>
          <a:ln w="12700">
            <a:solidFill>
              <a:srgbClr val="D97A14"/>
            </a:solidFill>
            <a:prstDash val="solid"/>
          </a:ln>
        </p:spPr>
      </p:sp>
      <p:sp>
        <p:nvSpPr>
          <p:cNvPr id="7" name="Text 5"/>
          <p:cNvSpPr txBox="1"/>
          <p:nvPr/>
        </p:nvSpPr>
        <p:spPr>
          <a:xfrm>
            <a:off x="457200" y="14081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1024128" y="1371600"/>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bool has two citizens; comparisons mint them, and emptiness counts as False</a:t>
            </a:r>
            <a:endParaRPr lang="en-US" sz="1250" dirty="0"/>
          </a:p>
        </p:txBody>
      </p:sp>
      <p:sp>
        <p:nvSpPr>
          <p:cNvPr id="9" name="Shape 7"/>
          <p:cNvSpPr/>
          <p:nvPr/>
        </p:nvSpPr>
        <p:spPr>
          <a:xfrm>
            <a:off x="457200" y="2011680"/>
            <a:ext cx="402336" cy="402336"/>
          </a:xfrm>
          <a:prstGeom prst="ellipse">
            <a:avLst/>
          </a:prstGeom>
          <a:solidFill>
            <a:srgbClr val="D97A14"/>
          </a:solidFill>
          <a:ln w="12700">
            <a:solidFill>
              <a:srgbClr val="D97A14"/>
            </a:solidFill>
            <a:prstDash val="solid"/>
          </a:ln>
        </p:spPr>
      </p:sp>
      <p:sp>
        <p:nvSpPr>
          <p:cNvPr id="10" name="Text 8"/>
          <p:cNvSpPr txBox="1"/>
          <p:nvPr/>
        </p:nvSpPr>
        <p:spPr>
          <a:xfrm>
            <a:off x="457200" y="20116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1024128" y="1975104"/>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and, or, not follow Boole's algebra - and evaluate only as far as they must</a:t>
            </a:r>
            <a:endParaRPr lang="en-US" sz="1250" dirty="0"/>
          </a:p>
        </p:txBody>
      </p:sp>
      <p:sp>
        <p:nvSpPr>
          <p:cNvPr id="12" name="Shape 10"/>
          <p:cNvSpPr/>
          <p:nvPr/>
        </p:nvSpPr>
        <p:spPr>
          <a:xfrm>
            <a:off x="457200" y="2615184"/>
            <a:ext cx="402336" cy="402336"/>
          </a:xfrm>
          <a:prstGeom prst="ellipse">
            <a:avLst/>
          </a:prstGeom>
          <a:solidFill>
            <a:srgbClr val="D97A14"/>
          </a:solidFill>
          <a:ln w="12700">
            <a:solidFill>
              <a:srgbClr val="D97A14"/>
            </a:solidFill>
            <a:prstDash val="solid"/>
          </a:ln>
        </p:spPr>
      </p:sp>
      <p:sp>
        <p:nvSpPr>
          <p:cNvPr id="13" name="Text 11"/>
          <p:cNvSpPr txBox="1"/>
          <p:nvPr/>
        </p:nvSpPr>
        <p:spPr>
          <a:xfrm>
            <a:off x="457200" y="26151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024128" y="2578608"/>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The indentation IS the block: two five-line programs proved the one-space difference</a:t>
            </a:r>
            <a:endParaRPr lang="en-US" sz="1250" dirty="0"/>
          </a:p>
        </p:txBody>
      </p:sp>
      <p:sp>
        <p:nvSpPr>
          <p:cNvPr id="15" name="Shape 13"/>
          <p:cNvSpPr/>
          <p:nvPr/>
        </p:nvSpPr>
        <p:spPr>
          <a:xfrm>
            <a:off x="457200" y="3218688"/>
            <a:ext cx="402336" cy="402336"/>
          </a:xfrm>
          <a:prstGeom prst="ellipse">
            <a:avLst/>
          </a:prstGeom>
          <a:solidFill>
            <a:srgbClr val="D97A14"/>
          </a:solidFill>
          <a:ln w="12700">
            <a:solidFill>
              <a:srgbClr val="D97A14"/>
            </a:solidFill>
            <a:prstDash val="solid"/>
          </a:ln>
        </p:spPr>
      </p:sp>
      <p:sp>
        <p:nvSpPr>
          <p:cNvPr id="16" name="Text 14"/>
          <p:cNvSpPr txBox="1"/>
          <p:nvPr/>
        </p:nvSpPr>
        <p:spPr>
          <a:xfrm>
            <a:off x="457200" y="321868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024128" y="3182112"/>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if, elif, else take exactly one path; match (3.10) destructures, binds and guards</a:t>
            </a:r>
            <a:endParaRPr lang="en-US" sz="1250" dirty="0"/>
          </a:p>
        </p:txBody>
      </p:sp>
      <p:sp>
        <p:nvSpPr>
          <p:cNvPr id="18" name="Shape 16"/>
          <p:cNvSpPr/>
          <p:nvPr/>
        </p:nvSpPr>
        <p:spPr>
          <a:xfrm>
            <a:off x="457200" y="3822192"/>
            <a:ext cx="402336" cy="402336"/>
          </a:xfrm>
          <a:prstGeom prst="ellipse">
            <a:avLst/>
          </a:prstGeom>
          <a:solidFill>
            <a:srgbClr val="D97A14"/>
          </a:solidFill>
          <a:ln w="12700">
            <a:solidFill>
              <a:srgbClr val="D97A14"/>
            </a:solidFill>
            <a:prstDash val="solid"/>
          </a:ln>
        </p:spPr>
      </p:sp>
      <p:sp>
        <p:nvSpPr>
          <p:cNvPr id="19" name="Text 17"/>
          <p:cNvSpPr txBox="1"/>
          <p:nvPr/>
        </p:nvSpPr>
        <p:spPr>
          <a:xfrm>
            <a:off x="457200" y="3822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1024128" y="3785616"/>
            <a:ext cx="7662672" cy="566928"/>
          </a:xfrm>
          <a:prstGeom prst="rect">
            <a:avLst/>
          </a:prstGeom>
          <a:noFill/>
          <a:ln/>
        </p:spPr>
        <p:txBody>
          <a:bodyPr wrap="square" lIns="0" tIns="0" rIns="0" bIns="0" rtlCol="0" anchor="ctr"/>
          <a:lstStyle/>
          <a:p>
            <a:pPr indent="0" marL="0">
              <a:buNone/>
            </a:pPr>
            <a:r>
              <a:rPr lang="en-US" sz="1250" dirty="0">
                <a:solidFill>
                  <a:srgbClr val="2B2622"/>
                </a:solidFill>
                <a:latin typeface="Calibri" pitchFamily="34" charset="0"/>
                <a:ea typeface="Calibri" pitchFamily="34" charset="-122"/>
                <a:cs typeface="Calibri" pitchFamily="34" charset="-120"/>
              </a:rPr>
              <a:t>Errors are answers: NameError, TypeError, ZeroDivisionError, SyntaxError - read the last line first</a:t>
            </a:r>
            <a:endParaRPr lang="en-US" sz="1250" dirty="0"/>
          </a:p>
        </p:txBody>
      </p:sp>
      <p:sp>
        <p:nvSpPr>
          <p:cNvPr id="21" name="Shape 19"/>
          <p:cNvSpPr/>
          <p:nvPr/>
        </p:nvSpPr>
        <p:spPr>
          <a:xfrm>
            <a:off x="457200" y="4636008"/>
            <a:ext cx="91440" cy="310896"/>
          </a:xfrm>
          <a:prstGeom prst="rect">
            <a:avLst/>
          </a:prstGeom>
          <a:solidFill>
            <a:srgbClr val="D97A14"/>
          </a:solidFill>
          <a:ln w="12700">
            <a:solidFill>
              <a:srgbClr val="D97A14"/>
            </a:solidFill>
            <a:prstDash val="solid"/>
          </a:ln>
        </p:spPr>
      </p:sp>
      <p:sp>
        <p:nvSpPr>
          <p:cNvPr id="22" name="Text 20"/>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If a line feels unproven, its part's slides carry the receipt</a:t>
            </a:r>
            <a:endParaRPr lang="en-US" sz="1350" dirty="0"/>
          </a:p>
        </p:txBody>
      </p:sp>
      <p:sp>
        <p:nvSpPr>
          <p:cNvPr id="23" name="Text 21"/>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20 / 22</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D97A14"/>
          </a:solidFill>
          <a:ln w="12700">
            <a:solidFill>
              <a:srgbClr val="D97A14"/>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&gt;&gt;&gt;</a:t>
            </a:r>
            <a:endParaRPr lang="en-US" sz="1200" dirty="0"/>
          </a:p>
        </p:txBody>
      </p:sp>
      <p:sp>
        <p:nvSpPr>
          <p:cNvPr id="4" name="Text 2"/>
          <p:cNvSpPr txBox="1"/>
          <p:nvPr/>
        </p:nvSpPr>
        <p:spPr>
          <a:xfrm>
            <a:off x="1143000" y="237744"/>
            <a:ext cx="7543800" cy="566928"/>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Where to go from here</a:t>
            </a:r>
            <a:endParaRPr lang="en-US" sz="2800" dirty="0"/>
          </a:p>
        </p:txBody>
      </p:sp>
      <p:sp>
        <p:nvSpPr>
          <p:cNvPr id="5" name="Text 3"/>
          <p:cNvSpPr txBox="1"/>
          <p:nvPr/>
        </p:nvSpPr>
        <p:spPr>
          <a:xfrm>
            <a:off x="1143000" y="786384"/>
            <a:ext cx="7543800" cy="310896"/>
          </a:xfrm>
          <a:prstGeom prst="rect">
            <a:avLst/>
          </a:prstGeom>
          <a:noFill/>
          <a:ln/>
        </p:spPr>
        <p:txBody>
          <a:bodyPr wrap="square" lIns="0" tIns="0" rIns="0" bIns="0" rtlCol="0" anchor="ctr"/>
          <a:lstStyle/>
          <a:p>
            <a:pPr indent="0" marL="0">
              <a:buNone/>
            </a:pPr>
            <a:r>
              <a:rPr lang="en-US" sz="1300" i="1" dirty="0">
                <a:solidFill>
                  <a:srgbClr val="6E655C"/>
                </a:solidFill>
                <a:latin typeface="Calibri" pitchFamily="34" charset="0"/>
                <a:ea typeface="Calibri" pitchFamily="34" charset="-122"/>
                <a:cs typeface="Calibri" pitchFamily="34" charset="-120"/>
              </a:rPr>
              <a:t>The chapter's own checked sources - every entry a live link</a:t>
            </a:r>
            <a:endParaRPr lang="en-US" sz="1300" dirty="0"/>
          </a:p>
        </p:txBody>
      </p:sp>
      <p:sp>
        <p:nvSpPr>
          <p:cNvPr id="6" name="Text 4"/>
          <p:cNvSpPr txBox="1"/>
          <p:nvPr/>
        </p:nvSpPr>
        <p:spPr>
          <a:xfrm>
            <a:off x="457200" y="137160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Read</a:t>
            </a:r>
            <a:endParaRPr lang="en-US" sz="1250" dirty="0"/>
          </a:p>
        </p:txBody>
      </p:sp>
      <p:sp>
        <p:nvSpPr>
          <p:cNvPr id="7" name="Shape 5"/>
          <p:cNvSpPr/>
          <p:nvPr/>
        </p:nvSpPr>
        <p:spPr>
          <a:xfrm>
            <a:off x="493776" y="1719072"/>
            <a:ext cx="82296" cy="82296"/>
          </a:xfrm>
          <a:prstGeom prst="ellipse">
            <a:avLst/>
          </a:prstGeom>
          <a:solidFill>
            <a:srgbClr val="D97A14"/>
          </a:solidFill>
          <a:ln w="12700">
            <a:solidFill>
              <a:srgbClr val="D97A14"/>
            </a:solidFill>
            <a:prstDash val="solid"/>
          </a:ln>
        </p:spPr>
      </p:sp>
      <p:sp>
        <p:nvSpPr>
          <p:cNvPr id="8" name="Text 6"/>
          <p:cNvSpPr txBox="1"/>
          <p:nvPr/>
        </p:nvSpPr>
        <p:spPr>
          <a:xfrm>
            <a:off x="658368" y="1645920"/>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The textbook, chapter 2 - free online  </a:t>
            </a:r>
            <a:pPr indent="0" marL="0">
              <a:buNone/>
            </a:pPr>
            <a:r>
              <a:rPr lang="en-US" sz="1000" u="sng" dirty="0">
                <a:solidFill>
                  <a:srgbClr val="2F6D6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automatetheboringstuff.com/3e/chapter2.html</a:t>
            </a:r>
            <a:endParaRPr lang="en-US" sz="1000" dirty="0"/>
          </a:p>
        </p:txBody>
      </p:sp>
      <p:sp>
        <p:nvSpPr>
          <p:cNvPr id="9" name="Shape 7"/>
          <p:cNvSpPr/>
          <p:nvPr/>
        </p:nvSpPr>
        <p:spPr>
          <a:xfrm>
            <a:off x="493776" y="2048256"/>
            <a:ext cx="82296" cy="82296"/>
          </a:xfrm>
          <a:prstGeom prst="ellipse">
            <a:avLst/>
          </a:prstGeom>
          <a:solidFill>
            <a:srgbClr val="D97A14"/>
          </a:solidFill>
          <a:ln w="12700">
            <a:solidFill>
              <a:srgbClr val="D97A14"/>
            </a:solidFill>
            <a:prstDash val="solid"/>
          </a:ln>
        </p:spPr>
      </p:sp>
      <p:sp>
        <p:nvSpPr>
          <p:cNvPr id="10" name="Text 8"/>
          <p:cNvSpPr txBox="1"/>
          <p:nvPr/>
        </p:nvSpPr>
        <p:spPr>
          <a:xfrm>
            <a:off x="658368" y="1975104"/>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The tutorial: more control flow  </a:t>
            </a:r>
            <a:pPr indent="0" marL="0">
              <a:buNone/>
            </a:pPr>
            <a:r>
              <a:rPr lang="en-US" sz="1000" u="sng" dirty="0">
                <a:solidFill>
                  <a:srgbClr val="2F6D6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docs.python.org/3/tutorial/controlflow.html</a:t>
            </a:r>
            <a:endParaRPr lang="en-US" sz="1000" dirty="0"/>
          </a:p>
        </p:txBody>
      </p:sp>
      <p:sp>
        <p:nvSpPr>
          <p:cNvPr id="11" name="Text 9"/>
          <p:cNvSpPr txBox="1"/>
          <p:nvPr/>
        </p:nvSpPr>
        <p:spPr>
          <a:xfrm>
            <a:off x="457200" y="237744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Reference</a:t>
            </a:r>
            <a:endParaRPr lang="en-US" sz="1250" dirty="0"/>
          </a:p>
        </p:txBody>
      </p:sp>
      <p:sp>
        <p:nvSpPr>
          <p:cNvPr id="12" name="Shape 10"/>
          <p:cNvSpPr/>
          <p:nvPr/>
        </p:nvSpPr>
        <p:spPr>
          <a:xfrm>
            <a:off x="493776" y="2724912"/>
            <a:ext cx="82296" cy="82296"/>
          </a:xfrm>
          <a:prstGeom prst="ellipse">
            <a:avLst/>
          </a:prstGeom>
          <a:solidFill>
            <a:srgbClr val="D97A14"/>
          </a:solidFill>
          <a:ln w="12700">
            <a:solidFill>
              <a:srgbClr val="D97A14"/>
            </a:solidFill>
            <a:prstDash val="solid"/>
          </a:ln>
        </p:spPr>
      </p:sp>
      <p:sp>
        <p:nvSpPr>
          <p:cNvPr id="13" name="Text 11"/>
          <p:cNvSpPr txBox="1"/>
          <p:nvPr/>
        </p:nvSpPr>
        <p:spPr>
          <a:xfrm>
            <a:off x="658368" y="2651760"/>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Truth testing and booleans  </a:t>
            </a:r>
            <a:pPr indent="0" marL="0">
              <a:buNone/>
            </a:pPr>
            <a:r>
              <a:rPr lang="en-US" sz="1000" u="sng" dirty="0">
                <a:solidFill>
                  <a:srgbClr val="2F6D6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docs.python.org/3/library/stdtypes.html</a:t>
            </a:r>
            <a:endParaRPr lang="en-US" sz="1000" dirty="0"/>
          </a:p>
        </p:txBody>
      </p:sp>
      <p:sp>
        <p:nvSpPr>
          <p:cNvPr id="14" name="Shape 12"/>
          <p:cNvSpPr/>
          <p:nvPr/>
        </p:nvSpPr>
        <p:spPr>
          <a:xfrm>
            <a:off x="493776" y="3054096"/>
            <a:ext cx="82296" cy="82296"/>
          </a:xfrm>
          <a:prstGeom prst="ellipse">
            <a:avLst/>
          </a:prstGeom>
          <a:solidFill>
            <a:srgbClr val="D97A14"/>
          </a:solidFill>
          <a:ln w="12700">
            <a:solidFill>
              <a:srgbClr val="D97A14"/>
            </a:solidFill>
            <a:prstDash val="solid"/>
          </a:ln>
        </p:spPr>
      </p:sp>
      <p:sp>
        <p:nvSpPr>
          <p:cNvPr id="15" name="Text 13"/>
          <p:cNvSpPr txBox="1"/>
          <p:nvPr/>
        </p:nvSpPr>
        <p:spPr>
          <a:xfrm>
            <a:off x="658368" y="2980944"/>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Compound statements (if, match)  </a:t>
            </a:r>
            <a:pPr indent="0" marL="0">
              <a:buNone/>
            </a:pPr>
            <a:r>
              <a:rPr lang="en-US" sz="1000" u="sng" dirty="0">
                <a:solidFill>
                  <a:srgbClr val="2F6D6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docs.python.org/3/reference/compound_stmts.html</a:t>
            </a:r>
            <a:endParaRPr lang="en-US" sz="1000" dirty="0"/>
          </a:p>
        </p:txBody>
      </p:sp>
      <p:sp>
        <p:nvSpPr>
          <p:cNvPr id="16" name="Text 14"/>
          <p:cNvSpPr txBox="1"/>
          <p:nvPr/>
        </p:nvSpPr>
        <p:spPr>
          <a:xfrm>
            <a:off x="457200" y="338328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Modern practice</a:t>
            </a:r>
            <a:endParaRPr lang="en-US" sz="1250" dirty="0"/>
          </a:p>
        </p:txBody>
      </p:sp>
      <p:sp>
        <p:nvSpPr>
          <p:cNvPr id="17" name="Shape 15"/>
          <p:cNvSpPr/>
          <p:nvPr/>
        </p:nvSpPr>
        <p:spPr>
          <a:xfrm>
            <a:off x="493776" y="3730752"/>
            <a:ext cx="82296" cy="82296"/>
          </a:xfrm>
          <a:prstGeom prst="ellipse">
            <a:avLst/>
          </a:prstGeom>
          <a:solidFill>
            <a:srgbClr val="D97A14"/>
          </a:solidFill>
          <a:ln w="12700">
            <a:solidFill>
              <a:srgbClr val="D97A14"/>
            </a:solidFill>
            <a:prstDash val="solid"/>
          </a:ln>
        </p:spPr>
      </p:sp>
      <p:sp>
        <p:nvSpPr>
          <p:cNvPr id="18" name="Text 16"/>
          <p:cNvSpPr txBox="1"/>
          <p:nvPr/>
        </p:nvSpPr>
        <p:spPr>
          <a:xfrm>
            <a:off x="658368" y="3657600"/>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PEP 636 - match, by tutorial  </a:t>
            </a:r>
            <a:pPr indent="0" marL="0">
              <a:buNone/>
            </a:pPr>
            <a:r>
              <a:rPr lang="en-US" sz="1000" u="sng" dirty="0">
                <a:solidFill>
                  <a:srgbClr val="2F6D62"/>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peps.python.org/pep-0636/</a:t>
            </a:r>
            <a:endParaRPr lang="en-US" sz="1000" dirty="0"/>
          </a:p>
        </p:txBody>
      </p:sp>
      <p:sp>
        <p:nvSpPr>
          <p:cNvPr id="19" name="Shape 17"/>
          <p:cNvSpPr/>
          <p:nvPr/>
        </p:nvSpPr>
        <p:spPr>
          <a:xfrm>
            <a:off x="493776" y="4059936"/>
            <a:ext cx="82296" cy="82296"/>
          </a:xfrm>
          <a:prstGeom prst="ellipse">
            <a:avLst/>
          </a:prstGeom>
          <a:solidFill>
            <a:srgbClr val="D97A14"/>
          </a:solidFill>
          <a:ln w="12700">
            <a:solidFill>
              <a:srgbClr val="D97A14"/>
            </a:solidFill>
            <a:prstDash val="solid"/>
          </a:ln>
        </p:spPr>
      </p:sp>
      <p:sp>
        <p:nvSpPr>
          <p:cNvPr id="20" name="Text 18"/>
          <p:cNvSpPr txBox="1"/>
          <p:nvPr/>
        </p:nvSpPr>
        <p:spPr>
          <a:xfrm>
            <a:off x="658368" y="3986784"/>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PEP 572 - the walrus operator  </a:t>
            </a:r>
            <a:pPr indent="0" marL="0">
              <a:buNone/>
            </a:pPr>
            <a:r>
              <a:rPr lang="en-US" sz="1000" u="sng" dirty="0">
                <a:solidFill>
                  <a:srgbClr val="2F6D62"/>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peps.python.org/pep-0572/</a:t>
            </a:r>
            <a:endParaRPr lang="en-US" sz="1000" dirty="0"/>
          </a:p>
        </p:txBody>
      </p:sp>
      <p:sp>
        <p:nvSpPr>
          <p:cNvPr id="21" name="Text 19"/>
          <p:cNvSpPr txBox="1"/>
          <p:nvPr/>
        </p:nvSpPr>
        <p:spPr>
          <a:xfrm>
            <a:off x="4732020" y="1371600"/>
            <a:ext cx="3954780" cy="274320"/>
          </a:xfrm>
          <a:prstGeom prst="rect">
            <a:avLst/>
          </a:prstGeom>
          <a:noFill/>
          <a:ln/>
        </p:spPr>
        <p:txBody>
          <a:bodyPr wrap="square" lIns="0" tIns="0" rIns="0" bIns="0" rtlCol="0" anchor="ctr"/>
          <a:lstStyle/>
          <a:p>
            <a:pPr indent="0" marL="0">
              <a:buNone/>
            </a:pPr>
            <a:r>
              <a:rPr lang="en-US" sz="1250" b="1" dirty="0">
                <a:solidFill>
                  <a:srgbClr val="2F6D62"/>
                </a:solidFill>
                <a:latin typeface="Cambria" pitchFamily="34" charset="0"/>
                <a:ea typeface="Cambria" pitchFamily="34" charset="-122"/>
                <a:cs typeface="Cambria" pitchFamily="34" charset="-120"/>
              </a:rPr>
              <a:t>Style</a:t>
            </a:r>
            <a:endParaRPr lang="en-US" sz="1250" dirty="0"/>
          </a:p>
        </p:txBody>
      </p:sp>
      <p:sp>
        <p:nvSpPr>
          <p:cNvPr id="22" name="Shape 20"/>
          <p:cNvSpPr/>
          <p:nvPr/>
        </p:nvSpPr>
        <p:spPr>
          <a:xfrm>
            <a:off x="4768596" y="1719072"/>
            <a:ext cx="82296" cy="82296"/>
          </a:xfrm>
          <a:prstGeom prst="ellipse">
            <a:avLst/>
          </a:prstGeom>
          <a:solidFill>
            <a:srgbClr val="D97A14"/>
          </a:solidFill>
          <a:ln w="12700">
            <a:solidFill>
              <a:srgbClr val="D97A14"/>
            </a:solidFill>
            <a:prstDash val="solid"/>
          </a:ln>
        </p:spPr>
      </p:sp>
      <p:sp>
        <p:nvSpPr>
          <p:cNvPr id="23" name="Text 21"/>
          <p:cNvSpPr txBox="1"/>
          <p:nvPr/>
        </p:nvSpPr>
        <p:spPr>
          <a:xfrm>
            <a:off x="4933188" y="1645920"/>
            <a:ext cx="3753612" cy="310896"/>
          </a:xfrm>
          <a:prstGeom prst="rect">
            <a:avLst/>
          </a:prstGeom>
          <a:noFill/>
          <a:ln/>
        </p:spPr>
        <p:txBody>
          <a:bodyPr wrap="square" lIns="0" tIns="0" rIns="0" bIns="0" rtlCol="0" anchor="t"/>
          <a:lstStyle/>
          <a:p>
            <a:pPr indent="0" marL="0">
              <a:buNone/>
            </a:pPr>
            <a:r>
              <a:rPr lang="en-US" sz="1000" dirty="0">
                <a:solidFill>
                  <a:srgbClr val="2B2622"/>
                </a:solidFill>
                <a:latin typeface="Calibri" pitchFamily="34" charset="0"/>
                <a:ea typeface="Calibri" pitchFamily="34" charset="-122"/>
                <a:cs typeface="Calibri" pitchFamily="34" charset="-120"/>
              </a:rPr>
              <a:t>PEP 8 on comparisons and booleans  </a:t>
            </a:r>
            <a:pPr indent="0" marL="0">
              <a:buNone/>
            </a:pPr>
            <a:r>
              <a:rPr lang="en-US" sz="1000" u="sng" dirty="0">
                <a:solidFill>
                  <a:srgbClr val="2F6D62"/>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peps.python.org/pep-0008/</a:t>
            </a:r>
            <a:endParaRPr lang="en-US" sz="1000" dirty="0"/>
          </a:p>
        </p:txBody>
      </p:sp>
      <p:sp>
        <p:nvSpPr>
          <p:cNvPr id="24" name="Shape 22"/>
          <p:cNvSpPr/>
          <p:nvPr/>
        </p:nvSpPr>
        <p:spPr>
          <a:xfrm>
            <a:off x="457200" y="4636008"/>
            <a:ext cx="91440" cy="310896"/>
          </a:xfrm>
          <a:prstGeom prst="rect">
            <a:avLst/>
          </a:prstGeom>
          <a:solidFill>
            <a:srgbClr val="D97A14"/>
          </a:solidFill>
          <a:ln w="12700">
            <a:solidFill>
              <a:srgbClr val="D97A14"/>
            </a:solidFill>
            <a:prstDash val="solid"/>
          </a:ln>
        </p:spPr>
      </p:sp>
      <p:sp>
        <p:nvSpPr>
          <p:cNvPr id="25" name="Text 23"/>
          <p:cNvSpPr txBox="1"/>
          <p:nvPr/>
        </p:nvSpPr>
        <p:spPr>
          <a:xfrm>
            <a:off x="658368" y="4599432"/>
            <a:ext cx="6949440" cy="384048"/>
          </a:xfrm>
          <a:prstGeom prst="rect">
            <a:avLst/>
          </a:prstGeom>
          <a:noFill/>
          <a:ln/>
        </p:spPr>
        <p:txBody>
          <a:bodyPr wrap="square" lIns="0" tIns="0" rIns="0" bIns="0" rtlCol="0" anchor="ctr"/>
          <a:lstStyle/>
          <a:p>
            <a:pPr indent="0" marL="0">
              <a:buNone/>
            </a:pPr>
            <a:r>
              <a:rPr lang="en-US" sz="1350" b="1" i="1" dirty="0">
                <a:solidFill>
                  <a:srgbClr val="2B2622"/>
                </a:solidFill>
                <a:latin typeface="Cambria" pitchFamily="34" charset="0"/>
                <a:ea typeface="Cambria" pitchFamily="34" charset="-122"/>
                <a:cs typeface="Cambria" pitchFamily="34" charset="-120"/>
              </a:rPr>
              <a:t>Eight links, all checked by the build - the match tutorial reads in one coffee</a:t>
            </a:r>
            <a:endParaRPr lang="en-US" sz="1350" dirty="0"/>
          </a:p>
        </p:txBody>
      </p:sp>
      <p:sp>
        <p:nvSpPr>
          <p:cNvPr id="26" name="Text 24"/>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21 / 22</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F"/>
        </a:solidFill>
      </p:bgPr>
    </p:bg>
    <p:spTree>
      <p:nvGrpSpPr>
        <p:cNvPr id="1" name=""/>
        <p:cNvGrpSpPr/>
        <p:nvPr/>
      </p:nvGrpSpPr>
      <p:grpSpPr>
        <a:xfrm>
          <a:off x="0" y="0"/>
          <a:ext cx="0" cy="0"/>
          <a:chOff x="0" y="0"/>
          <a:chExt cx="0" cy="0"/>
        </a:xfrm>
      </p:grpSpPr>
      <p:sp>
        <p:nvSpPr>
          <p:cNvPr id="2" name="Shape 0"/>
          <p:cNvSpPr/>
          <p:nvPr/>
        </p:nvSpPr>
        <p:spPr>
          <a:xfrm>
            <a:off x="0" y="0"/>
            <a:ext cx="9144000" cy="219456"/>
          </a:xfrm>
          <a:prstGeom prst="rect">
            <a:avLst/>
          </a:prstGeom>
          <a:solidFill>
            <a:srgbClr val="D97A14"/>
          </a:solidFill>
          <a:ln w="12700">
            <a:solidFill>
              <a:srgbClr val="D97A14"/>
            </a:solidFill>
            <a:prstDash val="solid"/>
          </a:ln>
        </p:spPr>
      </p:sp>
      <p:sp>
        <p:nvSpPr>
          <p:cNvPr id="3" name="Text 1"/>
          <p:cNvSpPr txBox="1"/>
          <p:nvPr/>
        </p:nvSpPr>
        <p:spPr>
          <a:xfrm>
            <a:off x="548640" y="1325880"/>
            <a:ext cx="8046720" cy="868680"/>
          </a:xfrm>
          <a:prstGeom prst="rect">
            <a:avLst/>
          </a:prstGeom>
          <a:noFill/>
          <a:ln/>
        </p:spPr>
        <p:txBody>
          <a:bodyPr wrap="square" lIns="0" tIns="0" rIns="0" bIns="0" rtlCol="0" anchor="ctr"/>
          <a:lstStyle/>
          <a:p>
            <a:pPr indent="0" marL="0">
              <a:buNone/>
            </a:pPr>
            <a:r>
              <a:rPr lang="en-US" sz="2800" b="1" dirty="0">
                <a:solidFill>
                  <a:srgbClr val="2B2622"/>
                </a:solidFill>
                <a:latin typeface="Cambria" pitchFamily="34" charset="0"/>
                <a:ea typeface="Cambria" pitchFamily="34" charset="-122"/>
                <a:cs typeface="Cambria" pitchFamily="34" charset="-120"/>
              </a:rPr>
              <a:t>What you should now be able to say</a:t>
            </a:r>
            <a:endParaRPr lang="en-US" sz="2800" dirty="0"/>
          </a:p>
        </p:txBody>
      </p:sp>
      <p:sp>
        <p:nvSpPr>
          <p:cNvPr id="4" name="Text 2"/>
          <p:cNvSpPr txBox="1"/>
          <p:nvPr/>
        </p:nvSpPr>
        <p:spPr>
          <a:xfrm>
            <a:off x="548640" y="2194560"/>
            <a:ext cx="8046720" cy="548640"/>
          </a:xfrm>
          <a:prstGeom prst="rect">
            <a:avLst/>
          </a:prstGeom>
          <a:noFill/>
          <a:ln/>
        </p:spPr>
        <p:txBody>
          <a:bodyPr wrap="square" lIns="0" tIns="0" rIns="0" bIns="0" rtlCol="0" anchor="t"/>
          <a:lstStyle/>
          <a:p>
            <a:pPr indent="0" marL="0">
              <a:buNone/>
            </a:pPr>
            <a:r>
              <a:rPr lang="en-US" sz="1600" dirty="0">
                <a:solidFill>
                  <a:srgbClr val="2F6D62"/>
                </a:solidFill>
                <a:latin typeface="Calibri" pitchFamily="34" charset="0"/>
                <a:ea typeface="Calibri" pitchFamily="34" charset="-122"/>
                <a:cs typeface="Calibri" pitchFamily="34" charset="-120"/>
              </a:rPr>
              <a:t>And where each claim gets its proof</a:t>
            </a:r>
            <a:endParaRPr lang="en-US" sz="1600" dirty="0"/>
          </a:p>
        </p:txBody>
      </p:sp>
      <p:sp>
        <p:nvSpPr>
          <p:cNvPr id="5" name="Text 3"/>
          <p:cNvSpPr txBox="1"/>
          <p:nvPr/>
        </p:nvSpPr>
        <p:spPr>
          <a:xfrm>
            <a:off x="548640" y="2788920"/>
            <a:ext cx="8046720" cy="15087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What bool is, and what truthiness buys</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How and, or, not combine - and when they stay lazy</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Why indentation IS the block, with two programs as proof</a:t>
            </a:r>
            <a:endParaRPr lang="en-US" sz="1600" dirty="0"/>
          </a:p>
          <a:p>
            <a:pPr marL="342900" indent="-342900">
              <a:spcAft>
                <a:spcPts val="400"/>
              </a:spcAft>
              <a:buSzPct val="100000"/>
              <a:buChar char="•"/>
            </a:pPr>
            <a:r>
              <a:rPr lang="en-US" sz="1600" dirty="0">
                <a:solidFill>
                  <a:srgbClr val="2B2622"/>
                </a:solidFill>
                <a:latin typeface="Calibri" pitchFamily="34" charset="0"/>
                <a:ea typeface="Calibri" pitchFamily="34" charset="-122"/>
                <a:cs typeface="Calibri" pitchFamily="34" charset="-120"/>
              </a:rPr>
              <a:t>When an elif ladder should become a match</a:t>
            </a:r>
            <a:endParaRPr lang="en-US" sz="1600" dirty="0"/>
          </a:p>
        </p:txBody>
      </p:sp>
      <p:sp>
        <p:nvSpPr>
          <p:cNvPr id="6" name="Text 4"/>
          <p:cNvSpPr txBox="1"/>
          <p:nvPr/>
        </p:nvSpPr>
        <p:spPr>
          <a:xfrm>
            <a:off x="548640" y="4407408"/>
            <a:ext cx="8046720" cy="457200"/>
          </a:xfrm>
          <a:prstGeom prst="rect">
            <a:avLst/>
          </a:prstGeom>
          <a:noFill/>
          <a:ln/>
        </p:spPr>
        <p:txBody>
          <a:bodyPr wrap="square" lIns="0" tIns="0" rIns="0" bIns="0" rtlCol="0" anchor="ctr"/>
          <a:lstStyle/>
          <a:p>
            <a:pPr indent="0" marL="0">
              <a:buNone/>
            </a:pPr>
            <a:r>
              <a:rPr lang="en-US" sz="2000" i="1" dirty="0">
                <a:solidFill>
                  <a:srgbClr val="6E655C"/>
                </a:solidFill>
                <a:latin typeface="Cambria" pitchFamily="34" charset="0"/>
                <a:ea typeface="Cambria" pitchFamily="34" charset="-122"/>
                <a:cs typeface="Cambria" pitchFamily="34" charset="-120"/>
              </a:rPr>
              <a:t>Questions?</a:t>
            </a:r>
            <a:endParaRPr lang="en-US" sz="2000" dirty="0"/>
          </a:p>
        </p:txBody>
      </p:sp>
      <p:sp>
        <p:nvSpPr>
          <p:cNvPr id="7" name="Text 5"/>
          <p:cNvSpPr txBox="1"/>
          <p:nvPr/>
        </p:nvSpPr>
        <p:spPr>
          <a:xfrm>
            <a:off x="7863840" y="4645152"/>
            <a:ext cx="868680" cy="310896"/>
          </a:xfrm>
          <a:prstGeom prst="rect">
            <a:avLst/>
          </a:prstGeom>
          <a:noFill/>
          <a:ln/>
        </p:spPr>
        <p:txBody>
          <a:bodyPr wrap="square" lIns="0" tIns="0" rIns="0" bIns="0" rtlCol="0" anchor="ctr"/>
          <a:lstStyle/>
          <a:p>
            <a:pPr algn="r" indent="0" marL="0">
              <a:buNone/>
            </a:pPr>
            <a:r>
              <a:rPr lang="en-US" sz="1100" dirty="0">
                <a:solidFill>
                  <a:srgbClr val="6E655C"/>
                </a:solidFill>
                <a:latin typeface="Calibri" pitchFamily="34" charset="0"/>
                <a:ea typeface="Calibri" pitchFamily="34" charset="-122"/>
                <a:cs typeface="Calibri" pitchFamily="34" charset="-120"/>
              </a:rPr>
              <a:t>22 / 22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SEN0414 Chapter 2: Flow Control</dc:title>
  <dc:subject>PptxGenJS Presentation</dc:subject>
  <dc:creator>Yusuf Altunel</dc:creator>
  <cp:lastModifiedBy>Yusuf Altunel</cp:lastModifiedBy>
  <cp:revision>1</cp:revision>
  <dcterms:created xsi:type="dcterms:W3CDTF">2026-10-06T11:06:24Z</dcterms:created>
  <dcterms:modified xsi:type="dcterms:W3CDTF">2026-10-06T11:06:24Z</dcterms:modified>
</cp:coreProperties>
</file>