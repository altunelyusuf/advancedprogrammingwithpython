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computed values; chapter 2 lets programs choose between them. Today: the two-valued algebra, the if family, and the 2021 match statement.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from Boole's algebra to honest errors - with whole programs and their transcripts verified off this very file.
ASK: Which part do you expect to be hardest - mark it now, check at the summary.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FULL TEXT: course page, chapter 2 - FlowControl.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FULL TEXT: course page, chapter 2 - FlowControl, BooleanOperation.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introduced the value as a piece of data that a program can compute with, and it named three kinds of value: integers, floating-point numbers and strings. Chapter 2 adds a fourth kind, the Boolean value, which has only two members, True and False, and which answers a yes-or-no question (Sweigart, 2025).
FULL TEXT: course page, chapter 2 -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(1847 and 1854): A shoemaker's son from Lincoln taught himself mathematics, and in 'The Mathematical Analysis of Logic' (1847) and 'The Laws of Thought' (1854) showed that reasoning itself obeys algebra: statements as values, AND and OR as operations. He never saw a computer. A century later his algebra became the switching logic of every circuit, and Python names its True-and-False type bool after him - every condition on today's slides is Boole's arithmetic.
SOURCE: George Boole, 'The Mathematical Analysis of Logic' (1847) and 'An Investigation of the Laws of Thought' (1854); biography at en.wikipedia.org/wiki/George_Boole. Portrait: public domain, via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introduced the value as a piece of data that a program can compute with, and it named three kinds of value: integers, floating-point numbers and strings. Chapter 2 adds a fourth kind, the Boolean value, which has only two members, True and False, and which answers a yes-or-no question (Sweigart, 2025).
ASK: Why is 1 == 1.0 True but '1' == 1 False?
FULL TEXT: course page, chapter 2 - Value,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introduced the value as a piece of data that a program can compute with, and it named three kinds of value: integers, floating-point numbers and strings. Chapter 2 adds a fourth kind, the Boolean value, which has only two members, True and False, and which answers a yes-or-no question (Sweigart, 2025).
ASK: When would 'if x:' and 'if x != 0:' disagree? (think containers)
FULL TEXT: course page, chapter 2 -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Boolean operations combine truth values into new truth values. Python has three Boolean operators, and, or and not.
FULL TEXT: course page, chapter 2 - BooleanOperation.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Boolean operations combine truth values into new truth values. Python has three Boolean operators, and, or and not.
ASK: Rewrite 'x != 0 and 10 / x &gt; 1' with the operands swapped - what changes?
FULL TEXT: course page, chapter 2 - BooleanOperation.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FULL TEXT: course page, chapter 2 - FlowControl.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(design decision of the late 1980s): Most languages mark blocks with braces and treat indentation as decoration; Python makes the indentation itself the block. The choice came from ABC, the teaching language Guido van Rossum worked on at CWI before Python, and the design FAQ still defends it: what you see is what the interpreter sees, so a program cannot look right and group wrong. The chapter's two indentation programs run the same lines indented two ways - and print different stories.
SOURCE: The Python design FAQ, 'Why does Python use indentation for grouping of statements?' (docs.python.org/3/faq/design.html); the ABC lineage per van Rossum's documented history of the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ASK: Move 'Access granted.' one level left - what changes in the transcript?
FULL TEXT: course page, chapter 2 - FlowControl.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ASK: Swap the first two rungs of the ladder - which inputs now answer differently?
FULL TEXT: course page, chapter 2 - FlowControl.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Modern practice is the way Python programmers work today: the constructs that current Python offers beyond the textbook and the conventions that experienced developers follow when they write conditions. An advanced course teaches this practice next to the basics of the book, so that students do not have to unlearn habits later.
FULL TEXT: course page, chapter 2 -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(accepted 2021-02; shipped 2021-10 in Python 3.10): For decades Python answered 'where is my switch statement?' with dictionaries and elif chains. In February 2021 the Steering Council accepted structural pattern matching - PEPs 634, 635 and 636 - and Python 3.10 shipped the match statement that October. It is more than a switch: patterns destructure data and bind names. The chapter's match programs - command words, status codes, captures, guards - run the real thing, and their transcripts are on these slides.
SOURCE: PEP 634/635/636 (structural pattern matching), accepted by the Python Steering Council in February 2021; first released in Python 3.10, October 2021. Tutorial: peps.python.org/pep-0636.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Flow control is the part of a program that decides which instructions run, in what order and how often. The textbook puts it plainly: based on how expressions evaluate, a program can decide to skip instructions, repeat them, or choose one of several instructions to run, and flow control statements decide which Python instructions to execute under which conditions (Sweigart, 2025).
ASK: Which elif ladder from earlier would you rewrite as a match - and which not?
FULL TEXT: course page, chapter 2 - FlowControl,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Modern practice is the way Python programmers work today: the constructs that current Python offers beyond the textbook and the conventions that experienced developers follow when they write conditions. An advanced course teaches this practice next to the basics of the book, so that students do not have to unlearn habits later.
ASK: Why does the bare x := 3 refuse while (x := 3) works?
FULL TEXT: course page, chapter 2 -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error report is what Python prints when it cannot carry out a line of a program. The report names the kind of error and gives a message about it, and for errors that happen while the program runs it also shows the lines through which execution arrived.
ASK: Which of the four can an if statement guard against - and which cannot?
FULL TEXT: course page, chapter 2 - ErrorReport.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link is a source the chapter corpus cites and checked. PEP 636 is the gentlest tutorial ever attached to a PEP - read it with tonight's homework.
ASK: Find the PEP 8 rule these slides obeyed every time they tested emptiness.
FULL TEXT: course page, chapter 2 -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program whose transcript you watched. Next week: loops - doing it again until it is done.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George_Boole"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faq/design.html#why-does-python-use-indentation-for-grouping-of-statements"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peps.python.org/pep-0636/"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2.html" TargetMode="External"/><Relationship Id="rId2" Type="http://schemas.openxmlformats.org/officeDocument/2006/relationships/hyperlink" Target="https://docs.python.org/3/tutorial/controlflow.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reference/compound_stmts.html" TargetMode="External"/><Relationship Id="rId5" Type="http://schemas.openxmlformats.org/officeDocument/2006/relationships/hyperlink" Target="https://peps.python.org/pep-0636/" TargetMode="External"/><Relationship Id="rId6" Type="http://schemas.openxmlformats.org/officeDocument/2006/relationships/hyperlink" Target="https://peps.python.org/pep-0572/" TargetMode="External"/><Relationship Id="rId7" Type="http://schemas.openxmlformats.org/officeDocument/2006/relationships/hyperlink" Target="https://peps.python.org/pep-0008/" TargetMode="External"/><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Flow Control</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Booleans, branches, and the programs that finally make decisions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1188720"/>
            <a:ext cx="3200400" cy="1554480"/>
          </a:xfrm>
          <a:prstGeom prst="roundRect">
            <a:avLst>
              <a:gd name="adj" fmla="val 5882"/>
            </a:avLst>
          </a:prstGeom>
          <a:solidFill>
            <a:srgbClr val="23272E"/>
          </a:solidFill>
          <a:ln w="12700">
            <a:solidFill>
              <a:srgbClr val="23272E"/>
            </a:solidFill>
            <a:prstDash val="solid"/>
          </a:ln>
        </p:spPr>
      </p:sp>
      <p:sp>
        <p:nvSpPr>
          <p:cNvPr id="12" name="Text 10"/>
          <p:cNvSpPr txBox="1"/>
          <p:nvPr/>
        </p:nvSpPr>
        <p:spPr>
          <a:xfrm>
            <a:off x="5669280" y="1307592"/>
            <a:ext cx="2834640" cy="131673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2 + 2 == 4</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bool('')</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False</a:t>
            </a:r>
            <a:endParaRPr lang="en-US" sz="1200" dirty="0"/>
          </a:p>
        </p:txBody>
      </p:sp>
      <p:sp>
        <p:nvSpPr>
          <p:cNvPr id="13" name="Text 11"/>
          <p:cNvSpPr txBox="1"/>
          <p:nvPr/>
        </p:nvSpPr>
        <p:spPr>
          <a:xfrm>
            <a:off x="5486400" y="276148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Booleans and truthiness - the two-valued algebra  (slides 5-8)</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Combining conditions - and, or, not, laziness  (slides 9-10)</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Branching - if, elif, and the indentation  (slides 11-14)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Patterns, style, errors, summary, resources  (slides 15-22)</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whole programs, run live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every transcript on screen really printed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constructs decide which block runs, and on what kind of value?</a:t>
            </a:r>
            <a:endParaRPr lang="en-US" sz="13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concepts reach beyond the 3rd edition into current Python, and on what source?</a:t>
            </a:r>
            <a:endParaRPr lang="en-US" sz="13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errors can the chapter's conditions and programs raise, and what does each message say?</a:t>
            </a:r>
            <a:endParaRPr lang="en-US" sz="13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terms do the explanations of this chapter rely on, and is each one a concept of this chapter or of chapter 1?</a:t>
            </a:r>
            <a:endParaRPr lang="en-US" sz="1300" dirty="0"/>
          </a:p>
        </p:txBody>
      </p:sp>
      <p:sp>
        <p:nvSpPr>
          <p:cNvPr id="18" name="Shape 16"/>
          <p:cNvSpPr/>
          <p:nvPr/>
        </p:nvSpPr>
        <p:spPr>
          <a:xfrm>
            <a:off x="457200" y="3931920"/>
            <a:ext cx="248716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3931920"/>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every answer ran</a:t>
            </a:r>
            <a:endParaRPr lang="en-US" sz="1250" dirty="0"/>
          </a:p>
        </p:txBody>
      </p:sp>
      <p:sp>
        <p:nvSpPr>
          <p:cNvPr id="20" name="Shape 18"/>
          <p:cNvSpPr/>
          <p:nvPr/>
        </p:nvSpPr>
        <p:spPr>
          <a:xfrm>
            <a:off x="3145536" y="3931920"/>
            <a:ext cx="445884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145536" y="3931920"/>
            <a:ext cx="44588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whole programs with transcripts</a:t>
            </a:r>
            <a:endParaRPr lang="en-US" sz="1250" dirty="0"/>
          </a:p>
        </p:txBody>
      </p:sp>
      <p:sp>
        <p:nvSpPr>
          <p:cNvPr id="22" name="Shape 20"/>
          <p:cNvSpPr/>
          <p:nvPr/>
        </p:nvSpPr>
        <p:spPr>
          <a:xfrm>
            <a:off x="457200" y="4517136"/>
            <a:ext cx="3275838"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517136"/>
            <a:ext cx="327583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errors are answers too</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seven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Seven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Value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Comparison</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Boolean Operation</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11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D97A14"/>
          </a:solidFill>
          <a:ln w="12700">
            <a:solidFill>
              <a:srgbClr val="D97A14"/>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Flow Control</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Worked Program</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Error Report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Modern Practice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branches - every slide today lives on this map</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Booleans and truthiness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two-valued algebra under every decision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bool</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Truthiness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Comparisons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Chaining</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man inside the bool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1847 and 1854</a:t>
            </a:r>
            <a:endParaRPr lang="en-US" sz="1300" dirty="0"/>
          </a:p>
        </p:txBody>
      </p:sp>
      <p:pic>
        <p:nvPicPr>
          <p:cNvPr id="6" name="Image 0" descr="../../03-materials/ch02/assets/photo_george_boole.jpg">    </p:cNvPr>
          <p:cNvPicPr>
            <a:picLocks noChangeAspect="1"/>
          </p:cNvPicPr>
          <p:nvPr/>
        </p:nvPicPr>
        <p:blipFill>
          <a:blip r:embed="rId1"/>
          <a:srcRect l="0" r="0" t="0" b="0"/>
          <a:stretch/>
        </p:blipFill>
        <p:spPr>
          <a:xfrm>
            <a:off x="457200" y="1325880"/>
            <a:ext cx="2468880" cy="2834640"/>
          </a:xfrm>
          <a:prstGeom prst="rect">
            <a:avLst/>
          </a:prstGeom>
        </p:spPr>
      </p:pic>
      <p:sp>
        <p:nvSpPr>
          <p:cNvPr id="7" name="Text 4"/>
          <p:cNvSpPr txBox="1"/>
          <p:nvPr/>
        </p:nvSpPr>
        <p:spPr>
          <a:xfrm>
            <a:off x="457200" y="4178808"/>
            <a:ext cx="24688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George Boole - public domain, via Wikimedia Commons</a:t>
            </a:r>
            <a:endParaRPr lang="en-US" sz="900" dirty="0"/>
          </a:p>
        </p:txBody>
      </p:sp>
      <p:sp>
        <p:nvSpPr>
          <p:cNvPr id="8" name="Shape 5"/>
          <p:cNvSpPr/>
          <p:nvPr/>
        </p:nvSpPr>
        <p:spPr>
          <a:xfrm>
            <a:off x="329184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371600"/>
            <a:ext cx="51206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shoemaker's son from Lincoln, self-taught</a:t>
            </a:r>
            <a:endParaRPr lang="en-US" sz="1300" dirty="0"/>
          </a:p>
        </p:txBody>
      </p:sp>
      <p:sp>
        <p:nvSpPr>
          <p:cNvPr id="10" name="Shape 7"/>
          <p:cNvSpPr/>
          <p:nvPr/>
        </p:nvSpPr>
        <p:spPr>
          <a:xfrm>
            <a:off x="329184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897380"/>
            <a:ext cx="51206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1847 and 1854: reasoning itself obeys algebra</a:t>
            </a:r>
            <a:endParaRPr lang="en-US" sz="1300" dirty="0"/>
          </a:p>
        </p:txBody>
      </p:sp>
      <p:sp>
        <p:nvSpPr>
          <p:cNvPr id="12" name="Shape 9"/>
          <p:cNvSpPr/>
          <p:nvPr/>
        </p:nvSpPr>
        <p:spPr>
          <a:xfrm>
            <a:off x="329184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423160"/>
            <a:ext cx="51206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He never saw a computer; every circuit runs his logic</a:t>
            </a:r>
            <a:endParaRPr lang="en-US" sz="1300" dirty="0"/>
          </a:p>
        </p:txBody>
      </p:sp>
      <p:sp>
        <p:nvSpPr>
          <p:cNvPr id="14" name="Shape 11"/>
          <p:cNvSpPr/>
          <p:nvPr/>
        </p:nvSpPr>
        <p:spPr>
          <a:xfrm>
            <a:off x="329184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566160" y="2948940"/>
            <a:ext cx="512064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Python's True-and-False type carries his name: bool</a:t>
            </a:r>
            <a:endParaRPr lang="en-US" sz="1300" dirty="0"/>
          </a:p>
        </p:txBody>
      </p:sp>
      <p:sp>
        <p:nvSpPr>
          <p:cNvPr id="16" name="Shape 13"/>
          <p:cNvSpPr/>
          <p:nvPr/>
        </p:nvSpPr>
        <p:spPr>
          <a:xfrm>
            <a:off x="3291840" y="3703320"/>
            <a:ext cx="1570391"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383280" y="3703320"/>
            <a:ext cx="142408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George Boole, self-ta…</a:t>
            </a:r>
            <a:endParaRPr lang="en-US" sz="750" dirty="0"/>
          </a:p>
        </p:txBody>
      </p:sp>
      <p:sp>
        <p:nvSpPr>
          <p:cNvPr id="18" name="Shape 15"/>
          <p:cNvSpPr/>
          <p:nvPr/>
        </p:nvSpPr>
        <p:spPr>
          <a:xfrm>
            <a:off x="4971959" y="3703320"/>
            <a:ext cx="157039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063399" y="3703320"/>
            <a:ext cx="142408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Lincoln, England and …</a:t>
            </a:r>
            <a:endParaRPr lang="en-US" sz="750" dirty="0"/>
          </a:p>
        </p:txBody>
      </p:sp>
      <p:sp>
        <p:nvSpPr>
          <p:cNvPr id="20" name="Shape 17"/>
          <p:cNvSpPr/>
          <p:nvPr/>
        </p:nvSpPr>
        <p:spPr>
          <a:xfrm>
            <a:off x="6652077" y="3703320"/>
            <a:ext cx="861182"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6743517" y="3703320"/>
            <a:ext cx="71487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1847 an…</a:t>
            </a:r>
            <a:endParaRPr lang="en-US" sz="750" dirty="0"/>
          </a:p>
        </p:txBody>
      </p:sp>
      <p:sp>
        <p:nvSpPr>
          <p:cNvPr id="22" name="Shape 19"/>
          <p:cNvSpPr/>
          <p:nvPr/>
        </p:nvSpPr>
        <p:spPr>
          <a:xfrm>
            <a:off x="7622987" y="3703320"/>
            <a:ext cx="1063813"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714427" y="3703320"/>
            <a:ext cx="91750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if statement runs on one Victorian's algebra</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values rule everything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bool, and the comparisons that produce it</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type with two citizens</a:t>
            </a:r>
            <a:endParaRPr lang="en-US" sz="1150" dirty="0"/>
          </a:p>
        </p:txBody>
      </p:sp>
      <p:sp>
        <p:nvSpPr>
          <p:cNvPr id="7" name="Shape 5"/>
          <p:cNvSpPr/>
          <p:nvPr/>
        </p:nvSpPr>
        <p:spPr>
          <a:xfrm>
            <a:off x="457200" y="1417320"/>
            <a:ext cx="3931920" cy="1481328"/>
          </a:xfrm>
          <a:prstGeom prst="roundRect">
            <a:avLst>
              <a:gd name="adj" fmla="val 6173"/>
            </a:avLst>
          </a:prstGeom>
          <a:solidFill>
            <a:srgbClr val="23272E"/>
          </a:solidFill>
          <a:ln w="12700">
            <a:solidFill>
              <a:srgbClr val="23272E"/>
            </a:solidFill>
            <a:prstDash val="solid"/>
          </a:ln>
        </p:spPr>
      </p:sp>
      <p:sp>
        <p:nvSpPr>
          <p:cNvPr id="8" name="Text 6"/>
          <p:cNvSpPr txBox="1"/>
          <p:nvPr/>
        </p:nvSpPr>
        <p:spPr>
          <a:xfrm>
            <a:off x="640080" y="1536192"/>
            <a:ext cx="3566160" cy="1243584"/>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42 == 42</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42 == 99</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False</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True + True</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2</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int(True)</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1</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'True' == True</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False</a:t>
            </a:r>
            <a:endParaRPr lang="en-US" sz="730" dirty="0"/>
          </a:p>
        </p:txBody>
      </p:sp>
      <p:sp>
        <p:nvSpPr>
          <p:cNvPr id="9" name="Text 7"/>
          <p:cNvSpPr txBox="1"/>
          <p:nvPr/>
        </p:nvSpPr>
        <p:spPr>
          <a:xfrm>
            <a:off x="457200" y="2916936"/>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asks; = stores - the classic mix-up, refused</a:t>
            </a:r>
            <a:endParaRPr lang="en-US" sz="1150" dirty="0"/>
          </a:p>
        </p:txBody>
      </p:sp>
      <p:sp>
        <p:nvSpPr>
          <p:cNvPr id="11" name="Shape 9"/>
          <p:cNvSpPr/>
          <p:nvPr/>
        </p:nvSpPr>
        <p:spPr>
          <a:xfrm>
            <a:off x="4663440" y="1417320"/>
            <a:ext cx="4023360" cy="1481328"/>
          </a:xfrm>
          <a:prstGeom prst="roundRect">
            <a:avLst>
              <a:gd name="adj" fmla="val 6173"/>
            </a:avLst>
          </a:prstGeom>
          <a:solidFill>
            <a:srgbClr val="23272E"/>
          </a:solidFill>
          <a:ln w="12700">
            <a:solidFill>
              <a:srgbClr val="23272E"/>
            </a:solidFill>
            <a:prstDash val="solid"/>
          </a:ln>
        </p:spPr>
      </p:sp>
      <p:sp>
        <p:nvSpPr>
          <p:cNvPr id="12" name="Text 10"/>
          <p:cNvSpPr txBox="1"/>
          <p:nvPr/>
        </p:nvSpPr>
        <p:spPr>
          <a:xfrm>
            <a:off x="4846320" y="1536192"/>
            <a:ext cx="3657600" cy="1243584"/>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'hello' == 'hello'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42 == '42'</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None is None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3" name="Text 11"/>
          <p:cNvSpPr txBox="1"/>
          <p:nvPr/>
        </p:nvSpPr>
        <p:spPr>
          <a:xfrm>
            <a:off x="4663440" y="2916936"/>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2880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comparisons chain like mathematics - 18 &lt; age &lt; 65 just works</a:t>
            </a:r>
            <a:endParaRPr lang="en-US" sz="1150" dirty="0"/>
          </a:p>
        </p:txBody>
      </p:sp>
      <p:sp>
        <p:nvSpPr>
          <p:cNvPr id="15" name="Shape 13"/>
          <p:cNvSpPr/>
          <p:nvPr/>
        </p:nvSpPr>
        <p:spPr>
          <a:xfrm>
            <a:off x="457200" y="315468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3273552"/>
            <a:ext cx="7863840" cy="10881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1 &lt; 2 &lt; 3</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3 &gt; 2 &gt; 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5 &lt; 3 &lt; 1 / 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1 &lt; 2 &gt; 1.5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7" name="Text 15"/>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bool is a type like any other - with only two citizens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Truthiness: what counts as something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value answers bool() - emptiness answers False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Zero, empty text, empty containers: falsy</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Everything else: truthy</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'if name:' reads as 'if name is not empty'</a:t>
            </a:r>
            <a:endParaRPr lang="en-US" sz="105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census, run</a:t>
            </a:r>
            <a:endParaRPr lang="en-US" sz="1150" dirty="0"/>
          </a:p>
        </p:txBody>
      </p:sp>
      <p:sp>
        <p:nvSpPr>
          <p:cNvPr id="16" name="Shape 14"/>
          <p:cNvSpPr/>
          <p:nvPr/>
        </p:nvSpPr>
        <p:spPr>
          <a:xfrm>
            <a:off x="3931920" y="1417320"/>
            <a:ext cx="4754880" cy="1371600"/>
          </a:xfrm>
          <a:prstGeom prst="roundRect">
            <a:avLst>
              <a:gd name="adj" fmla="val 6667"/>
            </a:avLst>
          </a:prstGeom>
          <a:solidFill>
            <a:srgbClr val="23272E"/>
          </a:solidFill>
          <a:ln w="12700">
            <a:solidFill>
              <a:srgbClr val="23272E"/>
            </a:solidFill>
            <a:prstDash val="solid"/>
          </a:ln>
        </p:spPr>
      </p:sp>
      <p:sp>
        <p:nvSpPr>
          <p:cNvPr id="17" name="Text 15"/>
          <p:cNvSpPr txBox="1"/>
          <p:nvPr/>
        </p:nvSpPr>
        <p:spPr>
          <a:xfrm>
            <a:off x="4114800" y="1536192"/>
            <a:ext cx="4389120" cy="113385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True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bool(1)</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bool(0)</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False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bool('text')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True</a:t>
            </a:r>
            <a:endParaRPr lang="en-US" sz="830" dirty="0"/>
          </a:p>
        </p:txBody>
      </p:sp>
      <p:sp>
        <p:nvSpPr>
          <p:cNvPr id="18" name="Text 16"/>
          <p:cNvSpPr txBox="1"/>
          <p:nvPr/>
        </p:nvSpPr>
        <p:spPr>
          <a:xfrm>
            <a:off x="3931920" y="28072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Text 17"/>
          <p:cNvSpPr txBox="1"/>
          <p:nvPr/>
        </p:nvSpPr>
        <p:spPr>
          <a:xfrm>
            <a:off x="457200" y="294436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idiom the style guide prefers</a:t>
            </a:r>
            <a:endParaRPr lang="en-US" sz="1150" dirty="0"/>
          </a:p>
        </p:txBody>
      </p:sp>
      <p:sp>
        <p:nvSpPr>
          <p:cNvPr id="20" name="Shape 18"/>
          <p:cNvSpPr/>
          <p:nvPr/>
        </p:nvSpPr>
        <p:spPr>
          <a:xfrm>
            <a:off x="457200" y="3218688"/>
            <a:ext cx="8229600" cy="1261872"/>
          </a:xfrm>
          <a:prstGeom prst="roundRect">
            <a:avLst>
              <a:gd name="adj" fmla="val 7246"/>
            </a:avLst>
          </a:prstGeom>
          <a:solidFill>
            <a:srgbClr val="23272E"/>
          </a:solidFill>
          <a:ln w="12700">
            <a:solidFill>
              <a:srgbClr val="23272E"/>
            </a:solidFill>
            <a:prstDash val="solid"/>
          </a:ln>
        </p:spPr>
      </p:sp>
      <p:sp>
        <p:nvSpPr>
          <p:cNvPr id="21" name="Text 19"/>
          <p:cNvSpPr txBox="1"/>
          <p:nvPr/>
        </p:nvSpPr>
        <p:spPr>
          <a:xfrm>
            <a:off x="640080" y="3337560"/>
            <a:ext cx="7863840" cy="102412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bool([])</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len([])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bool([1, 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len([1, 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a:t>
            </a:r>
            <a:endParaRPr lang="en-US" sz="750" dirty="0"/>
          </a:p>
        </p:txBody>
      </p:sp>
      <p:sp>
        <p:nvSpPr>
          <p:cNvPr id="22" name="Text 20"/>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Emptiness is False; if name: is idiomatic Python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Combining conditions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and, or, not - Boole's three operations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and / or</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not</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Short-circuit</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Precedence</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and, or, not - and who gets lazy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Short-circuiting, shown misbehaving on purpose</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truth tables, sampled</a:t>
            </a:r>
            <a:endParaRPr lang="en-US" sz="1150" dirty="0"/>
          </a:p>
        </p:txBody>
      </p:sp>
      <p:sp>
        <p:nvSpPr>
          <p:cNvPr id="7" name="Shape 5"/>
          <p:cNvSpPr/>
          <p:nvPr/>
        </p:nvSpPr>
        <p:spPr>
          <a:xfrm>
            <a:off x="457200" y="1463040"/>
            <a:ext cx="393192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581912"/>
            <a:ext cx="356616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(4 &lt; 5) and (5 &lt; 6)</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False or True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not not not not True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28529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right side may never run - even a 1/0 survives</a:t>
            </a:r>
            <a:endParaRPr lang="en-US" sz="1150" dirty="0"/>
          </a:p>
        </p:txBody>
      </p:sp>
      <p:sp>
        <p:nvSpPr>
          <p:cNvPr id="11" name="Shape 9"/>
          <p:cNvSpPr/>
          <p:nvPr/>
        </p:nvSpPr>
        <p:spPr>
          <a:xfrm>
            <a:off x="4663440" y="1463040"/>
            <a:ext cx="4023360" cy="1737360"/>
          </a:xfrm>
          <a:prstGeom prst="roundRect">
            <a:avLst>
              <a:gd name="adj" fmla="val 5263"/>
            </a:avLst>
          </a:prstGeom>
          <a:solidFill>
            <a:srgbClr val="23272E"/>
          </a:solidFill>
          <a:ln w="12700">
            <a:solidFill>
              <a:srgbClr val="23272E"/>
            </a:solidFill>
            <a:prstDash val="solid"/>
          </a:ln>
        </p:spPr>
      </p:sp>
      <p:sp>
        <p:nvSpPr>
          <p:cNvPr id="12" name="Text 10"/>
          <p:cNvSpPr txBox="1"/>
          <p:nvPr/>
        </p:nvSpPr>
        <p:spPr>
          <a:xfrm>
            <a:off x="4846320" y="1581912"/>
            <a:ext cx="3657600" cy="14996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1 or 1 / 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0 and 1 / 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False and 1 / 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1 and 1 / 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ZeroDivisionError: division by zero</a:t>
            </a:r>
            <a:endParaRPr lang="en-US" sz="850" dirty="0"/>
          </a:p>
        </p:txBody>
      </p:sp>
      <p:sp>
        <p:nvSpPr>
          <p:cNvPr id="13" name="Text 11"/>
          <p:cNvSpPr txBox="1"/>
          <p:nvPr/>
        </p:nvSpPr>
        <p:spPr>
          <a:xfrm>
            <a:off x="4663440" y="321868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299923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 version: the guard runs first, so the crash never comes</a:t>
            </a:r>
            <a:endParaRPr lang="en-US" sz="1150" dirty="0"/>
          </a:p>
        </p:txBody>
      </p:sp>
      <p:sp>
        <p:nvSpPr>
          <p:cNvPr id="15" name="Shape 13"/>
          <p:cNvSpPr/>
          <p:nvPr/>
        </p:nvSpPr>
        <p:spPr>
          <a:xfrm>
            <a:off x="457200" y="3273552"/>
            <a:ext cx="8229600" cy="1261872"/>
          </a:xfrm>
          <a:prstGeom prst="roundRect">
            <a:avLst>
              <a:gd name="adj" fmla="val 7246"/>
            </a:avLst>
          </a:prstGeom>
          <a:solidFill>
            <a:srgbClr val="23272E"/>
          </a:solidFill>
          <a:ln w="12700">
            <a:solidFill>
              <a:srgbClr val="23272E"/>
            </a:solidFill>
            <a:prstDash val="solid"/>
          </a:ln>
        </p:spPr>
      </p:sp>
      <p:sp>
        <p:nvSpPr>
          <p:cNvPr id="16" name="Text 14"/>
          <p:cNvSpPr txBox="1"/>
          <p:nvPr/>
        </p:nvSpPr>
        <p:spPr>
          <a:xfrm>
            <a:off x="640080" y="3392424"/>
            <a:ext cx="7863840" cy="1024128"/>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x = </a:t>
            </a:r>
            <a:pPr indent="0" marL="0">
              <a:buNone/>
            </a:pP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print(x != </a:t>
            </a:r>
            <a:pPr indent="0" marL="0">
              <a:buNone/>
            </a:pPr>
            <a:r>
              <a:rPr lang="en-US" sz="760" dirty="0">
                <a:solidFill>
                  <a:srgbClr val="FFD28A"/>
                </a:solidFill>
                <a:latin typeface="Courier New" pitchFamily="34" charset="0"/>
                <a:ea typeface="Courier New" pitchFamily="34" charset="-122"/>
                <a:cs typeface="Courier New" pitchFamily="34" charset="-120"/>
              </a:rPr>
              <a:t>0</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and</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dirty="0">
                <a:solidFill>
                  <a:srgbClr val="FFD28A"/>
                </a:solidFill>
                <a:latin typeface="Courier New" pitchFamily="34" charset="0"/>
                <a:ea typeface="Courier New" pitchFamily="34" charset="-122"/>
                <a:cs typeface="Courier New" pitchFamily="34" charset="-120"/>
              </a:rPr>
              <a:t>10</a:t>
            </a:r>
            <a:pPr indent="0" marL="0">
              <a:buNone/>
            </a:pPr>
            <a:r>
              <a:rPr lang="en-US" sz="760" dirty="0">
                <a:solidFill>
                  <a:srgbClr val="E6EDF3"/>
                </a:solidFill>
                <a:latin typeface="Courier New" pitchFamily="34" charset="0"/>
                <a:ea typeface="Courier New" pitchFamily="34" charset="-122"/>
                <a:cs typeface="Courier New" pitchFamily="34" charset="-120"/>
              </a:rPr>
              <a:t> / x &gt; </a:t>
            </a:r>
            <a:pPr indent="0" marL="0">
              <a:buNone/>
            </a:pPr>
            <a:r>
              <a:rPr lang="en-US" sz="760" dirty="0">
                <a:solidFill>
                  <a:srgbClr val="FFD28A"/>
                </a:solidFill>
                <a:latin typeface="Courier New" pitchFamily="34" charset="0"/>
                <a:ea typeface="Courier New" pitchFamily="34" charset="-122"/>
                <a:cs typeface="Courier New" pitchFamily="34" charset="-120"/>
              </a:rPr>
              <a:t>2</a:t>
            </a:r>
            <a:pPr indent="0" marL="0">
              <a:buNone/>
            </a:pP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False</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and</a:t>
            </a:r>
            <a:pPr indent="0" marL="0">
              <a:buNone/>
            </a:pPr>
            <a:r>
              <a:rPr lang="en-US" sz="760" dirty="0">
                <a:solidFill>
                  <a:srgbClr val="E6EDF3"/>
                </a:solidFill>
                <a:latin typeface="Courier New" pitchFamily="34" charset="0"/>
                <a:ea typeface="Courier New" pitchFamily="34" charset="-122"/>
                <a:cs typeface="Courier New" pitchFamily="34" charset="-120"/>
              </a:rPr>
              <a:t> print(</a:t>
            </a:r>
            <a:pPr indent="0" marL="0">
              <a:buNone/>
            </a:pPr>
            <a:r>
              <a:rPr lang="en-US" sz="760" dirty="0">
                <a:solidFill>
                  <a:srgbClr val="9ECBFF"/>
                </a:solidFill>
                <a:latin typeface="Courier New" pitchFamily="34" charset="0"/>
                <a:ea typeface="Courier New" pitchFamily="34" charset="-122"/>
                <a:cs typeface="Courier New" pitchFamily="34" charset="-120"/>
              </a:rPr>
              <a:t>'this is never printed'</a:t>
            </a:r>
            <a:pPr indent="0" marL="0">
              <a:buNone/>
            </a:pP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True</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and</a:t>
            </a:r>
            <a:pPr indent="0" marL="0">
              <a:buNone/>
            </a:pPr>
            <a:r>
              <a:rPr lang="en-US" sz="760" dirty="0">
                <a:solidFill>
                  <a:srgbClr val="E6EDF3"/>
                </a:solidFill>
                <a:latin typeface="Courier New" pitchFamily="34" charset="0"/>
                <a:ea typeface="Courier New" pitchFamily="34" charset="-122"/>
                <a:cs typeface="Courier New" pitchFamily="34" charset="-120"/>
              </a:rPr>
              <a:t> print(</a:t>
            </a:r>
            <a:pPr indent="0" marL="0">
              <a:buNone/>
            </a:pPr>
            <a:r>
              <a:rPr lang="en-US" sz="760" dirty="0">
                <a:solidFill>
                  <a:srgbClr val="9ECBFF"/>
                </a:solidFill>
                <a:latin typeface="Courier New" pitchFamily="34" charset="0"/>
                <a:ea typeface="Courier New" pitchFamily="34" charset="-122"/>
                <a:cs typeface="Courier New" pitchFamily="34" charset="-120"/>
              </a:rPr>
              <a:t>'this is printed'</a:t>
            </a:r>
            <a:pPr indent="0" marL="0">
              <a:buNone/>
            </a:pP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pPr indent="0" marL="0">
              <a:buNone/>
            </a:pPr>
            <a:r>
              <a:rPr lang="en-US" sz="760" dirty="0">
                <a:solidFill>
                  <a:srgbClr val="7EE787"/>
                </a:solidFill>
                <a:latin typeface="Courier New" pitchFamily="34" charset="0"/>
                <a:ea typeface="Courier New" pitchFamily="34" charset="-122"/>
                <a:cs typeface="Courier New" pitchFamily="34" charset="-120"/>
              </a:rPr>
              <a:t>False</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this is printed</a:t>
            </a:r>
            <a:endParaRPr lang="en-US" sz="760" dirty="0"/>
          </a:p>
        </p:txBody>
      </p:sp>
      <p:sp>
        <p:nvSpPr>
          <p:cNvPr id="17" name="Text 15"/>
          <p:cNvSpPr txBox="1"/>
          <p:nvPr/>
        </p:nvSpPr>
        <p:spPr>
          <a:xfrm>
            <a:off x="640080" y="4297680"/>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shortcircuit_v1_0_0.py, lines 1 to 4 of 4, run under Python 3.13.16</a:t>
            </a:r>
            <a:endParaRPr lang="en-US" sz="8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Short-circuiting is a feature you will deliberately use</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Branching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if family, and the indentation that owns it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 else</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Indentation</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elif ladders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Nesting</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whitespace that is the syntax</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design decision of the late 1980s</a:t>
            </a:r>
            <a:endParaRPr lang="en-US" sz="1300" dirty="0"/>
          </a:p>
        </p:txBody>
      </p:sp>
      <p:sp>
        <p:nvSpPr>
          <p:cNvPr id="6" name="Shape 4"/>
          <p:cNvSpPr/>
          <p:nvPr/>
        </p:nvSpPr>
        <p:spPr>
          <a:xfrm>
            <a:off x="457200" y="149047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Same five lines, one space of difference - and two different programs</a:t>
            </a:r>
            <a:endParaRPr lang="en-US" sz="1250" dirty="0"/>
          </a:p>
        </p:txBody>
      </p:sp>
      <p:sp>
        <p:nvSpPr>
          <p:cNvPr id="8" name="Shape 6"/>
          <p:cNvSpPr/>
          <p:nvPr/>
        </p:nvSpPr>
        <p:spPr>
          <a:xfrm>
            <a:off x="457200" y="194767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83080"/>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lesson carried from the ABC language: what you see is what the interpreter sees</a:t>
            </a:r>
            <a:endParaRPr lang="en-US" sz="1250" dirty="0"/>
          </a:p>
        </p:txBody>
      </p:sp>
      <p:sp>
        <p:nvSpPr>
          <p:cNvPr id="10" name="Text 8"/>
          <p:cNvSpPr txBox="1"/>
          <p:nvPr/>
        </p:nvSpPr>
        <p:spPr>
          <a:xfrm>
            <a:off x="457200" y="21031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'always' inside the block</a:t>
            </a:r>
            <a:endParaRPr lang="en-US" sz="1150" dirty="0"/>
          </a:p>
        </p:txBody>
      </p:sp>
      <p:sp>
        <p:nvSpPr>
          <p:cNvPr id="11" name="Shape 9"/>
          <p:cNvSpPr/>
          <p:nvPr/>
        </p:nvSpPr>
        <p:spPr>
          <a:xfrm>
            <a:off x="457200" y="2377440"/>
            <a:ext cx="3931920" cy="1600200"/>
          </a:xfrm>
          <a:prstGeom prst="roundRect">
            <a:avLst>
              <a:gd name="adj" fmla="val 5714"/>
            </a:avLst>
          </a:prstGeom>
          <a:solidFill>
            <a:srgbClr val="23272E"/>
          </a:solidFill>
          <a:ln w="12700">
            <a:solidFill>
              <a:srgbClr val="23272E"/>
            </a:solidFill>
            <a:prstDash val="solid"/>
          </a:ln>
        </p:spPr>
      </p:sp>
      <p:sp>
        <p:nvSpPr>
          <p:cNvPr id="12" name="Text 10"/>
          <p:cNvSpPr txBox="1"/>
          <p:nvPr/>
        </p:nvSpPr>
        <p:spPr>
          <a:xfrm>
            <a:off x="640080" y="2496312"/>
            <a:ext cx="3566160" cy="136245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x = </a:t>
            </a:r>
            <a:pPr indent="0" marL="0">
              <a:buNone/>
            </a:pP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x &gt; </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'big'</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'always'</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'end'</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end</a:t>
            </a:r>
            <a:endParaRPr lang="en-US" sz="900" dirty="0"/>
          </a:p>
        </p:txBody>
      </p:sp>
      <p:sp>
        <p:nvSpPr>
          <p:cNvPr id="13" name="Text 11"/>
          <p:cNvSpPr txBox="1"/>
          <p:nvPr/>
        </p:nvSpPr>
        <p:spPr>
          <a:xfrm>
            <a:off x="640080" y="3739896"/>
            <a:ext cx="356616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indent_in_v1_0_0.py, lines 1 to 5 of 5, run under Python 3.13.16</a:t>
            </a:r>
            <a:endParaRPr lang="en-US" sz="800" dirty="0"/>
          </a:p>
        </p:txBody>
      </p:sp>
      <p:sp>
        <p:nvSpPr>
          <p:cNvPr id="14" name="Text 12"/>
          <p:cNvSpPr txBox="1"/>
          <p:nvPr/>
        </p:nvSpPr>
        <p:spPr>
          <a:xfrm>
            <a:off x="4663440" y="2103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'always' outside - it prints</a:t>
            </a:r>
            <a:endParaRPr lang="en-US" sz="1150" dirty="0"/>
          </a:p>
        </p:txBody>
      </p:sp>
      <p:sp>
        <p:nvSpPr>
          <p:cNvPr id="15" name="Shape 13"/>
          <p:cNvSpPr/>
          <p:nvPr/>
        </p:nvSpPr>
        <p:spPr>
          <a:xfrm>
            <a:off x="4663440" y="2377440"/>
            <a:ext cx="4023360" cy="1600200"/>
          </a:xfrm>
          <a:prstGeom prst="roundRect">
            <a:avLst>
              <a:gd name="adj" fmla="val 5714"/>
            </a:avLst>
          </a:prstGeom>
          <a:solidFill>
            <a:srgbClr val="23272E"/>
          </a:solidFill>
          <a:ln w="12700">
            <a:solidFill>
              <a:srgbClr val="23272E"/>
            </a:solidFill>
            <a:prstDash val="solid"/>
          </a:ln>
        </p:spPr>
      </p:sp>
      <p:sp>
        <p:nvSpPr>
          <p:cNvPr id="16" name="Text 14"/>
          <p:cNvSpPr txBox="1"/>
          <p:nvPr/>
        </p:nvSpPr>
        <p:spPr>
          <a:xfrm>
            <a:off x="4846320" y="2496312"/>
            <a:ext cx="3657600" cy="136245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x = </a:t>
            </a:r>
            <a:pPr indent="0" marL="0">
              <a:buNone/>
            </a:pP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x &gt; </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'big'</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'always'</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'end'</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always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end</a:t>
            </a:r>
            <a:endParaRPr lang="en-US" sz="900" dirty="0"/>
          </a:p>
        </p:txBody>
      </p:sp>
      <p:sp>
        <p:nvSpPr>
          <p:cNvPr id="17" name="Text 15"/>
          <p:cNvSpPr txBox="1"/>
          <p:nvPr/>
        </p:nvSpPr>
        <p:spPr>
          <a:xfrm>
            <a:off x="4846320" y="3739896"/>
            <a:ext cx="365760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indent_out_v1_0_0.py, lines 1 to 5 of 5, run under Python 3.13.16</a:t>
            </a:r>
            <a:endParaRPr lang="en-US" sz="800" dirty="0"/>
          </a:p>
        </p:txBody>
      </p:sp>
      <p:sp>
        <p:nvSpPr>
          <p:cNvPr id="18" name="Shape 16"/>
          <p:cNvSpPr/>
          <p:nvPr/>
        </p:nvSpPr>
        <p:spPr>
          <a:xfrm>
            <a:off x="457200" y="416052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548640"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Guido van Rossum, carrying a lesson fr…</a:t>
            </a:r>
            <a:endParaRPr lang="en-US" sz="750" dirty="0"/>
          </a:p>
        </p:txBody>
      </p:sp>
      <p:sp>
        <p:nvSpPr>
          <p:cNvPr id="20" name="Shape 18"/>
          <p:cNvSpPr/>
          <p:nvPr/>
        </p:nvSpPr>
        <p:spPr>
          <a:xfrm>
            <a:off x="3016057" y="4160520"/>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3107497"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documented in Python's own design FAQ</a:t>
            </a:r>
            <a:endParaRPr lang="en-US" sz="750" dirty="0"/>
          </a:p>
        </p:txBody>
      </p:sp>
      <p:sp>
        <p:nvSpPr>
          <p:cNvPr id="22" name="Shape 20"/>
          <p:cNvSpPr/>
          <p:nvPr/>
        </p:nvSpPr>
        <p:spPr>
          <a:xfrm>
            <a:off x="5574914" y="4160520"/>
            <a:ext cx="1343071"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666354" y="416052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design decision …</a:t>
            </a:r>
            <a:endParaRPr lang="en-US" sz="750" dirty="0"/>
          </a:p>
        </p:txBody>
      </p:sp>
      <p:sp>
        <p:nvSpPr>
          <p:cNvPr id="24" name="Shape 22"/>
          <p:cNvSpPr/>
          <p:nvPr/>
        </p:nvSpPr>
        <p:spPr>
          <a:xfrm>
            <a:off x="7027713" y="4160520"/>
            <a:ext cx="1659087"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7119153" y="416052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docs.python.org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 Python the layout cannot lie about the logic</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if, else - and the block that belongs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password program, whole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condition ends in a colon; the block indents</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else answers the same condition's No</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Blocks nest: the inner if runs only inside the outer Yes</a:t>
            </a:r>
            <a:endParaRPr lang="en-US" sz="1050" dirty="0"/>
          </a:p>
        </p:txBody>
      </p:sp>
      <p:sp>
        <p:nvSpPr>
          <p:cNvPr id="15" name="Text 13"/>
          <p:cNvSpPr txBox="1"/>
          <p:nvPr/>
        </p:nvSpPr>
        <p:spPr>
          <a:xfrm>
            <a:off x="3931920" y="11430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nested decisions, and both prints that follow</a:t>
            </a:r>
            <a:endParaRPr lang="en-US" sz="1150" dirty="0"/>
          </a:p>
        </p:txBody>
      </p:sp>
      <p:sp>
        <p:nvSpPr>
          <p:cNvPr id="16" name="Shape 14"/>
          <p:cNvSpPr/>
          <p:nvPr/>
        </p:nvSpPr>
        <p:spPr>
          <a:xfrm>
            <a:off x="3931920" y="1417320"/>
            <a:ext cx="4754880" cy="2377440"/>
          </a:xfrm>
          <a:prstGeom prst="roundRect">
            <a:avLst>
              <a:gd name="adj" fmla="val 3846"/>
            </a:avLst>
          </a:prstGeom>
          <a:solidFill>
            <a:srgbClr val="23272E"/>
          </a:solidFill>
          <a:ln w="12700">
            <a:solidFill>
              <a:srgbClr val="23272E"/>
            </a:solidFill>
            <a:prstDash val="solid"/>
          </a:ln>
        </p:spPr>
      </p:sp>
      <p:sp>
        <p:nvSpPr>
          <p:cNvPr id="17" name="Text 15"/>
          <p:cNvSpPr txBox="1"/>
          <p:nvPr/>
        </p:nvSpPr>
        <p:spPr>
          <a:xfrm>
            <a:off x="4114800" y="1536192"/>
            <a:ext cx="4389120" cy="213969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username = </a:t>
            </a:r>
            <a:pPr indent="0" marL="0">
              <a:buNone/>
            </a:pPr>
            <a:r>
              <a:rPr lang="en-US" sz="900" dirty="0">
                <a:solidFill>
                  <a:srgbClr val="9ECBFF"/>
                </a:solidFill>
                <a:latin typeface="Courier New" pitchFamily="34" charset="0"/>
                <a:ea typeface="Courier New" pitchFamily="34" charset="-122"/>
                <a:cs typeface="Courier New" pitchFamily="34" charset="-120"/>
              </a:rPr>
              <a:t>'Mary'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password = </a:t>
            </a:r>
            <a:pPr indent="0" marL="0">
              <a:buNone/>
            </a:pPr>
            <a:r>
              <a:rPr lang="en-US" sz="900" dirty="0">
                <a:solidFill>
                  <a:srgbClr val="9ECBFF"/>
                </a:solidFill>
                <a:latin typeface="Courier New" pitchFamily="34" charset="0"/>
                <a:ea typeface="Courier New" pitchFamily="34" charset="-122"/>
                <a:cs typeface="Courier New" pitchFamily="34" charset="-120"/>
              </a:rPr>
              <a:t>'swordfish'</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username == </a:t>
            </a:r>
            <a:pPr indent="0" marL="0">
              <a:buNone/>
            </a:pPr>
            <a:r>
              <a:rPr lang="en-US" sz="900" dirty="0">
                <a:solidFill>
                  <a:srgbClr val="9ECBFF"/>
                </a:solidFill>
                <a:latin typeface="Courier New" pitchFamily="34" charset="0"/>
                <a:ea typeface="Courier New" pitchFamily="34" charset="-122"/>
                <a:cs typeface="Courier New" pitchFamily="34" charset="-120"/>
              </a:rPr>
              <a:t>'Mary'</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'Hello, Mary'</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password == </a:t>
            </a:r>
            <a:pPr indent="0" marL="0">
              <a:buNone/>
            </a:pPr>
            <a:r>
              <a:rPr lang="en-US" sz="900" dirty="0">
                <a:solidFill>
                  <a:srgbClr val="9ECBFF"/>
                </a:solidFill>
                <a:latin typeface="Courier New" pitchFamily="34" charset="0"/>
                <a:ea typeface="Courier New" pitchFamily="34" charset="-122"/>
                <a:cs typeface="Courier New" pitchFamily="34" charset="-120"/>
              </a:rPr>
              <a:t>'swordfish'</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'Access granted.'</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else</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'Wrong password.'</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Hello, Mary</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Access granted.</a:t>
            </a:r>
            <a:endParaRPr lang="en-US" sz="900" dirty="0"/>
          </a:p>
        </p:txBody>
      </p:sp>
      <p:sp>
        <p:nvSpPr>
          <p:cNvPr id="18" name="Text 16"/>
          <p:cNvSpPr txBox="1"/>
          <p:nvPr/>
        </p:nvSpPr>
        <p:spPr>
          <a:xfrm>
            <a:off x="4114800" y="3557016"/>
            <a:ext cx="438912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password_v1_0_0.py, lines 1 to 8 of 8, run under Python 3.13.16</a:t>
            </a:r>
            <a:endParaRPr lang="en-US" sz="800" dirty="0"/>
          </a:p>
        </p:txBody>
      </p:sp>
      <p:sp>
        <p:nvSpPr>
          <p:cNvPr id="19" name="Shape 17"/>
          <p:cNvSpPr/>
          <p:nvPr/>
        </p:nvSpPr>
        <p:spPr>
          <a:xfrm>
            <a:off x="457200" y="3429000"/>
            <a:ext cx="3246120" cy="402336"/>
          </a:xfrm>
          <a:prstGeom prst="roundRect">
            <a:avLst>
              <a:gd name="adj" fmla="val 50000"/>
            </a:avLst>
          </a:prstGeom>
          <a:solidFill>
            <a:srgbClr val="2F6D62"/>
          </a:solidFill>
          <a:ln w="12700">
            <a:solidFill>
              <a:srgbClr val="2F6D62"/>
            </a:solidFill>
            <a:prstDash val="solid"/>
          </a:ln>
        </p:spPr>
      </p:sp>
      <p:sp>
        <p:nvSpPr>
          <p:cNvPr id="20" name="Text 18"/>
          <p:cNvSpPr txBox="1"/>
          <p:nvPr/>
        </p:nvSpPr>
        <p:spPr>
          <a:xfrm>
            <a:off x="457200" y="342900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colon opens; indent owns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colon opens a block; the indent owns it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elif: the ladder with one exit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Order decides which rung fires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ladder takes exactly one rung</a:t>
            </a:r>
            <a:endParaRPr lang="en-US" sz="1150" dirty="0"/>
          </a:p>
        </p:txBody>
      </p:sp>
      <p:sp>
        <p:nvSpPr>
          <p:cNvPr id="7" name="Shape 5"/>
          <p:cNvSpPr/>
          <p:nvPr/>
        </p:nvSpPr>
        <p:spPr>
          <a:xfrm>
            <a:off x="457200" y="1417320"/>
            <a:ext cx="3931920" cy="2286000"/>
          </a:xfrm>
          <a:prstGeom prst="roundRect">
            <a:avLst>
              <a:gd name="adj" fmla="val 4000"/>
            </a:avLst>
          </a:prstGeom>
          <a:solidFill>
            <a:srgbClr val="23272E"/>
          </a:solidFill>
          <a:ln w="12700">
            <a:solidFill>
              <a:srgbClr val="23272E"/>
            </a:solidFill>
            <a:prstDash val="solid"/>
          </a:ln>
        </p:spPr>
      </p:sp>
      <p:sp>
        <p:nvSpPr>
          <p:cNvPr id="8" name="Text 6"/>
          <p:cNvSpPr txBox="1"/>
          <p:nvPr/>
        </p:nvSpPr>
        <p:spPr>
          <a:xfrm>
            <a:off x="640080" y="1536192"/>
            <a:ext cx="3566160" cy="2048256"/>
          </a:xfrm>
          <a:prstGeom prst="rect">
            <a:avLst/>
          </a:prstGeom>
          <a:noFill/>
          <a:ln/>
        </p:spPr>
        <p:txBody>
          <a:bodyPr wrap="square" lIns="0" tIns="0" rIns="0" bIns="0" rtlCol="0" anchor="t"/>
          <a:lstStyle/>
          <a:p>
            <a:pPr indent="0" marL="0">
              <a:buNone/>
            </a:pPr>
            <a:r>
              <a:rPr lang="en-US" sz="890" dirty="0">
                <a:solidFill>
                  <a:srgbClr val="E6EDF3"/>
                </a:solidFill>
                <a:latin typeface="Courier New" pitchFamily="34" charset="0"/>
                <a:ea typeface="Courier New" pitchFamily="34" charset="-122"/>
                <a:cs typeface="Courier New" pitchFamily="34" charset="-120"/>
              </a:rPr>
              <a:t>name = </a:t>
            </a:r>
            <a:pPr indent="0" marL="0">
              <a:buNone/>
            </a:pPr>
            <a:r>
              <a:rPr lang="en-US" sz="890" dirty="0">
                <a:solidFill>
                  <a:srgbClr val="9ECBFF"/>
                </a:solidFill>
                <a:latin typeface="Courier New" pitchFamily="34" charset="0"/>
                <a:ea typeface="Courier New" pitchFamily="34" charset="-122"/>
                <a:cs typeface="Courier New" pitchFamily="34" charset="-120"/>
              </a:rPr>
              <a:t>'Carol'</a:t>
            </a:r>
            <a:endParaRPr lang="en-US" sz="890" dirty="0"/>
          </a:p>
          <a:p>
            <a:pPr indent="0" marL="0">
              <a:buNone/>
            </a:pPr>
            <a:r>
              <a:rPr lang="en-US" sz="890" dirty="0">
                <a:solidFill>
                  <a:srgbClr val="E6EDF3"/>
                </a:solidFill>
                <a:latin typeface="Courier New" pitchFamily="34" charset="0"/>
                <a:ea typeface="Courier New" pitchFamily="34" charset="-122"/>
                <a:cs typeface="Courier New" pitchFamily="34" charset="-120"/>
              </a:rPr>
              <a:t>age = </a:t>
            </a:r>
            <a:pPr indent="0" marL="0">
              <a:buNone/>
            </a:pPr>
            <a:r>
              <a:rPr lang="en-US" sz="890" dirty="0">
                <a:solidFill>
                  <a:srgbClr val="FFD28A"/>
                </a:solidFill>
                <a:latin typeface="Courier New" pitchFamily="34" charset="0"/>
                <a:ea typeface="Courier New" pitchFamily="34" charset="-122"/>
                <a:cs typeface="Courier New" pitchFamily="34" charset="-120"/>
              </a:rPr>
              <a:t>3000</a:t>
            </a:r>
            <a:endParaRPr lang="en-US" sz="890" dirty="0"/>
          </a:p>
          <a:p>
            <a:pPr indent="0" marL="0">
              <a:buNone/>
            </a:pPr>
            <a:r>
              <a:rPr lang="en-US" sz="890" b="1" dirty="0">
                <a:solidFill>
                  <a:srgbClr val="F2A860"/>
                </a:solidFill>
                <a:latin typeface="Courier New" pitchFamily="34" charset="0"/>
                <a:ea typeface="Courier New" pitchFamily="34" charset="-122"/>
                <a:cs typeface="Courier New" pitchFamily="34" charset="-120"/>
              </a:rPr>
              <a:t>if</a:t>
            </a:r>
            <a:pPr indent="0" marL="0">
              <a:buNone/>
            </a:pPr>
            <a:r>
              <a:rPr lang="en-US" sz="890" dirty="0">
                <a:solidFill>
                  <a:srgbClr val="E6EDF3"/>
                </a:solidFill>
                <a:latin typeface="Courier New" pitchFamily="34" charset="0"/>
                <a:ea typeface="Courier New" pitchFamily="34" charset="-122"/>
                <a:cs typeface="Courier New" pitchFamily="34" charset="-120"/>
              </a:rPr>
              <a:t> name == </a:t>
            </a:r>
            <a:pPr indent="0" marL="0">
              <a:buNone/>
            </a:pPr>
            <a:r>
              <a:rPr lang="en-US" sz="890" dirty="0">
                <a:solidFill>
                  <a:srgbClr val="9ECBFF"/>
                </a:solidFill>
                <a:latin typeface="Courier New" pitchFamily="34" charset="0"/>
                <a:ea typeface="Courier New" pitchFamily="34" charset="-122"/>
                <a:cs typeface="Courier New" pitchFamily="34" charset="-120"/>
              </a:rPr>
              <a:t>'Alice'</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E6EDF3"/>
                </a:solidFill>
                <a:latin typeface="Courier New" pitchFamily="34" charset="0"/>
                <a:ea typeface="Courier New" pitchFamily="34" charset="-122"/>
                <a:cs typeface="Courier New" pitchFamily="34" charset="-120"/>
              </a:rPr>
              <a:t>    print(</a:t>
            </a:r>
            <a:pPr indent="0" marL="0">
              <a:buNone/>
            </a:pPr>
            <a:r>
              <a:rPr lang="en-US" sz="890" dirty="0">
                <a:solidFill>
                  <a:srgbClr val="9ECBFF"/>
                </a:solidFill>
                <a:latin typeface="Courier New" pitchFamily="34" charset="0"/>
                <a:ea typeface="Courier New" pitchFamily="34" charset="-122"/>
                <a:cs typeface="Courier New" pitchFamily="34" charset="-120"/>
              </a:rPr>
              <a:t>'Hi, Alice.'</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F2A860"/>
                </a:solidFill>
                <a:latin typeface="Courier New" pitchFamily="34" charset="0"/>
                <a:ea typeface="Courier New" pitchFamily="34" charset="-122"/>
                <a:cs typeface="Courier New" pitchFamily="34" charset="-120"/>
              </a:rPr>
              <a:t>elif</a:t>
            </a:r>
            <a:pPr indent="0" marL="0">
              <a:buNone/>
            </a:pPr>
            <a:r>
              <a:rPr lang="en-US" sz="890" dirty="0">
                <a:solidFill>
                  <a:srgbClr val="E6EDF3"/>
                </a:solidFill>
                <a:latin typeface="Courier New" pitchFamily="34" charset="0"/>
                <a:ea typeface="Courier New" pitchFamily="34" charset="-122"/>
                <a:cs typeface="Courier New" pitchFamily="34" charset="-120"/>
              </a:rPr>
              <a:t> age &lt; </a:t>
            </a:r>
            <a:pPr indent="0" marL="0">
              <a:buNone/>
            </a:pPr>
            <a:r>
              <a:rPr lang="en-US" sz="890" dirty="0">
                <a:solidFill>
                  <a:srgbClr val="FFD28A"/>
                </a:solidFill>
                <a:latin typeface="Courier New" pitchFamily="34" charset="0"/>
                <a:ea typeface="Courier New" pitchFamily="34" charset="-122"/>
                <a:cs typeface="Courier New" pitchFamily="34" charset="-120"/>
              </a:rPr>
              <a:t>12</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E6EDF3"/>
                </a:solidFill>
                <a:latin typeface="Courier New" pitchFamily="34" charset="0"/>
                <a:ea typeface="Courier New" pitchFamily="34" charset="-122"/>
                <a:cs typeface="Courier New" pitchFamily="34" charset="-120"/>
              </a:rPr>
              <a:t>    print(</a:t>
            </a:r>
            <a:pPr indent="0" marL="0">
              <a:buNone/>
            </a:pPr>
            <a:r>
              <a:rPr lang="en-US" sz="890" dirty="0">
                <a:solidFill>
                  <a:srgbClr val="9ECBFF"/>
                </a:solidFill>
                <a:latin typeface="Courier New" pitchFamily="34" charset="0"/>
                <a:ea typeface="Courier New" pitchFamily="34" charset="-122"/>
                <a:cs typeface="Courier New" pitchFamily="34" charset="-120"/>
              </a:rPr>
              <a:t>'You are not Alice, kiddo.'</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F2A860"/>
                </a:solidFill>
                <a:latin typeface="Courier New" pitchFamily="34" charset="0"/>
                <a:ea typeface="Courier New" pitchFamily="34" charset="-122"/>
                <a:cs typeface="Courier New" pitchFamily="34" charset="-120"/>
              </a:rPr>
              <a:t>else</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E6EDF3"/>
                </a:solidFill>
                <a:latin typeface="Courier New" pitchFamily="34" charset="0"/>
                <a:ea typeface="Courier New" pitchFamily="34" charset="-122"/>
                <a:cs typeface="Courier New" pitchFamily="34" charset="-120"/>
              </a:rPr>
              <a:t>    print(</a:t>
            </a:r>
            <a:pPr indent="0" marL="0">
              <a:buNone/>
            </a:pPr>
            <a:r>
              <a:rPr lang="en-US" sz="890" dirty="0">
                <a:solidFill>
                  <a:srgbClr val="9ECBFF"/>
                </a:solidFill>
                <a:latin typeface="Courier New" pitchFamily="34" charset="0"/>
                <a:ea typeface="Courier New" pitchFamily="34" charset="-122"/>
                <a:cs typeface="Courier New" pitchFamily="34" charset="-120"/>
              </a:rPr>
              <a:t>'You are neither Alice nor a little kid.'</a:t>
            </a:r>
            <a:pPr indent="0" marL="0">
              <a:buNone/>
            </a:pP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prints </a:t>
            </a:r>
            <a:pPr indent="0" marL="0">
              <a:buNone/>
            </a:pPr>
            <a:r>
              <a:rPr lang="en-US" sz="890" dirty="0">
                <a:solidFill>
                  <a:srgbClr val="7EE787"/>
                </a:solidFill>
                <a:latin typeface="Courier New" pitchFamily="34" charset="0"/>
                <a:ea typeface="Courier New" pitchFamily="34" charset="-122"/>
                <a:cs typeface="Courier New" pitchFamily="34" charset="-120"/>
              </a:rPr>
              <a:t>You are neither Alice nor a little kid.</a:t>
            </a:r>
            <a:endParaRPr lang="en-US" sz="890" dirty="0"/>
          </a:p>
        </p:txBody>
      </p:sp>
      <p:sp>
        <p:nvSpPr>
          <p:cNvPr id="9" name="Text 7"/>
          <p:cNvSpPr txBox="1"/>
          <p:nvPr/>
        </p:nvSpPr>
        <p:spPr>
          <a:xfrm>
            <a:off x="640080" y="3465576"/>
            <a:ext cx="356616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littlekid_v1_0_0.py, lines 1 to 8 of 8, run under Python 3.13.16</a:t>
            </a:r>
            <a:endParaRPr lang="en-US" sz="80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conditions may combine and, or, not</a:t>
            </a:r>
            <a:endParaRPr lang="en-US" sz="1150" dirty="0"/>
          </a:p>
        </p:txBody>
      </p:sp>
      <p:sp>
        <p:nvSpPr>
          <p:cNvPr id="11" name="Shape 9"/>
          <p:cNvSpPr/>
          <p:nvPr/>
        </p:nvSpPr>
        <p:spPr>
          <a:xfrm>
            <a:off x="4663440" y="1417320"/>
            <a:ext cx="4023360" cy="2651760"/>
          </a:xfrm>
          <a:prstGeom prst="roundRect">
            <a:avLst>
              <a:gd name="adj" fmla="val 3448"/>
            </a:avLst>
          </a:prstGeom>
          <a:solidFill>
            <a:srgbClr val="23272E"/>
          </a:solidFill>
          <a:ln w="12700">
            <a:solidFill>
              <a:srgbClr val="23272E"/>
            </a:solidFill>
            <a:prstDash val="solid"/>
          </a:ln>
        </p:spPr>
      </p:sp>
      <p:sp>
        <p:nvSpPr>
          <p:cNvPr id="12" name="Text 10"/>
          <p:cNvSpPr txBox="1"/>
          <p:nvPr/>
        </p:nvSpPr>
        <p:spPr>
          <a:xfrm>
            <a:off x="4846320" y="1536192"/>
            <a:ext cx="3657600" cy="241401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name = </a:t>
            </a:r>
            <a:pPr indent="0" marL="0">
              <a:buNone/>
            </a:pPr>
            <a:r>
              <a:rPr lang="en-US" sz="720" dirty="0">
                <a:solidFill>
                  <a:srgbClr val="9ECBFF"/>
                </a:solidFill>
                <a:latin typeface="Courier New" pitchFamily="34" charset="0"/>
                <a:ea typeface="Courier New" pitchFamily="34" charset="-122"/>
                <a:cs typeface="Courier New" pitchFamily="34" charset="-120"/>
              </a:rPr>
              <a:t>'Carol'</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age = </a:t>
            </a:r>
            <a:pPr indent="0" marL="0">
              <a:buNone/>
            </a:pPr>
            <a:r>
              <a:rPr lang="en-US" sz="720" dirty="0">
                <a:solidFill>
                  <a:srgbClr val="FFD28A"/>
                </a:solidFill>
                <a:latin typeface="Courier New" pitchFamily="34" charset="0"/>
                <a:ea typeface="Courier New" pitchFamily="34" charset="-122"/>
                <a:cs typeface="Courier New" pitchFamily="34" charset="-120"/>
              </a:rPr>
              <a:t>3000</a:t>
            </a: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if</a:t>
            </a:r>
            <a:pPr indent="0" marL="0">
              <a:buNone/>
            </a:pPr>
            <a:r>
              <a:rPr lang="en-US" sz="720" dirty="0">
                <a:solidFill>
                  <a:srgbClr val="E6EDF3"/>
                </a:solidFill>
                <a:latin typeface="Courier New" pitchFamily="34" charset="0"/>
                <a:ea typeface="Courier New" pitchFamily="34" charset="-122"/>
                <a:cs typeface="Courier New" pitchFamily="34" charset="-120"/>
              </a:rPr>
              <a:t> name == </a:t>
            </a:r>
            <a:pPr indent="0" marL="0">
              <a:buNone/>
            </a:pPr>
            <a:r>
              <a:rPr lang="en-US" sz="720" dirty="0">
                <a:solidFill>
                  <a:srgbClr val="9ECBFF"/>
                </a:solidFill>
                <a:latin typeface="Courier New" pitchFamily="34" charset="0"/>
                <a:ea typeface="Courier New" pitchFamily="34" charset="-122"/>
                <a:cs typeface="Courier New" pitchFamily="34" charset="-120"/>
              </a:rPr>
              <a:t>'Alice'</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print(</a:t>
            </a:r>
            <a:pPr indent="0" marL="0">
              <a:buNone/>
            </a:pPr>
            <a:r>
              <a:rPr lang="en-US" sz="720" dirty="0">
                <a:solidFill>
                  <a:srgbClr val="9ECBFF"/>
                </a:solidFill>
                <a:latin typeface="Courier New" pitchFamily="34" charset="0"/>
                <a:ea typeface="Courier New" pitchFamily="34" charset="-122"/>
                <a:cs typeface="Courier New" pitchFamily="34" charset="-120"/>
              </a:rPr>
              <a:t>'Hi, Alice.'</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elif</a:t>
            </a:r>
            <a:pPr indent="0" marL="0">
              <a:buNone/>
            </a:pPr>
            <a:r>
              <a:rPr lang="en-US" sz="720" dirty="0">
                <a:solidFill>
                  <a:srgbClr val="E6EDF3"/>
                </a:solidFill>
                <a:latin typeface="Courier New" pitchFamily="34" charset="0"/>
                <a:ea typeface="Courier New" pitchFamily="34" charset="-122"/>
                <a:cs typeface="Courier New" pitchFamily="34" charset="-120"/>
              </a:rPr>
              <a:t> age &lt; </a:t>
            </a:r>
            <a:pPr indent="0" marL="0">
              <a:buNone/>
            </a:pPr>
            <a:r>
              <a:rPr lang="en-US" sz="720" dirty="0">
                <a:solidFill>
                  <a:srgbClr val="FFD28A"/>
                </a:solidFill>
                <a:latin typeface="Courier New" pitchFamily="34" charset="0"/>
                <a:ea typeface="Courier New" pitchFamily="34" charset="-122"/>
                <a:cs typeface="Courier New" pitchFamily="34" charset="-120"/>
              </a:rPr>
              <a:t>12</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print(</a:t>
            </a:r>
            <a:pPr indent="0" marL="0">
              <a:buNone/>
            </a:pPr>
            <a:r>
              <a:rPr lang="en-US" sz="720" dirty="0">
                <a:solidFill>
                  <a:srgbClr val="9ECBFF"/>
                </a:solidFill>
                <a:latin typeface="Courier New" pitchFamily="34" charset="0"/>
                <a:ea typeface="Courier New" pitchFamily="34" charset="-122"/>
                <a:cs typeface="Courier New" pitchFamily="34" charset="-120"/>
              </a:rPr>
              <a:t>'You are not Alice, kiddo.'</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elif</a:t>
            </a:r>
            <a:pPr indent="0" marL="0">
              <a:buNone/>
            </a:pPr>
            <a:r>
              <a:rPr lang="en-US" sz="720" dirty="0">
                <a:solidFill>
                  <a:srgbClr val="E6EDF3"/>
                </a:solidFill>
                <a:latin typeface="Courier New" pitchFamily="34" charset="0"/>
                <a:ea typeface="Courier New" pitchFamily="34" charset="-122"/>
                <a:cs typeface="Courier New" pitchFamily="34" charset="-120"/>
              </a:rPr>
              <a:t> age &gt; </a:t>
            </a:r>
            <a:pPr indent="0" marL="0">
              <a:buNone/>
            </a:pPr>
            <a:r>
              <a:rPr lang="en-US" sz="720" dirty="0">
                <a:solidFill>
                  <a:srgbClr val="FFD28A"/>
                </a:solidFill>
                <a:latin typeface="Courier New" pitchFamily="34" charset="0"/>
                <a:ea typeface="Courier New" pitchFamily="34" charset="-122"/>
                <a:cs typeface="Courier New" pitchFamily="34" charset="-120"/>
              </a:rPr>
              <a:t>2000</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print(</a:t>
            </a:r>
            <a:pPr indent="0" marL="0">
              <a:buNone/>
            </a:pPr>
            <a:r>
              <a:rPr lang="en-US" sz="720" dirty="0">
                <a:solidFill>
                  <a:srgbClr val="9ECBFF"/>
                </a:solidFill>
                <a:latin typeface="Courier New" pitchFamily="34" charset="0"/>
                <a:ea typeface="Courier New" pitchFamily="34" charset="-122"/>
                <a:cs typeface="Courier New" pitchFamily="34" charset="-120"/>
              </a:rPr>
              <a:t>'Unlike you, Alice is not an undead, immortal vampire.'</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elif</a:t>
            </a:r>
            <a:pPr indent="0" marL="0">
              <a:buNone/>
            </a:pPr>
            <a:r>
              <a:rPr lang="en-US" sz="720" dirty="0">
                <a:solidFill>
                  <a:srgbClr val="E6EDF3"/>
                </a:solidFill>
                <a:latin typeface="Courier New" pitchFamily="34" charset="0"/>
                <a:ea typeface="Courier New" pitchFamily="34" charset="-122"/>
                <a:cs typeface="Courier New" pitchFamily="34" charset="-120"/>
              </a:rPr>
              <a:t> age &gt; </a:t>
            </a:r>
            <a:pPr indent="0" marL="0">
              <a:buNone/>
            </a:pPr>
            <a:r>
              <a:rPr lang="en-US" sz="720" dirty="0">
                <a:solidFill>
                  <a:srgbClr val="FFD28A"/>
                </a:solidFill>
                <a:latin typeface="Courier New" pitchFamily="34" charset="0"/>
                <a:ea typeface="Courier New" pitchFamily="34" charset="-122"/>
                <a:cs typeface="Courier New" pitchFamily="34" charset="-120"/>
              </a:rPr>
              <a:t>100</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print(</a:t>
            </a:r>
            <a:pPr indent="0" marL="0">
              <a:buNone/>
            </a:pPr>
            <a:r>
              <a:rPr lang="en-US" sz="720" dirty="0">
                <a:solidFill>
                  <a:srgbClr val="9ECBFF"/>
                </a:solidFill>
                <a:latin typeface="Courier New" pitchFamily="34" charset="0"/>
                <a:ea typeface="Courier New" pitchFamily="34" charset="-122"/>
                <a:cs typeface="Courier New" pitchFamily="34" charset="-120"/>
              </a:rPr>
              <a:t>'You are not Alice, grannie.'</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pPr indent="0" marL="0">
              <a:buNone/>
            </a:pPr>
            <a:r>
              <a:rPr lang="en-US" sz="720" dirty="0">
                <a:solidFill>
                  <a:srgbClr val="7EE787"/>
                </a:solidFill>
                <a:latin typeface="Courier New" pitchFamily="34" charset="0"/>
                <a:ea typeface="Courier New" pitchFamily="34" charset="-122"/>
                <a:cs typeface="Courier New" pitchFamily="34" charset="-120"/>
              </a:rPr>
              <a:t>Unlike you, Alice is not an undead, immortal vampire.</a:t>
            </a:r>
            <a:endParaRPr lang="en-US" sz="720" dirty="0"/>
          </a:p>
        </p:txBody>
      </p:sp>
      <p:sp>
        <p:nvSpPr>
          <p:cNvPr id="13" name="Text 11"/>
          <p:cNvSpPr txBox="1"/>
          <p:nvPr/>
        </p:nvSpPr>
        <p:spPr>
          <a:xfrm>
            <a:off x="4846320" y="3831336"/>
            <a:ext cx="365760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vampire_v1_0_0.py, lines 1 to 10 of 10, run under Python 3.13.16</a:t>
            </a:r>
            <a:endParaRPr lang="en-US" sz="800" dirty="0"/>
          </a:p>
        </p:txBody>
      </p:sp>
      <p:sp>
        <p:nvSpPr>
          <p:cNvPr id="14" name="Shape 12"/>
          <p:cNvSpPr/>
          <p:nvPr/>
        </p:nvSpPr>
        <p:spPr>
          <a:xfrm>
            <a:off x="457200" y="3977640"/>
            <a:ext cx="2276856"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977640"/>
            <a:ext cx="227685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first true wins</a:t>
            </a:r>
            <a:endParaRPr lang="en-US" sz="1200" dirty="0"/>
          </a:p>
        </p:txBody>
      </p:sp>
      <p:sp>
        <p:nvSpPr>
          <p:cNvPr id="16" name="Shape 14"/>
          <p:cNvSpPr/>
          <p:nvPr/>
        </p:nvSpPr>
        <p:spPr>
          <a:xfrm>
            <a:off x="457200" y="4562856"/>
            <a:ext cx="22768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562856"/>
            <a:ext cx="227685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else = none did</a:t>
            </a:r>
            <a:endParaRPr lang="en-US" sz="12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ladder, one rung taken - order decides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Patterns, style, errors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2021 match statement, the walrus, and honest failures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Guards and captures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walrus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Error reports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thirty-year-old wish, granted in 3.10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accepted 2021-02; shipped 2021-10 in Python 3.10</a:t>
            </a:r>
            <a:endParaRPr lang="en-US" sz="1300" dirty="0"/>
          </a:p>
        </p:txBody>
      </p:sp>
      <p:sp>
        <p:nvSpPr>
          <p:cNvPr id="6" name="Shape 4"/>
          <p:cNvSpPr/>
          <p:nvPr/>
        </p:nvSpPr>
        <p:spPr>
          <a:xfrm>
            <a:off x="457200" y="1424940"/>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98448"/>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is my switch?' - answered for decades with elif chains</a:t>
            </a:r>
            <a:endParaRPr lang="en-US" sz="1250" dirty="0"/>
          </a:p>
        </p:txBody>
      </p:sp>
      <p:sp>
        <p:nvSpPr>
          <p:cNvPr id="8" name="Shape 6"/>
          <p:cNvSpPr/>
          <p:nvPr/>
        </p:nvSpPr>
        <p:spPr>
          <a:xfrm>
            <a:off x="457200" y="1805940"/>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79448"/>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February 2021: the Steering Council accepts PEPs 634-636</a:t>
            </a:r>
            <a:endParaRPr lang="en-US" sz="1250" dirty="0"/>
          </a:p>
        </p:txBody>
      </p:sp>
      <p:sp>
        <p:nvSpPr>
          <p:cNvPr id="10" name="Shape 8"/>
          <p:cNvSpPr/>
          <p:nvPr/>
        </p:nvSpPr>
        <p:spPr>
          <a:xfrm>
            <a:off x="457200" y="218694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0448"/>
            <a:ext cx="7955280" cy="3810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October 2021: Python 3.10 ships match - patterns that destructure and bind</a:t>
            </a:r>
            <a:endParaRPr lang="en-US" sz="1250" dirty="0"/>
          </a:p>
        </p:txBody>
      </p:sp>
      <p:sp>
        <p:nvSpPr>
          <p:cNvPr id="12" name="Text 10"/>
          <p:cNvSpPr txBox="1"/>
          <p:nvPr/>
        </p:nvSpPr>
        <p:spPr>
          <a:xfrm>
            <a:off x="457200" y="22677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match: command words, one case wins</a:t>
            </a:r>
            <a:endParaRPr lang="en-US" sz="1150" dirty="0"/>
          </a:p>
        </p:txBody>
      </p:sp>
      <p:sp>
        <p:nvSpPr>
          <p:cNvPr id="13" name="Shape 11"/>
          <p:cNvSpPr/>
          <p:nvPr/>
        </p:nvSpPr>
        <p:spPr>
          <a:xfrm>
            <a:off x="457200" y="2542032"/>
            <a:ext cx="8229600" cy="1554480"/>
          </a:xfrm>
          <a:prstGeom prst="roundRect">
            <a:avLst>
              <a:gd name="adj" fmla="val 5882"/>
            </a:avLst>
          </a:prstGeom>
          <a:solidFill>
            <a:srgbClr val="23272E"/>
          </a:solidFill>
          <a:ln w="12700">
            <a:solidFill>
              <a:srgbClr val="23272E"/>
            </a:solidFill>
            <a:prstDash val="solid"/>
          </a:ln>
        </p:spPr>
      </p:sp>
      <p:sp>
        <p:nvSpPr>
          <p:cNvPr id="14" name="Text 12"/>
          <p:cNvSpPr txBox="1"/>
          <p:nvPr/>
        </p:nvSpPr>
        <p:spPr>
          <a:xfrm>
            <a:off x="640080" y="2660904"/>
            <a:ext cx="7863840" cy="131673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command = </a:t>
            </a:r>
            <a:pPr indent="0" marL="0">
              <a:buNone/>
            </a:pPr>
            <a:r>
              <a:rPr lang="en-US" sz="700" dirty="0">
                <a:solidFill>
                  <a:srgbClr val="9ECBFF"/>
                </a:solidFill>
                <a:latin typeface="Courier New" pitchFamily="34" charset="0"/>
                <a:ea typeface="Courier New" pitchFamily="34" charset="-122"/>
                <a:cs typeface="Courier New" pitchFamily="34" charset="-120"/>
              </a:rPr>
              <a:t>'quit'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match command: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case </a:t>
            </a:r>
            <a:pPr indent="0" marL="0">
              <a:buNone/>
            </a:pPr>
            <a:r>
              <a:rPr lang="en-US" sz="700" dirty="0">
                <a:solidFill>
                  <a:srgbClr val="9ECBFF"/>
                </a:solidFill>
                <a:latin typeface="Courier New" pitchFamily="34" charset="0"/>
                <a:ea typeface="Courier New" pitchFamily="34" charset="-122"/>
                <a:cs typeface="Courier New" pitchFamily="34" charset="-120"/>
              </a:rPr>
              <a:t>'go'</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pPr indent="0" marL="0">
              <a:buNone/>
            </a:pPr>
            <a:r>
              <a:rPr lang="en-US" sz="700" dirty="0">
                <a:solidFill>
                  <a:srgbClr val="9ECBFF"/>
                </a:solidFill>
                <a:latin typeface="Courier New" pitchFamily="34" charset="0"/>
                <a:ea typeface="Courier New" pitchFamily="34" charset="-122"/>
                <a:cs typeface="Courier New" pitchFamily="34" charset="-120"/>
              </a:rPr>
              <a:t>'going'</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case </a:t>
            </a:r>
            <a:pPr indent="0" marL="0">
              <a:buNone/>
            </a:pPr>
            <a:r>
              <a:rPr lang="en-US" sz="700" dirty="0">
                <a:solidFill>
                  <a:srgbClr val="9ECBFF"/>
                </a:solidFill>
                <a:latin typeface="Courier New" pitchFamily="34" charset="0"/>
                <a:ea typeface="Courier New" pitchFamily="34" charset="-122"/>
                <a:cs typeface="Courier New" pitchFamily="34" charset="-120"/>
              </a:rPr>
              <a:t>'quit'</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pPr indent="0" marL="0">
              <a:buNone/>
            </a:pPr>
            <a:r>
              <a:rPr lang="en-US" sz="700" dirty="0">
                <a:solidFill>
                  <a:srgbClr val="9ECBFF"/>
                </a:solidFill>
                <a:latin typeface="Courier New" pitchFamily="34" charset="0"/>
                <a:ea typeface="Courier New" pitchFamily="34" charset="-122"/>
                <a:cs typeface="Courier New" pitchFamily="34" charset="-120"/>
              </a:rPr>
              <a:t>'bye'</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case 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pPr indent="0" marL="0">
              <a:buNone/>
            </a:pPr>
            <a:r>
              <a:rPr lang="en-US" sz="700" dirty="0">
                <a:solidFill>
                  <a:srgbClr val="9ECBFF"/>
                </a:solidFill>
                <a:latin typeface="Courier New" pitchFamily="34" charset="0"/>
                <a:ea typeface="Courier New" pitchFamily="34" charset="-122"/>
                <a:cs typeface="Courier New" pitchFamily="34" charset="-120"/>
              </a:rPr>
              <a:t>'unknown'</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pPr indent="0" marL="0">
              <a:buNone/>
            </a:pPr>
            <a:r>
              <a:rPr lang="en-US" sz="700" dirty="0">
                <a:solidFill>
                  <a:srgbClr val="7EE787"/>
                </a:solidFill>
                <a:latin typeface="Courier New" pitchFamily="34" charset="0"/>
                <a:ea typeface="Courier New" pitchFamily="34" charset="-122"/>
                <a:cs typeface="Courier New" pitchFamily="34" charset="-120"/>
              </a:rPr>
              <a:t>bye</a:t>
            </a:r>
            <a:endParaRPr lang="en-US" sz="700" dirty="0"/>
          </a:p>
        </p:txBody>
      </p:sp>
      <p:sp>
        <p:nvSpPr>
          <p:cNvPr id="15" name="Text 13"/>
          <p:cNvSpPr txBox="1"/>
          <p:nvPr/>
        </p:nvSpPr>
        <p:spPr>
          <a:xfrm>
            <a:off x="640080" y="38587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match_command_v1_0_0.py, lines 1 to 8 of 8, run under Python 3.13.16</a:t>
            </a:r>
            <a:endParaRPr lang="en-US" sz="800" dirty="0"/>
          </a:p>
        </p:txBody>
      </p:sp>
      <p:sp>
        <p:nvSpPr>
          <p:cNvPr id="16" name="Shape 14"/>
          <p:cNvSpPr/>
          <p:nvPr/>
        </p:nvSpPr>
        <p:spPr>
          <a:xfrm>
            <a:off x="457200" y="4169664"/>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16966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PEPs 634-636 by Brandt Bucher, Guido v…</a:t>
            </a:r>
            <a:endParaRPr lang="en-US" sz="750" dirty="0"/>
          </a:p>
        </p:txBody>
      </p:sp>
      <p:sp>
        <p:nvSpPr>
          <p:cNvPr id="18" name="Shape 16"/>
          <p:cNvSpPr/>
          <p:nvPr/>
        </p:nvSpPr>
        <p:spPr>
          <a:xfrm>
            <a:off x="3016057" y="4169664"/>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169664"/>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peps.python.org; the Steering Council'…</a:t>
            </a:r>
            <a:endParaRPr lang="en-US" sz="750" dirty="0"/>
          </a:p>
        </p:txBody>
      </p:sp>
      <p:sp>
        <p:nvSpPr>
          <p:cNvPr id="20" name="Shape 18"/>
          <p:cNvSpPr/>
          <p:nvPr/>
        </p:nvSpPr>
        <p:spPr>
          <a:xfrm>
            <a:off x="5574914" y="4169664"/>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169664"/>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accepted 2021-02…</a:t>
            </a:r>
            <a:endParaRPr lang="en-US" sz="750" dirty="0"/>
          </a:p>
        </p:txBody>
      </p:sp>
      <p:sp>
        <p:nvSpPr>
          <p:cNvPr id="22" name="Shape 20"/>
          <p:cNvSpPr/>
          <p:nvPr/>
        </p:nvSpPr>
        <p:spPr>
          <a:xfrm>
            <a:off x="7027713" y="4169664"/>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169664"/>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is a 2021 feature - you saw it arrive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match: patterns, captures, guards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More than a switch - the pattern binds what it matches</a:t>
            </a:r>
            <a:endParaRPr lang="en-US" sz="1300" dirty="0"/>
          </a:p>
        </p:txBody>
      </p:sp>
      <p:sp>
        <p:nvSpPr>
          <p:cNvPr id="6" name="Text 4"/>
          <p:cNvSpPr txBox="1"/>
          <p:nvPr/>
        </p:nvSpPr>
        <p:spPr>
          <a:xfrm>
            <a:off x="457200" y="114300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guard refines the pattern; the capture is a real name</a:t>
            </a:r>
            <a:endParaRPr lang="en-US" sz="1150" dirty="0"/>
          </a:p>
        </p:txBody>
      </p:sp>
      <p:sp>
        <p:nvSpPr>
          <p:cNvPr id="7" name="Shape 5"/>
          <p:cNvSpPr/>
          <p:nvPr/>
        </p:nvSpPr>
        <p:spPr>
          <a:xfrm>
            <a:off x="457200" y="1417320"/>
            <a:ext cx="5120640" cy="2103120"/>
          </a:xfrm>
          <a:prstGeom prst="roundRect">
            <a:avLst>
              <a:gd name="adj" fmla="val 4348"/>
            </a:avLst>
          </a:prstGeom>
          <a:solidFill>
            <a:srgbClr val="23272E"/>
          </a:solidFill>
          <a:ln w="12700">
            <a:solidFill>
              <a:srgbClr val="23272E"/>
            </a:solidFill>
            <a:prstDash val="solid"/>
          </a:ln>
        </p:spPr>
      </p:sp>
      <p:sp>
        <p:nvSpPr>
          <p:cNvPr id="8" name="Text 6"/>
          <p:cNvSpPr txBox="1"/>
          <p:nvPr/>
        </p:nvSpPr>
        <p:spPr>
          <a:xfrm>
            <a:off x="640080" y="1536192"/>
            <a:ext cx="4754880" cy="186537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for</a:t>
            </a:r>
            <a:pPr indent="0" marL="0">
              <a:buNone/>
            </a:pPr>
            <a:r>
              <a:rPr lang="en-US" sz="900" dirty="0">
                <a:solidFill>
                  <a:srgbClr val="E6EDF3"/>
                </a:solidFill>
                <a:latin typeface="Courier New" pitchFamily="34" charset="0"/>
                <a:ea typeface="Courier New" pitchFamily="34" charset="-122"/>
                <a:cs typeface="Courier New" pitchFamily="34" charset="-120"/>
              </a:rPr>
              <a:t> point </a:t>
            </a:r>
            <a:pPr indent="0" marL="0">
              <a:buNone/>
            </a:pPr>
            <a:r>
              <a:rPr lang="en-US" sz="900" b="1" dirty="0">
                <a:solidFill>
                  <a:srgbClr val="F2A860"/>
                </a:solidFill>
                <a:latin typeface="Courier New" pitchFamily="34" charset="0"/>
                <a:ea typeface="Courier New" pitchFamily="34" charset="-122"/>
                <a:cs typeface="Courier New" pitchFamily="34" charset="-120"/>
              </a:rPr>
              <a:t>in</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4</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match point: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case (x, y) </a:t>
            </a:r>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x == 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'on the diagonal at'</a:t>
            </a:r>
            <a:pPr indent="0" marL="0">
              <a:buNone/>
            </a:pPr>
            <a:r>
              <a:rPr lang="en-US" sz="900" dirty="0">
                <a:solidFill>
                  <a:srgbClr val="E6EDF3"/>
                </a:solidFill>
                <a:latin typeface="Courier New" pitchFamily="34" charset="0"/>
                <a:ea typeface="Courier New" pitchFamily="34" charset="-122"/>
                <a:cs typeface="Courier New" pitchFamily="34" charset="-120"/>
              </a:rPr>
              <a:t>, x)</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case (x, 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'elsewhere'</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on the diagonal at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elsewhere</a:t>
            </a:r>
            <a:endParaRPr lang="en-US" sz="900" dirty="0"/>
          </a:p>
        </p:txBody>
      </p:sp>
      <p:sp>
        <p:nvSpPr>
          <p:cNvPr id="9" name="Text 7"/>
          <p:cNvSpPr txBox="1"/>
          <p:nvPr/>
        </p:nvSpPr>
        <p:spPr>
          <a:xfrm>
            <a:off x="640080" y="3282696"/>
            <a:ext cx="475488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match_guard_v1_0_0.py, lines 1 to 6 of 6, run under Python 3.13.16</a:t>
            </a:r>
            <a:endParaRPr lang="en-US" sz="800" dirty="0"/>
          </a:p>
        </p:txBody>
      </p:sp>
      <p:sp>
        <p:nvSpPr>
          <p:cNvPr id="10" name="Shape 8"/>
          <p:cNvSpPr/>
          <p:nvPr/>
        </p:nvSpPr>
        <p:spPr>
          <a:xfrm>
            <a:off x="5852160" y="1499616"/>
            <a:ext cx="402336" cy="402336"/>
          </a:xfrm>
          <a:prstGeom prst="ellipse">
            <a:avLst/>
          </a:prstGeom>
          <a:solidFill>
            <a:srgbClr val="D97A14"/>
          </a:solidFill>
          <a:ln w="12700">
            <a:solidFill>
              <a:srgbClr val="D97A14"/>
            </a:solidFill>
            <a:prstDash val="solid"/>
          </a:ln>
        </p:spPr>
      </p:sp>
      <p:sp>
        <p:nvSpPr>
          <p:cNvPr id="11" name="Text 9"/>
          <p:cNvSpPr txBox="1"/>
          <p:nvPr/>
        </p:nvSpPr>
        <p:spPr>
          <a:xfrm>
            <a:off x="585216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6419088" y="1463040"/>
            <a:ext cx="22677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case (x, y) destructures a pair</a:t>
            </a:r>
            <a:endParaRPr lang="en-US" sz="1050" dirty="0"/>
          </a:p>
        </p:txBody>
      </p:sp>
      <p:sp>
        <p:nvSpPr>
          <p:cNvPr id="13" name="Shape 11"/>
          <p:cNvSpPr/>
          <p:nvPr/>
        </p:nvSpPr>
        <p:spPr>
          <a:xfrm>
            <a:off x="5852160" y="207873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585216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6419088" y="2042160"/>
            <a:ext cx="22677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if x == y guards the case</a:t>
            </a:r>
            <a:endParaRPr lang="en-US" sz="1050" dirty="0"/>
          </a:p>
        </p:txBody>
      </p:sp>
      <p:sp>
        <p:nvSpPr>
          <p:cNvPr id="16" name="Shape 14"/>
          <p:cNvSpPr/>
          <p:nvPr/>
        </p:nvSpPr>
        <p:spPr>
          <a:xfrm>
            <a:off x="5852160" y="2657856"/>
            <a:ext cx="402336" cy="402336"/>
          </a:xfrm>
          <a:prstGeom prst="ellipse">
            <a:avLst/>
          </a:prstGeom>
          <a:solidFill>
            <a:srgbClr val="D97A14"/>
          </a:solidFill>
          <a:ln w="12700">
            <a:solidFill>
              <a:srgbClr val="D97A14"/>
            </a:solidFill>
            <a:prstDash val="solid"/>
          </a:ln>
        </p:spPr>
      </p:sp>
      <p:sp>
        <p:nvSpPr>
          <p:cNvPr id="17" name="Text 15"/>
          <p:cNvSpPr txBox="1"/>
          <p:nvPr/>
        </p:nvSpPr>
        <p:spPr>
          <a:xfrm>
            <a:off x="585216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6419088" y="2621280"/>
            <a:ext cx="22677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bound names outlive the match</a:t>
            </a:r>
            <a:endParaRPr lang="en-US" sz="1050" dirty="0"/>
          </a:p>
        </p:txBody>
      </p:sp>
      <p:sp>
        <p:nvSpPr>
          <p:cNvPr id="19" name="Shape 17"/>
          <p:cNvSpPr/>
          <p:nvPr/>
        </p:nvSpPr>
        <p:spPr>
          <a:xfrm>
            <a:off x="457200" y="3749040"/>
            <a:ext cx="2403043"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749040"/>
            <a:ext cx="240304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literal patterns</a:t>
            </a:r>
            <a:endParaRPr lang="en-US" sz="1200" dirty="0"/>
          </a:p>
        </p:txBody>
      </p:sp>
      <p:sp>
        <p:nvSpPr>
          <p:cNvPr id="21" name="Shape 19"/>
          <p:cNvSpPr/>
          <p:nvPr/>
        </p:nvSpPr>
        <p:spPr>
          <a:xfrm>
            <a:off x="3061411" y="3749040"/>
            <a:ext cx="240304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061411" y="3749040"/>
            <a:ext cx="240304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capture patterns</a:t>
            </a:r>
            <a:endParaRPr lang="en-US" sz="1200" dirty="0"/>
          </a:p>
        </p:txBody>
      </p:sp>
      <p:sp>
        <p:nvSpPr>
          <p:cNvPr id="23" name="Shape 21"/>
          <p:cNvSpPr/>
          <p:nvPr/>
        </p:nvSpPr>
        <p:spPr>
          <a:xfrm>
            <a:off x="5665622" y="3749040"/>
            <a:ext cx="2529230"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665622" y="374904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sequence patterns</a:t>
            </a:r>
            <a:endParaRPr lang="en-US" sz="1200" dirty="0"/>
          </a:p>
        </p:txBody>
      </p:sp>
      <p:sp>
        <p:nvSpPr>
          <p:cNvPr id="25" name="Shape 23"/>
          <p:cNvSpPr/>
          <p:nvPr/>
        </p:nvSpPr>
        <p:spPr>
          <a:xfrm>
            <a:off x="457200" y="4334256"/>
            <a:ext cx="11411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57200" y="4334256"/>
            <a:ext cx="114117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guards</a:t>
            </a:r>
            <a:endParaRPr lang="en-US" sz="12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pattern can destructure and bind, not just compare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walrus: test and keep in one move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PEP 572's := - assignment inside the expression</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Alone, x := 3 is a SyntaxError on purpose</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Inside a condition it assigns AND tests</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Style: use it where it removes a duplicate call</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operator, probed at its edges</a:t>
            </a:r>
            <a:endParaRPr lang="en-US" sz="1150" dirty="0"/>
          </a:p>
        </p:txBody>
      </p:sp>
      <p:sp>
        <p:nvSpPr>
          <p:cNvPr id="16" name="Shape 14"/>
          <p:cNvSpPr/>
          <p:nvPr/>
        </p:nvSpPr>
        <p:spPr>
          <a:xfrm>
            <a:off x="3931920" y="1463040"/>
            <a:ext cx="4754880" cy="1463040"/>
          </a:xfrm>
          <a:prstGeom prst="roundRect">
            <a:avLst>
              <a:gd name="adj" fmla="val 6250"/>
            </a:avLst>
          </a:prstGeom>
          <a:solidFill>
            <a:srgbClr val="23272E"/>
          </a:solidFill>
          <a:ln w="12700">
            <a:solidFill>
              <a:srgbClr val="23272E"/>
            </a:solidFill>
            <a:prstDash val="solid"/>
          </a:ln>
        </p:spPr>
      </p:sp>
      <p:sp>
        <p:nvSpPr>
          <p:cNvPr id="17" name="Text 15"/>
          <p:cNvSpPr txBox="1"/>
          <p:nvPr/>
        </p:nvSpPr>
        <p:spPr>
          <a:xfrm>
            <a:off x="4114800" y="1581912"/>
            <a:ext cx="4389120" cy="12252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(limit := 10) &gt; 5</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limit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x :=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SyntaxError: invalid syntax (&lt;string&gt;, line 1)</a:t>
            </a:r>
            <a:endParaRPr lang="en-US" sz="900" dirty="0"/>
          </a:p>
        </p:txBody>
      </p:sp>
      <p:sp>
        <p:nvSpPr>
          <p:cNvPr id="18" name="Text 16"/>
          <p:cNvSpPr txBox="1"/>
          <p:nvPr/>
        </p:nvSpPr>
        <p:spPr>
          <a:xfrm>
            <a:off x="3931920" y="294436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Text 17"/>
          <p:cNvSpPr txBox="1"/>
          <p:nvPr/>
        </p:nvSpPr>
        <p:spPr>
          <a:xfrm>
            <a:off x="457200" y="31089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honest use: compute once, test, reuse</a:t>
            </a:r>
            <a:endParaRPr lang="en-US" sz="1150" dirty="0"/>
          </a:p>
        </p:txBody>
      </p:sp>
      <p:sp>
        <p:nvSpPr>
          <p:cNvPr id="20" name="Shape 18"/>
          <p:cNvSpPr/>
          <p:nvPr/>
        </p:nvSpPr>
        <p:spPr>
          <a:xfrm>
            <a:off x="457200" y="3383280"/>
            <a:ext cx="8229600" cy="1051560"/>
          </a:xfrm>
          <a:prstGeom prst="roundRect">
            <a:avLst>
              <a:gd name="adj" fmla="val 8696"/>
            </a:avLst>
          </a:prstGeom>
          <a:solidFill>
            <a:srgbClr val="23272E"/>
          </a:solidFill>
          <a:ln w="12700">
            <a:solidFill>
              <a:srgbClr val="23272E"/>
            </a:solidFill>
            <a:prstDash val="solid"/>
          </a:ln>
        </p:spPr>
      </p:sp>
      <p:sp>
        <p:nvSpPr>
          <p:cNvPr id="21" name="Text 19"/>
          <p:cNvSpPr txBox="1"/>
          <p:nvPr/>
        </p:nvSpPr>
        <p:spPr>
          <a:xfrm>
            <a:off x="640080" y="3502152"/>
            <a:ext cx="7863840" cy="813816"/>
          </a:xfrm>
          <a:prstGeom prst="rect">
            <a:avLst/>
          </a:prstGeom>
          <a:noFill/>
          <a:ln/>
        </p:spPr>
        <p:txBody>
          <a:bodyPr wrap="square" lIns="0" tIns="0" rIns="0" bIns="0" rtlCol="0" anchor="t"/>
          <a:lstStyle/>
          <a:p>
            <a:pPr indent="0" marL="0">
              <a:buNone/>
            </a:pPr>
            <a:r>
              <a:rPr lang="en-US" sz="820" dirty="0">
                <a:solidFill>
                  <a:srgbClr val="E6EDF3"/>
                </a:solidFill>
                <a:latin typeface="Courier New" pitchFamily="34" charset="0"/>
                <a:ea typeface="Courier New" pitchFamily="34" charset="-122"/>
                <a:cs typeface="Courier New" pitchFamily="34" charset="-120"/>
              </a:rPr>
              <a:t>name = </a:t>
            </a:r>
            <a:pPr indent="0" marL="0">
              <a:buNone/>
            </a:pPr>
            <a:r>
              <a:rPr lang="en-US" sz="820" dirty="0">
                <a:solidFill>
                  <a:srgbClr val="9ECBFF"/>
                </a:solidFill>
                <a:latin typeface="Courier New" pitchFamily="34" charset="0"/>
                <a:ea typeface="Courier New" pitchFamily="34" charset="-122"/>
                <a:cs typeface="Courier New" pitchFamily="34" charset="-120"/>
              </a:rPr>
              <a:t>'Alice'</a:t>
            </a:r>
            <a:endParaRPr lang="en-US" sz="820" dirty="0"/>
          </a:p>
          <a:p>
            <a:pPr indent="0" marL="0">
              <a:buNone/>
            </a:pPr>
            <a:r>
              <a:rPr lang="en-US" sz="820" b="1" dirty="0">
                <a:solidFill>
                  <a:srgbClr val="F2A860"/>
                </a:solidFill>
                <a:latin typeface="Courier New" pitchFamily="34" charset="0"/>
                <a:ea typeface="Courier New" pitchFamily="34" charset="-122"/>
                <a:cs typeface="Courier New" pitchFamily="34" charset="-120"/>
              </a:rPr>
              <a:t>if</a:t>
            </a:r>
            <a:pPr indent="0" marL="0">
              <a:buNone/>
            </a:pPr>
            <a:r>
              <a:rPr lang="en-US" sz="820" dirty="0">
                <a:solidFill>
                  <a:srgbClr val="E6EDF3"/>
                </a:solidFill>
                <a:latin typeface="Courier New" pitchFamily="34" charset="0"/>
                <a:ea typeface="Courier New" pitchFamily="34" charset="-122"/>
                <a:cs typeface="Courier New" pitchFamily="34" charset="-120"/>
              </a:rPr>
              <a:t> (size := len(name)) &gt; </a:t>
            </a:r>
            <a:pPr indent="0" marL="0">
              <a:buNone/>
            </a:pPr>
            <a:r>
              <a:rPr lang="en-US" sz="820" dirty="0">
                <a:solidFill>
                  <a:srgbClr val="FFD28A"/>
                </a:solidFill>
                <a:latin typeface="Courier New" pitchFamily="34" charset="0"/>
                <a:ea typeface="Courier New" pitchFamily="34" charset="-122"/>
                <a:cs typeface="Courier New" pitchFamily="34" charset="-120"/>
              </a:rPr>
              <a:t>3</a:t>
            </a:r>
            <a:pPr indent="0" marL="0">
              <a:buNone/>
            </a:pP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E6EDF3"/>
                </a:solidFill>
                <a:latin typeface="Courier New" pitchFamily="34" charset="0"/>
                <a:ea typeface="Courier New" pitchFamily="34" charset="-122"/>
                <a:cs typeface="Courier New" pitchFamily="34" charset="-120"/>
              </a:rPr>
              <a:t>    print(size)</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prints </a:t>
            </a:r>
            <a:pPr indent="0" marL="0">
              <a:buNone/>
            </a:pPr>
            <a:r>
              <a:rPr lang="en-US" sz="820" dirty="0">
                <a:solidFill>
                  <a:srgbClr val="7EE787"/>
                </a:solidFill>
                <a:latin typeface="Courier New" pitchFamily="34" charset="0"/>
                <a:ea typeface="Courier New" pitchFamily="34" charset="-122"/>
                <a:cs typeface="Courier New" pitchFamily="34" charset="-120"/>
              </a:rPr>
              <a:t>5</a:t>
            </a:r>
            <a:endParaRPr lang="en-US" sz="820" dirty="0"/>
          </a:p>
        </p:txBody>
      </p:sp>
      <p:sp>
        <p:nvSpPr>
          <p:cNvPr id="22" name="Text 20"/>
          <p:cNvSpPr txBox="1"/>
          <p:nvPr/>
        </p:nvSpPr>
        <p:spPr>
          <a:xfrm>
            <a:off x="640080" y="419709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walrus_size_v1_0_0.py, lines 1 to 3 of 3, run under Python 3.13.16</a:t>
            </a:r>
            <a:endParaRPr lang="en-US" sz="8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 inside the expression - sparingly, by style</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errors you will actually meet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 them as answers, not accidents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NameError: the name was never stored</a:t>
            </a:r>
            <a:endParaRPr lang="en-US" sz="1150" dirty="0"/>
          </a:p>
        </p:txBody>
      </p:sp>
      <p:sp>
        <p:nvSpPr>
          <p:cNvPr id="7" name="Shape 5"/>
          <p:cNvSpPr/>
          <p:nvPr/>
        </p:nvSpPr>
        <p:spPr>
          <a:xfrm>
            <a:off x="457200" y="1417320"/>
            <a:ext cx="393192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536192"/>
            <a:ext cx="356616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true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NameError: name 'true' is not defined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4 + spam * 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NameError: name 'spam' is not defined</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discrepancy</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NameError: name 'discrepancy' is not defined</a:t>
            </a:r>
            <a:endParaRPr lang="en-US" sz="900" dirty="0"/>
          </a:p>
        </p:txBody>
      </p:sp>
      <p:sp>
        <p:nvSpPr>
          <p:cNvPr id="9" name="Text 7"/>
          <p:cNvSpPr txBox="1"/>
          <p:nvPr/>
        </p:nvSpPr>
        <p:spPr>
          <a:xfrm>
            <a:off x="457200" y="26243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TypeError: right operation, wrong types</a:t>
            </a:r>
            <a:endParaRPr lang="en-US" sz="1150" dirty="0"/>
          </a:p>
        </p:txBody>
      </p:sp>
      <p:sp>
        <p:nvSpPr>
          <p:cNvPr id="11" name="Shape 9"/>
          <p:cNvSpPr/>
          <p:nvPr/>
        </p:nvSpPr>
        <p:spPr>
          <a:xfrm>
            <a:off x="4663440" y="1417320"/>
            <a:ext cx="402336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4846320" y="1536192"/>
            <a:ext cx="365760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3 &lt; '4'</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TypeError: '&lt;' not supported between instances of 'int' and 'str'</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'Alice' + 42</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TypeError: can only concatenate str (not "int") to str</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42 == '42'</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False</a:t>
            </a:r>
            <a:endParaRPr lang="en-US" sz="730" dirty="0"/>
          </a:p>
        </p:txBody>
      </p:sp>
      <p:sp>
        <p:nvSpPr>
          <p:cNvPr id="13" name="Text 11"/>
          <p:cNvSpPr txBox="1"/>
          <p:nvPr/>
        </p:nvSpPr>
        <p:spPr>
          <a:xfrm>
            <a:off x="4663440" y="26243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260604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ZeroDivisionError - floats included</a:t>
            </a:r>
            <a:endParaRPr lang="en-US" sz="1150" dirty="0"/>
          </a:p>
        </p:txBody>
      </p:sp>
      <p:sp>
        <p:nvSpPr>
          <p:cNvPr id="15" name="Shape 13"/>
          <p:cNvSpPr/>
          <p:nvPr/>
        </p:nvSpPr>
        <p:spPr>
          <a:xfrm>
            <a:off x="457200" y="2880360"/>
            <a:ext cx="3931920" cy="1188720"/>
          </a:xfrm>
          <a:prstGeom prst="roundRect">
            <a:avLst>
              <a:gd name="adj" fmla="val 7692"/>
            </a:avLst>
          </a:prstGeom>
          <a:solidFill>
            <a:srgbClr val="23272E"/>
          </a:solidFill>
          <a:ln w="12700">
            <a:solidFill>
              <a:srgbClr val="23272E"/>
            </a:solidFill>
            <a:prstDash val="solid"/>
          </a:ln>
        </p:spPr>
      </p:sp>
      <p:sp>
        <p:nvSpPr>
          <p:cNvPr id="16" name="Text 14"/>
          <p:cNvSpPr txBox="1"/>
          <p:nvPr/>
        </p:nvSpPr>
        <p:spPr>
          <a:xfrm>
            <a:off x="640080" y="2999232"/>
            <a:ext cx="356616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1 /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ZeroDivisionError: division by zero</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1 %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ZeroDivisionError: integer modulo by zero</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1 / 0.0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ZeroDivisionError: float division by zero</a:t>
            </a:r>
            <a:endParaRPr lang="en-US" sz="900" dirty="0"/>
          </a:p>
        </p:txBody>
      </p:sp>
      <p:sp>
        <p:nvSpPr>
          <p:cNvPr id="17" name="Text 15"/>
          <p:cNvSpPr txBox="1"/>
          <p:nvPr/>
        </p:nvSpPr>
        <p:spPr>
          <a:xfrm>
            <a:off x="457200" y="40873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Text 16"/>
          <p:cNvSpPr txBox="1"/>
          <p:nvPr/>
        </p:nvSpPr>
        <p:spPr>
          <a:xfrm>
            <a:off x="4663440" y="260604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SyntaxError: refused before running at all</a:t>
            </a:r>
            <a:endParaRPr lang="en-US" sz="1150" dirty="0"/>
          </a:p>
        </p:txBody>
      </p:sp>
      <p:sp>
        <p:nvSpPr>
          <p:cNvPr id="19" name="Shape 17"/>
          <p:cNvSpPr/>
          <p:nvPr/>
        </p:nvSpPr>
        <p:spPr>
          <a:xfrm>
            <a:off x="4663440" y="2880360"/>
            <a:ext cx="4023360" cy="1188720"/>
          </a:xfrm>
          <a:prstGeom prst="roundRect">
            <a:avLst>
              <a:gd name="adj" fmla="val 7692"/>
            </a:avLst>
          </a:prstGeom>
          <a:solidFill>
            <a:srgbClr val="23272E"/>
          </a:solidFill>
          <a:ln w="12700">
            <a:solidFill>
              <a:srgbClr val="23272E"/>
            </a:solidFill>
            <a:prstDash val="solid"/>
          </a:ln>
        </p:spPr>
      </p:sp>
      <p:sp>
        <p:nvSpPr>
          <p:cNvPr id="20" name="Text 18"/>
          <p:cNvSpPr txBox="1"/>
          <p:nvPr/>
        </p:nvSpPr>
        <p:spPr>
          <a:xfrm>
            <a:off x="4846320" y="2999232"/>
            <a:ext cx="3657600" cy="95097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if = 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SyntaxError: invalid syntax (&lt;string&gt;, line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4 == not 5</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SyntaxError: invalid syntax (&lt;string&gt;, line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x := 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SyntaxError: invalid syntax (&lt;string&gt;, line 1)</a:t>
            </a:r>
            <a:endParaRPr lang="en-US" sz="850" dirty="0"/>
          </a:p>
        </p:txBody>
      </p:sp>
      <p:sp>
        <p:nvSpPr>
          <p:cNvPr id="21" name="Text 19"/>
          <p:cNvSpPr txBox="1"/>
          <p:nvPr/>
        </p:nvSpPr>
        <p:spPr>
          <a:xfrm>
            <a:off x="4663440" y="40873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last line first - Python names its reasons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bool has two citizens; comparisons mint them, and emptiness counts as False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and, or, not follow Boole's algebra - and evaluate only as far as they must</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indentation IS the block: two five-line programs proved the one-space difference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if, elif, else take exactly one path; match (3.10) destructures, binds and guards</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Errors are answers: NameError, TypeError, ZeroDivisionError, SyntaxError - read the last line first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checked sources - every entry a live link</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chapter 2 - free online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automatetheboringstuff.com/3e/chapter2.html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tutorial: more control flow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docs.python.org/3/tutorial/controlflow.html</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Reference</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Truth testing and booleans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Compound statements (if, match)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docs.python.org/3/reference/compound_stmts.html</a:t>
            </a:r>
            <a:endParaRPr lang="en-US" sz="1000" dirty="0"/>
          </a:p>
        </p:txBody>
      </p:sp>
      <p:sp>
        <p:nvSpPr>
          <p:cNvPr id="16" name="Text 14"/>
          <p:cNvSpPr txBox="1"/>
          <p:nvPr/>
        </p:nvSpPr>
        <p:spPr>
          <a:xfrm>
            <a:off x="457200" y="33832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Modern practice</a:t>
            </a:r>
            <a:endParaRPr lang="en-US" sz="1250" dirty="0"/>
          </a:p>
        </p:txBody>
      </p:sp>
      <p:sp>
        <p:nvSpPr>
          <p:cNvPr id="17" name="Shape 15"/>
          <p:cNvSpPr/>
          <p:nvPr/>
        </p:nvSpPr>
        <p:spPr>
          <a:xfrm>
            <a:off x="493776" y="3730752"/>
            <a:ext cx="82296" cy="82296"/>
          </a:xfrm>
          <a:prstGeom prst="ellipse">
            <a:avLst/>
          </a:prstGeom>
          <a:solidFill>
            <a:srgbClr val="D97A14"/>
          </a:solidFill>
          <a:ln w="12700">
            <a:solidFill>
              <a:srgbClr val="D97A14"/>
            </a:solidFill>
            <a:prstDash val="solid"/>
          </a:ln>
        </p:spPr>
      </p:sp>
      <p:sp>
        <p:nvSpPr>
          <p:cNvPr id="18" name="Text 16"/>
          <p:cNvSpPr txBox="1"/>
          <p:nvPr/>
        </p:nvSpPr>
        <p:spPr>
          <a:xfrm>
            <a:off x="658368" y="365760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636 - match, by tutorial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peps.python.org/pep-0636/</a:t>
            </a:r>
            <a:endParaRPr lang="en-US" sz="1000" dirty="0"/>
          </a:p>
        </p:txBody>
      </p:sp>
      <p:sp>
        <p:nvSpPr>
          <p:cNvPr id="19" name="Shape 17"/>
          <p:cNvSpPr/>
          <p:nvPr/>
        </p:nvSpPr>
        <p:spPr>
          <a:xfrm>
            <a:off x="493776" y="4059936"/>
            <a:ext cx="82296" cy="82296"/>
          </a:xfrm>
          <a:prstGeom prst="ellipse">
            <a:avLst/>
          </a:prstGeom>
          <a:solidFill>
            <a:srgbClr val="D97A14"/>
          </a:solidFill>
          <a:ln w="12700">
            <a:solidFill>
              <a:srgbClr val="D97A14"/>
            </a:solidFill>
            <a:prstDash val="solid"/>
          </a:ln>
        </p:spPr>
      </p:sp>
      <p:sp>
        <p:nvSpPr>
          <p:cNvPr id="20" name="Text 18"/>
          <p:cNvSpPr txBox="1"/>
          <p:nvPr/>
        </p:nvSpPr>
        <p:spPr>
          <a:xfrm>
            <a:off x="658368" y="398678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572 - the walrus operator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peps.python.org/pep-0572/</a:t>
            </a:r>
            <a:endParaRPr lang="en-US" sz="1000" dirty="0"/>
          </a:p>
        </p:txBody>
      </p:sp>
      <p:sp>
        <p:nvSpPr>
          <p:cNvPr id="21" name="Text 19"/>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Style</a:t>
            </a:r>
            <a:endParaRPr lang="en-US" sz="1250" dirty="0"/>
          </a:p>
        </p:txBody>
      </p:sp>
      <p:sp>
        <p:nvSpPr>
          <p:cNvPr id="22" name="Shape 20"/>
          <p:cNvSpPr/>
          <p:nvPr/>
        </p:nvSpPr>
        <p:spPr>
          <a:xfrm>
            <a:off x="4768596" y="1719072"/>
            <a:ext cx="82296" cy="82296"/>
          </a:xfrm>
          <a:prstGeom prst="ellipse">
            <a:avLst/>
          </a:prstGeom>
          <a:solidFill>
            <a:srgbClr val="D97A14"/>
          </a:solidFill>
          <a:ln w="12700">
            <a:solidFill>
              <a:srgbClr val="D97A14"/>
            </a:solidFill>
            <a:prstDash val="solid"/>
          </a:ln>
        </p:spPr>
      </p:sp>
      <p:sp>
        <p:nvSpPr>
          <p:cNvPr id="23" name="Text 21"/>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8 on comparisons and booleans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peps.python.org/pep-0008/</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links, all checked by the build - the match tutorial reads in one coffee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bool is, and what truthiness buys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and, or, not combine - and when they stay lazy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indentation IS the block, with two programs as proof</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When an elif ladder should become a match</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 Flow Control</dc:title>
  <dc:subject>PptxGenJS Presentation</dc:subject>
  <dc:creator>Yusuf Altunel</dc:creator>
  <cp:lastModifiedBy>Yusuf Altunel</cp:lastModifiedBy>
  <cp:revision>1</cp:revision>
  <dcterms:created xsi:type="dcterms:W3CDTF">2026-10-06T10:58:53Z</dcterms:created>
  <dcterms:modified xsi:type="dcterms:W3CDTF">2026-10-06T10:58:53Z</dcterms:modified>
</cp:coreProperties>
</file>