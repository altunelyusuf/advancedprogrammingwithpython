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2025). Every result on these slides was produced by running it under Python 3.14.4; every claim beyond the book is in 03-materials/ch02/rdodi.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names from Automate the Boring Stuff with Python, 3rd edition, chapter 2 (Sweigart, 2025); the second line of each item is what the course adds from the chapter 2 research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Operators from Automate the Boring Stuff with Python, 3rd edition, chapter 2 (Sweigart, 2025), section Comparison Operators; every result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2025). Results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2025), sections Boolean Operators and Mixing Boolean and Comparison Operators.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Truth Value Testing, Python documentation (Python Software Foundation, 2026). Results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Python Language Reference, Boolean operations (Python Software Foundation, 2026): x or y evaluates x; if x is true its value is returned, otherwise y is evaluated and returned.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Comparisons, The Python Language Reference (Python Software Foundation,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2025), section Components of Flow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2025), section Flow Control Statements. The program and its three runs were executed under Python 3.14.4 with the inputs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Conditional expressions, The Python Language Reference (Python Software Foundation,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PEP 634, Structural Pattern Matching (Bucher and van Rossum, 2020), Python 3.10. Unlike a C or Java switch, match compares a value’s shape: the case ['go', direction] captures the second word.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PEP 8 (van Rossum, Warsaw and Coghlan, 2001); PEP 765 (Katriel and Coghlan, 2024), Python 3.14.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False; True, since only the empty string is false; 'default'; at most one; when one value is compared against many shapes or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verified source list in 03-materials/ch02/rdodi/sen0414_ch02_research_v1_0_0.ttl.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3 of the 3rd edition is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2: if-else and Flow Control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runs — in the book’s terms and in today’s Python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SEN0414 Advanced Programming · Fall 2026 · Yusuf Altunel, PhD · İstanbul Kültür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chapter at a glance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book’s sections, and where this course takes them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values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any value can be tested for truth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9903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chained comparisons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operators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short-circuit returns an operand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45059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flow control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blocks are indentation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50215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 statements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conditional expression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50215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programs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match as the modern alternative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operators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asks a question and answers True or False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Evaluates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 == 42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 != 42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&lt; 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&gt; 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or 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&lt;= 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 or 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&gt;= 6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== is not =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asks; assignment stores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== '42'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 == 'Hello'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254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questions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56232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compares two values and answers True or False. = stores a value in a variable. An integer never equals a string, even one with the same digits.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operators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 and not combine truth values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4747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and 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or 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True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3749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 &lt; 5) and (5 &lt; 6)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+ 2 == 4 and not 2 + 2 == 5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254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546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evaluate first, then not, then and, then or.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Truthiness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can be tested for truth, not only True and False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bool('')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bool('0')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bool([])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bool(0.0)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484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values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56232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None, False, zero of any numeric type, and empty sequences are false. Everything else is true — so the string '0' is true.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Short-circuit evaluation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and or return one of their operands, not a Boolean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840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or 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 or 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'set' or 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'set'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826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1325880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fallback idiom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856232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or default gives x when x is true, and default otherwise. The second operand is evaluated only when it is needed.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Chained comparisons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&lt; y &lt;= z means x &lt; y and y &lt;= z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&lt; 2 &lt; 3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&gt; 2 &gt; 5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254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 like mathematics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56232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middle value is evaluated once and compared on both sides. 3 &gt; 2 &gt; 5 is False because 2 &gt; 5 is false.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Blocks and indentation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flow control: a condition and a block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expression evaluated for its truth value, deciding which block runs next.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at the same indentation. Python uses indentation, not braces, so indentation is part of what the program means.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if, elif, else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one branch of the chain runs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2194560"/>
          </a:xfrm>
          <a:prstGeom prst="roundRect">
            <a:avLst>
              <a:gd name="adj" fmla="val 4167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8404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int(input('Age: '))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&lt; 12: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print('child ticket')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age &lt; 65: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print('adult ticket')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print('senior ticket')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325880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4173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ticket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adult ticket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senior ticket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5570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runs under Python 3.14.4 — typed input in blue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value in one 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conditional expression x if C else 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'even' if 10 % 2 == 0 else 'odd'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'even'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682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278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decision chooses a value rather than runs a block. For anything longer, a full if statement stays clearer.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match statement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3.10’s alternative to long elif chains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480560" cy="2377440"/>
          </a:xfrm>
          <a:prstGeom prst="roundRect">
            <a:avLst>
              <a:gd name="adj" fmla="val 3846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1148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= input('Command: 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command.split():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['go', direction]: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print(f'going {direction}')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['quit']: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print('bye')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_: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print('unknown command')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32588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4173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north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going north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command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3739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runs under Python 3.14.4 — typed input in blue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and current Python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conditions others can read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PEP 8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Boolean directly: write if greeting: rather than if greeting == True:.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in 3.14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765 disallows return, break and continue that exit a finally block — one more way the language keeps control flow predictable.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first, then run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280160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42 == '42' evaluate to?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883664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bool('0') evaluate to, and why?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87168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'' or 'default' return?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09067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branches of an if-elif-else chain can run?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69417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match clearer than an elif chain?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beyond the book is recorded in the chapter’s research record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Sweigart, A. (2025). Automate the Boring Stuff with Python, 3rd ed., ch. 2. No Starch Press. automatetheboringstuff.com/3e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 (2026). Python 3.14 documentation: Control flow tutorial; Language Reference, Expressions; Built-in Types, Truth Value Testing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Bucher, B., van Rossum, G. (2020). PEP 634 – Structural Pattern Matching: Specification. peps.python.org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Katriel, I., Coghlan, A. (2024). PEP 765 – Disallow return/break/continue that exit a finally block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Rossum, G., Warsaw, B., Coghlan, A. (2001). PEP 8 – Style Guide for Python Code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adapt Automate the Boring Stuff with Python (CC BY-NC-SA). See NOTICE.md.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Chapter 3 — Loops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then: work through the chapter 2 interactive page and try its subject agents.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D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SEN0414 Chapter 2 - if-else and Flow Control</dc:title>
  <dc:subject>PptxGenJS Presentation</dc:subject>
  <dc:creator>Yusuf Altunel</dc:creator>
  <cp:lastModifiedBy>Yusuf Altunel</cp:lastModifiedBy>
  <cp:revision>1</cp:revision>
  <dcterms:created xsi:type="dcterms:W3CDTF">2026-09-25T00:21:11Z</dcterms:created>
  <dcterms:modified xsi:type="dcterms:W3CDTF">2026-09-25T00:21:11Z</dcterms:modified>
</cp:coreProperties>
</file>