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as a number</c:v>
                </c:pt>
              </c:strCache>
            </c:strRef>
          </c:tx>
          <c:spPr>
            <a:solidFill>
              <a:srgbClr val="0E7C86"/>
            </a:solidFill>
          </c:spPr>
          <c:cat>
            <c:strRef>
              <c:f>Sheet1!$A$2:$A$7</c:f>
              <c:strCache>
                <c:ptCount val="6"/>
                <c:pt idx="0">
                  <c:v>True</c:v>
                </c:pt>
                <c:pt idx="1">
                  <c:v>False</c:v>
                </c:pt>
                <c:pt idx="2">
                  <c:v>True + T</c:v>
                </c:pt>
                <c:pt idx="3">
                  <c:v>int(Fals</c:v>
                </c:pt>
                <c:pt idx="4">
                  <c:v>bool(0)</c:v>
                </c:pt>
                <c:pt idx="5">
                  <c:v>bool(-3.</c:v>
                </c:pt>
              </c:strCache>
            </c:strRef>
          </c:cat>
          <c:val>
            <c:numRef>
              <c:f>Sheet1!$B$2:$B$7</c:f>
              <c:numCache>
                <c:formatCode>General</c:formatCode>
                <c:ptCount val="6"/>
                <c:pt idx="0">
                  <c:v>1</c:v>
                </c:pt>
                <c:pt idx="1">
                  <c:v>0</c:v>
                </c:pt>
                <c:pt idx="2">
                  <c:v>2</c:v>
                </c:pt>
                <c:pt idx="3">
                  <c:v>0</c:v>
                </c:pt>
                <c:pt idx="4">
                  <c:v>0</c:v>
                </c:pt>
                <c:pt idx="5">
                  <c:v>1</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3.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result</c:v>
                </c:pt>
              </c:strCache>
            </c:strRef>
          </c:tx>
          <c:spPr>
            <a:solidFill>
              <a:srgbClr val="0E7C86"/>
            </a:solidFill>
          </c:spPr>
          <c:cat>
            <c:strRef>
              <c:f>Sheet1!$A$2:$A$7</c:f>
              <c:strCache>
                <c:ptCount val="6"/>
                <c:pt idx="0">
                  <c:v>==</c:v>
                </c:pt>
                <c:pt idx="1">
                  <c:v>!=</c:v>
                </c:pt>
                <c:pt idx="2">
                  <c:v>&lt;</c:v>
                </c:pt>
                <c:pt idx="3">
                  <c:v>&lt;=</c:v>
                </c:pt>
                <c:pt idx="4">
                  <c:v>&gt;</c:v>
                </c:pt>
                <c:pt idx="5">
                  <c:v>&gt;=</c:v>
                </c:pt>
              </c:strCache>
            </c:strRef>
          </c:cat>
          <c:val>
            <c:numRef>
              <c:f>Sheet1!$B$2:$B$7</c:f>
              <c:numCache>
                <c:formatCode>General</c:formatCode>
                <c:ptCount val="6"/>
                <c:pt idx="0">
                  <c:v>0</c:v>
                </c:pt>
                <c:pt idx="1">
                  <c:v>1</c:v>
                </c:pt>
                <c:pt idx="2">
                  <c:v>1</c:v>
                </c:pt>
                <c:pt idx="3">
                  <c:v>1</c:v>
                </c:pt>
                <c:pt idx="4">
                  <c:v>0</c:v>
                </c:pt>
                <c:pt idx="5">
                  <c:v>0</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2.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True results</c:v>
                </c:pt>
              </c:strCache>
            </c:strRef>
          </c:tx>
          <c:spPr>
            <a:solidFill>
              <a:srgbClr val="0E7C86"/>
            </a:solidFill>
          </c:spPr>
          <c:cat>
            <c:strRef>
              <c:f>Sheet1!$A$2:$A$3</c:f>
              <c:strCache>
                <c:ptCount val="2"/>
                <c:pt idx="0">
                  <c:v>a and b</c:v>
                </c:pt>
                <c:pt idx="1">
                  <c:v>a or b</c:v>
                </c:pt>
              </c:strCache>
            </c:strRef>
          </c:cat>
          <c:val>
            <c:numRef>
              <c:f>Sheet1!$B$2:$B$3</c:f>
              <c:numCache>
                <c:formatCode>General</c:formatCode>
                <c:ptCount val="2"/>
                <c:pt idx="0">
                  <c:v>1</c:v>
                </c:pt>
                <c:pt idx="1">
                  <c:v>3</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4.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operands</c:v>
                </c:pt>
              </c:strCache>
            </c:strRef>
          </c:tx>
          <c:spPr>
            <a:solidFill>
              <a:srgbClr val="8FA3B8"/>
            </a:solidFill>
          </c:spPr>
          <c:cat>
            <c:strRef>
              <c:f>Sheet1!$A$2:$A$7</c:f>
              <c:strCache>
                <c:ptCount val="6"/>
                <c:pt idx="0">
                  <c:v>1</c:v>
                </c:pt>
                <c:pt idx="1">
                  <c:v>2</c:v>
                </c:pt>
                <c:pt idx="2">
                  <c:v>3</c:v>
                </c:pt>
                <c:pt idx="3">
                  <c:v>4</c:v>
                </c:pt>
                <c:pt idx="4">
                  <c:v>5</c:v>
                </c:pt>
                <c:pt idx="5">
                  <c:v>6</c:v>
                </c:pt>
              </c:strCache>
            </c:strRef>
          </c:cat>
          <c:val>
            <c:numRef>
              <c:f>Sheet1!$B$2:$B$7</c:f>
              <c:numCache>
                <c:formatCode>General</c:formatCode>
                <c:ptCount val="6"/>
                <c:pt idx="0">
                  <c:v>2</c:v>
                </c:pt>
                <c:pt idx="1">
                  <c:v>2</c:v>
                </c:pt>
                <c:pt idx="2">
                  <c:v>2</c:v>
                </c:pt>
                <c:pt idx="3">
                  <c:v>2</c:v>
                </c:pt>
                <c:pt idx="4">
                  <c:v>3</c:v>
                </c:pt>
                <c:pt idx="5">
                  <c:v>3</c:v>
                </c:pt>
              </c:numCache>
            </c:numRef>
          </c:val>
        </c:ser>
        <c:ser>
          <c:idx val="1"/>
          <c:order val="1"/>
          <c:tx>
            <c:strRef>
              <c:f>Sheet1!$C$1</c:f>
              <c:strCache>
                <c:ptCount val="1"/>
                <c:pt idx="0">
                  <c:v>looked at</c:v>
                </c:pt>
              </c:strCache>
            </c:strRef>
          </c:tx>
          <c:spPr>
            <a:solidFill>
              <a:srgbClr val="0E7C86"/>
            </a:solidFill>
          </c:spPr>
          <c:cat>
            <c:strRef>
              <c:f>Sheet1!$A$2:$A$7</c:f>
              <c:strCache>
                <c:ptCount val="6"/>
                <c:pt idx="0">
                  <c:v>1</c:v>
                </c:pt>
                <c:pt idx="1">
                  <c:v>2</c:v>
                </c:pt>
                <c:pt idx="2">
                  <c:v>3</c:v>
                </c:pt>
                <c:pt idx="3">
                  <c:v>4</c:v>
                </c:pt>
                <c:pt idx="4">
                  <c:v>5</c:v>
                </c:pt>
                <c:pt idx="5">
                  <c:v>6</c:v>
                </c:pt>
              </c:strCache>
            </c:strRef>
          </c:cat>
          <c:val>
            <c:numRef>
              <c:f>Sheet1!$C$2:$C$7</c:f>
              <c:numCache>
                <c:formatCode>General</c:formatCode>
                <c:ptCount val="6"/>
                <c:pt idx="0">
                  <c:v>1</c:v>
                </c:pt>
                <c:pt idx="1">
                  <c:v>1</c:v>
                </c:pt>
                <c:pt idx="2">
                  <c:v>2</c:v>
                </c:pt>
                <c:pt idx="3">
                  <c:v>2</c:v>
                </c:pt>
                <c:pt idx="4">
                  <c:v>3</c:v>
                </c:pt>
                <c:pt idx="5">
                  <c:v>3</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4.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legend>
      <c:legendPos val="t"/>
      <c:overlay val="0"/>
      <c:txPr>
        <a:bodyPr/>
        <a:lstStyle/>
        <a:p>
          <a:pPr>
            <a:defRPr sz="900"/>
          </a:pPr>
        </a:p>
      </c:txPr>
    </c:legend>
    <c:dispBlanksAs val="gap"/>
  </c:chart>
  <c:txPr>
    <a:bodyPr/>
    <a:lstStyle/>
    <a:p>
      <a:pPr>
        <a:defRPr sz="900">
          <a:solidFill>
            <a:srgbClr val="1F2933"/>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values</c:v>
                </c:pt>
              </c:strCache>
            </c:strRef>
          </c:tx>
          <c:spPr>
            <a:solidFill>
              <a:srgbClr val="0E7C86"/>
            </a:solidFill>
          </c:spPr>
          <c:cat>
            <c:strRef>
              <c:f>Sheet1!$A$2:$A$3</c:f>
              <c:strCache>
                <c:ptCount val="2"/>
                <c:pt idx="0">
                  <c:v>true</c:v>
                </c:pt>
                <c:pt idx="1">
                  <c:v>false</c:v>
                </c:pt>
              </c:strCache>
            </c:strRef>
          </c:cat>
          <c:val>
            <c:numRef>
              <c:f>Sheet1!$B$2:$B$3</c:f>
              <c:numCache>
                <c:formatCode>General</c:formatCode>
                <c:ptCount val="2"/>
                <c:pt idx="0">
                  <c:v>3</c:v>
                </c:pt>
                <c:pt idx="1">
                  <c:v>5</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6.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2.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lines</c:v>
                </c:pt>
              </c:strCache>
            </c:strRef>
          </c:tx>
          <c:spPr>
            <a:solidFill>
              <a:srgbClr val="0E7C86"/>
            </a:solidFill>
          </c:spPr>
          <c:cat>
            <c:strRef>
              <c:f>Sheet1!$A$2:$A$3</c:f>
              <c:strCache>
                <c:ptCount val="2"/>
                <c:pt idx="0">
                  <c:v>run</c:v>
                </c:pt>
                <c:pt idx="1">
                  <c:v>skipped</c:v>
                </c:pt>
              </c:strCache>
            </c:strRef>
          </c:cat>
          <c:val>
            <c:numRef>
              <c:f>Sheet1!$B$2:$B$3</c:f>
              <c:numCache>
                <c:formatCode>General</c:formatCode>
                <c:ptCount val="2"/>
                <c:pt idx="0">
                  <c:v>3</c:v>
                </c:pt>
                <c:pt idx="1">
                  <c:v>2</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6.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2.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rungs</c:v>
                </c:pt>
              </c:strCache>
            </c:strRef>
          </c:tx>
          <c:spPr>
            <a:solidFill>
              <a:srgbClr val="0E7C86"/>
            </a:solidFill>
          </c:spPr>
          <c:cat>
            <c:strRef>
              <c:f>Sheet1!$A$2:$A$3</c:f>
              <c:strCache>
                <c:ptCount val="2"/>
                <c:pt idx="0">
                  <c:v>tested</c:v>
                </c:pt>
                <c:pt idx="1">
                  <c:v>skipped</c:v>
                </c:pt>
              </c:strCache>
            </c:strRef>
          </c:cat>
          <c:val>
            <c:numRef>
              <c:f>Sheet1!$B$2:$B$3</c:f>
              <c:numCache>
                <c:formatCode>General</c:formatCode>
                <c:ptCount val="2"/>
                <c:pt idx="0">
                  <c:v>3</c:v>
                </c:pt>
                <c:pt idx="1">
                  <c:v>1</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5.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rungs tested</c:v>
                </c:pt>
              </c:strCache>
            </c:strRef>
          </c:tx>
          <c:spPr>
            <a:solidFill>
              <a:srgbClr val="0E7C86"/>
            </a:solidFill>
          </c:spPr>
          <c:cat>
            <c:strRef>
              <c:f>Sheet1!$A$2:$A$5</c:f>
              <c:strCache>
                <c:ptCount val="4"/>
                <c:pt idx="0">
                  <c:v>age 5</c:v>
                </c:pt>
                <c:pt idx="1">
                  <c:v>age 50</c:v>
                </c:pt>
                <c:pt idx="2">
                  <c:v>age 150</c:v>
                </c:pt>
                <c:pt idx="3">
                  <c:v>age 3000</c:v>
                </c:pt>
              </c:strCache>
            </c:strRef>
          </c:cat>
          <c:val>
            <c:numRef>
              <c:f>Sheet1!$B$2:$B$5</c:f>
              <c:numCache>
                <c:formatCode>General</c:formatCode>
                <c:ptCount val="4"/>
                <c:pt idx="0">
                  <c:v>1</c:v>
                </c:pt>
                <c:pt idx="1">
                  <c:v>3</c:v>
                </c:pt>
                <c:pt idx="2">
                  <c:v>2</c:v>
                </c:pt>
                <c:pt idx="3">
                  <c:v>2</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4.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advertised</c:v>
                </c:pt>
              </c:strCache>
            </c:strRef>
          </c:tx>
          <c:spPr>
            <a:solidFill>
              <a:srgbClr val="8FA3B8"/>
            </a:solidFill>
          </c:spPr>
          <c:cat>
            <c:strRef>
              <c:f>Sheet1!$A$2:$A$4</c:f>
              <c:strCache>
                <c:ptCount val="3"/>
                <c:pt idx="0">
                  <c:v>TB</c:v>
                </c:pt>
                <c:pt idx="1">
                  <c:v>GB</c:v>
                </c:pt>
                <c:pt idx="2">
                  <c:v>KB</c:v>
                </c:pt>
              </c:strCache>
            </c:strRef>
          </c:cat>
          <c:val>
            <c:numRef>
              <c:f>Sheet1!$B$2:$B$4</c:f>
              <c:numCache>
                <c:formatCode>General</c:formatCode>
                <c:ptCount val="3"/>
                <c:pt idx="0">
                  <c:v>10</c:v>
                </c:pt>
                <c:pt idx="1">
                  <c:v>10</c:v>
                </c:pt>
                <c:pt idx="2">
                  <c:v>10</c:v>
                </c:pt>
              </c:numCache>
            </c:numRef>
          </c:val>
        </c:ser>
        <c:ser>
          <c:idx val="1"/>
          <c:order val="1"/>
          <c:tx>
            <c:strRef>
              <c:f>Sheet1!$C$1</c:f>
              <c:strCache>
                <c:ptCount val="1"/>
                <c:pt idx="0">
                  <c:v>real</c:v>
                </c:pt>
              </c:strCache>
            </c:strRef>
          </c:tx>
          <c:spPr>
            <a:solidFill>
              <a:srgbClr val="0E7C86"/>
            </a:solidFill>
          </c:spPr>
          <c:cat>
            <c:strRef>
              <c:f>Sheet1!$A$2:$A$4</c:f>
              <c:strCache>
                <c:ptCount val="3"/>
                <c:pt idx="0">
                  <c:v>TB</c:v>
                </c:pt>
                <c:pt idx="1">
                  <c:v>GB</c:v>
                </c:pt>
                <c:pt idx="2">
                  <c:v>KB</c:v>
                </c:pt>
              </c:strCache>
            </c:strRef>
          </c:cat>
          <c:val>
            <c:numRef>
              <c:f>Sheet1!$C$2:$C$4</c:f>
              <c:numCache>
                <c:formatCode>General</c:formatCode>
                <c:ptCount val="3"/>
                <c:pt idx="0">
                  <c:v>9.09</c:v>
                </c:pt>
                <c:pt idx="1">
                  <c:v>9.31</c:v>
                </c:pt>
                <c:pt idx="2">
                  <c:v>10</c:v>
                </c:pt>
              </c:numCache>
            </c:numRef>
          </c:val>
        </c:ser>
        <c:dLbls>
          <c:numFmt formatCode="0.00"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12.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2.0"/>
      </c:valAx>
    </c:plotArea>
    <c:legend>
      <c:legendPos val="t"/>
      <c:overlay val="0"/>
      <c:txPr>
        <a:bodyPr/>
        <a:lstStyle/>
        <a:p>
          <a:pPr>
            <a:defRPr sz="900"/>
          </a:pPr>
        </a:p>
      </c:txPr>
    </c:legend>
    <c:dispBlanksAs val="gap"/>
  </c:chart>
  <c:txPr>
    <a:bodyPr/>
    <a:lstStyle/>
    <a:p>
      <a:pPr>
        <a:defRPr sz="900">
          <a:solidFill>
            <a:srgbClr val="1F2933"/>
          </a:solidFill>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items</c:v>
                </c:pt>
              </c:strCache>
            </c:strRef>
          </c:tx>
          <c:spPr>
            <a:solidFill>
              <a:srgbClr val="0E7C86"/>
            </a:solidFill>
          </c:spPr>
          <c:cat>
            <c:strRef>
              <c:f>Sheet1!$A$2:$A$4</c:f>
              <c:strCache>
                <c:ptCount val="3"/>
                <c:pt idx="0">
                  <c:v>go north</c:v>
                </c:pt>
                <c:pt idx="1">
                  <c:v>quit</c:v>
                </c:pt>
                <c:pt idx="2">
                  <c:v>dance</c:v>
                </c:pt>
              </c:strCache>
            </c:strRef>
          </c:cat>
          <c:val>
            <c:numRef>
              <c:f>Sheet1!$B$2:$B$4</c:f>
              <c:numCache>
                <c:formatCode>General</c:formatCode>
                <c:ptCount val="3"/>
                <c:pt idx="0">
                  <c:v>2</c:v>
                </c:pt>
                <c:pt idx="1">
                  <c:v>1</c:v>
                </c:pt>
                <c:pt idx="2">
                  <c:v>1</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3.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x</c:v>
                </c:pt>
              </c:strCache>
            </c:strRef>
          </c:tx>
          <c:spPr>
            <a:solidFill>
              <a:srgbClr val="0E7C86"/>
            </a:solidFill>
          </c:spPr>
          <c:cat>
            <c:strRef>
              <c:f>Sheet1!$A$2:$A$3</c:f>
              <c:strCache>
                <c:ptCount val="2"/>
                <c:pt idx="0">
                  <c:v>(3, 3)</c:v>
                </c:pt>
                <c:pt idx="1">
                  <c:v>(3, 4)</c:v>
                </c:pt>
              </c:strCache>
            </c:strRef>
          </c:cat>
          <c:val>
            <c:numRef>
              <c:f>Sheet1!$B$2:$B$3</c:f>
              <c:numCache>
                <c:formatCode>General</c:formatCode>
                <c:ptCount val="2"/>
                <c:pt idx="0">
                  <c:v>3</c:v>
                </c:pt>
                <c:pt idx="1">
                  <c:v>3</c:v>
                </c:pt>
              </c:numCache>
            </c:numRef>
          </c:val>
        </c:ser>
        <c:ser>
          <c:idx val="1"/>
          <c:order val="1"/>
          <c:tx>
            <c:strRef>
              <c:f>Sheet1!$C$1</c:f>
              <c:strCache>
                <c:ptCount val="1"/>
                <c:pt idx="0">
                  <c:v>y</c:v>
                </c:pt>
              </c:strCache>
            </c:strRef>
          </c:tx>
          <c:spPr>
            <a:solidFill>
              <a:srgbClr val="B7791F"/>
            </a:solidFill>
          </c:spPr>
          <c:cat>
            <c:strRef>
              <c:f>Sheet1!$A$2:$A$3</c:f>
              <c:strCache>
                <c:ptCount val="2"/>
                <c:pt idx="0">
                  <c:v>(3, 3)</c:v>
                </c:pt>
                <c:pt idx="1">
                  <c:v>(3, 4)</c:v>
                </c:pt>
              </c:strCache>
            </c:strRef>
          </c:cat>
          <c:val>
            <c:numRef>
              <c:f>Sheet1!$C$2:$C$3</c:f>
              <c:numCache>
                <c:formatCode>General</c:formatCode>
                <c:ptCount val="2"/>
                <c:pt idx="0">
                  <c:v>3</c:v>
                </c:pt>
                <c:pt idx="1">
                  <c:v>4</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5.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legend>
      <c:legendPos val="t"/>
      <c:overlay val="0"/>
      <c:txPr>
        <a:bodyPr/>
        <a:lstStyle/>
        <a:p>
          <a:pPr>
            <a:defRPr sz="900"/>
          </a:pPr>
        </a:p>
      </c:txPr>
    </c:legend>
    <c:dispBlanksAs val="gap"/>
  </c:chart>
  <c:txPr>
    <a:bodyPr/>
    <a:lstStyle/>
    <a:p>
      <a:pPr>
        <a:defRPr sz="900">
          <a:solidFill>
            <a:srgbClr val="1F2933"/>
          </a:solidFill>
          <a:latin typeface="Calibr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letters</c:v>
                </c:pt>
              </c:strCache>
            </c:strRef>
          </c:tx>
          <c:spPr>
            <a:solidFill>
              <a:srgbClr val="0E7C86"/>
            </a:solidFill>
          </c:spPr>
          <c:cat>
            <c:strRef>
              <c:f>Sheet1!$A$2:$A$4</c:f>
              <c:strCache>
                <c:ptCount val="3"/>
                <c:pt idx="0">
                  <c:v>Bartholomew</c:v>
                </c:pt>
                <c:pt idx="1">
                  <c:v>Alice</c:v>
                </c:pt>
                <c:pt idx="2">
                  <c:v>Al</c:v>
                </c:pt>
              </c:strCache>
            </c:strRef>
          </c:cat>
          <c:val>
            <c:numRef>
              <c:f>Sheet1!$B$2:$B$4</c:f>
              <c:numCache>
                <c:formatCode>General</c:formatCode>
                <c:ptCount val="3"/>
                <c:pt idx="0">
                  <c:v>11</c:v>
                </c:pt>
                <c:pt idx="1">
                  <c:v>5</c:v>
                </c:pt>
                <c:pt idx="2">
                  <c:v>2</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12.0"/>
          <c:min val="0.0"/>
        </c:scaling>
        <c:delete val="0"/>
        <c:axPos val="b"/>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3.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code examples</c:v>
                </c:pt>
              </c:strCache>
            </c:strRef>
          </c:tx>
          <c:spPr>
            <a:solidFill>
              <a:srgbClr val="0E7C86"/>
            </a:solidFill>
          </c:spPr>
          <c:cat>
            <c:strRef>
              <c:f>Sheet1!$A$2:$A$6</c:f>
              <c:strCache>
                <c:ptCount val="5"/>
                <c:pt idx="0">
                  <c:v>1 Booleans</c:v>
                </c:pt>
                <c:pt idx="1">
                  <c:v>2 Operators</c:v>
                </c:pt>
                <c:pt idx="2">
                  <c:v>3 Blocks</c:v>
                </c:pt>
                <c:pt idx="3">
                  <c:v>4 Programs</c:v>
                </c:pt>
                <c:pt idx="4">
                  <c:v>5 Newer</c:v>
                </c:pt>
              </c:strCache>
            </c:strRef>
          </c:cat>
          <c:val>
            <c:numRef>
              <c:f>Sheet1!$B$2:$B$6</c:f>
              <c:numCache>
                <c:formatCode>General</c:formatCode>
                <c:ptCount val="5"/>
                <c:pt idx="0">
                  <c:v>4</c:v>
                </c:pt>
                <c:pt idx="1">
                  <c:v>5</c:v>
                </c:pt>
                <c:pt idx="2">
                  <c:v>5</c:v>
                </c:pt>
                <c:pt idx="3">
                  <c:v>2</c:v>
                </c:pt>
                <c:pt idx="4">
                  <c:v>5</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6.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1.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chapter teaches how a program decides. Every code slide shows the code, a plain explanation, and what the run printed as a table, a chart or a drawing. The same examples run on the chapter page.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Booleans and comparisons, Boolean operators, blocks and branches, two short programs, and newer Python. Each code slide has a place in the chapter-code tab of the page, in this same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to carry through the chapter. How does a program choose what to do, and what makes a condition true? And what does current Python add to what the book prints?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A Boolean value is the answer to a yes or no question. Comparison operators ask the questions. Predict each result before the run.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switch is on or off, like a Boolean value. Scales compare. Ask students to find an everyday picture for greater than or equal to of their own.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two Boolean values exist, True and False. They are numbers in disguise: one and zero. Bool turns any number into one of them.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comparison operators, one result type. The equals sign pair asks, the single equals sign assigns. Read the table row by row.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number never equals a string. Case matters. Decimal fractions can be a little off. Capital letters sort before small ones because of their character codes.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George Boole published his algebra of logic in 1847 and 1854. Python's bool type carries his name. Ask students where in their own code they use and, or and not without thinking of him.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chain is shorthand for several comparisons joined by and. Every link must hold. Look where the marker sits on the number line.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And, or and not combine answers. Python stops early and returns an operand. Truthiness lets any value act as true or false.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needs two keys, or needs one. Not is a mirror. Ask which of the pictures is closest to an empty list counting as false.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pairs, two operators. And is true in one row. Or is true in three rows. The chart counts the true results.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flips a value. Comparisons bind tighter than not, not tighter than and, and tighter than or. Use parentheses when in doubt.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comparison gives a Boolean value. The Boolean operator then joins values. Read each row from the left to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 stops at the first true operand, and stops at the first false one. The result is an operand, not always True or False. The division is never run.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Zero, empty containers and None count as false. All else counts as true. Never compare to True with the equals pair; just write if greeting.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A block is a run of indented lines. If runs it on a true condition. Else and elif add the other roads. Watch the order of the rungs.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signpost at a fork sends you one way. A block is a room. An elif ladder is climbed from the top. Ask students what happens if two rungs are both true.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Guido van Rossum took the indentation idea from ABC. The design FAQ still defends it. Ask students what could go wrong if the layout and the logic were allowed to disagree.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colon opens a block. The indented lines belong to the if. The False path jumps over the whole block. Check which boxes are teal.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Indentation is the syntax. Only indented lines belong to the block. The last line is outside, so it always runs. The table says which lines ran.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if inside an if. The inner else belongs to the inner if. Follow the teal path through the boxes for the given username and password.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Rungs are tested from the top. The first true one wins and the rest are skipped. The table shows which rungs were tested at all.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broad test placed too early shadows a narrow one. Every age above 2000 is also above 100. Reorder the rungs and run it again.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Two short programs from the book use everything so far. Follow the variables line by line, then predict the printed text.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programs of the book are small recipes. Opposite Day flips an answer. The capacity calculator chooses a ratio by unit. A trace shows the steps.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the variable step by step. Lines three and five are alternatives; only one runs. The not flips the answer on an Opposite Day.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Drive makers count in powers of ten, computers in powers of two. The chart shows how much of the advertised size is real for each unit.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five. Python moved on after the book. The conditional expression, match and the walrus are in current code every day.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conditional expression picks one of two values. Match sorts by shape. A guard adds a condition. The walrus assigns inside an expression.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two outcomes. Only the chosen side is evaluated, so the division by zero is safe. Compare with a four-line if and else.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match statement arrived in Python 3.10 in October 2021, after PEPs 634 to 636. It is more than a switch, because patterns also bind names. Ask which cases of the slide could be elif lines.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Match compares a value with each case from the top. A pipe joins alternatives. The underscore catches everything else. It arrived in Python 3.10.</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Patterns can take lists apart and capture names. The name direction holds the second item. Ask students which input falls to the underscore case.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guard adds a condition to a case. The first case fits only when both items are equal. The plain case below it would fit every pair, so order matters.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PEP 572 gave Python the walrus operator in version 3.8. The debate was so long that Guido van Rossum stepped down as BDFL in July 2018. Ask when a name that is tested should also be kept.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walrus assigns and returns in one expression. The name stays available after the test. Use it when a value is both tested and used.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moves on. And and or return operands. Match came in 3.10. The walrus came in 3.8. Python 3.14 warns about leaving a finally block.</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sentences to keep. The chart shows how many code examples each part of the chapter has.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drills. Predict first, then run them on the page. Ask students to explain each answer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book chapter, then the Python documentation. The stories link to first-hand sources. Choose one link and read it before the next class.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en.wikipedia.org/wiki/George_Bool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chart" Target="../charts/char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chart" Target="../charts/char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chart" Target="../charts/char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jpg"/><Relationship Id="rId4" Type="http://schemas.openxmlformats.org/officeDocument/2006/relationships/hyperlink" Target="https://docs.python.org/3/faq/design.html#why-does-python-use-indentation-for-grouping-of-statement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chart" Target="../charts/char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chart" Target="../charts/char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chart" Target="../charts/char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chart" Target="../charts/char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png"/><Relationship Id="rId4" Type="http://schemas.openxmlformats.org/officeDocument/2006/relationships/hyperlink" Target="https://peps.python.org/pep-0636/"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chart" Target="../charts/char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chart" Target="../charts/char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4.jpg"/><Relationship Id="rId4" Type="http://schemas.openxmlformats.org/officeDocument/2006/relationships/hyperlink" Target="https://peps.python.org/pep-0572/"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chart" Target="../charts/char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chart" Target="../charts/char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hyperlink" Target="https://automatetheboringstuff.com/3e/chapter2.html" TargetMode="External"/><Relationship Id="rId4" Type="http://schemas.openxmlformats.org/officeDocument/2006/relationships/hyperlink" Target="https://docs.python.org/3/tutorial/controlflow.html" TargetMode="External"/><Relationship Id="rId5" Type="http://schemas.openxmlformats.org/officeDocument/2006/relationships/hyperlink" Target="https://docs.python.org/3/reference/expressions.html" TargetMode="External"/><Relationship Id="rId6" Type="http://schemas.openxmlformats.org/officeDocument/2006/relationships/hyperlink" Target="https://docs.python.org/3/library/stdtypes.html" TargetMode="External"/><Relationship Id="rId7" Type="http://schemas.openxmlformats.org/officeDocument/2006/relationships/hyperlink" Target="https://docs.python.org/3/reference/compound_stmts.html" TargetMode="External"/><Relationship Id="rId8" Type="http://schemas.openxmlformats.org/officeDocument/2006/relationships/hyperlink" Target="https://peps.python.org/pep-0636/" TargetMode="External"/><Relationship Id="rId9" Type="http://schemas.openxmlformats.org/officeDocument/2006/relationships/hyperlink" Target="https://peps.python.org/pep-0634/" TargetMode="External"/><Relationship Id="rId10" Type="http://schemas.openxmlformats.org/officeDocument/2006/relationships/hyperlink" Target="https://peps.python.org/pep-0572/" TargetMode="External"/><Relationship Id="rId11" Type="http://schemas.openxmlformats.org/officeDocument/2006/relationships/hyperlink" Target="https://peps.python.org/pep-0765/" TargetMode="External"/><Relationship Id="rId12" Type="http://schemas.openxmlformats.org/officeDocument/2006/relationships/hyperlink" Target="https://peps.python.org/pep-0008/" TargetMode="External"/><Relationship Id="rId13" Type="http://schemas.openxmlformats.org/officeDocument/2006/relationships/hyperlink" Target="https://docs.python.org/3/faq/design.html" TargetMode="External"/><Relationship Id="rId14" Type="http://schemas.openxmlformats.org/officeDocument/2006/relationships/hyperlink" Target="https://www.gutenberg.org/ebooks/15114" TargetMode="External"/><Relationship Id="rId15" Type="http://schemas.openxmlformats.org/officeDocument/2006/relationships/hyperlink" Target="https://realpython.com/python-conditional-statements/" TargetMode="External"/><Relationship Id="rId16" Type="http://schemas.openxmlformats.org/officeDocument/2006/relationships/hyperlink" Target="https://www.youtube.com/watch?v=DZwmZ8Usvnk"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548640" y="1554480"/>
            <a:ext cx="8046720" cy="822960"/>
          </a:xfrm>
          <a:prstGeom prst="rect">
            <a:avLst/>
          </a:prstGeom>
          <a:noFill/>
        </p:spPr>
        <p:txBody>
          <a:bodyPr wrap="square" lIns="45720" rIns="45720" tIns="27432" bIns="27432" anchor="ctr">
            <a:spAutoFit/>
          </a:bodyPr>
          <a:lstStyle/>
          <a:p>
            <a:r>
              <a:rPr sz="3800" b="1" i="0">
                <a:solidFill>
                  <a:srgbClr val="1F2933"/>
                </a:solidFill>
                <a:latin typeface="Calibri"/>
              </a:rPr>
              <a:t>Flow Control</a:t>
            </a:r>
          </a:p>
        </p:txBody>
      </p:sp>
      <p:sp>
        <p:nvSpPr>
          <p:cNvPr id="4" name="subtitle"/>
          <p:cNvSpPr txBox="1"/>
          <p:nvPr/>
        </p:nvSpPr>
        <p:spPr>
          <a:xfrm>
            <a:off x="548640" y="2423160"/>
            <a:ext cx="8046720" cy="640080"/>
          </a:xfrm>
          <a:prstGeom prst="rect">
            <a:avLst/>
          </a:prstGeom>
          <a:noFill/>
        </p:spPr>
        <p:txBody>
          <a:bodyPr wrap="square" lIns="45720" rIns="45720" tIns="27432" bIns="27432" anchor="t">
            <a:spAutoFit/>
          </a:bodyPr>
          <a:lstStyle/>
          <a:p>
            <a:r>
              <a:rPr sz="1600" b="0" i="0">
                <a:solidFill>
                  <a:srgbClr val="5B6773"/>
                </a:solidFill>
                <a:latin typeface="Calibri"/>
              </a:rPr>
              <a:t>Chapter 2 of Automate the Boring Stuff with Python, 3rd edition, for an advanced course</a:t>
            </a:r>
          </a:p>
        </p:txBody>
      </p:sp>
      <p:sp>
        <p:nvSpPr>
          <p:cNvPr id="5" name="card"/>
          <p:cNvSpPr/>
          <p:nvPr/>
        </p:nvSpPr>
        <p:spPr>
          <a:xfrm>
            <a:off x="5486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at"/>
          <p:cNvSpPr txBox="1"/>
          <p:nvPr/>
        </p:nvSpPr>
        <p:spPr>
          <a:xfrm>
            <a:off x="6400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21</a:t>
            </a:r>
          </a:p>
        </p:txBody>
      </p:sp>
      <p:sp>
        <p:nvSpPr>
          <p:cNvPr id="7" name="stat label"/>
          <p:cNvSpPr txBox="1"/>
          <p:nvPr/>
        </p:nvSpPr>
        <p:spPr>
          <a:xfrm>
            <a:off x="6400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code examples that run on the chapter page</a:t>
            </a:r>
          </a:p>
        </p:txBody>
      </p:sp>
      <p:sp>
        <p:nvSpPr>
          <p:cNvPr id="8" name="card"/>
          <p:cNvSpPr/>
          <p:nvPr/>
        </p:nvSpPr>
        <p:spPr>
          <a:xfrm>
            <a:off x="32918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p:cNvSpPr txBox="1"/>
          <p:nvPr/>
        </p:nvSpPr>
        <p:spPr>
          <a:xfrm>
            <a:off x="33832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4</a:t>
            </a:r>
          </a:p>
        </p:txBody>
      </p:sp>
      <p:sp>
        <p:nvSpPr>
          <p:cNvPr id="10" name="stat label"/>
          <p:cNvSpPr txBox="1"/>
          <p:nvPr/>
        </p:nvSpPr>
        <p:spPr>
          <a:xfrm>
            <a:off x="33832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true stories with who, what, when, where, why and how</a:t>
            </a:r>
          </a:p>
        </p:txBody>
      </p:sp>
      <p:sp>
        <p:nvSpPr>
          <p:cNvPr id="11" name="card"/>
          <p:cNvSpPr/>
          <p:nvPr/>
        </p:nvSpPr>
        <p:spPr>
          <a:xfrm>
            <a:off x="60350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t"/>
          <p:cNvSpPr txBox="1"/>
          <p:nvPr/>
        </p:nvSpPr>
        <p:spPr>
          <a:xfrm>
            <a:off x="6126479"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29</a:t>
            </a:r>
          </a:p>
        </p:txBody>
      </p:sp>
      <p:sp>
        <p:nvSpPr>
          <p:cNvPr id="13" name="stat label"/>
          <p:cNvSpPr txBox="1"/>
          <p:nvPr/>
        </p:nvSpPr>
        <p:spPr>
          <a:xfrm>
            <a:off x="6126479"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distinct chapter concepts, each with an everyday picture</a:t>
            </a:r>
          </a:p>
        </p:txBody>
      </p:sp>
      <p:sp>
        <p:nvSpPr>
          <p:cNvPr id="14" name="author"/>
          <p:cNvSpPr txBox="1"/>
          <p:nvPr/>
        </p:nvSpPr>
        <p:spPr>
          <a:xfrm>
            <a:off x="548640" y="4434840"/>
            <a:ext cx="7315200" cy="274320"/>
          </a:xfrm>
          <a:prstGeom prst="rect">
            <a:avLst/>
          </a:prstGeom>
          <a:noFill/>
        </p:spPr>
        <p:txBody>
          <a:bodyPr wrap="square" lIns="45720" rIns="45720" tIns="27432" bIns="27432" anchor="t">
            <a:spAutoFit/>
          </a:bodyPr>
          <a:lstStyle/>
          <a:p>
            <a:r>
              <a:rPr sz="1100" b="0" i="0">
                <a:solidFill>
                  <a:srgbClr val="5B6773"/>
                </a:solidFill>
                <a:latin typeface="Calibri"/>
              </a:rPr>
              <a:t>SEN0414 Advanced Programming, Fall 2026. Yusuf Altunel, İstanbul Kültür Üniversitesi</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 / 42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Today's route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Five parts; every range is a run of slides you can jump to</a:t>
            </a:r>
          </a:p>
        </p:txBody>
      </p:sp>
      <p:graphicFrame>
        <p:nvGraphicFramePr>
          <p:cNvPr id="5" name="table"/>
          <p:cNvGraphicFramePr>
            <a:graphicFrameLocks noGrp="1"/>
          </p:cNvGraphicFramePr>
          <p:nvPr/>
        </p:nvGraphicFramePr>
        <p:xfrm>
          <a:off x="457200" y="1097280"/>
          <a:ext cx="8229598" cy="3520440"/>
        </p:xfrm>
        <a:graphic>
          <a:graphicData uri="http://schemas.openxmlformats.org/drawingml/2006/table">
            <a:tbl>
              <a:tblPr firstRow="0" bandRow="0"/>
              <a:tblGrid>
                <a:gridCol w="2683565"/>
                <a:gridCol w="983973"/>
                <a:gridCol w="1162878"/>
                <a:gridCol w="3399182"/>
              </a:tblGrid>
              <a:tr h="502920">
                <a:tc>
                  <a:txBody>
                    <a:bodyPr wrap="square"/>
                    <a:lstStyle/>
                    <a:p>
                      <a:r>
                        <a:rPr sz="1350" b="1" i="0">
                          <a:solidFill>
                            <a:srgbClr val="FFFFFF"/>
                          </a:solidFill>
                          <a:latin typeface="Calibri"/>
                        </a:rPr>
                        <a:t>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50" b="1" i="0">
                          <a:solidFill>
                            <a:srgbClr val="FFFFFF"/>
                          </a:solidFill>
                          <a:latin typeface="Calibri"/>
                        </a:rPr>
                        <a:t>Slides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50" b="1" i="0">
                          <a:solidFill>
                            <a:srgbClr val="FFFFFF"/>
                          </a:solidFill>
                          <a:latin typeface="Calibri"/>
                        </a:rPr>
                        <a:t>Code examples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50" b="1" i="0">
                          <a:solidFill>
                            <a:srgbClr val="FFFFFF"/>
                          </a:solidFill>
                          <a:latin typeface="Calibri"/>
                        </a:rPr>
                        <a:t>You will run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02920">
                <a:tc>
                  <a:txBody>
                    <a:bodyPr wrap="square"/>
                    <a:lstStyle/>
                    <a:p>
                      <a:r>
                        <a:rPr sz="1350" b="1" i="0">
                          <a:solidFill>
                            <a:srgbClr val="1F2933"/>
                          </a:solidFill>
                          <a:latin typeface="Calibri"/>
                        </a:rPr>
                        <a:t>Booleans and comparisons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4 - 10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Booleans, comparisons, chains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50" b="1" i="0">
                          <a:solidFill>
                            <a:srgbClr val="1F2933"/>
                          </a:solidFill>
                          <a:latin typeface="Calibri"/>
                        </a:rPr>
                        <a:t>Boolean operators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11 - 17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truth tables, not, short-circuit, truthiness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350" b="1" i="0">
                          <a:solidFill>
                            <a:srgbClr val="1F2933"/>
                          </a:solidFill>
                          <a:latin typeface="Calibri"/>
                        </a:rPr>
                        <a:t>Blocks and branches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18 - 25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blocks, if, else, elif ladders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50" b="1" i="0">
                          <a:solidFill>
                            <a:srgbClr val="1F2933"/>
                          </a:solidFill>
                          <a:latin typeface="Calibri"/>
                        </a:rPr>
                        <a:t>Two short programs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26 - 29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Opposite Day, capacity calculator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350" b="1" i="0">
                          <a:solidFill>
                            <a:srgbClr val="1F2933"/>
                          </a:solidFill>
                          <a:latin typeface="Calibri"/>
                        </a:rPr>
                        <a:t>Newer Python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30 - 38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conditional expression, match, walrus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50" b="1" i="0">
                          <a:solidFill>
                            <a:srgbClr val="1F2933"/>
                          </a:solidFill>
                          <a:latin typeface="Calibri"/>
                        </a:rPr>
                        <a:t>Changes, summary, practice, resources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39 - 42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what current Python adds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Open the chapter-code tab of the page: the same 21 examples, in this order.</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 / 42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Two questions this chapter answers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Carry them through every part; the answers come back at the end</a:t>
            </a:r>
          </a:p>
        </p:txBody>
      </p:sp>
      <p:sp>
        <p:nvSpPr>
          <p:cNvPr id="5" name="card"/>
          <p:cNvSpPr/>
          <p:nvPr/>
        </p:nvSpPr>
        <p:spPr>
          <a:xfrm>
            <a:off x="457200" y="11887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3716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1</a:t>
            </a:r>
          </a:p>
        </p:txBody>
      </p:sp>
      <p:sp>
        <p:nvSpPr>
          <p:cNvPr id="7" name="question"/>
          <p:cNvSpPr txBox="1"/>
          <p:nvPr/>
        </p:nvSpPr>
        <p:spPr>
          <a:xfrm>
            <a:off x="1280160" y="12984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How does a program choose what to do, and what makes a condition true or false?</a:t>
            </a:r>
          </a:p>
        </p:txBody>
      </p:sp>
      <p:sp>
        <p:nvSpPr>
          <p:cNvPr id="8" name="answer"/>
          <p:cNvSpPr txBox="1"/>
          <p:nvPr/>
        </p:nvSpPr>
        <p:spPr>
          <a:xfrm>
            <a:off x="1280160" y="20574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 40: values, comparisons, Boolean operators, then if, elif and else.</a:t>
            </a:r>
          </a:p>
        </p:txBody>
      </p:sp>
      <p:sp>
        <p:nvSpPr>
          <p:cNvPr id="9" name="card"/>
          <p:cNvSpPr/>
          <p:nvPr/>
        </p:nvSpPr>
        <p:spPr>
          <a:xfrm>
            <a:off x="457200" y="27889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29718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2</a:t>
            </a:r>
          </a:p>
        </p:txBody>
      </p:sp>
      <p:sp>
        <p:nvSpPr>
          <p:cNvPr id="11" name="question"/>
          <p:cNvSpPr txBox="1"/>
          <p:nvPr/>
        </p:nvSpPr>
        <p:spPr>
          <a:xfrm>
            <a:off x="1280160" y="28986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What does current Python add to what the book prints about decisions?</a:t>
            </a:r>
          </a:p>
        </p:txBody>
      </p:sp>
      <p:sp>
        <p:nvSpPr>
          <p:cNvPr id="12" name="answer"/>
          <p:cNvSpPr txBox="1"/>
          <p:nvPr/>
        </p:nvSpPr>
        <p:spPr>
          <a:xfrm>
            <a:off x="1280160" y="36576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slides 34 and 39: the match statement, the walrus and the newer rules.</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decision needs a condition, a block and a road.</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 / 42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1: Booleans and comparisons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Two values, and six ways to ask a yes or no question</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Boolean value</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Only two values exist: True and False.</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Comparison</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Six operators that each answer True or False.</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Equality</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Same type and same content, or not equal at all.</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Chained comparison</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Several comparisons in one line, and every link must hold.</a:t>
            </a:r>
          </a:p>
        </p:txBody>
      </p:sp>
      <p:graphicFrame>
        <p:nvGraphicFramePr>
          <p:cNvPr id="13" name="table"/>
          <p:cNvGraphicFramePr>
            <a:graphicFrameLocks noGrp="1"/>
          </p:cNvGraphicFramePr>
          <p:nvPr/>
        </p:nvGraphicFramePr>
        <p:xfrm>
          <a:off x="5303520" y="1417320"/>
          <a:ext cx="3474719" cy="256032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values and comparis...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Boolean values: True and 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Comparison operators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Equality, types and string order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Story: the man inside the bool 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Chained comparisons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 / 42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values and comparisons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Boolean value is a light switch: it is either on or off, never half.</a:t>
            </a:r>
          </a:p>
        </p:txBody>
      </p:sp>
      <p:graphicFrame>
        <p:nvGraphicFramePr>
          <p:cNvPr id="6" name="table"/>
          <p:cNvGraphicFramePr>
            <a:graphicFrameLocks noGrp="1"/>
          </p:cNvGraphicFramePr>
          <p:nvPr/>
        </p:nvGraphicFramePr>
        <p:xfrm>
          <a:off x="365760" y="1463040"/>
          <a:ext cx="8412480" cy="3108952"/>
        </p:xfrm>
        <a:graphic>
          <a:graphicData uri="http://schemas.openxmlformats.org/drawingml/2006/table">
            <a:tbl>
              <a:tblPr firstRow="0" bandRow="0"/>
              <a:tblGrid>
                <a:gridCol w="2743200"/>
                <a:gridCol w="5669280"/>
              </a:tblGrid>
              <a:tr h="282632">
                <a:tc>
                  <a:txBody>
                    <a:bodyPr wrap="square"/>
                    <a:lstStyle/>
                    <a:p>
                      <a:r>
                        <a:rPr sz="12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82632">
                <a:tc>
                  <a:txBody>
                    <a:bodyPr wrap="square"/>
                    <a:lstStyle/>
                    <a:p>
                      <a:r>
                        <a:rPr sz="1200" b="1" i="0">
                          <a:solidFill>
                            <a:srgbClr val="1F2933"/>
                          </a:solidFill>
                          <a:latin typeface="Calibri"/>
                        </a:rPr>
                        <a:t>Boolean Values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light switch has two positions, on and off, and nothing in between.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82632">
                <a:tc>
                  <a:txBody>
                    <a:bodyPr wrap="square"/>
                    <a:lstStyle/>
                    <a:p>
                      <a:r>
                        <a:rPr sz="1200" b="1" i="0">
                          <a:solidFill>
                            <a:srgbClr val="1F2933"/>
                          </a:solidFill>
                          <a:latin typeface="Calibri"/>
                        </a:rPr>
                        <a:t>Boolean 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One switch in one position: the lamp is on, or it is off.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82632">
                <a:tc>
                  <a:txBody>
                    <a:bodyPr wrap="square"/>
                    <a:lstStyle/>
                    <a:p>
                      <a:r>
                        <a:rPr sz="1200" b="1" i="0">
                          <a:solidFill>
                            <a:srgbClr val="1F2933"/>
                          </a:solidFill>
                          <a:latin typeface="Calibri"/>
                        </a:rPr>
                        <a:t>Comparison Operators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pair of kitchen scales: put two things on it and read which side is heavier.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82632">
                <a:tc>
                  <a:txBody>
                    <a:bodyPr wrap="square"/>
                    <a:lstStyle/>
                    <a:p>
                      <a:r>
                        <a:rPr sz="1200" b="1" i="0">
                          <a:solidFill>
                            <a:srgbClr val="1F2933"/>
                          </a:solidFill>
                          <a:latin typeface="Calibri"/>
                        </a:rPr>
                        <a:t>Comparison operator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One question to the scales: is the left side heavier, lighter or the same?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82632">
                <a:tc>
                  <a:txBody>
                    <a:bodyPr wrap="square"/>
                    <a:lstStyle/>
                    <a:p>
                      <a:r>
                        <a:rPr sz="1200" b="1"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Two keys side by side: do the teeth match exactly?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82632">
                <a:tc>
                  <a:txBody>
                    <a:bodyPr wrap="square"/>
                    <a:lstStyle/>
                    <a:p>
                      <a:r>
                        <a:rPr sz="1200" b="1"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The same two keys: do they differ in at least one tooth?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82632">
                <a:tc>
                  <a:txBody>
                    <a:bodyPr wrap="square"/>
                    <a:lstStyle/>
                    <a:p>
                      <a:r>
                        <a:rPr sz="1200" b="1" i="0">
                          <a:solidFill>
                            <a:srgbClr val="1F2933"/>
                          </a:solidFill>
                          <a:latin typeface="Calibri"/>
                        </a:rPr>
                        <a:t>&lt;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fairground height bar: is the child strictly below the mark?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82632">
                <a:tc>
                  <a:txBody>
                    <a:bodyPr wrap="square"/>
                    <a:lstStyle/>
                    <a:p>
                      <a:r>
                        <a:rPr sz="1200" b="1" i="0">
                          <a:solidFill>
                            <a:srgbClr val="1F2933"/>
                          </a:solidFill>
                          <a:latin typeface="Calibri"/>
                        </a:rPr>
                        <a:t>&gt;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The same bar: is the child strictly above the mark?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82632">
                <a:tc>
                  <a:txBody>
                    <a:bodyPr wrap="square"/>
                    <a:lstStyle/>
                    <a:p>
                      <a:r>
                        <a:rPr sz="1200" b="1" i="0">
                          <a:solidFill>
                            <a:srgbClr val="1F2933"/>
                          </a:solidFill>
                          <a:latin typeface="Calibri"/>
                        </a:rPr>
                        <a:t>&lt;=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lift sign: the load may weigh as much as the limit, but not more.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82632">
                <a:tc>
                  <a:txBody>
                    <a:bodyPr wrap="square"/>
                    <a:lstStyle/>
                    <a:p>
                      <a:r>
                        <a:rPr sz="1200" b="1" i="0">
                          <a:solidFill>
                            <a:srgbClr val="1F2933"/>
                          </a:solidFill>
                          <a:latin typeface="Calibri"/>
                        </a:rPr>
                        <a:t>&gt;=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 cinema ticket: the age must reach the limit or be above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 / 42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Boolean values: True and False</a:t>
            </a:r>
          </a:p>
        </p:txBody>
      </p:sp>
      <p:sp>
        <p:nvSpPr>
          <p:cNvPr id="4" name="code"/>
          <p:cNvSpPr/>
          <p:nvPr/>
        </p:nvSpPr>
        <p:spPr>
          <a:xfrm>
            <a:off x="365760" y="841248"/>
            <a:ext cx="505663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type</a:t>
            </a:r>
            <a:r>
              <a:rPr sz="1400" b="0" i="0">
                <a:solidFill>
                  <a:srgbClr val="E6EDF3"/>
                </a:solidFill>
                <a:latin typeface="Courier New"/>
              </a:rPr>
              <a:t>(</a:t>
            </a:r>
            <a:r>
              <a:rPr sz="1400" b="0" i="0">
                <a:solidFill>
                  <a:srgbClr val="C9A0FF"/>
                </a:solidFill>
                <a:latin typeface="Courier New"/>
              </a:rPr>
              <a:t>True</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type</a:t>
            </a:r>
            <a:r>
              <a:rPr sz="1400" b="0" i="0">
                <a:solidFill>
                  <a:srgbClr val="E6EDF3"/>
                </a:solidFill>
                <a:latin typeface="Courier New"/>
              </a:rPr>
              <a:t>(</a:t>
            </a:r>
            <a:r>
              <a:rPr sz="1400" b="0" i="0">
                <a:solidFill>
                  <a:srgbClr val="C9A0FF"/>
                </a:solidFill>
                <a:latin typeface="Courier New"/>
              </a:rPr>
              <a:t>False</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C9A0FF"/>
                </a:solidFill>
                <a:latin typeface="Courier New"/>
              </a:rPr>
              <a:t>True</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C9A0FF"/>
                </a:solidFill>
                <a:latin typeface="Courier New"/>
              </a:rPr>
              <a:t>True</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int</a:t>
            </a:r>
            <a:r>
              <a:rPr sz="1400" b="0" i="0">
                <a:solidFill>
                  <a:srgbClr val="E6EDF3"/>
                </a:solidFill>
                <a:latin typeface="Courier New"/>
              </a:rPr>
              <a:t>(</a:t>
            </a:r>
            <a:r>
              <a:rPr sz="1400" b="0" i="0">
                <a:solidFill>
                  <a:srgbClr val="C9A0FF"/>
                </a:solidFill>
                <a:latin typeface="Courier New"/>
              </a:rPr>
              <a:t>False</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C9A0FF"/>
                </a:solidFill>
                <a:latin typeface="Courier New"/>
              </a:rPr>
              <a:t>True</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1</a:t>
            </a:r>
            <a:r>
              <a:rPr sz="1400" b="0" i="0">
                <a:solidFill>
                  <a:srgbClr val="E6EDF3"/>
                </a:solidFill>
                <a:latin typeface="Courier New"/>
              </a:rPr>
              <a:t>)</a:t>
            </a:r>
          </a:p>
        </p:txBody>
      </p:sp>
      <p:sp>
        <p:nvSpPr>
          <p:cNvPr id="5" name="explanation"/>
          <p:cNvSpPr txBox="1"/>
          <p:nvPr/>
        </p:nvSpPr>
        <p:spPr>
          <a:xfrm>
            <a:off x="5404104" y="841248"/>
            <a:ext cx="3374136" cy="723328"/>
          </a:xfrm>
          <a:prstGeom prst="rect">
            <a:avLst/>
          </a:prstGeom>
          <a:noFill/>
        </p:spPr>
        <p:txBody>
          <a:bodyPr wrap="square" lIns="128016" rIns="128016" tIns="18288" bIns="18288" anchor="ctr">
            <a:spAutoFit/>
          </a:bodyPr>
          <a:lstStyle/>
          <a:p>
            <a:r>
              <a:rPr sz="1250" b="0" i="0">
                <a:solidFill>
                  <a:srgbClr val="1F2933"/>
                </a:solidFill>
                <a:latin typeface="Calibri"/>
              </a:rPr>
              <a:t>True and False are the two values of the type bool. They behave like the numbers 1 and 0 in arithmetic.</a:t>
            </a:r>
          </a:p>
        </p:txBody>
      </p:sp>
      <p:sp>
        <p:nvSpPr>
          <p:cNvPr id="6" name="code"/>
          <p:cNvSpPr/>
          <p:nvPr/>
        </p:nvSpPr>
        <p:spPr>
          <a:xfrm>
            <a:off x="365760" y="1619440"/>
            <a:ext cx="505663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bool</a:t>
            </a:r>
            <a:r>
              <a:rPr sz="1400" b="0" i="0">
                <a:solidFill>
                  <a:srgbClr val="E6EDF3"/>
                </a:solidFill>
                <a:latin typeface="Courier New"/>
              </a:rPr>
              <a:t>(</a:t>
            </a:r>
            <a:r>
              <a:rPr sz="1400" b="0" i="0">
                <a:solidFill>
                  <a:srgbClr val="7CC4FF"/>
                </a:solidFill>
                <a:latin typeface="Courier New"/>
              </a:rPr>
              <a:t>0</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bool</a:t>
            </a:r>
            <a:r>
              <a:rPr sz="1400" b="0" i="0">
                <a:solidFill>
                  <a:srgbClr val="E6EDF3"/>
                </a:solidFill>
                <a:latin typeface="Courier New"/>
              </a:rPr>
              <a:t>(</a:t>
            </a:r>
            <a:r>
              <a:rPr sz="1400" b="0" i="0">
                <a:solidFill>
                  <a:srgbClr val="7CC4FF"/>
                </a:solidFill>
                <a:latin typeface="Courier New"/>
              </a:rPr>
              <a:t>1</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bool</a:t>
            </a:r>
            <a:r>
              <a:rPr sz="1400" b="0" i="0">
                <a:solidFill>
                  <a:srgbClr val="E6EDF3"/>
                </a:solidFill>
                <a:latin typeface="Courier New"/>
              </a:rPr>
              <a:t>(</a:t>
            </a:r>
            <a:r>
              <a:rPr sz="1400" b="0" i="0">
                <a:solidFill>
                  <a:srgbClr val="E6EDF3"/>
                </a:solidFill>
                <a:latin typeface="Courier New"/>
              </a:rPr>
              <a:t>-</a:t>
            </a:r>
            <a:r>
              <a:rPr sz="1400" b="0" i="0">
                <a:solidFill>
                  <a:srgbClr val="7CC4FF"/>
                </a:solidFill>
                <a:latin typeface="Courier New"/>
              </a:rPr>
              <a:t>3.5</a:t>
            </a:r>
            <a:r>
              <a:rPr sz="1400" b="0" i="0">
                <a:solidFill>
                  <a:srgbClr val="E6EDF3"/>
                </a:solidFill>
                <a:latin typeface="Courier New"/>
              </a:rPr>
              <a:t>)</a:t>
            </a:r>
            <a:r>
              <a:rPr sz="1400" b="0" i="0">
                <a:solidFill>
                  <a:srgbClr val="E6EDF3"/>
                </a:solidFill>
                <a:latin typeface="Courier New"/>
              </a:rPr>
              <a:t>)</a:t>
            </a:r>
          </a:p>
        </p:txBody>
      </p:sp>
      <p:sp>
        <p:nvSpPr>
          <p:cNvPr id="7" name="explanation"/>
          <p:cNvSpPr txBox="1"/>
          <p:nvPr/>
        </p:nvSpPr>
        <p:spPr>
          <a:xfrm>
            <a:off x="5404104" y="1619440"/>
            <a:ext cx="3374136" cy="723328"/>
          </a:xfrm>
          <a:prstGeom prst="rect">
            <a:avLst/>
          </a:prstGeom>
          <a:noFill/>
        </p:spPr>
        <p:txBody>
          <a:bodyPr wrap="square" lIns="128016" rIns="128016" tIns="18288" bIns="18288" anchor="ctr">
            <a:spAutoFit/>
          </a:bodyPr>
          <a:lstStyle/>
          <a:p>
            <a:r>
              <a:rPr sz="1250" b="0" i="0">
                <a:solidFill>
                  <a:srgbClr val="1F2933"/>
                </a:solidFill>
                <a:latin typeface="Calibri"/>
              </a:rPr>
              <a:t>bool() turns any number into a Boolean value: zero gives False and every other number gives True.</a:t>
            </a:r>
          </a:p>
        </p:txBody>
      </p:sp>
      <p:sp>
        <p:nvSpPr>
          <p:cNvPr id="8" name="result label"/>
          <p:cNvSpPr txBox="1"/>
          <p:nvPr/>
        </p:nvSpPr>
        <p:spPr>
          <a:xfrm>
            <a:off x="365760" y="241592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690241"/>
          <a:ext cx="5047486" cy="1918329"/>
        </p:xfrm>
        <a:graphic>
          <a:graphicData uri="http://schemas.openxmlformats.org/drawingml/2006/table">
            <a:tbl>
              <a:tblPr firstRow="0" bandRow="0"/>
              <a:tblGrid>
                <a:gridCol w="2294312"/>
                <a:gridCol w="1376587"/>
                <a:gridCol w="1376587"/>
              </a:tblGrid>
              <a:tr h="274047">
                <a:tc>
                  <a:txBody>
                    <a:bodyPr wrap="square"/>
                    <a:lstStyle/>
                    <a:p>
                      <a:r>
                        <a:rPr sz="1050" b="1" i="0">
                          <a:solidFill>
                            <a:srgbClr val="FFFFFF"/>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047">
                <a:tc>
                  <a:txBody>
                    <a:bodyPr wrap="square"/>
                    <a:lstStyle/>
                    <a:p>
                      <a:r>
                        <a:rPr sz="1050" b="0" i="0">
                          <a:solidFill>
                            <a:srgbClr val="1F2933"/>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bool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047">
                <a:tc>
                  <a:txBody>
                    <a:bodyPr wrap="square"/>
                    <a:lstStyle/>
                    <a:p>
                      <a:r>
                        <a:rPr sz="1050" b="0" i="0">
                          <a:solidFill>
                            <a:srgbClr val="1F2933"/>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bool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047">
                <a:tc>
                  <a:txBody>
                    <a:bodyPr wrap="square"/>
                    <a:lstStyle/>
                    <a:p>
                      <a:r>
                        <a:rPr sz="1050" b="0" i="0">
                          <a:solidFill>
                            <a:srgbClr val="1F2933"/>
                          </a:solidFill>
                          <a:latin typeface="Courier New"/>
                        </a:rPr>
                        <a:t>True + 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047">
                <a:tc>
                  <a:txBody>
                    <a:bodyPr wrap="square"/>
                    <a:lstStyle/>
                    <a:p>
                      <a:r>
                        <a:rPr sz="1050" b="0" i="0">
                          <a:solidFill>
                            <a:srgbClr val="1F2933"/>
                          </a:solidFill>
                          <a:latin typeface="Courier New"/>
                        </a:rPr>
                        <a:t>int(False)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047">
                <a:tc>
                  <a:txBody>
                    <a:bodyPr wrap="square"/>
                    <a:lstStyle/>
                    <a:p>
                      <a:r>
                        <a:rPr sz="1050" b="0" i="0">
                          <a:solidFill>
                            <a:srgbClr val="1F2933"/>
                          </a:solidFill>
                          <a:latin typeface="Courier New"/>
                        </a:rPr>
                        <a:t>bool(0)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bool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047">
                <a:tc>
                  <a:txBody>
                    <a:bodyPr wrap="square"/>
                    <a:lstStyle/>
                    <a:p>
                      <a:r>
                        <a:rPr sz="1050" b="0" i="0">
                          <a:solidFill>
                            <a:srgbClr val="1F2933"/>
                          </a:solidFill>
                          <a:latin typeface="Courier New"/>
                        </a:rPr>
                        <a:t>bool(-3.5)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bool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0" name="TextBox 9"/>
          <p:cNvSpPr txBox="1"/>
          <p:nvPr/>
        </p:nvSpPr>
        <p:spPr>
          <a:xfrm>
            <a:off x="5665622" y="2671953"/>
            <a:ext cx="3112617" cy="219456"/>
          </a:xfrm>
          <a:prstGeom prst="rect">
            <a:avLst/>
          </a:prstGeom>
          <a:noFill/>
        </p:spPr>
        <p:txBody>
          <a:bodyPr wrap="square" lIns="45720" rIns="45720" tIns="27432" bIns="27432" anchor="t">
            <a:spAutoFit/>
          </a:bodyPr>
          <a:lstStyle/>
          <a:p>
            <a:r>
              <a:rPr sz="1000" b="0" i="1">
                <a:solidFill>
                  <a:srgbClr val="5B6773"/>
                </a:solidFill>
                <a:latin typeface="Calibri"/>
              </a:rPr>
              <a:t>the same values as numbers</a:t>
            </a:r>
          </a:p>
        </p:txBody>
      </p:sp>
      <p:graphicFrame>
        <p:nvGraphicFramePr>
          <p:cNvPr id="11" name="chart"/>
          <p:cNvGraphicFramePr>
            <a:graphicFrameLocks noGrp="1"/>
          </p:cNvGraphicFramePr>
          <p:nvPr/>
        </p:nvGraphicFramePr>
        <p:xfrm>
          <a:off x="5665622" y="2873121"/>
          <a:ext cx="3112617" cy="1735455"/>
        </p:xfrm>
        <a:graphic>
          <a:graphicData uri="http://schemas.openxmlformats.org/drawingml/2006/chart">
            <c:chart xmlns:c="http://schemas.openxmlformats.org/drawingml/2006/chart" r:id="rId3"/>
          </a:graphicData>
        </a:graphic>
      </p:graphicFrame>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Two values only: True and False.</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6 / 42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Comparison operators</a:t>
            </a:r>
          </a:p>
        </p:txBody>
      </p:sp>
      <p:sp>
        <p:nvSpPr>
          <p:cNvPr id="4" name="code"/>
          <p:cNvSpPr/>
          <p:nvPr/>
        </p:nvSpPr>
        <p:spPr>
          <a:xfrm>
            <a:off x="365760" y="841248"/>
            <a:ext cx="3669791"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x</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y</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7</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9</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x</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y</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x</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y</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x</a:t>
            </a:r>
            <a:r>
              <a:rPr sz="1400" b="0" i="0">
                <a:solidFill>
                  <a:srgbClr val="E6EDF3"/>
                </a:solidFill>
                <a:latin typeface="Courier New"/>
              </a:rPr>
              <a:t> </a:t>
            </a:r>
            <a:r>
              <a:rPr sz="1400" b="0" i="0">
                <a:solidFill>
                  <a:srgbClr val="E6EDF3"/>
                </a:solidFill>
                <a:latin typeface="Courier New"/>
              </a:rPr>
              <a:t>&lt;</a:t>
            </a:r>
            <a:r>
              <a:rPr sz="1400" b="0" i="0">
                <a:solidFill>
                  <a:srgbClr val="E6EDF3"/>
                </a:solidFill>
                <a:latin typeface="Courier New"/>
              </a:rPr>
              <a:t> </a:t>
            </a:r>
            <a:r>
              <a:rPr sz="1400" b="0" i="0">
                <a:solidFill>
                  <a:srgbClr val="E6EDF3"/>
                </a:solidFill>
                <a:latin typeface="Courier New"/>
              </a:rPr>
              <a:t>y</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x</a:t>
            </a:r>
            <a:r>
              <a:rPr sz="1400" b="0" i="0">
                <a:solidFill>
                  <a:srgbClr val="E6EDF3"/>
                </a:solidFill>
                <a:latin typeface="Courier New"/>
              </a:rPr>
              <a:t> </a:t>
            </a:r>
            <a:r>
              <a:rPr sz="1400" b="0" i="0">
                <a:solidFill>
                  <a:srgbClr val="E6EDF3"/>
                </a:solidFill>
                <a:latin typeface="Courier New"/>
              </a:rPr>
              <a:t>&lt;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y</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x</a:t>
            </a:r>
            <a:r>
              <a:rPr sz="1400" b="0" i="0">
                <a:solidFill>
                  <a:srgbClr val="E6EDF3"/>
                </a:solidFill>
                <a:latin typeface="Courier New"/>
              </a:rPr>
              <a:t> </a:t>
            </a:r>
            <a:r>
              <a:rPr sz="1400" b="0" i="0">
                <a:solidFill>
                  <a:srgbClr val="E6EDF3"/>
                </a:solidFill>
                <a:latin typeface="Courier New"/>
              </a:rPr>
              <a:t>&gt;</a:t>
            </a:r>
            <a:r>
              <a:rPr sz="1400" b="0" i="0">
                <a:solidFill>
                  <a:srgbClr val="E6EDF3"/>
                </a:solidFill>
                <a:latin typeface="Courier New"/>
              </a:rPr>
              <a:t> </a:t>
            </a:r>
            <a:r>
              <a:rPr sz="1400" b="0" i="0">
                <a:solidFill>
                  <a:srgbClr val="E6EDF3"/>
                </a:solidFill>
                <a:latin typeface="Courier New"/>
              </a:rPr>
              <a:t>y</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x</a:t>
            </a:r>
            <a:r>
              <a:rPr sz="1400" b="0" i="0">
                <a:solidFill>
                  <a:srgbClr val="E6EDF3"/>
                </a:solidFill>
                <a:latin typeface="Courier New"/>
              </a:rPr>
              <a:t> </a:t>
            </a:r>
            <a:r>
              <a:rPr sz="1400" b="0" i="0">
                <a:solidFill>
                  <a:srgbClr val="E6EDF3"/>
                </a:solidFill>
                <a:latin typeface="Courier New"/>
              </a:rPr>
              <a:t>&gt;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y</a:t>
            </a:r>
            <a:r>
              <a:rPr sz="1400" b="0" i="0">
                <a:solidFill>
                  <a:srgbClr val="E6EDF3"/>
                </a:solidFill>
                <a:latin typeface="Courier New"/>
              </a:rPr>
              <a:t>)</a:t>
            </a:r>
          </a:p>
        </p:txBody>
      </p:sp>
      <p:sp>
        <p:nvSpPr>
          <p:cNvPr id="5" name="explanation"/>
          <p:cNvSpPr txBox="1"/>
          <p:nvPr/>
        </p:nvSpPr>
        <p:spPr>
          <a:xfrm>
            <a:off x="4017264" y="841248"/>
            <a:ext cx="4760975" cy="833628"/>
          </a:xfrm>
          <a:prstGeom prst="rect">
            <a:avLst/>
          </a:prstGeom>
          <a:noFill/>
        </p:spPr>
        <p:txBody>
          <a:bodyPr wrap="square" lIns="128016" rIns="128016" tIns="18288" bIns="18288" anchor="ctr">
            <a:spAutoFit/>
          </a:bodyPr>
          <a:lstStyle/>
          <a:p>
            <a:r>
              <a:rPr sz="1250" b="0" i="0">
                <a:solidFill>
                  <a:srgbClr val="1F2933"/>
                </a:solidFill>
                <a:latin typeface="Calibri"/>
              </a:rPr>
              <a:t>Each comparison operator compares two values and returns a Boolean value. Here x is 7 and y is 9.</a:t>
            </a:r>
          </a:p>
        </p:txBody>
      </p:sp>
      <p:sp>
        <p:nvSpPr>
          <p:cNvPr id="6" name="result label"/>
          <p:cNvSpPr txBox="1"/>
          <p:nvPr/>
        </p:nvSpPr>
        <p:spPr>
          <a:xfrm>
            <a:off x="365760" y="174802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7" name="table"/>
          <p:cNvGraphicFramePr>
            <a:graphicFrameLocks noGrp="1"/>
          </p:cNvGraphicFramePr>
          <p:nvPr/>
        </p:nvGraphicFramePr>
        <p:xfrm>
          <a:off x="365760" y="2022347"/>
          <a:ext cx="5383986" cy="1920240"/>
        </p:xfrm>
        <a:graphic>
          <a:graphicData uri="http://schemas.openxmlformats.org/drawingml/2006/table">
            <a:tbl>
              <a:tblPr firstRow="0" bandRow="0"/>
              <a:tblGrid>
                <a:gridCol w="897331"/>
                <a:gridCol w="2193476"/>
                <a:gridCol w="1296145"/>
                <a:gridCol w="997034"/>
              </a:tblGrid>
              <a:tr h="274320">
                <a:tc>
                  <a:txBody>
                    <a:bodyPr wrap="square"/>
                    <a:lstStyle/>
                    <a:p>
                      <a:r>
                        <a:rPr sz="1050" b="1" i="0">
                          <a:solidFill>
                            <a:srgbClr val="FFFFFF"/>
                          </a:solidFill>
                          <a:latin typeface="Calibri"/>
                        </a:rPr>
                        <a:t>Operator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Reads as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x op 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50" b="1"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equal to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7 == 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1"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not equal to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7 != 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50" b="1" i="0">
                          <a:solidFill>
                            <a:srgbClr val="1F2933"/>
                          </a:solidFill>
                          <a:latin typeface="Courier New"/>
                        </a:rPr>
                        <a:t>&lt;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less than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7 &lt; 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1" i="0">
                          <a:solidFill>
                            <a:srgbClr val="1F2933"/>
                          </a:solidFill>
                          <a:latin typeface="Courier New"/>
                        </a:rPr>
                        <a:t>&lt;=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less than or equal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7 &lt;= 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50" b="1" i="0">
                          <a:solidFill>
                            <a:srgbClr val="1F2933"/>
                          </a:solidFill>
                          <a:latin typeface="Courier New"/>
                        </a:rPr>
                        <a:t>&gt;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greater than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7 &gt; 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1" i="0">
                          <a:solidFill>
                            <a:srgbClr val="1F2933"/>
                          </a:solidFill>
                          <a:latin typeface="Courier New"/>
                        </a:rPr>
                        <a:t>&gt;=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greater than or equal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7 &gt;= 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8" name="TextBox 7"/>
          <p:cNvSpPr txBox="1"/>
          <p:nvPr/>
        </p:nvSpPr>
        <p:spPr>
          <a:xfrm>
            <a:off x="6002121" y="2004059"/>
            <a:ext cx="2776118" cy="219456"/>
          </a:xfrm>
          <a:prstGeom prst="rect">
            <a:avLst/>
          </a:prstGeom>
          <a:noFill/>
        </p:spPr>
        <p:txBody>
          <a:bodyPr wrap="square" lIns="45720" rIns="45720" tIns="27432" bIns="27432" anchor="t">
            <a:spAutoFit/>
          </a:bodyPr>
          <a:lstStyle/>
          <a:p>
            <a:r>
              <a:rPr sz="1000" b="0" i="1">
                <a:solidFill>
                  <a:srgbClr val="5B6773"/>
                </a:solidFill>
                <a:latin typeface="Calibri"/>
              </a:rPr>
              <a:t>True counts as 1, False as 0</a:t>
            </a:r>
          </a:p>
        </p:txBody>
      </p:sp>
      <p:graphicFrame>
        <p:nvGraphicFramePr>
          <p:cNvPr id="9" name="chart"/>
          <p:cNvGraphicFramePr>
            <a:graphicFrameLocks noGrp="1"/>
          </p:cNvGraphicFramePr>
          <p:nvPr/>
        </p:nvGraphicFramePr>
        <p:xfrm>
          <a:off x="6002121" y="2205228"/>
          <a:ext cx="2776118" cy="2403348"/>
        </p:xfrm>
        <a:graphic>
          <a:graphicData uri="http://schemas.openxmlformats.org/drawingml/2006/chart">
            <c:chart xmlns:c="http://schemas.openxmlformats.org/drawingml/2006/chart" r:id="rId3"/>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comparison asks a question and answers True or False.</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7 / 42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Equality, types and string order</a:t>
            </a:r>
          </a:p>
        </p:txBody>
      </p:sp>
      <p:sp>
        <p:nvSpPr>
          <p:cNvPr id="4" name="code"/>
          <p:cNvSpPr/>
          <p:nvPr/>
        </p:nvSpPr>
        <p:spPr>
          <a:xfrm>
            <a:off x="365760" y="841248"/>
            <a:ext cx="511759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7CC4FF"/>
                </a:solidFill>
                <a:latin typeface="Courier New"/>
              </a:rPr>
              <a:t>42</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42.0</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42</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'42'</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'hello'</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'Hello'</a:t>
            </a:r>
            <a:r>
              <a:rPr sz="1100" b="0" i="0">
                <a:solidFill>
                  <a:srgbClr val="E6EDF3"/>
                </a:solidFill>
                <a:latin typeface="Courier New"/>
              </a:rPr>
              <a:t>)</a:t>
            </a:r>
          </a:p>
        </p:txBody>
      </p:sp>
      <p:sp>
        <p:nvSpPr>
          <p:cNvPr id="5" name="explanation"/>
          <p:cNvSpPr txBox="1"/>
          <p:nvPr/>
        </p:nvSpPr>
        <p:spPr>
          <a:xfrm>
            <a:off x="5465064" y="841248"/>
            <a:ext cx="3313176" cy="699516"/>
          </a:xfrm>
          <a:prstGeom prst="rect">
            <a:avLst/>
          </a:prstGeom>
          <a:noFill/>
        </p:spPr>
        <p:txBody>
          <a:bodyPr wrap="square" lIns="128016" rIns="128016" tIns="18288" bIns="18288" anchor="ctr">
            <a:spAutoFit/>
          </a:bodyPr>
          <a:lstStyle/>
          <a:p>
            <a:r>
              <a:rPr sz="1200" b="0" i="0">
                <a:solidFill>
                  <a:srgbClr val="1F2933"/>
                </a:solidFill>
                <a:latin typeface="Calibri"/>
              </a:rPr>
              <a:t>A number and a string never fit each other. Two strings are equal only if every letter has the same case.</a:t>
            </a:r>
          </a:p>
        </p:txBody>
      </p:sp>
      <p:sp>
        <p:nvSpPr>
          <p:cNvPr id="6" name="code"/>
          <p:cNvSpPr/>
          <p:nvPr/>
        </p:nvSpPr>
        <p:spPr>
          <a:xfrm>
            <a:off x="365760" y="1595628"/>
            <a:ext cx="5117591"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7CC4FF"/>
                </a:solidFill>
                <a:latin typeface="Courier New"/>
              </a:rPr>
              <a:t>0.1</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0.2</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0.3</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'apple'</a:t>
            </a:r>
            <a:r>
              <a:rPr sz="1100" b="0" i="0">
                <a:solidFill>
                  <a:srgbClr val="E6EDF3"/>
                </a:solidFill>
                <a:latin typeface="Courier New"/>
              </a:rPr>
              <a:t> </a:t>
            </a:r>
            <a:r>
              <a:rPr sz="1100" b="0" i="0">
                <a:solidFill>
                  <a:srgbClr val="E6EDF3"/>
                </a:solidFill>
                <a:latin typeface="Courier New"/>
              </a:rPr>
              <a:t>&lt;</a:t>
            </a:r>
            <a:r>
              <a:rPr sz="1100" b="0" i="0">
                <a:solidFill>
                  <a:srgbClr val="E6EDF3"/>
                </a:solidFill>
                <a:latin typeface="Courier New"/>
              </a:rPr>
              <a:t> </a:t>
            </a:r>
            <a:r>
              <a:rPr sz="1100" b="0" i="0">
                <a:solidFill>
                  <a:srgbClr val="9BE3A8"/>
                </a:solidFill>
                <a:latin typeface="Courier New"/>
              </a:rPr>
              <a:t>'banana'</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'Z'</a:t>
            </a:r>
            <a:r>
              <a:rPr sz="1100" b="0" i="0">
                <a:solidFill>
                  <a:srgbClr val="E6EDF3"/>
                </a:solidFill>
                <a:latin typeface="Courier New"/>
              </a:rPr>
              <a:t> </a:t>
            </a:r>
            <a:r>
              <a:rPr sz="1100" b="0" i="0">
                <a:solidFill>
                  <a:srgbClr val="E6EDF3"/>
                </a:solidFill>
                <a:latin typeface="Courier New"/>
              </a:rPr>
              <a:t>&lt;</a:t>
            </a:r>
            <a:r>
              <a:rPr sz="1100" b="0" i="0">
                <a:solidFill>
                  <a:srgbClr val="E6EDF3"/>
                </a:solidFill>
                <a:latin typeface="Courier New"/>
              </a:rPr>
              <a:t> </a:t>
            </a:r>
            <a:r>
              <a:rPr sz="1100" b="0" i="0">
                <a:solidFill>
                  <a:srgbClr val="9BE3A8"/>
                </a:solidFill>
                <a:latin typeface="Courier New"/>
              </a:rPr>
              <a:t>'a'</a:t>
            </a:r>
            <a:r>
              <a:rPr sz="1100" b="0" i="0">
                <a:solidFill>
                  <a:srgbClr val="E6EDF3"/>
                </a:solidFill>
                <a:latin typeface="Courier New"/>
              </a:rPr>
              <a:t>)</a:t>
            </a:r>
          </a:p>
        </p:txBody>
      </p:sp>
      <p:sp>
        <p:nvSpPr>
          <p:cNvPr id="7" name="explanation"/>
          <p:cNvSpPr txBox="1"/>
          <p:nvPr/>
        </p:nvSpPr>
        <p:spPr>
          <a:xfrm>
            <a:off x="5465064" y="1595628"/>
            <a:ext cx="3313176" cy="890016"/>
          </a:xfrm>
          <a:prstGeom prst="rect">
            <a:avLst/>
          </a:prstGeom>
          <a:noFill/>
        </p:spPr>
        <p:txBody>
          <a:bodyPr wrap="square" lIns="128016" rIns="128016" tIns="18288" bIns="18288" anchor="ctr">
            <a:spAutoFit/>
          </a:bodyPr>
          <a:lstStyle/>
          <a:p>
            <a:r>
              <a:rPr sz="1200" b="0" i="0">
                <a:solidFill>
                  <a:srgbClr val="1F2933"/>
                </a:solidFill>
                <a:latin typeface="Calibri"/>
              </a:rPr>
              <a:t>Decimal fractions are stored in binary and can be a little off. Strings are ordered by character code, so capitals come first.</a:t>
            </a:r>
          </a:p>
        </p:txBody>
      </p:sp>
      <p:sp>
        <p:nvSpPr>
          <p:cNvPr id="8" name="result label"/>
          <p:cNvSpPr txBox="1"/>
          <p:nvPr/>
        </p:nvSpPr>
        <p:spPr>
          <a:xfrm>
            <a:off x="365760" y="2558796"/>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833116"/>
          <a:ext cx="8412479" cy="1775459"/>
        </p:xfrm>
        <a:graphic>
          <a:graphicData uri="http://schemas.openxmlformats.org/drawingml/2006/table">
            <a:tbl>
              <a:tblPr firstRow="0" bandRow="0"/>
              <a:tblGrid>
                <a:gridCol w="2432524"/>
                <a:gridCol w="912196"/>
                <a:gridCol w="5067759"/>
              </a:tblGrid>
              <a:tr h="253637">
                <a:tc>
                  <a:txBody>
                    <a:bodyPr wrap="square"/>
                    <a:lstStyle/>
                    <a:p>
                      <a:r>
                        <a:rPr sz="1050" b="1" i="0">
                          <a:solidFill>
                            <a:srgbClr val="FFFFFF"/>
                          </a:solidFill>
                          <a:latin typeface="Calibri"/>
                        </a:rPr>
                        <a:t>Comparison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Why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53637">
                <a:tc>
                  <a:txBody>
                    <a:bodyPr wrap="square"/>
                    <a:lstStyle/>
                    <a:p>
                      <a:r>
                        <a:rPr sz="1050" b="0" i="0">
                          <a:solidFill>
                            <a:srgbClr val="1F2933"/>
                          </a:solidFill>
                          <a:latin typeface="Courier New"/>
                        </a:rPr>
                        <a:t>42 == 42.0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an int and a float with the same value are equal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53637">
                <a:tc>
                  <a:txBody>
                    <a:bodyPr wrap="square"/>
                    <a:lstStyle/>
                    <a:p>
                      <a:r>
                        <a:rPr sz="1050" b="0" i="0">
                          <a:solidFill>
                            <a:srgbClr val="1F2933"/>
                          </a:solidFill>
                          <a:latin typeface="Courier New"/>
                        </a:rPr>
                        <a:t>42 == '42'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a number never equals a string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53637">
                <a:tc>
                  <a:txBody>
                    <a:bodyPr wrap="square"/>
                    <a:lstStyle/>
                    <a:p>
                      <a:r>
                        <a:rPr sz="1050" b="0" i="0">
                          <a:solidFill>
                            <a:srgbClr val="1F2933"/>
                          </a:solidFill>
                          <a:latin typeface="Courier New"/>
                        </a:rPr>
                        <a:t>'hello' == 'Hello'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the case of a letter matters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53637">
                <a:tc>
                  <a:txBody>
                    <a:bodyPr wrap="square"/>
                    <a:lstStyle/>
                    <a:p>
                      <a:r>
                        <a:rPr sz="1050" b="0" i="0">
                          <a:solidFill>
                            <a:srgbClr val="1F2933"/>
                          </a:solidFill>
                          <a:latin typeface="Courier New"/>
                        </a:rPr>
                        <a:t>0.1 + 0.2 == 0.3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the sum is 0.30000000000000004, not 0.3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53637">
                <a:tc>
                  <a:txBody>
                    <a:bodyPr wrap="square"/>
                    <a:lstStyle/>
                    <a:p>
                      <a:r>
                        <a:rPr sz="1050" b="0" i="0">
                          <a:solidFill>
                            <a:srgbClr val="1F2933"/>
                          </a:solidFill>
                          <a:latin typeface="Courier New"/>
                        </a:rPr>
                        <a:t>'apple' &lt; 'banana'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a comes before b in the alphabet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53637">
                <a:tc>
                  <a:txBody>
                    <a:bodyPr wrap="square"/>
                    <a:lstStyle/>
                    <a:p>
                      <a:r>
                        <a:rPr sz="1050" b="0" i="0">
                          <a:solidFill>
                            <a:srgbClr val="1F2933"/>
                          </a:solidFill>
                          <a:latin typeface="Courier New"/>
                        </a:rPr>
                        <a:t>'Z' &lt; 'a'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character code 90 is below 97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Types, case and character codes all affect ==.</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8 / 42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the man inside the bool type</a:t>
            </a:r>
          </a:p>
        </p:txBody>
      </p:sp>
      <p:pic>
        <p:nvPicPr>
          <p:cNvPr id="4" name="photo boole" descr="Picture for the story: the man inside the bool type"/>
          <p:cNvPicPr>
            <a:picLocks noChangeAspect="1"/>
          </p:cNvPicPr>
          <p:nvPr/>
        </p:nvPicPr>
        <p:blipFill>
          <a:blip r:embed="rId3"/>
          <a:stretch>
            <a:fillRect/>
          </a:stretch>
        </p:blipFill>
        <p:spPr>
          <a:xfrm>
            <a:off x="594360" y="868680"/>
            <a:ext cx="2194560"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George Boole. Portrait: public domain, via Wikimedia Commons (George Boole color.jpg).</a:t>
            </a:r>
          </a:p>
        </p:txBody>
      </p:sp>
      <p:sp>
        <p:nvSpPr>
          <p:cNvPr id="6" name="card"/>
          <p:cNvSpPr/>
          <p:nvPr/>
        </p:nvSpPr>
        <p:spPr>
          <a:xfrm>
            <a:off x="3200400" y="84124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George Boole, a self-taught mathematician and the first professor of mathematics at Queen's College, Cork.</a:t>
            </a:r>
          </a:p>
        </p:txBody>
      </p:sp>
      <p:sp>
        <p:nvSpPr>
          <p:cNvPr id="8" name="card"/>
          <p:cNvSpPr/>
          <p:nvPr/>
        </p:nvSpPr>
        <p:spPr>
          <a:xfrm>
            <a:off x="3200400" y="146304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6304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He showed that logic follows algebra: statements become values, and AND, OR and NOT become operations on them.</a:t>
            </a:r>
          </a:p>
        </p:txBody>
      </p:sp>
      <p:sp>
        <p:nvSpPr>
          <p:cNvPr id="10" name="card"/>
          <p:cNvSpPr/>
          <p:nvPr/>
        </p:nvSpPr>
        <p:spPr>
          <a:xfrm>
            <a:off x="3200400" y="2084832"/>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2084832"/>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1847 in The Mathematical Analysis of Logic, 1854 in An Investigation of the Laws of Thought. He died on 8 December 1864.</a:t>
            </a:r>
          </a:p>
        </p:txBody>
      </p:sp>
      <p:sp>
        <p:nvSpPr>
          <p:cNvPr id="12" name="card"/>
          <p:cNvSpPr/>
          <p:nvPr/>
        </p:nvSpPr>
        <p:spPr>
          <a:xfrm>
            <a:off x="3200400" y="2706624"/>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706624"/>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He was born in Lincoln, England, and wrote the Laws of Thought in Cork, Ireland.</a:t>
            </a:r>
          </a:p>
        </p:txBody>
      </p:sp>
      <p:sp>
        <p:nvSpPr>
          <p:cNvPr id="14" name="card"/>
          <p:cNvSpPr/>
          <p:nvPr/>
        </p:nvSpPr>
        <p:spPr>
          <a:xfrm>
            <a:off x="3200400" y="3328415"/>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328415"/>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He wanted the laws of reasoning written as exact rules that anyone can calculate with.</a:t>
            </a:r>
          </a:p>
        </p:txBody>
      </p:sp>
      <p:sp>
        <p:nvSpPr>
          <p:cNvPr id="16" name="card"/>
          <p:cNvSpPr/>
          <p:nvPr/>
        </p:nvSpPr>
        <p:spPr>
          <a:xfrm>
            <a:off x="3200400" y="3950207"/>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950207"/>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Python names its type bool after him, and every and, or and not of this chapter is one of his operations.</a:t>
            </a:r>
          </a:p>
        </p:txBody>
      </p:sp>
      <p:sp>
        <p:nvSpPr>
          <p:cNvPr id="18" name="read"/>
          <p:cNvSpPr txBox="1"/>
          <p:nvPr/>
        </p:nvSpPr>
        <p:spPr>
          <a:xfrm>
            <a:off x="3200400" y="4590287"/>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George Boole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9 / 42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Chained comparisons</a:t>
            </a:r>
          </a:p>
        </p:txBody>
      </p:sp>
      <p:sp>
        <p:nvSpPr>
          <p:cNvPr id="4" name="code"/>
          <p:cNvSpPr/>
          <p:nvPr/>
        </p:nvSpPr>
        <p:spPr>
          <a:xfrm>
            <a:off x="365760" y="841248"/>
            <a:ext cx="441655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age</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15</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10</a:t>
            </a:r>
            <a:r>
              <a:rPr sz="1400" b="0" i="0">
                <a:solidFill>
                  <a:srgbClr val="E6EDF3"/>
                </a:solidFill>
                <a:latin typeface="Courier New"/>
              </a:rPr>
              <a:t> </a:t>
            </a:r>
            <a:r>
              <a:rPr sz="1400" b="0" i="0">
                <a:solidFill>
                  <a:srgbClr val="E6EDF3"/>
                </a:solidFill>
                <a:latin typeface="Courier New"/>
              </a:rPr>
              <a:t>&lt;</a:t>
            </a:r>
            <a:r>
              <a:rPr sz="1400" b="0" i="0">
                <a:solidFill>
                  <a:srgbClr val="E6EDF3"/>
                </a:solidFill>
                <a:latin typeface="Courier New"/>
              </a:rPr>
              <a:t> </a:t>
            </a:r>
            <a:r>
              <a:rPr sz="1400" b="0" i="0">
                <a:solidFill>
                  <a:srgbClr val="E6EDF3"/>
                </a:solidFill>
                <a:latin typeface="Courier New"/>
              </a:rPr>
              <a:t>age</a:t>
            </a:r>
            <a:r>
              <a:rPr sz="1400" b="0" i="0">
                <a:solidFill>
                  <a:srgbClr val="E6EDF3"/>
                </a:solidFill>
                <a:latin typeface="Courier New"/>
              </a:rPr>
              <a:t> </a:t>
            </a:r>
            <a:r>
              <a:rPr sz="1400" b="0" i="0">
                <a:solidFill>
                  <a:srgbClr val="E6EDF3"/>
                </a:solidFill>
                <a:latin typeface="Courier New"/>
              </a:rPr>
              <a:t>&lt;</a:t>
            </a:r>
            <a:r>
              <a:rPr sz="1400" b="0" i="0">
                <a:solidFill>
                  <a:srgbClr val="E6EDF3"/>
                </a:solidFill>
                <a:latin typeface="Courier New"/>
              </a:rPr>
              <a:t> </a:t>
            </a:r>
            <a:r>
              <a:rPr sz="1400" b="0" i="0">
                <a:solidFill>
                  <a:srgbClr val="7CC4FF"/>
                </a:solidFill>
                <a:latin typeface="Courier New"/>
              </a:rPr>
              <a:t>20</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10</a:t>
            </a:r>
            <a:r>
              <a:rPr sz="1400" b="0" i="0">
                <a:solidFill>
                  <a:srgbClr val="E6EDF3"/>
                </a:solidFill>
                <a:latin typeface="Courier New"/>
              </a:rPr>
              <a:t> </a:t>
            </a:r>
            <a:r>
              <a:rPr sz="1400" b="0" i="0">
                <a:solidFill>
                  <a:srgbClr val="E6EDF3"/>
                </a:solidFill>
                <a:latin typeface="Courier New"/>
              </a:rPr>
              <a:t>&lt;</a:t>
            </a:r>
            <a:r>
              <a:rPr sz="1400" b="0" i="0">
                <a:solidFill>
                  <a:srgbClr val="E6EDF3"/>
                </a:solidFill>
                <a:latin typeface="Courier New"/>
              </a:rPr>
              <a:t> </a:t>
            </a:r>
            <a:r>
              <a:rPr sz="1400" b="0" i="0">
                <a:solidFill>
                  <a:srgbClr val="E6EDF3"/>
                </a:solidFill>
                <a:latin typeface="Courier New"/>
              </a:rPr>
              <a:t>age</a:t>
            </a:r>
            <a:r>
              <a:rPr sz="1400" b="0" i="0">
                <a:solidFill>
                  <a:srgbClr val="E6EDF3"/>
                </a:solidFill>
                <a:latin typeface="Courier New"/>
              </a:rPr>
              <a:t> </a:t>
            </a:r>
            <a:r>
              <a:rPr sz="1400" b="0" i="0">
                <a:solidFill>
                  <a:srgbClr val="E6EDF3"/>
                </a:solidFill>
                <a:latin typeface="Courier New"/>
              </a:rPr>
              <a:t>&lt;</a:t>
            </a:r>
            <a:r>
              <a:rPr sz="1400" b="0" i="0">
                <a:solidFill>
                  <a:srgbClr val="E6EDF3"/>
                </a:solidFill>
                <a:latin typeface="Courier New"/>
              </a:rPr>
              <a:t> </a:t>
            </a:r>
            <a:r>
              <a:rPr sz="1400" b="0" i="0">
                <a:solidFill>
                  <a:srgbClr val="7CC4FF"/>
                </a:solidFill>
                <a:latin typeface="Courier New"/>
              </a:rPr>
              <a:t>12</a:t>
            </a:r>
            <a:r>
              <a:rPr sz="1400" b="0" i="0">
                <a:solidFill>
                  <a:srgbClr val="E6EDF3"/>
                </a:solidFill>
                <a:latin typeface="Courier New"/>
              </a:rPr>
              <a:t>)</a:t>
            </a:r>
          </a:p>
        </p:txBody>
      </p:sp>
      <p:sp>
        <p:nvSpPr>
          <p:cNvPr id="5" name="explanation"/>
          <p:cNvSpPr txBox="1"/>
          <p:nvPr/>
        </p:nvSpPr>
        <p:spPr>
          <a:xfrm>
            <a:off x="4764024" y="841248"/>
            <a:ext cx="4014215" cy="723328"/>
          </a:xfrm>
          <a:prstGeom prst="rect">
            <a:avLst/>
          </a:prstGeom>
          <a:noFill/>
        </p:spPr>
        <p:txBody>
          <a:bodyPr wrap="square" lIns="128016" rIns="128016" tIns="18288" bIns="18288" anchor="ctr">
            <a:spAutoFit/>
          </a:bodyPr>
          <a:lstStyle/>
          <a:p>
            <a:r>
              <a:rPr sz="1250" b="0" i="0">
                <a:solidFill>
                  <a:srgbClr val="1F2933"/>
                </a:solidFill>
                <a:latin typeface="Calibri"/>
              </a:rPr>
              <a:t>A chain such as 10 &lt; age &lt; 20 means 10 &lt; age and age &lt; 20. Python reads it the way a mathematician writes it.</a:t>
            </a:r>
          </a:p>
        </p:txBody>
      </p:sp>
      <p:sp>
        <p:nvSpPr>
          <p:cNvPr id="6" name="code"/>
          <p:cNvSpPr/>
          <p:nvPr/>
        </p:nvSpPr>
        <p:spPr>
          <a:xfrm>
            <a:off x="365760" y="1619440"/>
            <a:ext cx="441655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1</a:t>
            </a:r>
            <a:r>
              <a:rPr sz="1400" b="0" i="0">
                <a:solidFill>
                  <a:srgbClr val="E6EDF3"/>
                </a:solidFill>
                <a:latin typeface="Courier New"/>
              </a:rPr>
              <a:t> </a:t>
            </a:r>
            <a:r>
              <a:rPr sz="1400" b="0" i="0">
                <a:solidFill>
                  <a:srgbClr val="E6EDF3"/>
                </a:solidFill>
                <a:latin typeface="Courier New"/>
              </a:rPr>
              <a:t>&lt;</a:t>
            </a:r>
            <a:r>
              <a:rPr sz="1400" b="0" i="0">
                <a:solidFill>
                  <a:srgbClr val="E6EDF3"/>
                </a:solidFill>
                <a:latin typeface="Courier New"/>
              </a:rPr>
              <a:t> </a:t>
            </a:r>
            <a:r>
              <a:rPr sz="1400" b="0" i="0">
                <a:solidFill>
                  <a:srgbClr val="7CC4FF"/>
                </a:solidFill>
                <a:latin typeface="Courier New"/>
              </a:rPr>
              <a:t>2</a:t>
            </a:r>
            <a:r>
              <a:rPr sz="1400" b="0" i="0">
                <a:solidFill>
                  <a:srgbClr val="E6EDF3"/>
                </a:solidFill>
                <a:latin typeface="Courier New"/>
              </a:rPr>
              <a:t> </a:t>
            </a:r>
            <a:r>
              <a:rPr sz="1400" b="0" i="0">
                <a:solidFill>
                  <a:srgbClr val="E6EDF3"/>
                </a:solidFill>
                <a:latin typeface="Courier New"/>
              </a:rPr>
              <a:t>&gt;</a:t>
            </a:r>
            <a:r>
              <a:rPr sz="1400" b="0" i="0">
                <a:solidFill>
                  <a:srgbClr val="E6EDF3"/>
                </a:solidFill>
                <a:latin typeface="Courier New"/>
              </a:rPr>
              <a:t> </a:t>
            </a:r>
            <a:r>
              <a:rPr sz="1400" b="0" i="0">
                <a:solidFill>
                  <a:srgbClr val="7CC4FF"/>
                </a:solidFill>
                <a:latin typeface="Courier New"/>
              </a:rPr>
              <a:t>1.5</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3</a:t>
            </a:r>
            <a:r>
              <a:rPr sz="1400" b="0" i="0">
                <a:solidFill>
                  <a:srgbClr val="E6EDF3"/>
                </a:solidFill>
                <a:latin typeface="Courier New"/>
              </a:rPr>
              <a:t> </a:t>
            </a:r>
            <a:r>
              <a:rPr sz="1400" b="0" i="0">
                <a:solidFill>
                  <a:srgbClr val="E6EDF3"/>
                </a:solidFill>
                <a:latin typeface="Courier New"/>
              </a:rPr>
              <a:t>&gt;</a:t>
            </a:r>
            <a:r>
              <a:rPr sz="1400" b="0" i="0">
                <a:solidFill>
                  <a:srgbClr val="E6EDF3"/>
                </a:solidFill>
                <a:latin typeface="Courier New"/>
              </a:rPr>
              <a:t> </a:t>
            </a:r>
            <a:r>
              <a:rPr sz="1400" b="0" i="0">
                <a:solidFill>
                  <a:srgbClr val="7CC4FF"/>
                </a:solidFill>
                <a:latin typeface="Courier New"/>
              </a:rPr>
              <a:t>2</a:t>
            </a:r>
            <a:r>
              <a:rPr sz="1400" b="0" i="0">
                <a:solidFill>
                  <a:srgbClr val="E6EDF3"/>
                </a:solidFill>
                <a:latin typeface="Courier New"/>
              </a:rPr>
              <a:t> </a:t>
            </a:r>
            <a:r>
              <a:rPr sz="1400" b="0" i="0">
                <a:solidFill>
                  <a:srgbClr val="E6EDF3"/>
                </a:solidFill>
                <a:latin typeface="Courier New"/>
              </a:rPr>
              <a:t>&gt;</a:t>
            </a:r>
            <a:r>
              <a:rPr sz="1400" b="0" i="0">
                <a:solidFill>
                  <a:srgbClr val="E6EDF3"/>
                </a:solidFill>
                <a:latin typeface="Courier New"/>
              </a:rPr>
              <a:t> </a:t>
            </a:r>
            <a:r>
              <a:rPr sz="1400" b="0" i="0">
                <a:solidFill>
                  <a:srgbClr val="7CC4FF"/>
                </a:solidFill>
                <a:latin typeface="Courier New"/>
              </a:rPr>
              <a:t>5</a:t>
            </a:r>
            <a:r>
              <a:rPr sz="1400" b="0" i="0">
                <a:solidFill>
                  <a:srgbClr val="E6EDF3"/>
                </a:solidFill>
                <a:latin typeface="Courier New"/>
              </a:rPr>
              <a:t>)</a:t>
            </a:r>
          </a:p>
        </p:txBody>
      </p:sp>
      <p:sp>
        <p:nvSpPr>
          <p:cNvPr id="7" name="explanation"/>
          <p:cNvSpPr txBox="1"/>
          <p:nvPr/>
        </p:nvSpPr>
        <p:spPr>
          <a:xfrm>
            <a:off x="4764024" y="1619440"/>
            <a:ext cx="4014215" cy="723328"/>
          </a:xfrm>
          <a:prstGeom prst="rect">
            <a:avLst/>
          </a:prstGeom>
          <a:noFill/>
        </p:spPr>
        <p:txBody>
          <a:bodyPr wrap="square" lIns="128016" rIns="128016" tIns="18288" bIns="18288" anchor="ctr">
            <a:spAutoFit/>
          </a:bodyPr>
          <a:lstStyle/>
          <a:p>
            <a:r>
              <a:rPr sz="1250" b="0" i="0">
                <a:solidFill>
                  <a:srgbClr val="1F2933"/>
                </a:solidFill>
                <a:latin typeface="Calibri"/>
              </a:rPr>
              <a:t>Every link of the chain must be true. In the second chain 2 &gt; 5 is false, so the whole chain is false.</a:t>
            </a:r>
          </a:p>
        </p:txBody>
      </p:sp>
      <p:sp>
        <p:nvSpPr>
          <p:cNvPr id="8" name="result label"/>
          <p:cNvSpPr txBox="1"/>
          <p:nvPr/>
        </p:nvSpPr>
        <p:spPr>
          <a:xfrm>
            <a:off x="365760" y="241592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ange"/>
          <p:cNvSpPr/>
          <p:nvPr/>
        </p:nvSpPr>
        <p:spPr>
          <a:xfrm>
            <a:off x="2287219" y="2937129"/>
            <a:ext cx="1647139" cy="256032"/>
          </a:xfrm>
          <a:prstGeom prst="rect">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ange"/>
          <p:cNvSpPr/>
          <p:nvPr/>
        </p:nvSpPr>
        <p:spPr>
          <a:xfrm>
            <a:off x="2287219" y="2937129"/>
            <a:ext cx="329427" cy="256032"/>
          </a:xfrm>
          <a:prstGeom prst="rect">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640080" y="3193161"/>
            <a:ext cx="4941417" cy="0"/>
          </a:xfrm>
          <a:prstGeom prst="line">
            <a:avLst/>
          </a:prstGeom>
          <a:ln w="19050">
            <a:solidFill>
              <a:srgbClr val="5B6773"/>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40080" y="3193161"/>
            <a:ext cx="0" cy="64008"/>
          </a:xfrm>
          <a:prstGeom prst="line">
            <a:avLst/>
          </a:prstGeom>
          <a:ln w="12700">
            <a:solidFill>
              <a:srgbClr val="5B677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7199" y="3275457"/>
            <a:ext cx="365760" cy="182880"/>
          </a:xfrm>
          <a:prstGeom prst="rect">
            <a:avLst/>
          </a:prstGeom>
          <a:noFill/>
        </p:spPr>
        <p:txBody>
          <a:bodyPr wrap="square" lIns="0" rIns="0" tIns="0" bIns="0" anchor="t">
            <a:spAutoFit/>
          </a:bodyPr>
          <a:lstStyle/>
          <a:p>
            <a:pPr algn="ctr"/>
            <a:r>
              <a:rPr sz="900" b="0" i="0">
                <a:solidFill>
                  <a:srgbClr val="5B6773"/>
                </a:solidFill>
                <a:latin typeface="Calibri"/>
              </a:rPr>
              <a:t>0</a:t>
            </a:r>
          </a:p>
        </p:txBody>
      </p:sp>
      <p:cxnSp>
        <p:nvCxnSpPr>
          <p:cNvPr id="14" name="Connector 13"/>
          <p:cNvCxnSpPr/>
          <p:nvPr/>
        </p:nvCxnSpPr>
        <p:spPr>
          <a:xfrm>
            <a:off x="1463649" y="3193161"/>
            <a:ext cx="0" cy="64008"/>
          </a:xfrm>
          <a:prstGeom prst="line">
            <a:avLst/>
          </a:prstGeom>
          <a:ln w="12700">
            <a:solidFill>
              <a:srgbClr val="5B677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280769" y="3275457"/>
            <a:ext cx="365760" cy="182880"/>
          </a:xfrm>
          <a:prstGeom prst="rect">
            <a:avLst/>
          </a:prstGeom>
          <a:noFill/>
        </p:spPr>
        <p:txBody>
          <a:bodyPr wrap="square" lIns="0" rIns="0" tIns="0" bIns="0" anchor="t">
            <a:spAutoFit/>
          </a:bodyPr>
          <a:lstStyle/>
          <a:p>
            <a:pPr algn="ctr"/>
            <a:r>
              <a:rPr sz="900" b="0" i="0">
                <a:solidFill>
                  <a:srgbClr val="5B6773"/>
                </a:solidFill>
                <a:latin typeface="Calibri"/>
              </a:rPr>
              <a:t>5</a:t>
            </a:r>
          </a:p>
        </p:txBody>
      </p:sp>
      <p:cxnSp>
        <p:nvCxnSpPr>
          <p:cNvPr id="16" name="Connector 15"/>
          <p:cNvCxnSpPr/>
          <p:nvPr/>
        </p:nvCxnSpPr>
        <p:spPr>
          <a:xfrm>
            <a:off x="2287219" y="3193161"/>
            <a:ext cx="0" cy="64008"/>
          </a:xfrm>
          <a:prstGeom prst="line">
            <a:avLst/>
          </a:prstGeom>
          <a:ln w="12700">
            <a:solidFill>
              <a:srgbClr val="5B677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104339" y="3275457"/>
            <a:ext cx="365760" cy="182880"/>
          </a:xfrm>
          <a:prstGeom prst="rect">
            <a:avLst/>
          </a:prstGeom>
          <a:noFill/>
        </p:spPr>
        <p:txBody>
          <a:bodyPr wrap="square" lIns="0" rIns="0" tIns="0" bIns="0" anchor="t">
            <a:spAutoFit/>
          </a:bodyPr>
          <a:lstStyle/>
          <a:p>
            <a:pPr algn="ctr"/>
            <a:r>
              <a:rPr sz="900" b="0" i="0">
                <a:solidFill>
                  <a:srgbClr val="5B6773"/>
                </a:solidFill>
                <a:latin typeface="Calibri"/>
              </a:rPr>
              <a:t>10</a:t>
            </a:r>
          </a:p>
        </p:txBody>
      </p:sp>
      <p:cxnSp>
        <p:nvCxnSpPr>
          <p:cNvPr id="18" name="Connector 17"/>
          <p:cNvCxnSpPr/>
          <p:nvPr/>
        </p:nvCxnSpPr>
        <p:spPr>
          <a:xfrm>
            <a:off x="3110788" y="3193161"/>
            <a:ext cx="0" cy="64008"/>
          </a:xfrm>
          <a:prstGeom prst="line">
            <a:avLst/>
          </a:prstGeom>
          <a:ln w="12700">
            <a:solidFill>
              <a:srgbClr val="5B6773"/>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934358" y="3193161"/>
            <a:ext cx="0" cy="64008"/>
          </a:xfrm>
          <a:prstGeom prst="line">
            <a:avLst/>
          </a:prstGeom>
          <a:ln w="12700">
            <a:solidFill>
              <a:srgbClr val="5B6773"/>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751478" y="3275457"/>
            <a:ext cx="365760" cy="182880"/>
          </a:xfrm>
          <a:prstGeom prst="rect">
            <a:avLst/>
          </a:prstGeom>
          <a:noFill/>
        </p:spPr>
        <p:txBody>
          <a:bodyPr wrap="square" lIns="0" rIns="0" tIns="0" bIns="0" anchor="t">
            <a:spAutoFit/>
          </a:bodyPr>
          <a:lstStyle/>
          <a:p>
            <a:pPr algn="ctr"/>
            <a:r>
              <a:rPr sz="900" b="0" i="0">
                <a:solidFill>
                  <a:srgbClr val="5B6773"/>
                </a:solidFill>
                <a:latin typeface="Calibri"/>
              </a:rPr>
              <a:t>20</a:t>
            </a:r>
          </a:p>
        </p:txBody>
      </p:sp>
      <p:cxnSp>
        <p:nvCxnSpPr>
          <p:cNvPr id="21" name="Connector 20"/>
          <p:cNvCxnSpPr/>
          <p:nvPr/>
        </p:nvCxnSpPr>
        <p:spPr>
          <a:xfrm>
            <a:off x="4757928" y="3193161"/>
            <a:ext cx="0" cy="64008"/>
          </a:xfrm>
          <a:prstGeom prst="line">
            <a:avLst/>
          </a:prstGeom>
          <a:ln w="12700">
            <a:solidFill>
              <a:srgbClr val="5B677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5048" y="3275457"/>
            <a:ext cx="365760" cy="182880"/>
          </a:xfrm>
          <a:prstGeom prst="rect">
            <a:avLst/>
          </a:prstGeom>
          <a:noFill/>
        </p:spPr>
        <p:txBody>
          <a:bodyPr wrap="square" lIns="0" rIns="0" tIns="0" bIns="0" anchor="t">
            <a:spAutoFit/>
          </a:bodyPr>
          <a:lstStyle/>
          <a:p>
            <a:pPr algn="ctr"/>
            <a:r>
              <a:rPr sz="900" b="0" i="0">
                <a:solidFill>
                  <a:srgbClr val="5B6773"/>
                </a:solidFill>
                <a:latin typeface="Calibri"/>
              </a:rPr>
              <a:t>25</a:t>
            </a:r>
          </a:p>
        </p:txBody>
      </p:sp>
      <p:cxnSp>
        <p:nvCxnSpPr>
          <p:cNvPr id="23" name="Connector 22"/>
          <p:cNvCxnSpPr/>
          <p:nvPr/>
        </p:nvCxnSpPr>
        <p:spPr>
          <a:xfrm>
            <a:off x="5581497" y="3193161"/>
            <a:ext cx="0" cy="64008"/>
          </a:xfrm>
          <a:prstGeom prst="line">
            <a:avLst/>
          </a:prstGeom>
          <a:ln w="12700">
            <a:solidFill>
              <a:srgbClr val="5B67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398617" y="3275457"/>
            <a:ext cx="365760" cy="182880"/>
          </a:xfrm>
          <a:prstGeom prst="rect">
            <a:avLst/>
          </a:prstGeom>
          <a:noFill/>
        </p:spPr>
        <p:txBody>
          <a:bodyPr wrap="square" lIns="0" rIns="0" tIns="0" bIns="0" anchor="t">
            <a:spAutoFit/>
          </a:bodyPr>
          <a:lstStyle/>
          <a:p>
            <a:pPr algn="ctr"/>
            <a:r>
              <a:rPr sz="900" b="0" i="0">
                <a:solidFill>
                  <a:srgbClr val="5B6773"/>
                </a:solidFill>
                <a:latin typeface="Calibri"/>
              </a:rPr>
              <a:t>30</a:t>
            </a:r>
          </a:p>
        </p:txBody>
      </p:sp>
      <p:sp>
        <p:nvSpPr>
          <p:cNvPr id="25" name="Rounded Rectangle 24"/>
          <p:cNvSpPr/>
          <p:nvPr/>
        </p:nvSpPr>
        <p:spPr>
          <a:xfrm>
            <a:off x="2653588" y="3558921"/>
            <a:ext cx="914400"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age = 15</a:t>
            </a:r>
          </a:p>
        </p:txBody>
      </p:sp>
      <p:cxnSp>
        <p:nvCxnSpPr>
          <p:cNvPr id="26" name="arrow"/>
          <p:cNvCxnSpPr/>
          <p:nvPr/>
        </p:nvCxnSpPr>
        <p:spPr>
          <a:xfrm flipV="1">
            <a:off x="3110788" y="3220593"/>
            <a:ext cx="0" cy="338328"/>
          </a:xfrm>
          <a:prstGeom prst="line">
            <a:avLst/>
          </a:prstGeom>
          <a:ln w="1905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287219" y="2690241"/>
            <a:ext cx="2743200" cy="219456"/>
          </a:xfrm>
          <a:prstGeom prst="rect">
            <a:avLst/>
          </a:prstGeom>
          <a:noFill/>
        </p:spPr>
        <p:txBody>
          <a:bodyPr wrap="square" lIns="45720" rIns="45720" tIns="27432" bIns="27432" anchor="t">
            <a:spAutoFit/>
          </a:bodyPr>
          <a:lstStyle/>
          <a:p>
            <a:r>
              <a:rPr sz="950" b="0" i="1">
                <a:solidFill>
                  <a:srgbClr val="5B6773"/>
                </a:solidFill>
                <a:latin typeface="Calibri"/>
              </a:rPr>
              <a:t>teal: 10 &lt; age &lt; 20    amber: 10 &lt; age &lt; 12</a:t>
            </a:r>
          </a:p>
        </p:txBody>
      </p:sp>
      <p:sp>
        <p:nvSpPr>
          <p:cNvPr id="28" name="Rounded Rectangle 27"/>
          <p:cNvSpPr/>
          <p:nvPr/>
        </p:nvSpPr>
        <p:spPr>
          <a:xfrm>
            <a:off x="5917996" y="2735960"/>
            <a:ext cx="1737360" cy="292608"/>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10 &lt; age &lt; 20</a:t>
            </a:r>
          </a:p>
        </p:txBody>
      </p:sp>
      <p:cxnSp>
        <p:nvCxnSpPr>
          <p:cNvPr id="29" name="arrow"/>
          <p:cNvCxnSpPr/>
          <p:nvPr/>
        </p:nvCxnSpPr>
        <p:spPr>
          <a:xfrm>
            <a:off x="7682788" y="2882265"/>
            <a:ext cx="246888"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975396" y="2735960"/>
            <a:ext cx="731520" cy="292608"/>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True</a:t>
            </a:r>
          </a:p>
        </p:txBody>
      </p:sp>
      <p:sp>
        <p:nvSpPr>
          <p:cNvPr id="31" name="Rounded Rectangle 30"/>
          <p:cNvSpPr/>
          <p:nvPr/>
        </p:nvSpPr>
        <p:spPr>
          <a:xfrm>
            <a:off x="5917996" y="3101720"/>
            <a:ext cx="1737360" cy="292608"/>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10 &lt; age &lt; 12</a:t>
            </a:r>
          </a:p>
        </p:txBody>
      </p:sp>
      <p:cxnSp>
        <p:nvCxnSpPr>
          <p:cNvPr id="32" name="arrow"/>
          <p:cNvCxnSpPr/>
          <p:nvPr/>
        </p:nvCxnSpPr>
        <p:spPr>
          <a:xfrm>
            <a:off x="7682788" y="3248024"/>
            <a:ext cx="246888"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7975396" y="3101720"/>
            <a:ext cx="731520" cy="292608"/>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False</a:t>
            </a:r>
          </a:p>
        </p:txBody>
      </p:sp>
      <p:sp>
        <p:nvSpPr>
          <p:cNvPr id="34" name="Rounded Rectangle 33"/>
          <p:cNvSpPr/>
          <p:nvPr/>
        </p:nvSpPr>
        <p:spPr>
          <a:xfrm>
            <a:off x="5917996" y="3467481"/>
            <a:ext cx="1737360" cy="292608"/>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1 &lt; 2 &gt; 1.5</a:t>
            </a:r>
          </a:p>
        </p:txBody>
      </p:sp>
      <p:cxnSp>
        <p:nvCxnSpPr>
          <p:cNvPr id="35" name="arrow"/>
          <p:cNvCxnSpPr/>
          <p:nvPr/>
        </p:nvCxnSpPr>
        <p:spPr>
          <a:xfrm>
            <a:off x="7682788" y="3613785"/>
            <a:ext cx="246888"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7975396" y="3467481"/>
            <a:ext cx="731520" cy="292608"/>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True</a:t>
            </a:r>
          </a:p>
        </p:txBody>
      </p:sp>
      <p:sp>
        <p:nvSpPr>
          <p:cNvPr id="37" name="Rounded Rectangle 36"/>
          <p:cNvSpPr/>
          <p:nvPr/>
        </p:nvSpPr>
        <p:spPr>
          <a:xfrm>
            <a:off x="5917996" y="3833240"/>
            <a:ext cx="1737360" cy="292608"/>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3 &gt; 2 &gt; 5</a:t>
            </a:r>
          </a:p>
        </p:txBody>
      </p:sp>
      <p:cxnSp>
        <p:nvCxnSpPr>
          <p:cNvPr id="38" name="arrow"/>
          <p:cNvCxnSpPr/>
          <p:nvPr/>
        </p:nvCxnSpPr>
        <p:spPr>
          <a:xfrm>
            <a:off x="7682788" y="3979544"/>
            <a:ext cx="246888"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7975396" y="3833240"/>
            <a:ext cx="731520" cy="292608"/>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False</a:t>
            </a:r>
          </a:p>
        </p:txBody>
      </p:sp>
      <p:sp>
        <p:nvSpPr>
          <p:cNvPr id="4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10 &lt; age &lt; 20 means both comparisons hold.</a:t>
            </a:r>
          </a:p>
        </p:txBody>
      </p:sp>
      <p:sp>
        <p:nvSpPr>
          <p:cNvPr id="4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10 / 42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2: Boolean operators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and, or and not join answers; truthiness lets any value answer</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and</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True only when both sides are true.</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or</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True when at least one side is true.</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not</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Flips a Boolean value to its opposite.</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Truthiness</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Every value counts as true or as false.</a:t>
            </a:r>
          </a:p>
        </p:txBody>
      </p:sp>
      <p:graphicFrame>
        <p:nvGraphicFramePr>
          <p:cNvPr id="13" name="table"/>
          <p:cNvGraphicFramePr>
            <a:graphicFrameLocks noGrp="1"/>
          </p:cNvGraphicFramePr>
          <p:nvPr/>
        </p:nvGraphicFramePr>
        <p:xfrm>
          <a:off x="5303520" y="1417320"/>
          <a:ext cx="3474719" cy="256032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Boolean operators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and, or: the truth table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not, and the order of the operators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15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Mixing Boolean and comparison operators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and, or: they stop early and return 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17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Truthiness: which values count as 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11 / 42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Boolean operators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and is two locks on one door; or is two doors into one room; not is a mirror.</a:t>
            </a:r>
          </a:p>
        </p:txBody>
      </p:sp>
      <p:graphicFrame>
        <p:nvGraphicFramePr>
          <p:cNvPr id="6" name="table"/>
          <p:cNvGraphicFramePr>
            <a:graphicFrameLocks noGrp="1"/>
          </p:cNvGraphicFramePr>
          <p:nvPr/>
        </p:nvGraphicFramePr>
        <p:xfrm>
          <a:off x="365760" y="1463040"/>
          <a:ext cx="8412480" cy="3108960"/>
        </p:xfrm>
        <a:graphic>
          <a:graphicData uri="http://schemas.openxmlformats.org/drawingml/2006/table">
            <a:tbl>
              <a:tblPr firstRow="0" bandRow="0"/>
              <a:tblGrid>
                <a:gridCol w="2743200"/>
                <a:gridCol w="5669280"/>
              </a:tblGrid>
              <a:tr h="345440">
                <a:tc>
                  <a:txBody>
                    <a:bodyPr wrap="square"/>
                    <a:lstStyle/>
                    <a:p>
                      <a:r>
                        <a:rPr sz="12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5440">
                <a:tc>
                  <a:txBody>
                    <a:bodyPr wrap="square"/>
                    <a:lstStyle/>
                    <a:p>
                      <a:r>
                        <a:rPr sz="1200" b="1" i="0">
                          <a:solidFill>
                            <a:srgbClr val="1F2933"/>
                          </a:solidFill>
                          <a:latin typeface="Calibri"/>
                        </a:rPr>
                        <a:t>Boolean Operators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Three small gadgets that join switches into one switch.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Boolean operator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One gadget: switches go in, one switch comes out.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200" b="1" i="0">
                          <a:solidFill>
                            <a:srgbClr val="1F2933"/>
                          </a:solidFill>
                          <a:latin typeface="Calibri"/>
                        </a:rPr>
                        <a:t>and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Two locks on one door: you need both keys to get 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Two doors into one room: either of them lets you 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200" b="1" i="0">
                          <a:solidFill>
                            <a:srgbClr val="1F2933"/>
                          </a:solidFill>
                          <a:latin typeface="Calibri"/>
                        </a:rPr>
                        <a:t>not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mirror: it shows the opposite of what stands in front of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Mixing Boolean and Comparison Operators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 club door: first read the age on the card, then look for the membership stamp.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200" b="1" i="0">
                          <a:solidFill>
                            <a:srgbClr val="1F2933"/>
                          </a:solidFill>
                          <a:latin typeface="Calibri"/>
                        </a:rPr>
                        <a:t>Truthiness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An empty box counts as nothing; a box with anything inside counts as something.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Short-circuit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Asking two guards: if the first says no, you do not walk to the second.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12 / 42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and, or: the truth table</a:t>
            </a:r>
          </a:p>
        </p:txBody>
      </p:sp>
      <p:sp>
        <p:nvSpPr>
          <p:cNvPr id="4" name="code"/>
          <p:cNvSpPr/>
          <p:nvPr/>
        </p:nvSpPr>
        <p:spPr>
          <a:xfrm>
            <a:off x="365760" y="841248"/>
            <a:ext cx="4523232"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for</a:t>
            </a:r>
            <a:r>
              <a:rPr sz="1400" b="0" i="0">
                <a:solidFill>
                  <a:srgbClr val="E6EDF3"/>
                </a:solidFill>
                <a:latin typeface="Courier New"/>
              </a:rPr>
              <a:t> </a:t>
            </a:r>
            <a:r>
              <a:rPr sz="1400" b="0" i="0">
                <a:solidFill>
                  <a:srgbClr val="E6EDF3"/>
                </a:solidFill>
                <a:latin typeface="Courier New"/>
              </a:rPr>
              <a:t>a</a:t>
            </a:r>
            <a:r>
              <a:rPr sz="1400" b="0" i="0">
                <a:solidFill>
                  <a:srgbClr val="E6EDF3"/>
                </a:solidFill>
                <a:latin typeface="Courier New"/>
              </a:rPr>
              <a:t> </a:t>
            </a:r>
            <a:r>
              <a:rPr sz="1400" b="0" i="0">
                <a:solidFill>
                  <a:srgbClr val="C9A0FF"/>
                </a:solidFill>
                <a:latin typeface="Courier New"/>
              </a:rPr>
              <a:t>in</a:t>
            </a:r>
            <a:r>
              <a:rPr sz="1400" b="0" i="0">
                <a:solidFill>
                  <a:srgbClr val="E6EDF3"/>
                </a:solidFill>
                <a:latin typeface="Courier New"/>
              </a:rPr>
              <a:t> </a:t>
            </a:r>
            <a:r>
              <a:rPr sz="1400" b="0" i="0">
                <a:solidFill>
                  <a:srgbClr val="E6EDF3"/>
                </a:solidFill>
                <a:latin typeface="Courier New"/>
              </a:rPr>
              <a:t>(</a:t>
            </a:r>
            <a:r>
              <a:rPr sz="1400" b="0" i="0">
                <a:solidFill>
                  <a:srgbClr val="C9A0FF"/>
                </a:solidFill>
                <a:latin typeface="Courier New"/>
              </a:rPr>
              <a:t>True</a:t>
            </a:r>
            <a:r>
              <a:rPr sz="1400" b="0" i="0">
                <a:solidFill>
                  <a:srgbClr val="E6EDF3"/>
                </a:solidFill>
                <a:latin typeface="Courier New"/>
              </a:rPr>
              <a:t>,</a:t>
            </a:r>
            <a:r>
              <a:rPr sz="1400" b="0" i="0">
                <a:solidFill>
                  <a:srgbClr val="E6EDF3"/>
                </a:solidFill>
                <a:latin typeface="Courier New"/>
              </a:rPr>
              <a:t> </a:t>
            </a:r>
            <a:r>
              <a:rPr sz="1400" b="0" i="0">
                <a:solidFill>
                  <a:srgbClr val="C9A0FF"/>
                </a:solidFill>
                <a:latin typeface="Courier New"/>
              </a:rPr>
              <a:t>False</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for</a:t>
            </a:r>
            <a:r>
              <a:rPr sz="1400" b="0" i="0">
                <a:solidFill>
                  <a:srgbClr val="E6EDF3"/>
                </a:solidFill>
                <a:latin typeface="Courier New"/>
              </a:rPr>
              <a:t> </a:t>
            </a:r>
            <a:r>
              <a:rPr sz="1400" b="0" i="0">
                <a:solidFill>
                  <a:srgbClr val="E6EDF3"/>
                </a:solidFill>
                <a:latin typeface="Courier New"/>
              </a:rPr>
              <a:t>b</a:t>
            </a:r>
            <a:r>
              <a:rPr sz="1400" b="0" i="0">
                <a:solidFill>
                  <a:srgbClr val="E6EDF3"/>
                </a:solidFill>
                <a:latin typeface="Courier New"/>
              </a:rPr>
              <a:t> </a:t>
            </a:r>
            <a:r>
              <a:rPr sz="1400" b="0" i="0">
                <a:solidFill>
                  <a:srgbClr val="C9A0FF"/>
                </a:solidFill>
                <a:latin typeface="Courier New"/>
              </a:rPr>
              <a:t>in</a:t>
            </a:r>
            <a:r>
              <a:rPr sz="1400" b="0" i="0">
                <a:solidFill>
                  <a:srgbClr val="E6EDF3"/>
                </a:solidFill>
                <a:latin typeface="Courier New"/>
              </a:rPr>
              <a:t> </a:t>
            </a:r>
            <a:r>
              <a:rPr sz="1400" b="0" i="0">
                <a:solidFill>
                  <a:srgbClr val="E6EDF3"/>
                </a:solidFill>
                <a:latin typeface="Courier New"/>
              </a:rPr>
              <a:t>(</a:t>
            </a:r>
            <a:r>
              <a:rPr sz="1400" b="0" i="0">
                <a:solidFill>
                  <a:srgbClr val="C9A0FF"/>
                </a:solidFill>
                <a:latin typeface="Courier New"/>
              </a:rPr>
              <a:t>True</a:t>
            </a:r>
            <a:r>
              <a:rPr sz="1400" b="0" i="0">
                <a:solidFill>
                  <a:srgbClr val="E6EDF3"/>
                </a:solidFill>
                <a:latin typeface="Courier New"/>
              </a:rPr>
              <a:t>,</a:t>
            </a:r>
            <a:r>
              <a:rPr sz="1400" b="0" i="0">
                <a:solidFill>
                  <a:srgbClr val="E6EDF3"/>
                </a:solidFill>
                <a:latin typeface="Courier New"/>
              </a:rPr>
              <a:t> </a:t>
            </a:r>
            <a:r>
              <a:rPr sz="1400" b="0" i="0">
                <a:solidFill>
                  <a:srgbClr val="C9A0FF"/>
                </a:solidFill>
                <a:latin typeface="Courier New"/>
              </a:rPr>
              <a:t>False</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a</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b</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a:t>
            </a:r>
            <a:r>
              <a:rPr sz="1400" b="0" i="0">
                <a:solidFill>
                  <a:srgbClr val="E6EDF3"/>
                </a:solidFill>
                <a:latin typeface="Courier New"/>
              </a:rPr>
              <a:t> </a:t>
            </a:r>
            <a:r>
              <a:rPr sz="1400" b="0" i="0">
                <a:solidFill>
                  <a:srgbClr val="C9A0FF"/>
                </a:solidFill>
                <a:latin typeface="Courier New"/>
              </a:rPr>
              <a:t>and</a:t>
            </a:r>
            <a:r>
              <a:rPr sz="1400" b="0" i="0">
                <a:solidFill>
                  <a:srgbClr val="E6EDF3"/>
                </a:solidFill>
                <a:latin typeface="Courier New"/>
              </a:rPr>
              <a:t> </a:t>
            </a:r>
            <a:r>
              <a:rPr sz="1400" b="0" i="0">
                <a:solidFill>
                  <a:srgbClr val="E6EDF3"/>
                </a:solidFill>
                <a:latin typeface="Courier New"/>
              </a:rPr>
              <a:t>b</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a:t>
            </a:r>
            <a:r>
              <a:rPr sz="1400" b="0" i="0">
                <a:solidFill>
                  <a:srgbClr val="E6EDF3"/>
                </a:solidFill>
                <a:latin typeface="Courier New"/>
              </a:rPr>
              <a:t> </a:t>
            </a:r>
            <a:r>
              <a:rPr sz="1400" b="0" i="0">
                <a:solidFill>
                  <a:srgbClr val="C9A0FF"/>
                </a:solidFill>
                <a:latin typeface="Courier New"/>
              </a:rPr>
              <a:t>or</a:t>
            </a:r>
            <a:r>
              <a:rPr sz="1400" b="0" i="0">
                <a:solidFill>
                  <a:srgbClr val="E6EDF3"/>
                </a:solidFill>
                <a:latin typeface="Courier New"/>
              </a:rPr>
              <a:t> </a:t>
            </a:r>
            <a:r>
              <a:rPr sz="1400" b="0" i="0">
                <a:solidFill>
                  <a:srgbClr val="E6EDF3"/>
                </a:solidFill>
                <a:latin typeface="Courier New"/>
              </a:rPr>
              <a:t>b</a:t>
            </a:r>
            <a:r>
              <a:rPr sz="1400" b="0" i="0">
                <a:solidFill>
                  <a:srgbClr val="E6EDF3"/>
                </a:solidFill>
                <a:latin typeface="Courier New"/>
              </a:rPr>
              <a:t>)</a:t>
            </a:r>
          </a:p>
        </p:txBody>
      </p:sp>
      <p:sp>
        <p:nvSpPr>
          <p:cNvPr id="5" name="explanation"/>
          <p:cNvSpPr txBox="1"/>
          <p:nvPr/>
        </p:nvSpPr>
        <p:spPr>
          <a:xfrm>
            <a:off x="4870704" y="841248"/>
            <a:ext cx="3907535" cy="833628"/>
          </a:xfrm>
          <a:prstGeom prst="rect">
            <a:avLst/>
          </a:prstGeom>
          <a:noFill/>
        </p:spPr>
        <p:txBody>
          <a:bodyPr wrap="square" lIns="128016" rIns="128016" tIns="18288" bIns="18288" anchor="ctr">
            <a:spAutoFit/>
          </a:bodyPr>
          <a:lstStyle/>
          <a:p>
            <a:r>
              <a:rPr sz="1250" b="0" i="0">
                <a:solidFill>
                  <a:srgbClr val="1F2933"/>
                </a:solidFill>
                <a:latin typeface="Calibri"/>
              </a:rPr>
              <a:t>Two loops try all four pairs of values. The last two columns show what and and or give back for each pair.</a:t>
            </a:r>
          </a:p>
        </p:txBody>
      </p:sp>
      <p:sp>
        <p:nvSpPr>
          <p:cNvPr id="6" name="result label"/>
          <p:cNvSpPr txBox="1"/>
          <p:nvPr/>
        </p:nvSpPr>
        <p:spPr>
          <a:xfrm>
            <a:off x="365760" y="174802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7" name="table"/>
          <p:cNvGraphicFramePr>
            <a:graphicFrameLocks noGrp="1"/>
          </p:cNvGraphicFramePr>
          <p:nvPr/>
        </p:nvGraphicFramePr>
        <p:xfrm>
          <a:off x="365760" y="2022347"/>
          <a:ext cx="4879238" cy="1463040"/>
        </p:xfrm>
        <a:graphic>
          <a:graphicData uri="http://schemas.openxmlformats.org/drawingml/2006/table">
            <a:tbl>
              <a:tblPr firstRow="0" bandRow="0"/>
              <a:tblGrid>
                <a:gridCol w="1060704"/>
                <a:gridCol w="1060704"/>
                <a:gridCol w="1378915"/>
                <a:gridCol w="1378915"/>
              </a:tblGrid>
              <a:tr h="292608">
                <a:tc>
                  <a:txBody>
                    <a:bodyPr wrap="square"/>
                    <a:lstStyle/>
                    <a:p>
                      <a:pPr algn="ctr"/>
                      <a:r>
                        <a:rPr sz="1050" b="1" i="0">
                          <a:solidFill>
                            <a:srgbClr val="FFFFFF"/>
                          </a:solidFill>
                          <a:latin typeface="Calibri"/>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50" b="1" i="0">
                          <a:solidFill>
                            <a:srgbClr val="FFFFFF"/>
                          </a:solidFill>
                          <a:latin typeface="Calibri"/>
                        </a:rPr>
                        <a:t>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50" b="1" i="0">
                          <a:solidFill>
                            <a:srgbClr val="FFFFFF"/>
                          </a:solidFill>
                          <a:latin typeface="Calibri"/>
                        </a:rPr>
                        <a:t>a and 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50" b="1" i="0">
                          <a:solidFill>
                            <a:srgbClr val="FFFFFF"/>
                          </a:solidFill>
                          <a:latin typeface="Calibri"/>
                        </a:rPr>
                        <a:t>a or 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92608">
                <a:tc>
                  <a:txBody>
                    <a:bodyPr wrap="square"/>
                    <a:lstStyle/>
                    <a:p>
                      <a:pPr algn="ctr"/>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2608">
                <a:tc>
                  <a:txBody>
                    <a:bodyPr wrap="square"/>
                    <a:lstStyle/>
                    <a:p>
                      <a:pPr algn="ctr"/>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2608">
                <a:tc>
                  <a:txBody>
                    <a:bodyPr wrap="square"/>
                    <a:lstStyle/>
                    <a:p>
                      <a:pPr algn="ctr"/>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2608">
                <a:tc>
                  <a:txBody>
                    <a:bodyPr wrap="square"/>
                    <a:lstStyle/>
                    <a:p>
                      <a:pPr algn="ctr"/>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8" name="TextBox 7"/>
          <p:cNvSpPr txBox="1"/>
          <p:nvPr/>
        </p:nvSpPr>
        <p:spPr>
          <a:xfrm>
            <a:off x="5581497" y="2004059"/>
            <a:ext cx="3196742" cy="219456"/>
          </a:xfrm>
          <a:prstGeom prst="rect">
            <a:avLst/>
          </a:prstGeom>
          <a:noFill/>
        </p:spPr>
        <p:txBody>
          <a:bodyPr wrap="square" lIns="45720" rIns="45720" tIns="27432" bIns="27432" anchor="t">
            <a:spAutoFit/>
          </a:bodyPr>
          <a:lstStyle/>
          <a:p>
            <a:r>
              <a:rPr sz="1000" b="0" i="1">
                <a:solidFill>
                  <a:srgbClr val="5B6773"/>
                </a:solidFill>
                <a:latin typeface="Calibri"/>
              </a:rPr>
              <a:t>how often the result is True</a:t>
            </a:r>
          </a:p>
        </p:txBody>
      </p:sp>
      <p:graphicFrame>
        <p:nvGraphicFramePr>
          <p:cNvPr id="9" name="chart"/>
          <p:cNvGraphicFramePr>
            <a:graphicFrameLocks noGrp="1"/>
          </p:cNvGraphicFramePr>
          <p:nvPr/>
        </p:nvGraphicFramePr>
        <p:xfrm>
          <a:off x="5581497" y="2205228"/>
          <a:ext cx="3196742" cy="2403348"/>
        </p:xfrm>
        <a:graphic>
          <a:graphicData uri="http://schemas.openxmlformats.org/drawingml/2006/chart">
            <c:chart xmlns:c="http://schemas.openxmlformats.org/drawingml/2006/chart" r:id="rId3"/>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and needs both; or needs one.</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13 / 42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not, and the order of the operators</a:t>
            </a:r>
          </a:p>
        </p:txBody>
      </p:sp>
      <p:sp>
        <p:nvSpPr>
          <p:cNvPr id="4" name="code"/>
          <p:cNvSpPr/>
          <p:nvPr/>
        </p:nvSpPr>
        <p:spPr>
          <a:xfrm>
            <a:off x="365760" y="841248"/>
            <a:ext cx="511759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C9A0FF"/>
                </a:solidFill>
                <a:latin typeface="Courier New"/>
              </a:rPr>
              <a:t>not</a:t>
            </a:r>
            <a:r>
              <a:rPr sz="1100" b="0" i="0">
                <a:solidFill>
                  <a:srgbClr val="E6EDF3"/>
                </a:solidFill>
                <a:latin typeface="Courier New"/>
              </a:rPr>
              <a:t> </a:t>
            </a:r>
            <a:r>
              <a:rPr sz="1100" b="0" i="0">
                <a:solidFill>
                  <a:srgbClr val="C9A0FF"/>
                </a:solidFill>
                <a:latin typeface="Courier New"/>
              </a:rPr>
              <a:t>True</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not</a:t>
            </a:r>
            <a:r>
              <a:rPr sz="1100" b="0" i="0">
                <a:solidFill>
                  <a:srgbClr val="E6EDF3"/>
                </a:solidFill>
                <a:latin typeface="Courier New"/>
              </a:rPr>
              <a:t> </a:t>
            </a:r>
            <a:r>
              <a:rPr sz="1100" b="0" i="0">
                <a:solidFill>
                  <a:srgbClr val="C9A0FF"/>
                </a:solidFill>
                <a:latin typeface="Courier New"/>
              </a:rPr>
              <a:t>False</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not</a:t>
            </a:r>
            <a:r>
              <a:rPr sz="1100" b="0" i="0">
                <a:solidFill>
                  <a:srgbClr val="E6EDF3"/>
                </a:solidFill>
                <a:latin typeface="Courier New"/>
              </a:rPr>
              <a:t> </a:t>
            </a:r>
            <a:r>
              <a:rPr sz="1100" b="0" i="0">
                <a:solidFill>
                  <a:srgbClr val="C9A0FF"/>
                </a:solidFill>
                <a:latin typeface="Courier New"/>
              </a:rPr>
              <a:t>not</a:t>
            </a:r>
            <a:r>
              <a:rPr sz="1100" b="0" i="0">
                <a:solidFill>
                  <a:srgbClr val="E6EDF3"/>
                </a:solidFill>
                <a:latin typeface="Courier New"/>
              </a:rPr>
              <a:t> </a:t>
            </a:r>
            <a:r>
              <a:rPr sz="1100" b="0" i="0">
                <a:solidFill>
                  <a:srgbClr val="C9A0FF"/>
                </a:solidFill>
                <a:latin typeface="Courier New"/>
              </a:rPr>
              <a:t>True</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C9A0FF"/>
                </a:solidFill>
                <a:latin typeface="Courier New"/>
              </a:rPr>
              <a:t>not</a:t>
            </a:r>
            <a:r>
              <a:rPr sz="1100" b="0" i="0">
                <a:solidFill>
                  <a:srgbClr val="E6EDF3"/>
                </a:solidFill>
                <a:latin typeface="Courier New"/>
              </a:rPr>
              <a:t> </a:t>
            </a:r>
            <a:r>
              <a:rPr sz="1100" b="0" i="0">
                <a:solidFill>
                  <a:srgbClr val="7CC4FF"/>
                </a:solidFill>
                <a:latin typeface="Courier New"/>
              </a:rPr>
              <a:t>4</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5</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True</a:t>
            </a:r>
            <a:r>
              <a:rPr sz="1100" b="0" i="0">
                <a:solidFill>
                  <a:srgbClr val="E6EDF3"/>
                </a:solidFill>
                <a:latin typeface="Courier New"/>
              </a:rPr>
              <a:t> </a:t>
            </a:r>
            <a:r>
              <a:rPr sz="1100" b="0" i="0">
                <a:solidFill>
                  <a:srgbClr val="C9A0FF"/>
                </a:solidFill>
                <a:latin typeface="Courier New"/>
              </a:rPr>
              <a:t>or</a:t>
            </a:r>
            <a:r>
              <a:rPr sz="1100" b="0" i="0">
                <a:solidFill>
                  <a:srgbClr val="E6EDF3"/>
                </a:solidFill>
                <a:latin typeface="Courier New"/>
              </a:rPr>
              <a:t> </a:t>
            </a:r>
            <a:r>
              <a:rPr sz="1100" b="0" i="0">
                <a:solidFill>
                  <a:srgbClr val="C9A0FF"/>
                </a:solidFill>
                <a:latin typeface="Courier New"/>
              </a:rPr>
              <a:t>False</a:t>
            </a:r>
            <a:r>
              <a:rPr sz="1100" b="0" i="0">
                <a:solidFill>
                  <a:srgbClr val="E6EDF3"/>
                </a:solidFill>
                <a:latin typeface="Courier New"/>
              </a:rPr>
              <a:t> </a:t>
            </a:r>
            <a:r>
              <a:rPr sz="1100" b="0" i="0">
                <a:solidFill>
                  <a:srgbClr val="C9A0FF"/>
                </a:solidFill>
                <a:latin typeface="Courier New"/>
              </a:rPr>
              <a:t>and</a:t>
            </a:r>
            <a:r>
              <a:rPr sz="1100" b="0" i="0">
                <a:solidFill>
                  <a:srgbClr val="E6EDF3"/>
                </a:solidFill>
                <a:latin typeface="Courier New"/>
              </a:rPr>
              <a:t> </a:t>
            </a:r>
            <a:r>
              <a:rPr sz="1100" b="0" i="0">
                <a:solidFill>
                  <a:srgbClr val="C9A0FF"/>
                </a:solidFill>
                <a:latin typeface="Courier New"/>
              </a:rPr>
              <a:t>False</a:t>
            </a:r>
            <a:r>
              <a:rPr sz="1100" b="0" i="0">
                <a:solidFill>
                  <a:srgbClr val="E6EDF3"/>
                </a:solidFill>
                <a:latin typeface="Courier New"/>
              </a:rPr>
              <a:t>)</a:t>
            </a:r>
          </a:p>
        </p:txBody>
      </p:sp>
      <p:sp>
        <p:nvSpPr>
          <p:cNvPr id="5" name="explanation"/>
          <p:cNvSpPr txBox="1"/>
          <p:nvPr/>
        </p:nvSpPr>
        <p:spPr>
          <a:xfrm>
            <a:off x="5465064" y="841248"/>
            <a:ext cx="3313176" cy="699516"/>
          </a:xfrm>
          <a:prstGeom prst="rect">
            <a:avLst/>
          </a:prstGeom>
          <a:noFill/>
        </p:spPr>
        <p:txBody>
          <a:bodyPr wrap="square" lIns="128016" rIns="128016" tIns="18288" bIns="18288" anchor="ctr">
            <a:spAutoFit/>
          </a:bodyPr>
          <a:lstStyle/>
          <a:p>
            <a:r>
              <a:rPr sz="1200" b="0" i="0">
                <a:solidFill>
                  <a:srgbClr val="1F2933"/>
                </a:solidFill>
                <a:latin typeface="Calibri"/>
              </a:rPr>
              <a:t>not flips a value. It binds weaker than ==, so not 4 == 5 means not (4 == 5). And binds tighter than or.</a:t>
            </a:r>
          </a:p>
        </p:txBody>
      </p:sp>
      <p:sp>
        <p:nvSpPr>
          <p:cNvPr id="6" name="code"/>
          <p:cNvSpPr/>
          <p:nvPr/>
        </p:nvSpPr>
        <p:spPr>
          <a:xfrm>
            <a:off x="365760" y="1595628"/>
            <a:ext cx="511759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a:t>
            </a:r>
            <a:r>
              <a:rPr sz="1100" b="0" i="0">
                <a:solidFill>
                  <a:srgbClr val="C9A0FF"/>
                </a:solidFill>
                <a:latin typeface="Courier New"/>
              </a:rPr>
              <a:t>True</a:t>
            </a:r>
            <a:r>
              <a:rPr sz="1100" b="0" i="0">
                <a:solidFill>
                  <a:srgbClr val="E6EDF3"/>
                </a:solidFill>
                <a:latin typeface="Courier New"/>
              </a:rPr>
              <a:t> </a:t>
            </a:r>
            <a:r>
              <a:rPr sz="1100" b="0" i="0">
                <a:solidFill>
                  <a:srgbClr val="C9A0FF"/>
                </a:solidFill>
                <a:latin typeface="Courier New"/>
              </a:rPr>
              <a:t>or</a:t>
            </a:r>
            <a:r>
              <a:rPr sz="1100" b="0" i="0">
                <a:solidFill>
                  <a:srgbClr val="E6EDF3"/>
                </a:solidFill>
                <a:latin typeface="Courier New"/>
              </a:rPr>
              <a:t> </a:t>
            </a:r>
            <a:r>
              <a:rPr sz="1100" b="0" i="0">
                <a:solidFill>
                  <a:srgbClr val="C9A0FF"/>
                </a:solidFill>
                <a:latin typeface="Courier New"/>
              </a:rPr>
              <a:t>False</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and</a:t>
            </a:r>
            <a:r>
              <a:rPr sz="1100" b="0" i="0">
                <a:solidFill>
                  <a:srgbClr val="E6EDF3"/>
                </a:solidFill>
                <a:latin typeface="Courier New"/>
              </a:rPr>
              <a:t> </a:t>
            </a:r>
            <a:r>
              <a:rPr sz="1100" b="0" i="0">
                <a:solidFill>
                  <a:srgbClr val="C9A0FF"/>
                </a:solidFill>
                <a:latin typeface="Courier New"/>
              </a:rPr>
              <a:t>False</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not</a:t>
            </a:r>
            <a:r>
              <a:rPr sz="1100" b="0" i="0">
                <a:solidFill>
                  <a:srgbClr val="E6EDF3"/>
                </a:solidFill>
                <a:latin typeface="Courier New"/>
              </a:rPr>
              <a:t> </a:t>
            </a:r>
            <a:r>
              <a:rPr sz="1100" b="0" i="0">
                <a:solidFill>
                  <a:srgbClr val="E6EDF3"/>
                </a:solidFill>
                <a:latin typeface="Courier New"/>
              </a:rPr>
              <a:t>(</a:t>
            </a:r>
            <a:r>
              <a:rPr sz="1100" b="0" i="0">
                <a:solidFill>
                  <a:srgbClr val="C9A0FF"/>
                </a:solidFill>
                <a:latin typeface="Courier New"/>
              </a:rPr>
              <a:t>True</a:t>
            </a:r>
            <a:r>
              <a:rPr sz="1100" b="0" i="0">
                <a:solidFill>
                  <a:srgbClr val="E6EDF3"/>
                </a:solidFill>
                <a:latin typeface="Courier New"/>
              </a:rPr>
              <a:t> </a:t>
            </a:r>
            <a:r>
              <a:rPr sz="1100" b="0" i="0">
                <a:solidFill>
                  <a:srgbClr val="C9A0FF"/>
                </a:solidFill>
                <a:latin typeface="Courier New"/>
              </a:rPr>
              <a:t>and</a:t>
            </a:r>
            <a:r>
              <a:rPr sz="1100" b="0" i="0">
                <a:solidFill>
                  <a:srgbClr val="E6EDF3"/>
                </a:solidFill>
                <a:latin typeface="Courier New"/>
              </a:rPr>
              <a:t> </a:t>
            </a:r>
            <a:r>
              <a:rPr sz="1100" b="0" i="0">
                <a:solidFill>
                  <a:srgbClr val="C9A0FF"/>
                </a:solidFill>
                <a:latin typeface="Courier New"/>
              </a:rPr>
              <a:t>False</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5465064" y="1595628"/>
            <a:ext cx="3313176" cy="699516"/>
          </a:xfrm>
          <a:prstGeom prst="rect">
            <a:avLst/>
          </a:prstGeom>
          <a:noFill/>
        </p:spPr>
        <p:txBody>
          <a:bodyPr wrap="square" lIns="128016" rIns="128016" tIns="18288" bIns="18288" anchor="ctr">
            <a:spAutoFit/>
          </a:bodyPr>
          <a:lstStyle/>
          <a:p>
            <a:r>
              <a:rPr sz="1200" b="0" i="0">
                <a:solidFill>
                  <a:srgbClr val="1F2933"/>
                </a:solidFill>
                <a:latin typeface="Calibri"/>
              </a:rPr>
              <a:t>Parentheses change the order. Use them whenever the order is not obvious to a reader.</a:t>
            </a:r>
          </a:p>
        </p:txBody>
      </p:sp>
      <p:sp>
        <p:nvSpPr>
          <p:cNvPr id="8" name="result label"/>
          <p:cNvSpPr txBox="1"/>
          <p:nvPr/>
        </p:nvSpPr>
        <p:spPr>
          <a:xfrm>
            <a:off x="365760" y="2368296"/>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642616"/>
          <a:ext cx="4879237" cy="1828800"/>
        </p:xfrm>
        <a:graphic>
          <a:graphicData uri="http://schemas.openxmlformats.org/drawingml/2006/table">
            <a:tbl>
              <a:tblPr firstRow="0" bandRow="0"/>
              <a:tblGrid>
                <a:gridCol w="3770320"/>
                <a:gridCol w="1108917"/>
              </a:tblGrid>
              <a:tr h="228600">
                <a:tc>
                  <a:txBody>
                    <a:bodyPr wrap="square"/>
                    <a:lstStyle/>
                    <a:p>
                      <a:r>
                        <a:rPr sz="1000" b="1" i="0">
                          <a:solidFill>
                            <a:srgbClr val="FFFFFF"/>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28600">
                <a:tc>
                  <a:txBody>
                    <a:bodyPr wrap="square"/>
                    <a:lstStyle/>
                    <a:p>
                      <a:r>
                        <a:rPr sz="1000" b="0" i="0">
                          <a:solidFill>
                            <a:srgbClr val="1F2933"/>
                          </a:solidFill>
                          <a:latin typeface="Courier New"/>
                        </a:rPr>
                        <a:t>not 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8600">
                <a:tc>
                  <a:txBody>
                    <a:bodyPr wrap="square"/>
                    <a:lstStyle/>
                    <a:p>
                      <a:r>
                        <a:rPr sz="1000" b="0" i="0">
                          <a:solidFill>
                            <a:srgbClr val="1F2933"/>
                          </a:solidFill>
                          <a:latin typeface="Courier New"/>
                        </a:rPr>
                        <a:t>not 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8600">
                <a:tc>
                  <a:txBody>
                    <a:bodyPr wrap="square"/>
                    <a:lstStyle/>
                    <a:p>
                      <a:r>
                        <a:rPr sz="1000" b="0" i="0">
                          <a:solidFill>
                            <a:srgbClr val="1F2933"/>
                          </a:solidFill>
                          <a:latin typeface="Courier New"/>
                        </a:rPr>
                        <a:t>not not 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8600">
                <a:tc>
                  <a:txBody>
                    <a:bodyPr wrap="square"/>
                    <a:lstStyle/>
                    <a:p>
                      <a:r>
                        <a:rPr sz="1000" b="0" i="0">
                          <a:solidFill>
                            <a:srgbClr val="1F2933"/>
                          </a:solidFill>
                          <a:latin typeface="Courier New"/>
                        </a:rPr>
                        <a:t>not 4 == 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8600">
                <a:tc>
                  <a:txBody>
                    <a:bodyPr wrap="square"/>
                    <a:lstStyle/>
                    <a:p>
                      <a:r>
                        <a:rPr sz="1000" b="0" i="0">
                          <a:solidFill>
                            <a:srgbClr val="1F2933"/>
                          </a:solidFill>
                          <a:latin typeface="Courier New"/>
                        </a:rPr>
                        <a:t>True or False and 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8600">
                <a:tc>
                  <a:txBody>
                    <a:bodyPr wrap="square"/>
                    <a:lstStyle/>
                    <a:p>
                      <a:r>
                        <a:rPr sz="1000" b="0" i="0">
                          <a:solidFill>
                            <a:srgbClr val="1F2933"/>
                          </a:solidFill>
                          <a:latin typeface="Courier New"/>
                        </a:rPr>
                        <a:t>(True or False) and 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8600">
                <a:tc>
                  <a:txBody>
                    <a:bodyPr wrap="square"/>
                    <a:lstStyle/>
                    <a:p>
                      <a:r>
                        <a:rPr sz="1000" b="0" i="0">
                          <a:solidFill>
                            <a:srgbClr val="1F2933"/>
                          </a:solidFill>
                          <a:latin typeface="Courier New"/>
                        </a:rPr>
                        <a:t>not (True and 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0" name="TextBox 9"/>
          <p:cNvSpPr txBox="1"/>
          <p:nvPr/>
        </p:nvSpPr>
        <p:spPr>
          <a:xfrm>
            <a:off x="5749747" y="2624328"/>
            <a:ext cx="2926080" cy="219456"/>
          </a:xfrm>
          <a:prstGeom prst="rect">
            <a:avLst/>
          </a:prstGeom>
          <a:noFill/>
        </p:spPr>
        <p:txBody>
          <a:bodyPr wrap="square" lIns="45720" rIns="45720" tIns="27432" bIns="27432" anchor="t">
            <a:spAutoFit/>
          </a:bodyPr>
          <a:lstStyle/>
          <a:p>
            <a:r>
              <a:rPr sz="1000" b="0" i="1">
                <a:solidFill>
                  <a:srgbClr val="5B6773"/>
                </a:solidFill>
                <a:latin typeface="Calibri"/>
              </a:rPr>
              <a:t>which operator is applied first</a:t>
            </a:r>
          </a:p>
        </p:txBody>
      </p:sp>
      <p:sp>
        <p:nvSpPr>
          <p:cNvPr id="11" name="Rounded Rectangle 10"/>
          <p:cNvSpPr/>
          <p:nvPr/>
        </p:nvSpPr>
        <p:spPr>
          <a:xfrm>
            <a:off x="5749747" y="2916936"/>
            <a:ext cx="2926080" cy="310896"/>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1  comparisons: ==  &lt;  &gt;</a:t>
            </a:r>
          </a:p>
        </p:txBody>
      </p:sp>
      <p:cxnSp>
        <p:nvCxnSpPr>
          <p:cNvPr id="12" name="arrow"/>
          <p:cNvCxnSpPr/>
          <p:nvPr/>
        </p:nvCxnSpPr>
        <p:spPr>
          <a:xfrm>
            <a:off x="7212787" y="3227832"/>
            <a:ext cx="0" cy="146304"/>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749747" y="3374136"/>
            <a:ext cx="2926080" cy="310896"/>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2  not</a:t>
            </a:r>
          </a:p>
        </p:txBody>
      </p:sp>
      <p:cxnSp>
        <p:nvCxnSpPr>
          <p:cNvPr id="14" name="arrow"/>
          <p:cNvCxnSpPr/>
          <p:nvPr/>
        </p:nvCxnSpPr>
        <p:spPr>
          <a:xfrm>
            <a:off x="7212787" y="3685032"/>
            <a:ext cx="0" cy="146303"/>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749747" y="3831335"/>
            <a:ext cx="2926080" cy="310896"/>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3  and</a:t>
            </a:r>
          </a:p>
        </p:txBody>
      </p:sp>
      <p:cxnSp>
        <p:nvCxnSpPr>
          <p:cNvPr id="16" name="arrow"/>
          <p:cNvCxnSpPr/>
          <p:nvPr/>
        </p:nvCxnSpPr>
        <p:spPr>
          <a:xfrm>
            <a:off x="7212787" y="4142231"/>
            <a:ext cx="0" cy="146305"/>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749747" y="4288536"/>
            <a:ext cx="2926080" cy="310896"/>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4  or</a:t>
            </a:r>
          </a:p>
        </p:txBody>
      </p:sp>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not before and, and before or; use parentheses.</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14 / 42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Mixing Boolean and comparison operators</a:t>
            </a:r>
          </a:p>
        </p:txBody>
      </p:sp>
      <p:sp>
        <p:nvSpPr>
          <p:cNvPr id="4" name="code"/>
          <p:cNvSpPr/>
          <p:nvPr/>
        </p:nvSpPr>
        <p:spPr>
          <a:xfrm>
            <a:off x="365760" y="841248"/>
            <a:ext cx="4203192" cy="10505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age</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member</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25</a:t>
            </a:r>
            <a:r>
              <a:rPr sz="1400" b="0" i="0">
                <a:solidFill>
                  <a:srgbClr val="E6EDF3"/>
                </a:solidFill>
                <a:latin typeface="Courier New"/>
              </a:rPr>
              <a:t>,</a:t>
            </a:r>
            <a:r>
              <a:rPr sz="1400" b="0" i="0">
                <a:solidFill>
                  <a:srgbClr val="E6EDF3"/>
                </a:solidFill>
                <a:latin typeface="Courier New"/>
              </a:rPr>
              <a:t> </a:t>
            </a:r>
            <a:r>
              <a:rPr sz="1400" b="0" i="0">
                <a:solidFill>
                  <a:srgbClr val="C9A0FF"/>
                </a:solidFill>
                <a:latin typeface="Courier New"/>
              </a:rPr>
              <a:t>True</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age</a:t>
            </a:r>
            <a:r>
              <a:rPr sz="1400" b="0" i="0">
                <a:solidFill>
                  <a:srgbClr val="E6EDF3"/>
                </a:solidFill>
                <a:latin typeface="Courier New"/>
              </a:rPr>
              <a:t> </a:t>
            </a:r>
            <a:r>
              <a:rPr sz="1400" b="0" i="0">
                <a:solidFill>
                  <a:srgbClr val="E6EDF3"/>
                </a:solidFill>
                <a:latin typeface="Courier New"/>
              </a:rPr>
              <a:t>&gt;</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18</a:t>
            </a:r>
            <a:r>
              <a:rPr sz="1400" b="0" i="0">
                <a:solidFill>
                  <a:srgbClr val="E6EDF3"/>
                </a:solidFill>
                <a:latin typeface="Courier New"/>
              </a:rPr>
              <a:t> </a:t>
            </a:r>
            <a:r>
              <a:rPr sz="1400" b="0" i="0">
                <a:solidFill>
                  <a:srgbClr val="C9A0FF"/>
                </a:solidFill>
                <a:latin typeface="Courier New"/>
              </a:rPr>
              <a:t>and</a:t>
            </a:r>
            <a:r>
              <a:rPr sz="1400" b="0" i="0">
                <a:solidFill>
                  <a:srgbClr val="E6EDF3"/>
                </a:solidFill>
                <a:latin typeface="Courier New"/>
              </a:rPr>
              <a:t> </a:t>
            </a:r>
            <a:r>
              <a:rPr sz="1400" b="0" i="0">
                <a:solidFill>
                  <a:srgbClr val="E6EDF3"/>
                </a:solidFill>
                <a:latin typeface="Courier New"/>
              </a:rPr>
              <a:t>member</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age</a:t>
            </a:r>
            <a:r>
              <a:rPr sz="1400" b="0" i="0">
                <a:solidFill>
                  <a:srgbClr val="E6EDF3"/>
                </a:solidFill>
                <a:latin typeface="Courier New"/>
              </a:rPr>
              <a:t> </a:t>
            </a:r>
            <a:r>
              <a:rPr sz="1400" b="0" i="0">
                <a:solidFill>
                  <a:srgbClr val="E6EDF3"/>
                </a:solidFill>
                <a:latin typeface="Courier New"/>
              </a:rPr>
              <a:t>&lt;</a:t>
            </a:r>
            <a:r>
              <a:rPr sz="1400" b="0" i="0">
                <a:solidFill>
                  <a:srgbClr val="E6EDF3"/>
                </a:solidFill>
                <a:latin typeface="Courier New"/>
              </a:rPr>
              <a:t> </a:t>
            </a:r>
            <a:r>
              <a:rPr sz="1400" b="0" i="0">
                <a:solidFill>
                  <a:srgbClr val="7CC4FF"/>
                </a:solidFill>
                <a:latin typeface="Courier New"/>
              </a:rPr>
              <a:t>13</a:t>
            </a:r>
            <a:r>
              <a:rPr sz="1400" b="0" i="0">
                <a:solidFill>
                  <a:srgbClr val="E6EDF3"/>
                </a:solidFill>
                <a:latin typeface="Courier New"/>
              </a:rPr>
              <a:t> </a:t>
            </a:r>
            <a:r>
              <a:rPr sz="1400" b="0" i="0">
                <a:solidFill>
                  <a:srgbClr val="C9A0FF"/>
                </a:solidFill>
                <a:latin typeface="Courier New"/>
              </a:rPr>
              <a:t>or</a:t>
            </a:r>
            <a:r>
              <a:rPr sz="1400" b="0" i="0">
                <a:solidFill>
                  <a:srgbClr val="E6EDF3"/>
                </a:solidFill>
                <a:latin typeface="Courier New"/>
              </a:rPr>
              <a:t> </a:t>
            </a:r>
            <a:r>
              <a:rPr sz="1400" b="0" i="0">
                <a:solidFill>
                  <a:srgbClr val="E6EDF3"/>
                </a:solidFill>
                <a:latin typeface="Courier New"/>
              </a:rPr>
              <a:t>age</a:t>
            </a:r>
            <a:r>
              <a:rPr sz="1400" b="0" i="0">
                <a:solidFill>
                  <a:srgbClr val="E6EDF3"/>
                </a:solidFill>
                <a:latin typeface="Courier New"/>
              </a:rPr>
              <a:t> </a:t>
            </a:r>
            <a:r>
              <a:rPr sz="1400" b="0" i="0">
                <a:solidFill>
                  <a:srgbClr val="E6EDF3"/>
                </a:solidFill>
                <a:latin typeface="Courier New"/>
              </a:rPr>
              <a:t>&gt;</a:t>
            </a:r>
            <a:r>
              <a:rPr sz="1400" b="0" i="0">
                <a:solidFill>
                  <a:srgbClr val="E6EDF3"/>
                </a:solidFill>
                <a:latin typeface="Courier New"/>
              </a:rPr>
              <a:t> </a:t>
            </a:r>
            <a:r>
              <a:rPr sz="1400" b="0" i="0">
                <a:solidFill>
                  <a:srgbClr val="7CC4FF"/>
                </a:solidFill>
                <a:latin typeface="Courier New"/>
              </a:rPr>
              <a:t>65</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C9A0FF"/>
                </a:solidFill>
                <a:latin typeface="Courier New"/>
              </a:rPr>
              <a:t>not</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age</a:t>
            </a:r>
            <a:r>
              <a:rPr sz="1400" b="0" i="0">
                <a:solidFill>
                  <a:srgbClr val="E6EDF3"/>
                </a:solidFill>
                <a:latin typeface="Courier New"/>
              </a:rPr>
              <a:t> </a:t>
            </a:r>
            <a:r>
              <a:rPr sz="1400" b="0" i="0">
                <a:solidFill>
                  <a:srgbClr val="E6EDF3"/>
                </a:solidFill>
                <a:latin typeface="Courier New"/>
              </a:rPr>
              <a:t>&gt;</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18</a:t>
            </a:r>
            <a:r>
              <a:rPr sz="1400" b="0" i="0">
                <a:solidFill>
                  <a:srgbClr val="E6EDF3"/>
                </a:solidFill>
                <a:latin typeface="Courier New"/>
              </a:rPr>
              <a:t> </a:t>
            </a:r>
            <a:r>
              <a:rPr sz="1400" b="0" i="0">
                <a:solidFill>
                  <a:srgbClr val="C9A0FF"/>
                </a:solidFill>
                <a:latin typeface="Courier New"/>
              </a:rPr>
              <a:t>and</a:t>
            </a:r>
            <a:r>
              <a:rPr sz="1400" b="0" i="0">
                <a:solidFill>
                  <a:srgbClr val="E6EDF3"/>
                </a:solidFill>
                <a:latin typeface="Courier New"/>
              </a:rPr>
              <a:t> </a:t>
            </a:r>
            <a:r>
              <a:rPr sz="1400" b="0" i="0">
                <a:solidFill>
                  <a:srgbClr val="E6EDF3"/>
                </a:solidFill>
                <a:latin typeface="Courier New"/>
              </a:rPr>
              <a:t>member</a:t>
            </a:r>
            <a:r>
              <a:rPr sz="1400" b="0" i="0">
                <a:solidFill>
                  <a:srgbClr val="E6EDF3"/>
                </a:solidFill>
                <a:latin typeface="Courier New"/>
              </a:rPr>
              <a:t>)</a:t>
            </a:r>
            <a:r>
              <a:rPr sz="1400" b="0" i="0">
                <a:solidFill>
                  <a:srgbClr val="E6EDF3"/>
                </a:solidFill>
                <a:latin typeface="Courier New"/>
              </a:rPr>
              <a:t>)</a:t>
            </a:r>
          </a:p>
        </p:txBody>
      </p:sp>
      <p:sp>
        <p:nvSpPr>
          <p:cNvPr id="5" name="explanation"/>
          <p:cNvSpPr txBox="1"/>
          <p:nvPr/>
        </p:nvSpPr>
        <p:spPr>
          <a:xfrm>
            <a:off x="4550664" y="841248"/>
            <a:ext cx="4227575" cy="1050544"/>
          </a:xfrm>
          <a:prstGeom prst="rect">
            <a:avLst/>
          </a:prstGeom>
          <a:noFill/>
        </p:spPr>
        <p:txBody>
          <a:bodyPr wrap="square" lIns="128016" rIns="128016" tIns="18288" bIns="18288" anchor="ctr">
            <a:spAutoFit/>
          </a:bodyPr>
          <a:lstStyle/>
          <a:p>
            <a:r>
              <a:rPr sz="1250" b="0" i="0">
                <a:solidFill>
                  <a:srgbClr val="1F2933"/>
                </a:solidFill>
                <a:latin typeface="Calibri"/>
              </a:rPr>
              <a:t>Comparisons come first and give Boolean values. The Boolean operators then combine those values into one answer.</a:t>
            </a:r>
          </a:p>
        </p:txBody>
      </p:sp>
      <p:sp>
        <p:nvSpPr>
          <p:cNvPr id="6" name="result label"/>
          <p:cNvSpPr txBox="1"/>
          <p:nvPr/>
        </p:nvSpPr>
        <p:spPr>
          <a:xfrm>
            <a:off x="365760" y="196494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7" name="Rounded Rectangle 6"/>
          <p:cNvSpPr/>
          <p:nvPr/>
        </p:nvSpPr>
        <p:spPr>
          <a:xfrm>
            <a:off x="365760" y="2239264"/>
            <a:ext cx="1737360" cy="329184"/>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age &gt;= 18 = True</a:t>
            </a:r>
          </a:p>
        </p:txBody>
      </p:sp>
      <p:cxnSp>
        <p:nvCxnSpPr>
          <p:cNvPr id="8" name="arrow"/>
          <p:cNvCxnSpPr/>
          <p:nvPr/>
        </p:nvCxnSpPr>
        <p:spPr>
          <a:xfrm>
            <a:off x="2194560" y="2403856"/>
            <a:ext cx="274319"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514600" y="2239264"/>
            <a:ext cx="548640" cy="329184"/>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and</a:t>
            </a:r>
          </a:p>
        </p:txBody>
      </p:sp>
      <p:cxnSp>
        <p:nvCxnSpPr>
          <p:cNvPr id="10" name="arrow"/>
          <p:cNvCxnSpPr/>
          <p:nvPr/>
        </p:nvCxnSpPr>
        <p:spPr>
          <a:xfrm>
            <a:off x="3063239" y="2403856"/>
            <a:ext cx="274321"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383280" y="2239264"/>
            <a:ext cx="1463040" cy="329184"/>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member = True</a:t>
            </a:r>
          </a:p>
        </p:txBody>
      </p:sp>
      <p:cxnSp>
        <p:nvCxnSpPr>
          <p:cNvPr id="12" name="arrow"/>
          <p:cNvCxnSpPr/>
          <p:nvPr/>
        </p:nvCxnSpPr>
        <p:spPr>
          <a:xfrm>
            <a:off x="4937760" y="2403856"/>
            <a:ext cx="27432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257800" y="2239264"/>
            <a:ext cx="1280160" cy="329184"/>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result = True</a:t>
            </a:r>
          </a:p>
        </p:txBody>
      </p:sp>
      <p:sp>
        <p:nvSpPr>
          <p:cNvPr id="14" name="Rounded Rectangle 13"/>
          <p:cNvSpPr/>
          <p:nvPr/>
        </p:nvSpPr>
        <p:spPr>
          <a:xfrm>
            <a:off x="365760" y="2696464"/>
            <a:ext cx="1737360" cy="329184"/>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age &lt; 13 = False</a:t>
            </a:r>
          </a:p>
        </p:txBody>
      </p:sp>
      <p:cxnSp>
        <p:nvCxnSpPr>
          <p:cNvPr id="15" name="arrow"/>
          <p:cNvCxnSpPr/>
          <p:nvPr/>
        </p:nvCxnSpPr>
        <p:spPr>
          <a:xfrm>
            <a:off x="2194560" y="2861056"/>
            <a:ext cx="274319"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514600" y="2696464"/>
            <a:ext cx="548640" cy="329184"/>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or</a:t>
            </a:r>
          </a:p>
        </p:txBody>
      </p:sp>
      <p:cxnSp>
        <p:nvCxnSpPr>
          <p:cNvPr id="17" name="arrow"/>
          <p:cNvCxnSpPr/>
          <p:nvPr/>
        </p:nvCxnSpPr>
        <p:spPr>
          <a:xfrm>
            <a:off x="3063239" y="2861056"/>
            <a:ext cx="274321"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383280" y="2696464"/>
            <a:ext cx="1737360" cy="329184"/>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age &gt; 65 = False</a:t>
            </a:r>
          </a:p>
        </p:txBody>
      </p:sp>
      <p:cxnSp>
        <p:nvCxnSpPr>
          <p:cNvPr id="19" name="arrow"/>
          <p:cNvCxnSpPr/>
          <p:nvPr/>
        </p:nvCxnSpPr>
        <p:spPr>
          <a:xfrm>
            <a:off x="5212080" y="2861056"/>
            <a:ext cx="27432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532120" y="2696464"/>
            <a:ext cx="1280160" cy="329184"/>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result = False</a:t>
            </a:r>
          </a:p>
        </p:txBody>
      </p:sp>
      <p:sp>
        <p:nvSpPr>
          <p:cNvPr id="21" name="Rounded Rectangle 20"/>
          <p:cNvSpPr/>
          <p:nvPr/>
        </p:nvSpPr>
        <p:spPr>
          <a:xfrm>
            <a:off x="365760" y="3153664"/>
            <a:ext cx="2743200" cy="329184"/>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age &gt;= 18 and member = True</a:t>
            </a:r>
          </a:p>
        </p:txBody>
      </p:sp>
      <p:cxnSp>
        <p:nvCxnSpPr>
          <p:cNvPr id="22" name="arrow"/>
          <p:cNvCxnSpPr/>
          <p:nvPr/>
        </p:nvCxnSpPr>
        <p:spPr>
          <a:xfrm>
            <a:off x="3200400" y="3318256"/>
            <a:ext cx="27432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520440" y="3153664"/>
            <a:ext cx="548640" cy="329184"/>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not</a:t>
            </a:r>
          </a:p>
        </p:txBody>
      </p:sp>
      <p:cxnSp>
        <p:nvCxnSpPr>
          <p:cNvPr id="24" name="arrow"/>
          <p:cNvCxnSpPr/>
          <p:nvPr/>
        </p:nvCxnSpPr>
        <p:spPr>
          <a:xfrm>
            <a:off x="4114800" y="3318256"/>
            <a:ext cx="27432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434840" y="3153664"/>
            <a:ext cx="1280160" cy="329184"/>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result = False</a:t>
            </a:r>
          </a:p>
        </p:txBody>
      </p:sp>
      <p:sp>
        <p:nvSpPr>
          <p:cNvPr id="2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Comparisons first, then Boolean operators.</a:t>
            </a:r>
          </a:p>
        </p:txBody>
      </p:sp>
      <p:sp>
        <p:nvSpPr>
          <p:cNvPr id="2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15 / 42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and, or: they stop early and return an operand</a:t>
            </a:r>
          </a:p>
        </p:txBody>
      </p:sp>
      <p:sp>
        <p:nvSpPr>
          <p:cNvPr id="4" name="code"/>
          <p:cNvSpPr/>
          <p:nvPr/>
        </p:nvSpPr>
        <p:spPr>
          <a:xfrm>
            <a:off x="365760" y="841248"/>
            <a:ext cx="494995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1</a:t>
            </a:r>
            <a:r>
              <a:rPr sz="1400" b="0" i="0">
                <a:solidFill>
                  <a:srgbClr val="E6EDF3"/>
                </a:solidFill>
                <a:latin typeface="Courier New"/>
              </a:rPr>
              <a:t> </a:t>
            </a:r>
            <a:r>
              <a:rPr sz="1400" b="0" i="0">
                <a:solidFill>
                  <a:srgbClr val="C9A0FF"/>
                </a:solidFill>
                <a:latin typeface="Courier New"/>
              </a:rPr>
              <a:t>or</a:t>
            </a:r>
            <a:r>
              <a:rPr sz="1400" b="0" i="0">
                <a:solidFill>
                  <a:srgbClr val="E6EDF3"/>
                </a:solidFill>
                <a:latin typeface="Courier New"/>
              </a:rPr>
              <a:t> </a:t>
            </a:r>
            <a:r>
              <a:rPr sz="1400" b="0" i="0">
                <a:solidFill>
                  <a:srgbClr val="7CC4FF"/>
                </a:solidFill>
                <a:latin typeface="Courier New"/>
              </a:rPr>
              <a:t>1</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0</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0</a:t>
            </a:r>
            <a:r>
              <a:rPr sz="1400" b="0" i="0">
                <a:solidFill>
                  <a:srgbClr val="E6EDF3"/>
                </a:solidFill>
                <a:latin typeface="Courier New"/>
              </a:rPr>
              <a:t> </a:t>
            </a:r>
            <a:r>
              <a:rPr sz="1400" b="0" i="0">
                <a:solidFill>
                  <a:srgbClr val="C9A0FF"/>
                </a:solidFill>
                <a:latin typeface="Courier New"/>
              </a:rPr>
              <a:t>and</a:t>
            </a:r>
            <a:r>
              <a:rPr sz="1400" b="0" i="0">
                <a:solidFill>
                  <a:srgbClr val="E6EDF3"/>
                </a:solidFill>
                <a:latin typeface="Courier New"/>
              </a:rPr>
              <a:t> </a:t>
            </a:r>
            <a:r>
              <a:rPr sz="1400" b="0" i="0">
                <a:solidFill>
                  <a:srgbClr val="7CC4FF"/>
                </a:solidFill>
                <a:latin typeface="Courier New"/>
              </a:rPr>
              <a:t>1</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0</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'hi'</a:t>
            </a:r>
            <a:r>
              <a:rPr sz="1400" b="0" i="0">
                <a:solidFill>
                  <a:srgbClr val="E6EDF3"/>
                </a:solidFill>
                <a:latin typeface="Courier New"/>
              </a:rPr>
              <a:t> </a:t>
            </a:r>
            <a:r>
              <a:rPr sz="1400" b="0" i="0">
                <a:solidFill>
                  <a:srgbClr val="C9A0FF"/>
                </a:solidFill>
                <a:latin typeface="Courier New"/>
              </a:rPr>
              <a:t>and</a:t>
            </a:r>
            <a:r>
              <a:rPr sz="1400" b="0" i="0">
                <a:solidFill>
                  <a:srgbClr val="E6EDF3"/>
                </a:solidFill>
                <a:latin typeface="Courier New"/>
              </a:rPr>
              <a:t> </a:t>
            </a:r>
            <a:r>
              <a:rPr sz="1400" b="0" i="0">
                <a:solidFill>
                  <a:srgbClr val="9BE3A8"/>
                </a:solidFill>
                <a:latin typeface="Courier New"/>
              </a:rPr>
              <a:t>'there'</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a:t>
            </a:r>
            <a:r>
              <a:rPr sz="1400" b="0" i="0">
                <a:solidFill>
                  <a:srgbClr val="E6EDF3"/>
                </a:solidFill>
                <a:latin typeface="Courier New"/>
              </a:rPr>
              <a:t> </a:t>
            </a:r>
            <a:r>
              <a:rPr sz="1400" b="0" i="0">
                <a:solidFill>
                  <a:srgbClr val="C9A0FF"/>
                </a:solidFill>
                <a:latin typeface="Courier New"/>
              </a:rPr>
              <a:t>or</a:t>
            </a:r>
            <a:r>
              <a:rPr sz="1400" b="0" i="0">
                <a:solidFill>
                  <a:srgbClr val="E6EDF3"/>
                </a:solidFill>
                <a:latin typeface="Courier New"/>
              </a:rPr>
              <a:t> </a:t>
            </a:r>
            <a:r>
              <a:rPr sz="1400" b="0" i="0">
                <a:solidFill>
                  <a:srgbClr val="9BE3A8"/>
                </a:solidFill>
                <a:latin typeface="Courier New"/>
              </a:rPr>
              <a:t>'default'</a:t>
            </a:r>
            <a:r>
              <a:rPr sz="1400" b="0" i="0">
                <a:solidFill>
                  <a:srgbClr val="E6EDF3"/>
                </a:solidFill>
                <a:latin typeface="Courier New"/>
              </a:rPr>
              <a:t>)</a:t>
            </a:r>
          </a:p>
        </p:txBody>
      </p:sp>
      <p:sp>
        <p:nvSpPr>
          <p:cNvPr id="5" name="explanation"/>
          <p:cNvSpPr txBox="1"/>
          <p:nvPr/>
        </p:nvSpPr>
        <p:spPr>
          <a:xfrm>
            <a:off x="5297424" y="841248"/>
            <a:ext cx="3480816" cy="723328"/>
          </a:xfrm>
          <a:prstGeom prst="rect">
            <a:avLst/>
          </a:prstGeom>
          <a:noFill/>
        </p:spPr>
        <p:txBody>
          <a:bodyPr wrap="square" lIns="128016" rIns="128016" tIns="18288" bIns="18288" anchor="ctr">
            <a:spAutoFit/>
          </a:bodyPr>
          <a:lstStyle/>
          <a:p>
            <a:r>
              <a:rPr sz="1250" b="0" i="0">
                <a:solidFill>
                  <a:srgbClr val="1F2933"/>
                </a:solidFill>
                <a:latin typeface="Calibri"/>
              </a:rPr>
              <a:t>or stops at the first true operand and and stops at the first false one. The division by zero is never reached.</a:t>
            </a:r>
          </a:p>
        </p:txBody>
      </p:sp>
      <p:sp>
        <p:nvSpPr>
          <p:cNvPr id="6" name="code"/>
          <p:cNvSpPr/>
          <p:nvPr/>
        </p:nvSpPr>
        <p:spPr>
          <a:xfrm>
            <a:off x="365760" y="1619440"/>
            <a:ext cx="494995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0</a:t>
            </a:r>
            <a:r>
              <a:rPr sz="1400" b="0" i="0">
                <a:solidFill>
                  <a:srgbClr val="E6EDF3"/>
                </a:solidFill>
                <a:latin typeface="Courier New"/>
              </a:rPr>
              <a:t> </a:t>
            </a:r>
            <a:r>
              <a:rPr sz="1400" b="0" i="0">
                <a:solidFill>
                  <a:srgbClr val="C9A0FF"/>
                </a:solidFill>
                <a:latin typeface="Courier New"/>
              </a:rPr>
              <a:t>or</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C9A0FF"/>
                </a:solidFill>
                <a:latin typeface="Courier New"/>
              </a:rPr>
              <a:t>or</a:t>
            </a:r>
            <a:r>
              <a:rPr sz="1400" b="0" i="0">
                <a:solidFill>
                  <a:srgbClr val="E6EDF3"/>
                </a:solidFill>
                <a:latin typeface="Courier New"/>
              </a:rPr>
              <a:t> </a:t>
            </a:r>
            <a:r>
              <a:rPr sz="1400" b="0" i="0">
                <a:solidFill>
                  <a:srgbClr val="C9A0FF"/>
                </a:solidFill>
                <a:latin typeface="Courier New"/>
              </a:rPr>
              <a:t>None</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1</a:t>
            </a:r>
            <a:r>
              <a:rPr sz="1400" b="0" i="0">
                <a:solidFill>
                  <a:srgbClr val="E6EDF3"/>
                </a:solidFill>
                <a:latin typeface="Courier New"/>
              </a:rPr>
              <a:t> </a:t>
            </a:r>
            <a:r>
              <a:rPr sz="1400" b="0" i="0">
                <a:solidFill>
                  <a:srgbClr val="C9A0FF"/>
                </a:solidFill>
                <a:latin typeface="Courier New"/>
              </a:rPr>
              <a:t>and</a:t>
            </a:r>
            <a:r>
              <a:rPr sz="1400" b="0" i="0">
                <a:solidFill>
                  <a:srgbClr val="E6EDF3"/>
                </a:solidFill>
                <a:latin typeface="Courier New"/>
              </a:rPr>
              <a:t> </a:t>
            </a:r>
            <a:r>
              <a:rPr sz="1400" b="0" i="0">
                <a:solidFill>
                  <a:srgbClr val="7CC4FF"/>
                </a:solidFill>
                <a:latin typeface="Courier New"/>
              </a:rPr>
              <a:t>2</a:t>
            </a:r>
            <a:r>
              <a:rPr sz="1400" b="0" i="0">
                <a:solidFill>
                  <a:srgbClr val="E6EDF3"/>
                </a:solidFill>
                <a:latin typeface="Courier New"/>
              </a:rPr>
              <a:t> </a:t>
            </a:r>
            <a:r>
              <a:rPr sz="1400" b="0" i="0">
                <a:solidFill>
                  <a:srgbClr val="C9A0FF"/>
                </a:solidFill>
                <a:latin typeface="Courier New"/>
              </a:rPr>
              <a:t>and</a:t>
            </a:r>
            <a:r>
              <a:rPr sz="1400" b="0" i="0">
                <a:solidFill>
                  <a:srgbClr val="E6EDF3"/>
                </a:solidFill>
                <a:latin typeface="Courier New"/>
              </a:rPr>
              <a:t> </a:t>
            </a:r>
            <a:r>
              <a:rPr sz="1400" b="0" i="0">
                <a:solidFill>
                  <a:srgbClr val="7CC4FF"/>
                </a:solidFill>
                <a:latin typeface="Courier New"/>
              </a:rPr>
              <a:t>3</a:t>
            </a:r>
            <a:r>
              <a:rPr sz="1400" b="0" i="0">
                <a:solidFill>
                  <a:srgbClr val="E6EDF3"/>
                </a:solidFill>
                <a:latin typeface="Courier New"/>
              </a:rPr>
              <a:t>)</a:t>
            </a:r>
          </a:p>
        </p:txBody>
      </p:sp>
      <p:sp>
        <p:nvSpPr>
          <p:cNvPr id="7" name="explanation"/>
          <p:cNvSpPr txBox="1"/>
          <p:nvPr/>
        </p:nvSpPr>
        <p:spPr>
          <a:xfrm>
            <a:off x="5297424" y="1619440"/>
            <a:ext cx="3480816" cy="723328"/>
          </a:xfrm>
          <a:prstGeom prst="rect">
            <a:avLst/>
          </a:prstGeom>
          <a:noFill/>
        </p:spPr>
        <p:txBody>
          <a:bodyPr wrap="square" lIns="128016" rIns="128016" tIns="18288" bIns="18288" anchor="ctr">
            <a:spAutoFit/>
          </a:bodyPr>
          <a:lstStyle/>
          <a:p>
            <a:r>
              <a:rPr sz="1250" b="0" i="0">
                <a:solidFill>
                  <a:srgbClr val="1F2933"/>
                </a:solidFill>
                <a:latin typeface="Calibri"/>
              </a:rPr>
              <a:t>The result is an operand, not always True or False: the last one that was looked at.</a:t>
            </a:r>
          </a:p>
        </p:txBody>
      </p:sp>
      <p:sp>
        <p:nvSpPr>
          <p:cNvPr id="8" name="result label"/>
          <p:cNvSpPr txBox="1"/>
          <p:nvPr/>
        </p:nvSpPr>
        <p:spPr>
          <a:xfrm>
            <a:off x="365760" y="241592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690241"/>
          <a:ext cx="5215735" cy="1918329"/>
        </p:xfrm>
        <a:graphic>
          <a:graphicData uri="http://schemas.openxmlformats.org/drawingml/2006/table">
            <a:tbl>
              <a:tblPr firstRow="0" bandRow="0"/>
              <a:tblGrid>
                <a:gridCol w="1991463"/>
                <a:gridCol w="1043147"/>
                <a:gridCol w="758652"/>
                <a:gridCol w="1422473"/>
              </a:tblGrid>
              <a:tr h="274047">
                <a:tc>
                  <a:txBody>
                    <a:bodyPr wrap="square"/>
                    <a:lstStyle/>
                    <a:p>
                      <a:r>
                        <a:rPr sz="1050" b="1" i="0">
                          <a:solidFill>
                            <a:srgbClr val="FFFFFF"/>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Operands looked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047">
                <a:tc>
                  <a:txBody>
                    <a:bodyPr wrap="square"/>
                    <a:lstStyle/>
                    <a:p>
                      <a:r>
                        <a:rPr sz="1050" b="0" i="0">
                          <a:solidFill>
                            <a:srgbClr val="1F2933"/>
                          </a:solidFill>
                          <a:latin typeface="Courier New"/>
                        </a:rPr>
                        <a:t>1 or 1 / 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1" i="0">
                          <a:solidFill>
                            <a:srgbClr val="0E7C86"/>
                          </a:solidFill>
                          <a:latin typeface="Calibri"/>
                        </a:rPr>
                        <a:t>1 of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047">
                <a:tc>
                  <a:txBody>
                    <a:bodyPr wrap="square"/>
                    <a:lstStyle/>
                    <a:p>
                      <a:r>
                        <a:rPr sz="1050" b="0" i="0">
                          <a:solidFill>
                            <a:srgbClr val="1F2933"/>
                          </a:solidFill>
                          <a:latin typeface="Courier New"/>
                        </a:rPr>
                        <a:t>0 and 1 / 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1" i="0">
                          <a:solidFill>
                            <a:srgbClr val="0E7C86"/>
                          </a:solidFill>
                          <a:latin typeface="Calibri"/>
                        </a:rPr>
                        <a:t>1 of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047">
                <a:tc>
                  <a:txBody>
                    <a:bodyPr wrap="square"/>
                    <a:lstStyle/>
                    <a:p>
                      <a:r>
                        <a:rPr sz="1050" b="0" i="0">
                          <a:solidFill>
                            <a:srgbClr val="1F2933"/>
                          </a:solidFill>
                          <a:latin typeface="Courier New"/>
                        </a:rPr>
                        <a:t>'hi' and 'there'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'there'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1" i="0">
                          <a:solidFill>
                            <a:srgbClr val="5B6773"/>
                          </a:solidFill>
                          <a:latin typeface="Calibri"/>
                        </a:rPr>
                        <a:t>2 of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047">
                <a:tc>
                  <a:txBody>
                    <a:bodyPr wrap="square"/>
                    <a:lstStyle/>
                    <a:p>
                      <a:r>
                        <a:rPr sz="1050" b="0" i="0">
                          <a:solidFill>
                            <a:srgbClr val="1F2933"/>
                          </a:solidFill>
                          <a:latin typeface="Courier New"/>
                        </a:rPr>
                        <a:t>'' or 'default'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'default'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1" i="0">
                          <a:solidFill>
                            <a:srgbClr val="5B6773"/>
                          </a:solidFill>
                          <a:latin typeface="Calibri"/>
                        </a:rPr>
                        <a:t>2 of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047">
                <a:tc>
                  <a:txBody>
                    <a:bodyPr wrap="square"/>
                    <a:lstStyle/>
                    <a:p>
                      <a:r>
                        <a:rPr sz="1050" b="0" i="0">
                          <a:solidFill>
                            <a:srgbClr val="1F2933"/>
                          </a:solidFill>
                          <a:latin typeface="Courier New"/>
                        </a:rPr>
                        <a:t>0 or [] or 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NoneType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1" i="0">
                          <a:solidFill>
                            <a:srgbClr val="5B6773"/>
                          </a:solidFill>
                          <a:latin typeface="Calibri"/>
                        </a:rPr>
                        <a:t>3 of 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047">
                <a:tc>
                  <a:txBody>
                    <a:bodyPr wrap="square"/>
                    <a:lstStyle/>
                    <a:p>
                      <a:r>
                        <a:rPr sz="1050" b="0" i="0">
                          <a:solidFill>
                            <a:srgbClr val="1F2933"/>
                          </a:solidFill>
                          <a:latin typeface="Courier New"/>
                        </a:rPr>
                        <a:t>1 and 2 and 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1" i="0">
                          <a:solidFill>
                            <a:srgbClr val="5B6773"/>
                          </a:solidFill>
                          <a:latin typeface="Calibri"/>
                        </a:rPr>
                        <a:t>3 of 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0" name="TextBox 9"/>
          <p:cNvSpPr txBox="1"/>
          <p:nvPr/>
        </p:nvSpPr>
        <p:spPr>
          <a:xfrm>
            <a:off x="5833872" y="2671953"/>
            <a:ext cx="2944368" cy="219456"/>
          </a:xfrm>
          <a:prstGeom prst="rect">
            <a:avLst/>
          </a:prstGeom>
          <a:noFill/>
        </p:spPr>
        <p:txBody>
          <a:bodyPr wrap="square" lIns="45720" rIns="45720" tIns="27432" bIns="27432" anchor="t">
            <a:spAutoFit/>
          </a:bodyPr>
          <a:lstStyle/>
          <a:p>
            <a:r>
              <a:rPr sz="950" b="0" i="1">
                <a:solidFill>
                  <a:srgbClr val="5B6773"/>
                </a:solidFill>
                <a:latin typeface="Calibri"/>
              </a:rPr>
              <a:t>operands in the line and operands looked at</a:t>
            </a:r>
          </a:p>
        </p:txBody>
      </p:sp>
      <p:graphicFrame>
        <p:nvGraphicFramePr>
          <p:cNvPr id="11" name="chart"/>
          <p:cNvGraphicFramePr>
            <a:graphicFrameLocks noGrp="1"/>
          </p:cNvGraphicFramePr>
          <p:nvPr/>
        </p:nvGraphicFramePr>
        <p:xfrm>
          <a:off x="5833872" y="2873121"/>
          <a:ext cx="2944368" cy="1735455"/>
        </p:xfrm>
        <a:graphic>
          <a:graphicData uri="http://schemas.openxmlformats.org/drawingml/2006/chart">
            <c:chart xmlns:c="http://schemas.openxmlformats.org/drawingml/2006/chart" r:id="rId3"/>
          </a:graphicData>
        </a:graphic>
      </p:graphicFrame>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They stop early and return an operand.</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16 / 42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Truthiness: which values count as false</a:t>
            </a:r>
          </a:p>
        </p:txBody>
      </p:sp>
      <p:sp>
        <p:nvSpPr>
          <p:cNvPr id="4" name="code"/>
          <p:cNvSpPr/>
          <p:nvPr/>
        </p:nvSpPr>
        <p:spPr>
          <a:xfrm>
            <a:off x="365760" y="841248"/>
            <a:ext cx="5010912" cy="78714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E6EDF3"/>
                </a:solidFill>
                <a:latin typeface="Courier New"/>
              </a:rPr>
              <a:t>values</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r>
              <a:rPr sz="1300" b="0" i="0">
                <a:solidFill>
                  <a:srgbClr val="7CC4FF"/>
                </a:solidFill>
                <a:latin typeface="Courier New"/>
              </a:rPr>
              <a:t>0</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1</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0.0</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'a'</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r>
              <a:rPr sz="1300" b="0" i="0">
                <a:solidFill>
                  <a:srgbClr val="7CC4FF"/>
                </a:solidFill>
                <a:latin typeface="Courier New"/>
              </a:rPr>
              <a:t>0</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C9A0FF"/>
                </a:solidFill>
                <a:latin typeface="Courier New"/>
              </a:rPr>
              <a:t>None</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for</a:t>
            </a:r>
            <a:r>
              <a:rPr sz="1300" b="0" i="0">
                <a:solidFill>
                  <a:srgbClr val="E6EDF3"/>
                </a:solidFill>
                <a:latin typeface="Courier New"/>
              </a:rPr>
              <a:t> </a:t>
            </a:r>
            <a:r>
              <a:rPr sz="1300" b="0" i="0">
                <a:solidFill>
                  <a:srgbClr val="E6EDF3"/>
                </a:solidFill>
                <a:latin typeface="Courier New"/>
              </a:rPr>
              <a:t>v</a:t>
            </a:r>
            <a:r>
              <a:rPr sz="1300" b="0" i="0">
                <a:solidFill>
                  <a:srgbClr val="E6EDF3"/>
                </a:solidFill>
                <a:latin typeface="Courier New"/>
              </a:rPr>
              <a:t> </a:t>
            </a:r>
            <a:r>
              <a:rPr sz="1300" b="0" i="0">
                <a:solidFill>
                  <a:srgbClr val="C9A0FF"/>
                </a:solidFill>
                <a:latin typeface="Courier New"/>
              </a:rPr>
              <a:t>in</a:t>
            </a:r>
            <a:r>
              <a:rPr sz="1300" b="0" i="0">
                <a:solidFill>
                  <a:srgbClr val="E6EDF3"/>
                </a:solidFill>
                <a:latin typeface="Courier New"/>
              </a:rPr>
              <a:t> </a:t>
            </a:r>
            <a:r>
              <a:rPr sz="1300" b="0" i="0">
                <a:solidFill>
                  <a:srgbClr val="E6EDF3"/>
                </a:solidFill>
                <a:latin typeface="Courier New"/>
              </a:rPr>
              <a:t>values</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repr</a:t>
            </a:r>
            <a:r>
              <a:rPr sz="1300" b="0" i="0">
                <a:solidFill>
                  <a:srgbClr val="E6EDF3"/>
                </a:solidFill>
                <a:latin typeface="Courier New"/>
              </a:rPr>
              <a:t>(</a:t>
            </a:r>
            <a:r>
              <a:rPr sz="1300" b="0" i="0">
                <a:solidFill>
                  <a:srgbClr val="E6EDF3"/>
                </a:solidFill>
                <a:latin typeface="Courier New"/>
              </a:rPr>
              <a:t>v</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bool</a:t>
            </a:r>
            <a:r>
              <a:rPr sz="1300" b="0" i="0">
                <a:solidFill>
                  <a:srgbClr val="E6EDF3"/>
                </a:solidFill>
                <a:latin typeface="Courier New"/>
              </a:rPr>
              <a:t>(</a:t>
            </a:r>
            <a:r>
              <a:rPr sz="1300" b="0" i="0">
                <a:solidFill>
                  <a:srgbClr val="E6EDF3"/>
                </a:solidFill>
                <a:latin typeface="Courier New"/>
              </a:rPr>
              <a:t>v</a:t>
            </a:r>
            <a:r>
              <a:rPr sz="1300" b="0" i="0">
                <a:solidFill>
                  <a:srgbClr val="E6EDF3"/>
                </a:solidFill>
                <a:latin typeface="Courier New"/>
              </a:rPr>
              <a:t>)</a:t>
            </a:r>
            <a:r>
              <a:rPr sz="1300" b="0" i="0">
                <a:solidFill>
                  <a:srgbClr val="E6EDF3"/>
                </a:solidFill>
                <a:latin typeface="Courier New"/>
              </a:rPr>
              <a:t>)</a:t>
            </a:r>
          </a:p>
        </p:txBody>
      </p:sp>
      <p:sp>
        <p:nvSpPr>
          <p:cNvPr id="5" name="explanation"/>
          <p:cNvSpPr txBox="1"/>
          <p:nvPr/>
        </p:nvSpPr>
        <p:spPr>
          <a:xfrm>
            <a:off x="5358384" y="841248"/>
            <a:ext cx="3419856" cy="787146"/>
          </a:xfrm>
          <a:prstGeom prst="rect">
            <a:avLst/>
          </a:prstGeom>
          <a:noFill/>
        </p:spPr>
        <p:txBody>
          <a:bodyPr wrap="square" lIns="128016" rIns="128016" tIns="18288" bIns="18288" anchor="ctr">
            <a:spAutoFit/>
          </a:bodyPr>
          <a:lstStyle/>
          <a:p>
            <a:r>
              <a:rPr sz="1250" b="0" i="0">
                <a:solidFill>
                  <a:srgbClr val="1F2933"/>
                </a:solidFill>
                <a:latin typeface="Calibri"/>
              </a:rPr>
              <a:t>Zero, the empty string, the empty list and None count as false. Everything else counts as true.</a:t>
            </a:r>
          </a:p>
        </p:txBody>
      </p:sp>
      <p:sp>
        <p:nvSpPr>
          <p:cNvPr id="6" name="code"/>
          <p:cNvSpPr/>
          <p:nvPr/>
        </p:nvSpPr>
        <p:spPr>
          <a:xfrm>
            <a:off x="365760" y="1683258"/>
            <a:ext cx="5010912"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E6EDF3"/>
                </a:solidFill>
                <a:latin typeface="Courier New"/>
              </a:rPr>
              <a:t>greeting</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'hello'</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greeting</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C9A0FF"/>
                </a:solidFill>
                <a:latin typeface="Courier New"/>
              </a:rPr>
              <a:t>True</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bool</a:t>
            </a:r>
            <a:r>
              <a:rPr sz="1300" b="0" i="0">
                <a:solidFill>
                  <a:srgbClr val="E6EDF3"/>
                </a:solidFill>
                <a:latin typeface="Courier New"/>
              </a:rPr>
              <a:t>(</a:t>
            </a:r>
            <a:r>
              <a:rPr sz="1300" b="0" i="0">
                <a:solidFill>
                  <a:srgbClr val="E6EDF3"/>
                </a:solidFill>
                <a:latin typeface="Courier New"/>
              </a:rPr>
              <a:t>greeting</a:t>
            </a:r>
            <a:r>
              <a:rPr sz="1300" b="0" i="0">
                <a:solidFill>
                  <a:srgbClr val="E6EDF3"/>
                </a:solidFill>
                <a:latin typeface="Courier New"/>
              </a:rPr>
              <a:t>)</a:t>
            </a:r>
            <a:r>
              <a:rPr sz="1300" b="0" i="0">
                <a:solidFill>
                  <a:srgbClr val="E6EDF3"/>
                </a:solidFill>
                <a:latin typeface="Courier New"/>
              </a:rPr>
              <a:t>)</a:t>
            </a:r>
          </a:p>
        </p:txBody>
      </p:sp>
      <p:sp>
        <p:nvSpPr>
          <p:cNvPr id="7" name="explanation"/>
          <p:cNvSpPr txBox="1"/>
          <p:nvPr/>
        </p:nvSpPr>
        <p:spPr>
          <a:xfrm>
            <a:off x="5358384" y="1683258"/>
            <a:ext cx="3419856" cy="723328"/>
          </a:xfrm>
          <a:prstGeom prst="rect">
            <a:avLst/>
          </a:prstGeom>
          <a:noFill/>
        </p:spPr>
        <p:txBody>
          <a:bodyPr wrap="square" lIns="128016" rIns="128016" tIns="18288" bIns="18288" anchor="ctr">
            <a:spAutoFit/>
          </a:bodyPr>
          <a:lstStyle/>
          <a:p>
            <a:r>
              <a:rPr sz="1250" b="0" i="0">
                <a:solidFill>
                  <a:srgbClr val="1F2933"/>
                </a:solidFill>
                <a:latin typeface="Calibri"/>
              </a:rPr>
              <a:t>Never write == True. A non-empty string is not equal to True, but it passes the test: write if greeting.</a:t>
            </a:r>
          </a:p>
        </p:txBody>
      </p:sp>
      <p:sp>
        <p:nvSpPr>
          <p:cNvPr id="8" name="result label"/>
          <p:cNvSpPr txBox="1"/>
          <p:nvPr/>
        </p:nvSpPr>
        <p:spPr>
          <a:xfrm>
            <a:off x="365760" y="247973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754058"/>
          <a:ext cx="2148840" cy="1234440"/>
        </p:xfrm>
        <a:graphic>
          <a:graphicData uri="http://schemas.openxmlformats.org/drawingml/2006/table">
            <a:tbl>
              <a:tblPr firstRow="0" bandRow="0"/>
              <a:tblGrid>
                <a:gridCol w="1074420"/>
                <a:gridCol w="1074420"/>
              </a:tblGrid>
              <a:tr h="246888">
                <a:tc>
                  <a:txBody>
                    <a:bodyPr wrap="square"/>
                    <a:lstStyle/>
                    <a:p>
                      <a:r>
                        <a:rPr sz="1050" b="1" i="0">
                          <a:solidFill>
                            <a:srgbClr val="FFFFFF"/>
                          </a:solidFill>
                          <a:latin typeface="Calibri"/>
                        </a:rPr>
                        <a:t>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bool(value)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r>
                        <a:rPr sz="1050" b="0" i="0">
                          <a:solidFill>
                            <a:srgbClr val="1F2933"/>
                          </a:solidFill>
                          <a:latin typeface="Courier New"/>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105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6888">
                <a:tc>
                  <a:txBody>
                    <a:bodyPr wrap="square"/>
                    <a:lstStyle/>
                    <a:p>
                      <a:r>
                        <a:rPr sz="1050" b="0" i="0">
                          <a:solidFill>
                            <a:srgbClr val="1F2933"/>
                          </a:solidFill>
                          <a:latin typeface="Courier New"/>
                        </a:rPr>
                        <a:t>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105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graphicFrame>
        <p:nvGraphicFramePr>
          <p:cNvPr id="10" name="table"/>
          <p:cNvGraphicFramePr>
            <a:graphicFrameLocks noGrp="1"/>
          </p:cNvGraphicFramePr>
          <p:nvPr/>
        </p:nvGraphicFramePr>
        <p:xfrm>
          <a:off x="2606040" y="2754058"/>
          <a:ext cx="2148840" cy="1234440"/>
        </p:xfrm>
        <a:graphic>
          <a:graphicData uri="http://schemas.openxmlformats.org/drawingml/2006/table">
            <a:tbl>
              <a:tblPr firstRow="0" bandRow="0"/>
              <a:tblGrid>
                <a:gridCol w="1074420"/>
                <a:gridCol w="1074420"/>
              </a:tblGrid>
              <a:tr h="246888">
                <a:tc>
                  <a:txBody>
                    <a:bodyPr wrap="square"/>
                    <a:lstStyle/>
                    <a:p>
                      <a:r>
                        <a:rPr sz="1050" b="1" i="0">
                          <a:solidFill>
                            <a:srgbClr val="FFFFFF"/>
                          </a:solidFill>
                          <a:latin typeface="Calibri"/>
                        </a:rPr>
                        <a:t>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bool(value)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r>
                        <a:rPr sz="1050" b="0" i="0">
                          <a:solidFill>
                            <a:srgbClr val="1F2933"/>
                          </a:solidFill>
                          <a:latin typeface="Courier New"/>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105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6888">
                <a:tc>
                  <a:txBody>
                    <a:bodyPr wrap="square"/>
                    <a:lstStyle/>
                    <a:p>
                      <a:r>
                        <a:rPr sz="1050" b="0" i="0">
                          <a:solidFill>
                            <a:srgbClr val="1F2933"/>
                          </a:solidFill>
                          <a:latin typeface="Courier New"/>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1050" b="0" i="0">
                          <a:solidFill>
                            <a:srgbClr val="1F2933"/>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graphicFrame>
        <p:nvGraphicFramePr>
          <p:cNvPr id="11" name="chart"/>
          <p:cNvGraphicFramePr>
            <a:graphicFrameLocks noGrp="1"/>
          </p:cNvGraphicFramePr>
          <p:nvPr/>
        </p:nvGraphicFramePr>
        <p:xfrm>
          <a:off x="4937760" y="2754058"/>
          <a:ext cx="2011680" cy="1325880"/>
        </p:xfrm>
        <a:graphic>
          <a:graphicData uri="http://schemas.openxmlformats.org/drawingml/2006/chart">
            <c:chart xmlns:c="http://schemas.openxmlformats.org/drawingml/2006/chart" r:id="rId3"/>
          </a:graphicData>
        </a:graphic>
      </p:graphicFrame>
      <p:sp>
        <p:nvSpPr>
          <p:cNvPr id="12" name="Rounded Rectangle 11"/>
          <p:cNvSpPr/>
          <p:nvPr/>
        </p:nvSpPr>
        <p:spPr>
          <a:xfrm>
            <a:off x="365760" y="4079938"/>
            <a:ext cx="3017520" cy="256032"/>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greeting == True gives False</a:t>
            </a:r>
          </a:p>
        </p:txBody>
      </p:sp>
      <p:sp>
        <p:nvSpPr>
          <p:cNvPr id="13" name="Rounded Rectangle 12"/>
          <p:cNvSpPr/>
          <p:nvPr/>
        </p:nvSpPr>
        <p:spPr>
          <a:xfrm>
            <a:off x="3520440" y="4079938"/>
            <a:ext cx="3017520" cy="256032"/>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bool(greeting) gives True</a:t>
            </a:r>
          </a:p>
        </p:txBody>
      </p:sp>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Empty and zero are false; write if greeting.</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17 / 42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3: Blocks and branches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Indented lines run together; if, elif and else choose the road</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Block</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Indented lines that run together as one unit.</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if</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Runs its block only when the condition is true.</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else</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Runs when every condition above it was false.</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elif</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Another condition, tested only if all above failed.</a:t>
            </a:r>
          </a:p>
        </p:txBody>
      </p:sp>
      <p:graphicFrame>
        <p:nvGraphicFramePr>
          <p:cNvPr id="13" name="table"/>
          <p:cNvGraphicFramePr>
            <a:graphicFrameLocks noGrp="1"/>
          </p:cNvGraphicFramePr>
          <p:nvPr/>
        </p:nvGraphicFramePr>
        <p:xfrm>
          <a:off x="5303520" y="1417320"/>
          <a:ext cx="3474719" cy="292608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19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blocks and branches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Story: the whitespace that is the syntax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21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Blocks: the lines that belong to an if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22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Indentation decides what belongs to 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if and else: the password check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24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elif: a ladder with one exit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elif: the order of the rungs matters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18 / 42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blocks and branches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flow control statement is a signpost at a fork: it sends the walker down exactly one path.</a:t>
            </a:r>
          </a:p>
        </p:txBody>
      </p:sp>
      <p:graphicFrame>
        <p:nvGraphicFramePr>
          <p:cNvPr id="6" name="table"/>
          <p:cNvGraphicFramePr>
            <a:graphicFrameLocks noGrp="1"/>
          </p:cNvGraphicFramePr>
          <p:nvPr/>
        </p:nvGraphicFramePr>
        <p:xfrm>
          <a:off x="365760" y="1463040"/>
          <a:ext cx="8412480" cy="3108960"/>
        </p:xfrm>
        <a:graphic>
          <a:graphicData uri="http://schemas.openxmlformats.org/drawingml/2006/table">
            <a:tbl>
              <a:tblPr firstRow="0" bandRow="0"/>
              <a:tblGrid>
                <a:gridCol w="2743200"/>
                <a:gridCol w="5669280"/>
              </a:tblGrid>
              <a:tr h="345440">
                <a:tc>
                  <a:txBody>
                    <a:bodyPr wrap="square"/>
                    <a:lstStyle/>
                    <a:p>
                      <a:r>
                        <a:rPr sz="12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5440">
                <a:tc>
                  <a:txBody>
                    <a:bodyPr wrap="square"/>
                    <a:lstStyle/>
                    <a:p>
                      <a:r>
                        <a:rPr sz="1200" b="1" i="0">
                          <a:solidFill>
                            <a:srgbClr val="1F2933"/>
                          </a:solidFill>
                          <a:latin typeface="Calibri"/>
                        </a:rPr>
                        <a:t>Components of Flow Control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signpost has two parts: the question on the board and the road it points to.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Flow Control Statements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Signposts at every fork of a hiking trail; if, elif and else are the three kinds.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200" b="1" i="0">
                          <a:solidFill>
                            <a:srgbClr val="1F2933"/>
                          </a:solidFill>
                          <a:latin typeface="Calibri"/>
                        </a:rPr>
                        <a:t>Flow control statement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One signpost: it reads the situation and sends you one way.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Block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 room in a house: everything inside the walls belongs together.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200" b="1" i="0">
                          <a:solidFill>
                            <a:srgbClr val="1F2933"/>
                          </a:solidFill>
                          <a:latin typeface="Calibri"/>
                        </a:rPr>
                        <a:t>if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door that opens only when its sensor sees you.</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else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The side door, used when the main door stayed shut.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200" b="1" i="0">
                          <a:solidFill>
                            <a:srgbClr val="1F2933"/>
                          </a:solidFill>
                          <a:latin typeface="Calibri"/>
                        </a:rPr>
                        <a:t>elif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ladder: you climb down from the top and stop at the first rung that holds.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Indentation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 bullet list: the deeper dash belongs to the item above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19 / 42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the whitespace that is the syntax</a:t>
            </a:r>
          </a:p>
        </p:txBody>
      </p:sp>
      <p:pic>
        <p:nvPicPr>
          <p:cNvPr id="4" name="photo indent" descr="Picture for the story: the whitespace that is the syntax"/>
          <p:cNvPicPr>
            <a:picLocks noChangeAspect="1"/>
          </p:cNvPicPr>
          <p:nvPr/>
        </p:nvPicPr>
        <p:blipFill>
          <a:blip r:embed="rId3"/>
          <a:stretch>
            <a:fillRect/>
          </a:stretch>
        </p:blipFill>
        <p:spPr>
          <a:xfrm>
            <a:off x="716280" y="868680"/>
            <a:ext cx="1950720"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Guido van Rossum at OSCON, 2006. Photo: Doc Searls, CC BY-SA 2.0, Wikimedia Commons.</a:t>
            </a:r>
          </a:p>
        </p:txBody>
      </p:sp>
      <p:sp>
        <p:nvSpPr>
          <p:cNvPr id="6" name="card"/>
          <p:cNvSpPr/>
          <p:nvPr/>
        </p:nvSpPr>
        <p:spPr>
          <a:xfrm>
            <a:off x="3200400" y="84124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Guido van Rossum, who took the idea from ABC, a teaching language built at CWI in Amsterdam.</a:t>
            </a:r>
          </a:p>
        </p:txBody>
      </p:sp>
      <p:sp>
        <p:nvSpPr>
          <p:cNvPr id="8" name="card"/>
          <p:cNvSpPr/>
          <p:nvPr/>
        </p:nvSpPr>
        <p:spPr>
          <a:xfrm>
            <a:off x="3200400" y="146304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6304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The layout of the code is its block structure: no braces, only the indentation that follows a colon.</a:t>
            </a:r>
          </a:p>
        </p:txBody>
      </p:sp>
      <p:sp>
        <p:nvSpPr>
          <p:cNvPr id="10" name="card"/>
          <p:cNvSpPr/>
          <p:nvPr/>
        </p:nvSpPr>
        <p:spPr>
          <a:xfrm>
            <a:off x="3200400" y="2084832"/>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2084832"/>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Python was started in December 1989 and first released in February 1991.</a:t>
            </a:r>
          </a:p>
        </p:txBody>
      </p:sp>
      <p:sp>
        <p:nvSpPr>
          <p:cNvPr id="12" name="card"/>
          <p:cNvSpPr/>
          <p:nvPr/>
        </p:nvSpPr>
        <p:spPr>
          <a:xfrm>
            <a:off x="3200400" y="2706624"/>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706624"/>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CWI, the Dutch research institute for mathematics and computer science, in Amsterdam.</a:t>
            </a:r>
          </a:p>
        </p:txBody>
      </p:sp>
      <p:sp>
        <p:nvSpPr>
          <p:cNvPr id="14" name="card"/>
          <p:cNvSpPr/>
          <p:nvPr/>
        </p:nvSpPr>
        <p:spPr>
          <a:xfrm>
            <a:off x="3200400" y="3328415"/>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328415"/>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What the reader sees is what the interpreter sees, so a program cannot look right and group wrong.</a:t>
            </a:r>
          </a:p>
        </p:txBody>
      </p:sp>
      <p:sp>
        <p:nvSpPr>
          <p:cNvPr id="16" name="card"/>
          <p:cNvSpPr/>
          <p:nvPr/>
        </p:nvSpPr>
        <p:spPr>
          <a:xfrm>
            <a:off x="3200400" y="3950207"/>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950207"/>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Every block after if, elif and else in this chapter is a run of lines with the same indent.</a:t>
            </a:r>
          </a:p>
        </p:txBody>
      </p:sp>
      <p:sp>
        <p:nvSpPr>
          <p:cNvPr id="18" name="read"/>
          <p:cNvSpPr txBox="1"/>
          <p:nvPr/>
        </p:nvSpPr>
        <p:spPr>
          <a:xfrm>
            <a:off x="3200400" y="4590287"/>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Python design FAQ: why indentation?</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20 / 42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Blocks: the lines that belong to an if</a:t>
            </a:r>
          </a:p>
        </p:txBody>
      </p:sp>
      <p:sp>
        <p:nvSpPr>
          <p:cNvPr id="4" name="code"/>
          <p:cNvSpPr/>
          <p:nvPr/>
        </p:nvSpPr>
        <p:spPr>
          <a:xfrm>
            <a:off x="365760" y="841248"/>
            <a:ext cx="2926080" cy="126745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age</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70</a:t>
            </a:r>
          </a:p>
          <a:p>
            <a:pPr algn="l"/>
            <a:r>
              <a:rPr sz="1400" b="0" i="0">
                <a:solidFill>
                  <a:srgbClr val="8FA3B8"/>
                </a:solidFill>
                <a:latin typeface="Courier New"/>
              </a:rPr>
              <a:t>&gt;&gt;&gt; </a:t>
            </a:r>
            <a:r>
              <a:rPr sz="1400" b="0" i="0">
                <a:solidFill>
                  <a:srgbClr val="C9A0FF"/>
                </a:solidFill>
                <a:latin typeface="Courier New"/>
              </a:rPr>
              <a:t>if</a:t>
            </a:r>
            <a:r>
              <a:rPr sz="1400" b="0" i="0">
                <a:solidFill>
                  <a:srgbClr val="E6EDF3"/>
                </a:solidFill>
                <a:latin typeface="Courier New"/>
              </a:rPr>
              <a:t> </a:t>
            </a:r>
            <a:r>
              <a:rPr sz="1400" b="0" i="0">
                <a:solidFill>
                  <a:srgbClr val="E6EDF3"/>
                </a:solidFill>
                <a:latin typeface="Courier New"/>
              </a:rPr>
              <a:t>age</a:t>
            </a:r>
            <a:r>
              <a:rPr sz="1400" b="0" i="0">
                <a:solidFill>
                  <a:srgbClr val="E6EDF3"/>
                </a:solidFill>
                <a:latin typeface="Courier New"/>
              </a:rPr>
              <a:t> </a:t>
            </a:r>
            <a:r>
              <a:rPr sz="1400" b="0" i="0">
                <a:solidFill>
                  <a:srgbClr val="E6EDF3"/>
                </a:solidFill>
                <a:latin typeface="Courier New"/>
              </a:rPr>
              <a:t>&gt;</a:t>
            </a:r>
            <a:r>
              <a:rPr sz="1400" b="0" i="0">
                <a:solidFill>
                  <a:srgbClr val="E6EDF3"/>
                </a:solidFill>
                <a:latin typeface="Courier New"/>
              </a:rPr>
              <a:t> </a:t>
            </a:r>
            <a:r>
              <a:rPr sz="1400" b="0" i="0">
                <a:solidFill>
                  <a:srgbClr val="7CC4FF"/>
                </a:solidFill>
                <a:latin typeface="Courier New"/>
              </a:rPr>
              <a:t>65</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'senior'</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'discount'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'end'</a:t>
            </a:r>
            <a:r>
              <a:rPr sz="1400" b="0" i="0">
                <a:solidFill>
                  <a:srgbClr val="E6EDF3"/>
                </a:solidFill>
                <a:latin typeface="Courier New"/>
              </a:rPr>
              <a:t>)</a:t>
            </a:r>
          </a:p>
        </p:txBody>
      </p:sp>
      <p:sp>
        <p:nvSpPr>
          <p:cNvPr id="5" name="explanation"/>
          <p:cNvSpPr txBox="1"/>
          <p:nvPr/>
        </p:nvSpPr>
        <p:spPr>
          <a:xfrm>
            <a:off x="3273552" y="841248"/>
            <a:ext cx="5504687" cy="1267459"/>
          </a:xfrm>
          <a:prstGeom prst="rect">
            <a:avLst/>
          </a:prstGeom>
          <a:noFill/>
        </p:spPr>
        <p:txBody>
          <a:bodyPr wrap="square" lIns="128016" rIns="128016" tIns="18288" bIns="18288" anchor="ctr">
            <a:spAutoFit/>
          </a:bodyPr>
          <a:lstStyle/>
          <a:p>
            <a:r>
              <a:rPr sz="1250" b="0" i="0">
                <a:solidFill>
                  <a:srgbClr val="1F2933"/>
                </a:solidFill>
                <a:latin typeface="Calibri"/>
              </a:rPr>
              <a:t>The condition ends with a colon. The two lines indented under it form the block that runs only if the condition is true.</a:t>
            </a:r>
          </a:p>
        </p:txBody>
      </p:sp>
      <p:sp>
        <p:nvSpPr>
          <p:cNvPr id="6" name="result label"/>
          <p:cNvSpPr txBox="1"/>
          <p:nvPr/>
        </p:nvSpPr>
        <p:spPr>
          <a:xfrm>
            <a:off x="365760" y="2181860"/>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7" name="Rounded Rectangle 6"/>
          <p:cNvSpPr/>
          <p:nvPr/>
        </p:nvSpPr>
        <p:spPr>
          <a:xfrm>
            <a:off x="365760" y="2593339"/>
            <a:ext cx="1783080"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age &gt; 65 ?</a:t>
            </a:r>
          </a:p>
        </p:txBody>
      </p:sp>
      <p:sp>
        <p:nvSpPr>
          <p:cNvPr id="8" name="Rounded Rectangle 7"/>
          <p:cNvSpPr/>
          <p:nvPr/>
        </p:nvSpPr>
        <p:spPr>
          <a:xfrm>
            <a:off x="2423160" y="2593339"/>
            <a:ext cx="1783080"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print('senior')</a:t>
            </a:r>
          </a:p>
        </p:txBody>
      </p:sp>
      <p:sp>
        <p:nvSpPr>
          <p:cNvPr id="9" name="Rounded Rectangle 8"/>
          <p:cNvSpPr/>
          <p:nvPr/>
        </p:nvSpPr>
        <p:spPr>
          <a:xfrm>
            <a:off x="4480560" y="2593339"/>
            <a:ext cx="1783080"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print('discount')</a:t>
            </a:r>
          </a:p>
        </p:txBody>
      </p:sp>
      <p:sp>
        <p:nvSpPr>
          <p:cNvPr id="10" name="Rounded Rectangle 9"/>
          <p:cNvSpPr/>
          <p:nvPr/>
        </p:nvSpPr>
        <p:spPr>
          <a:xfrm>
            <a:off x="6537960" y="2593339"/>
            <a:ext cx="1783080"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print('end')</a:t>
            </a:r>
          </a:p>
        </p:txBody>
      </p:sp>
      <p:cxnSp>
        <p:nvCxnSpPr>
          <p:cNvPr id="11" name="arrow"/>
          <p:cNvCxnSpPr/>
          <p:nvPr/>
        </p:nvCxnSpPr>
        <p:spPr>
          <a:xfrm>
            <a:off x="2148840" y="2776220"/>
            <a:ext cx="274320" cy="0"/>
          </a:xfrm>
          <a:prstGeom prst="line">
            <a:avLst/>
          </a:prstGeom>
          <a:ln w="2286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arrow"/>
          <p:cNvCxnSpPr/>
          <p:nvPr/>
        </p:nvCxnSpPr>
        <p:spPr>
          <a:xfrm>
            <a:off x="4206240" y="2776220"/>
            <a:ext cx="274320" cy="0"/>
          </a:xfrm>
          <a:prstGeom prst="line">
            <a:avLst/>
          </a:prstGeom>
          <a:ln w="2286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arrow"/>
          <p:cNvCxnSpPr/>
          <p:nvPr/>
        </p:nvCxnSpPr>
        <p:spPr>
          <a:xfrm>
            <a:off x="6263640" y="2776220"/>
            <a:ext cx="274320" cy="0"/>
          </a:xfrm>
          <a:prstGeom prst="line">
            <a:avLst/>
          </a:prstGeom>
          <a:ln w="22860">
            <a:solidFill>
              <a:srgbClr val="D9D2C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280160" y="2986532"/>
            <a:ext cx="1737360" cy="201168"/>
          </a:xfrm>
          <a:prstGeom prst="rect">
            <a:avLst/>
          </a:prstGeom>
          <a:noFill/>
        </p:spPr>
        <p:txBody>
          <a:bodyPr wrap="square" lIns="45720" rIns="45720" tIns="27432" bIns="27432" anchor="t">
            <a:spAutoFit/>
          </a:bodyPr>
          <a:lstStyle/>
          <a:p>
            <a:r>
              <a:rPr sz="950" b="0" i="1">
                <a:solidFill>
                  <a:srgbClr val="0E7C86"/>
                </a:solidFill>
                <a:latin typeface="Calibri"/>
              </a:rPr>
              <a:t>True: enter the block</a:t>
            </a:r>
          </a:p>
        </p:txBody>
      </p:sp>
      <p:cxnSp>
        <p:nvCxnSpPr>
          <p:cNvPr id="15" name="Connector 14"/>
          <p:cNvCxnSpPr/>
          <p:nvPr/>
        </p:nvCxnSpPr>
        <p:spPr>
          <a:xfrm>
            <a:off x="1257300" y="2959099"/>
            <a:ext cx="0" cy="365761"/>
          </a:xfrm>
          <a:prstGeom prst="line">
            <a:avLst/>
          </a:prstGeom>
          <a:ln w="15240">
            <a:solidFill>
              <a:srgbClr val="D9D2C3"/>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57300" y="3324860"/>
            <a:ext cx="6172200" cy="0"/>
          </a:xfrm>
          <a:prstGeom prst="line">
            <a:avLst/>
          </a:prstGeom>
          <a:ln w="15240">
            <a:solidFill>
              <a:srgbClr val="D9D2C3"/>
            </a:solidFill>
          </a:ln>
        </p:spPr>
        <p:style>
          <a:lnRef idx="2">
            <a:schemeClr val="accent1"/>
          </a:lnRef>
          <a:fillRef idx="0">
            <a:schemeClr val="accent1"/>
          </a:fillRef>
          <a:effectRef idx="1">
            <a:schemeClr val="accent1"/>
          </a:effectRef>
          <a:fontRef idx="minor">
            <a:schemeClr val="tx1"/>
          </a:fontRef>
        </p:style>
      </p:cxnSp>
      <p:cxnSp>
        <p:nvCxnSpPr>
          <p:cNvPr id="17" name="arrow"/>
          <p:cNvCxnSpPr/>
          <p:nvPr/>
        </p:nvCxnSpPr>
        <p:spPr>
          <a:xfrm flipV="1">
            <a:off x="7429500" y="2977387"/>
            <a:ext cx="0" cy="347473"/>
          </a:xfrm>
          <a:prstGeom prst="line">
            <a:avLst/>
          </a:prstGeom>
          <a:ln w="15240">
            <a:solidFill>
              <a:srgbClr val="D9D2C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560320" y="3343147"/>
            <a:ext cx="4114800" cy="219456"/>
          </a:xfrm>
          <a:prstGeom prst="rect">
            <a:avLst/>
          </a:prstGeom>
          <a:noFill/>
        </p:spPr>
        <p:txBody>
          <a:bodyPr wrap="square" lIns="45720" rIns="45720" tIns="27432" bIns="27432" anchor="t">
            <a:spAutoFit/>
          </a:bodyPr>
          <a:lstStyle/>
          <a:p>
            <a:r>
              <a:rPr sz="950" b="0" i="1">
                <a:solidFill>
                  <a:srgbClr val="5B6773"/>
                </a:solidFill>
                <a:latin typeface="Calibri"/>
              </a:rPr>
              <a:t>False: jump over the block to the next line</a:t>
            </a:r>
          </a:p>
        </p:txBody>
      </p:sp>
      <p:sp>
        <p:nvSpPr>
          <p:cNvPr id="19" name="Rounded Rectangle 18"/>
          <p:cNvSpPr/>
          <p:nvPr/>
        </p:nvSpPr>
        <p:spPr>
          <a:xfrm>
            <a:off x="365760" y="3644899"/>
            <a:ext cx="4846320" cy="27432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lines run: [1, 2, 3, 4, 5] of 5</a:t>
            </a:r>
          </a:p>
        </p:txBody>
      </p:sp>
      <p:sp>
        <p:nvSpPr>
          <p:cNvPr id="20" name="Rounded Rectangle 19"/>
          <p:cNvSpPr/>
          <p:nvPr/>
        </p:nvSpPr>
        <p:spPr>
          <a:xfrm>
            <a:off x="5394960" y="3644899"/>
            <a:ext cx="3108960" cy="27432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printed: senior / discount / end</a:t>
            </a:r>
          </a:p>
        </p:txBody>
      </p:sp>
      <p:sp>
        <p:nvSpPr>
          <p:cNvPr id="2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 indented lines are the block.</a:t>
            </a:r>
          </a:p>
        </p:txBody>
      </p:sp>
      <p:sp>
        <p:nvSpPr>
          <p:cNvPr id="2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21 / 42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Indentation decides what belongs to the block</a:t>
            </a:r>
          </a:p>
        </p:txBody>
      </p:sp>
      <p:sp>
        <p:nvSpPr>
          <p:cNvPr id="4" name="code"/>
          <p:cNvSpPr/>
          <p:nvPr/>
        </p:nvSpPr>
        <p:spPr>
          <a:xfrm>
            <a:off x="365760" y="841248"/>
            <a:ext cx="3776472" cy="126745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x</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1</a:t>
            </a:r>
          </a:p>
          <a:p>
            <a:pPr algn="l"/>
            <a:r>
              <a:rPr sz="1400" b="0" i="0">
                <a:solidFill>
                  <a:srgbClr val="8FA3B8"/>
                </a:solidFill>
                <a:latin typeface="Courier New"/>
              </a:rPr>
              <a:t>&gt;&gt;&gt; </a:t>
            </a:r>
            <a:r>
              <a:rPr sz="1400" b="0" i="0">
                <a:solidFill>
                  <a:srgbClr val="C9A0FF"/>
                </a:solidFill>
                <a:latin typeface="Courier New"/>
              </a:rPr>
              <a:t>if</a:t>
            </a:r>
            <a:r>
              <a:rPr sz="1400" b="0" i="0">
                <a:solidFill>
                  <a:srgbClr val="E6EDF3"/>
                </a:solidFill>
                <a:latin typeface="Courier New"/>
              </a:rPr>
              <a:t> </a:t>
            </a:r>
            <a:r>
              <a:rPr sz="1400" b="0" i="0">
                <a:solidFill>
                  <a:srgbClr val="E6EDF3"/>
                </a:solidFill>
                <a:latin typeface="Courier New"/>
              </a:rPr>
              <a:t>x</a:t>
            </a:r>
            <a:r>
              <a:rPr sz="1400" b="0" i="0">
                <a:solidFill>
                  <a:srgbClr val="E6EDF3"/>
                </a:solidFill>
                <a:latin typeface="Courier New"/>
              </a:rPr>
              <a:t> </a:t>
            </a:r>
            <a:r>
              <a:rPr sz="1400" b="0" i="0">
                <a:solidFill>
                  <a:srgbClr val="E6EDF3"/>
                </a:solidFill>
                <a:latin typeface="Courier New"/>
              </a:rPr>
              <a:t>&gt;</a:t>
            </a:r>
            <a:r>
              <a:rPr sz="1400" b="0" i="0">
                <a:solidFill>
                  <a:srgbClr val="E6EDF3"/>
                </a:solidFill>
                <a:latin typeface="Courier New"/>
              </a:rPr>
              <a:t> </a:t>
            </a:r>
            <a:r>
              <a:rPr sz="1400" b="0" i="0">
                <a:solidFill>
                  <a:srgbClr val="7CC4FF"/>
                </a:solidFill>
                <a:latin typeface="Courier New"/>
              </a:rPr>
              <a:t>3</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'big'</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'inside the block'</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'outside the block'</a:t>
            </a:r>
            <a:r>
              <a:rPr sz="1400" b="0" i="0">
                <a:solidFill>
                  <a:srgbClr val="E6EDF3"/>
                </a:solidFill>
                <a:latin typeface="Courier New"/>
              </a:rPr>
              <a:t>)</a:t>
            </a:r>
          </a:p>
        </p:txBody>
      </p:sp>
      <p:sp>
        <p:nvSpPr>
          <p:cNvPr id="5" name="explanation"/>
          <p:cNvSpPr txBox="1"/>
          <p:nvPr/>
        </p:nvSpPr>
        <p:spPr>
          <a:xfrm>
            <a:off x="4123944" y="841248"/>
            <a:ext cx="4654295" cy="1267459"/>
          </a:xfrm>
          <a:prstGeom prst="rect">
            <a:avLst/>
          </a:prstGeom>
          <a:noFill/>
        </p:spPr>
        <p:txBody>
          <a:bodyPr wrap="square" lIns="128016" rIns="128016" tIns="18288" bIns="18288" anchor="ctr">
            <a:spAutoFit/>
          </a:bodyPr>
          <a:lstStyle/>
          <a:p>
            <a:r>
              <a:rPr sz="1250" b="0" i="0">
                <a:solidFill>
                  <a:srgbClr val="1F2933"/>
                </a:solidFill>
                <a:latin typeface="Calibri"/>
              </a:rPr>
              <a:t>The condition is false, so the block is skipped. The last line is not indented and runs in any case.</a:t>
            </a:r>
          </a:p>
        </p:txBody>
      </p:sp>
      <p:sp>
        <p:nvSpPr>
          <p:cNvPr id="6" name="result label"/>
          <p:cNvSpPr txBox="1"/>
          <p:nvPr/>
        </p:nvSpPr>
        <p:spPr>
          <a:xfrm>
            <a:off x="365760" y="2181860"/>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7" name="table"/>
          <p:cNvGraphicFramePr>
            <a:graphicFrameLocks noGrp="1"/>
          </p:cNvGraphicFramePr>
          <p:nvPr/>
        </p:nvGraphicFramePr>
        <p:xfrm>
          <a:off x="365760" y="2456180"/>
          <a:ext cx="5552236" cy="1481328"/>
        </p:xfrm>
        <a:graphic>
          <a:graphicData uri="http://schemas.openxmlformats.org/drawingml/2006/table">
            <a:tbl>
              <a:tblPr firstRow="0" bandRow="0"/>
              <a:tblGrid>
                <a:gridCol w="564634"/>
                <a:gridCol w="2823171"/>
                <a:gridCol w="941057"/>
                <a:gridCol w="1223374"/>
              </a:tblGrid>
              <a:tr h="246888">
                <a:tc>
                  <a:txBody>
                    <a:bodyPr wrap="square"/>
                    <a:lstStyle/>
                    <a:p>
                      <a:r>
                        <a:rPr sz="1050" b="1" i="0">
                          <a:solidFill>
                            <a:srgbClr val="FFFFFF"/>
                          </a:solidFill>
                          <a:latin typeface="Calibri"/>
                        </a:rPr>
                        <a:t>Line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Code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Indent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Did it run?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r>
                        <a:rPr sz="105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x =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2F855A"/>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1050" b="0" i="0">
                          <a:solidFill>
                            <a:srgbClr val="1F2933"/>
                          </a:solidFill>
                          <a:latin typeface="Courier New"/>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if x &gt; 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2F855A"/>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6888">
                <a:tc>
                  <a:txBody>
                    <a:bodyPr wrap="square"/>
                    <a:lstStyle/>
                    <a:p>
                      <a:r>
                        <a:rPr sz="105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print('big')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4 spaces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B83A1B"/>
                          </a:solidFill>
                          <a:latin typeface="Calibri"/>
                        </a:rPr>
                        <a:t>no, skipped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1050" b="0" i="0">
                          <a:solidFill>
                            <a:srgbClr val="1F2933"/>
                          </a:solidFill>
                          <a:latin typeface="Courier New"/>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print('inside the block')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4 spaces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B83A1B"/>
                          </a:solidFill>
                          <a:latin typeface="Calibri"/>
                        </a:rPr>
                        <a:t>no, skipped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6888">
                <a:tc>
                  <a:txBody>
                    <a:bodyPr wrap="square"/>
                    <a:lstStyle/>
                    <a:p>
                      <a:r>
                        <a:rPr sz="1050" b="0" i="0">
                          <a:solidFill>
                            <a:srgbClr val="1F2933"/>
                          </a:solidFill>
                          <a:latin typeface="Courier New"/>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print('outside the block')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2F855A"/>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8" name="TextBox 7"/>
          <p:cNvSpPr txBox="1"/>
          <p:nvPr/>
        </p:nvSpPr>
        <p:spPr>
          <a:xfrm>
            <a:off x="6170371" y="2437892"/>
            <a:ext cx="2607868" cy="219456"/>
          </a:xfrm>
          <a:prstGeom prst="rect">
            <a:avLst/>
          </a:prstGeom>
          <a:noFill/>
        </p:spPr>
        <p:txBody>
          <a:bodyPr wrap="square" lIns="45720" rIns="45720" tIns="27432" bIns="27432" anchor="t">
            <a:spAutoFit/>
          </a:bodyPr>
          <a:lstStyle/>
          <a:p>
            <a:r>
              <a:rPr sz="1000" b="0" i="1">
                <a:solidFill>
                  <a:srgbClr val="5B6773"/>
                </a:solidFill>
                <a:latin typeface="Calibri"/>
              </a:rPr>
              <a:t>lines run and lines skipped</a:t>
            </a:r>
          </a:p>
        </p:txBody>
      </p:sp>
      <p:graphicFrame>
        <p:nvGraphicFramePr>
          <p:cNvPr id="9" name="chart"/>
          <p:cNvGraphicFramePr>
            <a:graphicFrameLocks noGrp="1"/>
          </p:cNvGraphicFramePr>
          <p:nvPr/>
        </p:nvGraphicFramePr>
        <p:xfrm>
          <a:off x="6170371" y="2639060"/>
          <a:ext cx="2607868" cy="1969516"/>
        </p:xfrm>
        <a:graphic>
          <a:graphicData uri="http://schemas.openxmlformats.org/drawingml/2006/chart">
            <c:chart xmlns:c="http://schemas.openxmlformats.org/drawingml/2006/chart" r:id="rId3"/>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Indentation decides what belongs to the if.</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22 / 42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if and else: the password check</a:t>
            </a:r>
          </a:p>
        </p:txBody>
      </p:sp>
      <p:sp>
        <p:nvSpPr>
          <p:cNvPr id="4" name="code"/>
          <p:cNvSpPr/>
          <p:nvPr/>
        </p:nvSpPr>
        <p:spPr>
          <a:xfrm>
            <a:off x="365760" y="841248"/>
            <a:ext cx="3136391"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username</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'Mary'</a:t>
            </a:r>
          </a:p>
          <a:p>
            <a:pPr algn="l"/>
            <a:r>
              <a:rPr sz="1050" b="0" i="0">
                <a:solidFill>
                  <a:srgbClr val="8FA3B8"/>
                </a:solidFill>
                <a:latin typeface="Courier New"/>
              </a:rPr>
              <a:t>&gt;&gt;&gt; </a:t>
            </a:r>
            <a:r>
              <a:rPr sz="1050" b="0" i="0">
                <a:solidFill>
                  <a:srgbClr val="E6EDF3"/>
                </a:solidFill>
                <a:latin typeface="Courier New"/>
              </a:rPr>
              <a:t>password</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'swordfish'</a:t>
            </a:r>
          </a:p>
        </p:txBody>
      </p:sp>
      <p:sp>
        <p:nvSpPr>
          <p:cNvPr id="5" name="explanation"/>
          <p:cNvSpPr txBox="1"/>
          <p:nvPr/>
        </p:nvSpPr>
        <p:spPr>
          <a:xfrm>
            <a:off x="3483863" y="841248"/>
            <a:ext cx="5294375" cy="509016"/>
          </a:xfrm>
          <a:prstGeom prst="rect">
            <a:avLst/>
          </a:prstGeom>
          <a:noFill/>
        </p:spPr>
        <p:txBody>
          <a:bodyPr wrap="square" lIns="128016" rIns="128016" tIns="18288" bIns="18288" anchor="ctr">
            <a:spAutoFit/>
          </a:bodyPr>
          <a:lstStyle/>
          <a:p>
            <a:r>
              <a:rPr sz="1200" b="0" i="0">
                <a:solidFill>
                  <a:srgbClr val="1F2933"/>
                </a:solidFill>
                <a:latin typeface="Calibri"/>
              </a:rPr>
              <a:t>Two variables hold what the user typed. The program decides what to print from them.</a:t>
            </a:r>
          </a:p>
        </p:txBody>
      </p:sp>
      <p:sp>
        <p:nvSpPr>
          <p:cNvPr id="6" name="code"/>
          <p:cNvSpPr/>
          <p:nvPr/>
        </p:nvSpPr>
        <p:spPr>
          <a:xfrm>
            <a:off x="365760" y="1405128"/>
            <a:ext cx="3136391" cy="115900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if</a:t>
            </a:r>
            <a:r>
              <a:rPr sz="1050" b="0" i="0">
                <a:solidFill>
                  <a:srgbClr val="E6EDF3"/>
                </a:solidFill>
                <a:latin typeface="Courier New"/>
              </a:rPr>
              <a:t> </a:t>
            </a:r>
            <a:r>
              <a:rPr sz="1050" b="0" i="0">
                <a:solidFill>
                  <a:srgbClr val="E6EDF3"/>
                </a:solidFill>
                <a:latin typeface="Courier New"/>
              </a:rPr>
              <a:t>username</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'Mary'</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print</a:t>
            </a:r>
            <a:r>
              <a:rPr sz="1050" b="0" i="0">
                <a:solidFill>
                  <a:srgbClr val="E6EDF3"/>
                </a:solidFill>
                <a:latin typeface="Courier New"/>
              </a:rPr>
              <a:t>(</a:t>
            </a:r>
            <a:r>
              <a:rPr sz="1050" b="0" i="0">
                <a:solidFill>
                  <a:srgbClr val="9BE3A8"/>
                </a:solidFill>
                <a:latin typeface="Courier New"/>
              </a:rPr>
              <a:t>'Hello, Mary'</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if</a:t>
            </a:r>
            <a:r>
              <a:rPr sz="1050" b="0" i="0">
                <a:solidFill>
                  <a:srgbClr val="E6EDF3"/>
                </a:solidFill>
                <a:latin typeface="Courier New"/>
              </a:rPr>
              <a:t> </a:t>
            </a:r>
            <a:r>
              <a:rPr sz="1050" b="0" i="0">
                <a:solidFill>
                  <a:srgbClr val="E6EDF3"/>
                </a:solidFill>
                <a:latin typeface="Courier New"/>
              </a:rPr>
              <a:t>password</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'swordfish'</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print</a:t>
            </a:r>
            <a:r>
              <a:rPr sz="1050" b="0" i="0">
                <a:solidFill>
                  <a:srgbClr val="E6EDF3"/>
                </a:solidFill>
                <a:latin typeface="Courier New"/>
              </a:rPr>
              <a:t>(</a:t>
            </a:r>
            <a:r>
              <a:rPr sz="1050" b="0" i="0">
                <a:solidFill>
                  <a:srgbClr val="9BE3A8"/>
                </a:solidFill>
                <a:latin typeface="Courier New"/>
              </a:rPr>
              <a:t>'Access granted.'</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else</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print</a:t>
            </a:r>
            <a:r>
              <a:rPr sz="1050" b="0" i="0">
                <a:solidFill>
                  <a:srgbClr val="E6EDF3"/>
                </a:solidFill>
                <a:latin typeface="Courier New"/>
              </a:rPr>
              <a:t>(</a:t>
            </a:r>
            <a:r>
              <a:rPr sz="1050" b="0" i="0">
                <a:solidFill>
                  <a:srgbClr val="9BE3A8"/>
                </a:solidFill>
                <a:latin typeface="Courier New"/>
              </a:rPr>
              <a:t>'Wrong password.'</a:t>
            </a:r>
            <a:r>
              <a:rPr sz="1050" b="0" i="0">
                <a:solidFill>
                  <a:srgbClr val="E6EDF3"/>
                </a:solidFill>
                <a:latin typeface="Courier New"/>
              </a:rPr>
              <a:t>)</a:t>
            </a:r>
          </a:p>
        </p:txBody>
      </p:sp>
      <p:sp>
        <p:nvSpPr>
          <p:cNvPr id="7" name="explanation"/>
          <p:cNvSpPr txBox="1"/>
          <p:nvPr/>
        </p:nvSpPr>
        <p:spPr>
          <a:xfrm>
            <a:off x="3483863" y="1405128"/>
            <a:ext cx="5294375" cy="1159001"/>
          </a:xfrm>
          <a:prstGeom prst="rect">
            <a:avLst/>
          </a:prstGeom>
          <a:noFill/>
        </p:spPr>
        <p:txBody>
          <a:bodyPr wrap="square" lIns="128016" rIns="128016" tIns="18288" bIns="18288" anchor="ctr">
            <a:spAutoFit/>
          </a:bodyPr>
          <a:lstStyle/>
          <a:p>
            <a:r>
              <a:rPr sz="1200" b="0" i="0">
                <a:solidFill>
                  <a:srgbClr val="1F2933"/>
                </a:solidFill>
                <a:latin typeface="Calibri"/>
              </a:rPr>
              <a:t>An if can sit inside a block of another if. The else runs when the condition above it is false.</a:t>
            </a:r>
          </a:p>
        </p:txBody>
      </p:sp>
      <p:sp>
        <p:nvSpPr>
          <p:cNvPr id="8" name="result label"/>
          <p:cNvSpPr txBox="1"/>
          <p:nvPr/>
        </p:nvSpPr>
        <p:spPr>
          <a:xfrm>
            <a:off x="365760" y="263728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414522"/>
            <a:ext cx="1737360"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username == 'Mary' ?</a:t>
            </a:r>
          </a:p>
        </p:txBody>
      </p:sp>
      <p:sp>
        <p:nvSpPr>
          <p:cNvPr id="10" name="Rounded Rectangle 9"/>
          <p:cNvSpPr/>
          <p:nvPr/>
        </p:nvSpPr>
        <p:spPr>
          <a:xfrm>
            <a:off x="2377440" y="3414522"/>
            <a:ext cx="1600200"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print Hello, Mary</a:t>
            </a:r>
          </a:p>
        </p:txBody>
      </p:sp>
      <p:sp>
        <p:nvSpPr>
          <p:cNvPr id="11" name="Rounded Rectangle 10"/>
          <p:cNvSpPr/>
          <p:nvPr/>
        </p:nvSpPr>
        <p:spPr>
          <a:xfrm>
            <a:off x="4206240" y="3414522"/>
            <a:ext cx="2011680"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password == 'swordfish' ?</a:t>
            </a:r>
          </a:p>
        </p:txBody>
      </p:sp>
      <p:sp>
        <p:nvSpPr>
          <p:cNvPr id="12" name="Rounded Rectangle 11"/>
          <p:cNvSpPr/>
          <p:nvPr/>
        </p:nvSpPr>
        <p:spPr>
          <a:xfrm>
            <a:off x="6675120" y="2957322"/>
            <a:ext cx="1554480"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Access granted.</a:t>
            </a:r>
          </a:p>
        </p:txBody>
      </p:sp>
      <p:sp>
        <p:nvSpPr>
          <p:cNvPr id="13" name="Rounded Rectangle 12"/>
          <p:cNvSpPr/>
          <p:nvPr/>
        </p:nvSpPr>
        <p:spPr>
          <a:xfrm>
            <a:off x="6675120" y="3871722"/>
            <a:ext cx="1554480" cy="365760"/>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5B6773"/>
                </a:solidFill>
                <a:latin typeface="Courier New"/>
              </a:rPr>
              <a:t>Wrong password.</a:t>
            </a:r>
          </a:p>
        </p:txBody>
      </p:sp>
      <p:cxnSp>
        <p:nvCxnSpPr>
          <p:cNvPr id="14" name="arrow"/>
          <p:cNvCxnSpPr/>
          <p:nvPr/>
        </p:nvCxnSpPr>
        <p:spPr>
          <a:xfrm>
            <a:off x="2103120" y="3597402"/>
            <a:ext cx="274320" cy="0"/>
          </a:xfrm>
          <a:prstGeom prst="line">
            <a:avLst/>
          </a:prstGeom>
          <a:ln w="2286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arrow"/>
          <p:cNvCxnSpPr/>
          <p:nvPr/>
        </p:nvCxnSpPr>
        <p:spPr>
          <a:xfrm>
            <a:off x="3977640" y="3597402"/>
            <a:ext cx="228600" cy="0"/>
          </a:xfrm>
          <a:prstGeom prst="line">
            <a:avLst/>
          </a:prstGeom>
          <a:ln w="2286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arrow"/>
          <p:cNvCxnSpPr/>
          <p:nvPr/>
        </p:nvCxnSpPr>
        <p:spPr>
          <a:xfrm flipV="1">
            <a:off x="6217920" y="3185922"/>
            <a:ext cx="457200" cy="320040"/>
          </a:xfrm>
          <a:prstGeom prst="line">
            <a:avLst/>
          </a:prstGeom>
          <a:ln w="2286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arrow"/>
          <p:cNvCxnSpPr/>
          <p:nvPr/>
        </p:nvCxnSpPr>
        <p:spPr>
          <a:xfrm>
            <a:off x="6217920" y="3688842"/>
            <a:ext cx="457200" cy="320039"/>
          </a:xfrm>
          <a:prstGeom prst="line">
            <a:avLst/>
          </a:prstGeom>
          <a:ln w="22860">
            <a:solidFill>
              <a:srgbClr val="D9D2C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035040" y="3185922"/>
            <a:ext cx="731520" cy="182880"/>
          </a:xfrm>
          <a:prstGeom prst="rect">
            <a:avLst/>
          </a:prstGeom>
          <a:noFill/>
        </p:spPr>
        <p:txBody>
          <a:bodyPr wrap="square" lIns="0" rIns="0" tIns="0" bIns="0" anchor="t">
            <a:spAutoFit/>
          </a:bodyPr>
          <a:lstStyle/>
          <a:p>
            <a:r>
              <a:rPr sz="900" b="1" i="0">
                <a:solidFill>
                  <a:srgbClr val="2F855A"/>
                </a:solidFill>
                <a:latin typeface="Calibri"/>
              </a:rPr>
              <a:t>True</a:t>
            </a:r>
          </a:p>
        </p:txBody>
      </p:sp>
      <p:sp>
        <p:nvSpPr>
          <p:cNvPr id="19" name="TextBox 18"/>
          <p:cNvSpPr txBox="1"/>
          <p:nvPr/>
        </p:nvSpPr>
        <p:spPr>
          <a:xfrm>
            <a:off x="6035040" y="3963162"/>
            <a:ext cx="731520" cy="182880"/>
          </a:xfrm>
          <a:prstGeom prst="rect">
            <a:avLst/>
          </a:prstGeom>
          <a:noFill/>
        </p:spPr>
        <p:txBody>
          <a:bodyPr wrap="square" lIns="0" rIns="0" tIns="0" bIns="0" anchor="t">
            <a:spAutoFit/>
          </a:bodyPr>
          <a:lstStyle/>
          <a:p>
            <a:r>
              <a:rPr sz="900" b="1" i="0">
                <a:solidFill>
                  <a:srgbClr val="B83A1B"/>
                </a:solidFill>
                <a:latin typeface="Calibri"/>
              </a:rPr>
              <a:t>False</a:t>
            </a:r>
          </a:p>
        </p:txBody>
      </p:sp>
      <p:sp>
        <p:nvSpPr>
          <p:cNvPr id="20" name="Rounded Rectangle 19"/>
          <p:cNvSpPr/>
          <p:nvPr/>
        </p:nvSpPr>
        <p:spPr>
          <a:xfrm>
            <a:off x="365760" y="4283201"/>
            <a:ext cx="2377440" cy="274320"/>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5B6773"/>
                </a:solidFill>
                <a:latin typeface="Calibri"/>
              </a:rPr>
              <a:t>username is False: no output</a:t>
            </a:r>
          </a:p>
        </p:txBody>
      </p:sp>
      <p:cxnSp>
        <p:nvCxnSpPr>
          <p:cNvPr id="21" name="arrow"/>
          <p:cNvCxnSpPr/>
          <p:nvPr/>
        </p:nvCxnSpPr>
        <p:spPr>
          <a:xfrm>
            <a:off x="1234440" y="3780281"/>
            <a:ext cx="0" cy="502920"/>
          </a:xfrm>
          <a:prstGeom prst="line">
            <a:avLst/>
          </a:prstGeom>
          <a:ln w="15240">
            <a:solidFill>
              <a:srgbClr val="D9D2C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3291840" y="4283201"/>
            <a:ext cx="3291840" cy="27432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printed: Hello, Mary / Access granted.</a:t>
            </a:r>
          </a:p>
        </p:txBody>
      </p:sp>
      <p:sp>
        <p:nvSpPr>
          <p:cNvPr id="2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An else belongs to the if at its own indent.</a:t>
            </a:r>
          </a:p>
        </p:txBody>
      </p:sp>
      <p:sp>
        <p:nvSpPr>
          <p:cNvPr id="2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23 / 42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elif: a ladder with one exit</a:t>
            </a:r>
          </a:p>
        </p:txBody>
      </p:sp>
      <p:sp>
        <p:nvSpPr>
          <p:cNvPr id="4" name="code"/>
          <p:cNvSpPr/>
          <p:nvPr/>
        </p:nvSpPr>
        <p:spPr>
          <a:xfrm>
            <a:off x="365760" y="841248"/>
            <a:ext cx="4645151" cy="313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name</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age</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'Carol'</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3000</a:t>
            </a:r>
          </a:p>
        </p:txBody>
      </p:sp>
      <p:sp>
        <p:nvSpPr>
          <p:cNvPr id="5" name="explanation"/>
          <p:cNvSpPr txBox="1"/>
          <p:nvPr/>
        </p:nvSpPr>
        <p:spPr>
          <a:xfrm>
            <a:off x="365760" y="1164336"/>
            <a:ext cx="4645151" cy="447421"/>
          </a:xfrm>
          <a:prstGeom prst="rect">
            <a:avLst/>
          </a:prstGeom>
          <a:noFill/>
        </p:spPr>
        <p:txBody>
          <a:bodyPr wrap="square" lIns="109728" rIns="109728" tIns="18288" bIns="18288" anchor="ctr">
            <a:spAutoFit/>
          </a:bodyPr>
          <a:lstStyle/>
          <a:p>
            <a:r>
              <a:rPr sz="1150" b="0" i="0">
                <a:solidFill>
                  <a:srgbClr val="1F2933"/>
                </a:solidFill>
                <a:latin typeface="Calibri"/>
              </a:rPr>
              <a:t>Carol is 3000 years old. The ladder below asks about her name first and her age after that.</a:t>
            </a:r>
          </a:p>
        </p:txBody>
      </p:sp>
      <p:sp>
        <p:nvSpPr>
          <p:cNvPr id="6" name="code"/>
          <p:cNvSpPr/>
          <p:nvPr/>
        </p:nvSpPr>
        <p:spPr>
          <a:xfrm>
            <a:off x="365760" y="1657477"/>
            <a:ext cx="4645151" cy="8717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if</a:t>
            </a:r>
            <a:r>
              <a:rPr sz="1200" b="0" i="0">
                <a:solidFill>
                  <a:srgbClr val="E6EDF3"/>
                </a:solidFill>
                <a:latin typeface="Courier New"/>
              </a:rPr>
              <a:t> </a:t>
            </a:r>
            <a:r>
              <a:rPr sz="1200" b="0" i="0">
                <a:solidFill>
                  <a:srgbClr val="E6EDF3"/>
                </a:solidFill>
                <a:latin typeface="Courier New"/>
              </a:rPr>
              <a:t>name</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'Alice'</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'Hi, Alice.'</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elif</a:t>
            </a:r>
            <a:r>
              <a:rPr sz="1200" b="0" i="0">
                <a:solidFill>
                  <a:srgbClr val="E6EDF3"/>
                </a:solidFill>
                <a:latin typeface="Courier New"/>
              </a:rPr>
              <a:t> </a:t>
            </a:r>
            <a:r>
              <a:rPr sz="1200" b="0" i="0">
                <a:solidFill>
                  <a:srgbClr val="E6EDF3"/>
                </a:solidFill>
                <a:latin typeface="Courier New"/>
              </a:rPr>
              <a:t>age</a:t>
            </a:r>
            <a:r>
              <a:rPr sz="1200" b="0" i="0">
                <a:solidFill>
                  <a:srgbClr val="E6EDF3"/>
                </a:solidFill>
                <a:latin typeface="Courier New"/>
              </a:rPr>
              <a:t> </a:t>
            </a:r>
            <a:r>
              <a:rPr sz="1200" b="0" i="0">
                <a:solidFill>
                  <a:srgbClr val="E6EDF3"/>
                </a:solidFill>
                <a:latin typeface="Courier New"/>
              </a:rPr>
              <a:t>&lt;</a:t>
            </a:r>
            <a:r>
              <a:rPr sz="1200" b="0" i="0">
                <a:solidFill>
                  <a:srgbClr val="E6EDF3"/>
                </a:solidFill>
                <a:latin typeface="Courier New"/>
              </a:rPr>
              <a:t> </a:t>
            </a:r>
            <a:r>
              <a:rPr sz="1200" b="0" i="0">
                <a:solidFill>
                  <a:srgbClr val="7CC4FF"/>
                </a:solidFill>
                <a:latin typeface="Courier New"/>
              </a:rPr>
              <a:t>12</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'You are not Alice, kiddo.'</a:t>
            </a:r>
            <a:r>
              <a:rPr sz="1200" b="0" i="0">
                <a:solidFill>
                  <a:srgbClr val="E6EDF3"/>
                </a:solidFill>
                <a:latin typeface="Courier New"/>
              </a:rPr>
              <a:t>)</a:t>
            </a:r>
          </a:p>
        </p:txBody>
      </p:sp>
      <p:sp>
        <p:nvSpPr>
          <p:cNvPr id="7" name="explanation"/>
          <p:cNvSpPr txBox="1"/>
          <p:nvPr/>
        </p:nvSpPr>
        <p:spPr>
          <a:xfrm>
            <a:off x="365760" y="2538349"/>
            <a:ext cx="4645151" cy="629983"/>
          </a:xfrm>
          <a:prstGeom prst="rect">
            <a:avLst/>
          </a:prstGeom>
          <a:noFill/>
        </p:spPr>
        <p:txBody>
          <a:bodyPr wrap="square" lIns="109728" rIns="109728" tIns="18288" bIns="18288" anchor="ctr">
            <a:spAutoFit/>
          </a:bodyPr>
          <a:lstStyle/>
          <a:p>
            <a:r>
              <a:rPr sz="1150" b="0" i="0">
                <a:solidFill>
                  <a:srgbClr val="1F2933"/>
                </a:solidFill>
                <a:latin typeface="Calibri"/>
              </a:rPr>
              <a:t>Python tests the rungs from the top. The first true condition runs its block and the rest of the ladder is skipped.</a:t>
            </a:r>
          </a:p>
        </p:txBody>
      </p:sp>
      <p:sp>
        <p:nvSpPr>
          <p:cNvPr id="8" name="code"/>
          <p:cNvSpPr/>
          <p:nvPr/>
        </p:nvSpPr>
        <p:spPr>
          <a:xfrm>
            <a:off x="365760" y="3214052"/>
            <a:ext cx="4645151" cy="8717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elif</a:t>
            </a:r>
            <a:r>
              <a:rPr sz="1200" b="0" i="0">
                <a:solidFill>
                  <a:srgbClr val="E6EDF3"/>
                </a:solidFill>
                <a:latin typeface="Courier New"/>
              </a:rPr>
              <a:t> </a:t>
            </a:r>
            <a:r>
              <a:rPr sz="1200" b="0" i="0">
                <a:solidFill>
                  <a:srgbClr val="E6EDF3"/>
                </a:solidFill>
                <a:latin typeface="Courier New"/>
              </a:rPr>
              <a:t>age</a:t>
            </a:r>
            <a:r>
              <a:rPr sz="1200" b="0" i="0">
                <a:solidFill>
                  <a:srgbClr val="E6EDF3"/>
                </a:solidFill>
                <a:latin typeface="Courier New"/>
              </a:rPr>
              <a:t> </a:t>
            </a:r>
            <a:r>
              <a:rPr sz="1200" b="0" i="0">
                <a:solidFill>
                  <a:srgbClr val="E6EDF3"/>
                </a:solidFill>
                <a:latin typeface="Courier New"/>
              </a:rPr>
              <a:t>&gt;</a:t>
            </a:r>
            <a:r>
              <a:rPr sz="1200" b="0" i="0">
                <a:solidFill>
                  <a:srgbClr val="E6EDF3"/>
                </a:solidFill>
                <a:latin typeface="Courier New"/>
              </a:rPr>
              <a:t> </a:t>
            </a:r>
            <a:r>
              <a:rPr sz="1200" b="0" i="0">
                <a:solidFill>
                  <a:srgbClr val="7CC4FF"/>
                </a:solidFill>
                <a:latin typeface="Courier New"/>
              </a:rPr>
              <a:t>2000</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'Alice is not an undead vampire.'</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elif</a:t>
            </a:r>
            <a:r>
              <a:rPr sz="1200" b="0" i="0">
                <a:solidFill>
                  <a:srgbClr val="E6EDF3"/>
                </a:solidFill>
                <a:latin typeface="Courier New"/>
              </a:rPr>
              <a:t> </a:t>
            </a:r>
            <a:r>
              <a:rPr sz="1200" b="0" i="0">
                <a:solidFill>
                  <a:srgbClr val="E6EDF3"/>
                </a:solidFill>
                <a:latin typeface="Courier New"/>
              </a:rPr>
              <a:t>age</a:t>
            </a:r>
            <a:r>
              <a:rPr sz="1200" b="0" i="0">
                <a:solidFill>
                  <a:srgbClr val="E6EDF3"/>
                </a:solidFill>
                <a:latin typeface="Courier New"/>
              </a:rPr>
              <a:t> </a:t>
            </a:r>
            <a:r>
              <a:rPr sz="1200" b="0" i="0">
                <a:solidFill>
                  <a:srgbClr val="E6EDF3"/>
                </a:solidFill>
                <a:latin typeface="Courier New"/>
              </a:rPr>
              <a:t>&gt;</a:t>
            </a:r>
            <a:r>
              <a:rPr sz="1200" b="0" i="0">
                <a:solidFill>
                  <a:srgbClr val="E6EDF3"/>
                </a:solidFill>
                <a:latin typeface="Courier New"/>
              </a:rPr>
              <a:t> </a:t>
            </a:r>
            <a:r>
              <a:rPr sz="1200" b="0" i="0">
                <a:solidFill>
                  <a:srgbClr val="7CC4FF"/>
                </a:solidFill>
                <a:latin typeface="Courier New"/>
              </a:rPr>
              <a:t>100</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'You are not Alice, grannie.'</a:t>
            </a:r>
            <a:r>
              <a:rPr sz="1200" b="0" i="0">
                <a:solidFill>
                  <a:srgbClr val="E6EDF3"/>
                </a:solidFill>
                <a:latin typeface="Courier New"/>
              </a:rPr>
              <a:t>)</a:t>
            </a:r>
          </a:p>
        </p:txBody>
      </p:sp>
      <p:sp>
        <p:nvSpPr>
          <p:cNvPr id="9" name="explanation"/>
          <p:cNvSpPr txBox="1"/>
          <p:nvPr/>
        </p:nvSpPr>
        <p:spPr>
          <a:xfrm>
            <a:off x="365760" y="4094924"/>
            <a:ext cx="4645151" cy="447421"/>
          </a:xfrm>
          <a:prstGeom prst="rect">
            <a:avLst/>
          </a:prstGeom>
          <a:noFill/>
        </p:spPr>
        <p:txBody>
          <a:bodyPr wrap="square" lIns="109728" rIns="109728" tIns="18288" bIns="18288" anchor="ctr">
            <a:spAutoFit/>
          </a:bodyPr>
          <a:lstStyle/>
          <a:p>
            <a:r>
              <a:rPr sz="1150" b="0" i="0">
                <a:solidFill>
                  <a:srgbClr val="1F2933"/>
                </a:solidFill>
                <a:latin typeface="Calibri"/>
              </a:rPr>
              <a:t>Each elif is tried only when every condition above it was false. Here age 3000 stops at the third rung.</a:t>
            </a:r>
          </a:p>
        </p:txBody>
      </p:sp>
      <p:sp>
        <p:nvSpPr>
          <p:cNvPr id="10" name="result label"/>
          <p:cNvSpPr txBox="1"/>
          <p:nvPr/>
        </p:nvSpPr>
        <p:spPr>
          <a:xfrm>
            <a:off x="5239512" y="841248"/>
            <a:ext cx="3538728"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5239512" y="1143000"/>
          <a:ext cx="3538727" cy="1371600"/>
        </p:xfrm>
        <a:graphic>
          <a:graphicData uri="http://schemas.openxmlformats.org/drawingml/2006/table">
            <a:tbl>
              <a:tblPr firstRow="0" bandRow="0"/>
              <a:tblGrid>
                <a:gridCol w="493776"/>
                <a:gridCol w="1892807"/>
                <a:gridCol w="1152144"/>
              </a:tblGrid>
              <a:tr h="274320">
                <a:tc>
                  <a:txBody>
                    <a:bodyPr wrap="square"/>
                    <a:lstStyle/>
                    <a:p>
                      <a:r>
                        <a:rPr sz="1000" b="1" i="0">
                          <a:solidFill>
                            <a:srgbClr val="FFFFFF"/>
                          </a:solidFill>
                          <a:latin typeface="Calibri"/>
                        </a:rPr>
                        <a:t>Rung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Condition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name == 'Alice'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age &lt; 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age &gt; 2000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age &gt; 100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8A8F98"/>
                          </a:solidFill>
                          <a:latin typeface="Courier New"/>
                        </a:rPr>
                        <a:t>not tested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Rounded Rectangle 11"/>
          <p:cNvSpPr/>
          <p:nvPr/>
        </p:nvSpPr>
        <p:spPr>
          <a:xfrm>
            <a:off x="5239512" y="2606040"/>
            <a:ext cx="3538728" cy="27432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printed: Alice is not an undead vampire.</a:t>
            </a:r>
          </a:p>
        </p:txBody>
      </p:sp>
      <p:sp>
        <p:nvSpPr>
          <p:cNvPr id="13" name="TextBox 12"/>
          <p:cNvSpPr txBox="1"/>
          <p:nvPr/>
        </p:nvSpPr>
        <p:spPr>
          <a:xfrm>
            <a:off x="5239512" y="2971800"/>
            <a:ext cx="3538728" cy="219456"/>
          </a:xfrm>
          <a:prstGeom prst="rect">
            <a:avLst/>
          </a:prstGeom>
          <a:noFill/>
        </p:spPr>
        <p:txBody>
          <a:bodyPr wrap="square" lIns="45720" rIns="45720" tIns="27432" bIns="27432" anchor="t">
            <a:spAutoFit/>
          </a:bodyPr>
          <a:lstStyle/>
          <a:p>
            <a:r>
              <a:rPr sz="1000" b="0" i="1">
                <a:solidFill>
                  <a:srgbClr val="5B6773"/>
                </a:solidFill>
                <a:latin typeface="Calibri"/>
              </a:rPr>
              <a:t>rungs tested and rungs skipped</a:t>
            </a:r>
          </a:p>
        </p:txBody>
      </p:sp>
      <p:graphicFrame>
        <p:nvGraphicFramePr>
          <p:cNvPr id="14" name="chart"/>
          <p:cNvGraphicFramePr>
            <a:graphicFrameLocks noGrp="1"/>
          </p:cNvGraphicFramePr>
          <p:nvPr/>
        </p:nvGraphicFramePr>
        <p:xfrm>
          <a:off x="5239512" y="3154680"/>
          <a:ext cx="3538728" cy="1371600"/>
        </p:xfrm>
        <a:graphic>
          <a:graphicData uri="http://schemas.openxmlformats.org/drawingml/2006/chart">
            <c:chart xmlns:c="http://schemas.openxmlformats.org/drawingml/2006/chart" r:id="rId3"/>
          </a:graphicData>
        </a:graphic>
      </p:graphicFrame>
      <p:sp>
        <p:nvSpPr>
          <p:cNvPr id="1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 first true rung runs; the rest are skipped.</a:t>
            </a:r>
          </a:p>
        </p:txBody>
      </p:sp>
      <p:sp>
        <p:nvSpPr>
          <p:cNvPr id="1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24 / 42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elif: the order of the rungs matters</a:t>
            </a:r>
          </a:p>
        </p:txBody>
      </p:sp>
      <p:sp>
        <p:nvSpPr>
          <p:cNvPr id="4" name="code"/>
          <p:cNvSpPr/>
          <p:nvPr/>
        </p:nvSpPr>
        <p:spPr>
          <a:xfrm>
            <a:off x="365760" y="841248"/>
            <a:ext cx="3840480" cy="66255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50" b="0" i="0">
                <a:solidFill>
                  <a:srgbClr val="8FA3B8"/>
                </a:solidFill>
                <a:latin typeface="Courier New"/>
              </a:rPr>
              <a:t>&gt;&gt;&gt; </a:t>
            </a:r>
            <a:r>
              <a:rPr sz="1150" b="0" i="0">
                <a:solidFill>
                  <a:srgbClr val="C9A0FF"/>
                </a:solidFill>
                <a:latin typeface="Courier New"/>
              </a:rPr>
              <a:t>for</a:t>
            </a:r>
            <a:r>
              <a:rPr sz="1150" b="0" i="0">
                <a:solidFill>
                  <a:srgbClr val="E6EDF3"/>
                </a:solidFill>
                <a:latin typeface="Courier New"/>
              </a:rPr>
              <a:t> </a:t>
            </a:r>
            <a:r>
              <a:rPr sz="1150" b="0" i="0">
                <a:solidFill>
                  <a:srgbClr val="E6EDF3"/>
                </a:solidFill>
                <a:latin typeface="Courier New"/>
              </a:rPr>
              <a:t>age</a:t>
            </a:r>
            <a:r>
              <a:rPr sz="1150" b="0" i="0">
                <a:solidFill>
                  <a:srgbClr val="E6EDF3"/>
                </a:solidFill>
                <a:latin typeface="Courier New"/>
              </a:rPr>
              <a:t> </a:t>
            </a:r>
            <a:r>
              <a:rPr sz="1150" b="0" i="0">
                <a:solidFill>
                  <a:srgbClr val="C9A0FF"/>
                </a:solidFill>
                <a:latin typeface="Courier New"/>
              </a:rPr>
              <a:t>in</a:t>
            </a:r>
            <a:r>
              <a:rPr sz="1150" b="0" i="0">
                <a:solidFill>
                  <a:srgbClr val="E6EDF3"/>
                </a:solidFill>
                <a:latin typeface="Courier New"/>
              </a:rPr>
              <a:t> </a:t>
            </a:r>
            <a:r>
              <a:rPr sz="1150" b="0" i="0">
                <a:solidFill>
                  <a:srgbClr val="E6EDF3"/>
                </a:solidFill>
                <a:latin typeface="Courier New"/>
              </a:rPr>
              <a:t>(</a:t>
            </a:r>
            <a:r>
              <a:rPr sz="1150" b="0" i="0">
                <a:solidFill>
                  <a:srgbClr val="7CC4FF"/>
                </a:solidFill>
                <a:latin typeface="Courier New"/>
              </a:rPr>
              <a:t>5</a:t>
            </a:r>
            <a:r>
              <a:rPr sz="1150" b="0" i="0">
                <a:solidFill>
                  <a:srgbClr val="E6EDF3"/>
                </a:solidFill>
                <a:latin typeface="Courier New"/>
              </a:rPr>
              <a:t>,</a:t>
            </a:r>
            <a:r>
              <a:rPr sz="1150" b="0" i="0">
                <a:solidFill>
                  <a:srgbClr val="E6EDF3"/>
                </a:solidFill>
                <a:latin typeface="Courier New"/>
              </a:rPr>
              <a:t> </a:t>
            </a:r>
            <a:r>
              <a:rPr sz="1150" b="0" i="0">
                <a:solidFill>
                  <a:srgbClr val="7CC4FF"/>
                </a:solidFill>
                <a:latin typeface="Courier New"/>
              </a:rPr>
              <a:t>50</a:t>
            </a:r>
            <a:r>
              <a:rPr sz="1150" b="0" i="0">
                <a:solidFill>
                  <a:srgbClr val="E6EDF3"/>
                </a:solidFill>
                <a:latin typeface="Courier New"/>
              </a:rPr>
              <a:t>,</a:t>
            </a:r>
            <a:r>
              <a:rPr sz="1150" b="0" i="0">
                <a:solidFill>
                  <a:srgbClr val="E6EDF3"/>
                </a:solidFill>
                <a:latin typeface="Courier New"/>
              </a:rPr>
              <a:t> </a:t>
            </a:r>
            <a:r>
              <a:rPr sz="1150" b="0" i="0">
                <a:solidFill>
                  <a:srgbClr val="7CC4FF"/>
                </a:solidFill>
                <a:latin typeface="Courier New"/>
              </a:rPr>
              <a:t>150</a:t>
            </a:r>
            <a:r>
              <a:rPr sz="1150" b="0" i="0">
                <a:solidFill>
                  <a:srgbClr val="E6EDF3"/>
                </a:solidFill>
                <a:latin typeface="Courier New"/>
              </a:rPr>
              <a:t>,</a:t>
            </a:r>
            <a:r>
              <a:rPr sz="1150" b="0" i="0">
                <a:solidFill>
                  <a:srgbClr val="E6EDF3"/>
                </a:solidFill>
                <a:latin typeface="Courier New"/>
              </a:rPr>
              <a:t> </a:t>
            </a:r>
            <a:r>
              <a:rPr sz="1150" b="0" i="0">
                <a:solidFill>
                  <a:srgbClr val="7CC4FF"/>
                </a:solidFill>
                <a:latin typeface="Courier New"/>
              </a:rPr>
              <a:t>3000</a:t>
            </a:r>
            <a:r>
              <a:rPr sz="1150" b="0" i="0">
                <a:solidFill>
                  <a:srgbClr val="E6EDF3"/>
                </a:solidFill>
                <a:latin typeface="Courier New"/>
              </a:rPr>
              <a:t>)</a:t>
            </a:r>
            <a:r>
              <a:rPr sz="1150" b="0" i="0">
                <a:solidFill>
                  <a:srgbClr val="E6EDF3"/>
                </a:solidFill>
                <a:latin typeface="Courier New"/>
              </a:rPr>
              <a:t>:</a:t>
            </a:r>
          </a:p>
          <a:p>
            <a:pPr algn="l"/>
            <a:r>
              <a:rPr sz="1150" b="0" i="0">
                <a:solidFill>
                  <a:srgbClr val="8FA3B8"/>
                </a:solidFill>
                <a:latin typeface="Courier New"/>
              </a:rPr>
              <a:t>&gt;&gt;&gt; </a:t>
            </a:r>
            <a:r>
              <a:rPr sz="1150" b="0" i="0">
                <a:solidFill>
                  <a:srgbClr val="E6EDF3"/>
                </a:solidFill>
                <a:latin typeface="Courier New"/>
              </a:rPr>
              <a:t>    </a:t>
            </a:r>
            <a:r>
              <a:rPr sz="1150" b="0" i="0">
                <a:solidFill>
                  <a:srgbClr val="C9A0FF"/>
                </a:solidFill>
                <a:latin typeface="Courier New"/>
              </a:rPr>
              <a:t>if</a:t>
            </a:r>
            <a:r>
              <a:rPr sz="1150" b="0" i="0">
                <a:solidFill>
                  <a:srgbClr val="E6EDF3"/>
                </a:solidFill>
                <a:latin typeface="Courier New"/>
              </a:rPr>
              <a:t> </a:t>
            </a:r>
            <a:r>
              <a:rPr sz="1150" b="0" i="0">
                <a:solidFill>
                  <a:srgbClr val="E6EDF3"/>
                </a:solidFill>
                <a:latin typeface="Courier New"/>
              </a:rPr>
              <a:t>age</a:t>
            </a:r>
            <a:r>
              <a:rPr sz="1150" b="0" i="0">
                <a:solidFill>
                  <a:srgbClr val="E6EDF3"/>
                </a:solidFill>
                <a:latin typeface="Courier New"/>
              </a:rPr>
              <a:t> </a:t>
            </a:r>
            <a:r>
              <a:rPr sz="1150" b="0" i="0">
                <a:solidFill>
                  <a:srgbClr val="E6EDF3"/>
                </a:solidFill>
                <a:latin typeface="Courier New"/>
              </a:rPr>
              <a:t>&lt;</a:t>
            </a:r>
            <a:r>
              <a:rPr sz="1150" b="0" i="0">
                <a:solidFill>
                  <a:srgbClr val="E6EDF3"/>
                </a:solidFill>
                <a:latin typeface="Courier New"/>
              </a:rPr>
              <a:t> </a:t>
            </a:r>
            <a:r>
              <a:rPr sz="1150" b="0" i="0">
                <a:solidFill>
                  <a:srgbClr val="7CC4FF"/>
                </a:solidFill>
                <a:latin typeface="Courier New"/>
              </a:rPr>
              <a:t>12</a:t>
            </a:r>
            <a:r>
              <a:rPr sz="1150" b="0" i="0">
                <a:solidFill>
                  <a:srgbClr val="E6EDF3"/>
                </a:solidFill>
                <a:latin typeface="Courier New"/>
              </a:rPr>
              <a:t>:</a:t>
            </a:r>
          </a:p>
          <a:p>
            <a:pPr algn="l"/>
            <a:r>
              <a:rPr sz="1150" b="0" i="0">
                <a:solidFill>
                  <a:srgbClr val="8FA3B8"/>
                </a:solidFill>
                <a:latin typeface="Courier New"/>
              </a:rPr>
              <a:t>&gt;&gt;&gt; </a:t>
            </a:r>
            <a:r>
              <a:rPr sz="1150" b="0" i="0">
                <a:solidFill>
                  <a:srgbClr val="E6EDF3"/>
                </a:solidFill>
                <a:latin typeface="Courier New"/>
              </a:rPr>
              <a:t>        </a:t>
            </a:r>
            <a:r>
              <a:rPr sz="1150" b="0" i="0">
                <a:solidFill>
                  <a:srgbClr val="C9A0FF"/>
                </a:solidFill>
                <a:latin typeface="Courier New"/>
              </a:rPr>
              <a:t>print</a:t>
            </a:r>
            <a:r>
              <a:rPr sz="1150" b="0" i="0">
                <a:solidFill>
                  <a:srgbClr val="E6EDF3"/>
                </a:solidFill>
                <a:latin typeface="Courier New"/>
              </a:rPr>
              <a:t>(</a:t>
            </a:r>
            <a:r>
              <a:rPr sz="1150" b="0" i="0">
                <a:solidFill>
                  <a:srgbClr val="E6EDF3"/>
                </a:solidFill>
                <a:latin typeface="Courier New"/>
              </a:rPr>
              <a:t>age</a:t>
            </a:r>
            <a:r>
              <a:rPr sz="1150" b="0" i="0">
                <a:solidFill>
                  <a:srgbClr val="E6EDF3"/>
                </a:solidFill>
                <a:latin typeface="Courier New"/>
              </a:rPr>
              <a:t>,</a:t>
            </a:r>
            <a:r>
              <a:rPr sz="1150" b="0" i="0">
                <a:solidFill>
                  <a:srgbClr val="E6EDF3"/>
                </a:solidFill>
                <a:latin typeface="Courier New"/>
              </a:rPr>
              <a:t> </a:t>
            </a:r>
            <a:r>
              <a:rPr sz="1150" b="0" i="0">
                <a:solidFill>
                  <a:srgbClr val="9BE3A8"/>
                </a:solidFill>
                <a:latin typeface="Courier New"/>
              </a:rPr>
              <a:t>'kiddo'</a:t>
            </a:r>
            <a:r>
              <a:rPr sz="1150" b="0" i="0">
                <a:solidFill>
                  <a:srgbClr val="E6EDF3"/>
                </a:solidFill>
                <a:latin typeface="Courier New"/>
              </a:rPr>
              <a:t>)</a:t>
            </a:r>
          </a:p>
        </p:txBody>
      </p:sp>
      <p:sp>
        <p:nvSpPr>
          <p:cNvPr id="5" name="explanation"/>
          <p:cNvSpPr txBox="1"/>
          <p:nvPr/>
        </p:nvSpPr>
        <p:spPr>
          <a:xfrm>
            <a:off x="365760" y="1512951"/>
            <a:ext cx="3840480" cy="447421"/>
          </a:xfrm>
          <a:prstGeom prst="rect">
            <a:avLst/>
          </a:prstGeom>
          <a:noFill/>
        </p:spPr>
        <p:txBody>
          <a:bodyPr wrap="square" lIns="109728" rIns="109728" tIns="18288" bIns="18288" anchor="ctr">
            <a:spAutoFit/>
          </a:bodyPr>
          <a:lstStyle/>
          <a:p>
            <a:r>
              <a:rPr sz="1150" b="0" i="0">
                <a:solidFill>
                  <a:srgbClr val="1F2933"/>
                </a:solidFill>
                <a:latin typeface="Calibri"/>
              </a:rPr>
              <a:t>A loop tries four ages, one after the other. The first rung catches every child.</a:t>
            </a:r>
          </a:p>
        </p:txBody>
      </p:sp>
      <p:sp>
        <p:nvSpPr>
          <p:cNvPr id="6" name="code"/>
          <p:cNvSpPr/>
          <p:nvPr/>
        </p:nvSpPr>
        <p:spPr>
          <a:xfrm>
            <a:off x="365760" y="2006092"/>
            <a:ext cx="3840480" cy="84074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50" b="0" i="0">
                <a:solidFill>
                  <a:srgbClr val="8FA3B8"/>
                </a:solidFill>
                <a:latin typeface="Courier New"/>
              </a:rPr>
              <a:t>&gt;&gt;&gt; </a:t>
            </a:r>
            <a:r>
              <a:rPr sz="1150" b="0" i="0">
                <a:solidFill>
                  <a:srgbClr val="E6EDF3"/>
                </a:solidFill>
                <a:latin typeface="Courier New"/>
              </a:rPr>
              <a:t>    </a:t>
            </a:r>
            <a:r>
              <a:rPr sz="1150" b="0" i="0">
                <a:solidFill>
                  <a:srgbClr val="C9A0FF"/>
                </a:solidFill>
                <a:latin typeface="Courier New"/>
              </a:rPr>
              <a:t>elif</a:t>
            </a:r>
            <a:r>
              <a:rPr sz="1150" b="0" i="0">
                <a:solidFill>
                  <a:srgbClr val="E6EDF3"/>
                </a:solidFill>
                <a:latin typeface="Courier New"/>
              </a:rPr>
              <a:t> </a:t>
            </a:r>
            <a:r>
              <a:rPr sz="1150" b="0" i="0">
                <a:solidFill>
                  <a:srgbClr val="E6EDF3"/>
                </a:solidFill>
                <a:latin typeface="Courier New"/>
              </a:rPr>
              <a:t>age</a:t>
            </a:r>
            <a:r>
              <a:rPr sz="1150" b="0" i="0">
                <a:solidFill>
                  <a:srgbClr val="E6EDF3"/>
                </a:solidFill>
                <a:latin typeface="Courier New"/>
              </a:rPr>
              <a:t> </a:t>
            </a:r>
            <a:r>
              <a:rPr sz="1150" b="0" i="0">
                <a:solidFill>
                  <a:srgbClr val="E6EDF3"/>
                </a:solidFill>
                <a:latin typeface="Courier New"/>
              </a:rPr>
              <a:t>&gt;</a:t>
            </a:r>
            <a:r>
              <a:rPr sz="1150" b="0" i="0">
                <a:solidFill>
                  <a:srgbClr val="E6EDF3"/>
                </a:solidFill>
                <a:latin typeface="Courier New"/>
              </a:rPr>
              <a:t> </a:t>
            </a:r>
            <a:r>
              <a:rPr sz="1150" b="0" i="0">
                <a:solidFill>
                  <a:srgbClr val="7CC4FF"/>
                </a:solidFill>
                <a:latin typeface="Courier New"/>
              </a:rPr>
              <a:t>100</a:t>
            </a:r>
            <a:r>
              <a:rPr sz="1150" b="0" i="0">
                <a:solidFill>
                  <a:srgbClr val="E6EDF3"/>
                </a:solidFill>
                <a:latin typeface="Courier New"/>
              </a:rPr>
              <a:t>:</a:t>
            </a:r>
          </a:p>
          <a:p>
            <a:pPr algn="l"/>
            <a:r>
              <a:rPr sz="1150" b="0" i="0">
                <a:solidFill>
                  <a:srgbClr val="8FA3B8"/>
                </a:solidFill>
                <a:latin typeface="Courier New"/>
              </a:rPr>
              <a:t>&gt;&gt;&gt; </a:t>
            </a:r>
            <a:r>
              <a:rPr sz="1150" b="0" i="0">
                <a:solidFill>
                  <a:srgbClr val="E6EDF3"/>
                </a:solidFill>
                <a:latin typeface="Courier New"/>
              </a:rPr>
              <a:t>        </a:t>
            </a:r>
            <a:r>
              <a:rPr sz="1150" b="0" i="0">
                <a:solidFill>
                  <a:srgbClr val="C9A0FF"/>
                </a:solidFill>
                <a:latin typeface="Courier New"/>
              </a:rPr>
              <a:t>print</a:t>
            </a:r>
            <a:r>
              <a:rPr sz="1150" b="0" i="0">
                <a:solidFill>
                  <a:srgbClr val="E6EDF3"/>
                </a:solidFill>
                <a:latin typeface="Courier New"/>
              </a:rPr>
              <a:t>(</a:t>
            </a:r>
            <a:r>
              <a:rPr sz="1150" b="0" i="0">
                <a:solidFill>
                  <a:srgbClr val="E6EDF3"/>
                </a:solidFill>
                <a:latin typeface="Courier New"/>
              </a:rPr>
              <a:t>age</a:t>
            </a:r>
            <a:r>
              <a:rPr sz="1150" b="0" i="0">
                <a:solidFill>
                  <a:srgbClr val="E6EDF3"/>
                </a:solidFill>
                <a:latin typeface="Courier New"/>
              </a:rPr>
              <a:t>,</a:t>
            </a:r>
            <a:r>
              <a:rPr sz="1150" b="0" i="0">
                <a:solidFill>
                  <a:srgbClr val="E6EDF3"/>
                </a:solidFill>
                <a:latin typeface="Courier New"/>
              </a:rPr>
              <a:t> </a:t>
            </a:r>
            <a:r>
              <a:rPr sz="1150" b="0" i="0">
                <a:solidFill>
                  <a:srgbClr val="9BE3A8"/>
                </a:solidFill>
                <a:latin typeface="Courier New"/>
              </a:rPr>
              <a:t>'grannie'</a:t>
            </a:r>
            <a:r>
              <a:rPr sz="1150" b="0" i="0">
                <a:solidFill>
                  <a:srgbClr val="E6EDF3"/>
                </a:solidFill>
                <a:latin typeface="Courier New"/>
              </a:rPr>
              <a:t>)</a:t>
            </a:r>
          </a:p>
          <a:p>
            <a:pPr algn="l"/>
            <a:r>
              <a:rPr sz="1150" b="0" i="0">
                <a:solidFill>
                  <a:srgbClr val="8FA3B8"/>
                </a:solidFill>
                <a:latin typeface="Courier New"/>
              </a:rPr>
              <a:t>&gt;&gt;&gt; </a:t>
            </a:r>
            <a:r>
              <a:rPr sz="1150" b="0" i="0">
                <a:solidFill>
                  <a:srgbClr val="E6EDF3"/>
                </a:solidFill>
                <a:latin typeface="Courier New"/>
              </a:rPr>
              <a:t>    </a:t>
            </a:r>
            <a:r>
              <a:rPr sz="1150" b="0" i="0">
                <a:solidFill>
                  <a:srgbClr val="C9A0FF"/>
                </a:solidFill>
                <a:latin typeface="Courier New"/>
              </a:rPr>
              <a:t>elif</a:t>
            </a:r>
            <a:r>
              <a:rPr sz="1150" b="0" i="0">
                <a:solidFill>
                  <a:srgbClr val="E6EDF3"/>
                </a:solidFill>
                <a:latin typeface="Courier New"/>
              </a:rPr>
              <a:t> </a:t>
            </a:r>
            <a:r>
              <a:rPr sz="1150" b="0" i="0">
                <a:solidFill>
                  <a:srgbClr val="E6EDF3"/>
                </a:solidFill>
                <a:latin typeface="Courier New"/>
              </a:rPr>
              <a:t>age</a:t>
            </a:r>
            <a:r>
              <a:rPr sz="1150" b="0" i="0">
                <a:solidFill>
                  <a:srgbClr val="E6EDF3"/>
                </a:solidFill>
                <a:latin typeface="Courier New"/>
              </a:rPr>
              <a:t> </a:t>
            </a:r>
            <a:r>
              <a:rPr sz="1150" b="0" i="0">
                <a:solidFill>
                  <a:srgbClr val="E6EDF3"/>
                </a:solidFill>
                <a:latin typeface="Courier New"/>
              </a:rPr>
              <a:t>&gt;</a:t>
            </a:r>
            <a:r>
              <a:rPr sz="1150" b="0" i="0">
                <a:solidFill>
                  <a:srgbClr val="E6EDF3"/>
                </a:solidFill>
                <a:latin typeface="Courier New"/>
              </a:rPr>
              <a:t> </a:t>
            </a:r>
            <a:r>
              <a:rPr sz="1150" b="0" i="0">
                <a:solidFill>
                  <a:srgbClr val="7CC4FF"/>
                </a:solidFill>
                <a:latin typeface="Courier New"/>
              </a:rPr>
              <a:t>2000</a:t>
            </a:r>
            <a:r>
              <a:rPr sz="1150" b="0" i="0">
                <a:solidFill>
                  <a:srgbClr val="E6EDF3"/>
                </a:solidFill>
                <a:latin typeface="Courier New"/>
              </a:rPr>
              <a:t>:</a:t>
            </a:r>
          </a:p>
          <a:p>
            <a:pPr algn="l"/>
            <a:r>
              <a:rPr sz="1150" b="0" i="0">
                <a:solidFill>
                  <a:srgbClr val="8FA3B8"/>
                </a:solidFill>
                <a:latin typeface="Courier New"/>
              </a:rPr>
              <a:t>&gt;&gt;&gt; </a:t>
            </a:r>
            <a:r>
              <a:rPr sz="1150" b="0" i="0">
                <a:solidFill>
                  <a:srgbClr val="E6EDF3"/>
                </a:solidFill>
                <a:latin typeface="Courier New"/>
              </a:rPr>
              <a:t>        </a:t>
            </a:r>
            <a:r>
              <a:rPr sz="1150" b="0" i="0">
                <a:solidFill>
                  <a:srgbClr val="C9A0FF"/>
                </a:solidFill>
                <a:latin typeface="Courier New"/>
              </a:rPr>
              <a:t>print</a:t>
            </a:r>
            <a:r>
              <a:rPr sz="1150" b="0" i="0">
                <a:solidFill>
                  <a:srgbClr val="E6EDF3"/>
                </a:solidFill>
                <a:latin typeface="Courier New"/>
              </a:rPr>
              <a:t>(</a:t>
            </a:r>
            <a:r>
              <a:rPr sz="1150" b="0" i="0">
                <a:solidFill>
                  <a:srgbClr val="E6EDF3"/>
                </a:solidFill>
                <a:latin typeface="Courier New"/>
              </a:rPr>
              <a:t>age</a:t>
            </a:r>
            <a:r>
              <a:rPr sz="1150" b="0" i="0">
                <a:solidFill>
                  <a:srgbClr val="E6EDF3"/>
                </a:solidFill>
                <a:latin typeface="Courier New"/>
              </a:rPr>
              <a:t>,</a:t>
            </a:r>
            <a:r>
              <a:rPr sz="1150" b="0" i="0">
                <a:solidFill>
                  <a:srgbClr val="E6EDF3"/>
                </a:solidFill>
                <a:latin typeface="Courier New"/>
              </a:rPr>
              <a:t> </a:t>
            </a:r>
            <a:r>
              <a:rPr sz="1150" b="0" i="0">
                <a:solidFill>
                  <a:srgbClr val="9BE3A8"/>
                </a:solidFill>
                <a:latin typeface="Courier New"/>
              </a:rPr>
              <a:t>'vampire'</a:t>
            </a:r>
            <a:r>
              <a:rPr sz="1150" b="0" i="0">
                <a:solidFill>
                  <a:srgbClr val="E6EDF3"/>
                </a:solidFill>
                <a:latin typeface="Courier New"/>
              </a:rPr>
              <a:t>)</a:t>
            </a:r>
          </a:p>
        </p:txBody>
      </p:sp>
      <p:sp>
        <p:nvSpPr>
          <p:cNvPr id="7" name="explanation"/>
          <p:cNvSpPr txBox="1"/>
          <p:nvPr/>
        </p:nvSpPr>
        <p:spPr>
          <a:xfrm>
            <a:off x="365760" y="2855975"/>
            <a:ext cx="3840480" cy="629983"/>
          </a:xfrm>
          <a:prstGeom prst="rect">
            <a:avLst/>
          </a:prstGeom>
          <a:noFill/>
        </p:spPr>
        <p:txBody>
          <a:bodyPr wrap="square" lIns="109728" rIns="109728" tIns="18288" bIns="18288" anchor="ctr">
            <a:spAutoFit/>
          </a:bodyPr>
          <a:lstStyle/>
          <a:p>
            <a:r>
              <a:rPr sz="1150" b="0" i="0">
                <a:solidFill>
                  <a:srgbClr val="1F2933"/>
                </a:solidFill>
                <a:latin typeface="Calibri"/>
              </a:rPr>
              <a:t>Every age above 2000 is also above 100, so 3000 is stopped at the grannie rung. The vampire rung can never run.</a:t>
            </a:r>
          </a:p>
        </p:txBody>
      </p:sp>
      <p:sp>
        <p:nvSpPr>
          <p:cNvPr id="8" name="code"/>
          <p:cNvSpPr/>
          <p:nvPr/>
        </p:nvSpPr>
        <p:spPr>
          <a:xfrm>
            <a:off x="365760" y="3531679"/>
            <a:ext cx="3840480" cy="48437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50" b="0" i="0">
                <a:solidFill>
                  <a:srgbClr val="8FA3B8"/>
                </a:solidFill>
                <a:latin typeface="Courier New"/>
              </a:rPr>
              <a:t>&gt;&gt;&gt; </a:t>
            </a:r>
            <a:r>
              <a:rPr sz="1150" b="0" i="0">
                <a:solidFill>
                  <a:srgbClr val="E6EDF3"/>
                </a:solidFill>
                <a:latin typeface="Courier New"/>
              </a:rPr>
              <a:t>    </a:t>
            </a:r>
            <a:r>
              <a:rPr sz="1150" b="0" i="0">
                <a:solidFill>
                  <a:srgbClr val="C9A0FF"/>
                </a:solidFill>
                <a:latin typeface="Courier New"/>
              </a:rPr>
              <a:t>else</a:t>
            </a:r>
            <a:r>
              <a:rPr sz="1150" b="0" i="0">
                <a:solidFill>
                  <a:srgbClr val="E6EDF3"/>
                </a:solidFill>
                <a:latin typeface="Courier New"/>
              </a:rPr>
              <a:t>:</a:t>
            </a:r>
          </a:p>
          <a:p>
            <a:pPr algn="l"/>
            <a:r>
              <a:rPr sz="1150" b="0" i="0">
                <a:solidFill>
                  <a:srgbClr val="8FA3B8"/>
                </a:solidFill>
                <a:latin typeface="Courier New"/>
              </a:rPr>
              <a:t>&gt;&gt;&gt; </a:t>
            </a:r>
            <a:r>
              <a:rPr sz="1150" b="0" i="0">
                <a:solidFill>
                  <a:srgbClr val="E6EDF3"/>
                </a:solidFill>
                <a:latin typeface="Courier New"/>
              </a:rPr>
              <a:t>        </a:t>
            </a:r>
            <a:r>
              <a:rPr sz="1150" b="0" i="0">
                <a:solidFill>
                  <a:srgbClr val="C9A0FF"/>
                </a:solidFill>
                <a:latin typeface="Courier New"/>
              </a:rPr>
              <a:t>print</a:t>
            </a:r>
            <a:r>
              <a:rPr sz="1150" b="0" i="0">
                <a:solidFill>
                  <a:srgbClr val="E6EDF3"/>
                </a:solidFill>
                <a:latin typeface="Courier New"/>
              </a:rPr>
              <a:t>(</a:t>
            </a:r>
            <a:r>
              <a:rPr sz="1150" b="0" i="0">
                <a:solidFill>
                  <a:srgbClr val="E6EDF3"/>
                </a:solidFill>
                <a:latin typeface="Courier New"/>
              </a:rPr>
              <a:t>age</a:t>
            </a:r>
            <a:r>
              <a:rPr sz="1150" b="0" i="0">
                <a:solidFill>
                  <a:srgbClr val="E6EDF3"/>
                </a:solidFill>
                <a:latin typeface="Courier New"/>
              </a:rPr>
              <a:t>,</a:t>
            </a:r>
            <a:r>
              <a:rPr sz="1150" b="0" i="0">
                <a:solidFill>
                  <a:srgbClr val="E6EDF3"/>
                </a:solidFill>
                <a:latin typeface="Courier New"/>
              </a:rPr>
              <a:t> </a:t>
            </a:r>
            <a:r>
              <a:rPr sz="1150" b="0" i="0">
                <a:solidFill>
                  <a:srgbClr val="9BE3A8"/>
                </a:solidFill>
                <a:latin typeface="Courier New"/>
              </a:rPr>
              <a:t>'stranger'</a:t>
            </a:r>
            <a:r>
              <a:rPr sz="1150" b="0" i="0">
                <a:solidFill>
                  <a:srgbClr val="E6EDF3"/>
                </a:solidFill>
                <a:latin typeface="Courier New"/>
              </a:rPr>
              <a:t>)</a:t>
            </a:r>
          </a:p>
        </p:txBody>
      </p:sp>
      <p:sp>
        <p:nvSpPr>
          <p:cNvPr id="9" name="explanation"/>
          <p:cNvSpPr txBox="1"/>
          <p:nvPr/>
        </p:nvSpPr>
        <p:spPr>
          <a:xfrm>
            <a:off x="365760" y="4025201"/>
            <a:ext cx="3840480" cy="629983"/>
          </a:xfrm>
          <a:prstGeom prst="rect">
            <a:avLst/>
          </a:prstGeom>
          <a:noFill/>
        </p:spPr>
        <p:txBody>
          <a:bodyPr wrap="square" lIns="109728" rIns="109728" tIns="18288" bIns="18288" anchor="ctr">
            <a:spAutoFit/>
          </a:bodyPr>
          <a:lstStyle/>
          <a:p>
            <a:r>
              <a:rPr sz="1150" b="0" i="0">
                <a:solidFill>
                  <a:srgbClr val="1F2933"/>
                </a:solidFill>
                <a:latin typeface="Calibri"/>
              </a:rPr>
              <a:t>The else catches what no rung has caught. Age 50 is neither a child nor above 100, so it is a stranger.</a:t>
            </a:r>
          </a:p>
        </p:txBody>
      </p:sp>
      <p:sp>
        <p:nvSpPr>
          <p:cNvPr id="10" name="result label"/>
          <p:cNvSpPr txBox="1"/>
          <p:nvPr/>
        </p:nvSpPr>
        <p:spPr>
          <a:xfrm>
            <a:off x="4434840" y="841248"/>
            <a:ext cx="4343399"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4434840" y="1143000"/>
          <a:ext cx="4343399" cy="1280160"/>
        </p:xfrm>
        <a:graphic>
          <a:graphicData uri="http://schemas.openxmlformats.org/drawingml/2006/table">
            <a:tbl>
              <a:tblPr firstRow="0" bandRow="0"/>
              <a:tblGrid>
                <a:gridCol w="1002323"/>
                <a:gridCol w="1781907"/>
                <a:gridCol w="1559169"/>
              </a:tblGrid>
              <a:tr h="256032">
                <a:tc>
                  <a:txBody>
                    <a:bodyPr wrap="square"/>
                    <a:lstStyle/>
                    <a:p>
                      <a:r>
                        <a:rPr sz="1000" b="1" i="0">
                          <a:solidFill>
                            <a:srgbClr val="FFFFFF"/>
                          </a:solidFill>
                          <a:latin typeface="Calibri"/>
                        </a:rPr>
                        <a:t>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Printed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Rungs tested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56032">
                <a:tc>
                  <a:txBody>
                    <a:bodyPr wrap="square"/>
                    <a:lstStyle/>
                    <a:p>
                      <a:r>
                        <a:rPr sz="1000" b="0" i="0">
                          <a:solidFill>
                            <a:srgbClr val="1F2933"/>
                          </a:solidFill>
                          <a:latin typeface="Courier New"/>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kiddo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56032">
                <a:tc>
                  <a:txBody>
                    <a:bodyPr wrap="square"/>
                    <a:lstStyle/>
                    <a:p>
                      <a:r>
                        <a:rPr sz="1000" b="0" i="0">
                          <a:solidFill>
                            <a:srgbClr val="1F2933"/>
                          </a:solidFill>
                          <a:latin typeface="Courier New"/>
                        </a:rPr>
                        <a:t>50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stranger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56032">
                <a:tc>
                  <a:txBody>
                    <a:bodyPr wrap="square"/>
                    <a:lstStyle/>
                    <a:p>
                      <a:r>
                        <a:rPr sz="1000" b="0" i="0">
                          <a:solidFill>
                            <a:srgbClr val="1F2933"/>
                          </a:solidFill>
                          <a:latin typeface="Courier New"/>
                        </a:rPr>
                        <a:t>150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grannie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56032">
                <a:tc>
                  <a:txBody>
                    <a:bodyPr wrap="square"/>
                    <a:lstStyle/>
                    <a:p>
                      <a:r>
                        <a:rPr sz="1000" b="0" i="0">
                          <a:solidFill>
                            <a:srgbClr val="1F2933"/>
                          </a:solidFill>
                          <a:latin typeface="Courier New"/>
                        </a:rPr>
                        <a:t>3000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grannie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pPr algn="ctr"/>
                      <a:r>
                        <a:rPr sz="1000" b="0" i="0">
                          <a:solidFill>
                            <a:srgbClr val="1F2933"/>
                          </a:solidFill>
                          <a:latin typeface="Courier New"/>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TextBox 11"/>
          <p:cNvSpPr txBox="1"/>
          <p:nvPr/>
        </p:nvSpPr>
        <p:spPr>
          <a:xfrm>
            <a:off x="4434840" y="2468880"/>
            <a:ext cx="4343399" cy="365760"/>
          </a:xfrm>
          <a:prstGeom prst="rect">
            <a:avLst/>
          </a:prstGeom>
          <a:noFill/>
        </p:spPr>
        <p:txBody>
          <a:bodyPr wrap="square" lIns="45720" rIns="45720" tIns="27432" bIns="27432" anchor="t">
            <a:spAutoFit/>
          </a:bodyPr>
          <a:lstStyle/>
          <a:p>
            <a:r>
              <a:rPr sz="950" b="0" i="1">
                <a:solidFill>
                  <a:srgbClr val="5B6773"/>
                </a:solidFill>
                <a:latin typeface="Calibri"/>
              </a:rPr>
              <a:t>red: 3000 stops at age &gt; 100, so the vampire rung is never reached</a:t>
            </a:r>
          </a:p>
        </p:txBody>
      </p:sp>
      <p:sp>
        <p:nvSpPr>
          <p:cNvPr id="13" name="TextBox 12"/>
          <p:cNvSpPr txBox="1"/>
          <p:nvPr/>
        </p:nvSpPr>
        <p:spPr>
          <a:xfrm>
            <a:off x="4434840" y="2880360"/>
            <a:ext cx="4343399" cy="219456"/>
          </a:xfrm>
          <a:prstGeom prst="rect">
            <a:avLst/>
          </a:prstGeom>
          <a:noFill/>
        </p:spPr>
        <p:txBody>
          <a:bodyPr wrap="square" lIns="45720" rIns="45720" tIns="27432" bIns="27432" anchor="t">
            <a:spAutoFit/>
          </a:bodyPr>
          <a:lstStyle/>
          <a:p>
            <a:r>
              <a:rPr sz="1000" b="0" i="1">
                <a:solidFill>
                  <a:srgbClr val="5B6773"/>
                </a:solidFill>
                <a:latin typeface="Calibri"/>
              </a:rPr>
              <a:t>rungs Python tested before it stopped</a:t>
            </a:r>
          </a:p>
        </p:txBody>
      </p:sp>
      <p:graphicFrame>
        <p:nvGraphicFramePr>
          <p:cNvPr id="14" name="chart"/>
          <p:cNvGraphicFramePr>
            <a:graphicFrameLocks noGrp="1"/>
          </p:cNvGraphicFramePr>
          <p:nvPr/>
        </p:nvGraphicFramePr>
        <p:xfrm>
          <a:off x="4434840" y="3063240"/>
          <a:ext cx="4343399" cy="1463040"/>
        </p:xfrm>
        <a:graphic>
          <a:graphicData uri="http://schemas.openxmlformats.org/drawingml/2006/chart">
            <c:chart xmlns:c="http://schemas.openxmlformats.org/drawingml/2006/chart" r:id="rId3"/>
          </a:graphicData>
        </a:graphic>
      </p:graphicFrame>
      <p:sp>
        <p:nvSpPr>
          <p:cNvPr id="1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Put the narrow test before the broad one.</a:t>
            </a:r>
          </a:p>
        </p:txBody>
      </p:sp>
      <p:sp>
        <p:nvSpPr>
          <p:cNvPr id="1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25 / 42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4: Two short programs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Opposite Day and the Dishonest Capacity Calculator, line by line</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Opposite Day</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flag whose answer is flipped with not.</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Capacity</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An elif ladder that picks a ratio by unit.</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Trace</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Follow one variable through the lines that ran.</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Else as a guard</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Keeps the result defined for a unit nobody planned.</a:t>
            </a:r>
          </a:p>
        </p:txBody>
      </p:sp>
      <p:graphicFrame>
        <p:nvGraphicFramePr>
          <p:cNvPr id="13" name="table"/>
          <p:cNvGraphicFramePr>
            <a:graphicFrameLocks noGrp="1"/>
          </p:cNvGraphicFramePr>
          <p:nvPr/>
        </p:nvGraphicFramePr>
        <p:xfrm>
          <a:off x="5303520" y="1417320"/>
          <a:ext cx="3474719" cy="146304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27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two short programs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A short program: Opposite Day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29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A short program: the Dishonest Capacit...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26 / 42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two short programs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short program is a recipe: a few ingredients, a few decisions, one dish at the end.</a:t>
            </a:r>
          </a:p>
        </p:txBody>
      </p:sp>
      <p:graphicFrame>
        <p:nvGraphicFramePr>
          <p:cNvPr id="6" name="table"/>
          <p:cNvGraphicFramePr>
            <a:graphicFrameLocks noGrp="1"/>
          </p:cNvGraphicFramePr>
          <p:nvPr/>
        </p:nvGraphicFramePr>
        <p:xfrm>
          <a:off x="365760" y="1463040"/>
          <a:ext cx="8412480" cy="1828800"/>
        </p:xfrm>
        <a:graphic>
          <a:graphicData uri="http://schemas.openxmlformats.org/drawingml/2006/table">
            <a:tbl>
              <a:tblPr firstRow="0" bandRow="0"/>
              <a:tblGrid>
                <a:gridCol w="2743200"/>
                <a:gridCol w="566928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A Short Program: Opposite Day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child who says the opposite of everything: says yes, means no.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A Short Program: Dishonest Capacity Calculator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bakery's dozen of eleven rolls: the label and the box do not count the same way.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Trace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detective's notebook: one line per step, so nobody doubts what happened.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27 / 42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 short program: Opposite Day</a:t>
            </a:r>
          </a:p>
        </p:txBody>
      </p:sp>
      <p:sp>
        <p:nvSpPr>
          <p:cNvPr id="4" name="code"/>
          <p:cNvSpPr/>
          <p:nvPr/>
        </p:nvSpPr>
        <p:spPr>
          <a:xfrm>
            <a:off x="365760" y="841248"/>
            <a:ext cx="4187952" cy="105765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opposite_day</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C9A0FF"/>
                </a:solidFill>
                <a:latin typeface="Courier New"/>
              </a:rPr>
              <a:t>True</a:t>
            </a:r>
          </a:p>
          <a:p>
            <a:pPr algn="l"/>
            <a:r>
              <a:rPr sz="1200" b="0" i="0">
                <a:solidFill>
                  <a:srgbClr val="8FA3B8"/>
                </a:solidFill>
                <a:latin typeface="Courier New"/>
              </a:rPr>
              <a:t>&gt;&gt;&gt; </a:t>
            </a:r>
            <a:r>
              <a:rPr sz="1200" b="0" i="0">
                <a:solidFill>
                  <a:srgbClr val="C9A0FF"/>
                </a:solidFill>
                <a:latin typeface="Courier New"/>
              </a:rPr>
              <a:t>if</a:t>
            </a:r>
            <a:r>
              <a:rPr sz="1200" b="0" i="0">
                <a:solidFill>
                  <a:srgbClr val="E6EDF3"/>
                </a:solidFill>
                <a:latin typeface="Courier New"/>
              </a:rPr>
              <a:t> </a:t>
            </a:r>
            <a:r>
              <a:rPr sz="1200" b="0" i="0">
                <a:solidFill>
                  <a:srgbClr val="E6EDF3"/>
                </a:solidFill>
                <a:latin typeface="Courier New"/>
              </a:rPr>
              <a:t>opposite_day</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C9A0FF"/>
                </a:solidFill>
                <a:latin typeface="Courier New"/>
              </a:rPr>
              <a:t>True</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say_it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C9A0FF"/>
                </a:solidFill>
                <a:latin typeface="Courier New"/>
              </a:rPr>
              <a:t>True</a:t>
            </a:r>
          </a:p>
          <a:p>
            <a:pPr algn="l"/>
            <a:r>
              <a:rPr sz="1200" b="0" i="0">
                <a:solidFill>
                  <a:srgbClr val="8FA3B8"/>
                </a:solidFill>
                <a:latin typeface="Courier New"/>
              </a:rPr>
              <a:t>&gt;&gt;&gt; </a:t>
            </a:r>
            <a:r>
              <a:rPr sz="1200" b="0" i="0">
                <a:solidFill>
                  <a:srgbClr val="C9A0FF"/>
                </a:solidFill>
                <a:latin typeface="Courier New"/>
              </a:rPr>
              <a:t>else</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say_it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C9A0FF"/>
                </a:solidFill>
                <a:latin typeface="Courier New"/>
              </a:rPr>
              <a:t>False</a:t>
            </a:r>
          </a:p>
        </p:txBody>
      </p:sp>
      <p:sp>
        <p:nvSpPr>
          <p:cNvPr id="5" name="explanation"/>
          <p:cNvSpPr txBox="1"/>
          <p:nvPr/>
        </p:nvSpPr>
        <p:spPr>
          <a:xfrm>
            <a:off x="365760" y="1908047"/>
            <a:ext cx="4187952" cy="447421"/>
          </a:xfrm>
          <a:prstGeom prst="rect">
            <a:avLst/>
          </a:prstGeom>
          <a:noFill/>
        </p:spPr>
        <p:txBody>
          <a:bodyPr wrap="square" lIns="109728" rIns="109728" tIns="18288" bIns="18288" anchor="ctr">
            <a:spAutoFit/>
          </a:bodyPr>
          <a:lstStyle/>
          <a:p>
            <a:r>
              <a:rPr sz="1150" b="0" i="0">
                <a:solidFill>
                  <a:srgbClr val="1F2933"/>
                </a:solidFill>
                <a:latin typeface="Calibri"/>
              </a:rPr>
              <a:t>First the variable is set from the flag. On an Opposite Day it starts as True.</a:t>
            </a:r>
          </a:p>
        </p:txBody>
      </p:sp>
      <p:sp>
        <p:nvSpPr>
          <p:cNvPr id="6" name="code"/>
          <p:cNvSpPr/>
          <p:nvPr/>
        </p:nvSpPr>
        <p:spPr>
          <a:xfrm>
            <a:off x="365760" y="2401189"/>
            <a:ext cx="4187952" cy="124358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if</a:t>
            </a:r>
            <a:r>
              <a:rPr sz="1200" b="0" i="0">
                <a:solidFill>
                  <a:srgbClr val="E6EDF3"/>
                </a:solidFill>
                <a:latin typeface="Courier New"/>
              </a:rPr>
              <a:t> </a:t>
            </a:r>
            <a:r>
              <a:rPr sz="1200" b="0" i="0">
                <a:solidFill>
                  <a:srgbClr val="E6EDF3"/>
                </a:solidFill>
                <a:latin typeface="Courier New"/>
              </a:rPr>
              <a:t>opposite_day</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C9A0FF"/>
                </a:solidFill>
                <a:latin typeface="Courier New"/>
              </a:rPr>
              <a:t>True</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say_it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C9A0FF"/>
                </a:solidFill>
                <a:latin typeface="Courier New"/>
              </a:rPr>
              <a:t>not</a:t>
            </a:r>
            <a:r>
              <a:rPr sz="1200" b="0" i="0">
                <a:solidFill>
                  <a:srgbClr val="E6EDF3"/>
                </a:solidFill>
                <a:latin typeface="Courier New"/>
              </a:rPr>
              <a:t> </a:t>
            </a:r>
            <a:r>
              <a:rPr sz="1200" b="0" i="0">
                <a:solidFill>
                  <a:srgbClr val="E6EDF3"/>
                </a:solidFill>
                <a:latin typeface="Courier New"/>
              </a:rPr>
              <a:t>say_it</a:t>
            </a:r>
          </a:p>
          <a:p>
            <a:pPr algn="l"/>
            <a:r>
              <a:rPr sz="1200" b="0" i="0">
                <a:solidFill>
                  <a:srgbClr val="8FA3B8"/>
                </a:solidFill>
                <a:latin typeface="Courier New"/>
              </a:rPr>
              <a:t>&gt;&gt;&gt; </a:t>
            </a:r>
            <a:r>
              <a:rPr sz="1200" b="0" i="0">
                <a:solidFill>
                  <a:srgbClr val="C9A0FF"/>
                </a:solidFill>
                <a:latin typeface="Courier New"/>
              </a:rPr>
              <a:t>if</a:t>
            </a:r>
            <a:r>
              <a:rPr sz="1200" b="0" i="0">
                <a:solidFill>
                  <a:srgbClr val="E6EDF3"/>
                </a:solidFill>
                <a:latin typeface="Courier New"/>
              </a:rPr>
              <a:t> </a:t>
            </a:r>
            <a:r>
              <a:rPr sz="1200" b="0" i="0">
                <a:solidFill>
                  <a:srgbClr val="E6EDF3"/>
                </a:solidFill>
                <a:latin typeface="Courier New"/>
              </a:rPr>
              <a:t>say_it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C9A0FF"/>
                </a:solidFill>
                <a:latin typeface="Courier New"/>
              </a:rPr>
              <a:t>True</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'Today is Opposite Day.'</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else</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'Today is not Opposite Day.'</a:t>
            </a:r>
            <a:r>
              <a:rPr sz="1200" b="0" i="0">
                <a:solidFill>
                  <a:srgbClr val="E6EDF3"/>
                </a:solidFill>
                <a:latin typeface="Courier New"/>
              </a:rPr>
              <a:t>)</a:t>
            </a:r>
          </a:p>
        </p:txBody>
      </p:sp>
      <p:sp>
        <p:nvSpPr>
          <p:cNvPr id="7" name="explanation"/>
          <p:cNvSpPr txBox="1"/>
          <p:nvPr/>
        </p:nvSpPr>
        <p:spPr>
          <a:xfrm>
            <a:off x="365760" y="3653917"/>
            <a:ext cx="4187952" cy="447421"/>
          </a:xfrm>
          <a:prstGeom prst="rect">
            <a:avLst/>
          </a:prstGeom>
          <a:noFill/>
        </p:spPr>
        <p:txBody>
          <a:bodyPr wrap="square" lIns="109728" rIns="109728" tIns="18288" bIns="18288" anchor="ctr">
            <a:spAutoFit/>
          </a:bodyPr>
          <a:lstStyle/>
          <a:p>
            <a:r>
              <a:rPr sz="1150" b="0" i="0">
                <a:solidFill>
                  <a:srgbClr val="1F2933"/>
                </a:solidFill>
                <a:latin typeface="Calibri"/>
              </a:rPr>
              <a:t>On an Opposite Day the answer is flipped with not. The last if prints the answer.</a:t>
            </a:r>
          </a:p>
        </p:txBody>
      </p:sp>
      <p:sp>
        <p:nvSpPr>
          <p:cNvPr id="8" name="result label"/>
          <p:cNvSpPr txBox="1"/>
          <p:nvPr/>
        </p:nvSpPr>
        <p:spPr>
          <a:xfrm>
            <a:off x="4782312" y="841248"/>
            <a:ext cx="3995927"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4782312" y="1143000"/>
          <a:ext cx="3995927" cy="2194560"/>
        </p:xfrm>
        <a:graphic>
          <a:graphicData uri="http://schemas.openxmlformats.org/drawingml/2006/table">
            <a:tbl>
              <a:tblPr firstRow="0" bandRow="0"/>
              <a:tblGrid>
                <a:gridCol w="2597353"/>
                <a:gridCol w="1398574"/>
              </a:tblGrid>
              <a:tr h="274320">
                <a:tc>
                  <a:txBody>
                    <a:bodyPr wrap="square"/>
                    <a:lstStyle/>
                    <a:p>
                      <a:r>
                        <a:rPr sz="950" b="1" i="0">
                          <a:solidFill>
                            <a:srgbClr val="FFFFFF"/>
                          </a:solidFill>
                          <a:latin typeface="Calibri"/>
                        </a:rPr>
                        <a:t>Line that ran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say_it afterwards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950" b="0" i="0">
                          <a:solidFill>
                            <a:srgbClr val="1F2933"/>
                          </a:solidFill>
                          <a:latin typeface="Courier New"/>
                        </a:rPr>
                        <a:t>opposite_day = 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8A8F98"/>
                          </a:solidFill>
                          <a:latin typeface="Courier New"/>
                        </a:rPr>
                        <a:t>not set yet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50" b="0" i="0">
                          <a:solidFill>
                            <a:srgbClr val="1F2933"/>
                          </a:solidFill>
                          <a:latin typeface="Courier New"/>
                        </a:rPr>
                        <a:t>if opposite_day == 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8A8F98"/>
                          </a:solidFill>
                          <a:latin typeface="Courier New"/>
                        </a:rPr>
                        <a:t>not set yet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950" b="0" i="0">
                          <a:solidFill>
                            <a:srgbClr val="1F2933"/>
                          </a:solidFill>
                          <a:latin typeface="Courier New"/>
                        </a:rPr>
                        <a:t>say_it = 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50" b="0" i="0">
                          <a:solidFill>
                            <a:srgbClr val="1F2933"/>
                          </a:solidFill>
                          <a:latin typeface="Courier New"/>
                        </a:rPr>
                        <a:t>if opposite_day == 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950" b="0" i="0">
                          <a:solidFill>
                            <a:srgbClr val="1F2933"/>
                          </a:solidFill>
                          <a:latin typeface="Courier New"/>
                        </a:rPr>
                        <a:t>say_it = not say_it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50" b="0" i="0">
                          <a:solidFill>
                            <a:srgbClr val="1F2933"/>
                          </a:solidFill>
                          <a:latin typeface="Courier New"/>
                        </a:rPr>
                        <a:t>if say_it == 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950" b="0" i="0">
                          <a:solidFill>
                            <a:srgbClr val="1F2933"/>
                          </a:solidFill>
                          <a:latin typeface="Courier New"/>
                        </a:rPr>
                        <a:t>print('Today is not Opposit...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0" name="Rounded Rectangle 9"/>
          <p:cNvSpPr/>
          <p:nvPr/>
        </p:nvSpPr>
        <p:spPr>
          <a:xfrm>
            <a:off x="4782312" y="3447288"/>
            <a:ext cx="3995927" cy="27432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printed: Today is not Opposite Day.</a:t>
            </a:r>
          </a:p>
        </p:txBody>
      </p:sp>
      <p:sp>
        <p:nvSpPr>
          <p:cNvPr id="11" name="TextBox 10"/>
          <p:cNvSpPr txBox="1"/>
          <p:nvPr/>
        </p:nvSpPr>
        <p:spPr>
          <a:xfrm>
            <a:off x="4782312" y="3758184"/>
            <a:ext cx="3995927" cy="219456"/>
          </a:xfrm>
          <a:prstGeom prst="rect">
            <a:avLst/>
          </a:prstGeom>
          <a:noFill/>
        </p:spPr>
        <p:txBody>
          <a:bodyPr wrap="square" lIns="45720" rIns="45720" tIns="27432" bIns="27432" anchor="t">
            <a:spAutoFit/>
          </a:bodyPr>
          <a:lstStyle/>
          <a:p>
            <a:r>
              <a:rPr sz="950" b="0" i="1">
                <a:solidFill>
                  <a:srgbClr val="5B6773"/>
                </a:solidFill>
                <a:latin typeface="Calibri"/>
              </a:rPr>
              <a:t>7 of 11 lines ran; the else lines were skipped</a:t>
            </a:r>
          </a:p>
        </p:txBody>
      </p:sp>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Follow one variable through the lines that ran.</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28 / 42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 short program: the Dishonest Capacity Calculator</a:t>
            </a:r>
          </a:p>
        </p:txBody>
      </p:sp>
      <p:sp>
        <p:nvSpPr>
          <p:cNvPr id="4" name="code"/>
          <p:cNvSpPr/>
          <p:nvPr/>
        </p:nvSpPr>
        <p:spPr>
          <a:xfrm>
            <a:off x="365760" y="841248"/>
            <a:ext cx="4736591" cy="49987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advertised</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10</a:t>
            </a:r>
          </a:p>
          <a:p>
            <a:pPr algn="l"/>
            <a:r>
              <a:rPr sz="1200" b="0" i="0">
                <a:solidFill>
                  <a:srgbClr val="8FA3B8"/>
                </a:solidFill>
                <a:latin typeface="Courier New"/>
              </a:rPr>
              <a:t>&gt;&gt;&gt; </a:t>
            </a:r>
            <a:r>
              <a:rPr sz="1200" b="0" i="0">
                <a:solidFill>
                  <a:srgbClr val="E6EDF3"/>
                </a:solidFill>
                <a:latin typeface="Courier New"/>
              </a:rPr>
              <a:t>unit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'TB'</a:t>
            </a:r>
          </a:p>
        </p:txBody>
      </p:sp>
      <p:sp>
        <p:nvSpPr>
          <p:cNvPr id="5" name="explanation"/>
          <p:cNvSpPr txBox="1"/>
          <p:nvPr/>
        </p:nvSpPr>
        <p:spPr>
          <a:xfrm>
            <a:off x="365760" y="1350264"/>
            <a:ext cx="4736591" cy="264858"/>
          </a:xfrm>
          <a:prstGeom prst="rect">
            <a:avLst/>
          </a:prstGeom>
          <a:noFill/>
        </p:spPr>
        <p:txBody>
          <a:bodyPr wrap="square" lIns="109728" rIns="109728" tIns="18288" bIns="18288" anchor="ctr">
            <a:spAutoFit/>
          </a:bodyPr>
          <a:lstStyle/>
          <a:p>
            <a:r>
              <a:rPr sz="1150" b="0" i="0">
                <a:solidFill>
                  <a:srgbClr val="1F2933"/>
                </a:solidFill>
                <a:latin typeface="Calibri"/>
              </a:rPr>
              <a:t>A disk sold as 10 TB; the maker counts in tens.</a:t>
            </a:r>
          </a:p>
        </p:txBody>
      </p:sp>
      <p:sp>
        <p:nvSpPr>
          <p:cNvPr id="6" name="code"/>
          <p:cNvSpPr/>
          <p:nvPr/>
        </p:nvSpPr>
        <p:spPr>
          <a:xfrm>
            <a:off x="365760" y="1660842"/>
            <a:ext cx="4736591" cy="49987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if</a:t>
            </a:r>
            <a:r>
              <a:rPr sz="1200" b="0" i="0">
                <a:solidFill>
                  <a:srgbClr val="E6EDF3"/>
                </a:solidFill>
                <a:latin typeface="Courier New"/>
              </a:rPr>
              <a:t> </a:t>
            </a:r>
            <a:r>
              <a:rPr sz="1200" b="0" i="0">
                <a:solidFill>
                  <a:srgbClr val="E6EDF3"/>
                </a:solidFill>
                <a:latin typeface="Courier New"/>
              </a:rPr>
              <a:t>unit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'TB'</a:t>
            </a:r>
            <a:r>
              <a:rPr sz="1200" b="0" i="0">
                <a:solidFill>
                  <a:srgbClr val="E6EDF3"/>
                </a:solidFill>
                <a:latin typeface="Courier New"/>
              </a:rPr>
              <a:t> </a:t>
            </a:r>
            <a:r>
              <a:rPr sz="1200" b="0" i="0">
                <a:solidFill>
                  <a:srgbClr val="C9A0FF"/>
                </a:solidFill>
                <a:latin typeface="Courier New"/>
              </a:rPr>
              <a:t>or</a:t>
            </a:r>
            <a:r>
              <a:rPr sz="1200" b="0" i="0">
                <a:solidFill>
                  <a:srgbClr val="E6EDF3"/>
                </a:solidFill>
                <a:latin typeface="Courier New"/>
              </a:rPr>
              <a:t> </a:t>
            </a:r>
            <a:r>
              <a:rPr sz="1200" b="0" i="0">
                <a:solidFill>
                  <a:srgbClr val="E6EDF3"/>
                </a:solidFill>
                <a:latin typeface="Courier New"/>
              </a:rPr>
              <a:t>unit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'tb'</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discrepancy</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10</a:t>
            </a:r>
            <a:r>
              <a:rPr sz="1200" b="0" i="0">
                <a:solidFill>
                  <a:srgbClr val="E6EDF3"/>
                </a:solidFill>
                <a:latin typeface="Courier New"/>
              </a:rPr>
              <a:t>*</a:t>
            </a:r>
            <a:r>
              <a:rPr sz="1200" b="0" i="0">
                <a:solidFill>
                  <a:srgbClr val="E6EDF3"/>
                </a:solidFill>
                <a:latin typeface="Courier New"/>
              </a:rPr>
              <a:t>*</a:t>
            </a:r>
            <a:r>
              <a:rPr sz="1200" b="0" i="0">
                <a:solidFill>
                  <a:srgbClr val="7CC4FF"/>
                </a:solidFill>
                <a:latin typeface="Courier New"/>
              </a:rPr>
              <a:t>12</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2</a:t>
            </a:r>
            <a:r>
              <a:rPr sz="1200" b="0" i="0">
                <a:solidFill>
                  <a:srgbClr val="E6EDF3"/>
                </a:solidFill>
                <a:latin typeface="Courier New"/>
              </a:rPr>
              <a:t>*</a:t>
            </a:r>
            <a:r>
              <a:rPr sz="1200" b="0" i="0">
                <a:solidFill>
                  <a:srgbClr val="E6EDF3"/>
                </a:solidFill>
                <a:latin typeface="Courier New"/>
              </a:rPr>
              <a:t>*</a:t>
            </a:r>
            <a:r>
              <a:rPr sz="1200" b="0" i="0">
                <a:solidFill>
                  <a:srgbClr val="7CC4FF"/>
                </a:solidFill>
                <a:latin typeface="Courier New"/>
              </a:rPr>
              <a:t>40</a:t>
            </a:r>
          </a:p>
        </p:txBody>
      </p:sp>
      <p:sp>
        <p:nvSpPr>
          <p:cNvPr id="7" name="explanation"/>
          <p:cNvSpPr txBox="1"/>
          <p:nvPr/>
        </p:nvSpPr>
        <p:spPr>
          <a:xfrm>
            <a:off x="365760" y="2169858"/>
            <a:ext cx="4736591" cy="264858"/>
          </a:xfrm>
          <a:prstGeom prst="rect">
            <a:avLst/>
          </a:prstGeom>
          <a:noFill/>
        </p:spPr>
        <p:txBody>
          <a:bodyPr wrap="square" lIns="109728" rIns="109728" tIns="18288" bIns="18288" anchor="ctr">
            <a:spAutoFit/>
          </a:bodyPr>
          <a:lstStyle/>
          <a:p>
            <a:r>
              <a:rPr sz="1150" b="0" i="0">
                <a:solidFill>
                  <a:srgbClr val="1F2933"/>
                </a:solidFill>
                <a:latin typeface="Calibri"/>
              </a:rPr>
              <a:t>A terabyte is 10 to the 12 bytes or 2 to the 40.</a:t>
            </a:r>
          </a:p>
        </p:txBody>
      </p:sp>
      <p:sp>
        <p:nvSpPr>
          <p:cNvPr id="8" name="code"/>
          <p:cNvSpPr/>
          <p:nvPr/>
        </p:nvSpPr>
        <p:spPr>
          <a:xfrm>
            <a:off x="365760" y="2480437"/>
            <a:ext cx="4736591" cy="8717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elif</a:t>
            </a:r>
            <a:r>
              <a:rPr sz="1200" b="0" i="0">
                <a:solidFill>
                  <a:srgbClr val="E6EDF3"/>
                </a:solidFill>
                <a:latin typeface="Courier New"/>
              </a:rPr>
              <a:t> </a:t>
            </a:r>
            <a:r>
              <a:rPr sz="1200" b="0" i="0">
                <a:solidFill>
                  <a:srgbClr val="E6EDF3"/>
                </a:solidFill>
                <a:latin typeface="Courier New"/>
              </a:rPr>
              <a:t>unit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'GB'</a:t>
            </a:r>
            <a:r>
              <a:rPr sz="1200" b="0" i="0">
                <a:solidFill>
                  <a:srgbClr val="E6EDF3"/>
                </a:solidFill>
                <a:latin typeface="Courier New"/>
              </a:rPr>
              <a:t> </a:t>
            </a:r>
            <a:r>
              <a:rPr sz="1200" b="0" i="0">
                <a:solidFill>
                  <a:srgbClr val="C9A0FF"/>
                </a:solidFill>
                <a:latin typeface="Courier New"/>
              </a:rPr>
              <a:t>or</a:t>
            </a:r>
            <a:r>
              <a:rPr sz="1200" b="0" i="0">
                <a:solidFill>
                  <a:srgbClr val="E6EDF3"/>
                </a:solidFill>
                <a:latin typeface="Courier New"/>
              </a:rPr>
              <a:t> </a:t>
            </a:r>
            <a:r>
              <a:rPr sz="1200" b="0" i="0">
                <a:solidFill>
                  <a:srgbClr val="E6EDF3"/>
                </a:solidFill>
                <a:latin typeface="Courier New"/>
              </a:rPr>
              <a:t>unit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'gb'</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discrepancy</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10</a:t>
            </a:r>
            <a:r>
              <a:rPr sz="1200" b="0" i="0">
                <a:solidFill>
                  <a:srgbClr val="E6EDF3"/>
                </a:solidFill>
                <a:latin typeface="Courier New"/>
              </a:rPr>
              <a:t>*</a:t>
            </a:r>
            <a:r>
              <a:rPr sz="1200" b="0" i="0">
                <a:solidFill>
                  <a:srgbClr val="E6EDF3"/>
                </a:solidFill>
                <a:latin typeface="Courier New"/>
              </a:rPr>
              <a:t>*</a:t>
            </a:r>
            <a:r>
              <a:rPr sz="1200" b="0" i="0">
                <a:solidFill>
                  <a:srgbClr val="7CC4FF"/>
                </a:solidFill>
                <a:latin typeface="Courier New"/>
              </a:rPr>
              <a:t>9</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2</a:t>
            </a:r>
            <a:r>
              <a:rPr sz="1200" b="0" i="0">
                <a:solidFill>
                  <a:srgbClr val="E6EDF3"/>
                </a:solidFill>
                <a:latin typeface="Courier New"/>
              </a:rPr>
              <a:t>*</a:t>
            </a:r>
            <a:r>
              <a:rPr sz="1200" b="0" i="0">
                <a:solidFill>
                  <a:srgbClr val="E6EDF3"/>
                </a:solidFill>
                <a:latin typeface="Courier New"/>
              </a:rPr>
              <a:t>*</a:t>
            </a:r>
            <a:r>
              <a:rPr sz="1200" b="0" i="0">
                <a:solidFill>
                  <a:srgbClr val="7CC4FF"/>
                </a:solidFill>
                <a:latin typeface="Courier New"/>
              </a:rPr>
              <a:t>30</a:t>
            </a:r>
          </a:p>
          <a:p>
            <a:pPr algn="l"/>
            <a:r>
              <a:rPr sz="1200" b="0" i="0">
                <a:solidFill>
                  <a:srgbClr val="8FA3B8"/>
                </a:solidFill>
                <a:latin typeface="Courier New"/>
              </a:rPr>
              <a:t>&gt;&gt;&gt; </a:t>
            </a:r>
            <a:r>
              <a:rPr sz="1200" b="0" i="0">
                <a:solidFill>
                  <a:srgbClr val="C9A0FF"/>
                </a:solidFill>
                <a:latin typeface="Courier New"/>
              </a:rPr>
              <a:t>else</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discrepancy</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a:t>
            </a:r>
          </a:p>
        </p:txBody>
      </p:sp>
      <p:sp>
        <p:nvSpPr>
          <p:cNvPr id="9" name="explanation"/>
          <p:cNvSpPr txBox="1"/>
          <p:nvPr/>
        </p:nvSpPr>
        <p:spPr>
          <a:xfrm>
            <a:off x="365760" y="3361308"/>
            <a:ext cx="4736591" cy="264858"/>
          </a:xfrm>
          <a:prstGeom prst="rect">
            <a:avLst/>
          </a:prstGeom>
          <a:noFill/>
        </p:spPr>
        <p:txBody>
          <a:bodyPr wrap="square" lIns="109728" rIns="109728" tIns="18288" bIns="18288" anchor="ctr">
            <a:spAutoFit/>
          </a:bodyPr>
          <a:lstStyle/>
          <a:p>
            <a:r>
              <a:rPr sz="1150" b="0" i="0">
                <a:solidFill>
                  <a:srgbClr val="1F2933"/>
                </a:solidFill>
                <a:latin typeface="Calibri"/>
              </a:rPr>
              <a:t>elif handles gigabytes; else keeps other units defined.</a:t>
            </a:r>
          </a:p>
        </p:txBody>
      </p:sp>
      <p:sp>
        <p:nvSpPr>
          <p:cNvPr id="10" name="code"/>
          <p:cNvSpPr/>
          <p:nvPr/>
        </p:nvSpPr>
        <p:spPr>
          <a:xfrm>
            <a:off x="365760" y="3671887"/>
            <a:ext cx="4736591" cy="49987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real</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advertised</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discrepancy</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'Real capacity:'</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round</a:t>
            </a:r>
            <a:r>
              <a:rPr sz="1200" b="0" i="0">
                <a:solidFill>
                  <a:srgbClr val="E6EDF3"/>
                </a:solidFill>
                <a:latin typeface="Courier New"/>
              </a:rPr>
              <a:t>(</a:t>
            </a:r>
            <a:r>
              <a:rPr sz="1200" b="0" i="0">
                <a:solidFill>
                  <a:srgbClr val="E6EDF3"/>
                </a:solidFill>
                <a:latin typeface="Courier New"/>
              </a:rPr>
              <a:t>real</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2</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unit</a:t>
            </a:r>
            <a:r>
              <a:rPr sz="1200" b="0" i="0">
                <a:solidFill>
                  <a:srgbClr val="E6EDF3"/>
                </a:solidFill>
                <a:latin typeface="Courier New"/>
              </a:rPr>
              <a:t>)</a:t>
            </a:r>
          </a:p>
        </p:txBody>
      </p:sp>
      <p:sp>
        <p:nvSpPr>
          <p:cNvPr id="11" name="explanation"/>
          <p:cNvSpPr txBox="1"/>
          <p:nvPr/>
        </p:nvSpPr>
        <p:spPr>
          <a:xfrm>
            <a:off x="365760" y="4180903"/>
            <a:ext cx="4736591" cy="447421"/>
          </a:xfrm>
          <a:prstGeom prst="rect">
            <a:avLst/>
          </a:prstGeom>
          <a:noFill/>
        </p:spPr>
        <p:txBody>
          <a:bodyPr wrap="square" lIns="109728" rIns="109728" tIns="18288" bIns="18288" anchor="ctr">
            <a:spAutoFit/>
          </a:bodyPr>
          <a:lstStyle/>
          <a:p>
            <a:r>
              <a:rPr sz="1150" b="0" i="0">
                <a:solidFill>
                  <a:srgbClr val="1F2933"/>
                </a:solidFill>
                <a:latin typeface="Calibri"/>
              </a:rPr>
              <a:t>Real capacity is the advertised size times the discrepancy.</a:t>
            </a:r>
          </a:p>
        </p:txBody>
      </p:sp>
      <p:sp>
        <p:nvSpPr>
          <p:cNvPr id="12" name="result label"/>
          <p:cNvSpPr txBox="1"/>
          <p:nvPr/>
        </p:nvSpPr>
        <p:spPr>
          <a:xfrm>
            <a:off x="5330951" y="841248"/>
            <a:ext cx="3447288"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3" name="table"/>
          <p:cNvGraphicFramePr>
            <a:graphicFrameLocks noGrp="1"/>
          </p:cNvGraphicFramePr>
          <p:nvPr/>
        </p:nvGraphicFramePr>
        <p:xfrm>
          <a:off x="5330951" y="1143000"/>
          <a:ext cx="3447288" cy="1097280"/>
        </p:xfrm>
        <a:graphic>
          <a:graphicData uri="http://schemas.openxmlformats.org/drawingml/2006/table">
            <a:tbl>
              <a:tblPr firstRow="0" bandRow="0"/>
              <a:tblGrid>
                <a:gridCol w="795528"/>
                <a:gridCol w="1325880"/>
                <a:gridCol w="1325880"/>
              </a:tblGrid>
              <a:tr h="274320">
                <a:tc>
                  <a:txBody>
                    <a:bodyPr wrap="square"/>
                    <a:lstStyle/>
                    <a:p>
                      <a:pPr algn="ctr"/>
                      <a:r>
                        <a:rPr sz="1000" b="1" i="0">
                          <a:solidFill>
                            <a:srgbClr val="FFFFFF"/>
                          </a:solidFill>
                          <a:latin typeface="Calibri"/>
                        </a:rPr>
                        <a:t>Unit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Discrepancy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Real capacity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pPr algn="ctr"/>
                      <a:r>
                        <a:rPr sz="1000" b="0" i="0">
                          <a:solidFill>
                            <a:srgbClr val="1F2933"/>
                          </a:solidFill>
                          <a:latin typeface="Courier New"/>
                        </a:rPr>
                        <a:t>TB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0.9095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9.09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pPr algn="ctr"/>
                      <a:r>
                        <a:rPr sz="1000" b="0" i="0">
                          <a:solidFill>
                            <a:srgbClr val="1F2933"/>
                          </a:solidFill>
                          <a:latin typeface="Courier New"/>
                        </a:rPr>
                        <a:t>GB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0.9313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9.31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pPr algn="ctr"/>
                      <a:r>
                        <a:rPr sz="1000" b="0" i="0">
                          <a:solidFill>
                            <a:srgbClr val="1F2933"/>
                          </a:solidFill>
                          <a:latin typeface="Courier New"/>
                        </a:rPr>
                        <a:t>KB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1.0000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10.00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Rounded Rectangle 13"/>
          <p:cNvSpPr/>
          <p:nvPr/>
        </p:nvSpPr>
        <p:spPr>
          <a:xfrm>
            <a:off x="5330951" y="2331720"/>
            <a:ext cx="3447288" cy="27432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this run printed: Real capacity: 9.09 TB</a:t>
            </a:r>
          </a:p>
        </p:txBody>
      </p:sp>
      <p:sp>
        <p:nvSpPr>
          <p:cNvPr id="15" name="TextBox 14"/>
          <p:cNvSpPr txBox="1"/>
          <p:nvPr/>
        </p:nvSpPr>
        <p:spPr>
          <a:xfrm>
            <a:off x="5330951" y="2679191"/>
            <a:ext cx="3447288" cy="219456"/>
          </a:xfrm>
          <a:prstGeom prst="rect">
            <a:avLst/>
          </a:prstGeom>
          <a:noFill/>
        </p:spPr>
        <p:txBody>
          <a:bodyPr wrap="square" lIns="45720" rIns="45720" tIns="27432" bIns="27432" anchor="t">
            <a:spAutoFit/>
          </a:bodyPr>
          <a:lstStyle/>
          <a:p>
            <a:r>
              <a:rPr sz="1000" b="0" i="1">
                <a:solidFill>
                  <a:srgbClr val="5B6773"/>
                </a:solidFill>
                <a:latin typeface="Calibri"/>
              </a:rPr>
              <a:t>advertised against real capacity, by unit</a:t>
            </a:r>
          </a:p>
        </p:txBody>
      </p:sp>
      <p:graphicFrame>
        <p:nvGraphicFramePr>
          <p:cNvPr id="16" name="chart"/>
          <p:cNvGraphicFramePr>
            <a:graphicFrameLocks noGrp="1"/>
          </p:cNvGraphicFramePr>
          <p:nvPr/>
        </p:nvGraphicFramePr>
        <p:xfrm>
          <a:off x="5330951" y="2880360"/>
          <a:ext cx="3447288" cy="1645920"/>
        </p:xfrm>
        <a:graphic>
          <a:graphicData uri="http://schemas.openxmlformats.org/drawingml/2006/chart">
            <c:chart xmlns:c="http://schemas.openxmlformats.org/drawingml/2006/chart" r:id="rId3"/>
          </a:graphicData>
        </a:graphic>
      </p:graphicFrame>
      <p:sp>
        <p:nvSpPr>
          <p:cNvPr id="1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An else keeps the result defined for every unit.</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29 / 42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5: Newer Python</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What the language added after the book: one-line choices, match and the walrus</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Conditional expression</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One line that picks one of two values.</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match</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Compares a value with patterns from the top.</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Guard</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An if that adds a condition to one case.</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Walrus</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Assigns and returns a value inside an expression.</a:t>
            </a:r>
          </a:p>
        </p:txBody>
      </p:sp>
      <p:graphicFrame>
        <p:nvGraphicFramePr>
          <p:cNvPr id="13" name="table"/>
          <p:cNvGraphicFramePr>
            <a:graphicFrameLocks noGrp="1"/>
          </p:cNvGraphicFramePr>
          <p:nvPr/>
        </p:nvGraphicFramePr>
        <p:xfrm>
          <a:off x="5303520" y="1417320"/>
          <a:ext cx="3474719" cy="3200400"/>
        </p:xfrm>
        <a:graphic>
          <a:graphicData uri="http://schemas.openxmlformats.org/drawingml/2006/table">
            <a:tbl>
              <a:tblPr firstRow="0" bandRow="0"/>
              <a:tblGrid>
                <a:gridCol w="507543"/>
                <a:gridCol w="2967176"/>
              </a:tblGrid>
              <a:tr h="35560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55600">
                <a:tc>
                  <a:txBody>
                    <a:bodyPr wrap="square"/>
                    <a:lstStyle/>
                    <a:p>
                      <a:r>
                        <a:rPr sz="1050" b="0" i="0">
                          <a:solidFill>
                            <a:srgbClr val="1F2933"/>
                          </a:solidFill>
                          <a:latin typeface="Calibri"/>
                        </a:rPr>
                        <a:t>31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newer Python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32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One line: the conditional 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50" b="0" i="0">
                          <a:solidFill>
                            <a:srgbClr val="1F2933"/>
                          </a:solidFill>
                          <a:latin typeface="Calibri"/>
                        </a:rPr>
                        <a:t>33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Story: a thirty-year-old wish, granted...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34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match: a switch that matches patterns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50" b="0" i="0">
                          <a:solidFill>
                            <a:srgbClr val="1F2933"/>
                          </a:solidFill>
                          <a:latin typeface="Calibri"/>
                        </a:rPr>
                        <a:t>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match: sequences and captures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36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match: guards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50" b="0" i="0">
                          <a:solidFill>
                            <a:srgbClr val="1F2933"/>
                          </a:solidFill>
                          <a:latin typeface="Calibri"/>
                        </a:rPr>
                        <a:t>37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Story: the walrus that changed who lea...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38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The walrus: test and keep in one step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30 / 42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newer Python</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match is the sorting machine of a post office: each parcel goes to the first slot its shape fits.</a:t>
            </a:r>
          </a:p>
        </p:txBody>
      </p:sp>
      <p:graphicFrame>
        <p:nvGraphicFramePr>
          <p:cNvPr id="6" name="table"/>
          <p:cNvGraphicFramePr>
            <a:graphicFrameLocks noGrp="1"/>
          </p:cNvGraphicFramePr>
          <p:nvPr/>
        </p:nvGraphicFramePr>
        <p:xfrm>
          <a:off x="365760" y="1463040"/>
          <a:ext cx="8412480" cy="2286000"/>
        </p:xfrm>
        <a:graphic>
          <a:graphicData uri="http://schemas.openxmlformats.org/drawingml/2006/table">
            <a:tbl>
              <a:tblPr firstRow="0" bandRow="0"/>
              <a:tblGrid>
                <a:gridCol w="2743200"/>
                <a:gridCol w="566928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Conditional 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coin toss with a rule: heads you take the first prize, tails the second.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match statement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The sorting machine: each parcel slides down until a slot of its shape lets it fall.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Guard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guard at one slot: the shape fits, but the ticket must also be right.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Walrus operator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cashier who rings up the price and reads out the total in the same breath.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31 / 42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One line: the conditional expression</a:t>
            </a:r>
          </a:p>
        </p:txBody>
      </p:sp>
      <p:sp>
        <p:nvSpPr>
          <p:cNvPr id="4" name="code"/>
          <p:cNvSpPr/>
          <p:nvPr/>
        </p:nvSpPr>
        <p:spPr>
          <a:xfrm>
            <a:off x="365760" y="841248"/>
            <a:ext cx="5109972"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for</a:t>
            </a:r>
            <a:r>
              <a:rPr sz="1300" b="0" i="0">
                <a:solidFill>
                  <a:srgbClr val="E6EDF3"/>
                </a:solidFill>
                <a:latin typeface="Courier New"/>
              </a:rPr>
              <a:t> </a:t>
            </a:r>
            <a:r>
              <a:rPr sz="1300" b="0" i="0">
                <a:solidFill>
                  <a:srgbClr val="E6EDF3"/>
                </a:solidFill>
                <a:latin typeface="Courier New"/>
              </a:rPr>
              <a:t>n</a:t>
            </a:r>
            <a:r>
              <a:rPr sz="1300" b="0" i="0">
                <a:solidFill>
                  <a:srgbClr val="E6EDF3"/>
                </a:solidFill>
                <a:latin typeface="Courier New"/>
              </a:rPr>
              <a:t> </a:t>
            </a:r>
            <a:r>
              <a:rPr sz="1300" b="0" i="0">
                <a:solidFill>
                  <a:srgbClr val="C9A0FF"/>
                </a:solidFill>
                <a:latin typeface="Courier New"/>
              </a:rPr>
              <a:t>in</a:t>
            </a:r>
            <a:r>
              <a:rPr sz="1300" b="0" i="0">
                <a:solidFill>
                  <a:srgbClr val="E6EDF3"/>
                </a:solidFill>
                <a:latin typeface="Courier New"/>
              </a:rPr>
              <a:t> </a:t>
            </a:r>
            <a:r>
              <a:rPr sz="1300" b="0" i="0">
                <a:solidFill>
                  <a:srgbClr val="E6EDF3"/>
                </a:solidFill>
                <a:latin typeface="Courier New"/>
              </a:rPr>
              <a:t>(</a:t>
            </a:r>
            <a:r>
              <a:rPr sz="1300" b="0" i="0">
                <a:solidFill>
                  <a:srgbClr val="7CC4FF"/>
                </a:solidFill>
                <a:latin typeface="Courier New"/>
              </a:rPr>
              <a:t>7</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10</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n</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'even'</a:t>
            </a:r>
            <a:r>
              <a:rPr sz="1300" b="0" i="0">
                <a:solidFill>
                  <a:srgbClr val="E6EDF3"/>
                </a:solidFill>
                <a:latin typeface="Courier New"/>
              </a:rPr>
              <a:t> </a:t>
            </a:r>
            <a:r>
              <a:rPr sz="1300" b="0" i="0">
                <a:solidFill>
                  <a:srgbClr val="C9A0FF"/>
                </a:solidFill>
                <a:latin typeface="Courier New"/>
              </a:rPr>
              <a:t>if</a:t>
            </a:r>
            <a:r>
              <a:rPr sz="1300" b="0" i="0">
                <a:solidFill>
                  <a:srgbClr val="E6EDF3"/>
                </a:solidFill>
                <a:latin typeface="Courier New"/>
              </a:rPr>
              <a:t> </a:t>
            </a:r>
            <a:r>
              <a:rPr sz="1300" b="0" i="0">
                <a:solidFill>
                  <a:srgbClr val="E6EDF3"/>
                </a:solidFill>
                <a:latin typeface="Courier New"/>
              </a:rPr>
              <a:t>n</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2</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0</a:t>
            </a:r>
            <a:r>
              <a:rPr sz="1300" b="0" i="0">
                <a:solidFill>
                  <a:srgbClr val="E6EDF3"/>
                </a:solidFill>
                <a:latin typeface="Courier New"/>
              </a:rPr>
              <a:t> </a:t>
            </a:r>
            <a:r>
              <a:rPr sz="1300" b="0" i="0">
                <a:solidFill>
                  <a:srgbClr val="C9A0FF"/>
                </a:solidFill>
                <a:latin typeface="Courier New"/>
              </a:rPr>
              <a:t>else</a:t>
            </a:r>
            <a:r>
              <a:rPr sz="1300" b="0" i="0">
                <a:solidFill>
                  <a:srgbClr val="E6EDF3"/>
                </a:solidFill>
                <a:latin typeface="Courier New"/>
              </a:rPr>
              <a:t> </a:t>
            </a:r>
            <a:r>
              <a:rPr sz="1300" b="0" i="0">
                <a:solidFill>
                  <a:srgbClr val="9BE3A8"/>
                </a:solidFill>
                <a:latin typeface="Courier New"/>
              </a:rPr>
              <a:t>'odd'</a:t>
            </a:r>
            <a:r>
              <a:rPr sz="1300" b="0" i="0">
                <a:solidFill>
                  <a:srgbClr val="E6EDF3"/>
                </a:solidFill>
                <a:latin typeface="Courier New"/>
              </a:rPr>
              <a:t>)</a:t>
            </a:r>
          </a:p>
        </p:txBody>
      </p:sp>
      <p:sp>
        <p:nvSpPr>
          <p:cNvPr id="5" name="explanation"/>
          <p:cNvSpPr txBox="1"/>
          <p:nvPr/>
        </p:nvSpPr>
        <p:spPr>
          <a:xfrm>
            <a:off x="5457444" y="841248"/>
            <a:ext cx="3320795" cy="723328"/>
          </a:xfrm>
          <a:prstGeom prst="rect">
            <a:avLst/>
          </a:prstGeom>
          <a:noFill/>
        </p:spPr>
        <p:txBody>
          <a:bodyPr wrap="square" lIns="128016" rIns="128016" tIns="18288" bIns="18288" anchor="ctr">
            <a:spAutoFit/>
          </a:bodyPr>
          <a:lstStyle/>
          <a:p>
            <a:r>
              <a:rPr sz="1250" b="0" i="0">
                <a:solidFill>
                  <a:srgbClr val="1F2933"/>
                </a:solidFill>
                <a:latin typeface="Calibri"/>
              </a:rPr>
              <a:t>A value if a condition else another value: it picks one of two values in a single expression.</a:t>
            </a:r>
          </a:p>
        </p:txBody>
      </p:sp>
      <p:sp>
        <p:nvSpPr>
          <p:cNvPr id="6" name="code"/>
          <p:cNvSpPr/>
          <p:nvPr/>
        </p:nvSpPr>
        <p:spPr>
          <a:xfrm>
            <a:off x="365760" y="1619440"/>
            <a:ext cx="5109972"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9BE3A8"/>
                </a:solidFill>
                <a:latin typeface="Courier New"/>
              </a:rPr>
              <a:t>'adult'</a:t>
            </a:r>
            <a:r>
              <a:rPr sz="1300" b="0" i="0">
                <a:solidFill>
                  <a:srgbClr val="E6EDF3"/>
                </a:solidFill>
                <a:latin typeface="Courier New"/>
              </a:rPr>
              <a:t> </a:t>
            </a:r>
            <a:r>
              <a:rPr sz="1300" b="0" i="0">
                <a:solidFill>
                  <a:srgbClr val="C9A0FF"/>
                </a:solidFill>
                <a:latin typeface="Courier New"/>
              </a:rPr>
              <a:t>if</a:t>
            </a:r>
            <a:r>
              <a:rPr sz="1300" b="0" i="0">
                <a:solidFill>
                  <a:srgbClr val="E6EDF3"/>
                </a:solidFill>
                <a:latin typeface="Courier New"/>
              </a:rPr>
              <a:t> </a:t>
            </a:r>
            <a:r>
              <a:rPr sz="1300" b="0" i="0">
                <a:solidFill>
                  <a:srgbClr val="7CC4FF"/>
                </a:solidFill>
                <a:latin typeface="Courier New"/>
              </a:rPr>
              <a:t>20</a:t>
            </a:r>
            <a:r>
              <a:rPr sz="1300" b="0" i="0">
                <a:solidFill>
                  <a:srgbClr val="E6EDF3"/>
                </a:solidFill>
                <a:latin typeface="Courier New"/>
              </a:rPr>
              <a:t> </a:t>
            </a:r>
            <a:r>
              <a:rPr sz="1300" b="0" i="0">
                <a:solidFill>
                  <a:srgbClr val="E6EDF3"/>
                </a:solidFill>
                <a:latin typeface="Courier New"/>
              </a:rPr>
              <a:t>&gt;</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18</a:t>
            </a:r>
            <a:r>
              <a:rPr sz="1300" b="0" i="0">
                <a:solidFill>
                  <a:srgbClr val="E6EDF3"/>
                </a:solidFill>
                <a:latin typeface="Courier New"/>
              </a:rPr>
              <a:t> </a:t>
            </a:r>
            <a:r>
              <a:rPr sz="1300" b="0" i="0">
                <a:solidFill>
                  <a:srgbClr val="C9A0FF"/>
                </a:solidFill>
                <a:latin typeface="Courier New"/>
              </a:rPr>
              <a:t>else</a:t>
            </a:r>
            <a:r>
              <a:rPr sz="1300" b="0" i="0">
                <a:solidFill>
                  <a:srgbClr val="E6EDF3"/>
                </a:solidFill>
                <a:latin typeface="Courier New"/>
              </a:rPr>
              <a:t> </a:t>
            </a:r>
            <a:r>
              <a:rPr sz="1300" b="0" i="0">
                <a:solidFill>
                  <a:srgbClr val="7CC4FF"/>
                </a:solidFill>
                <a:latin typeface="Courier New"/>
              </a:rPr>
              <a:t>1</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0</a:t>
            </a:r>
            <a:r>
              <a:rPr sz="1300" b="0" i="0">
                <a:solidFill>
                  <a:srgbClr val="E6EDF3"/>
                </a:solidFill>
                <a:latin typeface="Courier New"/>
              </a:rPr>
              <a:t>)</a:t>
            </a:r>
          </a:p>
        </p:txBody>
      </p:sp>
      <p:sp>
        <p:nvSpPr>
          <p:cNvPr id="7" name="explanation"/>
          <p:cNvSpPr txBox="1"/>
          <p:nvPr/>
        </p:nvSpPr>
        <p:spPr>
          <a:xfrm>
            <a:off x="5457444" y="1619440"/>
            <a:ext cx="3320795" cy="723328"/>
          </a:xfrm>
          <a:prstGeom prst="rect">
            <a:avLst/>
          </a:prstGeom>
          <a:noFill/>
        </p:spPr>
        <p:txBody>
          <a:bodyPr wrap="square" lIns="128016" rIns="128016" tIns="18288" bIns="18288" anchor="ctr">
            <a:spAutoFit/>
          </a:bodyPr>
          <a:lstStyle/>
          <a:p>
            <a:r>
              <a:rPr sz="1250" b="0" i="0">
                <a:solidFill>
                  <a:srgbClr val="1F2933"/>
                </a:solidFill>
                <a:latin typeface="Calibri"/>
              </a:rPr>
              <a:t>Only the chosen side is evaluated. The division by zero in the other side is never run.</a:t>
            </a:r>
          </a:p>
        </p:txBody>
      </p:sp>
      <p:sp>
        <p:nvSpPr>
          <p:cNvPr id="8" name="result label"/>
          <p:cNvSpPr txBox="1"/>
          <p:nvPr/>
        </p:nvSpPr>
        <p:spPr>
          <a:xfrm>
            <a:off x="365760" y="241592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2690241"/>
            <a:ext cx="822960" cy="36576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n = 7</a:t>
            </a:r>
          </a:p>
        </p:txBody>
      </p:sp>
      <p:cxnSp>
        <p:nvCxnSpPr>
          <p:cNvPr id="10" name="arrow"/>
          <p:cNvCxnSpPr/>
          <p:nvPr/>
        </p:nvCxnSpPr>
        <p:spPr>
          <a:xfrm>
            <a:off x="1234440" y="2873121"/>
            <a:ext cx="32004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600200" y="2690241"/>
            <a:ext cx="2194560" cy="365760"/>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n % 2 == 0  is  False</a:t>
            </a:r>
          </a:p>
        </p:txBody>
      </p:sp>
      <p:cxnSp>
        <p:nvCxnSpPr>
          <p:cNvPr id="12" name="arrow"/>
          <p:cNvCxnSpPr/>
          <p:nvPr/>
        </p:nvCxnSpPr>
        <p:spPr>
          <a:xfrm flipV="1">
            <a:off x="3840480" y="2726817"/>
            <a:ext cx="457200" cy="73152"/>
          </a:xfrm>
          <a:prstGeom prst="line">
            <a:avLst/>
          </a:prstGeom>
          <a:ln w="19050">
            <a:solidFill>
              <a:srgbClr val="D9D2C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arrow"/>
          <p:cNvCxnSpPr/>
          <p:nvPr/>
        </p:nvCxnSpPr>
        <p:spPr>
          <a:xfrm>
            <a:off x="3840480" y="2946272"/>
            <a:ext cx="457200" cy="73152"/>
          </a:xfrm>
          <a:prstGeom prst="line">
            <a:avLst/>
          </a:prstGeom>
          <a:ln w="1905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343400" y="2671953"/>
            <a:ext cx="1188720" cy="201168"/>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5B6773"/>
                </a:solidFill>
                <a:latin typeface="Courier New"/>
              </a:rPr>
              <a:t>'even'</a:t>
            </a:r>
          </a:p>
        </p:txBody>
      </p:sp>
      <p:sp>
        <p:nvSpPr>
          <p:cNvPr id="15" name="Rounded Rectangle 14"/>
          <p:cNvSpPr/>
          <p:nvPr/>
        </p:nvSpPr>
        <p:spPr>
          <a:xfrm>
            <a:off x="4343400" y="2891409"/>
            <a:ext cx="1188720" cy="20116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'odd'</a:t>
            </a:r>
          </a:p>
        </p:txBody>
      </p:sp>
      <p:sp>
        <p:nvSpPr>
          <p:cNvPr id="16" name="Rounded Rectangle 15"/>
          <p:cNvSpPr/>
          <p:nvPr/>
        </p:nvSpPr>
        <p:spPr>
          <a:xfrm>
            <a:off x="5760720" y="2690241"/>
            <a:ext cx="1371600"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printed: odd</a:t>
            </a:r>
          </a:p>
        </p:txBody>
      </p:sp>
      <p:sp>
        <p:nvSpPr>
          <p:cNvPr id="17" name="Rounded Rectangle 16"/>
          <p:cNvSpPr/>
          <p:nvPr/>
        </p:nvSpPr>
        <p:spPr>
          <a:xfrm>
            <a:off x="365760" y="3257169"/>
            <a:ext cx="822960" cy="36576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n = 10</a:t>
            </a:r>
          </a:p>
        </p:txBody>
      </p:sp>
      <p:cxnSp>
        <p:nvCxnSpPr>
          <p:cNvPr id="18" name="arrow"/>
          <p:cNvCxnSpPr/>
          <p:nvPr/>
        </p:nvCxnSpPr>
        <p:spPr>
          <a:xfrm>
            <a:off x="1234440" y="3440049"/>
            <a:ext cx="32004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600200" y="3257169"/>
            <a:ext cx="2194560"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n % 2 == 0  is  True</a:t>
            </a:r>
          </a:p>
        </p:txBody>
      </p:sp>
      <p:cxnSp>
        <p:nvCxnSpPr>
          <p:cNvPr id="20" name="arrow"/>
          <p:cNvCxnSpPr/>
          <p:nvPr/>
        </p:nvCxnSpPr>
        <p:spPr>
          <a:xfrm flipV="1">
            <a:off x="3840480" y="3293745"/>
            <a:ext cx="457200" cy="73152"/>
          </a:xfrm>
          <a:prstGeom prst="line">
            <a:avLst/>
          </a:prstGeom>
          <a:ln w="1905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arrow"/>
          <p:cNvCxnSpPr/>
          <p:nvPr/>
        </p:nvCxnSpPr>
        <p:spPr>
          <a:xfrm>
            <a:off x="3840480" y="3513200"/>
            <a:ext cx="457200" cy="73153"/>
          </a:xfrm>
          <a:prstGeom prst="line">
            <a:avLst/>
          </a:prstGeom>
          <a:ln w="19050">
            <a:solidFill>
              <a:srgbClr val="D9D2C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343400" y="3238881"/>
            <a:ext cx="1188720" cy="20116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'even'</a:t>
            </a:r>
          </a:p>
        </p:txBody>
      </p:sp>
      <p:sp>
        <p:nvSpPr>
          <p:cNvPr id="23" name="Rounded Rectangle 22"/>
          <p:cNvSpPr/>
          <p:nvPr/>
        </p:nvSpPr>
        <p:spPr>
          <a:xfrm>
            <a:off x="4343400" y="3458337"/>
            <a:ext cx="1188720" cy="201168"/>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5B6773"/>
                </a:solidFill>
                <a:latin typeface="Courier New"/>
              </a:rPr>
              <a:t>'odd'</a:t>
            </a:r>
          </a:p>
        </p:txBody>
      </p:sp>
      <p:sp>
        <p:nvSpPr>
          <p:cNvPr id="24" name="Rounded Rectangle 23"/>
          <p:cNvSpPr/>
          <p:nvPr/>
        </p:nvSpPr>
        <p:spPr>
          <a:xfrm>
            <a:off x="5760720" y="3257169"/>
            <a:ext cx="1371600"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printed: even</a:t>
            </a:r>
          </a:p>
        </p:txBody>
      </p:sp>
      <p:sp>
        <p:nvSpPr>
          <p:cNvPr id="25" name="Rounded Rectangle 24"/>
          <p:cNvSpPr/>
          <p:nvPr/>
        </p:nvSpPr>
        <p:spPr>
          <a:xfrm>
            <a:off x="365760" y="3924681"/>
            <a:ext cx="3931920"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20 &gt;= 18 is True, so 1 / 0 is never evaluated</a:t>
            </a:r>
          </a:p>
        </p:txBody>
      </p:sp>
      <p:sp>
        <p:nvSpPr>
          <p:cNvPr id="26" name="Rounded Rectangle 25"/>
          <p:cNvSpPr/>
          <p:nvPr/>
        </p:nvSpPr>
        <p:spPr>
          <a:xfrm>
            <a:off x="4480560" y="3924681"/>
            <a:ext cx="2011680" cy="27432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printed: adult</a:t>
            </a:r>
          </a:p>
        </p:txBody>
      </p:sp>
      <p:sp>
        <p:nvSpPr>
          <p:cNvPr id="2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Only the chosen side is evaluated.</a:t>
            </a:r>
          </a:p>
        </p:txBody>
      </p:sp>
      <p:sp>
        <p:nvSpPr>
          <p:cNvPr id="2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32 / 42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a thirty-year-old wish, granted in 3.10</a:t>
            </a:r>
          </a:p>
        </p:txBody>
      </p:sp>
      <p:pic>
        <p:nvPicPr>
          <p:cNvPr id="4" name="photo match" descr="Picture for the story: a thirty-year-old wish, granted in 3.10"/>
          <p:cNvPicPr>
            <a:picLocks noChangeAspect="1"/>
          </p:cNvPicPr>
          <p:nvPr/>
        </p:nvPicPr>
        <p:blipFill>
          <a:blip r:embed="rId3"/>
          <a:stretch>
            <a:fillRect/>
          </a:stretch>
        </p:blipFill>
        <p:spPr>
          <a:xfrm>
            <a:off x="365759" y="1005839"/>
            <a:ext cx="2651760" cy="265176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Python logo. Source: python.org, Python Software Foundation, used under its trademark policy.</a:t>
            </a:r>
          </a:p>
        </p:txBody>
      </p:sp>
      <p:sp>
        <p:nvSpPr>
          <p:cNvPr id="6" name="card"/>
          <p:cNvSpPr/>
          <p:nvPr/>
        </p:nvSpPr>
        <p:spPr>
          <a:xfrm>
            <a:off x="3200400" y="84124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Brandt Bucher and Guido van Rossum wrote the specification; Daniel F Moisset wrote the tutorial.</a:t>
            </a:r>
          </a:p>
        </p:txBody>
      </p:sp>
      <p:sp>
        <p:nvSpPr>
          <p:cNvPr id="8" name="card"/>
          <p:cNvSpPr/>
          <p:nvPr/>
        </p:nvSpPr>
        <p:spPr>
          <a:xfrm>
            <a:off x="3200400" y="146304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6304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Structural pattern matching: a match statement that takes values apart and binds names.</a:t>
            </a:r>
          </a:p>
        </p:txBody>
      </p:sp>
      <p:sp>
        <p:nvSpPr>
          <p:cNvPr id="10" name="card"/>
          <p:cNvSpPr/>
          <p:nvPr/>
        </p:nvSpPr>
        <p:spPr>
          <a:xfrm>
            <a:off x="3200400" y="2084832"/>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2084832"/>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The PEPs were created on 12 September 2020, accepted on 8 February 2021 and shipped in Python 3.10 on 4 October 2021.</a:t>
            </a:r>
          </a:p>
        </p:txBody>
      </p:sp>
      <p:sp>
        <p:nvSpPr>
          <p:cNvPr id="12" name="card"/>
          <p:cNvSpPr/>
          <p:nvPr/>
        </p:nvSpPr>
        <p:spPr>
          <a:xfrm>
            <a:off x="3200400" y="2706624"/>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706624"/>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The Python PEP process on peps.python.org, with the Steering Council accepting the proposal.</a:t>
            </a:r>
          </a:p>
        </p:txBody>
      </p:sp>
      <p:sp>
        <p:nvSpPr>
          <p:cNvPr id="14" name="card"/>
          <p:cNvSpPr/>
          <p:nvPr/>
        </p:nvSpPr>
        <p:spPr>
          <a:xfrm>
            <a:off x="3200400" y="3328415"/>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328415"/>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Python had no switch statement; chains of elif and dictionaries were the usual answer for years.</a:t>
            </a:r>
          </a:p>
        </p:txBody>
      </p:sp>
      <p:sp>
        <p:nvSpPr>
          <p:cNvPr id="16" name="card"/>
          <p:cNvSpPr/>
          <p:nvPr/>
        </p:nvSpPr>
        <p:spPr>
          <a:xfrm>
            <a:off x="3200400" y="3950207"/>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950207"/>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The match status of this chapter, with case 401 | 403 | 404, is that statement running.</a:t>
            </a:r>
          </a:p>
        </p:txBody>
      </p:sp>
      <p:sp>
        <p:nvSpPr>
          <p:cNvPr id="18" name="read"/>
          <p:cNvSpPr txBox="1"/>
          <p:nvPr/>
        </p:nvSpPr>
        <p:spPr>
          <a:xfrm>
            <a:off x="3200400" y="4590287"/>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PEP 636: structural pattern matching, a tutorial</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33 / 42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match: a switch that matches patterns</a:t>
            </a:r>
          </a:p>
        </p:txBody>
      </p:sp>
      <p:sp>
        <p:nvSpPr>
          <p:cNvPr id="4" name="code"/>
          <p:cNvSpPr/>
          <p:nvPr/>
        </p:nvSpPr>
        <p:spPr>
          <a:xfrm>
            <a:off x="365760" y="841248"/>
            <a:ext cx="4279391" cy="8717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for</a:t>
            </a:r>
            <a:r>
              <a:rPr sz="1200" b="0" i="0">
                <a:solidFill>
                  <a:srgbClr val="E6EDF3"/>
                </a:solidFill>
                <a:latin typeface="Courier New"/>
              </a:rPr>
              <a:t> </a:t>
            </a:r>
            <a:r>
              <a:rPr sz="1200" b="0" i="0">
                <a:solidFill>
                  <a:srgbClr val="E6EDF3"/>
                </a:solidFill>
                <a:latin typeface="Courier New"/>
              </a:rPr>
              <a:t>status</a:t>
            </a:r>
            <a:r>
              <a:rPr sz="1200" b="0" i="0">
                <a:solidFill>
                  <a:srgbClr val="E6EDF3"/>
                </a:solidFill>
                <a:latin typeface="Courier New"/>
              </a:rPr>
              <a:t> </a:t>
            </a:r>
            <a:r>
              <a:rPr sz="1200" b="0" i="0">
                <a:solidFill>
                  <a:srgbClr val="C9A0FF"/>
                </a:solidFill>
                <a:latin typeface="Courier New"/>
              </a:rPr>
              <a:t>in</a:t>
            </a:r>
            <a:r>
              <a:rPr sz="1200" b="0" i="0">
                <a:solidFill>
                  <a:srgbClr val="E6EDF3"/>
                </a:solidFill>
                <a:latin typeface="Courier New"/>
              </a:rPr>
              <a:t> </a:t>
            </a:r>
            <a:r>
              <a:rPr sz="1200" b="0" i="0">
                <a:solidFill>
                  <a:srgbClr val="E6EDF3"/>
                </a:solidFill>
                <a:latin typeface="Courier New"/>
              </a:rPr>
              <a:t>(</a:t>
            </a:r>
            <a:r>
              <a:rPr sz="1200" b="0" i="0">
                <a:solidFill>
                  <a:srgbClr val="7CC4FF"/>
                </a:solidFill>
                <a:latin typeface="Courier New"/>
              </a:rPr>
              <a:t>200</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403</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418</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match</a:t>
            </a:r>
            <a:r>
              <a:rPr sz="1200" b="0" i="0">
                <a:solidFill>
                  <a:srgbClr val="E6EDF3"/>
                </a:solidFill>
                <a:latin typeface="Courier New"/>
              </a:rPr>
              <a:t> </a:t>
            </a:r>
            <a:r>
              <a:rPr sz="1200" b="0" i="0">
                <a:solidFill>
                  <a:srgbClr val="E6EDF3"/>
                </a:solidFill>
                <a:latin typeface="Courier New"/>
              </a:rPr>
              <a:t>status</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case</a:t>
            </a:r>
            <a:r>
              <a:rPr sz="1200" b="0" i="0">
                <a:solidFill>
                  <a:srgbClr val="E6EDF3"/>
                </a:solidFill>
                <a:latin typeface="Courier New"/>
              </a:rPr>
              <a:t> </a:t>
            </a:r>
            <a:r>
              <a:rPr sz="1200" b="0" i="0">
                <a:solidFill>
                  <a:srgbClr val="7CC4FF"/>
                </a:solidFill>
                <a:latin typeface="Courier New"/>
              </a:rPr>
              <a:t>200</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status</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'ok'</a:t>
            </a:r>
            <a:r>
              <a:rPr sz="1200" b="0" i="0">
                <a:solidFill>
                  <a:srgbClr val="E6EDF3"/>
                </a:solidFill>
                <a:latin typeface="Courier New"/>
              </a:rPr>
              <a:t>)</a:t>
            </a:r>
          </a:p>
        </p:txBody>
      </p:sp>
      <p:sp>
        <p:nvSpPr>
          <p:cNvPr id="5" name="explanation"/>
          <p:cNvSpPr txBox="1"/>
          <p:nvPr/>
        </p:nvSpPr>
        <p:spPr>
          <a:xfrm>
            <a:off x="365760" y="1722120"/>
            <a:ext cx="4279391" cy="447421"/>
          </a:xfrm>
          <a:prstGeom prst="rect">
            <a:avLst/>
          </a:prstGeom>
          <a:noFill/>
        </p:spPr>
        <p:txBody>
          <a:bodyPr wrap="square" lIns="109728" rIns="109728" tIns="18288" bIns="18288" anchor="ctr">
            <a:spAutoFit/>
          </a:bodyPr>
          <a:lstStyle/>
          <a:p>
            <a:r>
              <a:rPr sz="1150" b="0" i="0">
                <a:solidFill>
                  <a:srgbClr val="1F2933"/>
                </a:solidFill>
                <a:latin typeface="Calibri"/>
              </a:rPr>
              <a:t>match compares a value with each case from the top. The first case fits only the number 200.</a:t>
            </a:r>
          </a:p>
        </p:txBody>
      </p:sp>
      <p:sp>
        <p:nvSpPr>
          <p:cNvPr id="6" name="code"/>
          <p:cNvSpPr/>
          <p:nvPr/>
        </p:nvSpPr>
        <p:spPr>
          <a:xfrm>
            <a:off x="365760" y="2215261"/>
            <a:ext cx="4279391" cy="8717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case</a:t>
            </a:r>
            <a:r>
              <a:rPr sz="1200" b="0" i="0">
                <a:solidFill>
                  <a:srgbClr val="E6EDF3"/>
                </a:solidFill>
                <a:latin typeface="Courier New"/>
              </a:rPr>
              <a:t> </a:t>
            </a:r>
            <a:r>
              <a:rPr sz="1200" b="0" i="0">
                <a:solidFill>
                  <a:srgbClr val="7CC4FF"/>
                </a:solidFill>
                <a:latin typeface="Courier New"/>
              </a:rPr>
              <a:t>401</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403</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404</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status</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'not allowed'</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case</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status</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'other'</a:t>
            </a:r>
            <a:r>
              <a:rPr sz="1200" b="0" i="0">
                <a:solidFill>
                  <a:srgbClr val="E6EDF3"/>
                </a:solidFill>
                <a:latin typeface="Courier New"/>
              </a:rPr>
              <a:t>)</a:t>
            </a:r>
          </a:p>
        </p:txBody>
      </p:sp>
      <p:sp>
        <p:nvSpPr>
          <p:cNvPr id="7" name="explanation"/>
          <p:cNvSpPr txBox="1"/>
          <p:nvPr/>
        </p:nvSpPr>
        <p:spPr>
          <a:xfrm>
            <a:off x="365760" y="3096132"/>
            <a:ext cx="4279391" cy="447421"/>
          </a:xfrm>
          <a:prstGeom prst="rect">
            <a:avLst/>
          </a:prstGeom>
          <a:noFill/>
        </p:spPr>
        <p:txBody>
          <a:bodyPr wrap="square" lIns="109728" rIns="109728" tIns="18288" bIns="18288" anchor="ctr">
            <a:spAutoFit/>
          </a:bodyPr>
          <a:lstStyle/>
          <a:p>
            <a:r>
              <a:rPr sz="1150" b="0" i="0">
                <a:solidFill>
                  <a:srgbClr val="1F2933"/>
                </a:solidFill>
                <a:latin typeface="Calibri"/>
              </a:rPr>
              <a:t>A pipe joins alternatives into one case. The underscore matches anything, so it belongs at the end.</a:t>
            </a:r>
          </a:p>
        </p:txBody>
      </p:sp>
      <p:sp>
        <p:nvSpPr>
          <p:cNvPr id="8" name="result label"/>
          <p:cNvSpPr txBox="1"/>
          <p:nvPr/>
        </p:nvSpPr>
        <p:spPr>
          <a:xfrm>
            <a:off x="4873751" y="841248"/>
            <a:ext cx="3904488"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4873751" y="1143000"/>
          <a:ext cx="3904488" cy="1097280"/>
        </p:xfrm>
        <a:graphic>
          <a:graphicData uri="http://schemas.openxmlformats.org/drawingml/2006/table">
            <a:tbl>
              <a:tblPr firstRow="0" bandRow="0"/>
              <a:tblGrid>
                <a:gridCol w="650748"/>
                <a:gridCol w="1208532"/>
                <a:gridCol w="2045208"/>
              </a:tblGrid>
              <a:tr h="274320">
                <a:tc>
                  <a:txBody>
                    <a:bodyPr wrap="square"/>
                    <a:lstStyle/>
                    <a:p>
                      <a:r>
                        <a:rPr sz="950" b="1" i="0">
                          <a:solidFill>
                            <a:srgbClr val="FFFFFF"/>
                          </a:solidFill>
                          <a:latin typeface="Calibri"/>
                        </a:rPr>
                        <a:t>Status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Printed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Case that matched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950" b="0" i="0">
                          <a:solidFill>
                            <a:srgbClr val="1F2933"/>
                          </a:solidFill>
                          <a:latin typeface="Courier New"/>
                        </a:rPr>
                        <a:t>200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ok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case 200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50" b="0" i="0">
                          <a:solidFill>
                            <a:srgbClr val="1F2933"/>
                          </a:solidFill>
                          <a:latin typeface="Courier New"/>
                        </a:rPr>
                        <a:t>403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not allowed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case 401 | 403 | 404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950" b="0" i="0">
                          <a:solidFill>
                            <a:srgbClr val="1F2933"/>
                          </a:solidFill>
                          <a:latin typeface="Courier New"/>
                        </a:rPr>
                        <a:t>418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other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case _</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0" name="TextBox 9"/>
          <p:cNvSpPr txBox="1"/>
          <p:nvPr/>
        </p:nvSpPr>
        <p:spPr>
          <a:xfrm>
            <a:off x="4873751" y="2542032"/>
            <a:ext cx="3904488" cy="219456"/>
          </a:xfrm>
          <a:prstGeom prst="rect">
            <a:avLst/>
          </a:prstGeom>
          <a:noFill/>
        </p:spPr>
        <p:txBody>
          <a:bodyPr wrap="square" lIns="45720" rIns="45720" tIns="27432" bIns="27432" anchor="t">
            <a:spAutoFit/>
          </a:bodyPr>
          <a:lstStyle/>
          <a:p>
            <a:r>
              <a:rPr sz="1000" b="0" i="1">
                <a:solidFill>
                  <a:srgbClr val="5B6773"/>
                </a:solidFill>
                <a:latin typeface="Calibri"/>
              </a:rPr>
              <a:t>each status lands on the first case that fits</a:t>
            </a:r>
          </a:p>
        </p:txBody>
      </p:sp>
      <p:sp>
        <p:nvSpPr>
          <p:cNvPr id="11" name="Rounded Rectangle 10"/>
          <p:cNvSpPr/>
          <p:nvPr/>
        </p:nvSpPr>
        <p:spPr>
          <a:xfrm>
            <a:off x="5971031" y="2834639"/>
            <a:ext cx="2194560" cy="347472"/>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case 200</a:t>
            </a:r>
          </a:p>
        </p:txBody>
      </p:sp>
      <p:cxnSp>
        <p:nvCxnSpPr>
          <p:cNvPr id="12" name="arrow"/>
          <p:cNvCxnSpPr/>
          <p:nvPr/>
        </p:nvCxnSpPr>
        <p:spPr>
          <a:xfrm>
            <a:off x="7068311" y="3182111"/>
            <a:ext cx="0" cy="219457"/>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971031" y="3401568"/>
            <a:ext cx="2194560" cy="347472"/>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case 401 | 403 | 404</a:t>
            </a:r>
          </a:p>
        </p:txBody>
      </p:sp>
      <p:cxnSp>
        <p:nvCxnSpPr>
          <p:cNvPr id="14" name="arrow"/>
          <p:cNvCxnSpPr/>
          <p:nvPr/>
        </p:nvCxnSpPr>
        <p:spPr>
          <a:xfrm>
            <a:off x="7068311" y="3749039"/>
            <a:ext cx="0" cy="219457"/>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971031" y="3968496"/>
            <a:ext cx="2194560" cy="347472"/>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case _</a:t>
            </a:r>
          </a:p>
        </p:txBody>
      </p:sp>
      <p:sp>
        <p:nvSpPr>
          <p:cNvPr id="16" name="Rounded Rectangle 15"/>
          <p:cNvSpPr/>
          <p:nvPr/>
        </p:nvSpPr>
        <p:spPr>
          <a:xfrm>
            <a:off x="4873751" y="2871215"/>
            <a:ext cx="731520"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200</a:t>
            </a:r>
          </a:p>
        </p:txBody>
      </p:sp>
      <p:cxnSp>
        <p:nvCxnSpPr>
          <p:cNvPr id="17" name="arrow"/>
          <p:cNvCxnSpPr/>
          <p:nvPr/>
        </p:nvCxnSpPr>
        <p:spPr>
          <a:xfrm>
            <a:off x="5623559" y="3008375"/>
            <a:ext cx="329184" cy="0"/>
          </a:xfrm>
          <a:prstGeom prst="line">
            <a:avLst/>
          </a:prstGeom>
          <a:ln w="1905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873751" y="3438144"/>
            <a:ext cx="731520"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403</a:t>
            </a:r>
          </a:p>
        </p:txBody>
      </p:sp>
      <p:cxnSp>
        <p:nvCxnSpPr>
          <p:cNvPr id="19" name="arrow"/>
          <p:cNvCxnSpPr/>
          <p:nvPr/>
        </p:nvCxnSpPr>
        <p:spPr>
          <a:xfrm>
            <a:off x="5623559" y="3575303"/>
            <a:ext cx="329184" cy="0"/>
          </a:xfrm>
          <a:prstGeom prst="line">
            <a:avLst/>
          </a:prstGeom>
          <a:ln w="1905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873751" y="4005072"/>
            <a:ext cx="731520"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418</a:t>
            </a:r>
          </a:p>
        </p:txBody>
      </p:sp>
      <p:cxnSp>
        <p:nvCxnSpPr>
          <p:cNvPr id="21" name="arrow"/>
          <p:cNvCxnSpPr/>
          <p:nvPr/>
        </p:nvCxnSpPr>
        <p:spPr>
          <a:xfrm>
            <a:off x="5623559" y="4142232"/>
            <a:ext cx="329184" cy="0"/>
          </a:xfrm>
          <a:prstGeom prst="line">
            <a:avLst/>
          </a:prstGeom>
          <a:ln w="1905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match tries the cases from the top.</a:t>
            </a:r>
          </a:p>
        </p:txBody>
      </p:sp>
      <p:sp>
        <p:nvSpPr>
          <p:cNvPr id="2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34 / 42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match: sequences and captures</a:t>
            </a:r>
          </a:p>
        </p:txBody>
      </p:sp>
      <p:sp>
        <p:nvSpPr>
          <p:cNvPr id="4" name="code"/>
          <p:cNvSpPr/>
          <p:nvPr/>
        </p:nvSpPr>
        <p:spPr>
          <a:xfrm>
            <a:off x="365760" y="841248"/>
            <a:ext cx="4698491" cy="98018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commands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9BE3A8"/>
                </a:solidFill>
                <a:latin typeface="Courier New"/>
              </a:rPr>
              <a:t>'go'</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'north'</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'quit'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'dance'</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command</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commands</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match</a:t>
            </a:r>
            <a:r>
              <a:rPr sz="1100" b="0" i="0">
                <a:solidFill>
                  <a:srgbClr val="E6EDF3"/>
                </a:solidFill>
                <a:latin typeface="Courier New"/>
              </a:rPr>
              <a:t> </a:t>
            </a:r>
            <a:r>
              <a:rPr sz="1100" b="0" i="0">
                <a:solidFill>
                  <a:srgbClr val="E6EDF3"/>
                </a:solidFill>
                <a:latin typeface="Courier New"/>
              </a:rPr>
              <a:t>command</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case</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'go'</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direction</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'going'</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direction</a:t>
            </a:r>
            <a:r>
              <a:rPr sz="1100" b="0" i="0">
                <a:solidFill>
                  <a:srgbClr val="E6EDF3"/>
                </a:solidFill>
                <a:latin typeface="Courier New"/>
              </a:rPr>
              <a:t>)</a:t>
            </a:r>
          </a:p>
        </p:txBody>
      </p:sp>
      <p:sp>
        <p:nvSpPr>
          <p:cNvPr id="5" name="explanation"/>
          <p:cNvSpPr txBox="1"/>
          <p:nvPr/>
        </p:nvSpPr>
        <p:spPr>
          <a:xfrm>
            <a:off x="365760" y="1830577"/>
            <a:ext cx="4698491" cy="447421"/>
          </a:xfrm>
          <a:prstGeom prst="rect">
            <a:avLst/>
          </a:prstGeom>
          <a:noFill/>
        </p:spPr>
        <p:txBody>
          <a:bodyPr wrap="square" lIns="109728" rIns="109728" tIns="18288" bIns="18288" anchor="ctr">
            <a:spAutoFit/>
          </a:bodyPr>
          <a:lstStyle/>
          <a:p>
            <a:r>
              <a:rPr sz="1150" b="0" i="0">
                <a:solidFill>
                  <a:srgbClr val="1F2933"/>
                </a:solidFill>
                <a:latin typeface="Calibri"/>
              </a:rPr>
              <a:t>A pattern can take a list apart. The name direction captures the second item of the list.</a:t>
            </a:r>
          </a:p>
        </p:txBody>
      </p:sp>
      <p:sp>
        <p:nvSpPr>
          <p:cNvPr id="6" name="code"/>
          <p:cNvSpPr/>
          <p:nvPr/>
        </p:nvSpPr>
        <p:spPr>
          <a:xfrm>
            <a:off x="365760" y="2323719"/>
            <a:ext cx="4698491" cy="80975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case</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'quit'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'bye'</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case</a:t>
            </a:r>
            <a:r>
              <a:rPr sz="1100" b="0" i="0">
                <a:solidFill>
                  <a:srgbClr val="E6EDF3"/>
                </a:solidFill>
                <a:latin typeface="Courier New"/>
              </a:rPr>
              <a:t> </a:t>
            </a:r>
            <a:r>
              <a:rPr sz="1100" b="0" i="0">
                <a:solidFill>
                  <a:srgbClr val="E6EDF3"/>
                </a:solidFill>
                <a:latin typeface="Courier New"/>
              </a:rPr>
              <a:t>_</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'unknown'</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command</a:t>
            </a:r>
            <a:r>
              <a:rPr sz="1100" b="0" i="0">
                <a:solidFill>
                  <a:srgbClr val="E6EDF3"/>
                </a:solidFill>
                <a:latin typeface="Courier New"/>
              </a:rPr>
              <a:t>)</a:t>
            </a:r>
          </a:p>
        </p:txBody>
      </p:sp>
      <p:sp>
        <p:nvSpPr>
          <p:cNvPr id="7" name="explanation"/>
          <p:cNvSpPr txBox="1"/>
          <p:nvPr/>
        </p:nvSpPr>
        <p:spPr>
          <a:xfrm>
            <a:off x="365760" y="3142615"/>
            <a:ext cx="4698491" cy="447421"/>
          </a:xfrm>
          <a:prstGeom prst="rect">
            <a:avLst/>
          </a:prstGeom>
          <a:noFill/>
        </p:spPr>
        <p:txBody>
          <a:bodyPr wrap="square" lIns="109728" rIns="109728" tIns="18288" bIns="18288" anchor="ctr">
            <a:spAutoFit/>
          </a:bodyPr>
          <a:lstStyle/>
          <a:p>
            <a:r>
              <a:rPr sz="1150" b="0" i="0">
                <a:solidFill>
                  <a:srgbClr val="1F2933"/>
                </a:solidFill>
                <a:latin typeface="Calibri"/>
              </a:rPr>
              <a:t>A list with one item fits the quit case. Anything else falls through to the underscore.</a:t>
            </a:r>
          </a:p>
        </p:txBody>
      </p:sp>
      <p:sp>
        <p:nvSpPr>
          <p:cNvPr id="8" name="result label"/>
          <p:cNvSpPr txBox="1"/>
          <p:nvPr/>
        </p:nvSpPr>
        <p:spPr>
          <a:xfrm>
            <a:off x="5292852" y="841248"/>
            <a:ext cx="3485388"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5292852" y="1143000"/>
          <a:ext cx="3485387" cy="1170432"/>
        </p:xfrm>
        <a:graphic>
          <a:graphicData uri="http://schemas.openxmlformats.org/drawingml/2006/table">
            <a:tbl>
              <a:tblPr firstRow="0" bandRow="0"/>
              <a:tblGrid>
                <a:gridCol w="990167"/>
                <a:gridCol w="1148593"/>
                <a:gridCol w="1346627"/>
              </a:tblGrid>
              <a:tr h="292608">
                <a:tc>
                  <a:txBody>
                    <a:bodyPr wrap="square"/>
                    <a:lstStyle/>
                    <a:p>
                      <a:r>
                        <a:rPr sz="900" b="1" i="0">
                          <a:solidFill>
                            <a:srgbClr val="FFFFFF"/>
                          </a:solidFill>
                          <a:latin typeface="Calibri"/>
                        </a:rPr>
                        <a:t>Value tested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Printed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Case that matched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92608">
                <a:tc>
                  <a:txBody>
                    <a:bodyPr wrap="square"/>
                    <a:lstStyle/>
                    <a:p>
                      <a:r>
                        <a:rPr sz="900" b="0" i="0">
                          <a:solidFill>
                            <a:srgbClr val="1F2933"/>
                          </a:solidFill>
                          <a:latin typeface="Courier New"/>
                        </a:rPr>
                        <a:t>['go', 'north']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going north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case ['go', direction]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2608">
                <a:tc>
                  <a:txBody>
                    <a:bodyPr wrap="square"/>
                    <a:lstStyle/>
                    <a:p>
                      <a:r>
                        <a:rPr sz="900" b="0" i="0">
                          <a:solidFill>
                            <a:srgbClr val="1F2933"/>
                          </a:solidFill>
                          <a:latin typeface="Courier New"/>
                        </a:rPr>
                        <a:t>['quit']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bye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case ['quit']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2608">
                <a:tc>
                  <a:txBody>
                    <a:bodyPr wrap="square"/>
                    <a:lstStyle/>
                    <a:p>
                      <a:r>
                        <a:rPr sz="900" b="0" i="0">
                          <a:solidFill>
                            <a:srgbClr val="1F2933"/>
                          </a:solidFill>
                          <a:latin typeface="Courier New"/>
                        </a:rPr>
                        <a:t>['dance']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unknown ['dance']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case _</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0" name="TextBox 9"/>
          <p:cNvSpPr txBox="1"/>
          <p:nvPr/>
        </p:nvSpPr>
        <p:spPr>
          <a:xfrm>
            <a:off x="5292852" y="2697480"/>
            <a:ext cx="3485388" cy="219456"/>
          </a:xfrm>
          <a:prstGeom prst="rect">
            <a:avLst/>
          </a:prstGeom>
          <a:noFill/>
        </p:spPr>
        <p:txBody>
          <a:bodyPr wrap="square" lIns="45720" rIns="45720" tIns="27432" bIns="27432" anchor="t">
            <a:spAutoFit/>
          </a:bodyPr>
          <a:lstStyle/>
          <a:p>
            <a:r>
              <a:rPr sz="1000" b="0" i="1">
                <a:solidFill>
                  <a:srgbClr val="5B6773"/>
                </a:solidFill>
                <a:latin typeface="Calibri"/>
              </a:rPr>
              <a:t>items in each list tested</a:t>
            </a:r>
          </a:p>
        </p:txBody>
      </p:sp>
      <p:graphicFrame>
        <p:nvGraphicFramePr>
          <p:cNvPr id="11" name="chart"/>
          <p:cNvGraphicFramePr>
            <a:graphicFrameLocks noGrp="1"/>
          </p:cNvGraphicFramePr>
          <p:nvPr/>
        </p:nvGraphicFramePr>
        <p:xfrm>
          <a:off x="5292852" y="2880360"/>
          <a:ext cx="3485388" cy="1645920"/>
        </p:xfrm>
        <a:graphic>
          <a:graphicData uri="http://schemas.openxmlformats.org/drawingml/2006/chart">
            <c:chart xmlns:c="http://schemas.openxmlformats.org/drawingml/2006/chart" r:id="rId3"/>
          </a:graphicData>
        </a:graphic>
      </p:graphicFrame>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Patterns take lists apart and capture names.</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35 / 42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match: guards</a:t>
            </a:r>
          </a:p>
        </p:txBody>
      </p:sp>
      <p:sp>
        <p:nvSpPr>
          <p:cNvPr id="4" name="code"/>
          <p:cNvSpPr/>
          <p:nvPr/>
        </p:nvSpPr>
        <p:spPr>
          <a:xfrm>
            <a:off x="365760" y="841248"/>
            <a:ext cx="3913631" cy="8717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for</a:t>
            </a:r>
            <a:r>
              <a:rPr sz="1200" b="0" i="0">
                <a:solidFill>
                  <a:srgbClr val="E6EDF3"/>
                </a:solidFill>
                <a:latin typeface="Courier New"/>
              </a:rPr>
              <a:t> </a:t>
            </a:r>
            <a:r>
              <a:rPr sz="1200" b="0" i="0">
                <a:solidFill>
                  <a:srgbClr val="E6EDF3"/>
                </a:solidFill>
                <a:latin typeface="Courier New"/>
              </a:rPr>
              <a:t>point</a:t>
            </a:r>
            <a:r>
              <a:rPr sz="1200" b="0" i="0">
                <a:solidFill>
                  <a:srgbClr val="E6EDF3"/>
                </a:solidFill>
                <a:latin typeface="Courier New"/>
              </a:rPr>
              <a:t> </a:t>
            </a:r>
            <a:r>
              <a:rPr sz="1200" b="0" i="0">
                <a:solidFill>
                  <a:srgbClr val="C9A0FF"/>
                </a:solidFill>
                <a:latin typeface="Courier New"/>
              </a:rPr>
              <a:t>in</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7CC4FF"/>
                </a:solidFill>
                <a:latin typeface="Courier New"/>
              </a:rPr>
              <a:t>3</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3</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7CC4FF"/>
                </a:solidFill>
                <a:latin typeface="Courier New"/>
              </a:rPr>
              <a:t>3</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4</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match</a:t>
            </a:r>
            <a:r>
              <a:rPr sz="1200" b="0" i="0">
                <a:solidFill>
                  <a:srgbClr val="E6EDF3"/>
                </a:solidFill>
                <a:latin typeface="Courier New"/>
              </a:rPr>
              <a:t> </a:t>
            </a:r>
            <a:r>
              <a:rPr sz="1200" b="0" i="0">
                <a:solidFill>
                  <a:srgbClr val="E6EDF3"/>
                </a:solidFill>
                <a:latin typeface="Courier New"/>
              </a:rPr>
              <a:t>point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case</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x</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y</a:t>
            </a:r>
            <a:r>
              <a:rPr sz="1200" b="0" i="0">
                <a:solidFill>
                  <a:srgbClr val="E6EDF3"/>
                </a:solidFill>
                <a:latin typeface="Courier New"/>
              </a:rPr>
              <a:t>)</a:t>
            </a:r>
            <a:r>
              <a:rPr sz="1200" b="0" i="0">
                <a:solidFill>
                  <a:srgbClr val="E6EDF3"/>
                </a:solidFill>
                <a:latin typeface="Courier New"/>
              </a:rPr>
              <a:t> </a:t>
            </a:r>
            <a:r>
              <a:rPr sz="1200" b="0" i="0">
                <a:solidFill>
                  <a:srgbClr val="C9A0FF"/>
                </a:solidFill>
                <a:latin typeface="Courier New"/>
              </a:rPr>
              <a:t>if</a:t>
            </a:r>
            <a:r>
              <a:rPr sz="1200" b="0" i="0">
                <a:solidFill>
                  <a:srgbClr val="E6EDF3"/>
                </a:solidFill>
                <a:latin typeface="Courier New"/>
              </a:rPr>
              <a:t> </a:t>
            </a:r>
            <a:r>
              <a:rPr sz="1200" b="0" i="0">
                <a:solidFill>
                  <a:srgbClr val="E6EDF3"/>
                </a:solidFill>
                <a:latin typeface="Courier New"/>
              </a:rPr>
              <a:t>x</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y</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'diagonal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x</a:t>
            </a:r>
            <a:r>
              <a:rPr sz="1200" b="0" i="0">
                <a:solidFill>
                  <a:srgbClr val="E6EDF3"/>
                </a:solidFill>
                <a:latin typeface="Courier New"/>
              </a:rPr>
              <a:t>)</a:t>
            </a:r>
          </a:p>
        </p:txBody>
      </p:sp>
      <p:sp>
        <p:nvSpPr>
          <p:cNvPr id="5" name="explanation"/>
          <p:cNvSpPr txBox="1"/>
          <p:nvPr/>
        </p:nvSpPr>
        <p:spPr>
          <a:xfrm>
            <a:off x="365760" y="1722120"/>
            <a:ext cx="3913631" cy="629983"/>
          </a:xfrm>
          <a:prstGeom prst="rect">
            <a:avLst/>
          </a:prstGeom>
          <a:noFill/>
        </p:spPr>
        <p:txBody>
          <a:bodyPr wrap="square" lIns="109728" rIns="109728" tIns="18288" bIns="18288" anchor="ctr">
            <a:spAutoFit/>
          </a:bodyPr>
          <a:lstStyle/>
          <a:p>
            <a:r>
              <a:rPr sz="1150" b="0" i="0">
                <a:solidFill>
                  <a:srgbClr val="1F2933"/>
                </a:solidFill>
                <a:latin typeface="Calibri"/>
              </a:rPr>
              <a:t>A guard adds an if to a case. The first case fits only when both items of the pair are equal.</a:t>
            </a:r>
          </a:p>
        </p:txBody>
      </p:sp>
      <p:sp>
        <p:nvSpPr>
          <p:cNvPr id="6" name="code"/>
          <p:cNvSpPr/>
          <p:nvPr/>
        </p:nvSpPr>
        <p:spPr>
          <a:xfrm>
            <a:off x="365760" y="2397823"/>
            <a:ext cx="3913631" cy="49987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case</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x</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y</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'elsewhere'</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x</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y</a:t>
            </a:r>
            <a:r>
              <a:rPr sz="1200" b="0" i="0">
                <a:solidFill>
                  <a:srgbClr val="E6EDF3"/>
                </a:solidFill>
                <a:latin typeface="Courier New"/>
              </a:rPr>
              <a:t>)</a:t>
            </a:r>
          </a:p>
        </p:txBody>
      </p:sp>
      <p:sp>
        <p:nvSpPr>
          <p:cNvPr id="7" name="explanation"/>
          <p:cNvSpPr txBox="1"/>
          <p:nvPr/>
        </p:nvSpPr>
        <p:spPr>
          <a:xfrm>
            <a:off x="365760" y="2906839"/>
            <a:ext cx="3913631" cy="447421"/>
          </a:xfrm>
          <a:prstGeom prst="rect">
            <a:avLst/>
          </a:prstGeom>
          <a:noFill/>
        </p:spPr>
        <p:txBody>
          <a:bodyPr wrap="square" lIns="109728" rIns="109728" tIns="18288" bIns="18288" anchor="ctr">
            <a:spAutoFit/>
          </a:bodyPr>
          <a:lstStyle/>
          <a:p>
            <a:r>
              <a:rPr sz="1150" b="0" i="0">
                <a:solidFill>
                  <a:srgbClr val="1F2933"/>
                </a:solidFill>
                <a:latin typeface="Calibri"/>
              </a:rPr>
              <a:t>Without the guard this case fits every pair, so it must stand after the guarded one.</a:t>
            </a:r>
          </a:p>
        </p:txBody>
      </p:sp>
      <p:sp>
        <p:nvSpPr>
          <p:cNvPr id="8" name="result label"/>
          <p:cNvSpPr txBox="1"/>
          <p:nvPr/>
        </p:nvSpPr>
        <p:spPr>
          <a:xfrm>
            <a:off x="4507992" y="841248"/>
            <a:ext cx="4270248"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4507992" y="1143000"/>
          <a:ext cx="4270247" cy="932688"/>
        </p:xfrm>
        <a:graphic>
          <a:graphicData uri="http://schemas.openxmlformats.org/drawingml/2006/table">
            <a:tbl>
              <a:tblPr firstRow="0" bandRow="0"/>
              <a:tblGrid>
                <a:gridCol w="871479"/>
                <a:gridCol w="1481514"/>
                <a:gridCol w="1917254"/>
              </a:tblGrid>
              <a:tr h="310896">
                <a:tc>
                  <a:txBody>
                    <a:bodyPr wrap="square"/>
                    <a:lstStyle/>
                    <a:p>
                      <a:r>
                        <a:rPr sz="950" b="1" i="0">
                          <a:solidFill>
                            <a:srgbClr val="FFFFFF"/>
                          </a:solidFill>
                          <a:latin typeface="Calibri"/>
                        </a:rPr>
                        <a:t>Point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Printed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Case that matched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950" b="0" i="0">
                          <a:solidFill>
                            <a:srgbClr val="1F2933"/>
                          </a:solidFill>
                          <a:latin typeface="Courier New"/>
                        </a:rPr>
                        <a:t>(3, 3)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diagonal at 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case (x, y) if x == 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950" b="0" i="0">
                          <a:solidFill>
                            <a:srgbClr val="1F2933"/>
                          </a:solidFill>
                          <a:latin typeface="Courier New"/>
                        </a:rPr>
                        <a:t>(3, 4)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elsewhere 3 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case (x, 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0" name="TextBox 9"/>
          <p:cNvSpPr txBox="1"/>
          <p:nvPr/>
        </p:nvSpPr>
        <p:spPr>
          <a:xfrm>
            <a:off x="4507992" y="2240280"/>
            <a:ext cx="4270248" cy="219456"/>
          </a:xfrm>
          <a:prstGeom prst="rect">
            <a:avLst/>
          </a:prstGeom>
          <a:noFill/>
        </p:spPr>
        <p:txBody>
          <a:bodyPr wrap="square" lIns="45720" rIns="45720" tIns="27432" bIns="27432" anchor="t">
            <a:spAutoFit/>
          </a:bodyPr>
          <a:lstStyle/>
          <a:p>
            <a:r>
              <a:rPr sz="1000" b="0" i="1">
                <a:solidFill>
                  <a:srgbClr val="5B6773"/>
                </a:solidFill>
                <a:latin typeface="Calibri"/>
              </a:rPr>
              <a:t>the two items of each point</a:t>
            </a:r>
          </a:p>
        </p:txBody>
      </p:sp>
      <p:graphicFrame>
        <p:nvGraphicFramePr>
          <p:cNvPr id="11" name="chart"/>
          <p:cNvGraphicFramePr>
            <a:graphicFrameLocks noGrp="1"/>
          </p:cNvGraphicFramePr>
          <p:nvPr/>
        </p:nvGraphicFramePr>
        <p:xfrm>
          <a:off x="4507992" y="2423160"/>
          <a:ext cx="4270248" cy="2057400"/>
        </p:xfrm>
        <a:graphic>
          <a:graphicData uri="http://schemas.openxmlformats.org/drawingml/2006/chart">
            <c:chart xmlns:c="http://schemas.openxmlformats.org/drawingml/2006/chart" r:id="rId3"/>
          </a:graphicData>
        </a:graphic>
      </p:graphicFrame>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guard adds an if to a case.</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36 / 42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the walrus that changed who leads Python</a:t>
            </a:r>
          </a:p>
        </p:txBody>
      </p:sp>
      <p:pic>
        <p:nvPicPr>
          <p:cNvPr id="4" name="photo walrus" descr="Picture for the story: the walrus that changed who leads Python"/>
          <p:cNvPicPr>
            <a:picLocks noChangeAspect="1"/>
          </p:cNvPicPr>
          <p:nvPr/>
        </p:nvPicPr>
        <p:blipFill>
          <a:blip r:embed="rId3"/>
          <a:stretch>
            <a:fillRect/>
          </a:stretch>
        </p:blipFill>
        <p:spPr>
          <a:xfrm>
            <a:off x="365760" y="1448683"/>
            <a:ext cx="2651760" cy="1766072"/>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A walrus, Russian Arctic National Park, 2015. Photo: Nixette, CC BY-SA 4.0, Wikimedia Commons.</a:t>
            </a:r>
          </a:p>
        </p:txBody>
      </p:sp>
      <p:sp>
        <p:nvSpPr>
          <p:cNvPr id="6" name="card"/>
          <p:cNvSpPr/>
          <p:nvPr/>
        </p:nvSpPr>
        <p:spPr>
          <a:xfrm>
            <a:off x="3200400" y="84124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Chris Angelico, Tim Peters and Guido van Rossum wrote PEP 572, the proposal for assignment expressions.</a:t>
            </a:r>
          </a:p>
        </p:txBody>
      </p:sp>
      <p:sp>
        <p:nvSpPr>
          <p:cNvPr id="8" name="card"/>
          <p:cNvSpPr/>
          <p:nvPr/>
        </p:nvSpPr>
        <p:spPr>
          <a:xfrm>
            <a:off x="3200400" y="146304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6304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The operator := assigns a value to a name and gives the value back inside a larger expression.</a:t>
            </a:r>
          </a:p>
        </p:txBody>
      </p:sp>
      <p:sp>
        <p:nvSpPr>
          <p:cNvPr id="10" name="card"/>
          <p:cNvSpPr/>
          <p:nvPr/>
        </p:nvSpPr>
        <p:spPr>
          <a:xfrm>
            <a:off x="3200400" y="2084832"/>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2084832"/>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The PEP was created on 28 February 2018 and shipped in Python 3.8 in October 2019.</a:t>
            </a:r>
          </a:p>
        </p:txBody>
      </p:sp>
      <p:sp>
        <p:nvSpPr>
          <p:cNvPr id="12" name="card"/>
          <p:cNvSpPr/>
          <p:nvPr/>
        </p:nvSpPr>
        <p:spPr>
          <a:xfrm>
            <a:off x="3200400" y="2706624"/>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706624"/>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The python-dev mailing list, and PEP 572 on peps.python.org.</a:t>
            </a:r>
          </a:p>
        </p:txBody>
      </p:sp>
      <p:sp>
        <p:nvSpPr>
          <p:cNvPr id="14" name="card"/>
          <p:cNvSpPr/>
          <p:nvPr/>
        </p:nvSpPr>
        <p:spPr>
          <a:xfrm>
            <a:off x="3200400" y="3328415"/>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328415"/>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A value can be tested and kept in one step, without computing it twice or adding a line.</a:t>
            </a:r>
          </a:p>
        </p:txBody>
      </p:sp>
      <p:sp>
        <p:nvSpPr>
          <p:cNvPr id="16" name="card"/>
          <p:cNvSpPr/>
          <p:nvPr/>
        </p:nvSpPr>
        <p:spPr>
          <a:xfrm>
            <a:off x="3200400" y="3950207"/>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950207"/>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On 12 July 2018, after the long debate, Guido van Rossum announced that he would step down as BDFL.</a:t>
            </a:r>
          </a:p>
        </p:txBody>
      </p:sp>
      <p:sp>
        <p:nvSpPr>
          <p:cNvPr id="18" name="read"/>
          <p:cNvSpPr txBox="1"/>
          <p:nvPr/>
        </p:nvSpPr>
        <p:spPr>
          <a:xfrm>
            <a:off x="3200400" y="4590287"/>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PEP 572: assignment expressions</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37 / 42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The walrus: test and keep in one step</a:t>
            </a:r>
          </a:p>
        </p:txBody>
      </p:sp>
      <p:sp>
        <p:nvSpPr>
          <p:cNvPr id="4" name="code"/>
          <p:cNvSpPr/>
          <p:nvPr/>
        </p:nvSpPr>
        <p:spPr>
          <a:xfrm>
            <a:off x="365760" y="841248"/>
            <a:ext cx="4911851" cy="98856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E6EDF3"/>
                </a:solidFill>
                <a:latin typeface="Courier New"/>
              </a:rPr>
              <a:t>names</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r>
              <a:rPr sz="1300" b="0" i="0">
                <a:solidFill>
                  <a:srgbClr val="9BE3A8"/>
                </a:solidFill>
                <a:latin typeface="Courier New"/>
              </a:rPr>
              <a:t>'Al'</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'Alice'</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'Bartholomew'</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for</a:t>
            </a:r>
            <a:r>
              <a:rPr sz="1300" b="0" i="0">
                <a:solidFill>
                  <a:srgbClr val="E6EDF3"/>
                </a:solidFill>
                <a:latin typeface="Courier New"/>
              </a:rPr>
              <a:t> </a:t>
            </a:r>
            <a:r>
              <a:rPr sz="1300" b="0" i="0">
                <a:solidFill>
                  <a:srgbClr val="E6EDF3"/>
                </a:solidFill>
                <a:latin typeface="Courier New"/>
              </a:rPr>
              <a:t>name</a:t>
            </a:r>
            <a:r>
              <a:rPr sz="1300" b="0" i="0">
                <a:solidFill>
                  <a:srgbClr val="E6EDF3"/>
                </a:solidFill>
                <a:latin typeface="Courier New"/>
              </a:rPr>
              <a:t> </a:t>
            </a:r>
            <a:r>
              <a:rPr sz="1300" b="0" i="0">
                <a:solidFill>
                  <a:srgbClr val="C9A0FF"/>
                </a:solidFill>
                <a:latin typeface="Courier New"/>
              </a:rPr>
              <a:t>in</a:t>
            </a:r>
            <a:r>
              <a:rPr sz="1300" b="0" i="0">
                <a:solidFill>
                  <a:srgbClr val="E6EDF3"/>
                </a:solidFill>
                <a:latin typeface="Courier New"/>
              </a:rPr>
              <a:t> </a:t>
            </a:r>
            <a:r>
              <a:rPr sz="1300" b="0" i="0">
                <a:solidFill>
                  <a:srgbClr val="E6EDF3"/>
                </a:solidFill>
                <a:latin typeface="Courier New"/>
              </a:rPr>
              <a:t>names</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if</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size</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len</a:t>
            </a:r>
            <a:r>
              <a:rPr sz="1300" b="0" i="0">
                <a:solidFill>
                  <a:srgbClr val="E6EDF3"/>
                </a:solidFill>
                <a:latin typeface="Courier New"/>
              </a:rPr>
              <a:t>(</a:t>
            </a:r>
            <a:r>
              <a:rPr sz="1300" b="0" i="0">
                <a:solidFill>
                  <a:srgbClr val="E6EDF3"/>
                </a:solidFill>
                <a:latin typeface="Courier New"/>
              </a:rPr>
              <a:t>name</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&gt;</a:t>
            </a:r>
            <a:r>
              <a:rPr sz="1300" b="0" i="0">
                <a:solidFill>
                  <a:srgbClr val="E6EDF3"/>
                </a:solidFill>
                <a:latin typeface="Courier New"/>
              </a:rPr>
              <a:t> </a:t>
            </a:r>
            <a:r>
              <a:rPr sz="1300" b="0" i="0">
                <a:solidFill>
                  <a:srgbClr val="7CC4FF"/>
                </a:solidFill>
                <a:latin typeface="Courier New"/>
              </a:rPr>
              <a:t>3</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name</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'has'</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size</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'letters'</a:t>
            </a:r>
            <a:r>
              <a:rPr sz="1300" b="0" i="0">
                <a:solidFill>
                  <a:srgbClr val="E6EDF3"/>
                </a:solidFill>
                <a:latin typeface="Courier New"/>
              </a:rPr>
              <a:t>)</a:t>
            </a:r>
          </a:p>
        </p:txBody>
      </p:sp>
      <p:sp>
        <p:nvSpPr>
          <p:cNvPr id="5" name="explanation"/>
          <p:cNvSpPr txBox="1"/>
          <p:nvPr/>
        </p:nvSpPr>
        <p:spPr>
          <a:xfrm>
            <a:off x="5259324" y="841248"/>
            <a:ext cx="3518916" cy="988568"/>
          </a:xfrm>
          <a:prstGeom prst="rect">
            <a:avLst/>
          </a:prstGeom>
          <a:noFill/>
        </p:spPr>
        <p:txBody>
          <a:bodyPr wrap="square" lIns="128016" rIns="128016" tIns="18288" bIns="18288" anchor="ctr">
            <a:spAutoFit/>
          </a:bodyPr>
          <a:lstStyle/>
          <a:p>
            <a:r>
              <a:rPr sz="1250" b="0" i="0">
                <a:solidFill>
                  <a:srgbClr val="1F2933"/>
                </a:solidFill>
                <a:latin typeface="Calibri"/>
              </a:rPr>
              <a:t>The walrus := assigns a value and gives it back. Here size is stored and tested in the same condition.</a:t>
            </a:r>
          </a:p>
        </p:txBody>
      </p:sp>
      <p:sp>
        <p:nvSpPr>
          <p:cNvPr id="6" name="result label"/>
          <p:cNvSpPr txBox="1"/>
          <p:nvPr/>
        </p:nvSpPr>
        <p:spPr>
          <a:xfrm>
            <a:off x="365760" y="190296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7" name="table"/>
          <p:cNvGraphicFramePr>
            <a:graphicFrameLocks noGrp="1"/>
          </p:cNvGraphicFramePr>
          <p:nvPr/>
        </p:nvGraphicFramePr>
        <p:xfrm>
          <a:off x="365760" y="2177288"/>
          <a:ext cx="4626862" cy="1170432"/>
        </p:xfrm>
        <a:graphic>
          <a:graphicData uri="http://schemas.openxmlformats.org/drawingml/2006/table">
            <a:tbl>
              <a:tblPr firstRow="0" bandRow="0"/>
              <a:tblGrid>
                <a:gridCol w="1487206"/>
                <a:gridCol w="1487206"/>
                <a:gridCol w="826225"/>
                <a:gridCol w="826225"/>
              </a:tblGrid>
              <a:tr h="292608">
                <a:tc>
                  <a:txBody>
                    <a:bodyPr wrap="square"/>
                    <a:lstStyle/>
                    <a:p>
                      <a:r>
                        <a:rPr sz="1050" b="1" i="0">
                          <a:solidFill>
                            <a:srgbClr val="FFFFFF"/>
                          </a:solidFill>
                          <a:latin typeface="Calibri"/>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50" b="1" i="0">
                          <a:solidFill>
                            <a:srgbClr val="FFFFFF"/>
                          </a:solidFill>
                          <a:latin typeface="Calibri"/>
                        </a:rPr>
                        <a:t>size := len(name)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size &gt; 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printed?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92608">
                <a:tc>
                  <a:txBody>
                    <a:bodyPr wrap="square"/>
                    <a:lstStyle/>
                    <a:p>
                      <a:r>
                        <a:rPr sz="1050" b="0" i="0">
                          <a:solidFill>
                            <a:srgbClr val="1F2933"/>
                          </a:solidFill>
                          <a:latin typeface="Courier New"/>
                        </a:rPr>
                        <a:t>'Al'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1F2933"/>
                          </a:solidFill>
                          <a:latin typeface="Courier New"/>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no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2608">
                <a:tc>
                  <a:txBody>
                    <a:bodyPr wrap="square"/>
                    <a:lstStyle/>
                    <a:p>
                      <a:r>
                        <a:rPr sz="1050" b="0" i="0">
                          <a:solidFill>
                            <a:srgbClr val="1F2933"/>
                          </a:solidFill>
                          <a:latin typeface="Courier New"/>
                        </a:rPr>
                        <a:t>'Alice'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50" b="0" i="0">
                          <a:solidFill>
                            <a:srgbClr val="1F2933"/>
                          </a:solidFill>
                          <a:latin typeface="Courier New"/>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2608">
                <a:tc>
                  <a:txBody>
                    <a:bodyPr wrap="square"/>
                    <a:lstStyle/>
                    <a:p>
                      <a:r>
                        <a:rPr sz="1050" b="0" i="0">
                          <a:solidFill>
                            <a:srgbClr val="1F2933"/>
                          </a:solidFill>
                          <a:latin typeface="Courier New"/>
                        </a:rPr>
                        <a:t>'Bartholomew'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1F2933"/>
                          </a:solidFill>
                          <a:latin typeface="Courier New"/>
                        </a:rPr>
                        <a:t>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8" name="Rounded Rectangle 7"/>
          <p:cNvSpPr/>
          <p:nvPr/>
        </p:nvSpPr>
        <p:spPr>
          <a:xfrm>
            <a:off x="365760" y="3466592"/>
            <a:ext cx="4626864"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last size kept after the loop: 11</a:t>
            </a:r>
          </a:p>
        </p:txBody>
      </p:sp>
      <p:sp>
        <p:nvSpPr>
          <p:cNvPr id="9" name="TextBox 8"/>
          <p:cNvSpPr txBox="1"/>
          <p:nvPr/>
        </p:nvSpPr>
        <p:spPr>
          <a:xfrm>
            <a:off x="5244998" y="2159000"/>
            <a:ext cx="3533241" cy="219456"/>
          </a:xfrm>
          <a:prstGeom prst="rect">
            <a:avLst/>
          </a:prstGeom>
          <a:noFill/>
        </p:spPr>
        <p:txBody>
          <a:bodyPr wrap="square" lIns="45720" rIns="45720" tIns="27432" bIns="27432" anchor="t">
            <a:spAutoFit/>
          </a:bodyPr>
          <a:lstStyle/>
          <a:p>
            <a:r>
              <a:rPr sz="1000" b="0" i="1">
                <a:solidFill>
                  <a:srgbClr val="5B6773"/>
                </a:solidFill>
                <a:latin typeface="Calibri"/>
              </a:rPr>
              <a:t>letters per name; the test is size &gt; 3</a:t>
            </a:r>
          </a:p>
        </p:txBody>
      </p:sp>
      <p:graphicFrame>
        <p:nvGraphicFramePr>
          <p:cNvPr id="10" name="chart"/>
          <p:cNvGraphicFramePr>
            <a:graphicFrameLocks noGrp="1"/>
          </p:cNvGraphicFramePr>
          <p:nvPr/>
        </p:nvGraphicFramePr>
        <p:xfrm>
          <a:off x="5244998" y="2360168"/>
          <a:ext cx="3533241" cy="2248408"/>
        </p:xfrm>
        <a:graphic>
          <a:graphicData uri="http://schemas.openxmlformats.org/drawingml/2006/chart">
            <c:chart xmlns:c="http://schemas.openxmlformats.org/drawingml/2006/chart" r:id="rId3"/>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 walrus := stores and returns a value.</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38 / 42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Current Python adds more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What the language reference says beyond the book</a:t>
            </a:r>
          </a:p>
        </p:txBody>
      </p:sp>
      <p:graphicFrame>
        <p:nvGraphicFramePr>
          <p:cNvPr id="5" name="table"/>
          <p:cNvGraphicFramePr>
            <a:graphicFrameLocks noGrp="1"/>
          </p:cNvGraphicFramePr>
          <p:nvPr/>
        </p:nvGraphicFramePr>
        <p:xfrm>
          <a:off x="457200" y="1051560"/>
          <a:ext cx="8229600" cy="3291840"/>
        </p:xfrm>
        <a:graphic>
          <a:graphicData uri="http://schemas.openxmlformats.org/drawingml/2006/table">
            <a:tbl>
              <a:tblPr firstRow="0" bandRow="0"/>
              <a:tblGrid>
                <a:gridCol w="3566160"/>
                <a:gridCol w="640080"/>
                <a:gridCol w="4023360"/>
              </a:tblGrid>
              <a:tr h="411480">
                <a:tc>
                  <a:txBody>
                    <a:bodyPr wrap="square"/>
                    <a:lstStyle/>
                    <a:p>
                      <a:r>
                        <a:rPr sz="1300" b="1" i="0">
                          <a:solidFill>
                            <a:srgbClr val="FFFFFF"/>
                          </a:solidFill>
                          <a:latin typeface="Calibri"/>
                        </a:rPr>
                        <a:t>Feature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300" b="1" i="0">
                          <a:solidFill>
                            <a:srgbClr val="FFFFFF"/>
                          </a:solidFill>
                          <a:latin typeface="Calibri"/>
                        </a:rPr>
                        <a:t>Since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What it gives you</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11480">
                <a:tc>
                  <a:txBody>
                    <a:bodyPr wrap="square"/>
                    <a:lstStyle/>
                    <a:p>
                      <a:r>
                        <a:rPr sz="1300" b="1" i="0">
                          <a:solidFill>
                            <a:srgbClr val="1F2933"/>
                          </a:solidFill>
                          <a:latin typeface="Calibri"/>
                        </a:rPr>
                        <a:t>and and or return one of their operands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00" b="0" i="0">
                          <a:solidFill>
                            <a:srgbClr val="1F2933"/>
                          </a:solidFill>
                          <a:latin typeface="Calibri"/>
                        </a:rPr>
                        <a:t>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x and y gives x if x is false; else 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11480">
                <a:tc>
                  <a:txBody>
                    <a:bodyPr wrap="square"/>
                    <a:lstStyle/>
                    <a:p>
                      <a:r>
                        <a:rPr sz="1300" b="1" i="0">
                          <a:solidFill>
                            <a:srgbClr val="1F2933"/>
                          </a:solidFill>
                          <a:latin typeface="Calibri"/>
                        </a:rPr>
                        <a:t>Comparisons chain: x &lt; y &lt;= z</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00" b="0" i="0">
                          <a:solidFill>
                            <a:srgbClr val="1F2933"/>
                          </a:solidFill>
                          <a:latin typeface="Calibri"/>
                        </a:rPr>
                        <a:t>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It means x &lt; y and y &lt;= z</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11480">
                <a:tc>
                  <a:txBody>
                    <a:bodyPr wrap="square"/>
                    <a:lstStyle/>
                    <a:p>
                      <a:r>
                        <a:rPr sz="1300" b="1" i="0">
                          <a:solidFill>
                            <a:srgbClr val="1F2933"/>
                          </a:solidFill>
                          <a:latin typeface="Calibri"/>
                        </a:rPr>
                        <a:t>Falsy values: None, zero, empty containers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00" b="0" i="0">
                          <a:solidFill>
                            <a:srgbClr val="1F2933"/>
                          </a:solidFill>
                          <a:latin typeface="Calibri"/>
                        </a:rPr>
                        <a:t>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Write if items, not if items == 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11480">
                <a:tc>
                  <a:txBody>
                    <a:bodyPr wrap="square"/>
                    <a:lstStyle/>
                    <a:p>
                      <a:r>
                        <a:rPr sz="1300" b="1" i="0">
                          <a:solidFill>
                            <a:srgbClr val="1F2933"/>
                          </a:solidFill>
                          <a:latin typeface="Calibri"/>
                        </a:rPr>
                        <a:t>The conditional expression x if C else 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00" b="0" i="0">
                          <a:solidFill>
                            <a:srgbClr val="1F2933"/>
                          </a:solidFill>
                          <a:latin typeface="Calibri"/>
                        </a:rPr>
                        <a:t>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Chooses a value in one line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11480">
                <a:tc>
                  <a:txBody>
                    <a:bodyPr wrap="square"/>
                    <a:lstStyle/>
                    <a:p>
                      <a:r>
                        <a:rPr sz="1300" b="1" i="0">
                          <a:solidFill>
                            <a:srgbClr val="1F2933"/>
                          </a:solidFill>
                          <a:latin typeface="Calibri"/>
                        </a:rPr>
                        <a:t>The walrus := (PEP 572)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00" b="0" i="0">
                          <a:solidFill>
                            <a:srgbClr val="1F2933"/>
                          </a:solidFill>
                          <a:latin typeface="Calibri"/>
                        </a:rPr>
                        <a:t>3.8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Assigns inside an 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11480">
                <a:tc>
                  <a:txBody>
                    <a:bodyPr wrap="square"/>
                    <a:lstStyle/>
                    <a:p>
                      <a:r>
                        <a:rPr sz="1300" b="1" i="0">
                          <a:solidFill>
                            <a:srgbClr val="1F2933"/>
                          </a:solidFill>
                          <a:latin typeface="Calibri"/>
                        </a:rPr>
                        <a:t>The match statement (PEPs 634 to 636)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00" b="0" i="0">
                          <a:solidFill>
                            <a:srgbClr val="1F2933"/>
                          </a:solidFill>
                          <a:latin typeface="Calibri"/>
                        </a:rPr>
                        <a:t>3.10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Compares a value with patterns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11480">
                <a:tc>
                  <a:txBody>
                    <a:bodyPr wrap="square"/>
                    <a:lstStyle/>
                    <a:p>
                      <a:r>
                        <a:rPr sz="1300" b="1" i="0">
                          <a:solidFill>
                            <a:srgbClr val="1F2933"/>
                          </a:solidFill>
                          <a:latin typeface="Calibri"/>
                        </a:rPr>
                        <a:t>PEP 765: leaving a finally block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00" b="0" i="0">
                          <a:solidFill>
                            <a:srgbClr val="1F2933"/>
                          </a:solidFill>
                          <a:latin typeface="Calibri"/>
                        </a:rPr>
                        <a:t>3.14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return, break and continue there draw a warning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Run what the book printed; then check what changed.</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39 / 42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Summary</a:t>
            </a:r>
          </a:p>
        </p:txBody>
      </p:sp>
      <p:sp>
        <p:nvSpPr>
          <p:cNvPr id="4" name="card"/>
          <p:cNvSpPr/>
          <p:nvPr/>
        </p:nvSpPr>
        <p:spPr>
          <a:xfrm>
            <a:off x="365760" y="749808"/>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A summary is a packing list: only what you really need goes into the bag.</a:t>
            </a:r>
          </a:p>
        </p:txBody>
      </p:sp>
      <p:sp>
        <p:nvSpPr>
          <p:cNvPr id="6" name="Rounded Rectangle 5"/>
          <p:cNvSpPr/>
          <p:nvPr/>
        </p:nvSpPr>
        <p:spPr>
          <a:xfrm>
            <a:off x="365760" y="14081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7" name="point"/>
          <p:cNvSpPr txBox="1"/>
          <p:nvPr/>
        </p:nvSpPr>
        <p:spPr>
          <a:xfrm>
            <a:off x="822960" y="1371600"/>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Boolean value is True or False, and a comparison produces one.</a:t>
            </a:r>
          </a:p>
        </p:txBody>
      </p:sp>
      <p:sp>
        <p:nvSpPr>
          <p:cNvPr id="8" name="Rounded Rectangle 7"/>
          <p:cNvSpPr/>
          <p:nvPr/>
        </p:nvSpPr>
        <p:spPr>
          <a:xfrm>
            <a:off x="365760" y="1975104"/>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9" name="point"/>
          <p:cNvSpPr txBox="1"/>
          <p:nvPr/>
        </p:nvSpPr>
        <p:spPr>
          <a:xfrm>
            <a:off x="822960" y="1938528"/>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and, or and not join values; they stop early and return an operand.</a:t>
            </a:r>
          </a:p>
        </p:txBody>
      </p:sp>
      <p:sp>
        <p:nvSpPr>
          <p:cNvPr id="10" name="Rounded Rectangle 9"/>
          <p:cNvSpPr/>
          <p:nvPr/>
        </p:nvSpPr>
        <p:spPr>
          <a:xfrm>
            <a:off x="365760" y="254203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1" name="point"/>
          <p:cNvSpPr txBox="1"/>
          <p:nvPr/>
        </p:nvSpPr>
        <p:spPr>
          <a:xfrm>
            <a:off x="822960" y="2505456"/>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block is a run of indented lines that belong to one statement.</a:t>
            </a:r>
          </a:p>
        </p:txBody>
      </p:sp>
      <p:sp>
        <p:nvSpPr>
          <p:cNvPr id="12" name="Rounded Rectangle 11"/>
          <p:cNvSpPr/>
          <p:nvPr/>
        </p:nvSpPr>
        <p:spPr>
          <a:xfrm>
            <a:off x="365760" y="3108960"/>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3" name="point"/>
          <p:cNvSpPr txBox="1"/>
          <p:nvPr/>
        </p:nvSpPr>
        <p:spPr>
          <a:xfrm>
            <a:off x="822960" y="3072384"/>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if, elif and else choose one road; the first true condition wins.</a:t>
            </a:r>
          </a:p>
        </p:txBody>
      </p:sp>
      <p:sp>
        <p:nvSpPr>
          <p:cNvPr id="14" name="Rounded Rectangle 13"/>
          <p:cNvSpPr/>
          <p:nvPr/>
        </p:nvSpPr>
        <p:spPr>
          <a:xfrm>
            <a:off x="365760" y="3675887"/>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5</a:t>
            </a:r>
          </a:p>
        </p:txBody>
      </p:sp>
      <p:sp>
        <p:nvSpPr>
          <p:cNvPr id="15" name="point"/>
          <p:cNvSpPr txBox="1"/>
          <p:nvPr/>
        </p:nvSpPr>
        <p:spPr>
          <a:xfrm>
            <a:off x="822960" y="3639312"/>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The conditional expression, match and the walrus are newer tools.</a:t>
            </a:r>
          </a:p>
        </p:txBody>
      </p:sp>
      <p:sp>
        <p:nvSpPr>
          <p:cNvPr id="16" name="chart label"/>
          <p:cNvSpPr txBox="1"/>
          <p:nvPr/>
        </p:nvSpPr>
        <p:spPr>
          <a:xfrm>
            <a:off x="5212080" y="1280160"/>
            <a:ext cx="3566160" cy="457200"/>
          </a:xfrm>
          <a:prstGeom prst="rect">
            <a:avLst/>
          </a:prstGeom>
          <a:noFill/>
        </p:spPr>
        <p:txBody>
          <a:bodyPr wrap="square" lIns="45720" rIns="45720" tIns="27432" bIns="27432" anchor="t">
            <a:spAutoFit/>
          </a:bodyPr>
          <a:lstStyle/>
          <a:p>
            <a:r>
              <a:rPr sz="1050" b="1" i="0">
                <a:solidFill>
                  <a:srgbClr val="0E7C86"/>
                </a:solidFill>
                <a:latin typeface="Calibri"/>
              </a:rPr>
              <a:t>code examples in each part of the chapter</a:t>
            </a:r>
          </a:p>
        </p:txBody>
      </p:sp>
      <p:graphicFrame>
        <p:nvGraphicFramePr>
          <p:cNvPr id="17" name="chart"/>
          <p:cNvGraphicFramePr>
            <a:graphicFrameLocks noGrp="1"/>
          </p:cNvGraphicFramePr>
          <p:nvPr/>
        </p:nvGraphicFramePr>
        <p:xfrm>
          <a:off x="5120640" y="1783080"/>
          <a:ext cx="3657600" cy="2743200"/>
        </p:xfrm>
        <a:graphic>
          <a:graphicData uri="http://schemas.openxmlformats.org/drawingml/2006/chart">
            <c:chart xmlns:c="http://schemas.openxmlformats.org/drawingml/2006/chart" r:id="rId3"/>
          </a:graphicData>
        </a:graphic>
      </p:graphicFrame>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decision needs a condition, a block and a road.</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40 / 42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Questions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Predict first, then run it on the chapter page</a:t>
            </a:r>
          </a:p>
        </p:txBody>
      </p:sp>
      <p:sp>
        <p:nvSpPr>
          <p:cNvPr id="5" name="card"/>
          <p:cNvSpPr/>
          <p:nvPr/>
        </p:nvSpPr>
        <p:spPr>
          <a:xfrm>
            <a:off x="365760" y="960120"/>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nalogy"/>
          <p:cNvSpPr txBox="1"/>
          <p:nvPr/>
        </p:nvSpPr>
        <p:spPr>
          <a:xfrm>
            <a:off x="502920" y="969264"/>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Practice questions are finger scales for a pianist: short drills before the performance.</a:t>
            </a:r>
          </a:p>
        </p:txBody>
      </p:sp>
      <p:sp>
        <p:nvSpPr>
          <p:cNvPr id="7" name="card"/>
          <p:cNvSpPr/>
          <p:nvPr/>
        </p:nvSpPr>
        <p:spPr>
          <a:xfrm>
            <a:off x="365760" y="164592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77393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9" name="question"/>
          <p:cNvSpPr txBox="1"/>
          <p:nvPr/>
        </p:nvSpPr>
        <p:spPr>
          <a:xfrm>
            <a:off x="1005840" y="168249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What does print(not 3 &gt; 2 or 1 == 1) print? Add parentheses so that the order is obvious.</a:t>
            </a:r>
          </a:p>
        </p:txBody>
      </p:sp>
      <p:sp>
        <p:nvSpPr>
          <p:cNvPr id="10" name="card"/>
          <p:cNvSpPr/>
          <p:nvPr/>
        </p:nvSpPr>
        <p:spPr>
          <a:xfrm>
            <a:off x="365760" y="237744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505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12" name="question"/>
          <p:cNvSpPr txBox="1"/>
          <p:nvPr/>
        </p:nvSpPr>
        <p:spPr>
          <a:xfrm>
            <a:off x="1005840" y="241401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Reorder the elif rungs of the vampire ladder so that age 3000 reaches the vampire message.</a:t>
            </a:r>
          </a:p>
        </p:txBody>
      </p:sp>
      <p:sp>
        <p:nvSpPr>
          <p:cNvPr id="13" name="card"/>
          <p:cNvSpPr/>
          <p:nvPr/>
        </p:nvSpPr>
        <p:spPr>
          <a:xfrm>
            <a:off x="365760" y="310896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32369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5" name="question"/>
          <p:cNvSpPr txBox="1"/>
          <p:nvPr/>
        </p:nvSpPr>
        <p:spPr>
          <a:xfrm>
            <a:off x="1005840" y="314553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Rewrite the even or odd line with an if and an else, and compare the two versions.</a:t>
            </a:r>
          </a:p>
        </p:txBody>
      </p:sp>
      <p:sp>
        <p:nvSpPr>
          <p:cNvPr id="16" name="card"/>
          <p:cNvSpPr/>
          <p:nvPr/>
        </p:nvSpPr>
        <p:spPr>
          <a:xfrm>
            <a:off x="365760" y="384048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396849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8" name="question"/>
          <p:cNvSpPr txBox="1"/>
          <p:nvPr/>
        </p:nvSpPr>
        <p:spPr>
          <a:xfrm>
            <a:off x="1005840" y="387705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Add a case to the status match for 500 that prints 'server error'. Where must it stand?</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Each answer fits in a few lines you can run.</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41 / 42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Resources: where to go next</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Reading and watching, chosen for this chapter; every link is live</a:t>
            </a:r>
          </a:p>
        </p:txBody>
      </p:sp>
      <p:sp>
        <p:nvSpPr>
          <p:cNvPr id="5" name="card"/>
          <p:cNvSpPr/>
          <p:nvPr/>
        </p:nvSpPr>
        <p:spPr>
          <a:xfrm>
            <a:off x="36576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source"/>
          <p:cNvSpPr txBox="1"/>
          <p:nvPr/>
        </p:nvSpPr>
        <p:spPr>
          <a:xfrm>
            <a:off x="43891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Book: Automate the Boring Stuff, 3e, chapter 2</a:t>
            </a:r>
          </a:p>
          <a:p>
            <a:r>
              <a:rPr sz="900" b="0" i="0">
                <a:solidFill>
                  <a:srgbClr val="0E7C86"/>
                </a:solidFill>
                <a:latin typeface="Calibri"/>
                <a:hlinkClick r:id="rId3"/>
              </a:rPr>
              <a:t>https://automatetheboringstuff.com/3e/chapter2.html</a:t>
            </a:r>
          </a:p>
        </p:txBody>
      </p:sp>
      <p:sp>
        <p:nvSpPr>
          <p:cNvPr id="7" name="card"/>
          <p:cNvSpPr/>
          <p:nvPr/>
        </p:nvSpPr>
        <p:spPr>
          <a:xfrm>
            <a:off x="36576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source"/>
          <p:cNvSpPr txBox="1"/>
          <p:nvPr/>
        </p:nvSpPr>
        <p:spPr>
          <a:xfrm>
            <a:off x="43891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tutorial: more control flow tools</a:t>
            </a:r>
          </a:p>
          <a:p>
            <a:r>
              <a:rPr sz="900" b="0" i="0">
                <a:solidFill>
                  <a:srgbClr val="0E7C86"/>
                </a:solidFill>
                <a:latin typeface="Calibri"/>
                <a:hlinkClick r:id="rId4"/>
              </a:rPr>
              <a:t>https://docs.python.org/3/tutorial/controlflow.html</a:t>
            </a:r>
          </a:p>
        </p:txBody>
      </p:sp>
      <p:sp>
        <p:nvSpPr>
          <p:cNvPr id="9" name="card"/>
          <p:cNvSpPr/>
          <p:nvPr/>
        </p:nvSpPr>
        <p:spPr>
          <a:xfrm>
            <a:off x="36576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source"/>
          <p:cNvSpPr txBox="1"/>
          <p:nvPr/>
        </p:nvSpPr>
        <p:spPr>
          <a:xfrm>
            <a:off x="43891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Language reference: expressions and comparisons</a:t>
            </a:r>
          </a:p>
          <a:p>
            <a:r>
              <a:rPr sz="900" b="0" i="0">
                <a:solidFill>
                  <a:srgbClr val="0E7C86"/>
                </a:solidFill>
                <a:latin typeface="Calibri"/>
                <a:hlinkClick r:id="rId5"/>
              </a:rPr>
              <a:t>https://docs.python.org/3/reference/expressions.html</a:t>
            </a:r>
          </a:p>
        </p:txBody>
      </p:sp>
      <p:sp>
        <p:nvSpPr>
          <p:cNvPr id="11" name="card"/>
          <p:cNvSpPr/>
          <p:nvPr/>
        </p:nvSpPr>
        <p:spPr>
          <a:xfrm>
            <a:off x="36576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ource"/>
          <p:cNvSpPr txBox="1"/>
          <p:nvPr/>
        </p:nvSpPr>
        <p:spPr>
          <a:xfrm>
            <a:off x="43891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Library reference: truth value testing</a:t>
            </a:r>
          </a:p>
          <a:p>
            <a:r>
              <a:rPr sz="900" b="0" i="0">
                <a:solidFill>
                  <a:srgbClr val="0E7C86"/>
                </a:solidFill>
                <a:latin typeface="Calibri"/>
                <a:hlinkClick r:id="rId6"/>
              </a:rPr>
              <a:t>https://docs.python.org/3/library/stdtypes.html</a:t>
            </a:r>
          </a:p>
        </p:txBody>
      </p:sp>
      <p:sp>
        <p:nvSpPr>
          <p:cNvPr id="13" name="card"/>
          <p:cNvSpPr/>
          <p:nvPr/>
        </p:nvSpPr>
        <p:spPr>
          <a:xfrm>
            <a:off x="36576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source"/>
          <p:cNvSpPr txBox="1"/>
          <p:nvPr/>
        </p:nvSpPr>
        <p:spPr>
          <a:xfrm>
            <a:off x="43891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Language reference: if and match statements</a:t>
            </a:r>
          </a:p>
          <a:p>
            <a:r>
              <a:rPr sz="900" b="0" i="0">
                <a:solidFill>
                  <a:srgbClr val="0E7C86"/>
                </a:solidFill>
                <a:latin typeface="Calibri"/>
                <a:hlinkClick r:id="rId7"/>
              </a:rPr>
              <a:t>https://docs.python.org/3/reference/compound_stmts.html</a:t>
            </a:r>
          </a:p>
        </p:txBody>
      </p:sp>
      <p:sp>
        <p:nvSpPr>
          <p:cNvPr id="15" name="card"/>
          <p:cNvSpPr/>
          <p:nvPr/>
        </p:nvSpPr>
        <p:spPr>
          <a:xfrm>
            <a:off x="36576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source"/>
          <p:cNvSpPr txBox="1"/>
          <p:nvPr/>
        </p:nvSpPr>
        <p:spPr>
          <a:xfrm>
            <a:off x="43891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PEP 636: pattern matching, a tutorial</a:t>
            </a:r>
          </a:p>
          <a:p>
            <a:r>
              <a:rPr sz="900" b="0" i="0">
                <a:solidFill>
                  <a:srgbClr val="0E7C86"/>
                </a:solidFill>
                <a:latin typeface="Calibri"/>
                <a:hlinkClick r:id="rId8"/>
              </a:rPr>
              <a:t>https://peps.python.org/pep-0636/</a:t>
            </a:r>
          </a:p>
        </p:txBody>
      </p:sp>
      <p:sp>
        <p:nvSpPr>
          <p:cNvPr id="17" name="card"/>
          <p:cNvSpPr/>
          <p:nvPr/>
        </p:nvSpPr>
        <p:spPr>
          <a:xfrm>
            <a:off x="36576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source"/>
          <p:cNvSpPr txBox="1"/>
          <p:nvPr/>
        </p:nvSpPr>
        <p:spPr>
          <a:xfrm>
            <a:off x="43891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PEP 634: pattern matching, specification</a:t>
            </a:r>
          </a:p>
          <a:p>
            <a:r>
              <a:rPr sz="900" b="0" i="0">
                <a:solidFill>
                  <a:srgbClr val="0E7C86"/>
                </a:solidFill>
                <a:latin typeface="Calibri"/>
                <a:hlinkClick r:id="rId9"/>
              </a:rPr>
              <a:t>https://peps.python.org/pep-0634/</a:t>
            </a:r>
          </a:p>
        </p:txBody>
      </p:sp>
      <p:sp>
        <p:nvSpPr>
          <p:cNvPr id="19" name="card"/>
          <p:cNvSpPr/>
          <p:nvPr/>
        </p:nvSpPr>
        <p:spPr>
          <a:xfrm>
            <a:off x="466344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source"/>
          <p:cNvSpPr txBox="1"/>
          <p:nvPr/>
        </p:nvSpPr>
        <p:spPr>
          <a:xfrm>
            <a:off x="473659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PEP 572: assignment expressions (the walrus)</a:t>
            </a:r>
          </a:p>
          <a:p>
            <a:r>
              <a:rPr sz="900" b="0" i="0">
                <a:solidFill>
                  <a:srgbClr val="0E7C86"/>
                </a:solidFill>
                <a:latin typeface="Calibri"/>
                <a:hlinkClick r:id="rId10"/>
              </a:rPr>
              <a:t>https://peps.python.org/pep-0572/</a:t>
            </a:r>
          </a:p>
        </p:txBody>
      </p:sp>
      <p:sp>
        <p:nvSpPr>
          <p:cNvPr id="21" name="card"/>
          <p:cNvSpPr/>
          <p:nvPr/>
        </p:nvSpPr>
        <p:spPr>
          <a:xfrm>
            <a:off x="466344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source"/>
          <p:cNvSpPr txBox="1"/>
          <p:nvPr/>
        </p:nvSpPr>
        <p:spPr>
          <a:xfrm>
            <a:off x="473659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PEP 765: leaving a finally block</a:t>
            </a:r>
          </a:p>
          <a:p>
            <a:r>
              <a:rPr sz="900" b="0" i="0">
                <a:solidFill>
                  <a:srgbClr val="0E7C86"/>
                </a:solidFill>
                <a:latin typeface="Calibri"/>
                <a:hlinkClick r:id="rId11"/>
              </a:rPr>
              <a:t>https://peps.python.org/pep-0765/</a:t>
            </a:r>
          </a:p>
        </p:txBody>
      </p:sp>
      <p:sp>
        <p:nvSpPr>
          <p:cNvPr id="23" name="card"/>
          <p:cNvSpPr/>
          <p:nvPr/>
        </p:nvSpPr>
        <p:spPr>
          <a:xfrm>
            <a:off x="466344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source"/>
          <p:cNvSpPr txBox="1"/>
          <p:nvPr/>
        </p:nvSpPr>
        <p:spPr>
          <a:xfrm>
            <a:off x="473659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PEP 8: programming recommendations</a:t>
            </a:r>
          </a:p>
          <a:p>
            <a:r>
              <a:rPr sz="900" b="0" i="0">
                <a:solidFill>
                  <a:srgbClr val="0E7C86"/>
                </a:solidFill>
                <a:latin typeface="Calibri"/>
                <a:hlinkClick r:id="rId12"/>
              </a:rPr>
              <a:t>https://peps.python.org/pep-0008/</a:t>
            </a:r>
          </a:p>
        </p:txBody>
      </p:sp>
      <p:sp>
        <p:nvSpPr>
          <p:cNvPr id="25" name="card"/>
          <p:cNvSpPr/>
          <p:nvPr/>
        </p:nvSpPr>
        <p:spPr>
          <a:xfrm>
            <a:off x="466344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source"/>
          <p:cNvSpPr txBox="1"/>
          <p:nvPr/>
        </p:nvSpPr>
        <p:spPr>
          <a:xfrm>
            <a:off x="473659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Design FAQ: why indentation?</a:t>
            </a:r>
          </a:p>
          <a:p>
            <a:r>
              <a:rPr sz="900" b="0" i="0">
                <a:solidFill>
                  <a:srgbClr val="0E7C86"/>
                </a:solidFill>
                <a:latin typeface="Calibri"/>
                <a:hlinkClick r:id="rId13"/>
              </a:rPr>
              <a:t>https://docs.python.org/3/faq/design.html</a:t>
            </a:r>
          </a:p>
        </p:txBody>
      </p:sp>
      <p:sp>
        <p:nvSpPr>
          <p:cNvPr id="27" name="card"/>
          <p:cNvSpPr/>
          <p:nvPr/>
        </p:nvSpPr>
        <p:spPr>
          <a:xfrm>
            <a:off x="466344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source"/>
          <p:cNvSpPr txBox="1"/>
          <p:nvPr/>
        </p:nvSpPr>
        <p:spPr>
          <a:xfrm>
            <a:off x="473659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George Boole: The Laws of Thought (full text)</a:t>
            </a:r>
          </a:p>
          <a:p>
            <a:r>
              <a:rPr sz="900" b="0" i="0">
                <a:solidFill>
                  <a:srgbClr val="0E7C86"/>
                </a:solidFill>
                <a:latin typeface="Calibri"/>
                <a:hlinkClick r:id="rId14"/>
              </a:rPr>
              <a:t>https://www.gutenberg.org/ebooks/15114</a:t>
            </a:r>
          </a:p>
        </p:txBody>
      </p:sp>
      <p:sp>
        <p:nvSpPr>
          <p:cNvPr id="29" name="card"/>
          <p:cNvSpPr/>
          <p:nvPr/>
        </p:nvSpPr>
        <p:spPr>
          <a:xfrm>
            <a:off x="466344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source"/>
          <p:cNvSpPr txBox="1"/>
          <p:nvPr/>
        </p:nvSpPr>
        <p:spPr>
          <a:xfrm>
            <a:off x="473659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Real Python: conditional statements</a:t>
            </a:r>
          </a:p>
          <a:p>
            <a:r>
              <a:rPr sz="900" b="0" i="0">
                <a:solidFill>
                  <a:srgbClr val="0E7C86"/>
                </a:solidFill>
                <a:latin typeface="Calibri"/>
                <a:hlinkClick r:id="rId15"/>
              </a:rPr>
              <a:t>https://realpython.com/python-conditional-statements/</a:t>
            </a:r>
          </a:p>
        </p:txBody>
      </p:sp>
      <p:sp>
        <p:nvSpPr>
          <p:cNvPr id="31" name="card"/>
          <p:cNvSpPr/>
          <p:nvPr/>
        </p:nvSpPr>
        <p:spPr>
          <a:xfrm>
            <a:off x="466344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source"/>
          <p:cNvSpPr txBox="1"/>
          <p:nvPr/>
        </p:nvSpPr>
        <p:spPr>
          <a:xfrm>
            <a:off x="473659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Video: Conditionals and Booleans (Corey Schafer)</a:t>
            </a:r>
          </a:p>
          <a:p>
            <a:r>
              <a:rPr sz="900" b="0" i="0">
                <a:solidFill>
                  <a:srgbClr val="0E7C86"/>
                </a:solidFill>
                <a:latin typeface="Calibri"/>
                <a:hlinkClick r:id="rId16"/>
              </a:rPr>
              <a:t>https://www.youtube.com/watch?v=DZwmZ8Usvnk</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Pick one link and read it before the next class.</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42 / 42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2: Flow Control (lecture deck 4.0.0)</dc:title>
  <dc:subject/>
  <dc:creator>Yusuf Altunel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