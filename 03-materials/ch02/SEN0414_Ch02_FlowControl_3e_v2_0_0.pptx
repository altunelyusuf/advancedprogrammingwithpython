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session by saying what flow control is for: a program that ran every line in order, every time, could never react to its input. This is chapter 2 of Automate the Boring Stuff with Python, 3rd edition (Sweigart, 2025), rebuilt for an advanced course, so the book's own material is here in full and beside it are the parts of today's Python the book does not reach. Every result in this deck was produced by running the code under Python 3.14.4, and every claim beyond the book comes from the chapter's research record, so anything on a slide can be checked rather than taken on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chapter objectives and say that the session is built to reach them in that order. Then be straight about the last card: the course's approved learning outcomes are advanced ones, and the chapter objectives for flow control are not claimed to serve any of them - that is what the chapter's own objectives file records, and inventing a link would be worse than admitting there is none. Say instead what is true: nothing later in the course can be written without these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map up long enough for the class to copy it: it is the structure of the session and of the interactive page they will use afterwards. Say that the first four branches are the book's own chapter, roughly in its order, and that the last three are what an advanced course adds - the match statement and the style guide, the two worked programs read critically, and the error reports they will spend the term reading. Promise to show the map again at each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saying that a program which only calculates and prints follows the same path every time it runs. Real programs choose, and a choice needs a question with exactly two possible answers. That answer is the Boolean value, and this first branch is about where such values come from and which other values Python is willing to read as true or false. Everything else in the chapter rests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card and say that two of the four lines are not Booleans at all, yet Python has an answer for each of them. That is the whole group in one picture: the strict case first, then the rule that widens it to every value. Tell the class that the four sections take them from the narrow to the wide, and that the last two - None and the empty collections - are the values whose truth a program has to read most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down the card and stop at the third line. Because bool is a subtype of int, True behaves like 1 in arithmetic, so True + True really is 2 (Python Software Foundation, 2026); say that this is legal, rarely what a reader expects, and best avoided. The last line is the one to make them repeat: quotation marks change the value, not just its appearance, and a string is never equal to a Boolean.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students ask all term: why does if name: work. Read the exceptions as a short list they can memorise, and then use the card to show that the obvious-looking cases are the traps. The third line is the one that catches people: a string that reads like a falsehood is still a non-empty string. Mention that programmers can decide how their own objects are read, and that this comes much later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middle two lines are the point of the slide: false and equal to False are different claims, and students who assume otherwise write tests that never fire. The fourth line shows the everyday use, supplying a default when a value is missing, which is the idiom the operand-result slide will explain properly. Say that print returns None, which the corpus records as an executed check, so a variable set from a print call holds None rather than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the full treatment of lists and dictionaries belongs to later chapters, and all the class needs today is the word and the emptiness rule. The third line is a small surprise worth naming, because empty braces make a dictionary and not a set, which is why the empty set needs a function call of its own. The last line is the trap: a list holding an empty list is not itself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a program cannot decide anything without information about its data, and that comparisons are how data becomes the true-or-false answer a decision needs. Mention the count straight away - six in the book, eight in the documentation - because the two extra ones, is and is not, ask a different question and are the source of a whole family of quiet bugs. The branch splits into asking whether two values are the same, and asking which comes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three questions before you show any of them: is this value equal to that one, store this value under that name, and is this the very same object. Say that the symbols are nearly identical and the questions are not, which is why the group takes three slides for what looks like one idea. Warn the class now that the last of the three, is, is the one people reach for wrongly.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second line with the first: a number equals a number of another numeric type, but a number never equals a string, and Python says so quietly rather than raising an error. That quietness is why a program that compares input() with a number simply never matches. The fourth line is chapter 1 returning: comparing calculated floats for exact equality is the single most common way a correct-looking condition never becomes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card shows both halves: the comparison produces a value the shell prints, and the assignment produces nothing. Read the guard out of the watch-out line and say that Python only catches the slip where an assignment could not be valid. Then make the uncomfortable point: writing == where = was meant is a legal line that does no work, so only careful reading finds it, and no error message ever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printed answers in order and say what each one means: a and b hold equal lists, they are not the same list, and c is simply a second name for a. Draw it on the board as two boxes and three arrows if the room looks unconvinced. Then give the rule they should leave with: use == to ask whether values are equal, and keep is for None, as the style guide advises (Van Rossum et al., 2001).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all comparison operators have the same priority and that it is lower than any arithmetic operator (Python Software Foundation, 2026), so in 2 + 2 == 4 the addition happens first. The three lines on the card are the three slides of this group in miniature: a plain threshold, a chain that no other common language allows, and text compared by a rule that is not the alphabet.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Lines two and three are the pair to dwell on: a value is not smaller than itself, but it is smaller than or equal to itself, and that difference is one character. Give the class the diagnostic rule from the watch-out line: when a condition seems to fail for exactly one value, check whether the operator should include its boundary. The last line is the first appearance of this chapter's TypeError, which has a slide of its own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line is the one to stop on: the division by zero is never carried out, because the first comparison has already settled the answer. That is short-circuit evaluation, two slides early, and showing it here makes the later slide easy. The last line is the trap in the watch-out: a mixed chain is legal, and reading it as a statement about its two ends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two ord calls to make the rule concrete rather than magical: the comparison of two words is a comparison of two numbers, taken a character at a time. Then show the last line and ask the class where a program would meet it - any time a user types a number and the program forgets to convert it. Mention that accented characters can be written in more than one way, so two strings that look identical may compare as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a single comparison answers a single question, and that real decisions are rarely so simple: a ticket is free for the very young or the very old, and a login succeeds when the name matches and the password matches. Then set up the branch's second half honestly: the textbook says these operators produce True or False, and the documentation adds that with other kinds of value they return one of their operands instead. Both are true, and the difference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lines as the three operators in use: and joining two comparisons, or accepting an alternative, and not reversing - four times over, which the textbook includes precisely to say there is never a real reason to do it (Sweigart, 2025). Tell the class that the tables that follow are complete definitions, not examples, so once they know the table there is nothing left to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four lines are the whole truth table, produced by running it rather than copied from the book, so ask the class to predict all four before you reveal them. The fifth line is the one that teaches: one false half is enough. Then read the watch-out, because writing the second comparison without its left operand is the single most common syntax error students make in a compound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line is the most valuable thing on this slide, so spend time on it: the expression does not evaluate to True or False at all, it evaluates to the string 'tb', and an if statement reads that as true. Say that the bug survives every test in which the unit happens to be right. Each alternative needs its own complete comparison, and that is the rule to write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Lines three and four show the rule that matters beyond the table: not applied to a string gives a Boolean, because not always builds a new value even when its operand is not one. Line five settles the precedence question by running it. Mention the book's four-fold negation as a joke with a point - it is legal, it is pointless, and the book says so itself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minus sign, because the class already knows it: subtracting in the first line, negating in the second, and doing both in the third. Then make the connection that justifies the slide: a unary operator takes everything that binds more tightly than itself, which is why not 2 + 2 == 5 reverses the whole comparison and not just the number. Parentheses cost nothing and show the reader which use is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the three tables on the slide were not copied: each cell was produced by evaluating the expression it stands for, under the course interpreter. The practice questions at the end of the book chapter ask the reader to write these tables from memory, and that is a reasonable thing to ask, so set it as a two-minute exercise before the class looks at the slide. Close by reading the watch-out, which is the bridge to the next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group is where the chapter stops being a list of operators and becomes a set of rules a reader can apply. The card is a preview of all four slides: the first three lines never divide by zero, and the fourth does. Ask the class why, and let them work out that the first operand is what decides whether the second one is ever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printed line is the guard pattern: with x set to zero, the division is never carried out and the condition is simply false. The next two lines make the consequence visible, because one print runs and the other does not. Say plainly that this is both the reason the pattern is safe and the reason it is dangerous: a programmer who hides work in the right-hand operand will find that the work sometimes does not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every line as the question of which operand settled the answer: the one that decided is the one returned. The third line is the idiom worth learning by heart, a default for an empty value in one operator. The last line is the one that unsettles people, because a chain of false-ish values ends in None; say that this is consistent with the rule and not an exception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second line aloud in the order Python uses: the two comparisons first, then the and. Say that parentheses are not required here but make a long condition readable, and that a condition too long to read aloud should be split into named parts. The watch-out is the same shape as the or-operator bug from two slides ago; point back to it deliberately, because recognising the shape is the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first two lines together: the same words in the same order, and a parenthesis changes the answer. That is the cheapest possible demonstration that precedence is real. The third and fourth lines do the same job for not. Finish with the practical advice: a parenthesis costs nothing and saves a reader from reconstructing the rule, so write it when the line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the book's own framing: you almost never want your programs to start from the first line of code and simply execute every line, straight to the end (Sweigart, 2025). Flow control is what turns a list of instructions into a program that responds to its data. Warn the class about the central mistake of the branch before it happens: confusing a line that is written with a line that is executed. Reading a program means following the path its data 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program as the simplest possible picture of a path: the condition is true, so the indented line runs, and then the line after the block runs as well. Ask what the output would be for an age of twenty, and let the class answer before you change anything. The book's image is worth repeating - put your finger on each line as it is executed, and the finger is the program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card makes the boundary visible: the assignment shows nothing, and the next two lines show values. Say that the if, elif and else of this chapter, and the while and for of the next, are all compound statements - statements that contain groups of other statements and control how those run (Python Software Foundation, 2026). That one sentence gives the class the shape of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program is the proof of the watch-out line: it contains an expression that would certainly fail, adding a number to a string, and it prints its last line perfectly happily because that expression is never reached. Ask the class to explain the output before you do. Then say what changes the picture: a missing colon or a bad indentation inside the same block would stop the whole program before anything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drawn chart with a finger: start, the diamond, the two arrows, and the single end. Say that every if statement in the chapter has this shape, and that an elif chain is the same picture with more diamonds in a row. The watch-out is the reason to draw one at all - a branch that can never be taken is visible in a picture long before it is visible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program as four parts: the keyword, the condition, the colon and the block. The output is the whole lesson of this group - the condition is false, so neither indented line runs, and only the line outside the block does. Keep this program in view, because the next slide but one runs the same program with one line outdented and gets a different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card deliberately mixes a comparison with two plain values, because a condition does not have to be a comparison: truthiness applies here exactly as it did in the first branch, which is why if name: is a legal and idiomatic line. Read the watch-out as two separate warnings, one from the language and one from the style guide, and say which is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two levels in the program: the outer block belongs to the first if, and the inner block belongs to the second, which sits inside it. Say that Python marks blocks by indentation, so the layout a human reads and the structure the interpreter reads are the same thing - a program cannot look as if it did one thing while doing another, which is not true of every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program against the one on the group slide, which differs from it by a single level of indentation on one line. The condition is false in both, and one prints two lines while the other prints one. Say that this is the clearest evidence you can offer that indentation is syntax: nothing else in the two files differs, and the behaviour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drawing to name the parts out loud: keyword, condition, colon on the header line, and the indented suite underneath. Say that the headers of one compound statement all stand at the same indentation level, which is why an elif is never indented relative to its if. Mention that the suite may legally be written on the header line and that the style guide says never to do that for a multi-clause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two lines of the card introduce the soft keyword, which has a slide of its own in the next branch: match is not a keyword, and yet it is a soft keyword, and the standard library can tell you which is which. Say that this is how a language adds a statement without breaking every program that used the word as a name - a real engineering problem with a real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program and ask the class whether its output is right. It is not what its author wanted: the test for an age above 100 comes before the test for an age above 2000, so a person aged 3000 is caught by the earlier clause and the later one can never be reached. The textbook calls this a bug introduced by rearranging the clauses (Sweigart, 2025). Keep the program in mind; the correct order is on the next slide but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program twice if you can, once with the name it has and once with 'Alice', so the class sees both branches. Then make the quiet point: when the condition is false, Python says nothing at all. A student debugging a silent program should ask first whether a condition they expected to be true was false, rather than looking for an error that was never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correct ordering of the program the class has already seen go wrong. Point at the two clauses that changed places and say that nothing else differs. The rule to leave them with is in the watch-out line, and it is worth writing on the board: in a chain, the more specific test comes first, because the first true condition wins and the rest are never tried.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what the else buys: with it, the textbook can guarantee that at least one, and only one, of the clauses is executed (Sweigart, 2025). Without it a chain can end having done nothing, and the program carries on as though a decision had been made. That silent nothing is the cause of the bug the worked-program branch ends on, so flag it now and promise the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program runs the same two tests twice, first as two separate if statements and then as one chain, with the same age. Two separate statements print both letters; the chain prints only the first. Ask the class which of the two the author probably meant, and then say that the question has no general answer - which is exactly why the choice has to be made deliberately rather than by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smallest useful case of the assignment expression: the length is computed once, tested in the condition, and then used inside the block without being computed again. Say that both forms on this group's slides are used sparingly, because a long expression is harder to read than the statements it replaces, and that knowing when not to use a feature is part of knowing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class the test for when to use it: both branches are simple values, and the choice is small. A four-line if statement to pick between two words is out of proportion; a nested conditional expression is worse than the statement it replaced. The third line on the card is worth naming - the condition is evaluated first, so an unsafe alternative is never reached.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lines show both halves at once: the comparison is answered and the name survives the expression. Say that the documentation allows the parentheses to be omitted in if and while headers but requires them in most other places, which is why the program on the group slide reads the way it does. Then give the rule: use it where the value is needed immediately, and nowhere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why this branch exists: the textbook teaches decisions with if, elif and else, which is complete enough for its own chapter, but Python 3.10 added a statement for a particular shape of problem and the official style guide has firm views on how conditions should be written. A student who knows only the book writes code that works and looks dated. Be careful to say that a match statement is not a better if statement; it is a different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surprise rather than the syntax: this program matches a command against what looks like a comparison with a stored constant, and it succeeds for the wrong command and overwrites the constant. A bare name in a case is a capture, not a comparison. Say that this is the one thing about the statement that every newcomer gets wrong, and that the case-pattern slide explains the rule and the repair.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program as the shape rather than the detail: the value is named once at the top, and the alternatives line up under it. Ask the class to write the same thing as an elif chain in their heads and notice how often the variable name has to be repeated. Then say what the statement is for, which the tutorial states directly: comparing one value with several constants, or checking specific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status codes joined by vertical bars are the useful half of this slide: related cases share a block without repeating the value. The dangerous half is on the group slide, and this is the moment to point back at it. Give the repair from the watch-out line plainly, because a reader who does not know it will write a case that matches everything and silently destroys a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program has no wildcard, and its command matches nothing, so the statement does nothing at all and the program carries on. Ask the class whether that is what they would want; usually it is not. Then make the comparison explicit: the wildcard is to a match statement what else is to a chain, and leaving it out has the same consequence - a case the program never handles.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pattern does two jobs at once - it checks that the command has exactly two parts and it names the second one - which an if statement would need two lines to do. Say that a star subpattern collects the remaining items, and leave it there, because lists have their own chapter. The watch-out is a deliberate design decision, not an oversight; matching a word letter by letter would almost never be wanted.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matches two pairs against the same two cases and takes a different branch for each, which is the clearest way to show that the guard is doing the work. Point out the ordering the documentation states: capture happens before the guard is evaluated, which is why the guard can refer to x and y at all. Mention that an exception raised in a guard propagates like any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two-line program is the whole argument for soft keywords: both words are used as ordinary variables and the program runs. Then recall the keyword slide, where the library module could already tell a keyword from a soft keyword. Say that this is a real engineering answer to a real problem - adding a statement to a language that millions of lines already depend on - and that few languages manage it this gracefully.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two columns side by side and ask the class what the left-hand forms have in common: each says what it means with nothing added. Then say what the right-hand forms cost - the first tests something different from what its author meant, the second reads backwards, the third asks for a number when it wanted a yes or no, and the fourth is the one choice the language itself may refuse to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prints one line where a reader might expect two. The variable is a non-empty string, so comparing it with True is false while testing it directly is true, and the two conditions therefore disagree. Say that the textbook's own Opposite Day program uses the longer form, that the program is correct, and that a reviewer following PEP 8 would still shorten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prints True and False for the same variable, which is the watch-out made visible: the value is not None, and it is also not true. Ask the class which of the two questions their program is really asking. That is the whole decision, and getting it wrong produces a program that treats an empty but perfectly valid answer as a missing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lines on the card show the two forms agreeing, which is the point: they agree, so write the one that reads better. Then give the case where they do not help, from the watch-out: a function that returns either an empty list or None needs the identity test as well, because truth alone cannot separate them. That combination is common in real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because it is a rule rather than an idea. Say that four spaces are wide enough to show the structure at a glance and that programmers who follow the same rule find each other's code familiar. The one item that is not merely convention is the last: mixing tabs and spaces is the choice the language itself may refuse to read, and a TabError is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why complete programs come last: isolated examples show one idea at a time, whereas a program shows how the ideas depend on each other - a comparison feeds a condition, the condition selects a block, the block assigns a variable, and a later line uses it. Be as frank as the textbook is about the quality of these programs: it says itself that one of them could be replaced by a single print and that the other fails for an invalid unit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card is the case-insensitive test taken apart: the first line accepts the lowercase spelling, the second rejects a mixed spelling the author did not think of, and the third is the shortened form that is true for every unit. Say that the first two patterns are things to do and the last two belong together as a fault and its remedy, which is how the four slides are ordered.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three if statements in order for the value the program starts with: the first sets the variable, the second reverses it, and the third chooses the message. Then ask the class to trace it again with the first line changed, and let them discover that the answer does not change. A sequence of decisions can cancel itself out, and the way to find that is to follow every path - which is what a flowchart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program from the top: the unit decides the factor, the factor multiplies the advertised capacity, and the result is rounded and turned into text so that it can be joined to the message. Every number in the output came from running it. Then set up the next two slides by asking what this program does if the user types KB - and let the silence do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message on the slide out loud and then ask where the fault actually is. The report names the line that multiplies, and the cause is eight lines earlier, in a chain with no else clause. Say that this distance between symptom and cause is normal and is the reason tracebacks are read carefully rather than glanced at - and that the chapter on debugging later in the course is about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program as the previous slide with one clause added, and the difference is the whole lesson: instead of a report naming a variable the user has never heard of, the user is told what to type. Say that the guard also documents the program - it states in code which inputs the author was prepared for - and that this is why the else clause is the natural place for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reading the report correctly is the first skill of debugging. The tutorial notes that the last line of an error message indicates what happened and that the type of the exception is printed as part of it (Python Software Foundation, 2026) - a learner who reads that one line, instead of being frightened by the length of the report, finds the cause much faster. Warn them that the wording of messages changes between releases, so the kind of error is more reliable than its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lines on the card are three different syntax errors from three different mistakes, and the messages are specific enough to act on. Say that the parenthesis after each message names where the parser was when it gave up, which is not always where the repair belongs. Then give the class the order to read a report in: last line first for the kind, then the message, then the lines above for the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program is correct in its text and prints its first line before it stops, which is the proof that the error belongs to the run and not to the parse. Compare it with the skipped-line program from the fourth branch, where an equally faulty line never ran and nothing happened. Say that the third line here is never reached, and ask what that means for testing a program whose faulty branch is rarely taken.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lines on the card are three real mistakes a student will make this term: an assignment to a keyword, a negation written inside a comparison, and an assignment expression used as a statement. Say that the parser reports where it noticed the problem, which the tutorial warns is not always where the repair belongs, and that the wording of these messages has improved between Python 3.12 and 3.14.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line is the textbook's own example, the lowercase spelling of True, and the printed report in this release adds a suggestion after the message - though the message itself, which is what the card shows, is unchanged. The third line is the capacity program's fault reduced to one word. Say that the message is the most specific one Python gives, because it quotes the missing name back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first and the last line of the card next to each other, because together they are the whole rule: ordering unrelated types is an error, and asking whether they are equal is not. That asymmetry is deliberate and it catches people. Say that a TypeError usually means a conversion is missing, and that a value typed in by a user is a string even when it looks like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operations, one message in this release - and the watch-out says that the same three gave three different messages two releases ago. That is the clearest argument in the chapter for reading the kind of error rather than memorising its message. Then connect back to short-circuit evaluation: a guard on the divisor is the standard way to make sure this error is never reached.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report on the slide from the bottom up, which is the order that works: the kind of error, then its message, then the line that raised it, then the file and the line number. Point at the caret marks, which name the exact expression. Say that the words most recent call last are a promise about the order of the lines above, and that in a longer program the final entry is the one nearest the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a spoken summary rather than reading it out: take each branch in turn and ask the class for the sentence before you reveal it. A branch that produces silence is the branch to revisit at the start of the next session. Tell students that these seven sentences are the minimum they should be able to reproduce without notes, and that the interactive page for chapter 2 asks them the same things in question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question on this slide is taken, word for word, from the chapter's own question bank in 08-tooling/ch02-page/question_bank_v1_1_0.json, which is also what the interactive page asks. Give the class a minute on each, take an answer from the room before you give one, and keep a shell open so that an answer can be settled by running it rather than by authority. The label on the right names the concept the question belongs to, so an unsure room tells you which slide to go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question on this slide is taken, word for word, from the chapter's own question bank in 08-tooling/ch02-page/question_bank_v1_1_0.json, which is also what the interactive page asks. Give the class a minute on each, take an answer from the room before you give one, and keep a shell open so that an answer can be settled by running it rather than by authority. The label on the right names the concept the question belongs to, so an unsure room tells you which slide to go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question on this slide is taken, word for word, from the chapter's own question bank in 08-tooling/ch02-page/question_bank_v1_1_0.json, which is also what the interactive page asks. Give the class a minute on each, take an answer from the room before you give one, and keep a shell open so that an answer can be settled by running it rather than by authority. The label on the right names the concept the question belongs to, so an unsure room tells you which slide to go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question on this slide is taken, word for word, from the chapter's own question bank in 08-tooling/ch02-page/question_bank_v1_1_0.json, which is also what the interactive page asks. Give the class a minute on each, take an answer from the room before you give one, and keep a shell open so that an answer can be settled by running it rather than by authority. The label on the right names the concept the question belongs to, so an unsure room tells you which slide to go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slide out. Say only that the chapter has one primary source, the book, and 21 secondary sources, every one of which was fetched and recorded as verified in the chapter's research record before anything on these slides was written. Tell students where the record lives, because the point of showing it is that they can check a claim themselves, and invite them to do exactly that when something on a slide surprises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the homework precisely: the interactive page for chapter 2, the three truth tables written from memory, which is the book's own practice question, and one error report they could not read. That last one is the most useful thing they can bring, because an error report nobody could read is the best possible opening for the chapter on loops, where the error messages get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Shape 0"/>
          <p:cNvSpPr/>
          <p:nvPr/>
        </p:nvSpPr>
        <p:spPr>
          <a:xfrm>
            <a:off x="548640" y="960120"/>
            <a:ext cx="1097280" cy="731520"/>
          </a:xfrm>
          <a:prstGeom prst="roundRect">
            <a:avLst>
              <a:gd name="adj" fmla="val 15000"/>
            </a:avLst>
          </a:prstGeom>
          <a:solidFill>
            <a:srgbClr val="FFD43B"/>
          </a:solidFill>
          <a:ln w="12700">
            <a:solidFill>
              <a:srgbClr val="FFD43B"/>
            </a:solidFill>
            <a:prstDash val="solid"/>
          </a:ln>
        </p:spPr>
      </p:sp>
      <p:sp>
        <p:nvSpPr>
          <p:cNvPr id="3" name="Text 1"/>
          <p:cNvSpPr txBox="1"/>
          <p:nvPr/>
        </p:nvSpPr>
        <p:spPr>
          <a:xfrm>
            <a:off x="548640" y="96012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Text 2"/>
          <p:cNvSpPr txBox="1"/>
          <p:nvPr/>
        </p:nvSpPr>
        <p:spPr>
          <a:xfrm>
            <a:off x="548640" y="187452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Chapter 2: Flow Control</a:t>
            </a:r>
            <a:endParaRPr lang="en-US" sz="4000" dirty="0"/>
          </a:p>
        </p:txBody>
      </p:sp>
      <p:sp>
        <p:nvSpPr>
          <p:cNvPr id="5" name="Text 3"/>
          <p:cNvSpPr txBox="1"/>
          <p:nvPr/>
        </p:nvSpPr>
        <p:spPr>
          <a:xfrm>
            <a:off x="548640" y="2651760"/>
            <a:ext cx="8046720" cy="640080"/>
          </a:xfrm>
          <a:prstGeom prst="rect">
            <a:avLst/>
          </a:prstGeom>
          <a:noFill/>
          <a:ln/>
        </p:spPr>
        <p:txBody>
          <a:bodyPr wrap="square" lIns="0" tIns="0" rIns="0" bIns="0" rtlCol="0" anchor="t"/>
          <a:lstStyle/>
          <a:p>
            <a:pPr indent="0" marL="0">
              <a:buNone/>
            </a:pPr>
            <a:r>
              <a:rPr lang="en-US" sz="1600" i="1" dirty="0">
                <a:solidFill>
                  <a:srgbClr val="FFD43B"/>
                </a:solidFill>
                <a:latin typeface="Calibri" pitchFamily="34" charset="0"/>
                <a:ea typeface="Calibri" pitchFamily="34" charset="-122"/>
                <a:cs typeface="Calibri" pitchFamily="34" charset="-120"/>
              </a:rPr>
              <a:t>Booleans and truthiness, comparison and Boolean operators, if / elif / else, the match statement, and the errors they raise</a:t>
            </a:r>
            <a:endParaRPr lang="en-US" sz="1600" dirty="0"/>
          </a:p>
        </p:txBody>
      </p:sp>
      <p:sp>
        <p:nvSpPr>
          <p:cNvPr id="6" name="Text 4"/>
          <p:cNvSpPr txBox="1"/>
          <p:nvPr/>
        </p:nvSpPr>
        <p:spPr>
          <a:xfrm>
            <a:off x="548640" y="3977640"/>
            <a:ext cx="8046720" cy="310896"/>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
        <p:nvSpPr>
          <p:cNvPr id="7" name="Text 5"/>
          <p:cNvSpPr txBox="1"/>
          <p:nvPr/>
        </p:nvSpPr>
        <p:spPr>
          <a:xfrm>
            <a:off x="548640" y="4315968"/>
            <a:ext cx="8046720" cy="310896"/>
          </a:xfrm>
          <a:prstGeom prst="rect">
            <a:avLst/>
          </a:prstGeom>
          <a:noFill/>
          <a:ln/>
        </p:spPr>
        <p:txBody>
          <a:bodyPr wrap="square" lIns="0" tIns="0" rIns="0" bIns="0" rtlCol="0" anchor="ctr"/>
          <a:lstStyle/>
          <a:p>
            <a:pPr indent="0" marL="0">
              <a:buNone/>
            </a:pPr>
            <a:r>
              <a:rPr lang="en-US" sz="1100" i="1" dirty="0">
                <a:solidFill>
                  <a:srgbClr val="8FA3B8"/>
                </a:solidFill>
                <a:latin typeface="Calibri" pitchFamily="34" charset="0"/>
                <a:ea typeface="Calibri" pitchFamily="34" charset="-122"/>
                <a:cs typeface="Calibri" pitchFamily="34" charset="-120"/>
              </a:rPr>
              <a:t>Automate the Boring Stuff with Python, 3rd edition, chapter 2 (Sweigart, 2025), renewed for an advanced course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What this session covers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chapter's four objectives, and where they sit in the course</a:t>
            </a:r>
            <a:endParaRPr lang="en-US" sz="1300" dirty="0"/>
          </a:p>
        </p:txBody>
      </p:sp>
      <p:sp>
        <p:nvSpPr>
          <p:cNvPr id="6" name="Shape 4"/>
          <p:cNvSpPr/>
          <p:nvPr/>
        </p:nvSpPr>
        <p:spPr>
          <a:xfrm>
            <a:off x="411480" y="1188720"/>
            <a:ext cx="731520" cy="493776"/>
          </a:xfrm>
          <a:prstGeom prst="roundRect">
            <a:avLst>
              <a:gd name="adj" fmla="val 12963"/>
            </a:avLst>
          </a:prstGeom>
          <a:solidFill>
            <a:srgbClr val="306998"/>
          </a:solidFill>
          <a:ln w="12700">
            <a:solidFill>
              <a:srgbClr val="306998"/>
            </a:solidFill>
            <a:prstDash val="solid"/>
          </a:ln>
        </p:spPr>
      </p:sp>
      <p:sp>
        <p:nvSpPr>
          <p:cNvPr id="7" name="Text 5"/>
          <p:cNvSpPr txBox="1"/>
          <p:nvPr/>
        </p:nvSpPr>
        <p:spPr>
          <a:xfrm>
            <a:off x="411480" y="1188720"/>
            <a:ext cx="731520"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CO-1</a:t>
            </a:r>
            <a:endParaRPr lang="en-US" sz="1300" dirty="0"/>
          </a:p>
        </p:txBody>
      </p:sp>
      <p:sp>
        <p:nvSpPr>
          <p:cNvPr id="8" name="Text 6"/>
          <p:cNvSpPr txBox="1"/>
          <p:nvPr/>
        </p:nvSpPr>
        <p:spPr>
          <a:xfrm>
            <a:off x="1261872" y="1188720"/>
            <a:ext cx="6309360" cy="49377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Predict the truth value of comparisons and Boolean expressions, including the truthiness of non-Boolean values</a:t>
            </a:r>
            <a:endParaRPr lang="en-US" sz="1250" dirty="0"/>
          </a:p>
        </p:txBody>
      </p:sp>
      <p:sp>
        <p:nvSpPr>
          <p:cNvPr id="9" name="Shape 7"/>
          <p:cNvSpPr/>
          <p:nvPr/>
        </p:nvSpPr>
        <p:spPr>
          <a:xfrm>
            <a:off x="7726680" y="1271016"/>
            <a:ext cx="1005840" cy="329184"/>
          </a:xfrm>
          <a:prstGeom prst="roundRect">
            <a:avLst>
              <a:gd name="adj" fmla="val 16667"/>
            </a:avLst>
          </a:prstGeom>
          <a:solidFill>
            <a:srgbClr val="F1F4F8"/>
          </a:solidFill>
          <a:ln w="12700">
            <a:solidFill>
              <a:srgbClr val="F1F4F8"/>
            </a:solidFill>
            <a:prstDash val="solid"/>
          </a:ln>
        </p:spPr>
      </p:sp>
      <p:sp>
        <p:nvSpPr>
          <p:cNvPr id="10" name="Text 8"/>
          <p:cNvSpPr txBox="1"/>
          <p:nvPr/>
        </p:nvSpPr>
        <p:spPr>
          <a:xfrm>
            <a:off x="7726680" y="1271016"/>
            <a:ext cx="1005840" cy="329184"/>
          </a:xfrm>
          <a:prstGeom prst="rect">
            <a:avLst/>
          </a:prstGeom>
          <a:noFill/>
          <a:ln/>
        </p:spPr>
        <p:txBody>
          <a:bodyPr wrap="square" lIns="0" tIns="0" rIns="0" bIns="0" rtlCol="0" anchor="ctr"/>
          <a:lstStyle/>
          <a:p>
            <a:pPr algn="ctr" indent="0" marL="0">
              <a:buNone/>
            </a:pPr>
            <a:r>
              <a:rPr lang="en-US" sz="1100" i="1" dirty="0">
                <a:solidFill>
                  <a:srgbClr val="5B6B7B"/>
                </a:solidFill>
                <a:latin typeface="Calibri" pitchFamily="34" charset="0"/>
                <a:ea typeface="Calibri" pitchFamily="34" charset="-122"/>
                <a:cs typeface="Calibri" pitchFamily="34" charset="-120"/>
              </a:rPr>
              <a:t>Apply</a:t>
            </a:r>
            <a:endParaRPr lang="en-US" sz="1100" dirty="0"/>
          </a:p>
        </p:txBody>
      </p:sp>
      <p:sp>
        <p:nvSpPr>
          <p:cNvPr id="11" name="Shape 9"/>
          <p:cNvSpPr/>
          <p:nvPr/>
        </p:nvSpPr>
        <p:spPr>
          <a:xfrm>
            <a:off x="411480" y="1792224"/>
            <a:ext cx="731520" cy="493776"/>
          </a:xfrm>
          <a:prstGeom prst="roundRect">
            <a:avLst>
              <a:gd name="adj" fmla="val 12963"/>
            </a:avLst>
          </a:prstGeom>
          <a:solidFill>
            <a:srgbClr val="306998"/>
          </a:solidFill>
          <a:ln w="12700">
            <a:solidFill>
              <a:srgbClr val="306998"/>
            </a:solidFill>
            <a:prstDash val="solid"/>
          </a:ln>
        </p:spPr>
      </p:sp>
      <p:sp>
        <p:nvSpPr>
          <p:cNvPr id="12" name="Text 10"/>
          <p:cNvSpPr txBox="1"/>
          <p:nvPr/>
        </p:nvSpPr>
        <p:spPr>
          <a:xfrm>
            <a:off x="411480" y="1792224"/>
            <a:ext cx="731520"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CO-2</a:t>
            </a:r>
            <a:endParaRPr lang="en-US" sz="1300" dirty="0"/>
          </a:p>
        </p:txBody>
      </p:sp>
      <p:sp>
        <p:nvSpPr>
          <p:cNvPr id="13" name="Text 11"/>
          <p:cNvSpPr txBox="1"/>
          <p:nvPr/>
        </p:nvSpPr>
        <p:spPr>
          <a:xfrm>
            <a:off x="1261872" y="1792224"/>
            <a:ext cx="6309360" cy="49377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Explain short-circuit evaluation and use and and or to supply fallback values</a:t>
            </a:r>
            <a:endParaRPr lang="en-US" sz="1250" dirty="0"/>
          </a:p>
        </p:txBody>
      </p:sp>
      <p:sp>
        <p:nvSpPr>
          <p:cNvPr id="14" name="Shape 12"/>
          <p:cNvSpPr/>
          <p:nvPr/>
        </p:nvSpPr>
        <p:spPr>
          <a:xfrm>
            <a:off x="7726680" y="1874520"/>
            <a:ext cx="1005840" cy="329184"/>
          </a:xfrm>
          <a:prstGeom prst="roundRect">
            <a:avLst>
              <a:gd name="adj" fmla="val 16667"/>
            </a:avLst>
          </a:prstGeom>
          <a:solidFill>
            <a:srgbClr val="F1F4F8"/>
          </a:solidFill>
          <a:ln w="12700">
            <a:solidFill>
              <a:srgbClr val="F1F4F8"/>
            </a:solidFill>
            <a:prstDash val="solid"/>
          </a:ln>
        </p:spPr>
      </p:sp>
      <p:sp>
        <p:nvSpPr>
          <p:cNvPr id="15" name="Text 13"/>
          <p:cNvSpPr txBox="1"/>
          <p:nvPr/>
        </p:nvSpPr>
        <p:spPr>
          <a:xfrm>
            <a:off x="7726680" y="1874520"/>
            <a:ext cx="1005840" cy="329184"/>
          </a:xfrm>
          <a:prstGeom prst="rect">
            <a:avLst/>
          </a:prstGeom>
          <a:noFill/>
          <a:ln/>
        </p:spPr>
        <p:txBody>
          <a:bodyPr wrap="square" lIns="0" tIns="0" rIns="0" bIns="0" rtlCol="0" anchor="ctr"/>
          <a:lstStyle/>
          <a:p>
            <a:pPr algn="ctr" indent="0" marL="0">
              <a:buNone/>
            </a:pPr>
            <a:r>
              <a:rPr lang="en-US" sz="1100" i="1" dirty="0">
                <a:solidFill>
                  <a:srgbClr val="5B6B7B"/>
                </a:solidFill>
                <a:latin typeface="Calibri" pitchFamily="34" charset="0"/>
                <a:ea typeface="Calibri" pitchFamily="34" charset="-122"/>
                <a:cs typeface="Calibri" pitchFamily="34" charset="-120"/>
              </a:rPr>
              <a:t>Understand</a:t>
            </a:r>
            <a:endParaRPr lang="en-US" sz="1100" dirty="0"/>
          </a:p>
        </p:txBody>
      </p:sp>
      <p:sp>
        <p:nvSpPr>
          <p:cNvPr id="16" name="Shape 14"/>
          <p:cNvSpPr/>
          <p:nvPr/>
        </p:nvSpPr>
        <p:spPr>
          <a:xfrm>
            <a:off x="411480" y="2395728"/>
            <a:ext cx="731520" cy="493776"/>
          </a:xfrm>
          <a:prstGeom prst="roundRect">
            <a:avLst>
              <a:gd name="adj" fmla="val 12963"/>
            </a:avLst>
          </a:prstGeom>
          <a:solidFill>
            <a:srgbClr val="306998"/>
          </a:solidFill>
          <a:ln w="12700">
            <a:solidFill>
              <a:srgbClr val="306998"/>
            </a:solidFill>
            <a:prstDash val="solid"/>
          </a:ln>
        </p:spPr>
      </p:sp>
      <p:sp>
        <p:nvSpPr>
          <p:cNvPr id="17" name="Text 15"/>
          <p:cNvSpPr txBox="1"/>
          <p:nvPr/>
        </p:nvSpPr>
        <p:spPr>
          <a:xfrm>
            <a:off x="411480" y="2395728"/>
            <a:ext cx="731520"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CO-3</a:t>
            </a:r>
            <a:endParaRPr lang="en-US" sz="1300" dirty="0"/>
          </a:p>
        </p:txBody>
      </p:sp>
      <p:sp>
        <p:nvSpPr>
          <p:cNvPr id="18" name="Text 16"/>
          <p:cNvSpPr txBox="1"/>
          <p:nvPr/>
        </p:nvSpPr>
        <p:spPr>
          <a:xfrm>
            <a:off x="1261872" y="2395728"/>
            <a:ext cx="6309360" cy="49377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Write decisions with if, elif and else, and with the conditional expression</a:t>
            </a:r>
            <a:endParaRPr lang="en-US" sz="1250" dirty="0"/>
          </a:p>
        </p:txBody>
      </p:sp>
      <p:sp>
        <p:nvSpPr>
          <p:cNvPr id="19" name="Shape 17"/>
          <p:cNvSpPr/>
          <p:nvPr/>
        </p:nvSpPr>
        <p:spPr>
          <a:xfrm>
            <a:off x="7726680" y="2478024"/>
            <a:ext cx="1005840" cy="329184"/>
          </a:xfrm>
          <a:prstGeom prst="roundRect">
            <a:avLst>
              <a:gd name="adj" fmla="val 16667"/>
            </a:avLst>
          </a:prstGeom>
          <a:solidFill>
            <a:srgbClr val="F1F4F8"/>
          </a:solidFill>
          <a:ln w="12700">
            <a:solidFill>
              <a:srgbClr val="F1F4F8"/>
            </a:solidFill>
            <a:prstDash val="solid"/>
          </a:ln>
        </p:spPr>
      </p:sp>
      <p:sp>
        <p:nvSpPr>
          <p:cNvPr id="20" name="Text 18"/>
          <p:cNvSpPr txBox="1"/>
          <p:nvPr/>
        </p:nvSpPr>
        <p:spPr>
          <a:xfrm>
            <a:off x="7726680" y="2478024"/>
            <a:ext cx="1005840" cy="329184"/>
          </a:xfrm>
          <a:prstGeom prst="rect">
            <a:avLst/>
          </a:prstGeom>
          <a:noFill/>
          <a:ln/>
        </p:spPr>
        <p:txBody>
          <a:bodyPr wrap="square" lIns="0" tIns="0" rIns="0" bIns="0" rtlCol="0" anchor="ctr"/>
          <a:lstStyle/>
          <a:p>
            <a:pPr algn="ctr" indent="0" marL="0">
              <a:buNone/>
            </a:pPr>
            <a:r>
              <a:rPr lang="en-US" sz="1100" i="1" dirty="0">
                <a:solidFill>
                  <a:srgbClr val="5B6B7B"/>
                </a:solidFill>
                <a:latin typeface="Calibri" pitchFamily="34" charset="0"/>
                <a:ea typeface="Calibri" pitchFamily="34" charset="-122"/>
                <a:cs typeface="Calibri" pitchFamily="34" charset="-120"/>
              </a:rPr>
              <a:t>Apply</a:t>
            </a:r>
            <a:endParaRPr lang="en-US" sz="1100" dirty="0"/>
          </a:p>
        </p:txBody>
      </p:sp>
      <p:sp>
        <p:nvSpPr>
          <p:cNvPr id="21" name="Shape 19"/>
          <p:cNvSpPr/>
          <p:nvPr/>
        </p:nvSpPr>
        <p:spPr>
          <a:xfrm>
            <a:off x="411480" y="2999232"/>
            <a:ext cx="731520" cy="493776"/>
          </a:xfrm>
          <a:prstGeom prst="roundRect">
            <a:avLst>
              <a:gd name="adj" fmla="val 12963"/>
            </a:avLst>
          </a:prstGeom>
          <a:solidFill>
            <a:srgbClr val="306998"/>
          </a:solidFill>
          <a:ln w="12700">
            <a:solidFill>
              <a:srgbClr val="306998"/>
            </a:solidFill>
            <a:prstDash val="solid"/>
          </a:ln>
        </p:spPr>
      </p:sp>
      <p:sp>
        <p:nvSpPr>
          <p:cNvPr id="22" name="Text 20"/>
          <p:cNvSpPr txBox="1"/>
          <p:nvPr/>
        </p:nvSpPr>
        <p:spPr>
          <a:xfrm>
            <a:off x="411480" y="2999232"/>
            <a:ext cx="731520"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CO-4</a:t>
            </a:r>
            <a:endParaRPr lang="en-US" sz="1300" dirty="0"/>
          </a:p>
        </p:txBody>
      </p:sp>
      <p:sp>
        <p:nvSpPr>
          <p:cNvPr id="23" name="Text 21"/>
          <p:cNvSpPr txBox="1"/>
          <p:nvPr/>
        </p:nvSpPr>
        <p:spPr>
          <a:xfrm>
            <a:off x="1261872" y="2999232"/>
            <a:ext cx="6309360" cy="493776"/>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Choose between an elif chain and a match statement for a given decision</a:t>
            </a:r>
            <a:endParaRPr lang="en-US" sz="1250" dirty="0"/>
          </a:p>
        </p:txBody>
      </p:sp>
      <p:sp>
        <p:nvSpPr>
          <p:cNvPr id="24" name="Shape 22"/>
          <p:cNvSpPr/>
          <p:nvPr/>
        </p:nvSpPr>
        <p:spPr>
          <a:xfrm>
            <a:off x="7726680" y="3081528"/>
            <a:ext cx="1005840" cy="329184"/>
          </a:xfrm>
          <a:prstGeom prst="roundRect">
            <a:avLst>
              <a:gd name="adj" fmla="val 16667"/>
            </a:avLst>
          </a:prstGeom>
          <a:solidFill>
            <a:srgbClr val="F1F4F8"/>
          </a:solidFill>
          <a:ln w="12700">
            <a:solidFill>
              <a:srgbClr val="F1F4F8"/>
            </a:solidFill>
            <a:prstDash val="solid"/>
          </a:ln>
        </p:spPr>
      </p:sp>
      <p:sp>
        <p:nvSpPr>
          <p:cNvPr id="25" name="Text 23"/>
          <p:cNvSpPr txBox="1"/>
          <p:nvPr/>
        </p:nvSpPr>
        <p:spPr>
          <a:xfrm>
            <a:off x="7726680" y="3081528"/>
            <a:ext cx="1005840" cy="329184"/>
          </a:xfrm>
          <a:prstGeom prst="rect">
            <a:avLst/>
          </a:prstGeom>
          <a:noFill/>
          <a:ln/>
        </p:spPr>
        <p:txBody>
          <a:bodyPr wrap="square" lIns="0" tIns="0" rIns="0" bIns="0" rtlCol="0" anchor="ctr"/>
          <a:lstStyle/>
          <a:p>
            <a:pPr algn="ctr" indent="0" marL="0">
              <a:buNone/>
            </a:pPr>
            <a:r>
              <a:rPr lang="en-US" sz="1100" i="1" dirty="0">
                <a:solidFill>
                  <a:srgbClr val="5B6B7B"/>
                </a:solidFill>
                <a:latin typeface="Calibri" pitchFamily="34" charset="0"/>
                <a:ea typeface="Calibri" pitchFamily="34" charset="-122"/>
                <a:cs typeface="Calibri" pitchFamily="34" charset="-120"/>
              </a:rPr>
              <a:t>Analyze</a:t>
            </a:r>
            <a:endParaRPr lang="en-US" sz="1100" dirty="0"/>
          </a:p>
        </p:txBody>
      </p:sp>
      <p:sp>
        <p:nvSpPr>
          <p:cNvPr id="26" name="Shape 24"/>
          <p:cNvSpPr/>
          <p:nvPr/>
        </p:nvSpPr>
        <p:spPr>
          <a:xfrm>
            <a:off x="411480" y="3694176"/>
            <a:ext cx="8321040" cy="1167130"/>
          </a:xfrm>
          <a:prstGeom prst="roundRect">
            <a:avLst>
              <a:gd name="adj" fmla="val 7835"/>
            </a:avLst>
          </a:prstGeom>
          <a:solidFill>
            <a:srgbClr val="F1F4F8"/>
          </a:solidFill>
          <a:ln w="12700">
            <a:solidFill>
              <a:srgbClr val="F1F4F8"/>
            </a:solidFill>
            <a:prstDash val="solid"/>
          </a:ln>
        </p:spPr>
      </p:sp>
      <p:sp>
        <p:nvSpPr>
          <p:cNvPr id="27" name="Text 25"/>
          <p:cNvSpPr txBox="1"/>
          <p:nvPr/>
        </p:nvSpPr>
        <p:spPr>
          <a:xfrm>
            <a:off x="594360" y="3822192"/>
            <a:ext cx="7955280" cy="216916"/>
          </a:xfrm>
          <a:prstGeom prst="rect">
            <a:avLst/>
          </a:prstGeom>
          <a:noFill/>
          <a:ln/>
        </p:spPr>
        <p:txBody>
          <a:bodyPr wrap="square" lIns="0" tIns="0" rIns="0" bIns="0" rtlCol="0" anchor="ctr"/>
          <a:lstStyle/>
          <a:p>
            <a:pPr indent="0" marL="0">
              <a:buNone/>
            </a:pPr>
            <a:r>
              <a:rPr lang="en-US" sz="1400" b="1" dirty="0">
                <a:solidFill>
                  <a:srgbClr val="306998"/>
                </a:solidFill>
                <a:latin typeface="Cambria" pitchFamily="34" charset="0"/>
                <a:ea typeface="Cambria" pitchFamily="34" charset="-122"/>
                <a:cs typeface="Cambria" pitchFamily="34" charset="-120"/>
              </a:rPr>
              <a:t>Which course outcomes this chapter serves</a:t>
            </a:r>
            <a:endParaRPr lang="en-US" sz="1400" dirty="0"/>
          </a:p>
        </p:txBody>
      </p:sp>
      <p:sp>
        <p:nvSpPr>
          <p:cNvPr id="28" name="Text 26"/>
          <p:cNvSpPr txBox="1"/>
          <p:nvPr/>
        </p:nvSpPr>
        <p:spPr>
          <a:xfrm>
            <a:off x="594360" y="4112260"/>
            <a:ext cx="7955280" cy="62103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Chapter 2 is language groundwork. The course's approved outcomes are advanced, and none is specific to flow control, so these chapter objectives are not claimed to serve one. The chapter is nevertheless the groundwork every later outcome stands on: the decisions taught here appear in every program of the rest of the course.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chapter as a map</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7 branches, 13 groups, 53 concepts — and the order we take them in</a:t>
            </a:r>
            <a:endParaRPr lang="en-US" sz="1300" dirty="0"/>
          </a:p>
        </p:txBody>
      </p:sp>
      <p:sp>
        <p:nvSpPr>
          <p:cNvPr id="6" name="Shape 4"/>
          <p:cNvSpPr/>
          <p:nvPr/>
        </p:nvSpPr>
        <p:spPr>
          <a:xfrm>
            <a:off x="384048" y="1188720"/>
            <a:ext cx="1115568" cy="713232"/>
          </a:xfrm>
          <a:prstGeom prst="roundRect">
            <a:avLst>
              <a:gd name="adj" fmla="val 10256"/>
            </a:avLst>
          </a:prstGeom>
          <a:solidFill>
            <a:srgbClr val="1E2A3A"/>
          </a:solidFill>
          <a:ln w="12700">
            <a:solidFill>
              <a:srgbClr val="1E2A3A"/>
            </a:solidFill>
            <a:prstDash val="solid"/>
          </a:ln>
        </p:spPr>
      </p:sp>
      <p:sp>
        <p:nvSpPr>
          <p:cNvPr id="7" name="Text 5"/>
          <p:cNvSpPr txBox="1"/>
          <p:nvPr/>
        </p:nvSpPr>
        <p:spPr>
          <a:xfrm>
            <a:off x="420624" y="1188720"/>
            <a:ext cx="1042416" cy="713232"/>
          </a:xfrm>
          <a:prstGeom prst="rect">
            <a:avLst/>
          </a:prstGeom>
          <a:noFill/>
          <a:ln/>
        </p:spPr>
        <p:txBody>
          <a:bodyPr wrap="square" lIns="0" tIns="0" rIns="0" bIns="0" rtlCol="0" anchor="ctr"/>
          <a:lstStyle/>
          <a:p>
            <a:pPr algn="ctr" indent="0" marL="0">
              <a:buNone/>
            </a:pPr>
            <a:r>
              <a:rPr lang="en-US" sz="950" b="1" dirty="0">
                <a:solidFill>
                  <a:srgbClr val="FFFFFF"/>
                </a:solidFill>
                <a:latin typeface="Cambria" pitchFamily="34" charset="0"/>
                <a:ea typeface="Cambria" pitchFamily="34" charset="-122"/>
                <a:cs typeface="Cambria" pitchFamily="34" charset="-120"/>
              </a:rPr>
              <a:t>I.  Values that answer yes or no</a:t>
            </a:r>
            <a:endParaRPr lang="en-US" sz="950" dirty="0"/>
          </a:p>
        </p:txBody>
      </p:sp>
      <p:sp>
        <p:nvSpPr>
          <p:cNvPr id="8" name="Shape 6"/>
          <p:cNvSpPr/>
          <p:nvPr/>
        </p:nvSpPr>
        <p:spPr>
          <a:xfrm>
            <a:off x="384048" y="2011680"/>
            <a:ext cx="1115568" cy="585216"/>
          </a:xfrm>
          <a:prstGeom prst="roundRect">
            <a:avLst>
              <a:gd name="adj" fmla="val 9375"/>
            </a:avLst>
          </a:prstGeom>
          <a:solidFill>
            <a:srgbClr val="F1F4F8"/>
          </a:solidFill>
          <a:ln w="12700">
            <a:solidFill>
              <a:srgbClr val="D0D7DE"/>
            </a:solidFill>
            <a:prstDash val="solid"/>
          </a:ln>
        </p:spPr>
      </p:sp>
      <p:sp>
        <p:nvSpPr>
          <p:cNvPr id="9" name="Text 7"/>
          <p:cNvSpPr txBox="1"/>
          <p:nvPr/>
        </p:nvSpPr>
        <p:spPr>
          <a:xfrm>
            <a:off x="429768" y="2011680"/>
            <a:ext cx="1024128"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Truth values</a:t>
            </a:r>
            <a:endParaRPr lang="en-US" sz="850" dirty="0"/>
          </a:p>
        </p:txBody>
      </p:sp>
      <p:sp>
        <p:nvSpPr>
          <p:cNvPr id="10" name="Text 8"/>
          <p:cNvSpPr txBox="1"/>
          <p:nvPr/>
        </p:nvSpPr>
        <p:spPr>
          <a:xfrm>
            <a:off x="1243584" y="2039112"/>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4</a:t>
            </a:r>
            <a:endParaRPr lang="en-US" sz="750" dirty="0"/>
          </a:p>
        </p:txBody>
      </p:sp>
      <p:sp>
        <p:nvSpPr>
          <p:cNvPr id="11" name="Shape 9"/>
          <p:cNvSpPr/>
          <p:nvPr/>
        </p:nvSpPr>
        <p:spPr>
          <a:xfrm>
            <a:off x="1595628" y="1188720"/>
            <a:ext cx="1115568" cy="713232"/>
          </a:xfrm>
          <a:prstGeom prst="roundRect">
            <a:avLst>
              <a:gd name="adj" fmla="val 10256"/>
            </a:avLst>
          </a:prstGeom>
          <a:solidFill>
            <a:srgbClr val="1E2A3A"/>
          </a:solidFill>
          <a:ln w="12700">
            <a:solidFill>
              <a:srgbClr val="1E2A3A"/>
            </a:solidFill>
            <a:prstDash val="solid"/>
          </a:ln>
        </p:spPr>
      </p:sp>
      <p:sp>
        <p:nvSpPr>
          <p:cNvPr id="12" name="Text 10"/>
          <p:cNvSpPr txBox="1"/>
          <p:nvPr/>
        </p:nvSpPr>
        <p:spPr>
          <a:xfrm>
            <a:off x="1632204" y="1188720"/>
            <a:ext cx="1042416" cy="713232"/>
          </a:xfrm>
          <a:prstGeom prst="rect">
            <a:avLst/>
          </a:prstGeom>
          <a:noFill/>
          <a:ln/>
        </p:spPr>
        <p:txBody>
          <a:bodyPr wrap="square" lIns="0" tIns="0" rIns="0" bIns="0" rtlCol="0" anchor="ctr"/>
          <a:lstStyle/>
          <a:p>
            <a:pPr algn="ctr" indent="0" marL="0">
              <a:buNone/>
            </a:pPr>
            <a:r>
              <a:rPr lang="en-US" sz="950" b="1" dirty="0">
                <a:solidFill>
                  <a:srgbClr val="FFFFFF"/>
                </a:solidFill>
                <a:latin typeface="Cambria" pitchFamily="34" charset="0"/>
                <a:ea typeface="Cambria" pitchFamily="34" charset="-122"/>
                <a:cs typeface="Cambria" pitchFamily="34" charset="-120"/>
              </a:rPr>
              <a:t>II.  Comparisons</a:t>
            </a:r>
            <a:endParaRPr lang="en-US" sz="950" dirty="0"/>
          </a:p>
        </p:txBody>
      </p:sp>
      <p:sp>
        <p:nvSpPr>
          <p:cNvPr id="13" name="Shape 11"/>
          <p:cNvSpPr/>
          <p:nvPr/>
        </p:nvSpPr>
        <p:spPr>
          <a:xfrm>
            <a:off x="1595628" y="2011680"/>
            <a:ext cx="1115568" cy="585216"/>
          </a:xfrm>
          <a:prstGeom prst="roundRect">
            <a:avLst>
              <a:gd name="adj" fmla="val 9375"/>
            </a:avLst>
          </a:prstGeom>
          <a:solidFill>
            <a:srgbClr val="F1F4F8"/>
          </a:solidFill>
          <a:ln w="12700">
            <a:solidFill>
              <a:srgbClr val="D0D7DE"/>
            </a:solidFill>
            <a:prstDash val="solid"/>
          </a:ln>
        </p:spPr>
      </p:sp>
      <p:sp>
        <p:nvSpPr>
          <p:cNvPr id="14" name="Text 12"/>
          <p:cNvSpPr txBox="1"/>
          <p:nvPr/>
        </p:nvSpPr>
        <p:spPr>
          <a:xfrm>
            <a:off x="1641348" y="2011680"/>
            <a:ext cx="1024128"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Equality comparisons</a:t>
            </a:r>
            <a:endParaRPr lang="en-US" sz="850" dirty="0"/>
          </a:p>
        </p:txBody>
      </p:sp>
      <p:sp>
        <p:nvSpPr>
          <p:cNvPr id="15" name="Text 13"/>
          <p:cNvSpPr txBox="1"/>
          <p:nvPr/>
        </p:nvSpPr>
        <p:spPr>
          <a:xfrm>
            <a:off x="2455164" y="2039112"/>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3</a:t>
            </a:r>
            <a:endParaRPr lang="en-US" sz="750" dirty="0"/>
          </a:p>
        </p:txBody>
      </p:sp>
      <p:sp>
        <p:nvSpPr>
          <p:cNvPr id="16" name="Shape 14"/>
          <p:cNvSpPr/>
          <p:nvPr/>
        </p:nvSpPr>
        <p:spPr>
          <a:xfrm>
            <a:off x="1595628" y="2688336"/>
            <a:ext cx="1115568" cy="585216"/>
          </a:xfrm>
          <a:prstGeom prst="roundRect">
            <a:avLst>
              <a:gd name="adj" fmla="val 9375"/>
            </a:avLst>
          </a:prstGeom>
          <a:solidFill>
            <a:srgbClr val="F1F4F8"/>
          </a:solidFill>
          <a:ln w="12700">
            <a:solidFill>
              <a:srgbClr val="D0D7DE"/>
            </a:solidFill>
            <a:prstDash val="solid"/>
          </a:ln>
        </p:spPr>
      </p:sp>
      <p:sp>
        <p:nvSpPr>
          <p:cNvPr id="17" name="Text 15"/>
          <p:cNvSpPr txBox="1"/>
          <p:nvPr/>
        </p:nvSpPr>
        <p:spPr>
          <a:xfrm>
            <a:off x="1641348" y="2688336"/>
            <a:ext cx="1024128"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Ordering comparisons</a:t>
            </a:r>
            <a:endParaRPr lang="en-US" sz="850" dirty="0"/>
          </a:p>
        </p:txBody>
      </p:sp>
      <p:sp>
        <p:nvSpPr>
          <p:cNvPr id="18" name="Text 16"/>
          <p:cNvSpPr txBox="1"/>
          <p:nvPr/>
        </p:nvSpPr>
        <p:spPr>
          <a:xfrm>
            <a:off x="2455164" y="2715768"/>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3</a:t>
            </a:r>
            <a:endParaRPr lang="en-US" sz="750" dirty="0"/>
          </a:p>
        </p:txBody>
      </p:sp>
      <p:sp>
        <p:nvSpPr>
          <p:cNvPr id="19" name="Shape 17"/>
          <p:cNvSpPr/>
          <p:nvPr/>
        </p:nvSpPr>
        <p:spPr>
          <a:xfrm>
            <a:off x="2807208" y="1188720"/>
            <a:ext cx="1115568" cy="713232"/>
          </a:xfrm>
          <a:prstGeom prst="roundRect">
            <a:avLst>
              <a:gd name="adj" fmla="val 10256"/>
            </a:avLst>
          </a:prstGeom>
          <a:solidFill>
            <a:srgbClr val="1E2A3A"/>
          </a:solidFill>
          <a:ln w="12700">
            <a:solidFill>
              <a:srgbClr val="1E2A3A"/>
            </a:solidFill>
            <a:prstDash val="solid"/>
          </a:ln>
        </p:spPr>
      </p:sp>
      <p:sp>
        <p:nvSpPr>
          <p:cNvPr id="20" name="Text 18"/>
          <p:cNvSpPr txBox="1"/>
          <p:nvPr/>
        </p:nvSpPr>
        <p:spPr>
          <a:xfrm>
            <a:off x="2843784" y="1188720"/>
            <a:ext cx="1042416" cy="713232"/>
          </a:xfrm>
          <a:prstGeom prst="rect">
            <a:avLst/>
          </a:prstGeom>
          <a:noFill/>
          <a:ln/>
        </p:spPr>
        <p:txBody>
          <a:bodyPr wrap="square" lIns="0" tIns="0" rIns="0" bIns="0" rtlCol="0" anchor="ctr"/>
          <a:lstStyle/>
          <a:p>
            <a:pPr algn="ctr" indent="0" marL="0">
              <a:buNone/>
            </a:pPr>
            <a:r>
              <a:rPr lang="en-US" sz="950" b="1" dirty="0">
                <a:solidFill>
                  <a:srgbClr val="FFFFFF"/>
                </a:solidFill>
                <a:latin typeface="Cambria" pitchFamily="34" charset="0"/>
                <a:ea typeface="Cambria" pitchFamily="34" charset="-122"/>
                <a:cs typeface="Cambria" pitchFamily="34" charset="-120"/>
              </a:rPr>
              <a:t>III.  Boolean operations</a:t>
            </a:r>
            <a:endParaRPr lang="en-US" sz="950" dirty="0"/>
          </a:p>
        </p:txBody>
      </p:sp>
      <p:sp>
        <p:nvSpPr>
          <p:cNvPr id="21" name="Shape 19"/>
          <p:cNvSpPr/>
          <p:nvPr/>
        </p:nvSpPr>
        <p:spPr>
          <a:xfrm>
            <a:off x="2807208" y="2011680"/>
            <a:ext cx="1115568" cy="585216"/>
          </a:xfrm>
          <a:prstGeom prst="roundRect">
            <a:avLst>
              <a:gd name="adj" fmla="val 9375"/>
            </a:avLst>
          </a:prstGeom>
          <a:solidFill>
            <a:srgbClr val="F1F4F8"/>
          </a:solidFill>
          <a:ln w="12700">
            <a:solidFill>
              <a:srgbClr val="D0D7DE"/>
            </a:solidFill>
            <a:prstDash val="solid"/>
          </a:ln>
        </p:spPr>
      </p:sp>
      <p:sp>
        <p:nvSpPr>
          <p:cNvPr id="22" name="Text 20"/>
          <p:cNvSpPr txBox="1"/>
          <p:nvPr/>
        </p:nvSpPr>
        <p:spPr>
          <a:xfrm>
            <a:off x="2852928" y="2011680"/>
            <a:ext cx="1024128"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The logical operators</a:t>
            </a:r>
            <a:endParaRPr lang="en-US" sz="850" dirty="0"/>
          </a:p>
        </p:txBody>
      </p:sp>
      <p:sp>
        <p:nvSpPr>
          <p:cNvPr id="23" name="Text 21"/>
          <p:cNvSpPr txBox="1"/>
          <p:nvPr/>
        </p:nvSpPr>
        <p:spPr>
          <a:xfrm>
            <a:off x="3666744" y="2039112"/>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5</a:t>
            </a:r>
            <a:endParaRPr lang="en-US" sz="750" dirty="0"/>
          </a:p>
        </p:txBody>
      </p:sp>
      <p:sp>
        <p:nvSpPr>
          <p:cNvPr id="24" name="Shape 22"/>
          <p:cNvSpPr/>
          <p:nvPr/>
        </p:nvSpPr>
        <p:spPr>
          <a:xfrm>
            <a:off x="2807208" y="2688336"/>
            <a:ext cx="1115568" cy="585216"/>
          </a:xfrm>
          <a:prstGeom prst="roundRect">
            <a:avLst>
              <a:gd name="adj" fmla="val 9375"/>
            </a:avLst>
          </a:prstGeom>
          <a:solidFill>
            <a:srgbClr val="F1F4F8"/>
          </a:solidFill>
          <a:ln w="12700">
            <a:solidFill>
              <a:srgbClr val="D0D7DE"/>
            </a:solidFill>
            <a:prstDash val="solid"/>
          </a:ln>
        </p:spPr>
      </p:sp>
      <p:sp>
        <p:nvSpPr>
          <p:cNvPr id="25" name="Text 23"/>
          <p:cNvSpPr txBox="1"/>
          <p:nvPr/>
        </p:nvSpPr>
        <p:spPr>
          <a:xfrm>
            <a:off x="2852928" y="2688336"/>
            <a:ext cx="1024128"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Evaluation</a:t>
            </a:r>
            <a:endParaRPr lang="en-US" sz="850" dirty="0"/>
          </a:p>
        </p:txBody>
      </p:sp>
      <p:sp>
        <p:nvSpPr>
          <p:cNvPr id="26" name="Text 24"/>
          <p:cNvSpPr txBox="1"/>
          <p:nvPr/>
        </p:nvSpPr>
        <p:spPr>
          <a:xfrm>
            <a:off x="3666744" y="2715768"/>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4</a:t>
            </a:r>
            <a:endParaRPr lang="en-US" sz="750" dirty="0"/>
          </a:p>
        </p:txBody>
      </p:sp>
      <p:sp>
        <p:nvSpPr>
          <p:cNvPr id="27" name="Shape 25"/>
          <p:cNvSpPr/>
          <p:nvPr/>
        </p:nvSpPr>
        <p:spPr>
          <a:xfrm>
            <a:off x="4018788" y="1188720"/>
            <a:ext cx="1115568" cy="713232"/>
          </a:xfrm>
          <a:prstGeom prst="roundRect">
            <a:avLst>
              <a:gd name="adj" fmla="val 10256"/>
            </a:avLst>
          </a:prstGeom>
          <a:solidFill>
            <a:srgbClr val="1E2A3A"/>
          </a:solidFill>
          <a:ln w="12700">
            <a:solidFill>
              <a:srgbClr val="1E2A3A"/>
            </a:solidFill>
            <a:prstDash val="solid"/>
          </a:ln>
        </p:spPr>
      </p:sp>
      <p:sp>
        <p:nvSpPr>
          <p:cNvPr id="28" name="Text 26"/>
          <p:cNvSpPr txBox="1"/>
          <p:nvPr/>
        </p:nvSpPr>
        <p:spPr>
          <a:xfrm>
            <a:off x="4055364" y="1188720"/>
            <a:ext cx="1042416" cy="713232"/>
          </a:xfrm>
          <a:prstGeom prst="rect">
            <a:avLst/>
          </a:prstGeom>
          <a:noFill/>
          <a:ln/>
        </p:spPr>
        <p:txBody>
          <a:bodyPr wrap="square" lIns="0" tIns="0" rIns="0" bIns="0" rtlCol="0" anchor="ctr"/>
          <a:lstStyle/>
          <a:p>
            <a:pPr algn="ctr" indent="0" marL="0">
              <a:buNone/>
            </a:pPr>
            <a:r>
              <a:rPr lang="en-US" sz="950" b="1" dirty="0">
                <a:solidFill>
                  <a:srgbClr val="FFFFFF"/>
                </a:solidFill>
                <a:latin typeface="Cambria" pitchFamily="34" charset="0"/>
                <a:ea typeface="Cambria" pitchFamily="34" charset="-122"/>
                <a:cs typeface="Cambria" pitchFamily="34" charset="-120"/>
              </a:rPr>
              <a:t>IV.  Flow control</a:t>
            </a:r>
            <a:endParaRPr lang="en-US" sz="950" dirty="0"/>
          </a:p>
        </p:txBody>
      </p:sp>
      <p:sp>
        <p:nvSpPr>
          <p:cNvPr id="29" name="Shape 27"/>
          <p:cNvSpPr/>
          <p:nvPr/>
        </p:nvSpPr>
        <p:spPr>
          <a:xfrm>
            <a:off x="4018788" y="2011680"/>
            <a:ext cx="1115568" cy="585216"/>
          </a:xfrm>
          <a:prstGeom prst="roundRect">
            <a:avLst>
              <a:gd name="adj" fmla="val 9375"/>
            </a:avLst>
          </a:prstGeom>
          <a:solidFill>
            <a:srgbClr val="F1F4F8"/>
          </a:solidFill>
          <a:ln w="12700">
            <a:solidFill>
              <a:srgbClr val="D0D7DE"/>
            </a:solidFill>
            <a:prstDash val="solid"/>
          </a:ln>
        </p:spPr>
      </p:sp>
      <p:sp>
        <p:nvSpPr>
          <p:cNvPr id="30" name="Text 28"/>
          <p:cNvSpPr txBox="1"/>
          <p:nvPr/>
        </p:nvSpPr>
        <p:spPr>
          <a:xfrm>
            <a:off x="4064508" y="2011680"/>
            <a:ext cx="1024128"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The flow of execution</a:t>
            </a:r>
            <a:endParaRPr lang="en-US" sz="850" dirty="0"/>
          </a:p>
        </p:txBody>
      </p:sp>
      <p:sp>
        <p:nvSpPr>
          <p:cNvPr id="31" name="Text 29"/>
          <p:cNvSpPr txBox="1"/>
          <p:nvPr/>
        </p:nvSpPr>
        <p:spPr>
          <a:xfrm>
            <a:off x="4878324" y="2039112"/>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3</a:t>
            </a:r>
            <a:endParaRPr lang="en-US" sz="750" dirty="0"/>
          </a:p>
        </p:txBody>
      </p:sp>
      <p:sp>
        <p:nvSpPr>
          <p:cNvPr id="32" name="Shape 30"/>
          <p:cNvSpPr/>
          <p:nvPr/>
        </p:nvSpPr>
        <p:spPr>
          <a:xfrm>
            <a:off x="4018788" y="2688336"/>
            <a:ext cx="1115568" cy="585216"/>
          </a:xfrm>
          <a:prstGeom prst="roundRect">
            <a:avLst>
              <a:gd name="adj" fmla="val 9375"/>
            </a:avLst>
          </a:prstGeom>
          <a:solidFill>
            <a:srgbClr val="F1F4F8"/>
          </a:solidFill>
          <a:ln w="12700">
            <a:solidFill>
              <a:srgbClr val="D0D7DE"/>
            </a:solidFill>
            <a:prstDash val="solid"/>
          </a:ln>
        </p:spPr>
      </p:sp>
      <p:sp>
        <p:nvSpPr>
          <p:cNvPr id="33" name="Text 31"/>
          <p:cNvSpPr txBox="1"/>
          <p:nvPr/>
        </p:nvSpPr>
        <p:spPr>
          <a:xfrm>
            <a:off x="4064508" y="2688336"/>
            <a:ext cx="1024128"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The parts of a flow control statement</a:t>
            </a:r>
            <a:endParaRPr lang="en-US" sz="850" dirty="0"/>
          </a:p>
        </p:txBody>
      </p:sp>
      <p:sp>
        <p:nvSpPr>
          <p:cNvPr id="34" name="Text 32"/>
          <p:cNvSpPr txBox="1"/>
          <p:nvPr/>
        </p:nvSpPr>
        <p:spPr>
          <a:xfrm>
            <a:off x="4878324" y="2715768"/>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5</a:t>
            </a:r>
            <a:endParaRPr lang="en-US" sz="750" dirty="0"/>
          </a:p>
        </p:txBody>
      </p:sp>
      <p:sp>
        <p:nvSpPr>
          <p:cNvPr id="35" name="Shape 33"/>
          <p:cNvSpPr/>
          <p:nvPr/>
        </p:nvSpPr>
        <p:spPr>
          <a:xfrm>
            <a:off x="4018788" y="3364992"/>
            <a:ext cx="1115568" cy="585216"/>
          </a:xfrm>
          <a:prstGeom prst="roundRect">
            <a:avLst>
              <a:gd name="adj" fmla="val 9375"/>
            </a:avLst>
          </a:prstGeom>
          <a:solidFill>
            <a:srgbClr val="F1F4F8"/>
          </a:solidFill>
          <a:ln w="12700">
            <a:solidFill>
              <a:srgbClr val="D0D7DE"/>
            </a:solidFill>
            <a:prstDash val="solid"/>
          </a:ln>
        </p:spPr>
      </p:sp>
      <p:sp>
        <p:nvSpPr>
          <p:cNvPr id="36" name="Text 34"/>
          <p:cNvSpPr txBox="1"/>
          <p:nvPr/>
        </p:nvSpPr>
        <p:spPr>
          <a:xfrm>
            <a:off x="4064508" y="3364992"/>
            <a:ext cx="1024128"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Branching</a:t>
            </a:r>
            <a:endParaRPr lang="en-US" sz="850" dirty="0"/>
          </a:p>
        </p:txBody>
      </p:sp>
      <p:sp>
        <p:nvSpPr>
          <p:cNvPr id="37" name="Text 35"/>
          <p:cNvSpPr txBox="1"/>
          <p:nvPr/>
        </p:nvSpPr>
        <p:spPr>
          <a:xfrm>
            <a:off x="4878324" y="3392424"/>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4</a:t>
            </a:r>
            <a:endParaRPr lang="en-US" sz="750" dirty="0"/>
          </a:p>
        </p:txBody>
      </p:sp>
      <p:sp>
        <p:nvSpPr>
          <p:cNvPr id="38" name="Shape 36"/>
          <p:cNvSpPr/>
          <p:nvPr/>
        </p:nvSpPr>
        <p:spPr>
          <a:xfrm>
            <a:off x="4018788" y="4041648"/>
            <a:ext cx="1115568" cy="585216"/>
          </a:xfrm>
          <a:prstGeom prst="roundRect">
            <a:avLst>
              <a:gd name="adj" fmla="val 9375"/>
            </a:avLst>
          </a:prstGeom>
          <a:solidFill>
            <a:srgbClr val="F1F4F8"/>
          </a:solidFill>
          <a:ln w="12700">
            <a:solidFill>
              <a:srgbClr val="D0D7DE"/>
            </a:solidFill>
            <a:prstDash val="solid"/>
          </a:ln>
        </p:spPr>
      </p:sp>
      <p:sp>
        <p:nvSpPr>
          <p:cNvPr id="39" name="Text 37"/>
          <p:cNvSpPr txBox="1"/>
          <p:nvPr/>
        </p:nvSpPr>
        <p:spPr>
          <a:xfrm>
            <a:off x="4064508" y="4041648"/>
            <a:ext cx="1024128"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Expression forms</a:t>
            </a:r>
            <a:endParaRPr lang="en-US" sz="850" dirty="0"/>
          </a:p>
        </p:txBody>
      </p:sp>
      <p:sp>
        <p:nvSpPr>
          <p:cNvPr id="40" name="Text 38"/>
          <p:cNvSpPr txBox="1"/>
          <p:nvPr/>
        </p:nvSpPr>
        <p:spPr>
          <a:xfrm>
            <a:off x="4878324" y="4069080"/>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2</a:t>
            </a:r>
            <a:endParaRPr lang="en-US" sz="750" dirty="0"/>
          </a:p>
        </p:txBody>
      </p:sp>
      <p:sp>
        <p:nvSpPr>
          <p:cNvPr id="41" name="Shape 39"/>
          <p:cNvSpPr/>
          <p:nvPr/>
        </p:nvSpPr>
        <p:spPr>
          <a:xfrm>
            <a:off x="5230368" y="1188720"/>
            <a:ext cx="1115568" cy="713232"/>
          </a:xfrm>
          <a:prstGeom prst="roundRect">
            <a:avLst>
              <a:gd name="adj" fmla="val 10256"/>
            </a:avLst>
          </a:prstGeom>
          <a:solidFill>
            <a:srgbClr val="1E2A3A"/>
          </a:solidFill>
          <a:ln w="12700">
            <a:solidFill>
              <a:srgbClr val="1E2A3A"/>
            </a:solidFill>
            <a:prstDash val="solid"/>
          </a:ln>
        </p:spPr>
      </p:sp>
      <p:sp>
        <p:nvSpPr>
          <p:cNvPr id="42" name="Text 40"/>
          <p:cNvSpPr txBox="1"/>
          <p:nvPr/>
        </p:nvSpPr>
        <p:spPr>
          <a:xfrm>
            <a:off x="5266944" y="1188720"/>
            <a:ext cx="1042416" cy="713232"/>
          </a:xfrm>
          <a:prstGeom prst="rect">
            <a:avLst/>
          </a:prstGeom>
          <a:noFill/>
          <a:ln/>
        </p:spPr>
        <p:txBody>
          <a:bodyPr wrap="square" lIns="0" tIns="0" rIns="0" bIns="0" rtlCol="0" anchor="ctr"/>
          <a:lstStyle/>
          <a:p>
            <a:pPr algn="ctr" indent="0" marL="0">
              <a:buNone/>
            </a:pPr>
            <a:r>
              <a:rPr lang="en-US" sz="950" b="1" dirty="0">
                <a:solidFill>
                  <a:srgbClr val="FFFFFF"/>
                </a:solidFill>
                <a:latin typeface="Cambria" pitchFamily="34" charset="0"/>
                <a:ea typeface="Cambria" pitchFamily="34" charset="-122"/>
                <a:cs typeface="Cambria" pitchFamily="34" charset="-120"/>
              </a:rPr>
              <a:t>V.  Modern practice</a:t>
            </a:r>
            <a:endParaRPr lang="en-US" sz="950" dirty="0"/>
          </a:p>
        </p:txBody>
      </p:sp>
      <p:sp>
        <p:nvSpPr>
          <p:cNvPr id="43" name="Shape 41"/>
          <p:cNvSpPr/>
          <p:nvPr/>
        </p:nvSpPr>
        <p:spPr>
          <a:xfrm>
            <a:off x="5230368" y="2011680"/>
            <a:ext cx="1115568" cy="585216"/>
          </a:xfrm>
          <a:prstGeom prst="roundRect">
            <a:avLst>
              <a:gd name="adj" fmla="val 9375"/>
            </a:avLst>
          </a:prstGeom>
          <a:solidFill>
            <a:srgbClr val="F1F4F8"/>
          </a:solidFill>
          <a:ln w="12700">
            <a:solidFill>
              <a:srgbClr val="D0D7DE"/>
            </a:solidFill>
            <a:prstDash val="solid"/>
          </a:ln>
        </p:spPr>
      </p:sp>
      <p:sp>
        <p:nvSpPr>
          <p:cNvPr id="44" name="Text 42"/>
          <p:cNvSpPr txBox="1"/>
          <p:nvPr/>
        </p:nvSpPr>
        <p:spPr>
          <a:xfrm>
            <a:off x="5276088" y="2011680"/>
            <a:ext cx="1024128"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Pattern matching</a:t>
            </a:r>
            <a:endParaRPr lang="en-US" sz="850" dirty="0"/>
          </a:p>
        </p:txBody>
      </p:sp>
      <p:sp>
        <p:nvSpPr>
          <p:cNvPr id="45" name="Text 43"/>
          <p:cNvSpPr txBox="1"/>
          <p:nvPr/>
        </p:nvSpPr>
        <p:spPr>
          <a:xfrm>
            <a:off x="6089904" y="2039112"/>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6</a:t>
            </a:r>
            <a:endParaRPr lang="en-US" sz="750" dirty="0"/>
          </a:p>
        </p:txBody>
      </p:sp>
      <p:sp>
        <p:nvSpPr>
          <p:cNvPr id="46" name="Shape 44"/>
          <p:cNvSpPr/>
          <p:nvPr/>
        </p:nvSpPr>
        <p:spPr>
          <a:xfrm>
            <a:off x="5230368" y="2688336"/>
            <a:ext cx="1115568" cy="585216"/>
          </a:xfrm>
          <a:prstGeom prst="roundRect">
            <a:avLst>
              <a:gd name="adj" fmla="val 9375"/>
            </a:avLst>
          </a:prstGeom>
          <a:solidFill>
            <a:srgbClr val="F1F4F8"/>
          </a:solidFill>
          <a:ln w="12700">
            <a:solidFill>
              <a:srgbClr val="D0D7DE"/>
            </a:solidFill>
            <a:prstDash val="solid"/>
          </a:ln>
        </p:spPr>
      </p:sp>
      <p:sp>
        <p:nvSpPr>
          <p:cNvPr id="47" name="Text 45"/>
          <p:cNvSpPr txBox="1"/>
          <p:nvPr/>
        </p:nvSpPr>
        <p:spPr>
          <a:xfrm>
            <a:off x="5276088" y="2688336"/>
            <a:ext cx="1024128"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Style</a:t>
            </a:r>
            <a:endParaRPr lang="en-US" sz="850" dirty="0"/>
          </a:p>
        </p:txBody>
      </p:sp>
      <p:sp>
        <p:nvSpPr>
          <p:cNvPr id="48" name="Text 46"/>
          <p:cNvSpPr txBox="1"/>
          <p:nvPr/>
        </p:nvSpPr>
        <p:spPr>
          <a:xfrm>
            <a:off x="6089904" y="2715768"/>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4</a:t>
            </a:r>
            <a:endParaRPr lang="en-US" sz="750" dirty="0"/>
          </a:p>
        </p:txBody>
      </p:sp>
      <p:sp>
        <p:nvSpPr>
          <p:cNvPr id="49" name="Shape 47"/>
          <p:cNvSpPr/>
          <p:nvPr/>
        </p:nvSpPr>
        <p:spPr>
          <a:xfrm>
            <a:off x="6441948" y="1188720"/>
            <a:ext cx="1115568" cy="713232"/>
          </a:xfrm>
          <a:prstGeom prst="roundRect">
            <a:avLst>
              <a:gd name="adj" fmla="val 10256"/>
            </a:avLst>
          </a:prstGeom>
          <a:solidFill>
            <a:srgbClr val="1E2A3A"/>
          </a:solidFill>
          <a:ln w="12700">
            <a:solidFill>
              <a:srgbClr val="1E2A3A"/>
            </a:solidFill>
            <a:prstDash val="solid"/>
          </a:ln>
        </p:spPr>
      </p:sp>
      <p:sp>
        <p:nvSpPr>
          <p:cNvPr id="50" name="Text 48"/>
          <p:cNvSpPr txBox="1"/>
          <p:nvPr/>
        </p:nvSpPr>
        <p:spPr>
          <a:xfrm>
            <a:off x="6478524" y="1188720"/>
            <a:ext cx="1042416" cy="713232"/>
          </a:xfrm>
          <a:prstGeom prst="rect">
            <a:avLst/>
          </a:prstGeom>
          <a:noFill/>
          <a:ln/>
        </p:spPr>
        <p:txBody>
          <a:bodyPr wrap="square" lIns="0" tIns="0" rIns="0" bIns="0" rtlCol="0" anchor="ctr"/>
          <a:lstStyle/>
          <a:p>
            <a:pPr algn="ctr" indent="0" marL="0">
              <a:buNone/>
            </a:pPr>
            <a:r>
              <a:rPr lang="en-US" sz="950" b="1" dirty="0">
                <a:solidFill>
                  <a:srgbClr val="FFFFFF"/>
                </a:solidFill>
                <a:latin typeface="Cambria" pitchFamily="34" charset="0"/>
                <a:ea typeface="Cambria" pitchFamily="34" charset="-122"/>
                <a:cs typeface="Cambria" pitchFamily="34" charset="-120"/>
              </a:rPr>
              <a:t>VI.  The worked programs</a:t>
            </a:r>
            <a:endParaRPr lang="en-US" sz="950" dirty="0"/>
          </a:p>
        </p:txBody>
      </p:sp>
      <p:sp>
        <p:nvSpPr>
          <p:cNvPr id="51" name="Shape 49"/>
          <p:cNvSpPr/>
          <p:nvPr/>
        </p:nvSpPr>
        <p:spPr>
          <a:xfrm>
            <a:off x="6441948" y="2011680"/>
            <a:ext cx="1115568" cy="585216"/>
          </a:xfrm>
          <a:prstGeom prst="roundRect">
            <a:avLst>
              <a:gd name="adj" fmla="val 9375"/>
            </a:avLst>
          </a:prstGeom>
          <a:solidFill>
            <a:srgbClr val="F1F4F8"/>
          </a:solidFill>
          <a:ln w="12700">
            <a:solidFill>
              <a:srgbClr val="D0D7DE"/>
            </a:solidFill>
            <a:prstDash val="solid"/>
          </a:ln>
        </p:spPr>
      </p:sp>
      <p:sp>
        <p:nvSpPr>
          <p:cNvPr id="52" name="Text 50"/>
          <p:cNvSpPr txBox="1"/>
          <p:nvPr/>
        </p:nvSpPr>
        <p:spPr>
          <a:xfrm>
            <a:off x="6487668" y="2011680"/>
            <a:ext cx="1024128"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Decision patterns</a:t>
            </a:r>
            <a:endParaRPr lang="en-US" sz="850" dirty="0"/>
          </a:p>
        </p:txBody>
      </p:sp>
      <p:sp>
        <p:nvSpPr>
          <p:cNvPr id="53" name="Text 51"/>
          <p:cNvSpPr txBox="1"/>
          <p:nvPr/>
        </p:nvSpPr>
        <p:spPr>
          <a:xfrm>
            <a:off x="7301484" y="2039112"/>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4</a:t>
            </a:r>
            <a:endParaRPr lang="en-US" sz="750" dirty="0"/>
          </a:p>
        </p:txBody>
      </p:sp>
      <p:sp>
        <p:nvSpPr>
          <p:cNvPr id="54" name="Shape 52"/>
          <p:cNvSpPr/>
          <p:nvPr/>
        </p:nvSpPr>
        <p:spPr>
          <a:xfrm>
            <a:off x="7653528" y="1188720"/>
            <a:ext cx="1115568" cy="713232"/>
          </a:xfrm>
          <a:prstGeom prst="roundRect">
            <a:avLst>
              <a:gd name="adj" fmla="val 10256"/>
            </a:avLst>
          </a:prstGeom>
          <a:solidFill>
            <a:srgbClr val="1E2A3A"/>
          </a:solidFill>
          <a:ln w="12700">
            <a:solidFill>
              <a:srgbClr val="1E2A3A"/>
            </a:solidFill>
            <a:prstDash val="solid"/>
          </a:ln>
        </p:spPr>
      </p:sp>
      <p:sp>
        <p:nvSpPr>
          <p:cNvPr id="55" name="Text 53"/>
          <p:cNvSpPr txBox="1"/>
          <p:nvPr/>
        </p:nvSpPr>
        <p:spPr>
          <a:xfrm>
            <a:off x="7690104" y="1188720"/>
            <a:ext cx="1042416" cy="713232"/>
          </a:xfrm>
          <a:prstGeom prst="rect">
            <a:avLst/>
          </a:prstGeom>
          <a:noFill/>
          <a:ln/>
        </p:spPr>
        <p:txBody>
          <a:bodyPr wrap="square" lIns="0" tIns="0" rIns="0" bIns="0" rtlCol="0" anchor="ctr"/>
          <a:lstStyle/>
          <a:p>
            <a:pPr algn="ctr" indent="0" marL="0">
              <a:buNone/>
            </a:pPr>
            <a:r>
              <a:rPr lang="en-US" sz="950" b="1" dirty="0">
                <a:solidFill>
                  <a:srgbClr val="FFFFFF"/>
                </a:solidFill>
                <a:latin typeface="Cambria" pitchFamily="34" charset="0"/>
                <a:ea typeface="Cambria" pitchFamily="34" charset="-122"/>
                <a:cs typeface="Cambria" pitchFamily="34" charset="-120"/>
              </a:rPr>
              <a:t>VII.  Reading an error report</a:t>
            </a:r>
            <a:endParaRPr lang="en-US" sz="950" dirty="0"/>
          </a:p>
        </p:txBody>
      </p:sp>
      <p:sp>
        <p:nvSpPr>
          <p:cNvPr id="56" name="Shape 54"/>
          <p:cNvSpPr/>
          <p:nvPr/>
        </p:nvSpPr>
        <p:spPr>
          <a:xfrm>
            <a:off x="7653528" y="2011680"/>
            <a:ext cx="1115568" cy="585216"/>
          </a:xfrm>
          <a:prstGeom prst="roundRect">
            <a:avLst>
              <a:gd name="adj" fmla="val 9375"/>
            </a:avLst>
          </a:prstGeom>
          <a:solidFill>
            <a:srgbClr val="F1F4F8"/>
          </a:solidFill>
          <a:ln w="12700">
            <a:solidFill>
              <a:srgbClr val="D0D7DE"/>
            </a:solidFill>
            <a:prstDash val="solid"/>
          </a:ln>
        </p:spPr>
      </p:sp>
      <p:sp>
        <p:nvSpPr>
          <p:cNvPr id="57" name="Text 55"/>
          <p:cNvSpPr txBox="1"/>
          <p:nvPr/>
        </p:nvSpPr>
        <p:spPr>
          <a:xfrm>
            <a:off x="7699248" y="2011680"/>
            <a:ext cx="1024128" cy="585216"/>
          </a:xfrm>
          <a:prstGeom prst="rect">
            <a:avLst/>
          </a:prstGeom>
          <a:noFill/>
          <a:ln/>
        </p:spPr>
        <p:txBody>
          <a:bodyPr wrap="square" lIns="0" tIns="0" rIns="0" bIns="0" rtlCol="0" anchor="ctr"/>
          <a:lstStyle/>
          <a:p>
            <a:pPr algn="ctr" indent="0" marL="0">
              <a:buNone/>
            </a:pPr>
            <a:r>
              <a:rPr lang="en-US" sz="850" dirty="0">
                <a:solidFill>
                  <a:srgbClr val="1F2933"/>
                </a:solidFill>
                <a:latin typeface="Calibri" pitchFamily="34" charset="0"/>
                <a:ea typeface="Calibri" pitchFamily="34" charset="-122"/>
                <a:cs typeface="Calibri" pitchFamily="34" charset="-120"/>
              </a:rPr>
              <a:t>The kinds of error</a:t>
            </a:r>
            <a:endParaRPr lang="en-US" sz="850" dirty="0"/>
          </a:p>
        </p:txBody>
      </p:sp>
      <p:sp>
        <p:nvSpPr>
          <p:cNvPr id="58" name="Text 56"/>
          <p:cNvSpPr txBox="1"/>
          <p:nvPr/>
        </p:nvSpPr>
        <p:spPr>
          <a:xfrm>
            <a:off x="8513064" y="2039112"/>
            <a:ext cx="219456" cy="164592"/>
          </a:xfrm>
          <a:prstGeom prst="rect">
            <a:avLst/>
          </a:prstGeom>
          <a:noFill/>
          <a:ln/>
        </p:spPr>
        <p:txBody>
          <a:bodyPr wrap="square" lIns="0" tIns="0" rIns="0" bIns="0" rtlCol="0" anchor="ctr"/>
          <a:lstStyle/>
          <a:p>
            <a:pPr algn="ctr" indent="0" marL="0">
              <a:buNone/>
            </a:pPr>
            <a:r>
              <a:rPr lang="en-US" sz="750" b="1" dirty="0">
                <a:solidFill>
                  <a:srgbClr val="306998"/>
                </a:solidFill>
                <a:latin typeface="Calibri" pitchFamily="34" charset="0"/>
                <a:ea typeface="Calibri" pitchFamily="34" charset="-122"/>
                <a:cs typeface="Calibri" pitchFamily="34" charset="-120"/>
              </a:rPr>
              <a:t>6</a:t>
            </a:r>
            <a:endParaRPr lang="en-US" sz="750" dirty="0"/>
          </a:p>
        </p:txBody>
      </p:sp>
      <p:sp>
        <p:nvSpPr>
          <p:cNvPr id="59" name="Text 57"/>
          <p:cNvSpPr txBox="1"/>
          <p:nvPr/>
        </p:nvSpPr>
        <p:spPr>
          <a:xfrm>
            <a:off x="384048" y="4480560"/>
            <a:ext cx="8375904" cy="274320"/>
          </a:xfrm>
          <a:prstGeom prst="rect">
            <a:avLst/>
          </a:prstGeom>
          <a:noFill/>
          <a:ln/>
        </p:spPr>
        <p:txBody>
          <a:bodyPr wrap="square" lIns="0" tIns="0" rIns="0" bIns="0" rtlCol="0" anchor="ctr"/>
          <a:lstStyle/>
          <a:p>
            <a:pPr indent="0" marL="0">
              <a:buNone/>
            </a:pPr>
            <a:r>
              <a:rPr lang="en-US" sz="1200" i="1" dirty="0">
                <a:solidFill>
                  <a:srgbClr val="5B6B7B"/>
                </a:solidFill>
                <a:latin typeface="Calibri" pitchFamily="34" charset="0"/>
                <a:ea typeface="Calibri" pitchFamily="34" charset="-122"/>
                <a:cs typeface="Calibri" pitchFamily="34" charset="-120"/>
              </a:rPr>
              <a:t>The small number on each group is how many concepts it holds. The order on this map is the order of the session.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960120"/>
            <a:ext cx="1188720" cy="914400"/>
          </a:xfrm>
          <a:prstGeom prst="rect">
            <a:avLst/>
          </a:prstGeom>
          <a:noFill/>
          <a:ln/>
        </p:spPr>
        <p:txBody>
          <a:bodyPr wrap="square" lIns="0" tIns="0" rIns="0" bIns="0" rtlCol="0" anchor="ctr"/>
          <a:lstStyle/>
          <a:p>
            <a:pPr indent="0" marL="0">
              <a:buNone/>
            </a:pPr>
            <a:r>
              <a:rPr lang="en-US" sz="5400" b="1" dirty="0">
                <a:solidFill>
                  <a:srgbClr val="FFD43B"/>
                </a:solidFill>
                <a:latin typeface="Cambria" pitchFamily="34" charset="0"/>
                <a:ea typeface="Cambria" pitchFamily="34" charset="-122"/>
                <a:cs typeface="Cambria" pitchFamily="34" charset="-120"/>
              </a:rPr>
              <a:t>I</a:t>
            </a:r>
            <a:endParaRPr lang="en-US" sz="5400" dirty="0"/>
          </a:p>
        </p:txBody>
      </p:sp>
      <p:sp>
        <p:nvSpPr>
          <p:cNvPr id="3" name="Text 1"/>
          <p:cNvSpPr txBox="1"/>
          <p:nvPr/>
        </p:nvSpPr>
        <p:spPr>
          <a:xfrm>
            <a:off x="1783080" y="1051560"/>
            <a:ext cx="6858000" cy="7315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Values that answer yes or no</a:t>
            </a:r>
            <a:endParaRPr lang="en-US" sz="2600" dirty="0"/>
          </a:p>
        </p:txBody>
      </p:sp>
      <p:sp>
        <p:nvSpPr>
          <p:cNvPr id="4" name="Text 2"/>
          <p:cNvSpPr txBox="1"/>
          <p:nvPr/>
        </p:nvSpPr>
        <p:spPr>
          <a:xfrm>
            <a:off x="548640" y="2148840"/>
            <a:ext cx="8046720" cy="788670"/>
          </a:xfrm>
          <a:prstGeom prst="rect">
            <a:avLst/>
          </a:prstGeom>
          <a:noFill/>
          <a:ln/>
        </p:spPr>
        <p:txBody>
          <a:bodyPr wrap="square" lIns="0" tIns="0" rIns="0" bIns="0" rtlCol="0" anchor="t"/>
          <a:lstStyle/>
          <a:p>
            <a:pPr indent="0" marL="0">
              <a:buNone/>
            </a:pPr>
            <a:r>
              <a:rPr lang="en-US" sz="1500" dirty="0">
                <a:solidFill>
                  <a:srgbClr val="C9D4E0"/>
                </a:solidFill>
                <a:latin typeface="Calibri" pitchFamily="34" charset="0"/>
                <a:ea typeface="Calibri" pitchFamily="34" charset="-122"/>
                <a:cs typeface="Calibri" pitchFamily="34" charset="-120"/>
              </a:rPr>
              <a:t>Chapter 1 named three kinds of value: integers, floats and strings. Chapter 2 adds the Boolean, which has only two members, and with it the rule that any value at all can be asked whether it counts as true.</a:t>
            </a:r>
            <a:endParaRPr lang="en-US" sz="1500" dirty="0"/>
          </a:p>
        </p:txBody>
      </p:sp>
      <p:sp>
        <p:nvSpPr>
          <p:cNvPr id="5" name="Text 3"/>
          <p:cNvSpPr txBox="1"/>
          <p:nvPr/>
        </p:nvSpPr>
        <p:spPr>
          <a:xfrm>
            <a:off x="548640" y="4133088"/>
            <a:ext cx="8046720" cy="402336"/>
          </a:xfrm>
          <a:prstGeom prst="rect">
            <a:avLst/>
          </a:prstGeom>
          <a:noFill/>
          <a:ln/>
        </p:spPr>
        <p:txBody>
          <a:bodyPr wrap="square" lIns="0" tIns="0" rIns="0" bIns="0" rtlCol="0" anchor="ctr"/>
          <a:lstStyle/>
          <a:p>
            <a:pPr indent="0" marL="0">
              <a:buNone/>
            </a:pPr>
            <a:r>
              <a:rPr lang="en-US" sz="1250" i="1" dirty="0">
                <a:solidFill>
                  <a:srgbClr val="FFD43B"/>
                </a:solidFill>
                <a:latin typeface="Calibri" pitchFamily="34" charset="0"/>
                <a:ea typeface="Calibri" pitchFamily="34" charset="-122"/>
                <a:cs typeface="Calibri" pitchFamily="34" charset="-120"/>
              </a:rPr>
              <a:t>Truth values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Truth values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Boolean type, truthiness, the value None, and the collections that can be empty</a:t>
            </a:r>
            <a:endParaRPr lang="en-US" sz="1300" dirty="0"/>
          </a:p>
        </p:txBody>
      </p:sp>
      <p:sp>
        <p:nvSpPr>
          <p:cNvPr id="6" name="Shape 4"/>
          <p:cNvSpPr/>
          <p:nvPr/>
        </p:nvSpPr>
        <p:spPr>
          <a:xfrm>
            <a:off x="5532120" y="1152144"/>
            <a:ext cx="3200400" cy="1936496"/>
          </a:xfrm>
          <a:prstGeom prst="roundRect">
            <a:avLst>
              <a:gd name="adj" fmla="val 4722"/>
            </a:avLst>
          </a:prstGeom>
          <a:solidFill>
            <a:srgbClr val="17202B"/>
          </a:solidFill>
          <a:ln w="12700">
            <a:solidFill>
              <a:srgbClr val="17202B"/>
            </a:solidFill>
            <a:prstDash val="solid"/>
          </a:ln>
        </p:spPr>
      </p:sp>
      <p:sp>
        <p:nvSpPr>
          <p:cNvPr id="7" name="Text 5"/>
          <p:cNvSpPr txBox="1"/>
          <p:nvPr/>
        </p:nvSpPr>
        <p:spPr>
          <a:xfrm>
            <a:off x="5733288" y="1252728"/>
            <a:ext cx="2798064" cy="1735328"/>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True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bool(1)</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bool(0)</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bool('text')</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p:txBody>
      </p:sp>
      <p:sp>
        <p:nvSpPr>
          <p:cNvPr id="8" name="Text 6"/>
          <p:cNvSpPr txBox="1"/>
          <p:nvPr/>
        </p:nvSpPr>
        <p:spPr>
          <a:xfrm>
            <a:off x="5532120" y="3106928"/>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4864608" cy="2361692"/>
          </a:xfrm>
          <a:prstGeom prst="roundRect">
            <a:avLst>
              <a:gd name="adj" fmla="val 3872"/>
            </a:avLst>
          </a:prstGeom>
          <a:solidFill>
            <a:srgbClr val="F1F4F8"/>
          </a:solidFill>
          <a:ln w="12700">
            <a:solidFill>
              <a:srgbClr val="F1F4F8"/>
            </a:solidFill>
            <a:prstDash val="solid"/>
          </a:ln>
        </p:spPr>
      </p:sp>
      <p:sp>
        <p:nvSpPr>
          <p:cNvPr id="10" name="Text 8"/>
          <p:cNvSpPr txBox="1"/>
          <p:nvPr/>
        </p:nvSpPr>
        <p:spPr>
          <a:xfrm>
            <a:off x="594360" y="1280160"/>
            <a:ext cx="449884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Truth values are the values that answer a yes-or-no question. They include the two Boolean values True and False, the special value None that stands for the absence of a value, and the rule by which every other value can also be read as true or false. Truth is the currency of flow control, because every decision a program makes reduces to a true or false value (Sweigart, 2025). A condition does not have to be a Boolean: Python accepts any value in its place and decides for itself whether it is true (Python Software Foundation, 2026).</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Boolean value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type with exactly two members, True and False</a:t>
            </a:r>
            <a:endParaRPr lang="en-US" sz="1300" dirty="0"/>
          </a:p>
        </p:txBody>
      </p:sp>
      <p:sp>
        <p:nvSpPr>
          <p:cNvPr id="6" name="Shape 4"/>
          <p:cNvSpPr/>
          <p:nvPr/>
        </p:nvSpPr>
        <p:spPr>
          <a:xfrm>
            <a:off x="411480" y="1152144"/>
            <a:ext cx="4818888" cy="2284222"/>
          </a:xfrm>
          <a:prstGeom prst="roundRect">
            <a:avLst>
              <a:gd name="adj" fmla="val 4003"/>
            </a:avLst>
          </a:prstGeom>
          <a:solidFill>
            <a:srgbClr val="F1F4F8"/>
          </a:solidFill>
          <a:ln w="12700">
            <a:solidFill>
              <a:srgbClr val="F1F4F8"/>
            </a:solidFill>
            <a:prstDash val="solid"/>
          </a:ln>
        </p:spPr>
      </p:sp>
      <p:sp>
        <p:nvSpPr>
          <p:cNvPr id="7" name="Text 5"/>
          <p:cNvSpPr txBox="1"/>
          <p:nvPr/>
        </p:nvSpPr>
        <p:spPr>
          <a:xfrm>
            <a:off x="594360" y="1280160"/>
            <a:ext cx="4453128" cy="20281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 Boolean value is a value of the type bool, and that type has exactly two members. Where the integer, floating-point and string types have an unlimited number of possible values, the Boolean type has only these two (Sweigart, 2025). Boolean values are rarely typed in directly; they mostly arrive as results, because every comparison produces one. The type is named after the mathematician George Boole, which is why both the type name and its two values begin with a capital letter, and the two words are keywords of the language.</a:t>
            </a:r>
            <a:endParaRPr lang="en-US" sz="1250" dirty="0"/>
          </a:p>
        </p:txBody>
      </p:sp>
      <p:sp>
        <p:nvSpPr>
          <p:cNvPr id="8" name="Shape 6"/>
          <p:cNvSpPr/>
          <p:nvPr/>
        </p:nvSpPr>
        <p:spPr>
          <a:xfrm>
            <a:off x="5358384" y="1152144"/>
            <a:ext cx="3374136" cy="2370328"/>
          </a:xfrm>
          <a:prstGeom prst="roundRect">
            <a:avLst>
              <a:gd name="adj" fmla="val 3858"/>
            </a:avLst>
          </a:prstGeom>
          <a:solidFill>
            <a:srgbClr val="17202B"/>
          </a:solidFill>
          <a:ln w="12700">
            <a:solidFill>
              <a:srgbClr val="17202B"/>
            </a:solidFill>
            <a:prstDash val="solid"/>
          </a:ln>
        </p:spPr>
      </p:sp>
      <p:sp>
        <p:nvSpPr>
          <p:cNvPr id="9" name="Text 7"/>
          <p:cNvSpPr txBox="1"/>
          <p:nvPr/>
        </p:nvSpPr>
        <p:spPr>
          <a:xfrm>
            <a:off x="5559552" y="1252728"/>
            <a:ext cx="2971800" cy="2169160"/>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42 == 42</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42 == 99</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True + True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2</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int(True)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1</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'True' == True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p:txBody>
      </p:sp>
      <p:sp>
        <p:nvSpPr>
          <p:cNvPr id="10" name="Text 8"/>
          <p:cNvSpPr txBox="1"/>
          <p:nvPr/>
        </p:nvSpPr>
        <p:spPr>
          <a:xfrm>
            <a:off x="5358384" y="354076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54609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54609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65582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capital letter is not a matter of style: the lowercase word true is an unknown name and raises a NameError, and the string 'True' in quotation marks is text, so 'True' == True evaluates to False.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Truthiness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Any value can be asked whether it counts as true</a:t>
            </a:r>
            <a:endParaRPr lang="en-US" sz="1300" dirty="0"/>
          </a:p>
        </p:txBody>
      </p:sp>
      <p:sp>
        <p:nvSpPr>
          <p:cNvPr id="6" name="Shape 4"/>
          <p:cNvSpPr/>
          <p:nvPr/>
        </p:nvSpPr>
        <p:spPr>
          <a:xfrm>
            <a:off x="411480" y="1152144"/>
            <a:ext cx="4818888" cy="2563114"/>
          </a:xfrm>
          <a:prstGeom prst="roundRect">
            <a:avLst>
              <a:gd name="adj" fmla="val 3568"/>
            </a:avLst>
          </a:prstGeom>
          <a:solidFill>
            <a:srgbClr val="F1F4F8"/>
          </a:solidFill>
          <a:ln w="12700">
            <a:solidFill>
              <a:srgbClr val="F1F4F8"/>
            </a:solidFill>
            <a:prstDash val="solid"/>
          </a:ln>
        </p:spPr>
      </p:sp>
      <p:sp>
        <p:nvSpPr>
          <p:cNvPr id="7" name="Text 5"/>
          <p:cNvSpPr txBox="1"/>
          <p:nvPr/>
        </p:nvSpPr>
        <p:spPr>
          <a:xfrm>
            <a:off x="594360" y="1280160"/>
            <a:ext cx="4453128" cy="230708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Truthiness is the property of every Python value of being counted as true or as false when a Boolean value is needed. The documentation states the principle directly: any object can be tested for truth value, for use in a condition or as an operand of the Boolean operations (Python Software Foundation, 2026). By default an object is considered true unless it belongs to a short list of exceptions: the constants None and False, zero of any numeric type, and the empty sequences and collections. Everything else is true, and the built-in function bool shows the rule at work.</a:t>
            </a:r>
            <a:endParaRPr lang="en-US" sz="1300" dirty="0"/>
          </a:p>
        </p:txBody>
      </p:sp>
      <p:sp>
        <p:nvSpPr>
          <p:cNvPr id="8" name="Shape 6"/>
          <p:cNvSpPr/>
          <p:nvPr/>
        </p:nvSpPr>
        <p:spPr>
          <a:xfrm>
            <a:off x="5358384" y="1152144"/>
            <a:ext cx="3374136" cy="2804160"/>
          </a:xfrm>
          <a:prstGeom prst="roundRect">
            <a:avLst>
              <a:gd name="adj" fmla="val 3261"/>
            </a:avLst>
          </a:prstGeom>
          <a:solidFill>
            <a:srgbClr val="17202B"/>
          </a:solidFill>
          <a:ln w="12700">
            <a:solidFill>
              <a:srgbClr val="17202B"/>
            </a:solidFill>
            <a:prstDash val="solid"/>
          </a:ln>
        </p:spPr>
      </p:sp>
      <p:sp>
        <p:nvSpPr>
          <p:cNvPr id="9" name="Text 7"/>
          <p:cNvSpPr txBox="1"/>
          <p:nvPr/>
        </p:nvSpPr>
        <p:spPr>
          <a:xfrm>
            <a:off x="5559552" y="1252728"/>
            <a:ext cx="2971800" cy="2602992"/>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bool('')</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bool(' ')</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bool('0')</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bool(0.0)</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bool([0])</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 == False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p:txBody>
      </p:sp>
      <p:sp>
        <p:nvSpPr>
          <p:cNvPr id="10" name="Text 8"/>
          <p:cNvSpPr txBox="1"/>
          <p:nvPr/>
        </p:nvSpPr>
        <p:spPr>
          <a:xfrm>
            <a:off x="5358384" y="3974592"/>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824986"/>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824986"/>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934714"/>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Truth is decided by emptiness or by zero, never by what the content says. The string '0' is not empty, so bool('0') is True, and a list holding a zero is not empty either.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value None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single value that stands for the absence of a value</a:t>
            </a:r>
            <a:endParaRPr lang="en-US" sz="1300" dirty="0"/>
          </a:p>
        </p:txBody>
      </p:sp>
      <p:sp>
        <p:nvSpPr>
          <p:cNvPr id="6" name="Shape 4"/>
          <p:cNvSpPr/>
          <p:nvPr/>
        </p:nvSpPr>
        <p:spPr>
          <a:xfrm>
            <a:off x="411480" y="1152144"/>
            <a:ext cx="4818888" cy="2361692"/>
          </a:xfrm>
          <a:prstGeom prst="roundRect">
            <a:avLst>
              <a:gd name="adj" fmla="val 3872"/>
            </a:avLst>
          </a:prstGeom>
          <a:solidFill>
            <a:srgbClr val="F1F4F8"/>
          </a:solidFill>
          <a:ln w="12700">
            <a:solidFill>
              <a:srgbClr val="F1F4F8"/>
            </a:solidFill>
            <a:prstDash val="solid"/>
          </a:ln>
        </p:spPr>
      </p:sp>
      <p:sp>
        <p:nvSpPr>
          <p:cNvPr id="7" name="Text 5"/>
          <p:cNvSpPr txBox="1"/>
          <p:nvPr/>
        </p:nvSpPr>
        <p:spPr>
          <a:xfrm>
            <a:off x="594360" y="1280160"/>
            <a:ext cx="445312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None is a built-in value that represents the absence of a value; the documentation describes it as the sole instance of the type NoneType, so there is exactly one None in a running program (Python Software Foundation, 2026). A program often has to say that nothing is there yet without inventing a number or a string for the purpose, and zero and the empty string already mean something. None is what a function produces when it does not return anything explicitly, and its truth value is false.</a:t>
            </a:r>
            <a:endParaRPr lang="en-US" sz="1300" dirty="0"/>
          </a:p>
        </p:txBody>
      </p:sp>
      <p:sp>
        <p:nvSpPr>
          <p:cNvPr id="8" name="Shape 6"/>
          <p:cNvSpPr/>
          <p:nvPr/>
        </p:nvSpPr>
        <p:spPr>
          <a:xfrm>
            <a:off x="5358384" y="1152144"/>
            <a:ext cx="3374136" cy="2370328"/>
          </a:xfrm>
          <a:prstGeom prst="roundRect">
            <a:avLst>
              <a:gd name="adj" fmla="val 3858"/>
            </a:avLst>
          </a:prstGeom>
          <a:solidFill>
            <a:srgbClr val="17202B"/>
          </a:solidFill>
          <a:ln w="12700">
            <a:solidFill>
              <a:srgbClr val="17202B"/>
            </a:solidFill>
            <a:prstDash val="solid"/>
          </a:ln>
        </p:spPr>
      </p:sp>
      <p:sp>
        <p:nvSpPr>
          <p:cNvPr id="9" name="Text 7"/>
          <p:cNvSpPr txBox="1"/>
          <p:nvPr/>
        </p:nvSpPr>
        <p:spPr>
          <a:xfrm>
            <a:off x="5559552" y="1252728"/>
            <a:ext cx="2971800" cy="2169160"/>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bool(None)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None == False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None == 0</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None or 'default'</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'default'</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type(None)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&lt;class 'NoneType'&gt;</a:t>
            </a:r>
            <a:endParaRPr lang="en-US" sz="1400" dirty="0"/>
          </a:p>
        </p:txBody>
      </p:sp>
      <p:sp>
        <p:nvSpPr>
          <p:cNvPr id="10" name="Text 8"/>
          <p:cNvSpPr txBox="1"/>
          <p:nvPr/>
        </p:nvSpPr>
        <p:spPr>
          <a:xfrm>
            <a:off x="5358384" y="354076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62356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62356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73329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None is false, but it is not equal to False and not equal to zero. The style guide asks that comparisons with None be made with is or is not, never with the equality operators (Van Rossum et al., 2001).</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Sequences and collections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Groups of values, and what it means for one to be empty</a:t>
            </a:r>
            <a:endParaRPr lang="en-US" sz="1300" dirty="0"/>
          </a:p>
        </p:txBody>
      </p:sp>
      <p:sp>
        <p:nvSpPr>
          <p:cNvPr id="6" name="Shape 4"/>
          <p:cNvSpPr/>
          <p:nvPr/>
        </p:nvSpPr>
        <p:spPr>
          <a:xfrm>
            <a:off x="411480" y="1152144"/>
            <a:ext cx="4818888" cy="2361692"/>
          </a:xfrm>
          <a:prstGeom prst="roundRect">
            <a:avLst>
              <a:gd name="adj" fmla="val 3872"/>
            </a:avLst>
          </a:prstGeom>
          <a:solidFill>
            <a:srgbClr val="F1F4F8"/>
          </a:solidFill>
          <a:ln w="12700">
            <a:solidFill>
              <a:srgbClr val="F1F4F8"/>
            </a:solidFill>
            <a:prstDash val="solid"/>
          </a:ln>
        </p:spPr>
      </p:sp>
      <p:sp>
        <p:nvSpPr>
          <p:cNvPr id="7" name="Text 5"/>
          <p:cNvSpPr txBox="1"/>
          <p:nvPr/>
        </p:nvSpPr>
        <p:spPr>
          <a:xfrm>
            <a:off x="594360" y="1280160"/>
            <a:ext cx="445312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sequence is an ordered group of items that can be reached by position and that has a length; the glossary names list, str, tuple and bytes as the built-in sequence types (Python Software Foundation, 2026). A collection is the wider word for any object that holds other values, so it also covers the dictionary, which maps keys to values, and the set. The chapter needs these words because the rule for truth refers to them: empty sequences and collections count as false, and len reports how many items a group holds.</a:t>
            </a:r>
            <a:endParaRPr lang="en-US" sz="1300" dirty="0"/>
          </a:p>
        </p:txBody>
      </p:sp>
      <p:sp>
        <p:nvSpPr>
          <p:cNvPr id="8" name="Shape 6"/>
          <p:cNvSpPr/>
          <p:nvPr/>
        </p:nvSpPr>
        <p:spPr>
          <a:xfrm>
            <a:off x="5358384" y="1152144"/>
            <a:ext cx="3374136" cy="2370328"/>
          </a:xfrm>
          <a:prstGeom prst="roundRect">
            <a:avLst>
              <a:gd name="adj" fmla="val 3858"/>
            </a:avLst>
          </a:prstGeom>
          <a:solidFill>
            <a:srgbClr val="17202B"/>
          </a:solidFill>
          <a:ln w="12700">
            <a:solidFill>
              <a:srgbClr val="17202B"/>
            </a:solidFill>
            <a:prstDash val="solid"/>
          </a:ln>
        </p:spPr>
      </p:sp>
      <p:sp>
        <p:nvSpPr>
          <p:cNvPr id="9" name="Text 7"/>
          <p:cNvSpPr txBox="1"/>
          <p:nvPr/>
        </p:nvSpPr>
        <p:spPr>
          <a:xfrm>
            <a:off x="5559552" y="1252728"/>
            <a:ext cx="2971800" cy="2169160"/>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len([10, 20, 30])</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3</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len('')</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0</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type({})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&lt;class 'dict'&gt;</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bool([[]])</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bool([])</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p:txBody>
      </p:sp>
      <p:sp>
        <p:nvSpPr>
          <p:cNvPr id="10" name="Text 8"/>
          <p:cNvSpPr txBox="1"/>
          <p:nvPr/>
        </p:nvSpPr>
        <p:spPr>
          <a:xfrm>
            <a:off x="5358384" y="354076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623564"/>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623564"/>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733292"/>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group counts as false only when it is empty. A group of one item is true even when that item is itself false or empty, because the outer group still holds one thing.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960120"/>
            <a:ext cx="1188720" cy="914400"/>
          </a:xfrm>
          <a:prstGeom prst="rect">
            <a:avLst/>
          </a:prstGeom>
          <a:noFill/>
          <a:ln/>
        </p:spPr>
        <p:txBody>
          <a:bodyPr wrap="square" lIns="0" tIns="0" rIns="0" bIns="0" rtlCol="0" anchor="ctr"/>
          <a:lstStyle/>
          <a:p>
            <a:pPr indent="0" marL="0">
              <a:buNone/>
            </a:pPr>
            <a:r>
              <a:rPr lang="en-US" sz="5400" b="1" dirty="0">
                <a:solidFill>
                  <a:srgbClr val="FFD43B"/>
                </a:solidFill>
                <a:latin typeface="Cambria" pitchFamily="34" charset="0"/>
                <a:ea typeface="Cambria" pitchFamily="34" charset="-122"/>
                <a:cs typeface="Cambria" pitchFamily="34" charset="-120"/>
              </a:rPr>
              <a:t>II</a:t>
            </a:r>
            <a:endParaRPr lang="en-US" sz="5400" dirty="0"/>
          </a:p>
        </p:txBody>
      </p:sp>
      <p:sp>
        <p:nvSpPr>
          <p:cNvPr id="3" name="Text 1"/>
          <p:cNvSpPr txBox="1"/>
          <p:nvPr/>
        </p:nvSpPr>
        <p:spPr>
          <a:xfrm>
            <a:off x="1783080" y="1051560"/>
            <a:ext cx="6858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Comparisons</a:t>
            </a:r>
            <a:endParaRPr lang="en-US" sz="3200" dirty="0"/>
          </a:p>
        </p:txBody>
      </p:sp>
      <p:sp>
        <p:nvSpPr>
          <p:cNvPr id="4" name="Text 2"/>
          <p:cNvSpPr txBox="1"/>
          <p:nvPr/>
        </p:nvSpPr>
        <p:spPr>
          <a:xfrm>
            <a:off x="548640" y="2148840"/>
            <a:ext cx="8046720" cy="788670"/>
          </a:xfrm>
          <a:prstGeom prst="rect">
            <a:avLst/>
          </a:prstGeom>
          <a:noFill/>
          <a:ln/>
        </p:spPr>
        <p:txBody>
          <a:bodyPr wrap="square" lIns="0" tIns="0" rIns="0" bIns="0" rtlCol="0" anchor="t"/>
          <a:lstStyle/>
          <a:p>
            <a:pPr indent="0" marL="0">
              <a:buNone/>
            </a:pPr>
            <a:r>
              <a:rPr lang="en-US" sz="1500" dirty="0">
                <a:solidFill>
                  <a:srgbClr val="C9D4E0"/>
                </a:solidFill>
                <a:latin typeface="Calibri" pitchFamily="34" charset="0"/>
                <a:ea typeface="Calibri" pitchFamily="34" charset="-122"/>
                <a:cs typeface="Calibri" pitchFamily="34" charset="-120"/>
              </a:rPr>
              <a:t>A comparison asks a question about two values and answers with a Boolean. The textbook lists six comparison operators; the reference documentation counts eight, because it adds the two identity operators to them.</a:t>
            </a:r>
            <a:endParaRPr lang="en-US" sz="1500" dirty="0"/>
          </a:p>
        </p:txBody>
      </p:sp>
      <p:sp>
        <p:nvSpPr>
          <p:cNvPr id="5" name="Text 3"/>
          <p:cNvSpPr txBox="1"/>
          <p:nvPr/>
        </p:nvSpPr>
        <p:spPr>
          <a:xfrm>
            <a:off x="548640" y="4133088"/>
            <a:ext cx="8046720" cy="402336"/>
          </a:xfrm>
          <a:prstGeom prst="rect">
            <a:avLst/>
          </a:prstGeom>
          <a:noFill/>
          <a:ln/>
        </p:spPr>
        <p:txBody>
          <a:bodyPr wrap="square" lIns="0" tIns="0" rIns="0" bIns="0" rtlCol="0" anchor="ctr"/>
          <a:lstStyle/>
          <a:p>
            <a:pPr indent="0" marL="0">
              <a:buNone/>
            </a:pPr>
            <a:r>
              <a:rPr lang="en-US" sz="1250" i="1" dirty="0">
                <a:solidFill>
                  <a:srgbClr val="FFD43B"/>
                </a:solidFill>
                <a:latin typeface="Calibri" pitchFamily="34" charset="0"/>
                <a:ea typeface="Calibri" pitchFamily="34" charset="-122"/>
                <a:cs typeface="Calibri" pitchFamily="34" charset="-120"/>
              </a:rPr>
              <a:t>Equality comparisons   ·   Ordering comparisons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Equality comparisons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Three questions that look alike: ==, = and is</a:t>
            </a:r>
            <a:endParaRPr lang="en-US" sz="1300" dirty="0"/>
          </a:p>
        </p:txBody>
      </p:sp>
      <p:sp>
        <p:nvSpPr>
          <p:cNvPr id="6" name="Shape 4"/>
          <p:cNvSpPr/>
          <p:nvPr/>
        </p:nvSpPr>
        <p:spPr>
          <a:xfrm>
            <a:off x="5532120" y="1152144"/>
            <a:ext cx="3200400" cy="1502664"/>
          </a:xfrm>
          <a:prstGeom prst="roundRect">
            <a:avLst>
              <a:gd name="adj" fmla="val 6085"/>
            </a:avLst>
          </a:prstGeom>
          <a:solidFill>
            <a:srgbClr val="17202B"/>
          </a:solidFill>
          <a:ln w="12700">
            <a:solidFill>
              <a:srgbClr val="17202B"/>
            </a:solidFill>
            <a:prstDash val="solid"/>
          </a:ln>
        </p:spPr>
      </p:sp>
      <p:sp>
        <p:nvSpPr>
          <p:cNvPr id="7" name="Text 5"/>
          <p:cNvSpPr txBox="1"/>
          <p:nvPr/>
        </p:nvSpPr>
        <p:spPr>
          <a:xfrm>
            <a:off x="5733288" y="1252728"/>
            <a:ext cx="2798064" cy="1301496"/>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'hello' == 'hello'</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42 == '42'</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None is None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p:txBody>
      </p:sp>
      <p:sp>
        <p:nvSpPr>
          <p:cNvPr id="8" name="Text 6"/>
          <p:cNvSpPr txBox="1"/>
          <p:nvPr/>
        </p:nvSpPr>
        <p:spPr>
          <a:xfrm>
            <a:off x="5532120" y="2673096"/>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4864608" cy="2764536"/>
          </a:xfrm>
          <a:prstGeom prst="roundRect">
            <a:avLst>
              <a:gd name="adj" fmla="val 3308"/>
            </a:avLst>
          </a:prstGeom>
          <a:solidFill>
            <a:srgbClr val="F1F4F8"/>
          </a:solidFill>
          <a:ln w="12700">
            <a:solidFill>
              <a:srgbClr val="F1F4F8"/>
            </a:solidFill>
            <a:prstDash val="solid"/>
          </a:ln>
        </p:spPr>
      </p:sp>
      <p:sp>
        <p:nvSpPr>
          <p:cNvPr id="10" name="Text 8"/>
          <p:cNvSpPr txBox="1"/>
          <p:nvPr/>
        </p:nvSpPr>
        <p:spPr>
          <a:xfrm>
            <a:off x="594360" y="1280160"/>
            <a:ext cx="4498848" cy="250850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Equality comparisons ask whether two values are the same. The two operators for the purpose are == and !=, which compare the values of their operands, and the identity operators is and is not, which ask the different question of whether two expressions refer to one and the same object (Python Software Foundation, 2026). Equality is the question programs ask most often - whether the user typed the expected word, whether a number reached a target, whether a value is None - and the three questions need three different tools. Choosing the wrong one produces a program that runs and answers incorrectly.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Equality</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 and != compare values, of any type</a:t>
            </a:r>
            <a:endParaRPr lang="en-US" sz="1300" dirty="0"/>
          </a:p>
        </p:txBody>
      </p:sp>
      <p:sp>
        <p:nvSpPr>
          <p:cNvPr id="6" name="Shape 4"/>
          <p:cNvSpPr/>
          <p:nvPr/>
        </p:nvSpPr>
        <p:spPr>
          <a:xfrm>
            <a:off x="411480" y="1152144"/>
            <a:ext cx="4818888" cy="2284222"/>
          </a:xfrm>
          <a:prstGeom prst="roundRect">
            <a:avLst>
              <a:gd name="adj" fmla="val 4003"/>
            </a:avLst>
          </a:prstGeom>
          <a:solidFill>
            <a:srgbClr val="F1F4F8"/>
          </a:solidFill>
          <a:ln w="12700">
            <a:solidFill>
              <a:srgbClr val="F1F4F8"/>
            </a:solidFill>
            <a:prstDash val="solid"/>
          </a:ln>
        </p:spPr>
      </p:sp>
      <p:sp>
        <p:nvSpPr>
          <p:cNvPr id="7" name="Text 5"/>
          <p:cNvSpPr txBox="1"/>
          <p:nvPr/>
        </p:nvSpPr>
        <p:spPr>
          <a:xfrm>
            <a:off x="594360" y="1280160"/>
            <a:ext cx="4453128" cy="20281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The equality operators compare two values: == evaluates to True when the values on both sides are the same, and != evaluates to True when they are different (Sweigart, 2025). Both return a Boolean and neither changes what it compares. They work with values of any data type. Strings are compared character by character and capitals count. Numbers are compared by their value even when their types differ, so the integer 42 equals the float 42.0 (Sweigart, 2025); values of unrelated types are simply never equal, and no error is raised.</a:t>
            </a:r>
            <a:endParaRPr lang="en-US" sz="1250" dirty="0"/>
          </a:p>
        </p:txBody>
      </p:sp>
      <p:sp>
        <p:nvSpPr>
          <p:cNvPr id="8" name="Shape 6"/>
          <p:cNvSpPr/>
          <p:nvPr/>
        </p:nvSpPr>
        <p:spPr>
          <a:xfrm>
            <a:off x="5358384" y="1152144"/>
            <a:ext cx="3374136" cy="2370328"/>
          </a:xfrm>
          <a:prstGeom prst="roundRect">
            <a:avLst>
              <a:gd name="adj" fmla="val 3858"/>
            </a:avLst>
          </a:prstGeom>
          <a:solidFill>
            <a:srgbClr val="17202B"/>
          </a:solidFill>
          <a:ln w="12700">
            <a:solidFill>
              <a:srgbClr val="17202B"/>
            </a:solidFill>
            <a:prstDash val="solid"/>
          </a:ln>
        </p:spPr>
      </p:sp>
      <p:sp>
        <p:nvSpPr>
          <p:cNvPr id="9" name="Text 7"/>
          <p:cNvSpPr txBox="1"/>
          <p:nvPr/>
        </p:nvSpPr>
        <p:spPr>
          <a:xfrm>
            <a:off x="5559552" y="1252728"/>
            <a:ext cx="2971800" cy="2169160"/>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42 == 42.0</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42 == '42'</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'hello' == 'Hello'</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0.1 + 0.2 == 0.3</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2 != 3</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p:txBody>
      </p:sp>
      <p:sp>
        <p:nvSpPr>
          <p:cNvPr id="10" name="Text 8"/>
          <p:cNvSpPr txBox="1"/>
          <p:nvPr/>
        </p:nvSpPr>
        <p:spPr>
          <a:xfrm>
            <a:off x="5358384" y="354076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54609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54609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65582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Equality of floating-point numbers needs care: because floats are stored in binary, 0.1 + 0.2 == 0.3 evaluates to False, so a program that tests a calculated float for exact equality may never find what it expects.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Equality versus assignment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characters that ask, one that stores</a:t>
            </a:r>
            <a:endParaRPr lang="en-US" sz="1300" dirty="0"/>
          </a:p>
        </p:txBody>
      </p:sp>
      <p:sp>
        <p:nvSpPr>
          <p:cNvPr id="6" name="Shape 4"/>
          <p:cNvSpPr/>
          <p:nvPr/>
        </p:nvSpPr>
        <p:spPr>
          <a:xfrm>
            <a:off x="411480" y="1152144"/>
            <a:ext cx="4818888" cy="2361692"/>
          </a:xfrm>
          <a:prstGeom prst="roundRect">
            <a:avLst>
              <a:gd name="adj" fmla="val 3872"/>
            </a:avLst>
          </a:prstGeom>
          <a:solidFill>
            <a:srgbClr val="F1F4F8"/>
          </a:solidFill>
          <a:ln w="12700">
            <a:solidFill>
              <a:srgbClr val="F1F4F8"/>
            </a:solidFill>
            <a:prstDash val="solid"/>
          </a:ln>
        </p:spPr>
      </p:sp>
      <p:sp>
        <p:nvSpPr>
          <p:cNvPr id="7" name="Text 5"/>
          <p:cNvSpPr txBox="1"/>
          <p:nvPr/>
        </p:nvSpPr>
        <p:spPr>
          <a:xfrm>
            <a:off x="594360" y="1280160"/>
            <a:ext cx="445312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symbols == and = look alike and do entirely different things. The textbook states the difference in two sentences: the == operator asks whether two values are the same as each other, and the = operator puts the value on the right into the variable on the left (Sweigart, 2025). The first is a comparison and produces a Boolean; the second is a statement and produces no value at all. The book offers a way to remember which is which: == has two characters, just like !=, and both are comparisons.</a:t>
            </a:r>
            <a:endParaRPr lang="en-US" sz="1300" dirty="0"/>
          </a:p>
        </p:txBody>
      </p:sp>
      <p:sp>
        <p:nvSpPr>
          <p:cNvPr id="8" name="Shape 6"/>
          <p:cNvSpPr/>
          <p:nvPr/>
        </p:nvSpPr>
        <p:spPr>
          <a:xfrm>
            <a:off x="5358384" y="1152144"/>
            <a:ext cx="3374136" cy="1719580"/>
          </a:xfrm>
          <a:prstGeom prst="roundRect">
            <a:avLst>
              <a:gd name="adj" fmla="val 5318"/>
            </a:avLst>
          </a:prstGeom>
          <a:solidFill>
            <a:srgbClr val="17202B"/>
          </a:solidFill>
          <a:ln w="12700">
            <a:solidFill>
              <a:srgbClr val="17202B"/>
            </a:solidFill>
            <a:prstDash val="solid"/>
          </a:ln>
        </p:spPr>
      </p:sp>
      <p:sp>
        <p:nvSpPr>
          <p:cNvPr id="9" name="Text 7"/>
          <p:cNvSpPr txBox="1"/>
          <p:nvPr/>
        </p:nvSpPr>
        <p:spPr>
          <a:xfrm>
            <a:off x="5559552" y="1252728"/>
            <a:ext cx="2971800" cy="1518412"/>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4 == 2 + 2</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spam = 4</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spam == 4</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spam</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4</a:t>
            </a:r>
            <a:endParaRPr lang="en-US" sz="1400" dirty="0"/>
          </a:p>
        </p:txBody>
      </p:sp>
      <p:sp>
        <p:nvSpPr>
          <p:cNvPr id="10" name="Text 8"/>
          <p:cNvSpPr txBox="1"/>
          <p:nvPr/>
        </p:nvSpPr>
        <p:spPr>
          <a:xfrm>
            <a:off x="5358384" y="2890012"/>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62356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62356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73329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Python guards against the common slip: if x = 3: is a SyntaxError that suggests == or :=. The reverse slip is not guarded, because a line such as spam == 4 on its own is legal and simply does nothing.</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Identity comparison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is and is not ask whether two names mean the same object</a:t>
            </a:r>
            <a:endParaRPr lang="en-US" sz="1300" dirty="0"/>
          </a:p>
        </p:txBody>
      </p:sp>
      <p:sp>
        <p:nvSpPr>
          <p:cNvPr id="6" name="Shape 4"/>
          <p:cNvSpPr/>
          <p:nvPr/>
        </p:nvSpPr>
        <p:spPr>
          <a:xfrm>
            <a:off x="411480" y="1152144"/>
            <a:ext cx="8321040" cy="1370076"/>
          </a:xfrm>
          <a:prstGeom prst="roundRect">
            <a:avLst>
              <a:gd name="adj" fmla="val 6674"/>
            </a:avLst>
          </a:prstGeom>
          <a:solidFill>
            <a:srgbClr val="F1F4F8"/>
          </a:solidFill>
          <a:ln w="12700">
            <a:solidFill>
              <a:srgbClr val="F1F4F8"/>
            </a:solidFill>
            <a:prstDash val="solid"/>
          </a:ln>
        </p:spPr>
      </p:sp>
      <p:sp>
        <p:nvSpPr>
          <p:cNvPr id="7" name="Text 5"/>
          <p:cNvSpPr txBox="1"/>
          <p:nvPr/>
        </p:nvSpPr>
        <p:spPr>
          <a:xfrm>
            <a:off x="594360" y="1280160"/>
            <a:ext cx="7955280" cy="111404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An identity comparison asks whether two expressions refer to one and the same object, not merely to equal values. The operator is evaluates to True for the same object, is not for different ones (Python Software Foundation, 2026). Every object has an identity. Identity matters for values that exist only once: the documentation calls None a singleton and records that the style guide advises comparing singletons with is, never with the equality operators. The behaviour of is cannot be customised and it never raises an exception, which makes it the dependable way to ask whether a value is None.</a:t>
            </a:r>
            <a:endParaRPr lang="en-US" sz="1100" dirty="0"/>
          </a:p>
        </p:txBody>
      </p:sp>
      <p:sp>
        <p:nvSpPr>
          <p:cNvPr id="8" name="Shape 6"/>
          <p:cNvSpPr/>
          <p:nvPr/>
        </p:nvSpPr>
        <p:spPr>
          <a:xfrm>
            <a:off x="411480" y="2631948"/>
            <a:ext cx="4572000" cy="1068832"/>
          </a:xfrm>
          <a:prstGeom prst="roundRect">
            <a:avLst>
              <a:gd name="adj" fmla="val 8555"/>
            </a:avLst>
          </a:prstGeom>
          <a:solidFill>
            <a:srgbClr val="17202B"/>
          </a:solidFill>
          <a:ln w="12700">
            <a:solidFill>
              <a:srgbClr val="17202B"/>
            </a:solidFill>
            <a:prstDash val="solid"/>
          </a:ln>
        </p:spPr>
      </p:sp>
      <p:sp>
        <p:nvSpPr>
          <p:cNvPr id="9" name="Text 7"/>
          <p:cNvSpPr txBox="1"/>
          <p:nvPr/>
        </p:nvSpPr>
        <p:spPr>
          <a:xfrm>
            <a:off x="612648" y="2732532"/>
            <a:ext cx="4169664" cy="867664"/>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a = [1, 2]</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b = [1, 2]</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c = a</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print(a == b, a is b, a is c)</a:t>
            </a:r>
            <a:endParaRPr lang="en-US" sz="1400" dirty="0"/>
          </a:p>
        </p:txBody>
      </p:sp>
      <p:sp>
        <p:nvSpPr>
          <p:cNvPr id="10" name="Shape 8"/>
          <p:cNvSpPr/>
          <p:nvPr/>
        </p:nvSpPr>
        <p:spPr>
          <a:xfrm>
            <a:off x="5166360" y="2631948"/>
            <a:ext cx="3566160" cy="418084"/>
          </a:xfrm>
          <a:prstGeom prst="roundRect">
            <a:avLst>
              <a:gd name="adj" fmla="val 21871"/>
            </a:avLst>
          </a:prstGeom>
          <a:solidFill>
            <a:srgbClr val="0F1823"/>
          </a:solidFill>
          <a:ln w="12700">
            <a:solidFill>
              <a:srgbClr val="0F1823"/>
            </a:solidFill>
            <a:prstDash val="solid"/>
          </a:ln>
        </p:spPr>
      </p:sp>
      <p:sp>
        <p:nvSpPr>
          <p:cNvPr id="11" name="Text 9"/>
          <p:cNvSpPr txBox="1"/>
          <p:nvPr/>
        </p:nvSpPr>
        <p:spPr>
          <a:xfrm>
            <a:off x="5367528" y="2732532"/>
            <a:ext cx="3163824" cy="216916"/>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True False True</a:t>
            </a:r>
            <a:endParaRPr lang="en-US" sz="1400" dirty="0"/>
          </a:p>
        </p:txBody>
      </p:sp>
      <p:sp>
        <p:nvSpPr>
          <p:cNvPr id="12" name="Text 10"/>
          <p:cNvSpPr txBox="1"/>
          <p:nvPr/>
        </p:nvSpPr>
        <p:spPr>
          <a:xfrm>
            <a:off x="411480" y="3719068"/>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identity_v1_0_0.py, run under Python 3.14.4</a:t>
            </a:r>
            <a:endParaRPr lang="en-US" sz="900" dirty="0"/>
          </a:p>
        </p:txBody>
      </p:sp>
      <p:sp>
        <p:nvSpPr>
          <p:cNvPr id="13" name="Shape 11"/>
          <p:cNvSpPr/>
          <p:nvPr/>
        </p:nvSpPr>
        <p:spPr>
          <a:xfrm>
            <a:off x="411480" y="4048252"/>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048252"/>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157980"/>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operator is is not a stricter ==, and it must not be used on numbers or text. Two separate objects can be equal without being identical, which is exactly what the program on this slide prints.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Ordering comparisons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Which of two values comes first, including text</a:t>
            </a:r>
            <a:endParaRPr lang="en-US" sz="1300" dirty="0"/>
          </a:p>
        </p:txBody>
      </p:sp>
      <p:sp>
        <p:nvSpPr>
          <p:cNvPr id="6" name="Shape 4"/>
          <p:cNvSpPr/>
          <p:nvPr/>
        </p:nvSpPr>
        <p:spPr>
          <a:xfrm>
            <a:off x="5532120" y="1152144"/>
            <a:ext cx="3200400" cy="1502664"/>
          </a:xfrm>
          <a:prstGeom prst="roundRect">
            <a:avLst>
              <a:gd name="adj" fmla="val 6085"/>
            </a:avLst>
          </a:prstGeom>
          <a:solidFill>
            <a:srgbClr val="17202B"/>
          </a:solidFill>
          <a:ln w="12700">
            <a:solidFill>
              <a:srgbClr val="17202B"/>
            </a:solidFill>
            <a:prstDash val="solid"/>
          </a:ln>
        </p:spPr>
      </p:sp>
      <p:sp>
        <p:nvSpPr>
          <p:cNvPr id="7" name="Text 5"/>
          <p:cNvSpPr txBox="1"/>
          <p:nvPr/>
        </p:nvSpPr>
        <p:spPr>
          <a:xfrm>
            <a:off x="5733288" y="1252728"/>
            <a:ext cx="2798064" cy="1301496"/>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5 &lt;= 5</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1 &lt; 2 &lt; 3</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'apple' &lt; 'banana'</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p:txBody>
      </p:sp>
      <p:sp>
        <p:nvSpPr>
          <p:cNvPr id="8" name="Text 6"/>
          <p:cNvSpPr txBox="1"/>
          <p:nvPr/>
        </p:nvSpPr>
        <p:spPr>
          <a:xfrm>
            <a:off x="5532120" y="2673096"/>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4864608" cy="2563114"/>
          </a:xfrm>
          <a:prstGeom prst="roundRect">
            <a:avLst>
              <a:gd name="adj" fmla="val 3568"/>
            </a:avLst>
          </a:prstGeom>
          <a:solidFill>
            <a:srgbClr val="F1F4F8"/>
          </a:solidFill>
          <a:ln w="12700">
            <a:solidFill>
              <a:srgbClr val="F1F4F8"/>
            </a:solidFill>
            <a:prstDash val="solid"/>
          </a:ln>
        </p:spPr>
      </p:sp>
      <p:sp>
        <p:nvSpPr>
          <p:cNvPr id="10" name="Text 8"/>
          <p:cNvSpPr txBox="1"/>
          <p:nvPr/>
        </p:nvSpPr>
        <p:spPr>
          <a:xfrm>
            <a:off x="594360" y="1280160"/>
            <a:ext cx="4498848" cy="230708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Ordering comparisons ask which of two values comes first, with the four operators &lt;, &gt;, &lt;= and &gt;= (Sweigart, 2025). Programs are full of thresholds and limits - an age under twelve, a stock level at least ten, a price not above a budget - and each is one ordering comparison. Because they all return a Boolean, they join with equality comparisons and with the Boolean operators into conditions of any size. Python also lets several of them be chained in one expression, and it applies the same operators to text, by a rule that surprises beginners.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Ordering</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Less than, greater than, and the two that include the boundary</a:t>
            </a:r>
            <a:endParaRPr lang="en-US" sz="1300" dirty="0"/>
          </a:p>
        </p:txBody>
      </p:sp>
      <p:sp>
        <p:nvSpPr>
          <p:cNvPr id="6" name="Shape 4"/>
          <p:cNvSpPr/>
          <p:nvPr/>
        </p:nvSpPr>
        <p:spPr>
          <a:xfrm>
            <a:off x="411480" y="1152144"/>
            <a:ext cx="4818888" cy="2361692"/>
          </a:xfrm>
          <a:prstGeom prst="roundRect">
            <a:avLst>
              <a:gd name="adj" fmla="val 3872"/>
            </a:avLst>
          </a:prstGeom>
          <a:solidFill>
            <a:srgbClr val="F1F4F8"/>
          </a:solidFill>
          <a:ln w="12700">
            <a:solidFill>
              <a:srgbClr val="F1F4F8"/>
            </a:solidFill>
            <a:prstDash val="solid"/>
          </a:ln>
        </p:spPr>
      </p:sp>
      <p:sp>
        <p:nvSpPr>
          <p:cNvPr id="7" name="Text 5"/>
          <p:cNvSpPr txBox="1"/>
          <p:nvPr/>
        </p:nvSpPr>
        <p:spPr>
          <a:xfrm>
            <a:off x="594360" y="1280160"/>
            <a:ext cx="445312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ordering operators compare two values by size: &lt; is true when the first is smaller, &gt; when it is larger, &lt;= when it is smaller or equal, and &gt;= when it is larger or equal (Sweigart, 2025). Each returns True or False, and the distinction between the strict and the non-strict form decides whether the boundary value itself belongs to the range. Integers and floats can be mixed freely. Where an order is not defined, Python refuses instead of guessing, which is what the last line of the card shows.</a:t>
            </a:r>
            <a:endParaRPr lang="en-US" sz="1300" dirty="0"/>
          </a:p>
        </p:txBody>
      </p:sp>
      <p:sp>
        <p:nvSpPr>
          <p:cNvPr id="8" name="Shape 6"/>
          <p:cNvSpPr/>
          <p:nvPr/>
        </p:nvSpPr>
        <p:spPr>
          <a:xfrm>
            <a:off x="5358384" y="1152144"/>
            <a:ext cx="3374136" cy="1394206"/>
          </a:xfrm>
          <a:prstGeom prst="roundRect">
            <a:avLst>
              <a:gd name="adj" fmla="val 6559"/>
            </a:avLst>
          </a:prstGeom>
          <a:solidFill>
            <a:srgbClr val="17202B"/>
          </a:solidFill>
          <a:ln w="12700">
            <a:solidFill>
              <a:srgbClr val="17202B"/>
            </a:solidFill>
            <a:prstDash val="solid"/>
          </a:ln>
        </p:spPr>
      </p:sp>
      <p:sp>
        <p:nvSpPr>
          <p:cNvPr id="9" name="Text 7"/>
          <p:cNvSpPr txBox="1"/>
          <p:nvPr/>
        </p:nvSpPr>
        <p:spPr>
          <a:xfrm>
            <a:off x="5559552" y="1252728"/>
            <a:ext cx="2971800" cy="1193038"/>
          </a:xfrm>
          <a:prstGeom prst="rect">
            <a:avLst/>
          </a:prstGeom>
          <a:noFill/>
          <a:ln/>
        </p:spPr>
        <p:txBody>
          <a:bodyPr wrap="square" lIns="0" tIns="0" rIns="0" bIns="0" rtlCol="0" anchor="t"/>
          <a:lstStyle/>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42 &lt; 100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True</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42 &lt; 42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False</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42 &lt;= 42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True</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1.999 &lt; 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True</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3 &lt; '4'</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TypeError: '&lt;' not supported between instances of 'int' and 'str'</a:t>
            </a:r>
            <a:endParaRPr lang="en-US" sz="700" dirty="0"/>
          </a:p>
        </p:txBody>
      </p:sp>
      <p:sp>
        <p:nvSpPr>
          <p:cNvPr id="10" name="Text 8"/>
          <p:cNvSpPr txBox="1"/>
          <p:nvPr/>
        </p:nvSpPr>
        <p:spPr>
          <a:xfrm>
            <a:off x="5358384" y="2564638"/>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62356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62356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73329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commonest mistake is choosing the wrong boundary. The textbook admits that all true programmers have at some point spent an hour finding out that their program does not work because they typed &lt; instead of &lt;= (Sweigart, 2025).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Chained comparison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Writing a range the way mathematics writes it</a:t>
            </a:r>
            <a:endParaRPr lang="en-US" sz="1300" dirty="0"/>
          </a:p>
        </p:txBody>
      </p:sp>
      <p:sp>
        <p:nvSpPr>
          <p:cNvPr id="6" name="Shape 4"/>
          <p:cNvSpPr/>
          <p:nvPr/>
        </p:nvSpPr>
        <p:spPr>
          <a:xfrm>
            <a:off x="411480" y="1152144"/>
            <a:ext cx="4818888" cy="2361692"/>
          </a:xfrm>
          <a:prstGeom prst="roundRect">
            <a:avLst>
              <a:gd name="adj" fmla="val 3872"/>
            </a:avLst>
          </a:prstGeom>
          <a:solidFill>
            <a:srgbClr val="F1F4F8"/>
          </a:solidFill>
          <a:ln w="12700">
            <a:solidFill>
              <a:srgbClr val="F1F4F8"/>
            </a:solidFill>
            <a:prstDash val="solid"/>
          </a:ln>
        </p:spPr>
      </p:sp>
      <p:sp>
        <p:nvSpPr>
          <p:cNvPr id="7" name="Text 5"/>
          <p:cNvSpPr txBox="1"/>
          <p:nvPr/>
        </p:nvSpPr>
        <p:spPr>
          <a:xfrm>
            <a:off x="594360" y="1280160"/>
            <a:ext cx="445312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chained comparison joins several comparison operators in one expression, so that x &lt; y &lt;= z asks both questions at once. The reference documentation defines it as equivalent to x &lt; y and y &lt;= z, except that y is evaluated only once (Python Software Foundation, 2026). Chaining lets a range check be written the way mathematics writes it, so that an age from twelve up to but not including sixty-five becomes 12 &lt;= age &lt; 65. Python evaluates the chain from left to right and stops as soon as one comparison is false.</a:t>
            </a:r>
            <a:endParaRPr lang="en-US" sz="1300" dirty="0"/>
          </a:p>
        </p:txBody>
      </p:sp>
      <p:sp>
        <p:nvSpPr>
          <p:cNvPr id="8" name="Shape 6"/>
          <p:cNvSpPr/>
          <p:nvPr/>
        </p:nvSpPr>
        <p:spPr>
          <a:xfrm>
            <a:off x="5358384" y="1152144"/>
            <a:ext cx="3374136" cy="1936496"/>
          </a:xfrm>
          <a:prstGeom prst="roundRect">
            <a:avLst>
              <a:gd name="adj" fmla="val 4722"/>
            </a:avLst>
          </a:prstGeom>
          <a:solidFill>
            <a:srgbClr val="17202B"/>
          </a:solidFill>
          <a:ln w="12700">
            <a:solidFill>
              <a:srgbClr val="17202B"/>
            </a:solidFill>
            <a:prstDash val="solid"/>
          </a:ln>
        </p:spPr>
      </p:sp>
      <p:sp>
        <p:nvSpPr>
          <p:cNvPr id="9" name="Text 7"/>
          <p:cNvSpPr txBox="1"/>
          <p:nvPr/>
        </p:nvSpPr>
        <p:spPr>
          <a:xfrm>
            <a:off x="5559552" y="1252728"/>
            <a:ext cx="2971800" cy="1735328"/>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1 &lt; 2 &lt; 3</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3 &gt; 2 &gt; 5</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5 &lt; 3 &lt; 1 / 0</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1 &lt; 2 &gt; 1.5</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p:txBody>
      </p:sp>
      <p:sp>
        <p:nvSpPr>
          <p:cNvPr id="10" name="Text 8"/>
          <p:cNvSpPr txBox="1"/>
          <p:nvPr/>
        </p:nvSpPr>
        <p:spPr>
          <a:xfrm>
            <a:off x="5358384" y="3106928"/>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62356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62356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73329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chain does not compare its outer values with each other, so x &lt; y &gt; z is legal and says nothing about x and z. The textbook does not introduce chaining, so students meet it first in other people's code.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String ordering</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Text compares by code point, not by the alphabet</a:t>
            </a:r>
            <a:endParaRPr lang="en-US" sz="1300" dirty="0"/>
          </a:p>
        </p:txBody>
      </p:sp>
      <p:sp>
        <p:nvSpPr>
          <p:cNvPr id="6" name="Shape 4"/>
          <p:cNvSpPr/>
          <p:nvPr/>
        </p:nvSpPr>
        <p:spPr>
          <a:xfrm>
            <a:off x="411480" y="1152144"/>
            <a:ext cx="4818888" cy="2477897"/>
          </a:xfrm>
          <a:prstGeom prst="roundRect">
            <a:avLst>
              <a:gd name="adj" fmla="val 3690"/>
            </a:avLst>
          </a:prstGeom>
          <a:solidFill>
            <a:srgbClr val="F1F4F8"/>
          </a:solidFill>
          <a:ln w="12700">
            <a:solidFill>
              <a:srgbClr val="F1F4F8"/>
            </a:solidFill>
            <a:prstDash val="solid"/>
          </a:ln>
        </p:spPr>
      </p:sp>
      <p:sp>
        <p:nvSpPr>
          <p:cNvPr id="7" name="Text 5"/>
          <p:cNvSpPr txBox="1"/>
          <p:nvPr/>
        </p:nvSpPr>
        <p:spPr>
          <a:xfrm>
            <a:off x="594360" y="1280160"/>
            <a:ext cx="4453128" cy="2221865"/>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String ordering is the use of &lt;, &gt;, &lt;= and &gt;= on text. The reference documentation says that strings compare lexicographically, character by character from the left as in a dictionary, using the numerical Unicode code points of their characters (Python Software Foundation, 2026). A code point is the number Unicode gives a character, and the built-in function ord reports it. Capital letters have smaller code points than lowercase ones, so 'Z' comes before 'a'. The textbook describes the ordering operators for numbers only, so this is a case where the documentation says more than the book.</a:t>
            </a:r>
            <a:endParaRPr lang="en-US" sz="1250" dirty="0"/>
          </a:p>
        </p:txBody>
      </p:sp>
      <p:sp>
        <p:nvSpPr>
          <p:cNvPr id="8" name="Shape 6"/>
          <p:cNvSpPr/>
          <p:nvPr/>
        </p:nvSpPr>
        <p:spPr>
          <a:xfrm>
            <a:off x="5358384" y="1152144"/>
            <a:ext cx="3374136" cy="2370328"/>
          </a:xfrm>
          <a:prstGeom prst="roundRect">
            <a:avLst>
              <a:gd name="adj" fmla="val 3858"/>
            </a:avLst>
          </a:prstGeom>
          <a:solidFill>
            <a:srgbClr val="17202B"/>
          </a:solidFill>
          <a:ln w="12700">
            <a:solidFill>
              <a:srgbClr val="17202B"/>
            </a:solidFill>
            <a:prstDash val="solid"/>
          </a:ln>
        </p:spPr>
      </p:sp>
      <p:sp>
        <p:nvSpPr>
          <p:cNvPr id="9" name="Text 7"/>
          <p:cNvSpPr txBox="1"/>
          <p:nvPr/>
        </p:nvSpPr>
        <p:spPr>
          <a:xfrm>
            <a:off x="5559552" y="1252728"/>
            <a:ext cx="2971800" cy="2169160"/>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'apple' &lt; 'banana'</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ord('a')</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97</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ord('Z')</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90</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'Z' &lt; 'a'</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'10' &lt; '9'</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p:txBody>
      </p:sp>
      <p:sp>
        <p:nvSpPr>
          <p:cNvPr id="10" name="Text 8"/>
          <p:cNvSpPr txBox="1"/>
          <p:nvPr/>
        </p:nvSpPr>
        <p:spPr>
          <a:xfrm>
            <a:off x="5358384" y="354076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739769"/>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739769"/>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849497"/>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order is that of the code points, not of a human alphabet: '10' &lt; '9' is True, because the character 1 comes before 9, so digits that arrive as text must be converted before they are compared.</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960120"/>
            <a:ext cx="1188720" cy="914400"/>
          </a:xfrm>
          <a:prstGeom prst="rect">
            <a:avLst/>
          </a:prstGeom>
          <a:noFill/>
          <a:ln/>
        </p:spPr>
        <p:txBody>
          <a:bodyPr wrap="square" lIns="0" tIns="0" rIns="0" bIns="0" rtlCol="0" anchor="ctr"/>
          <a:lstStyle/>
          <a:p>
            <a:pPr indent="0" marL="0">
              <a:buNone/>
            </a:pPr>
            <a:r>
              <a:rPr lang="en-US" sz="5400" b="1" dirty="0">
                <a:solidFill>
                  <a:srgbClr val="FFD43B"/>
                </a:solidFill>
                <a:latin typeface="Cambria" pitchFamily="34" charset="0"/>
                <a:ea typeface="Cambria" pitchFamily="34" charset="-122"/>
                <a:cs typeface="Cambria" pitchFamily="34" charset="-120"/>
              </a:rPr>
              <a:t>III</a:t>
            </a:r>
            <a:endParaRPr lang="en-US" sz="5400" dirty="0"/>
          </a:p>
        </p:txBody>
      </p:sp>
      <p:sp>
        <p:nvSpPr>
          <p:cNvPr id="3" name="Text 1"/>
          <p:cNvSpPr txBox="1"/>
          <p:nvPr/>
        </p:nvSpPr>
        <p:spPr>
          <a:xfrm>
            <a:off x="1783080" y="1051560"/>
            <a:ext cx="6858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Boolean operations</a:t>
            </a:r>
            <a:endParaRPr lang="en-US" sz="3200" dirty="0"/>
          </a:p>
        </p:txBody>
      </p:sp>
      <p:sp>
        <p:nvSpPr>
          <p:cNvPr id="4" name="Text 2"/>
          <p:cNvSpPr txBox="1"/>
          <p:nvPr/>
        </p:nvSpPr>
        <p:spPr>
          <a:xfrm>
            <a:off x="548640" y="2148840"/>
            <a:ext cx="8046720" cy="788670"/>
          </a:xfrm>
          <a:prstGeom prst="rect">
            <a:avLst/>
          </a:prstGeom>
          <a:noFill/>
          <a:ln/>
        </p:spPr>
        <p:txBody>
          <a:bodyPr wrap="square" lIns="0" tIns="0" rIns="0" bIns="0" rtlCol="0" anchor="t"/>
          <a:lstStyle/>
          <a:p>
            <a:pPr indent="0" marL="0">
              <a:buNone/>
            </a:pPr>
            <a:r>
              <a:rPr lang="en-US" sz="1500" dirty="0">
                <a:solidFill>
                  <a:srgbClr val="C9D4E0"/>
                </a:solidFill>
                <a:latin typeface="Calibri" pitchFamily="34" charset="0"/>
                <a:ea typeface="Calibri" pitchFamily="34" charset="-122"/>
                <a:cs typeface="Calibri" pitchFamily="34" charset="-120"/>
              </a:rPr>
              <a:t>Boolean operations combine truth values into new truth values. Python has three operators - and, or and not - and a set of evaluation rules that give them powers the truth tables alone do not show.</a:t>
            </a:r>
            <a:endParaRPr lang="en-US" sz="1500" dirty="0"/>
          </a:p>
        </p:txBody>
      </p:sp>
      <p:sp>
        <p:nvSpPr>
          <p:cNvPr id="5" name="Text 3"/>
          <p:cNvSpPr txBox="1"/>
          <p:nvPr/>
        </p:nvSpPr>
        <p:spPr>
          <a:xfrm>
            <a:off x="548640" y="4133088"/>
            <a:ext cx="8046720" cy="402336"/>
          </a:xfrm>
          <a:prstGeom prst="rect">
            <a:avLst/>
          </a:prstGeom>
          <a:noFill/>
          <a:ln/>
        </p:spPr>
        <p:txBody>
          <a:bodyPr wrap="square" lIns="0" tIns="0" rIns="0" bIns="0" rtlCol="0" anchor="ctr"/>
          <a:lstStyle/>
          <a:p>
            <a:pPr indent="0" marL="0">
              <a:buNone/>
            </a:pPr>
            <a:r>
              <a:rPr lang="en-US" sz="1250" i="1" dirty="0">
                <a:solidFill>
                  <a:srgbClr val="FFD43B"/>
                </a:solidFill>
                <a:latin typeface="Calibri" pitchFamily="34" charset="0"/>
                <a:ea typeface="Calibri" pitchFamily="34" charset="-122"/>
                <a:cs typeface="Calibri" pitchFamily="34" charset="-120"/>
              </a:rPr>
              <a:t>The logical operators   ·   Evaluation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logical operators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and, or and not, with the number of operands each takes</a:t>
            </a:r>
            <a:endParaRPr lang="en-US" sz="1300" dirty="0"/>
          </a:p>
        </p:txBody>
      </p:sp>
      <p:sp>
        <p:nvSpPr>
          <p:cNvPr id="6" name="Shape 4"/>
          <p:cNvSpPr/>
          <p:nvPr/>
        </p:nvSpPr>
        <p:spPr>
          <a:xfrm>
            <a:off x="4892040" y="1152144"/>
            <a:ext cx="3840480" cy="1502664"/>
          </a:xfrm>
          <a:prstGeom prst="roundRect">
            <a:avLst>
              <a:gd name="adj" fmla="val 6085"/>
            </a:avLst>
          </a:prstGeom>
          <a:solidFill>
            <a:srgbClr val="17202B"/>
          </a:solidFill>
          <a:ln w="12700">
            <a:solidFill>
              <a:srgbClr val="17202B"/>
            </a:solidFill>
            <a:prstDash val="solid"/>
          </a:ln>
        </p:spPr>
      </p:sp>
      <p:sp>
        <p:nvSpPr>
          <p:cNvPr id="7" name="Text 5"/>
          <p:cNvSpPr txBox="1"/>
          <p:nvPr/>
        </p:nvSpPr>
        <p:spPr>
          <a:xfrm>
            <a:off x="5093208" y="1252728"/>
            <a:ext cx="3438144" cy="1301496"/>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(4 &lt; 5) and (5 &lt; 6)</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False or True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not not not not True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p:txBody>
      </p:sp>
      <p:sp>
        <p:nvSpPr>
          <p:cNvPr id="8" name="Text 6"/>
          <p:cNvSpPr txBox="1"/>
          <p:nvPr/>
        </p:nvSpPr>
        <p:spPr>
          <a:xfrm>
            <a:off x="4892040" y="2673096"/>
            <a:ext cx="38404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4224528" cy="2965958"/>
          </a:xfrm>
          <a:prstGeom prst="roundRect">
            <a:avLst>
              <a:gd name="adj" fmla="val 3083"/>
            </a:avLst>
          </a:prstGeom>
          <a:solidFill>
            <a:srgbClr val="F1F4F8"/>
          </a:solidFill>
          <a:ln w="12700">
            <a:solidFill>
              <a:srgbClr val="F1F4F8"/>
            </a:solidFill>
            <a:prstDash val="solid"/>
          </a:ln>
        </p:spPr>
      </p:sp>
      <p:sp>
        <p:nvSpPr>
          <p:cNvPr id="10" name="Text 8"/>
          <p:cNvSpPr txBox="1"/>
          <p:nvPr/>
        </p:nvSpPr>
        <p:spPr>
          <a:xfrm>
            <a:off x="594360" y="1280160"/>
            <a:ext cx="3858768" cy="270992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logical operators are and, or and not. The first two join two truth values, and the third reverses one; together they cover the three basic ways of reasoning about yes and no (Sweigart, 2025). Every compound condition in a program is built from these three words, so a precise knowledge of what each one does is the foundation for reading and writing conditions. Their meanings are fixed by tables of results, which makes them easy to check completely, and two further ideas describe them all: the number of operands an operator takes, and the truth table itself.</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and operator</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True only when both operands are true</a:t>
            </a:r>
            <a:endParaRPr lang="en-US" sz="1300" dirty="0"/>
          </a:p>
        </p:txBody>
      </p:sp>
      <p:sp>
        <p:nvSpPr>
          <p:cNvPr id="6" name="Shape 4"/>
          <p:cNvSpPr/>
          <p:nvPr/>
        </p:nvSpPr>
        <p:spPr>
          <a:xfrm>
            <a:off x="411480" y="1152144"/>
            <a:ext cx="4818888" cy="2477897"/>
          </a:xfrm>
          <a:prstGeom prst="roundRect">
            <a:avLst>
              <a:gd name="adj" fmla="val 3690"/>
            </a:avLst>
          </a:prstGeom>
          <a:solidFill>
            <a:srgbClr val="F1F4F8"/>
          </a:solidFill>
          <a:ln w="12700">
            <a:solidFill>
              <a:srgbClr val="F1F4F8"/>
            </a:solidFill>
            <a:prstDash val="solid"/>
          </a:ln>
        </p:spPr>
      </p:sp>
      <p:sp>
        <p:nvSpPr>
          <p:cNvPr id="7" name="Text 5"/>
          <p:cNvSpPr txBox="1"/>
          <p:nvPr/>
        </p:nvSpPr>
        <p:spPr>
          <a:xfrm>
            <a:off x="594360" y="1280160"/>
            <a:ext cx="4453128" cy="2221865"/>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The and operator joins two Boolean values or expressions and evaluates to True only if both of them are True; otherwise it evaluates to False (Sweigart, 2025). Because it always takes two operands, the textbook calls it a binary Boolean operator. It expresses a requirement that all of several conditions hold at once - the name is correct and the password is correct - and a single failing part is enough to make the whole condition false, which is exactly what a security check needs. Python evaluates the left operand first and only then, if it has to, the right one.</a:t>
            </a:r>
            <a:endParaRPr lang="en-US" sz="1250" dirty="0"/>
          </a:p>
        </p:txBody>
      </p:sp>
      <p:sp>
        <p:nvSpPr>
          <p:cNvPr id="8" name="Shape 6"/>
          <p:cNvSpPr/>
          <p:nvPr/>
        </p:nvSpPr>
        <p:spPr>
          <a:xfrm>
            <a:off x="5358384" y="1152144"/>
            <a:ext cx="3374136" cy="2370328"/>
          </a:xfrm>
          <a:prstGeom prst="roundRect">
            <a:avLst>
              <a:gd name="adj" fmla="val 3858"/>
            </a:avLst>
          </a:prstGeom>
          <a:solidFill>
            <a:srgbClr val="17202B"/>
          </a:solidFill>
          <a:ln w="12700">
            <a:solidFill>
              <a:srgbClr val="17202B"/>
            </a:solidFill>
            <a:prstDash val="solid"/>
          </a:ln>
        </p:spPr>
      </p:sp>
      <p:sp>
        <p:nvSpPr>
          <p:cNvPr id="9" name="Text 7"/>
          <p:cNvSpPr txBox="1"/>
          <p:nvPr/>
        </p:nvSpPr>
        <p:spPr>
          <a:xfrm>
            <a:off x="5559552" y="1252728"/>
            <a:ext cx="2971800" cy="2169160"/>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True and True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True and False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False and True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False and False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(4 &lt; 5) and (9 &lt; 6)</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p:txBody>
      </p:sp>
      <p:sp>
        <p:nvSpPr>
          <p:cNvPr id="10" name="Text 8"/>
          <p:cNvSpPr txBox="1"/>
          <p:nvPr/>
        </p:nvSpPr>
        <p:spPr>
          <a:xfrm>
            <a:off x="5358384" y="354076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739769"/>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739769"/>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849497"/>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Each side of and must be a complete expression. A programmer with a range in mind may write age &gt; 12 and &lt; 65, which Python rejects; the correct line repeats the variable, or uses a chained comparison.</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or operator</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True when either operand is true</a:t>
            </a:r>
            <a:endParaRPr lang="en-US" sz="1300" dirty="0"/>
          </a:p>
        </p:txBody>
      </p:sp>
      <p:sp>
        <p:nvSpPr>
          <p:cNvPr id="6" name="Shape 4"/>
          <p:cNvSpPr/>
          <p:nvPr/>
        </p:nvSpPr>
        <p:spPr>
          <a:xfrm>
            <a:off x="411480" y="1152144"/>
            <a:ext cx="4818888" cy="2284222"/>
          </a:xfrm>
          <a:prstGeom prst="roundRect">
            <a:avLst>
              <a:gd name="adj" fmla="val 4003"/>
            </a:avLst>
          </a:prstGeom>
          <a:solidFill>
            <a:srgbClr val="F1F4F8"/>
          </a:solidFill>
          <a:ln w="12700">
            <a:solidFill>
              <a:srgbClr val="F1F4F8"/>
            </a:solidFill>
            <a:prstDash val="solid"/>
          </a:ln>
        </p:spPr>
      </p:sp>
      <p:sp>
        <p:nvSpPr>
          <p:cNvPr id="7" name="Text 5"/>
          <p:cNvSpPr txBox="1"/>
          <p:nvPr/>
        </p:nvSpPr>
        <p:spPr>
          <a:xfrm>
            <a:off x="594360" y="1280160"/>
            <a:ext cx="4453128" cy="20281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The or operator joins two Boolean values or expressions and evaluates to True if either of them is True; only when both are False does it evaluate to False (Sweigart, 2025). Like and it is binary. It expresses alternatives - any one of several conditions is enough - which lets a program accept several spellings of one answer, or apply one rule to several groups, without repeating the action. The second worked program of the chapter uses it so that the unit of a hard drive is recognised whether the user types it in uppercase or in lowercase.</a:t>
            </a:r>
            <a:endParaRPr lang="en-US" sz="1250" dirty="0"/>
          </a:p>
        </p:txBody>
      </p:sp>
      <p:sp>
        <p:nvSpPr>
          <p:cNvPr id="8" name="Shape 6"/>
          <p:cNvSpPr/>
          <p:nvPr/>
        </p:nvSpPr>
        <p:spPr>
          <a:xfrm>
            <a:off x="5358384" y="1152144"/>
            <a:ext cx="3374136" cy="1936496"/>
          </a:xfrm>
          <a:prstGeom prst="roundRect">
            <a:avLst>
              <a:gd name="adj" fmla="val 4722"/>
            </a:avLst>
          </a:prstGeom>
          <a:solidFill>
            <a:srgbClr val="17202B"/>
          </a:solidFill>
          <a:ln w="12700">
            <a:solidFill>
              <a:srgbClr val="17202B"/>
            </a:solidFill>
            <a:prstDash val="solid"/>
          </a:ln>
        </p:spPr>
      </p:sp>
      <p:sp>
        <p:nvSpPr>
          <p:cNvPr id="9" name="Text 7"/>
          <p:cNvSpPr txBox="1"/>
          <p:nvPr/>
        </p:nvSpPr>
        <p:spPr>
          <a:xfrm>
            <a:off x="5559552" y="1252728"/>
            <a:ext cx="2971800" cy="1735328"/>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False or True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False or False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(1 == 2) or (2 == 2)</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'GB' == 'TB' or 'tb'</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'tb'</a:t>
            </a:r>
            <a:endParaRPr lang="en-US" sz="1400" dirty="0"/>
          </a:p>
        </p:txBody>
      </p:sp>
      <p:sp>
        <p:nvSpPr>
          <p:cNvPr id="10" name="Text 8"/>
          <p:cNvSpPr txBox="1"/>
          <p:nvPr/>
        </p:nvSpPr>
        <p:spPr>
          <a:xfrm>
            <a:off x="5358384" y="3106928"/>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546094"/>
            <a:ext cx="4818888" cy="1089914"/>
          </a:xfrm>
          <a:prstGeom prst="roundRect">
            <a:avLst>
              <a:gd name="adj" fmla="val 6712"/>
            </a:avLst>
          </a:prstGeom>
          <a:solidFill>
            <a:srgbClr val="FFF1F0"/>
          </a:solidFill>
          <a:ln w="12700">
            <a:solidFill>
              <a:srgbClr val="FFD7D5"/>
            </a:solidFill>
            <a:prstDash val="solid"/>
          </a:ln>
        </p:spPr>
      </p:sp>
      <p:sp>
        <p:nvSpPr>
          <p:cNvPr id="12" name="Shape 10"/>
          <p:cNvSpPr/>
          <p:nvPr/>
        </p:nvSpPr>
        <p:spPr>
          <a:xfrm>
            <a:off x="411480" y="3546094"/>
            <a:ext cx="64008" cy="1089914"/>
          </a:xfrm>
          <a:prstGeom prst="rect">
            <a:avLst/>
          </a:prstGeom>
          <a:solidFill>
            <a:srgbClr val="FF7B72"/>
          </a:solidFill>
          <a:ln w="12700">
            <a:solidFill>
              <a:srgbClr val="FF7B72"/>
            </a:solidFill>
            <a:prstDash val="solid"/>
          </a:ln>
        </p:spPr>
      </p:sp>
      <p:sp>
        <p:nvSpPr>
          <p:cNvPr id="13" name="Text 11"/>
          <p:cNvSpPr txBox="1"/>
          <p:nvPr/>
        </p:nvSpPr>
        <p:spPr>
          <a:xfrm>
            <a:off x="612648" y="3655822"/>
            <a:ext cx="4416552" cy="870458"/>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classic mistake is to shorten the second comparison, as in unit == 'TB' or 'tb'. The right-hand operand is a non-empty string, which counts as true, so the whole condition is true whatever the unit is - as the last line of the card shows.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not operator</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operand, reversed</a:t>
            </a:r>
            <a:endParaRPr lang="en-US" sz="1300" dirty="0"/>
          </a:p>
        </p:txBody>
      </p:sp>
      <p:sp>
        <p:nvSpPr>
          <p:cNvPr id="6" name="Shape 4"/>
          <p:cNvSpPr/>
          <p:nvPr/>
        </p:nvSpPr>
        <p:spPr>
          <a:xfrm>
            <a:off x="411480" y="1152144"/>
            <a:ext cx="4818888" cy="2284222"/>
          </a:xfrm>
          <a:prstGeom prst="roundRect">
            <a:avLst>
              <a:gd name="adj" fmla="val 4003"/>
            </a:avLst>
          </a:prstGeom>
          <a:solidFill>
            <a:srgbClr val="F1F4F8"/>
          </a:solidFill>
          <a:ln w="12700">
            <a:solidFill>
              <a:srgbClr val="F1F4F8"/>
            </a:solidFill>
            <a:prstDash val="solid"/>
          </a:ln>
        </p:spPr>
      </p:sp>
      <p:sp>
        <p:nvSpPr>
          <p:cNvPr id="7" name="Text 5"/>
          <p:cNvSpPr txBox="1"/>
          <p:nvPr/>
        </p:nvSpPr>
        <p:spPr>
          <a:xfrm>
            <a:off x="594360" y="1280160"/>
            <a:ext cx="4453128" cy="20281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The not operator reverses a truth value. Unlike and and or it operates on only one Boolean value or expression, which makes it a unary operator, and it evaluates to the opposite Boolean value (Sweigart, 2025). Many conditions are most naturally stated as a negation: the file is not found, the list is not empty, the answer is not yes. Because not has to create a new value it always returns a Boolean, whatever the type of its argument, and it has a lower priority than the comparison operators, so not 4 == 5 is read as not (4 == 5).</a:t>
            </a:r>
            <a:endParaRPr lang="en-US" sz="1250" dirty="0"/>
          </a:p>
        </p:txBody>
      </p:sp>
      <p:sp>
        <p:nvSpPr>
          <p:cNvPr id="8" name="Shape 6"/>
          <p:cNvSpPr/>
          <p:nvPr/>
        </p:nvSpPr>
        <p:spPr>
          <a:xfrm>
            <a:off x="5358384" y="1152144"/>
            <a:ext cx="3374136" cy="2370328"/>
          </a:xfrm>
          <a:prstGeom prst="roundRect">
            <a:avLst>
              <a:gd name="adj" fmla="val 3858"/>
            </a:avLst>
          </a:prstGeom>
          <a:solidFill>
            <a:srgbClr val="17202B"/>
          </a:solidFill>
          <a:ln w="12700">
            <a:solidFill>
              <a:srgbClr val="17202B"/>
            </a:solidFill>
            <a:prstDash val="solid"/>
          </a:ln>
        </p:spPr>
      </p:sp>
      <p:sp>
        <p:nvSpPr>
          <p:cNvPr id="9" name="Text 7"/>
          <p:cNvSpPr txBox="1"/>
          <p:nvPr/>
        </p:nvSpPr>
        <p:spPr>
          <a:xfrm>
            <a:off x="5559552" y="1252728"/>
            <a:ext cx="2971800" cy="2169160"/>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not True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not False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not 'foo'</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not ''</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not 4 == 5</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p:txBody>
      </p:sp>
      <p:sp>
        <p:nvSpPr>
          <p:cNvPr id="10" name="Text 8"/>
          <p:cNvSpPr txBox="1"/>
          <p:nvPr/>
        </p:nvSpPr>
        <p:spPr>
          <a:xfrm>
            <a:off x="5358384" y="354076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546094"/>
            <a:ext cx="4818888" cy="1089914"/>
          </a:xfrm>
          <a:prstGeom prst="roundRect">
            <a:avLst>
              <a:gd name="adj" fmla="val 6712"/>
            </a:avLst>
          </a:prstGeom>
          <a:solidFill>
            <a:srgbClr val="FFF1F0"/>
          </a:solidFill>
          <a:ln w="12700">
            <a:solidFill>
              <a:srgbClr val="FFD7D5"/>
            </a:solidFill>
            <a:prstDash val="solid"/>
          </a:ln>
        </p:spPr>
      </p:sp>
      <p:sp>
        <p:nvSpPr>
          <p:cNvPr id="12" name="Shape 10"/>
          <p:cNvSpPr/>
          <p:nvPr/>
        </p:nvSpPr>
        <p:spPr>
          <a:xfrm>
            <a:off x="411480" y="3546094"/>
            <a:ext cx="64008" cy="1089914"/>
          </a:xfrm>
          <a:prstGeom prst="rect">
            <a:avLst/>
          </a:prstGeom>
          <a:solidFill>
            <a:srgbClr val="FF7B72"/>
          </a:solidFill>
          <a:ln w="12700">
            <a:solidFill>
              <a:srgbClr val="FF7B72"/>
            </a:solidFill>
            <a:prstDash val="solid"/>
          </a:ln>
        </p:spPr>
      </p:sp>
      <p:sp>
        <p:nvSpPr>
          <p:cNvPr id="13" name="Text 11"/>
          <p:cNvSpPr txBox="1"/>
          <p:nvPr/>
        </p:nvSpPr>
        <p:spPr>
          <a:xfrm>
            <a:off x="612648" y="3655822"/>
            <a:ext cx="4416552" cy="870458"/>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operator belongs in front of an expression, never inside a comparison: the documentation states that a == not b is a syntax error (Python Software Foundation, 2026). When a negation is hard to read, a parenthesis or a reversed comparison is clearer.</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Binary and unary operators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How many operands an operator takes</a:t>
            </a:r>
            <a:endParaRPr lang="en-US" sz="1300" dirty="0"/>
          </a:p>
        </p:txBody>
      </p:sp>
      <p:sp>
        <p:nvSpPr>
          <p:cNvPr id="6" name="Shape 4"/>
          <p:cNvSpPr/>
          <p:nvPr/>
        </p:nvSpPr>
        <p:spPr>
          <a:xfrm>
            <a:off x="411480" y="1152144"/>
            <a:ext cx="4818888" cy="2284222"/>
          </a:xfrm>
          <a:prstGeom prst="roundRect">
            <a:avLst>
              <a:gd name="adj" fmla="val 4003"/>
            </a:avLst>
          </a:prstGeom>
          <a:solidFill>
            <a:srgbClr val="F1F4F8"/>
          </a:solidFill>
          <a:ln w="12700">
            <a:solidFill>
              <a:srgbClr val="F1F4F8"/>
            </a:solidFill>
            <a:prstDash val="solid"/>
          </a:ln>
        </p:spPr>
      </p:sp>
      <p:sp>
        <p:nvSpPr>
          <p:cNvPr id="7" name="Text 5"/>
          <p:cNvSpPr txBox="1"/>
          <p:nvPr/>
        </p:nvSpPr>
        <p:spPr>
          <a:xfrm>
            <a:off x="594360" y="1280160"/>
            <a:ext cx="4453128" cy="20281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The arity of an operator is the number of operands it takes: a binary operator takes two, one on each side, and a unary operator takes one. Among the Boolean operators, and and or are binary whereas not is unary (Sweigart, 2025). The reference documentation states the general convention that, unless the syntax is given explicitly, the operators in its precedence table are binary (Python Software Foundation, 2026). Knowing how many operands an operator wants explains many error messages, and it decides what a negation actually reverses.</a:t>
            </a:r>
            <a:endParaRPr lang="en-US" sz="1250" dirty="0"/>
          </a:p>
        </p:txBody>
      </p:sp>
      <p:sp>
        <p:nvSpPr>
          <p:cNvPr id="8" name="Shape 6"/>
          <p:cNvSpPr/>
          <p:nvPr/>
        </p:nvSpPr>
        <p:spPr>
          <a:xfrm>
            <a:off x="5358384" y="1152144"/>
            <a:ext cx="3374136" cy="1936496"/>
          </a:xfrm>
          <a:prstGeom prst="roundRect">
            <a:avLst>
              <a:gd name="adj" fmla="val 4722"/>
            </a:avLst>
          </a:prstGeom>
          <a:solidFill>
            <a:srgbClr val="17202B"/>
          </a:solidFill>
          <a:ln w="12700">
            <a:solidFill>
              <a:srgbClr val="17202B"/>
            </a:solidFill>
            <a:prstDash val="solid"/>
          </a:ln>
        </p:spPr>
      </p:sp>
      <p:sp>
        <p:nvSpPr>
          <p:cNvPr id="9" name="Text 7"/>
          <p:cNvSpPr txBox="1"/>
          <p:nvPr/>
        </p:nvSpPr>
        <p:spPr>
          <a:xfrm>
            <a:off x="5559552" y="1252728"/>
            <a:ext cx="2971800" cy="1735328"/>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5 - 3</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2</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-(2 + 3)</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-5</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4 - -2</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6</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4 - (-2)</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6</a:t>
            </a:r>
            <a:endParaRPr lang="en-US" sz="1400" dirty="0"/>
          </a:p>
        </p:txBody>
      </p:sp>
      <p:sp>
        <p:nvSpPr>
          <p:cNvPr id="10" name="Text 8"/>
          <p:cNvSpPr txBox="1"/>
          <p:nvPr/>
        </p:nvSpPr>
        <p:spPr>
          <a:xfrm>
            <a:off x="5358384" y="3106928"/>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54609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54609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65582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symbol can serve in both roles. The expression 4 - -2 contains a binary minus sign followed by a unary one and evaluates to 6, which many readers do not expect at first sight.</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truth table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complete definition, not an example</a:t>
            </a:r>
            <a:endParaRPr lang="en-US" sz="1300" dirty="0"/>
          </a:p>
        </p:txBody>
      </p:sp>
      <p:sp>
        <p:nvSpPr>
          <p:cNvPr id="6" name="Shape 4"/>
          <p:cNvSpPr/>
          <p:nvPr/>
        </p:nvSpPr>
        <p:spPr>
          <a:xfrm>
            <a:off x="411480" y="1152144"/>
            <a:ext cx="8321040" cy="905256"/>
          </a:xfrm>
          <a:prstGeom prst="roundRect">
            <a:avLst>
              <a:gd name="adj" fmla="val 10101"/>
            </a:avLst>
          </a:prstGeom>
          <a:solidFill>
            <a:srgbClr val="F1F4F8"/>
          </a:solidFill>
          <a:ln w="12700">
            <a:solidFill>
              <a:srgbClr val="F1F4F8"/>
            </a:solidFill>
            <a:prstDash val="solid"/>
          </a:ln>
        </p:spPr>
      </p:sp>
      <p:sp>
        <p:nvSpPr>
          <p:cNvPr id="7" name="Text 5"/>
          <p:cNvSpPr txBox="1"/>
          <p:nvPr/>
        </p:nvSpPr>
        <p:spPr>
          <a:xfrm>
            <a:off x="594360" y="1280160"/>
            <a:ext cx="7955280" cy="649224"/>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A truth table shows every possible result of a Boolean operator (Sweigart, 2025). Each row lists one combination of operand values and the value the operator gives for it, and because a Boolean has only two possibilities the table is small and complete. Nothing about and, or or not remains to be guessed once the table is known, and a learner can check any reading of a compound condition by writing out the rows. An operator with two Boolean operands has four rows; not takes one operand, so its table has two.</a:t>
            </a:r>
            <a:endParaRPr lang="en-US" sz="900" dirty="0"/>
          </a:p>
        </p:txBody>
      </p:sp>
      <p:sp>
        <p:nvSpPr>
          <p:cNvPr id="8" name="Shape 6"/>
          <p:cNvSpPr/>
          <p:nvPr/>
        </p:nvSpPr>
        <p:spPr>
          <a:xfrm>
            <a:off x="411480" y="2167128"/>
            <a:ext cx="2621280" cy="274320"/>
          </a:xfrm>
          <a:prstGeom prst="roundRect">
            <a:avLst>
              <a:gd name="adj" fmla="val 20000"/>
            </a:avLst>
          </a:prstGeom>
          <a:solidFill>
            <a:srgbClr val="306998"/>
          </a:solidFill>
          <a:ln w="12700">
            <a:solidFill>
              <a:srgbClr val="306998"/>
            </a:solidFill>
            <a:prstDash val="solid"/>
          </a:ln>
        </p:spPr>
      </p:sp>
      <p:sp>
        <p:nvSpPr>
          <p:cNvPr id="9" name="Text 7"/>
          <p:cNvSpPr txBox="1"/>
          <p:nvPr/>
        </p:nvSpPr>
        <p:spPr>
          <a:xfrm>
            <a:off x="411480" y="2167128"/>
            <a:ext cx="26212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the and operator</a:t>
            </a:r>
            <a:endParaRPr lang="en-US" sz="1100" dirty="0"/>
          </a:p>
        </p:txBody>
      </p:sp>
      <p:sp>
        <p:nvSpPr>
          <p:cNvPr id="10" name="Shape 8"/>
          <p:cNvSpPr/>
          <p:nvPr/>
        </p:nvSpPr>
        <p:spPr>
          <a:xfrm>
            <a:off x="411480" y="2478024"/>
            <a:ext cx="2621280" cy="289687"/>
          </a:xfrm>
          <a:prstGeom prst="rect">
            <a:avLst/>
          </a:prstGeom>
          <a:solidFill>
            <a:srgbClr val="F1F4F8"/>
          </a:solidFill>
          <a:ln w="12700">
            <a:solidFill>
              <a:srgbClr val="D0D7DE"/>
            </a:solidFill>
            <a:prstDash val="solid"/>
          </a:ln>
        </p:spPr>
      </p:sp>
      <p:sp>
        <p:nvSpPr>
          <p:cNvPr id="11" name="Text 9"/>
          <p:cNvSpPr txBox="1"/>
          <p:nvPr/>
        </p:nvSpPr>
        <p:spPr>
          <a:xfrm>
            <a:off x="475488" y="2478024"/>
            <a:ext cx="1834896" cy="289687"/>
          </a:xfrm>
          <a:prstGeom prst="rect">
            <a:avLst/>
          </a:prstGeom>
          <a:noFill/>
          <a:ln/>
        </p:spPr>
        <p:txBody>
          <a:bodyPr wrap="square" lIns="0" tIns="0" rIns="0" bIns="0" rtlCol="0" anchor="ctr"/>
          <a:lstStyle/>
          <a:p>
            <a:pPr indent="0" marL="0">
              <a:buNone/>
            </a:pPr>
            <a:r>
              <a:rPr lang="en-US" sz="850" dirty="0">
                <a:solidFill>
                  <a:srgbClr val="1F2933"/>
                </a:solidFill>
                <a:latin typeface="Courier New" pitchFamily="34" charset="0"/>
                <a:ea typeface="Courier New" pitchFamily="34" charset="-122"/>
                <a:cs typeface="Courier New" pitchFamily="34" charset="-120"/>
              </a:rPr>
              <a:t>True and True</a:t>
            </a:r>
            <a:endParaRPr lang="en-US" sz="850" dirty="0"/>
          </a:p>
        </p:txBody>
      </p:sp>
      <p:sp>
        <p:nvSpPr>
          <p:cNvPr id="12" name="Text 10"/>
          <p:cNvSpPr txBox="1"/>
          <p:nvPr/>
        </p:nvSpPr>
        <p:spPr>
          <a:xfrm>
            <a:off x="2282952" y="2478024"/>
            <a:ext cx="685800" cy="289687"/>
          </a:xfrm>
          <a:prstGeom prst="rect">
            <a:avLst/>
          </a:prstGeom>
          <a:noFill/>
          <a:ln/>
        </p:spPr>
        <p:txBody>
          <a:bodyPr wrap="square" lIns="0" tIns="0" rIns="0" bIns="0" rtlCol="0" anchor="ctr"/>
          <a:lstStyle/>
          <a:p>
            <a:pPr algn="r" indent="0" marL="0">
              <a:buNone/>
            </a:pPr>
            <a:r>
              <a:rPr lang="en-US" sz="1000" b="1" dirty="0">
                <a:solidFill>
                  <a:srgbClr val="1A7F37"/>
                </a:solidFill>
                <a:latin typeface="Courier New" pitchFamily="34" charset="0"/>
                <a:ea typeface="Courier New" pitchFamily="34" charset="-122"/>
                <a:cs typeface="Courier New" pitchFamily="34" charset="-120"/>
              </a:rPr>
              <a:t>True</a:t>
            </a:r>
            <a:endParaRPr lang="en-US" sz="1000" dirty="0"/>
          </a:p>
        </p:txBody>
      </p:sp>
      <p:sp>
        <p:nvSpPr>
          <p:cNvPr id="13" name="Shape 11"/>
          <p:cNvSpPr/>
          <p:nvPr/>
        </p:nvSpPr>
        <p:spPr>
          <a:xfrm>
            <a:off x="411480" y="2785999"/>
            <a:ext cx="2621280" cy="289687"/>
          </a:xfrm>
          <a:prstGeom prst="rect">
            <a:avLst/>
          </a:prstGeom>
          <a:solidFill>
            <a:srgbClr val="FFFFFF"/>
          </a:solidFill>
          <a:ln w="12700">
            <a:solidFill>
              <a:srgbClr val="D0D7DE"/>
            </a:solidFill>
            <a:prstDash val="solid"/>
          </a:ln>
        </p:spPr>
      </p:sp>
      <p:sp>
        <p:nvSpPr>
          <p:cNvPr id="14" name="Text 12"/>
          <p:cNvSpPr txBox="1"/>
          <p:nvPr/>
        </p:nvSpPr>
        <p:spPr>
          <a:xfrm>
            <a:off x="475488" y="2785999"/>
            <a:ext cx="1834896" cy="289687"/>
          </a:xfrm>
          <a:prstGeom prst="rect">
            <a:avLst/>
          </a:prstGeom>
          <a:noFill/>
          <a:ln/>
        </p:spPr>
        <p:txBody>
          <a:bodyPr wrap="square" lIns="0" tIns="0" rIns="0" bIns="0" rtlCol="0" anchor="ctr"/>
          <a:lstStyle/>
          <a:p>
            <a:pPr indent="0" marL="0">
              <a:buNone/>
            </a:pPr>
            <a:r>
              <a:rPr lang="en-US" sz="850" dirty="0">
                <a:solidFill>
                  <a:srgbClr val="1F2933"/>
                </a:solidFill>
                <a:latin typeface="Courier New" pitchFamily="34" charset="0"/>
                <a:ea typeface="Courier New" pitchFamily="34" charset="-122"/>
                <a:cs typeface="Courier New" pitchFamily="34" charset="-120"/>
              </a:rPr>
              <a:t>True and False</a:t>
            </a:r>
            <a:endParaRPr lang="en-US" sz="850" dirty="0"/>
          </a:p>
        </p:txBody>
      </p:sp>
      <p:sp>
        <p:nvSpPr>
          <p:cNvPr id="15" name="Text 13"/>
          <p:cNvSpPr txBox="1"/>
          <p:nvPr/>
        </p:nvSpPr>
        <p:spPr>
          <a:xfrm>
            <a:off x="2282952" y="2785999"/>
            <a:ext cx="685800" cy="289687"/>
          </a:xfrm>
          <a:prstGeom prst="rect">
            <a:avLst/>
          </a:prstGeom>
          <a:noFill/>
          <a:ln/>
        </p:spPr>
        <p:txBody>
          <a:bodyPr wrap="square" lIns="0" tIns="0" rIns="0" bIns="0" rtlCol="0" anchor="ctr"/>
          <a:lstStyle/>
          <a:p>
            <a:pPr algn="r" indent="0" marL="0">
              <a:buNone/>
            </a:pPr>
            <a:r>
              <a:rPr lang="en-US" sz="1000" b="1" dirty="0">
                <a:solidFill>
                  <a:srgbClr val="FF7B72"/>
                </a:solidFill>
                <a:latin typeface="Courier New" pitchFamily="34" charset="0"/>
                <a:ea typeface="Courier New" pitchFamily="34" charset="-122"/>
                <a:cs typeface="Courier New" pitchFamily="34" charset="-120"/>
              </a:rPr>
              <a:t>False</a:t>
            </a:r>
            <a:endParaRPr lang="en-US" sz="1000" dirty="0"/>
          </a:p>
        </p:txBody>
      </p:sp>
      <p:sp>
        <p:nvSpPr>
          <p:cNvPr id="16" name="Shape 14"/>
          <p:cNvSpPr/>
          <p:nvPr/>
        </p:nvSpPr>
        <p:spPr>
          <a:xfrm>
            <a:off x="411480" y="3093974"/>
            <a:ext cx="2621280" cy="289687"/>
          </a:xfrm>
          <a:prstGeom prst="rect">
            <a:avLst/>
          </a:prstGeom>
          <a:solidFill>
            <a:srgbClr val="F1F4F8"/>
          </a:solidFill>
          <a:ln w="12700">
            <a:solidFill>
              <a:srgbClr val="D0D7DE"/>
            </a:solidFill>
            <a:prstDash val="solid"/>
          </a:ln>
        </p:spPr>
      </p:sp>
      <p:sp>
        <p:nvSpPr>
          <p:cNvPr id="17" name="Text 15"/>
          <p:cNvSpPr txBox="1"/>
          <p:nvPr/>
        </p:nvSpPr>
        <p:spPr>
          <a:xfrm>
            <a:off x="475488" y="3093974"/>
            <a:ext cx="1834896" cy="289687"/>
          </a:xfrm>
          <a:prstGeom prst="rect">
            <a:avLst/>
          </a:prstGeom>
          <a:noFill/>
          <a:ln/>
        </p:spPr>
        <p:txBody>
          <a:bodyPr wrap="square" lIns="0" tIns="0" rIns="0" bIns="0" rtlCol="0" anchor="ctr"/>
          <a:lstStyle/>
          <a:p>
            <a:pPr indent="0" marL="0">
              <a:buNone/>
            </a:pPr>
            <a:r>
              <a:rPr lang="en-US" sz="850" dirty="0">
                <a:solidFill>
                  <a:srgbClr val="1F2933"/>
                </a:solidFill>
                <a:latin typeface="Courier New" pitchFamily="34" charset="0"/>
                <a:ea typeface="Courier New" pitchFamily="34" charset="-122"/>
                <a:cs typeface="Courier New" pitchFamily="34" charset="-120"/>
              </a:rPr>
              <a:t>False and True</a:t>
            </a:r>
            <a:endParaRPr lang="en-US" sz="850" dirty="0"/>
          </a:p>
        </p:txBody>
      </p:sp>
      <p:sp>
        <p:nvSpPr>
          <p:cNvPr id="18" name="Text 16"/>
          <p:cNvSpPr txBox="1"/>
          <p:nvPr/>
        </p:nvSpPr>
        <p:spPr>
          <a:xfrm>
            <a:off x="2282952" y="3093974"/>
            <a:ext cx="685800" cy="289687"/>
          </a:xfrm>
          <a:prstGeom prst="rect">
            <a:avLst/>
          </a:prstGeom>
          <a:noFill/>
          <a:ln/>
        </p:spPr>
        <p:txBody>
          <a:bodyPr wrap="square" lIns="0" tIns="0" rIns="0" bIns="0" rtlCol="0" anchor="ctr"/>
          <a:lstStyle/>
          <a:p>
            <a:pPr algn="r" indent="0" marL="0">
              <a:buNone/>
            </a:pPr>
            <a:r>
              <a:rPr lang="en-US" sz="1000" b="1" dirty="0">
                <a:solidFill>
                  <a:srgbClr val="FF7B72"/>
                </a:solidFill>
                <a:latin typeface="Courier New" pitchFamily="34" charset="0"/>
                <a:ea typeface="Courier New" pitchFamily="34" charset="-122"/>
                <a:cs typeface="Courier New" pitchFamily="34" charset="-120"/>
              </a:rPr>
              <a:t>False</a:t>
            </a:r>
            <a:endParaRPr lang="en-US" sz="1000" dirty="0"/>
          </a:p>
        </p:txBody>
      </p:sp>
      <p:sp>
        <p:nvSpPr>
          <p:cNvPr id="19" name="Shape 17"/>
          <p:cNvSpPr/>
          <p:nvPr/>
        </p:nvSpPr>
        <p:spPr>
          <a:xfrm>
            <a:off x="411480" y="3401949"/>
            <a:ext cx="2621280" cy="289687"/>
          </a:xfrm>
          <a:prstGeom prst="rect">
            <a:avLst/>
          </a:prstGeom>
          <a:solidFill>
            <a:srgbClr val="FFFFFF"/>
          </a:solidFill>
          <a:ln w="12700">
            <a:solidFill>
              <a:srgbClr val="D0D7DE"/>
            </a:solidFill>
            <a:prstDash val="solid"/>
          </a:ln>
        </p:spPr>
      </p:sp>
      <p:sp>
        <p:nvSpPr>
          <p:cNvPr id="20" name="Text 18"/>
          <p:cNvSpPr txBox="1"/>
          <p:nvPr/>
        </p:nvSpPr>
        <p:spPr>
          <a:xfrm>
            <a:off x="475488" y="3401949"/>
            <a:ext cx="1834896" cy="289687"/>
          </a:xfrm>
          <a:prstGeom prst="rect">
            <a:avLst/>
          </a:prstGeom>
          <a:noFill/>
          <a:ln/>
        </p:spPr>
        <p:txBody>
          <a:bodyPr wrap="square" lIns="0" tIns="0" rIns="0" bIns="0" rtlCol="0" anchor="ctr"/>
          <a:lstStyle/>
          <a:p>
            <a:pPr indent="0" marL="0">
              <a:buNone/>
            </a:pPr>
            <a:r>
              <a:rPr lang="en-US" sz="850" dirty="0">
                <a:solidFill>
                  <a:srgbClr val="1F2933"/>
                </a:solidFill>
                <a:latin typeface="Courier New" pitchFamily="34" charset="0"/>
                <a:ea typeface="Courier New" pitchFamily="34" charset="-122"/>
                <a:cs typeface="Courier New" pitchFamily="34" charset="-120"/>
              </a:rPr>
              <a:t>False and False</a:t>
            </a:r>
            <a:endParaRPr lang="en-US" sz="850" dirty="0"/>
          </a:p>
        </p:txBody>
      </p:sp>
      <p:sp>
        <p:nvSpPr>
          <p:cNvPr id="21" name="Text 19"/>
          <p:cNvSpPr txBox="1"/>
          <p:nvPr/>
        </p:nvSpPr>
        <p:spPr>
          <a:xfrm>
            <a:off x="2282952" y="3401949"/>
            <a:ext cx="685800" cy="289687"/>
          </a:xfrm>
          <a:prstGeom prst="rect">
            <a:avLst/>
          </a:prstGeom>
          <a:noFill/>
          <a:ln/>
        </p:spPr>
        <p:txBody>
          <a:bodyPr wrap="square" lIns="0" tIns="0" rIns="0" bIns="0" rtlCol="0" anchor="ctr"/>
          <a:lstStyle/>
          <a:p>
            <a:pPr algn="r" indent="0" marL="0">
              <a:buNone/>
            </a:pPr>
            <a:r>
              <a:rPr lang="en-US" sz="1000" b="1" dirty="0">
                <a:solidFill>
                  <a:srgbClr val="FF7B72"/>
                </a:solidFill>
                <a:latin typeface="Courier New" pitchFamily="34" charset="0"/>
                <a:ea typeface="Courier New" pitchFamily="34" charset="-122"/>
                <a:cs typeface="Courier New" pitchFamily="34" charset="-120"/>
              </a:rPr>
              <a:t>False</a:t>
            </a:r>
            <a:endParaRPr lang="en-US" sz="1000" dirty="0"/>
          </a:p>
        </p:txBody>
      </p:sp>
      <p:sp>
        <p:nvSpPr>
          <p:cNvPr id="22" name="Shape 20"/>
          <p:cNvSpPr/>
          <p:nvPr/>
        </p:nvSpPr>
        <p:spPr>
          <a:xfrm>
            <a:off x="3261360" y="2167128"/>
            <a:ext cx="2621280" cy="274320"/>
          </a:xfrm>
          <a:prstGeom prst="roundRect">
            <a:avLst>
              <a:gd name="adj" fmla="val 20000"/>
            </a:avLst>
          </a:prstGeom>
          <a:solidFill>
            <a:srgbClr val="306998"/>
          </a:solidFill>
          <a:ln w="12700">
            <a:solidFill>
              <a:srgbClr val="306998"/>
            </a:solidFill>
            <a:prstDash val="solid"/>
          </a:ln>
        </p:spPr>
      </p:sp>
      <p:sp>
        <p:nvSpPr>
          <p:cNvPr id="23" name="Text 21"/>
          <p:cNvSpPr txBox="1"/>
          <p:nvPr/>
        </p:nvSpPr>
        <p:spPr>
          <a:xfrm>
            <a:off x="3261360" y="2167128"/>
            <a:ext cx="26212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the or operator</a:t>
            </a:r>
            <a:endParaRPr lang="en-US" sz="1100" dirty="0"/>
          </a:p>
        </p:txBody>
      </p:sp>
      <p:sp>
        <p:nvSpPr>
          <p:cNvPr id="24" name="Shape 22"/>
          <p:cNvSpPr/>
          <p:nvPr/>
        </p:nvSpPr>
        <p:spPr>
          <a:xfrm>
            <a:off x="3261360" y="2478024"/>
            <a:ext cx="2621280" cy="289687"/>
          </a:xfrm>
          <a:prstGeom prst="rect">
            <a:avLst/>
          </a:prstGeom>
          <a:solidFill>
            <a:srgbClr val="F1F4F8"/>
          </a:solidFill>
          <a:ln w="12700">
            <a:solidFill>
              <a:srgbClr val="D0D7DE"/>
            </a:solidFill>
            <a:prstDash val="solid"/>
          </a:ln>
        </p:spPr>
      </p:sp>
      <p:sp>
        <p:nvSpPr>
          <p:cNvPr id="25" name="Text 23"/>
          <p:cNvSpPr txBox="1"/>
          <p:nvPr/>
        </p:nvSpPr>
        <p:spPr>
          <a:xfrm>
            <a:off x="3325368" y="2478024"/>
            <a:ext cx="1834896" cy="289687"/>
          </a:xfrm>
          <a:prstGeom prst="rect">
            <a:avLst/>
          </a:prstGeom>
          <a:noFill/>
          <a:ln/>
        </p:spPr>
        <p:txBody>
          <a:bodyPr wrap="square" lIns="0" tIns="0" rIns="0" bIns="0" rtlCol="0" anchor="ctr"/>
          <a:lstStyle/>
          <a:p>
            <a:pPr indent="0" marL="0">
              <a:buNone/>
            </a:pPr>
            <a:r>
              <a:rPr lang="en-US" sz="850" dirty="0">
                <a:solidFill>
                  <a:srgbClr val="1F2933"/>
                </a:solidFill>
                <a:latin typeface="Courier New" pitchFamily="34" charset="0"/>
                <a:ea typeface="Courier New" pitchFamily="34" charset="-122"/>
                <a:cs typeface="Courier New" pitchFamily="34" charset="-120"/>
              </a:rPr>
              <a:t>False or True</a:t>
            </a:r>
            <a:endParaRPr lang="en-US" sz="850" dirty="0"/>
          </a:p>
        </p:txBody>
      </p:sp>
      <p:sp>
        <p:nvSpPr>
          <p:cNvPr id="26" name="Text 24"/>
          <p:cNvSpPr txBox="1"/>
          <p:nvPr/>
        </p:nvSpPr>
        <p:spPr>
          <a:xfrm>
            <a:off x="5132832" y="2478024"/>
            <a:ext cx="685800" cy="289687"/>
          </a:xfrm>
          <a:prstGeom prst="rect">
            <a:avLst/>
          </a:prstGeom>
          <a:noFill/>
          <a:ln/>
        </p:spPr>
        <p:txBody>
          <a:bodyPr wrap="square" lIns="0" tIns="0" rIns="0" bIns="0" rtlCol="0" anchor="ctr"/>
          <a:lstStyle/>
          <a:p>
            <a:pPr algn="r" indent="0" marL="0">
              <a:buNone/>
            </a:pPr>
            <a:r>
              <a:rPr lang="en-US" sz="1000" b="1" dirty="0">
                <a:solidFill>
                  <a:srgbClr val="1A7F37"/>
                </a:solidFill>
                <a:latin typeface="Courier New" pitchFamily="34" charset="0"/>
                <a:ea typeface="Courier New" pitchFamily="34" charset="-122"/>
                <a:cs typeface="Courier New" pitchFamily="34" charset="-120"/>
              </a:rPr>
              <a:t>True</a:t>
            </a:r>
            <a:endParaRPr lang="en-US" sz="1000" dirty="0"/>
          </a:p>
        </p:txBody>
      </p:sp>
      <p:sp>
        <p:nvSpPr>
          <p:cNvPr id="27" name="Shape 25"/>
          <p:cNvSpPr/>
          <p:nvPr/>
        </p:nvSpPr>
        <p:spPr>
          <a:xfrm>
            <a:off x="3261360" y="2785999"/>
            <a:ext cx="2621280" cy="289687"/>
          </a:xfrm>
          <a:prstGeom prst="rect">
            <a:avLst/>
          </a:prstGeom>
          <a:solidFill>
            <a:srgbClr val="FFFFFF"/>
          </a:solidFill>
          <a:ln w="12700">
            <a:solidFill>
              <a:srgbClr val="D0D7DE"/>
            </a:solidFill>
            <a:prstDash val="solid"/>
          </a:ln>
        </p:spPr>
      </p:sp>
      <p:sp>
        <p:nvSpPr>
          <p:cNvPr id="28" name="Text 26"/>
          <p:cNvSpPr txBox="1"/>
          <p:nvPr/>
        </p:nvSpPr>
        <p:spPr>
          <a:xfrm>
            <a:off x="3325368" y="2785999"/>
            <a:ext cx="1834896" cy="289687"/>
          </a:xfrm>
          <a:prstGeom prst="rect">
            <a:avLst/>
          </a:prstGeom>
          <a:noFill/>
          <a:ln/>
        </p:spPr>
        <p:txBody>
          <a:bodyPr wrap="square" lIns="0" tIns="0" rIns="0" bIns="0" rtlCol="0" anchor="ctr"/>
          <a:lstStyle/>
          <a:p>
            <a:pPr indent="0" marL="0">
              <a:buNone/>
            </a:pPr>
            <a:r>
              <a:rPr lang="en-US" sz="850" dirty="0">
                <a:solidFill>
                  <a:srgbClr val="1F2933"/>
                </a:solidFill>
                <a:latin typeface="Courier New" pitchFamily="34" charset="0"/>
                <a:ea typeface="Courier New" pitchFamily="34" charset="-122"/>
                <a:cs typeface="Courier New" pitchFamily="34" charset="-120"/>
              </a:rPr>
              <a:t>False or False</a:t>
            </a:r>
            <a:endParaRPr lang="en-US" sz="850" dirty="0"/>
          </a:p>
        </p:txBody>
      </p:sp>
      <p:sp>
        <p:nvSpPr>
          <p:cNvPr id="29" name="Text 27"/>
          <p:cNvSpPr txBox="1"/>
          <p:nvPr/>
        </p:nvSpPr>
        <p:spPr>
          <a:xfrm>
            <a:off x="5132832" y="2785999"/>
            <a:ext cx="685800" cy="289687"/>
          </a:xfrm>
          <a:prstGeom prst="rect">
            <a:avLst/>
          </a:prstGeom>
          <a:noFill/>
          <a:ln/>
        </p:spPr>
        <p:txBody>
          <a:bodyPr wrap="square" lIns="0" tIns="0" rIns="0" bIns="0" rtlCol="0" anchor="ctr"/>
          <a:lstStyle/>
          <a:p>
            <a:pPr algn="r" indent="0" marL="0">
              <a:buNone/>
            </a:pPr>
            <a:r>
              <a:rPr lang="en-US" sz="1000" b="1" dirty="0">
                <a:solidFill>
                  <a:srgbClr val="FF7B72"/>
                </a:solidFill>
                <a:latin typeface="Courier New" pitchFamily="34" charset="0"/>
                <a:ea typeface="Courier New" pitchFamily="34" charset="-122"/>
                <a:cs typeface="Courier New" pitchFamily="34" charset="-120"/>
              </a:rPr>
              <a:t>False</a:t>
            </a:r>
            <a:endParaRPr lang="en-US" sz="1000" dirty="0"/>
          </a:p>
        </p:txBody>
      </p:sp>
      <p:sp>
        <p:nvSpPr>
          <p:cNvPr id="30" name="Shape 28"/>
          <p:cNvSpPr/>
          <p:nvPr/>
        </p:nvSpPr>
        <p:spPr>
          <a:xfrm>
            <a:off x="3261360" y="3093974"/>
            <a:ext cx="2621280" cy="289687"/>
          </a:xfrm>
          <a:prstGeom prst="rect">
            <a:avLst/>
          </a:prstGeom>
          <a:solidFill>
            <a:srgbClr val="F1F4F8"/>
          </a:solidFill>
          <a:ln w="12700">
            <a:solidFill>
              <a:srgbClr val="D0D7DE"/>
            </a:solidFill>
            <a:prstDash val="solid"/>
          </a:ln>
        </p:spPr>
      </p:sp>
      <p:sp>
        <p:nvSpPr>
          <p:cNvPr id="31" name="Text 29"/>
          <p:cNvSpPr txBox="1"/>
          <p:nvPr/>
        </p:nvSpPr>
        <p:spPr>
          <a:xfrm>
            <a:off x="3325368" y="3093974"/>
            <a:ext cx="1834896" cy="289687"/>
          </a:xfrm>
          <a:prstGeom prst="rect">
            <a:avLst/>
          </a:prstGeom>
          <a:noFill/>
          <a:ln/>
        </p:spPr>
        <p:txBody>
          <a:bodyPr wrap="square" lIns="0" tIns="0" rIns="0" bIns="0" rtlCol="0" anchor="ctr"/>
          <a:lstStyle/>
          <a:p>
            <a:pPr indent="0" marL="0">
              <a:buNone/>
            </a:pPr>
            <a:r>
              <a:rPr lang="en-US" sz="850" dirty="0">
                <a:solidFill>
                  <a:srgbClr val="1F2933"/>
                </a:solidFill>
                <a:latin typeface="Courier New" pitchFamily="34" charset="0"/>
                <a:ea typeface="Courier New" pitchFamily="34" charset="-122"/>
                <a:cs typeface="Courier New" pitchFamily="34" charset="-120"/>
              </a:rPr>
              <a:t>(1 == 2) or (2 == 2)</a:t>
            </a:r>
            <a:endParaRPr lang="en-US" sz="850" dirty="0"/>
          </a:p>
        </p:txBody>
      </p:sp>
      <p:sp>
        <p:nvSpPr>
          <p:cNvPr id="32" name="Text 30"/>
          <p:cNvSpPr txBox="1"/>
          <p:nvPr/>
        </p:nvSpPr>
        <p:spPr>
          <a:xfrm>
            <a:off x="5132832" y="3093974"/>
            <a:ext cx="685800" cy="289687"/>
          </a:xfrm>
          <a:prstGeom prst="rect">
            <a:avLst/>
          </a:prstGeom>
          <a:noFill/>
          <a:ln/>
        </p:spPr>
        <p:txBody>
          <a:bodyPr wrap="square" lIns="0" tIns="0" rIns="0" bIns="0" rtlCol="0" anchor="ctr"/>
          <a:lstStyle/>
          <a:p>
            <a:pPr algn="r" indent="0" marL="0">
              <a:buNone/>
            </a:pPr>
            <a:r>
              <a:rPr lang="en-US" sz="1000" b="1" dirty="0">
                <a:solidFill>
                  <a:srgbClr val="1A7F37"/>
                </a:solidFill>
                <a:latin typeface="Courier New" pitchFamily="34" charset="0"/>
                <a:ea typeface="Courier New" pitchFamily="34" charset="-122"/>
                <a:cs typeface="Courier New" pitchFamily="34" charset="-120"/>
              </a:rPr>
              <a:t>True</a:t>
            </a:r>
            <a:endParaRPr lang="en-US" sz="1000" dirty="0"/>
          </a:p>
        </p:txBody>
      </p:sp>
      <p:sp>
        <p:nvSpPr>
          <p:cNvPr id="33" name="Shape 31"/>
          <p:cNvSpPr/>
          <p:nvPr/>
        </p:nvSpPr>
        <p:spPr>
          <a:xfrm>
            <a:off x="6111240" y="2167128"/>
            <a:ext cx="2621280" cy="274320"/>
          </a:xfrm>
          <a:prstGeom prst="roundRect">
            <a:avLst>
              <a:gd name="adj" fmla="val 20000"/>
            </a:avLst>
          </a:prstGeom>
          <a:solidFill>
            <a:srgbClr val="306998"/>
          </a:solidFill>
          <a:ln w="12700">
            <a:solidFill>
              <a:srgbClr val="306998"/>
            </a:solidFill>
            <a:prstDash val="solid"/>
          </a:ln>
        </p:spPr>
      </p:sp>
      <p:sp>
        <p:nvSpPr>
          <p:cNvPr id="34" name="Text 32"/>
          <p:cNvSpPr txBox="1"/>
          <p:nvPr/>
        </p:nvSpPr>
        <p:spPr>
          <a:xfrm>
            <a:off x="6111240" y="2167128"/>
            <a:ext cx="26212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the not operator</a:t>
            </a:r>
            <a:endParaRPr lang="en-US" sz="1100" dirty="0"/>
          </a:p>
        </p:txBody>
      </p:sp>
      <p:sp>
        <p:nvSpPr>
          <p:cNvPr id="35" name="Shape 33"/>
          <p:cNvSpPr/>
          <p:nvPr/>
        </p:nvSpPr>
        <p:spPr>
          <a:xfrm>
            <a:off x="6111240" y="2478024"/>
            <a:ext cx="2621280" cy="289687"/>
          </a:xfrm>
          <a:prstGeom prst="rect">
            <a:avLst/>
          </a:prstGeom>
          <a:solidFill>
            <a:srgbClr val="F1F4F8"/>
          </a:solidFill>
          <a:ln w="12700">
            <a:solidFill>
              <a:srgbClr val="D0D7DE"/>
            </a:solidFill>
            <a:prstDash val="solid"/>
          </a:ln>
        </p:spPr>
      </p:sp>
      <p:sp>
        <p:nvSpPr>
          <p:cNvPr id="36" name="Text 34"/>
          <p:cNvSpPr txBox="1"/>
          <p:nvPr/>
        </p:nvSpPr>
        <p:spPr>
          <a:xfrm>
            <a:off x="6175248" y="2478024"/>
            <a:ext cx="1834896" cy="289687"/>
          </a:xfrm>
          <a:prstGeom prst="rect">
            <a:avLst/>
          </a:prstGeom>
          <a:noFill/>
          <a:ln/>
        </p:spPr>
        <p:txBody>
          <a:bodyPr wrap="square" lIns="0" tIns="0" rIns="0" bIns="0" rtlCol="0" anchor="ctr"/>
          <a:lstStyle/>
          <a:p>
            <a:pPr indent="0" marL="0">
              <a:buNone/>
            </a:pPr>
            <a:r>
              <a:rPr lang="en-US" sz="850" dirty="0">
                <a:solidFill>
                  <a:srgbClr val="1F2933"/>
                </a:solidFill>
                <a:latin typeface="Courier New" pitchFamily="34" charset="0"/>
                <a:ea typeface="Courier New" pitchFamily="34" charset="-122"/>
                <a:cs typeface="Courier New" pitchFamily="34" charset="-120"/>
              </a:rPr>
              <a:t>not True</a:t>
            </a:r>
            <a:endParaRPr lang="en-US" sz="850" dirty="0"/>
          </a:p>
        </p:txBody>
      </p:sp>
      <p:sp>
        <p:nvSpPr>
          <p:cNvPr id="37" name="Text 35"/>
          <p:cNvSpPr txBox="1"/>
          <p:nvPr/>
        </p:nvSpPr>
        <p:spPr>
          <a:xfrm>
            <a:off x="7982712" y="2478024"/>
            <a:ext cx="685800" cy="289687"/>
          </a:xfrm>
          <a:prstGeom prst="rect">
            <a:avLst/>
          </a:prstGeom>
          <a:noFill/>
          <a:ln/>
        </p:spPr>
        <p:txBody>
          <a:bodyPr wrap="square" lIns="0" tIns="0" rIns="0" bIns="0" rtlCol="0" anchor="ctr"/>
          <a:lstStyle/>
          <a:p>
            <a:pPr algn="r" indent="0" marL="0">
              <a:buNone/>
            </a:pPr>
            <a:r>
              <a:rPr lang="en-US" sz="1000" b="1" dirty="0">
                <a:solidFill>
                  <a:srgbClr val="FF7B72"/>
                </a:solidFill>
                <a:latin typeface="Courier New" pitchFamily="34" charset="0"/>
                <a:ea typeface="Courier New" pitchFamily="34" charset="-122"/>
                <a:cs typeface="Courier New" pitchFamily="34" charset="-120"/>
              </a:rPr>
              <a:t>False</a:t>
            </a:r>
            <a:endParaRPr lang="en-US" sz="1000" dirty="0"/>
          </a:p>
        </p:txBody>
      </p:sp>
      <p:sp>
        <p:nvSpPr>
          <p:cNvPr id="38" name="Shape 36"/>
          <p:cNvSpPr/>
          <p:nvPr/>
        </p:nvSpPr>
        <p:spPr>
          <a:xfrm>
            <a:off x="6111240" y="2785999"/>
            <a:ext cx="2621280" cy="289687"/>
          </a:xfrm>
          <a:prstGeom prst="rect">
            <a:avLst/>
          </a:prstGeom>
          <a:solidFill>
            <a:srgbClr val="FFFFFF"/>
          </a:solidFill>
          <a:ln w="12700">
            <a:solidFill>
              <a:srgbClr val="D0D7DE"/>
            </a:solidFill>
            <a:prstDash val="solid"/>
          </a:ln>
        </p:spPr>
      </p:sp>
      <p:sp>
        <p:nvSpPr>
          <p:cNvPr id="39" name="Text 37"/>
          <p:cNvSpPr txBox="1"/>
          <p:nvPr/>
        </p:nvSpPr>
        <p:spPr>
          <a:xfrm>
            <a:off x="6175248" y="2785999"/>
            <a:ext cx="1834896" cy="289687"/>
          </a:xfrm>
          <a:prstGeom prst="rect">
            <a:avLst/>
          </a:prstGeom>
          <a:noFill/>
          <a:ln/>
        </p:spPr>
        <p:txBody>
          <a:bodyPr wrap="square" lIns="0" tIns="0" rIns="0" bIns="0" rtlCol="0" anchor="ctr"/>
          <a:lstStyle/>
          <a:p>
            <a:pPr indent="0" marL="0">
              <a:buNone/>
            </a:pPr>
            <a:r>
              <a:rPr lang="en-US" sz="850" dirty="0">
                <a:solidFill>
                  <a:srgbClr val="1F2933"/>
                </a:solidFill>
                <a:latin typeface="Courier New" pitchFamily="34" charset="0"/>
                <a:ea typeface="Courier New" pitchFamily="34" charset="-122"/>
                <a:cs typeface="Courier New" pitchFamily="34" charset="-120"/>
              </a:rPr>
              <a:t>not False</a:t>
            </a:r>
            <a:endParaRPr lang="en-US" sz="850" dirty="0"/>
          </a:p>
        </p:txBody>
      </p:sp>
      <p:sp>
        <p:nvSpPr>
          <p:cNvPr id="40" name="Text 38"/>
          <p:cNvSpPr txBox="1"/>
          <p:nvPr/>
        </p:nvSpPr>
        <p:spPr>
          <a:xfrm>
            <a:off x="7982712" y="2785999"/>
            <a:ext cx="685800" cy="289687"/>
          </a:xfrm>
          <a:prstGeom prst="rect">
            <a:avLst/>
          </a:prstGeom>
          <a:noFill/>
          <a:ln/>
        </p:spPr>
        <p:txBody>
          <a:bodyPr wrap="square" lIns="0" tIns="0" rIns="0" bIns="0" rtlCol="0" anchor="ctr"/>
          <a:lstStyle/>
          <a:p>
            <a:pPr algn="r" indent="0" marL="0">
              <a:buNone/>
            </a:pPr>
            <a:r>
              <a:rPr lang="en-US" sz="1000" b="1" dirty="0">
                <a:solidFill>
                  <a:srgbClr val="1A7F37"/>
                </a:solidFill>
                <a:latin typeface="Courier New" pitchFamily="34" charset="0"/>
                <a:ea typeface="Courier New" pitchFamily="34" charset="-122"/>
                <a:cs typeface="Courier New" pitchFamily="34" charset="-120"/>
              </a:rPr>
              <a:t>True</a:t>
            </a:r>
            <a:endParaRPr lang="en-US" sz="1000" dirty="0"/>
          </a:p>
        </p:txBody>
      </p:sp>
      <p:sp>
        <p:nvSpPr>
          <p:cNvPr id="41" name="Shape 39"/>
          <p:cNvSpPr/>
          <p:nvPr/>
        </p:nvSpPr>
        <p:spPr>
          <a:xfrm>
            <a:off x="6111240" y="3093974"/>
            <a:ext cx="2621280" cy="289687"/>
          </a:xfrm>
          <a:prstGeom prst="rect">
            <a:avLst/>
          </a:prstGeom>
          <a:solidFill>
            <a:srgbClr val="F1F4F8"/>
          </a:solidFill>
          <a:ln w="12700">
            <a:solidFill>
              <a:srgbClr val="D0D7DE"/>
            </a:solidFill>
            <a:prstDash val="solid"/>
          </a:ln>
        </p:spPr>
      </p:sp>
      <p:sp>
        <p:nvSpPr>
          <p:cNvPr id="42" name="Text 40"/>
          <p:cNvSpPr txBox="1"/>
          <p:nvPr/>
        </p:nvSpPr>
        <p:spPr>
          <a:xfrm>
            <a:off x="6175248" y="3093974"/>
            <a:ext cx="1834896" cy="289687"/>
          </a:xfrm>
          <a:prstGeom prst="rect">
            <a:avLst/>
          </a:prstGeom>
          <a:noFill/>
          <a:ln/>
        </p:spPr>
        <p:txBody>
          <a:bodyPr wrap="square" lIns="0" tIns="0" rIns="0" bIns="0" rtlCol="0" anchor="ctr"/>
          <a:lstStyle/>
          <a:p>
            <a:pPr indent="0" marL="0">
              <a:buNone/>
            </a:pPr>
            <a:r>
              <a:rPr lang="en-US" sz="850" dirty="0">
                <a:solidFill>
                  <a:srgbClr val="1F2933"/>
                </a:solidFill>
                <a:latin typeface="Courier New" pitchFamily="34" charset="0"/>
                <a:ea typeface="Courier New" pitchFamily="34" charset="-122"/>
                <a:cs typeface="Courier New" pitchFamily="34" charset="-120"/>
              </a:rPr>
              <a:t>not 'foo'</a:t>
            </a:r>
            <a:endParaRPr lang="en-US" sz="850" dirty="0"/>
          </a:p>
        </p:txBody>
      </p:sp>
      <p:sp>
        <p:nvSpPr>
          <p:cNvPr id="43" name="Text 41"/>
          <p:cNvSpPr txBox="1"/>
          <p:nvPr/>
        </p:nvSpPr>
        <p:spPr>
          <a:xfrm>
            <a:off x="7982712" y="3093974"/>
            <a:ext cx="685800" cy="289687"/>
          </a:xfrm>
          <a:prstGeom prst="rect">
            <a:avLst/>
          </a:prstGeom>
          <a:noFill/>
          <a:ln/>
        </p:spPr>
        <p:txBody>
          <a:bodyPr wrap="square" lIns="0" tIns="0" rIns="0" bIns="0" rtlCol="0" anchor="ctr"/>
          <a:lstStyle/>
          <a:p>
            <a:pPr algn="r" indent="0" marL="0">
              <a:buNone/>
            </a:pPr>
            <a:r>
              <a:rPr lang="en-US" sz="1000" b="1" dirty="0">
                <a:solidFill>
                  <a:srgbClr val="FF7B72"/>
                </a:solidFill>
                <a:latin typeface="Courier New" pitchFamily="34" charset="0"/>
                <a:ea typeface="Courier New" pitchFamily="34" charset="-122"/>
                <a:cs typeface="Courier New" pitchFamily="34" charset="-120"/>
              </a:rPr>
              <a:t>False</a:t>
            </a:r>
            <a:endParaRPr lang="en-US" sz="1000" dirty="0"/>
          </a:p>
        </p:txBody>
      </p:sp>
      <p:sp>
        <p:nvSpPr>
          <p:cNvPr id="44" name="Shape 42"/>
          <p:cNvSpPr/>
          <p:nvPr/>
        </p:nvSpPr>
        <p:spPr>
          <a:xfrm>
            <a:off x="6111240" y="3401949"/>
            <a:ext cx="2621280" cy="289687"/>
          </a:xfrm>
          <a:prstGeom prst="rect">
            <a:avLst/>
          </a:prstGeom>
          <a:solidFill>
            <a:srgbClr val="FFFFFF"/>
          </a:solidFill>
          <a:ln w="12700">
            <a:solidFill>
              <a:srgbClr val="D0D7DE"/>
            </a:solidFill>
            <a:prstDash val="solid"/>
          </a:ln>
        </p:spPr>
      </p:sp>
      <p:sp>
        <p:nvSpPr>
          <p:cNvPr id="45" name="Text 43"/>
          <p:cNvSpPr txBox="1"/>
          <p:nvPr/>
        </p:nvSpPr>
        <p:spPr>
          <a:xfrm>
            <a:off x="6175248" y="3401949"/>
            <a:ext cx="1834896" cy="289687"/>
          </a:xfrm>
          <a:prstGeom prst="rect">
            <a:avLst/>
          </a:prstGeom>
          <a:noFill/>
          <a:ln/>
        </p:spPr>
        <p:txBody>
          <a:bodyPr wrap="square" lIns="0" tIns="0" rIns="0" bIns="0" rtlCol="0" anchor="ctr"/>
          <a:lstStyle/>
          <a:p>
            <a:pPr indent="0" marL="0">
              <a:buNone/>
            </a:pPr>
            <a:r>
              <a:rPr lang="en-US" sz="850" dirty="0">
                <a:solidFill>
                  <a:srgbClr val="1F2933"/>
                </a:solidFill>
                <a:latin typeface="Courier New" pitchFamily="34" charset="0"/>
                <a:ea typeface="Courier New" pitchFamily="34" charset="-122"/>
                <a:cs typeface="Courier New" pitchFamily="34" charset="-120"/>
              </a:rPr>
              <a:t>not ''</a:t>
            </a:r>
            <a:endParaRPr lang="en-US" sz="850" dirty="0"/>
          </a:p>
        </p:txBody>
      </p:sp>
      <p:sp>
        <p:nvSpPr>
          <p:cNvPr id="46" name="Text 44"/>
          <p:cNvSpPr txBox="1"/>
          <p:nvPr/>
        </p:nvSpPr>
        <p:spPr>
          <a:xfrm>
            <a:off x="7982712" y="3401949"/>
            <a:ext cx="685800" cy="289687"/>
          </a:xfrm>
          <a:prstGeom prst="rect">
            <a:avLst/>
          </a:prstGeom>
          <a:noFill/>
          <a:ln/>
        </p:spPr>
        <p:txBody>
          <a:bodyPr wrap="square" lIns="0" tIns="0" rIns="0" bIns="0" rtlCol="0" anchor="ctr"/>
          <a:lstStyle/>
          <a:p>
            <a:pPr algn="r" indent="0" marL="0">
              <a:buNone/>
            </a:pPr>
            <a:r>
              <a:rPr lang="en-US" sz="1000" b="1" dirty="0">
                <a:solidFill>
                  <a:srgbClr val="1A7F37"/>
                </a:solidFill>
                <a:latin typeface="Courier New" pitchFamily="34" charset="0"/>
                <a:ea typeface="Courier New" pitchFamily="34" charset="-122"/>
                <a:cs typeface="Courier New" pitchFamily="34" charset="-120"/>
              </a:rPr>
              <a:t>True</a:t>
            </a:r>
            <a:endParaRPr lang="en-US" sz="1000" dirty="0"/>
          </a:p>
        </p:txBody>
      </p:sp>
      <p:sp>
        <p:nvSpPr>
          <p:cNvPr id="47" name="Text 45"/>
          <p:cNvSpPr txBox="1"/>
          <p:nvPr/>
        </p:nvSpPr>
        <p:spPr>
          <a:xfrm>
            <a:off x="411480" y="372821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every cell was produced by evaluating the expression beside it, under Python 3.14.4</a:t>
            </a:r>
            <a:endParaRPr lang="en-US" sz="900" dirty="0"/>
          </a:p>
        </p:txBody>
      </p:sp>
      <p:sp>
        <p:nvSpPr>
          <p:cNvPr id="48" name="Shape 46"/>
          <p:cNvSpPr/>
          <p:nvPr/>
        </p:nvSpPr>
        <p:spPr>
          <a:xfrm>
            <a:off x="411480" y="4075684"/>
            <a:ext cx="8321040" cy="578612"/>
          </a:xfrm>
          <a:prstGeom prst="roundRect">
            <a:avLst>
              <a:gd name="adj" fmla="val 12643"/>
            </a:avLst>
          </a:prstGeom>
          <a:solidFill>
            <a:srgbClr val="FFF1F0"/>
          </a:solidFill>
          <a:ln w="12700">
            <a:solidFill>
              <a:srgbClr val="FFD7D5"/>
            </a:solidFill>
            <a:prstDash val="solid"/>
          </a:ln>
        </p:spPr>
      </p:sp>
      <p:sp>
        <p:nvSpPr>
          <p:cNvPr id="49" name="Shape 47"/>
          <p:cNvSpPr/>
          <p:nvPr/>
        </p:nvSpPr>
        <p:spPr>
          <a:xfrm>
            <a:off x="411480" y="4075684"/>
            <a:ext cx="64008" cy="578612"/>
          </a:xfrm>
          <a:prstGeom prst="rect">
            <a:avLst/>
          </a:prstGeom>
          <a:solidFill>
            <a:srgbClr val="FF7B72"/>
          </a:solidFill>
          <a:ln w="12700">
            <a:solidFill>
              <a:srgbClr val="FF7B72"/>
            </a:solidFill>
            <a:prstDash val="solid"/>
          </a:ln>
        </p:spPr>
      </p:sp>
      <p:sp>
        <p:nvSpPr>
          <p:cNvPr id="50" name="Text 48"/>
          <p:cNvSpPr txBox="1"/>
          <p:nvPr/>
        </p:nvSpPr>
        <p:spPr>
          <a:xfrm>
            <a:off x="612648" y="4185412"/>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truth table describes the operators on True and False only. With other kinds of value, and and or return one of their operands, so a table written for Booleans no longer lists the results.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Evaluation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Left to right, stopping early, and giving back an operand</a:t>
            </a:r>
            <a:endParaRPr lang="en-US" sz="1300" dirty="0"/>
          </a:p>
        </p:txBody>
      </p:sp>
      <p:sp>
        <p:nvSpPr>
          <p:cNvPr id="6" name="Shape 4"/>
          <p:cNvSpPr/>
          <p:nvPr/>
        </p:nvSpPr>
        <p:spPr>
          <a:xfrm>
            <a:off x="4892040" y="1152144"/>
            <a:ext cx="3840480" cy="1688592"/>
          </a:xfrm>
          <a:prstGeom prst="roundRect">
            <a:avLst>
              <a:gd name="adj" fmla="val 5415"/>
            </a:avLst>
          </a:prstGeom>
          <a:solidFill>
            <a:srgbClr val="17202B"/>
          </a:solidFill>
          <a:ln w="12700">
            <a:solidFill>
              <a:srgbClr val="17202B"/>
            </a:solidFill>
            <a:prstDash val="solid"/>
          </a:ln>
        </p:spPr>
      </p:sp>
      <p:sp>
        <p:nvSpPr>
          <p:cNvPr id="7" name="Text 5"/>
          <p:cNvSpPr txBox="1"/>
          <p:nvPr/>
        </p:nvSpPr>
        <p:spPr>
          <a:xfrm>
            <a:off x="5093208" y="1252728"/>
            <a:ext cx="3438144" cy="1487424"/>
          </a:xfrm>
          <a:prstGeom prst="rect">
            <a:avLst/>
          </a:prstGeom>
          <a:noFill/>
          <a:ln/>
        </p:spPr>
        <p:txBody>
          <a:bodyPr wrap="square" lIns="0" tIns="0" rIns="0" bIns="0" rtlCol="0" anchor="t"/>
          <a:lstStyle/>
          <a:p>
            <a:pPr indent="0" marL="0">
              <a:buNone/>
            </a:pPr>
            <a:r>
              <a:rPr lang="en-US" sz="1200" b="1" dirty="0">
                <a:solidFill>
                  <a:srgbClr val="FFD43B"/>
                </a:solidFill>
                <a:latin typeface="Courier New" pitchFamily="34" charset="0"/>
                <a:ea typeface="Courier New" pitchFamily="34" charset="-122"/>
                <a:cs typeface="Courier New" pitchFamily="34" charset="-120"/>
              </a:rPr>
              <a:t>&gt;&gt;&gt; </a:t>
            </a:r>
            <a:pPr indent="0" marL="0">
              <a:buNone/>
            </a:pPr>
            <a:r>
              <a:rPr lang="en-US" sz="1200" dirty="0">
                <a:solidFill>
                  <a:srgbClr val="E6EDF3"/>
                </a:solidFill>
                <a:latin typeface="Courier New" pitchFamily="34" charset="0"/>
                <a:ea typeface="Courier New" pitchFamily="34" charset="-122"/>
                <a:cs typeface="Courier New" pitchFamily="34" charset="-120"/>
              </a:rPr>
              <a:t>1 or 1 / 0</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1</a:t>
            </a:r>
            <a:endParaRPr lang="en-US" sz="1200" dirty="0"/>
          </a:p>
          <a:p>
            <a:pPr indent="0" marL="0">
              <a:buNone/>
            </a:pPr>
            <a:r>
              <a:rPr lang="en-US" sz="1200" b="1" dirty="0">
                <a:solidFill>
                  <a:srgbClr val="FFD43B"/>
                </a:solidFill>
                <a:latin typeface="Courier New" pitchFamily="34" charset="0"/>
                <a:ea typeface="Courier New" pitchFamily="34" charset="-122"/>
                <a:cs typeface="Courier New" pitchFamily="34" charset="-120"/>
              </a:rPr>
              <a:t>&gt;&gt;&gt; </a:t>
            </a:r>
            <a:pPr indent="0" marL="0">
              <a:buNone/>
            </a:pPr>
            <a:r>
              <a:rPr lang="en-US" sz="1200" dirty="0">
                <a:solidFill>
                  <a:srgbClr val="E6EDF3"/>
                </a:solidFill>
                <a:latin typeface="Courier New" pitchFamily="34" charset="0"/>
                <a:ea typeface="Courier New" pitchFamily="34" charset="-122"/>
                <a:cs typeface="Courier New" pitchFamily="34" charset="-120"/>
              </a:rPr>
              <a:t>0 and 1 / 0</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0</a:t>
            </a:r>
            <a:endParaRPr lang="en-US" sz="1200" dirty="0"/>
          </a:p>
          <a:p>
            <a:pPr indent="0" marL="0">
              <a:buNone/>
            </a:pPr>
            <a:r>
              <a:rPr lang="en-US" sz="1200" b="1" dirty="0">
                <a:solidFill>
                  <a:srgbClr val="FFD43B"/>
                </a:solidFill>
                <a:latin typeface="Courier New" pitchFamily="34" charset="0"/>
                <a:ea typeface="Courier New" pitchFamily="34" charset="-122"/>
                <a:cs typeface="Courier New" pitchFamily="34" charset="-120"/>
              </a:rPr>
              <a:t>&gt;&gt;&gt; </a:t>
            </a:r>
            <a:pPr indent="0" marL="0">
              <a:buNone/>
            </a:pPr>
            <a:r>
              <a:rPr lang="en-US" sz="1200" dirty="0">
                <a:solidFill>
                  <a:srgbClr val="E6EDF3"/>
                </a:solidFill>
                <a:latin typeface="Courier New" pitchFamily="34" charset="0"/>
                <a:ea typeface="Courier New" pitchFamily="34" charset="-122"/>
                <a:cs typeface="Courier New" pitchFamily="34" charset="-120"/>
              </a:rPr>
              <a:t>False and 1 / 0</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False</a:t>
            </a:r>
            <a:endParaRPr lang="en-US" sz="1200" dirty="0"/>
          </a:p>
          <a:p>
            <a:pPr indent="0" marL="0">
              <a:buNone/>
            </a:pPr>
            <a:r>
              <a:rPr lang="en-US" sz="1200" b="1" dirty="0">
                <a:solidFill>
                  <a:srgbClr val="FFD43B"/>
                </a:solidFill>
                <a:latin typeface="Courier New" pitchFamily="34" charset="0"/>
                <a:ea typeface="Courier New" pitchFamily="34" charset="-122"/>
                <a:cs typeface="Courier New" pitchFamily="34" charset="-120"/>
              </a:rPr>
              <a:t>&gt;&gt;&gt; </a:t>
            </a:r>
            <a:pPr indent="0" marL="0">
              <a:buNone/>
            </a:pPr>
            <a:r>
              <a:rPr lang="en-US" sz="1200" dirty="0">
                <a:solidFill>
                  <a:srgbClr val="E6EDF3"/>
                </a:solidFill>
                <a:latin typeface="Courier New" pitchFamily="34" charset="0"/>
                <a:ea typeface="Courier New" pitchFamily="34" charset="-122"/>
                <a:cs typeface="Courier New" pitchFamily="34" charset="-120"/>
              </a:rPr>
              <a:t>1 and 1 / 0</a:t>
            </a:r>
            <a:endParaRPr lang="en-US" sz="1200" dirty="0"/>
          </a:p>
          <a:p>
            <a:pPr indent="0" marL="0">
              <a:buNone/>
            </a:pPr>
            <a:r>
              <a:rPr lang="en-US" sz="1200" dirty="0">
                <a:solidFill>
                  <a:srgbClr val="FF7B72"/>
                </a:solidFill>
                <a:latin typeface="Courier New" pitchFamily="34" charset="0"/>
                <a:ea typeface="Courier New" pitchFamily="34" charset="-122"/>
                <a:cs typeface="Courier New" pitchFamily="34" charset="-120"/>
              </a:rPr>
              <a:t>ZeroDivisionError: division by zero</a:t>
            </a:r>
            <a:endParaRPr lang="en-US" sz="1200" dirty="0"/>
          </a:p>
        </p:txBody>
      </p:sp>
      <p:sp>
        <p:nvSpPr>
          <p:cNvPr id="8" name="Text 6"/>
          <p:cNvSpPr txBox="1"/>
          <p:nvPr/>
        </p:nvSpPr>
        <p:spPr>
          <a:xfrm>
            <a:off x="4892040" y="2859024"/>
            <a:ext cx="38404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4224528" cy="3167380"/>
          </a:xfrm>
          <a:prstGeom prst="roundRect">
            <a:avLst>
              <a:gd name="adj" fmla="val 2887"/>
            </a:avLst>
          </a:prstGeom>
          <a:solidFill>
            <a:srgbClr val="F1F4F8"/>
          </a:solidFill>
          <a:ln w="12700">
            <a:solidFill>
              <a:srgbClr val="F1F4F8"/>
            </a:solidFill>
            <a:prstDash val="solid"/>
          </a:ln>
        </p:spPr>
      </p:sp>
      <p:sp>
        <p:nvSpPr>
          <p:cNvPr id="10" name="Text 8"/>
          <p:cNvSpPr txBox="1"/>
          <p:nvPr/>
        </p:nvSpPr>
        <p:spPr>
          <a:xfrm>
            <a:off x="594360" y="1280160"/>
            <a:ext cx="3858768" cy="291134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Evaluation is the process by which Python works out the value of an expression (Python Software Foundation, 2026). For compound Boolean expressions it follows four rules: the operands are evaluated from left to right and evaluation stops as soon as the answer is known, the result can be one of the operands rather than a Boolean, comparisons and Boolean operators can be mixed freely, and the three operators have a fixed order of priority. The rules also give the operators practical powers beyond the truth tables: a condition can protect a risky calculation, and a default value can replace an empty one.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Short-circuit evaluation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second operand is evaluated only when it has to be</a:t>
            </a:r>
            <a:endParaRPr lang="en-US" sz="1300" dirty="0"/>
          </a:p>
        </p:txBody>
      </p:sp>
      <p:sp>
        <p:nvSpPr>
          <p:cNvPr id="6" name="Shape 4"/>
          <p:cNvSpPr/>
          <p:nvPr/>
        </p:nvSpPr>
        <p:spPr>
          <a:xfrm>
            <a:off x="411480" y="1152144"/>
            <a:ext cx="8321040" cy="1463040"/>
          </a:xfrm>
          <a:prstGeom prst="roundRect">
            <a:avLst>
              <a:gd name="adj" fmla="val 6250"/>
            </a:avLst>
          </a:prstGeom>
          <a:solidFill>
            <a:srgbClr val="F1F4F8"/>
          </a:solidFill>
          <a:ln w="12700">
            <a:solidFill>
              <a:srgbClr val="F1F4F8"/>
            </a:solidFill>
            <a:prstDash val="solid"/>
          </a:ln>
        </p:spPr>
      </p:sp>
      <p:sp>
        <p:nvSpPr>
          <p:cNvPr id="7" name="Text 5"/>
          <p:cNvSpPr txBox="1"/>
          <p:nvPr/>
        </p:nvSpPr>
        <p:spPr>
          <a:xfrm>
            <a:off x="594360" y="1280160"/>
            <a:ext cx="7955280" cy="120700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Short-circuit evaluation means that and and or evaluate their second operand only when the first operand has not already decided the result. The documentation states it in two notes: or only evaluates the second argument if the first one is false, and and only evaluates the second argument if the first one is true (Python Software Foundation, 2026). The rule is a safeguard and a saving: a condition can be arranged so that the first operand checks that the second one is safe to evaluate, and an expensive or risky second operand is skipped whenever the first settles the answer.</a:t>
            </a:r>
            <a:endParaRPr lang="en-US" sz="1200" dirty="0"/>
          </a:p>
        </p:txBody>
      </p:sp>
      <p:sp>
        <p:nvSpPr>
          <p:cNvPr id="8" name="Shape 6"/>
          <p:cNvSpPr/>
          <p:nvPr/>
        </p:nvSpPr>
        <p:spPr>
          <a:xfrm>
            <a:off x="411480" y="2724912"/>
            <a:ext cx="4572000" cy="1006856"/>
          </a:xfrm>
          <a:prstGeom prst="roundRect">
            <a:avLst>
              <a:gd name="adj" fmla="val 9082"/>
            </a:avLst>
          </a:prstGeom>
          <a:solidFill>
            <a:srgbClr val="17202B"/>
          </a:solidFill>
          <a:ln w="12700">
            <a:solidFill>
              <a:srgbClr val="17202B"/>
            </a:solidFill>
            <a:prstDash val="solid"/>
          </a:ln>
        </p:spPr>
      </p:sp>
      <p:sp>
        <p:nvSpPr>
          <p:cNvPr id="9" name="Text 7"/>
          <p:cNvSpPr txBox="1"/>
          <p:nvPr/>
        </p:nvSpPr>
        <p:spPr>
          <a:xfrm>
            <a:off x="612648" y="2825496"/>
            <a:ext cx="4169664" cy="805688"/>
          </a:xfrm>
          <a:prstGeom prst="rect">
            <a:avLst/>
          </a:prstGeom>
          <a:noFill/>
          <a:ln/>
        </p:spPr>
        <p:txBody>
          <a:bodyPr wrap="square" lIns="0" tIns="0" rIns="0" bIns="0" rtlCol="0" anchor="t"/>
          <a:lstStyle/>
          <a:p>
            <a:pPr indent="0" marL="0">
              <a:buNone/>
            </a:pPr>
            <a:r>
              <a:rPr lang="en-US" sz="1300" dirty="0">
                <a:solidFill>
                  <a:srgbClr val="E6EDF3"/>
                </a:solidFill>
                <a:latin typeface="Courier New" pitchFamily="34" charset="0"/>
                <a:ea typeface="Courier New" pitchFamily="34" charset="-122"/>
                <a:cs typeface="Courier New" pitchFamily="34" charset="-120"/>
              </a:rPr>
              <a:t>x = 0</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print(x != 0 and 10 / x &gt; 2)</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False and print('this is never printed')</a:t>
            </a:r>
            <a:endParaRPr lang="en-US" sz="1300" dirty="0"/>
          </a:p>
          <a:p>
            <a:pPr indent="0" marL="0">
              <a:buNone/>
            </a:pPr>
            <a:r>
              <a:rPr lang="en-US" sz="1300" dirty="0">
                <a:solidFill>
                  <a:srgbClr val="E6EDF3"/>
                </a:solidFill>
                <a:latin typeface="Courier New" pitchFamily="34" charset="0"/>
                <a:ea typeface="Courier New" pitchFamily="34" charset="-122"/>
                <a:cs typeface="Courier New" pitchFamily="34" charset="-120"/>
              </a:rPr>
              <a:t>True and print('this is printed')</a:t>
            </a:r>
            <a:endParaRPr lang="en-US" sz="1300" dirty="0"/>
          </a:p>
        </p:txBody>
      </p:sp>
      <p:sp>
        <p:nvSpPr>
          <p:cNvPr id="10" name="Shape 8"/>
          <p:cNvSpPr/>
          <p:nvPr/>
        </p:nvSpPr>
        <p:spPr>
          <a:xfrm>
            <a:off x="5166360" y="2724912"/>
            <a:ext cx="3566160" cy="604012"/>
          </a:xfrm>
          <a:prstGeom prst="roundRect">
            <a:avLst>
              <a:gd name="adj" fmla="val 15139"/>
            </a:avLst>
          </a:prstGeom>
          <a:solidFill>
            <a:srgbClr val="0F1823"/>
          </a:solidFill>
          <a:ln w="12700">
            <a:solidFill>
              <a:srgbClr val="0F1823"/>
            </a:solidFill>
            <a:prstDash val="solid"/>
          </a:ln>
        </p:spPr>
      </p:sp>
      <p:sp>
        <p:nvSpPr>
          <p:cNvPr id="11" name="Text 9"/>
          <p:cNvSpPr txBox="1"/>
          <p:nvPr/>
        </p:nvSpPr>
        <p:spPr>
          <a:xfrm>
            <a:off x="5367528" y="2825496"/>
            <a:ext cx="3163824" cy="402844"/>
          </a:xfrm>
          <a:prstGeom prst="rect">
            <a:avLst/>
          </a:prstGeom>
          <a:noFill/>
          <a:ln/>
        </p:spPr>
        <p:txBody>
          <a:bodyPr wrap="square" lIns="0" tIns="0" rIns="0" bIns="0" rtlCol="0" anchor="t"/>
          <a:lstStyle/>
          <a:p>
            <a:pPr indent="0" marL="0">
              <a:buNone/>
            </a:pPr>
            <a:r>
              <a:rPr lang="en-US" sz="1300" dirty="0">
                <a:solidFill>
                  <a:srgbClr val="7EE787"/>
                </a:solidFill>
                <a:latin typeface="Courier New" pitchFamily="34" charset="0"/>
                <a:ea typeface="Courier New" pitchFamily="34" charset="-122"/>
                <a:cs typeface="Courier New" pitchFamily="34" charset="-120"/>
              </a:rPr>
              <a:t>False</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this is printed</a:t>
            </a:r>
            <a:endParaRPr lang="en-US" sz="1300" dirty="0"/>
          </a:p>
        </p:txBody>
      </p:sp>
      <p:sp>
        <p:nvSpPr>
          <p:cNvPr id="12" name="Text 10"/>
          <p:cNvSpPr txBox="1"/>
          <p:nvPr/>
        </p:nvSpPr>
        <p:spPr>
          <a:xfrm>
            <a:off x="411480" y="3750056"/>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shortcircuit_v1_0_0.py, run under Python 3.14.4</a:t>
            </a:r>
            <a:endParaRPr lang="en-US" sz="900" dirty="0"/>
          </a:p>
        </p:txBody>
      </p:sp>
      <p:sp>
        <p:nvSpPr>
          <p:cNvPr id="13" name="Shape 11"/>
          <p:cNvSpPr/>
          <p:nvPr/>
        </p:nvSpPr>
        <p:spPr>
          <a:xfrm>
            <a:off x="411480" y="4079240"/>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079240"/>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188968"/>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Anything the skipped operand would have done is skipped too, which the second and third lines of the program show. Never hide an action a program needs inside a condition.</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operand result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and and or hand back one of their operands</a:t>
            </a:r>
            <a:endParaRPr lang="en-US" sz="1300" dirty="0"/>
          </a:p>
        </p:txBody>
      </p:sp>
      <p:sp>
        <p:nvSpPr>
          <p:cNvPr id="6" name="Shape 4"/>
          <p:cNvSpPr/>
          <p:nvPr/>
        </p:nvSpPr>
        <p:spPr>
          <a:xfrm>
            <a:off x="411480" y="1152144"/>
            <a:ext cx="4818888" cy="2563114"/>
          </a:xfrm>
          <a:prstGeom prst="roundRect">
            <a:avLst>
              <a:gd name="adj" fmla="val 3568"/>
            </a:avLst>
          </a:prstGeom>
          <a:solidFill>
            <a:srgbClr val="F1F4F8"/>
          </a:solidFill>
          <a:ln w="12700">
            <a:solidFill>
              <a:srgbClr val="F1F4F8"/>
            </a:solidFill>
            <a:prstDash val="solid"/>
          </a:ln>
        </p:spPr>
      </p:sp>
      <p:sp>
        <p:nvSpPr>
          <p:cNvPr id="7" name="Text 5"/>
          <p:cNvSpPr txBox="1"/>
          <p:nvPr/>
        </p:nvSpPr>
        <p:spPr>
          <a:xfrm>
            <a:off x="594360" y="1280160"/>
            <a:ext cx="4453128" cy="230708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result of and and or is one of their operands. The reference documentation says that neither operator restricts the value and type it returns to False and True, but rather returns the last evaluated argument (Python Software Foundation, 2026). The rule is that x and y returns x if x is false and y otherwise, and that x or y returns x if x is true and y otherwise. The behaviour is deliberate and useful: the documentation gives the example of a string that should be replaced by a default if it is empty, which is why the idiom is so common in Python code.</a:t>
            </a:r>
            <a:endParaRPr lang="en-US" sz="1300" dirty="0"/>
          </a:p>
        </p:txBody>
      </p:sp>
      <p:sp>
        <p:nvSpPr>
          <p:cNvPr id="8" name="Shape 6"/>
          <p:cNvSpPr/>
          <p:nvPr/>
        </p:nvSpPr>
        <p:spPr>
          <a:xfrm>
            <a:off x="5358384" y="1152144"/>
            <a:ext cx="3374136" cy="2370328"/>
          </a:xfrm>
          <a:prstGeom prst="roundRect">
            <a:avLst>
              <a:gd name="adj" fmla="val 3858"/>
            </a:avLst>
          </a:prstGeom>
          <a:solidFill>
            <a:srgbClr val="17202B"/>
          </a:solidFill>
          <a:ln w="12700">
            <a:solidFill>
              <a:srgbClr val="17202B"/>
            </a:solidFill>
            <a:prstDash val="solid"/>
          </a:ln>
        </p:spPr>
      </p:sp>
      <p:sp>
        <p:nvSpPr>
          <p:cNvPr id="9" name="Text 7"/>
          <p:cNvSpPr txBox="1"/>
          <p:nvPr/>
        </p:nvSpPr>
        <p:spPr>
          <a:xfrm>
            <a:off x="5559552" y="1252728"/>
            <a:ext cx="2971800" cy="2169160"/>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'hi' and 'there'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'there'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 and 'there'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 or 'default'</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'default'</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1 and 2 and 3</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3</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0 or [] or None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None</a:t>
            </a:r>
            <a:endParaRPr lang="en-US" sz="1400" dirty="0"/>
          </a:p>
        </p:txBody>
      </p:sp>
      <p:sp>
        <p:nvSpPr>
          <p:cNvPr id="10" name="Text 8"/>
          <p:cNvSpPr txBox="1"/>
          <p:nvPr/>
        </p:nvSpPr>
        <p:spPr>
          <a:xfrm>
            <a:off x="5358384" y="354076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824986"/>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824986"/>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934714"/>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When the value is printed or stored it is the operand that is seen, not a Boolean. If a strict True or False is needed, the function bool converts the result.</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Boolean expression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Comparisons and Boolean operators in one expression</a:t>
            </a:r>
            <a:endParaRPr lang="en-US" sz="1300" dirty="0"/>
          </a:p>
        </p:txBody>
      </p:sp>
      <p:sp>
        <p:nvSpPr>
          <p:cNvPr id="6" name="Shape 4"/>
          <p:cNvSpPr/>
          <p:nvPr/>
        </p:nvSpPr>
        <p:spPr>
          <a:xfrm>
            <a:off x="411480" y="1152144"/>
            <a:ext cx="4818888" cy="2284222"/>
          </a:xfrm>
          <a:prstGeom prst="roundRect">
            <a:avLst>
              <a:gd name="adj" fmla="val 4003"/>
            </a:avLst>
          </a:prstGeom>
          <a:solidFill>
            <a:srgbClr val="F1F4F8"/>
          </a:solidFill>
          <a:ln w="12700">
            <a:solidFill>
              <a:srgbClr val="F1F4F8"/>
            </a:solidFill>
            <a:prstDash val="solid"/>
          </a:ln>
        </p:spPr>
      </p:sp>
      <p:sp>
        <p:nvSpPr>
          <p:cNvPr id="7" name="Text 5"/>
          <p:cNvSpPr txBox="1"/>
          <p:nvPr/>
        </p:nvSpPr>
        <p:spPr>
          <a:xfrm>
            <a:off x="594360" y="1280160"/>
            <a:ext cx="4453128" cy="20281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 Boolean expression is an expression whose value is True or False, built from comparisons and Boolean operators. The textbook explains that an expression such as 4 &lt; 5 is not itself a Boolean value, but is an expression that evaluates down to one, so comparison operators can be used inside expressions with the Boolean operators (Sweigart, 2025). Real conditions mix both kinds: a value is compared with a limit, and several such comparisons are joined by and, or and not. The computer evaluates each part and then reduces the whole to one Boolean value.</a:t>
            </a:r>
            <a:endParaRPr lang="en-US" sz="1250" dirty="0"/>
          </a:p>
        </p:txBody>
      </p:sp>
      <p:sp>
        <p:nvSpPr>
          <p:cNvPr id="8" name="Shape 6"/>
          <p:cNvSpPr/>
          <p:nvPr/>
        </p:nvSpPr>
        <p:spPr>
          <a:xfrm>
            <a:off x="5358384" y="1152144"/>
            <a:ext cx="3374136" cy="1502664"/>
          </a:xfrm>
          <a:prstGeom prst="roundRect">
            <a:avLst>
              <a:gd name="adj" fmla="val 6085"/>
            </a:avLst>
          </a:prstGeom>
          <a:solidFill>
            <a:srgbClr val="17202B"/>
          </a:solidFill>
          <a:ln w="12700">
            <a:solidFill>
              <a:srgbClr val="17202B"/>
            </a:solidFill>
            <a:prstDash val="solid"/>
          </a:ln>
        </p:spPr>
      </p:sp>
      <p:sp>
        <p:nvSpPr>
          <p:cNvPr id="9" name="Text 7"/>
          <p:cNvSpPr txBox="1"/>
          <p:nvPr/>
        </p:nvSpPr>
        <p:spPr>
          <a:xfrm>
            <a:off x="5559552" y="1252728"/>
            <a:ext cx="2971800" cy="1301496"/>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2 + 2 == 4</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(4 &lt; 5) and (5 &lt; 6)</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(1 == 2) or (2 == 2)</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p:txBody>
      </p:sp>
      <p:sp>
        <p:nvSpPr>
          <p:cNvPr id="10" name="Text 8"/>
          <p:cNvSpPr txBox="1"/>
          <p:nvPr/>
        </p:nvSpPr>
        <p:spPr>
          <a:xfrm>
            <a:off x="5358384" y="2673096"/>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54609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54609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65582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common slip is to forget that the operators work on whole expressions. The line spam == 3 or 4 does not ask whether spam is 3 or 4, because the 4 on the right is a value that counts as true.</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Boolean precedence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not first, then and, then or</a:t>
            </a:r>
            <a:endParaRPr lang="en-US" sz="1300" dirty="0"/>
          </a:p>
        </p:txBody>
      </p:sp>
      <p:sp>
        <p:nvSpPr>
          <p:cNvPr id="6" name="Shape 4"/>
          <p:cNvSpPr/>
          <p:nvPr/>
        </p:nvSpPr>
        <p:spPr>
          <a:xfrm>
            <a:off x="411480" y="1152144"/>
            <a:ext cx="4818888" cy="2284222"/>
          </a:xfrm>
          <a:prstGeom prst="roundRect">
            <a:avLst>
              <a:gd name="adj" fmla="val 4003"/>
            </a:avLst>
          </a:prstGeom>
          <a:solidFill>
            <a:srgbClr val="F1F4F8"/>
          </a:solidFill>
          <a:ln w="12700">
            <a:solidFill>
              <a:srgbClr val="F1F4F8"/>
            </a:solidFill>
            <a:prstDash val="solid"/>
          </a:ln>
        </p:spPr>
      </p:sp>
      <p:sp>
        <p:nvSpPr>
          <p:cNvPr id="7" name="Text 5"/>
          <p:cNvSpPr txBox="1"/>
          <p:nvPr/>
        </p:nvSpPr>
        <p:spPr>
          <a:xfrm>
            <a:off x="594360" y="1280160"/>
            <a:ext cx="4453128" cy="20281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Boolean precedence is the order in which an expression applies not, and and or when it contains several of them. The textbook states it plainly: after any math and comparison operators evaluate, Python evaluates the not operators first, then the and operators, and then the or operators (Sweigart, 2025). The reference documentation lists the same order from the lowest priority upward as or, and, not. Precedence makes an expression mean exactly one thing; chapter 1 introduced the idea for arithmetic, and this section extends it to truth values.</a:t>
            </a:r>
            <a:endParaRPr lang="en-US" sz="1250" dirty="0"/>
          </a:p>
        </p:txBody>
      </p:sp>
      <p:sp>
        <p:nvSpPr>
          <p:cNvPr id="8" name="Shape 6"/>
          <p:cNvSpPr/>
          <p:nvPr/>
        </p:nvSpPr>
        <p:spPr>
          <a:xfrm>
            <a:off x="5358384" y="1152144"/>
            <a:ext cx="3374136" cy="1812544"/>
          </a:xfrm>
          <a:prstGeom prst="roundRect">
            <a:avLst>
              <a:gd name="adj" fmla="val 5045"/>
            </a:avLst>
          </a:prstGeom>
          <a:solidFill>
            <a:srgbClr val="17202B"/>
          </a:solidFill>
          <a:ln w="12700">
            <a:solidFill>
              <a:srgbClr val="17202B"/>
            </a:solidFill>
            <a:prstDash val="solid"/>
          </a:ln>
        </p:spPr>
      </p:sp>
      <p:sp>
        <p:nvSpPr>
          <p:cNvPr id="9" name="Text 7"/>
          <p:cNvSpPr txBox="1"/>
          <p:nvPr/>
        </p:nvSpPr>
        <p:spPr>
          <a:xfrm>
            <a:off x="5559552" y="1252728"/>
            <a:ext cx="2971800" cy="1611376"/>
          </a:xfrm>
          <a:prstGeom prst="rect">
            <a:avLst/>
          </a:prstGeom>
          <a:noFill/>
          <a:ln/>
        </p:spPr>
        <p:txBody>
          <a:bodyPr wrap="square" lIns="0" tIns="0" rIns="0" bIns="0" rtlCol="0" anchor="t"/>
          <a:lstStyle/>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pPr indent="0" marL="0">
              <a:buNone/>
            </a:pPr>
            <a:r>
              <a:rPr lang="en-US" sz="1300" dirty="0">
                <a:solidFill>
                  <a:srgbClr val="E6EDF3"/>
                </a:solidFill>
                <a:latin typeface="Courier New" pitchFamily="34" charset="0"/>
                <a:ea typeface="Courier New" pitchFamily="34" charset="-122"/>
                <a:cs typeface="Courier New" pitchFamily="34" charset="-120"/>
              </a:rPr>
              <a:t>True or False and False</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True</a:t>
            </a:r>
            <a:endParaRPr lang="en-US" sz="1300" dirty="0"/>
          </a:p>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pPr indent="0" marL="0">
              <a:buNone/>
            </a:pPr>
            <a:r>
              <a:rPr lang="en-US" sz="1300" dirty="0">
                <a:solidFill>
                  <a:srgbClr val="E6EDF3"/>
                </a:solidFill>
                <a:latin typeface="Courier New" pitchFamily="34" charset="0"/>
                <a:ea typeface="Courier New" pitchFamily="34" charset="-122"/>
                <a:cs typeface="Courier New" pitchFamily="34" charset="-120"/>
              </a:rPr>
              <a:t>(True or False) and False</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False</a:t>
            </a:r>
            <a:endParaRPr lang="en-US" sz="1300" dirty="0"/>
          </a:p>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pPr indent="0" marL="0">
              <a:buNone/>
            </a:pPr>
            <a:r>
              <a:rPr lang="en-US" sz="1300" dirty="0">
                <a:solidFill>
                  <a:srgbClr val="E6EDF3"/>
                </a:solidFill>
                <a:latin typeface="Courier New" pitchFamily="34" charset="0"/>
                <a:ea typeface="Courier New" pitchFamily="34" charset="-122"/>
                <a:cs typeface="Courier New" pitchFamily="34" charset="-120"/>
              </a:rPr>
              <a:t>not True and False</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False</a:t>
            </a:r>
            <a:endParaRPr lang="en-US" sz="1300" dirty="0"/>
          </a:p>
          <a:p>
            <a:pPr indent="0" marL="0">
              <a:buNone/>
            </a:pPr>
            <a:r>
              <a:rPr lang="en-US" sz="1300" b="1" dirty="0">
                <a:solidFill>
                  <a:srgbClr val="FFD43B"/>
                </a:solidFill>
                <a:latin typeface="Courier New" pitchFamily="34" charset="0"/>
                <a:ea typeface="Courier New" pitchFamily="34" charset="-122"/>
                <a:cs typeface="Courier New" pitchFamily="34" charset="-120"/>
              </a:rPr>
              <a:t>&gt;&gt;&gt; </a:t>
            </a:r>
            <a:pPr indent="0" marL="0">
              <a:buNone/>
            </a:pPr>
            <a:r>
              <a:rPr lang="en-US" sz="1300" dirty="0">
                <a:solidFill>
                  <a:srgbClr val="E6EDF3"/>
                </a:solidFill>
                <a:latin typeface="Courier New" pitchFamily="34" charset="0"/>
                <a:ea typeface="Courier New" pitchFamily="34" charset="-122"/>
                <a:cs typeface="Courier New" pitchFamily="34" charset="-120"/>
              </a:rPr>
              <a:t>not (True and False)</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True</a:t>
            </a:r>
            <a:endParaRPr lang="en-US" sz="1300" dirty="0"/>
          </a:p>
        </p:txBody>
      </p:sp>
      <p:sp>
        <p:nvSpPr>
          <p:cNvPr id="10" name="Text 8"/>
          <p:cNvSpPr txBox="1"/>
          <p:nvPr/>
        </p:nvSpPr>
        <p:spPr>
          <a:xfrm>
            <a:off x="5358384" y="2982976"/>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54609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54609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65582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Do not rely on memory for a line that matters. The common error is to expect and and or to apply from left to right with equal weight, which would give a different answer for the first line of the card.</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960120"/>
            <a:ext cx="1188720" cy="914400"/>
          </a:xfrm>
          <a:prstGeom prst="rect">
            <a:avLst/>
          </a:prstGeom>
          <a:noFill/>
          <a:ln/>
        </p:spPr>
        <p:txBody>
          <a:bodyPr wrap="square" lIns="0" tIns="0" rIns="0" bIns="0" rtlCol="0" anchor="ctr"/>
          <a:lstStyle/>
          <a:p>
            <a:pPr indent="0" marL="0">
              <a:buNone/>
            </a:pPr>
            <a:r>
              <a:rPr lang="en-US" sz="5400" b="1" dirty="0">
                <a:solidFill>
                  <a:srgbClr val="FFD43B"/>
                </a:solidFill>
                <a:latin typeface="Cambria" pitchFamily="34" charset="0"/>
                <a:ea typeface="Cambria" pitchFamily="34" charset="-122"/>
                <a:cs typeface="Cambria" pitchFamily="34" charset="-120"/>
              </a:rPr>
              <a:t>IV</a:t>
            </a:r>
            <a:endParaRPr lang="en-US" sz="5400" dirty="0"/>
          </a:p>
        </p:txBody>
      </p:sp>
      <p:sp>
        <p:nvSpPr>
          <p:cNvPr id="3" name="Text 1"/>
          <p:cNvSpPr txBox="1"/>
          <p:nvPr/>
        </p:nvSpPr>
        <p:spPr>
          <a:xfrm>
            <a:off x="1783080" y="1051560"/>
            <a:ext cx="6858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Flow control</a:t>
            </a:r>
            <a:endParaRPr lang="en-US" sz="3200" dirty="0"/>
          </a:p>
        </p:txBody>
      </p:sp>
      <p:sp>
        <p:nvSpPr>
          <p:cNvPr id="4" name="Text 2"/>
          <p:cNvSpPr txBox="1"/>
          <p:nvPr/>
        </p:nvSpPr>
        <p:spPr>
          <a:xfrm>
            <a:off x="548640" y="2148840"/>
            <a:ext cx="8046720" cy="788670"/>
          </a:xfrm>
          <a:prstGeom prst="rect">
            <a:avLst/>
          </a:prstGeom>
          <a:noFill/>
          <a:ln/>
        </p:spPr>
        <p:txBody>
          <a:bodyPr wrap="square" lIns="0" tIns="0" rIns="0" bIns="0" rtlCol="0" anchor="t"/>
          <a:lstStyle/>
          <a:p>
            <a:pPr indent="0" marL="0">
              <a:buNone/>
            </a:pPr>
            <a:r>
              <a:rPr lang="en-US" sz="1500" dirty="0">
                <a:solidFill>
                  <a:srgbClr val="C9D4E0"/>
                </a:solidFill>
                <a:latin typeface="Calibri" pitchFamily="34" charset="0"/>
                <a:ea typeface="Calibri" pitchFamily="34" charset="-122"/>
                <a:cs typeface="Calibri" pitchFamily="34" charset="-120"/>
              </a:rPr>
              <a:t>Flow control is the part of a program that decides which instructions run, in what order and how often. This chapter treats choosing; repeating is the subject of the next chapter.</a:t>
            </a:r>
            <a:endParaRPr lang="en-US" sz="1500" dirty="0"/>
          </a:p>
        </p:txBody>
      </p:sp>
      <p:sp>
        <p:nvSpPr>
          <p:cNvPr id="5" name="Text 3"/>
          <p:cNvSpPr txBox="1"/>
          <p:nvPr/>
        </p:nvSpPr>
        <p:spPr>
          <a:xfrm>
            <a:off x="548640" y="4133088"/>
            <a:ext cx="8046720" cy="402336"/>
          </a:xfrm>
          <a:prstGeom prst="rect">
            <a:avLst/>
          </a:prstGeom>
          <a:noFill/>
          <a:ln/>
        </p:spPr>
        <p:txBody>
          <a:bodyPr wrap="square" lIns="0" tIns="0" rIns="0" bIns="0" rtlCol="0" anchor="ctr"/>
          <a:lstStyle/>
          <a:p>
            <a:pPr indent="0" marL="0">
              <a:buNone/>
            </a:pPr>
            <a:r>
              <a:rPr lang="en-US" sz="1250" i="1" dirty="0">
                <a:solidFill>
                  <a:srgbClr val="FFD43B"/>
                </a:solidFill>
                <a:latin typeface="Calibri" pitchFamily="34" charset="0"/>
                <a:ea typeface="Calibri" pitchFamily="34" charset="-122"/>
                <a:cs typeface="Calibri" pitchFamily="34" charset="-120"/>
              </a:rPr>
              <a:t>The flow of execution   ·   The parts of a flow control statement   ·   Branching   ·   Expression forms</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flow of execution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statement, the moving point of execution, and the flowchart</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Execution flow is the path that execution takes through a program: which statement runs first, which runs next and which are skipped. Three ideas belong to it. A statement is the unit that is executed; program execution is the name for the instruction being executed at a given moment; and a flowchart is a diagram that draws the possible paths (Sweigart, 2025). These three give a learner the vocabulary for reasoning about a program before running it, which is what predicting output and explaining a fault both require.</a:t>
            </a:r>
            <a:endParaRPr lang="en-US" sz="1300" dirty="0"/>
          </a:p>
        </p:txBody>
      </p:sp>
      <p:sp>
        <p:nvSpPr>
          <p:cNvPr id="8" name="Shape 6"/>
          <p:cNvSpPr/>
          <p:nvPr/>
        </p:nvSpPr>
        <p:spPr>
          <a:xfrm>
            <a:off x="411480" y="2817876"/>
            <a:ext cx="4572000" cy="1068832"/>
          </a:xfrm>
          <a:prstGeom prst="roundRect">
            <a:avLst>
              <a:gd name="adj" fmla="val 8555"/>
            </a:avLst>
          </a:prstGeom>
          <a:solidFill>
            <a:srgbClr val="17202B"/>
          </a:solidFill>
          <a:ln w="12700">
            <a:solidFill>
              <a:srgbClr val="17202B"/>
            </a:solidFill>
            <a:prstDash val="solid"/>
          </a:ln>
        </p:spPr>
      </p:sp>
      <p:sp>
        <p:nvSpPr>
          <p:cNvPr id="9" name="Text 7"/>
          <p:cNvSpPr txBox="1"/>
          <p:nvPr/>
        </p:nvSpPr>
        <p:spPr>
          <a:xfrm>
            <a:off x="612648" y="2918460"/>
            <a:ext cx="4169664" cy="867664"/>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age = 70</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if age &gt; 65:</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print('senior')</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print('end')</a:t>
            </a:r>
            <a:endParaRPr lang="en-US" sz="1400" dirty="0"/>
          </a:p>
        </p:txBody>
      </p:sp>
      <p:sp>
        <p:nvSpPr>
          <p:cNvPr id="10" name="Shape 8"/>
          <p:cNvSpPr/>
          <p:nvPr/>
        </p:nvSpPr>
        <p:spPr>
          <a:xfrm>
            <a:off x="5166360" y="2817876"/>
            <a:ext cx="3566160" cy="635000"/>
          </a:xfrm>
          <a:prstGeom prst="roundRect">
            <a:avLst>
              <a:gd name="adj" fmla="val 14400"/>
            </a:avLst>
          </a:prstGeom>
          <a:solidFill>
            <a:srgbClr val="0F1823"/>
          </a:solidFill>
          <a:ln w="12700">
            <a:solidFill>
              <a:srgbClr val="0F1823"/>
            </a:solidFill>
            <a:prstDash val="solid"/>
          </a:ln>
        </p:spPr>
      </p:sp>
      <p:sp>
        <p:nvSpPr>
          <p:cNvPr id="11" name="Text 9"/>
          <p:cNvSpPr txBox="1"/>
          <p:nvPr/>
        </p:nvSpPr>
        <p:spPr>
          <a:xfrm>
            <a:off x="5367528" y="2918460"/>
            <a:ext cx="3163824" cy="433832"/>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senior</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end</a:t>
            </a:r>
            <a:endParaRPr lang="en-US" sz="1400" dirty="0"/>
          </a:p>
        </p:txBody>
      </p:sp>
      <p:sp>
        <p:nvSpPr>
          <p:cNvPr id="12" name="Text 10"/>
          <p:cNvSpPr txBox="1"/>
          <p:nvPr/>
        </p:nvSpPr>
        <p:spPr>
          <a:xfrm>
            <a:off x="411480" y="3904996"/>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finger_v1_0_0.py, run under Python 3.14.4</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statement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unit a program executes, and why it is not an expression</a:t>
            </a:r>
            <a:endParaRPr lang="en-US" sz="1300" dirty="0"/>
          </a:p>
        </p:txBody>
      </p:sp>
      <p:sp>
        <p:nvSpPr>
          <p:cNvPr id="6" name="Shape 4"/>
          <p:cNvSpPr/>
          <p:nvPr/>
        </p:nvSpPr>
        <p:spPr>
          <a:xfrm>
            <a:off x="411480" y="1152144"/>
            <a:ext cx="4818888" cy="2477897"/>
          </a:xfrm>
          <a:prstGeom prst="roundRect">
            <a:avLst>
              <a:gd name="adj" fmla="val 3690"/>
            </a:avLst>
          </a:prstGeom>
          <a:solidFill>
            <a:srgbClr val="F1F4F8"/>
          </a:solidFill>
          <a:ln w="12700">
            <a:solidFill>
              <a:srgbClr val="F1F4F8"/>
            </a:solidFill>
            <a:prstDash val="solid"/>
          </a:ln>
        </p:spPr>
      </p:sp>
      <p:sp>
        <p:nvSpPr>
          <p:cNvPr id="7" name="Text 5"/>
          <p:cNvSpPr txBox="1"/>
          <p:nvPr/>
        </p:nvSpPr>
        <p:spPr>
          <a:xfrm>
            <a:off x="594360" y="1280160"/>
            <a:ext cx="4453128" cy="2221865"/>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 statement is the unit of a program that Python executes. The glossary defines it as either an expression or one of several constructs with a keyword, such as if, while or for (Python Software Foundation, 2026). A flow control statement is one of the second kind: it does not compute a value for use elsewhere, it decides which other statements run (Sweigart, 2025). The distinction explains what a line can be used for. An expression has a value and can be printed, stored or combined; a statement does something, and the glossary notes that assignments are statements, not expressions.</a:t>
            </a:r>
            <a:endParaRPr lang="en-US" sz="1250" dirty="0"/>
          </a:p>
        </p:txBody>
      </p:sp>
      <p:sp>
        <p:nvSpPr>
          <p:cNvPr id="8" name="Shape 6"/>
          <p:cNvSpPr/>
          <p:nvPr/>
        </p:nvSpPr>
        <p:spPr>
          <a:xfrm>
            <a:off x="5358384" y="1152144"/>
            <a:ext cx="3374136" cy="1285748"/>
          </a:xfrm>
          <a:prstGeom prst="roundRect">
            <a:avLst>
              <a:gd name="adj" fmla="val 7112"/>
            </a:avLst>
          </a:prstGeom>
          <a:solidFill>
            <a:srgbClr val="17202B"/>
          </a:solidFill>
          <a:ln w="12700">
            <a:solidFill>
              <a:srgbClr val="17202B"/>
            </a:solidFill>
            <a:prstDash val="solid"/>
          </a:ln>
        </p:spPr>
      </p:sp>
      <p:sp>
        <p:nvSpPr>
          <p:cNvPr id="9" name="Text 7"/>
          <p:cNvSpPr txBox="1"/>
          <p:nvPr/>
        </p:nvSpPr>
        <p:spPr>
          <a:xfrm>
            <a:off x="5559552" y="1252728"/>
            <a:ext cx="2971800" cy="1084580"/>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spam = 42</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spam</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42</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2 + 2</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4</a:t>
            </a:r>
            <a:endParaRPr lang="en-US" sz="1400" dirty="0"/>
          </a:p>
        </p:txBody>
      </p:sp>
      <p:sp>
        <p:nvSpPr>
          <p:cNvPr id="10" name="Text 8"/>
          <p:cNvSpPr txBox="1"/>
          <p:nvPr/>
        </p:nvSpPr>
        <p:spPr>
          <a:xfrm>
            <a:off x="5358384" y="245618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739769"/>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739769"/>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849497"/>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statement produces no value to print or store. When a decision has to produce a value inside a larger expression, the statement is the wrong tool and the conditional expression later in this chapter is the right one.</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Program execution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instruction being executed right now</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Program execution, or simply execution, is a term for the current instruction being executed (Sweigart, 2025). It is not a property of the text of a program but of a particular run: the same program can follow different paths on different occasions. The idea separates what is written from what happens, and a reader who can say which line is executing, and why the next one follows, can find a fault without running anything. Without flow control, execution moves straight down the program; with it, the finger jumps over a block or chooses between two.</a:t>
            </a:r>
            <a:endParaRPr lang="en-US" sz="1300" dirty="0"/>
          </a:p>
        </p:txBody>
      </p:sp>
      <p:sp>
        <p:nvSpPr>
          <p:cNvPr id="8" name="Shape 6"/>
          <p:cNvSpPr/>
          <p:nvPr/>
        </p:nvSpPr>
        <p:spPr>
          <a:xfrm>
            <a:off x="411480" y="2817876"/>
            <a:ext cx="4572000" cy="851916"/>
          </a:xfrm>
          <a:prstGeom prst="roundRect">
            <a:avLst>
              <a:gd name="adj" fmla="val 10733"/>
            </a:avLst>
          </a:prstGeom>
          <a:solidFill>
            <a:srgbClr val="17202B"/>
          </a:solidFill>
          <a:ln w="12700">
            <a:solidFill>
              <a:srgbClr val="17202B"/>
            </a:solidFill>
            <a:prstDash val="solid"/>
          </a:ln>
        </p:spPr>
      </p:sp>
      <p:sp>
        <p:nvSpPr>
          <p:cNvPr id="9" name="Text 7"/>
          <p:cNvSpPr txBox="1"/>
          <p:nvPr/>
        </p:nvSpPr>
        <p:spPr>
          <a:xfrm>
            <a:off x="612648" y="2918460"/>
            <a:ext cx="4169664" cy="650748"/>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if False:</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print(1 + 'a')</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print('done')</a:t>
            </a:r>
            <a:endParaRPr lang="en-US" sz="1400" dirty="0"/>
          </a:p>
        </p:txBody>
      </p:sp>
      <p:sp>
        <p:nvSpPr>
          <p:cNvPr id="10" name="Shape 8"/>
          <p:cNvSpPr/>
          <p:nvPr/>
        </p:nvSpPr>
        <p:spPr>
          <a:xfrm>
            <a:off x="5166360" y="2817876"/>
            <a:ext cx="3566160" cy="418084"/>
          </a:xfrm>
          <a:prstGeom prst="roundRect">
            <a:avLst>
              <a:gd name="adj" fmla="val 21871"/>
            </a:avLst>
          </a:prstGeom>
          <a:solidFill>
            <a:srgbClr val="0F1823"/>
          </a:solidFill>
          <a:ln w="12700">
            <a:solidFill>
              <a:srgbClr val="0F1823"/>
            </a:solidFill>
            <a:prstDash val="solid"/>
          </a:ln>
        </p:spPr>
      </p:sp>
      <p:sp>
        <p:nvSpPr>
          <p:cNvPr id="11" name="Text 9"/>
          <p:cNvSpPr txBox="1"/>
          <p:nvPr/>
        </p:nvSpPr>
        <p:spPr>
          <a:xfrm>
            <a:off x="5367528" y="2918460"/>
            <a:ext cx="3163824" cy="216916"/>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done</a:t>
            </a:r>
            <a:endParaRPr lang="en-US" sz="1400" dirty="0"/>
          </a:p>
        </p:txBody>
      </p:sp>
      <p:sp>
        <p:nvSpPr>
          <p:cNvPr id="12" name="Text 10"/>
          <p:cNvSpPr txBox="1"/>
          <p:nvPr/>
        </p:nvSpPr>
        <p:spPr>
          <a:xfrm>
            <a:off x="411480" y="3688080"/>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skipped_v1_0_0.py, run under Python 3.14.4</a:t>
            </a:r>
            <a:endParaRPr lang="en-US" sz="900" dirty="0"/>
          </a:p>
        </p:txBody>
      </p:sp>
      <p:sp>
        <p:nvSpPr>
          <p:cNvPr id="13" name="Shape 11"/>
          <p:cNvSpPr/>
          <p:nvPr/>
        </p:nvSpPr>
        <p:spPr>
          <a:xfrm>
            <a:off x="411480" y="4017264"/>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017264"/>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126992"/>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line that is never executed is never checked for the errors that appear while a program runs - but a mistake in the shape of a skipped line is still a syntax error, and then nothing of the program runs at all.</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flowchart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Drawing every path a program can take</a:t>
            </a:r>
            <a:endParaRPr lang="en-US" sz="1300" dirty="0"/>
          </a:p>
        </p:txBody>
      </p:sp>
      <p:sp>
        <p:nvSpPr>
          <p:cNvPr id="6" name="Shape 4"/>
          <p:cNvSpPr/>
          <p:nvPr/>
        </p:nvSpPr>
        <p:spPr>
          <a:xfrm>
            <a:off x="411480" y="1152144"/>
            <a:ext cx="4818888" cy="2284222"/>
          </a:xfrm>
          <a:prstGeom prst="roundRect">
            <a:avLst>
              <a:gd name="adj" fmla="val 4003"/>
            </a:avLst>
          </a:prstGeom>
          <a:solidFill>
            <a:srgbClr val="F1F4F8"/>
          </a:solidFill>
          <a:ln w="12700">
            <a:solidFill>
              <a:srgbClr val="F1F4F8"/>
            </a:solidFill>
            <a:prstDash val="solid"/>
          </a:ln>
        </p:spPr>
      </p:sp>
      <p:sp>
        <p:nvSpPr>
          <p:cNvPr id="7" name="Text 5"/>
          <p:cNvSpPr txBox="1"/>
          <p:nvPr/>
        </p:nvSpPr>
        <p:spPr>
          <a:xfrm>
            <a:off x="594360" y="1280160"/>
            <a:ext cx="4453128" cy="20281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 flowchart is a diagram of the steps of a process and the decisions between them. The textbook states that flow control statements correspond directly to the symbols in a flowchart, and it draws one for every statement it introduces (Sweigart, 2025). Branching points are drawn as diamonds, other steps as rectangles, and the start and the end as rounded rectangles. A flowchart shows all paths at once, which the text of a program does not, so it is a way to plan a decision before writing it and to check afterwards that every path leads somewhere sensible.</a:t>
            </a:r>
            <a:endParaRPr lang="en-US" sz="1250" dirty="0"/>
          </a:p>
        </p:txBody>
      </p:sp>
      <p:sp>
        <p:nvSpPr>
          <p:cNvPr id="8" name="Shape 6"/>
          <p:cNvSpPr/>
          <p:nvPr/>
        </p:nvSpPr>
        <p:spPr>
          <a:xfrm>
            <a:off x="6405372" y="1152144"/>
            <a:ext cx="1280160" cy="292608"/>
          </a:xfrm>
          <a:prstGeom prst="roundRect">
            <a:avLst>
              <a:gd name="adj" fmla="val 31250"/>
            </a:avLst>
          </a:prstGeom>
          <a:solidFill>
            <a:srgbClr val="1E2A3A"/>
          </a:solidFill>
          <a:ln w="12700">
            <a:solidFill>
              <a:srgbClr val="1E2A3A"/>
            </a:solidFill>
            <a:prstDash val="solid"/>
          </a:ln>
        </p:spPr>
      </p:sp>
      <p:sp>
        <p:nvSpPr>
          <p:cNvPr id="9" name="Text 7"/>
          <p:cNvSpPr txBox="1"/>
          <p:nvPr/>
        </p:nvSpPr>
        <p:spPr>
          <a:xfrm>
            <a:off x="6441948" y="1152144"/>
            <a:ext cx="12070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Start</a:t>
            </a:r>
            <a:endParaRPr lang="en-US" sz="1000" dirty="0"/>
          </a:p>
        </p:txBody>
      </p:sp>
      <p:sp>
        <p:nvSpPr>
          <p:cNvPr id="10" name="Shape 8"/>
          <p:cNvSpPr/>
          <p:nvPr/>
        </p:nvSpPr>
        <p:spPr>
          <a:xfrm>
            <a:off x="7045452" y="1444752"/>
            <a:ext cx="3658" cy="164592"/>
          </a:xfrm>
          <a:prstGeom prst="line">
            <a:avLst/>
          </a:prstGeom>
          <a:noFill/>
          <a:ln w="19050">
            <a:solidFill>
              <a:srgbClr val="306998"/>
            </a:solidFill>
            <a:prstDash val="solid"/>
          </a:ln>
        </p:spPr>
      </p:sp>
      <p:sp>
        <p:nvSpPr>
          <p:cNvPr id="11" name="Shape 9"/>
          <p:cNvSpPr/>
          <p:nvPr/>
        </p:nvSpPr>
        <p:spPr>
          <a:xfrm>
            <a:off x="5628132" y="1609344"/>
            <a:ext cx="2834640" cy="694944"/>
          </a:xfrm>
          <a:prstGeom prst="diamond">
            <a:avLst/>
          </a:prstGeom>
          <a:solidFill>
            <a:srgbClr val="FFD43B"/>
          </a:solidFill>
          <a:ln w="12700">
            <a:solidFill>
              <a:srgbClr val="FFD43B"/>
            </a:solidFill>
            <a:prstDash val="solid"/>
          </a:ln>
        </p:spPr>
      </p:sp>
      <p:sp>
        <p:nvSpPr>
          <p:cNvPr id="12" name="Text 10"/>
          <p:cNvSpPr txBox="1"/>
          <p:nvPr/>
        </p:nvSpPr>
        <p:spPr>
          <a:xfrm>
            <a:off x="5939028" y="1609344"/>
            <a:ext cx="2212848" cy="694944"/>
          </a:xfrm>
          <a:prstGeom prst="rect">
            <a:avLst/>
          </a:prstGeom>
          <a:noFill/>
          <a:ln/>
        </p:spPr>
        <p:txBody>
          <a:bodyPr wrap="square" lIns="0" tIns="0" rIns="0" bIns="0" rtlCol="0" anchor="ctr"/>
          <a:lstStyle/>
          <a:p>
            <a:pPr algn="ctr" indent="0" marL="0">
              <a:buNone/>
            </a:pPr>
            <a:r>
              <a:rPr lang="en-US" sz="950" b="1" dirty="0">
                <a:solidFill>
                  <a:srgbClr val="1E2A3A"/>
                </a:solidFill>
                <a:latin typeface="Calibri" pitchFamily="34" charset="0"/>
                <a:ea typeface="Calibri" pitchFamily="34" charset="-122"/>
                <a:cs typeface="Calibri" pitchFamily="34" charset="-120"/>
              </a:rPr>
              <a:t>is the condition true?</a:t>
            </a:r>
            <a:endParaRPr lang="en-US" sz="950" dirty="0"/>
          </a:p>
        </p:txBody>
      </p:sp>
      <p:sp>
        <p:nvSpPr>
          <p:cNvPr id="13" name="Shape 11"/>
          <p:cNvSpPr/>
          <p:nvPr/>
        </p:nvSpPr>
        <p:spPr>
          <a:xfrm>
            <a:off x="5394960" y="2487168"/>
            <a:ext cx="1687068" cy="310896"/>
          </a:xfrm>
          <a:prstGeom prst="roundRect">
            <a:avLst>
              <a:gd name="adj" fmla="val 29412"/>
            </a:avLst>
          </a:prstGeom>
          <a:solidFill>
            <a:srgbClr val="F1F4F8"/>
          </a:solidFill>
          <a:ln w="12700">
            <a:solidFill>
              <a:srgbClr val="F1F4F8"/>
            </a:solidFill>
            <a:prstDash val="solid"/>
          </a:ln>
        </p:spPr>
      </p:sp>
      <p:sp>
        <p:nvSpPr>
          <p:cNvPr id="14" name="Text 12"/>
          <p:cNvSpPr txBox="1"/>
          <p:nvPr/>
        </p:nvSpPr>
        <p:spPr>
          <a:xfrm>
            <a:off x="5431536" y="2487168"/>
            <a:ext cx="1613916" cy="310896"/>
          </a:xfrm>
          <a:prstGeom prst="rect">
            <a:avLst/>
          </a:prstGeom>
          <a:noFill/>
          <a:ln/>
        </p:spPr>
        <p:txBody>
          <a:bodyPr wrap="square" lIns="0" tIns="0" rIns="0" bIns="0" rtlCol="0" anchor="ctr"/>
          <a:lstStyle/>
          <a:p>
            <a:pPr algn="ctr" indent="0" marL="0">
              <a:buNone/>
            </a:pPr>
            <a:r>
              <a:rPr lang="en-US" sz="950" b="1" dirty="0">
                <a:solidFill>
                  <a:srgbClr val="1F2933"/>
                </a:solidFill>
                <a:latin typeface="Calibri" pitchFamily="34" charset="0"/>
                <a:ea typeface="Calibri" pitchFamily="34" charset="-122"/>
                <a:cs typeface="Calibri" pitchFamily="34" charset="-120"/>
              </a:rPr>
              <a:t>run the block</a:t>
            </a:r>
            <a:endParaRPr lang="en-US" sz="950" dirty="0"/>
          </a:p>
        </p:txBody>
      </p:sp>
      <p:sp>
        <p:nvSpPr>
          <p:cNvPr id="15" name="Shape 13"/>
          <p:cNvSpPr/>
          <p:nvPr/>
        </p:nvSpPr>
        <p:spPr>
          <a:xfrm>
            <a:off x="5628132" y="1956816"/>
            <a:ext cx="610362" cy="3658"/>
          </a:xfrm>
          <a:prstGeom prst="line">
            <a:avLst/>
          </a:prstGeom>
          <a:noFill/>
          <a:ln w="19050">
            <a:solidFill>
              <a:srgbClr val="306998"/>
            </a:solidFill>
            <a:prstDash val="solid"/>
          </a:ln>
        </p:spPr>
      </p:sp>
      <p:sp>
        <p:nvSpPr>
          <p:cNvPr id="16" name="Shape 14"/>
          <p:cNvSpPr/>
          <p:nvPr/>
        </p:nvSpPr>
        <p:spPr>
          <a:xfrm>
            <a:off x="6238494" y="1956816"/>
            <a:ext cx="3658" cy="530352"/>
          </a:xfrm>
          <a:prstGeom prst="line">
            <a:avLst/>
          </a:prstGeom>
          <a:noFill/>
          <a:ln w="19050">
            <a:solidFill>
              <a:srgbClr val="306998"/>
            </a:solidFill>
            <a:prstDash val="solid"/>
          </a:ln>
        </p:spPr>
      </p:sp>
      <p:sp>
        <p:nvSpPr>
          <p:cNvPr id="17" name="Text 15"/>
          <p:cNvSpPr txBox="1"/>
          <p:nvPr/>
        </p:nvSpPr>
        <p:spPr>
          <a:xfrm>
            <a:off x="5394960" y="1755648"/>
            <a:ext cx="475488" cy="182880"/>
          </a:xfrm>
          <a:prstGeom prst="rect">
            <a:avLst/>
          </a:prstGeom>
          <a:noFill/>
          <a:ln/>
        </p:spPr>
        <p:txBody>
          <a:bodyPr wrap="square" lIns="0" tIns="0" rIns="0" bIns="0" rtlCol="0" anchor="ctr"/>
          <a:lstStyle/>
          <a:p>
            <a:pPr indent="0" marL="0">
              <a:buNone/>
            </a:pPr>
            <a:r>
              <a:rPr lang="en-US" sz="850" i="1" dirty="0">
                <a:solidFill>
                  <a:srgbClr val="5B6B7B"/>
                </a:solidFill>
                <a:latin typeface="Calibri" pitchFamily="34" charset="0"/>
                <a:ea typeface="Calibri" pitchFamily="34" charset="-122"/>
                <a:cs typeface="Calibri" pitchFamily="34" charset="-120"/>
              </a:rPr>
              <a:t>true</a:t>
            </a:r>
            <a:endParaRPr lang="en-US" sz="850" dirty="0"/>
          </a:p>
        </p:txBody>
      </p:sp>
      <p:sp>
        <p:nvSpPr>
          <p:cNvPr id="18" name="Text 16"/>
          <p:cNvSpPr txBox="1"/>
          <p:nvPr/>
        </p:nvSpPr>
        <p:spPr>
          <a:xfrm>
            <a:off x="7100316" y="2322576"/>
            <a:ext cx="548640" cy="182880"/>
          </a:xfrm>
          <a:prstGeom prst="rect">
            <a:avLst/>
          </a:prstGeom>
          <a:noFill/>
          <a:ln/>
        </p:spPr>
        <p:txBody>
          <a:bodyPr wrap="square" lIns="0" tIns="0" rIns="0" bIns="0" rtlCol="0" anchor="ctr"/>
          <a:lstStyle/>
          <a:p>
            <a:pPr indent="0" marL="0">
              <a:buNone/>
            </a:pPr>
            <a:r>
              <a:rPr lang="en-US" sz="850" i="1" dirty="0">
                <a:solidFill>
                  <a:srgbClr val="5B6B7B"/>
                </a:solidFill>
                <a:latin typeface="Calibri" pitchFamily="34" charset="0"/>
                <a:ea typeface="Calibri" pitchFamily="34" charset="-122"/>
                <a:cs typeface="Calibri" pitchFamily="34" charset="-120"/>
              </a:rPr>
              <a:t>false</a:t>
            </a:r>
            <a:endParaRPr lang="en-US" sz="850" dirty="0"/>
          </a:p>
        </p:txBody>
      </p:sp>
      <p:sp>
        <p:nvSpPr>
          <p:cNvPr id="19" name="Shape 17"/>
          <p:cNvSpPr/>
          <p:nvPr/>
        </p:nvSpPr>
        <p:spPr>
          <a:xfrm>
            <a:off x="7045452" y="2304288"/>
            <a:ext cx="3658" cy="731520"/>
          </a:xfrm>
          <a:prstGeom prst="line">
            <a:avLst/>
          </a:prstGeom>
          <a:noFill/>
          <a:ln w="19050">
            <a:solidFill>
              <a:srgbClr val="306998"/>
            </a:solidFill>
            <a:prstDash val="solid"/>
          </a:ln>
        </p:spPr>
      </p:sp>
      <p:sp>
        <p:nvSpPr>
          <p:cNvPr id="20" name="Shape 18"/>
          <p:cNvSpPr/>
          <p:nvPr/>
        </p:nvSpPr>
        <p:spPr>
          <a:xfrm>
            <a:off x="6238494" y="2798064"/>
            <a:ext cx="3658" cy="237744"/>
          </a:xfrm>
          <a:prstGeom prst="line">
            <a:avLst/>
          </a:prstGeom>
          <a:noFill/>
          <a:ln w="19050">
            <a:solidFill>
              <a:srgbClr val="306998"/>
            </a:solidFill>
            <a:prstDash val="solid"/>
          </a:ln>
        </p:spPr>
      </p:sp>
      <p:sp>
        <p:nvSpPr>
          <p:cNvPr id="21" name="Shape 19"/>
          <p:cNvSpPr/>
          <p:nvPr/>
        </p:nvSpPr>
        <p:spPr>
          <a:xfrm>
            <a:off x="6238494" y="3035808"/>
            <a:ext cx="806958" cy="3658"/>
          </a:xfrm>
          <a:prstGeom prst="line">
            <a:avLst/>
          </a:prstGeom>
          <a:noFill/>
          <a:ln w="19050">
            <a:solidFill>
              <a:srgbClr val="306998"/>
            </a:solidFill>
            <a:prstDash val="solid"/>
          </a:ln>
        </p:spPr>
      </p:sp>
      <p:sp>
        <p:nvSpPr>
          <p:cNvPr id="22" name="Shape 20"/>
          <p:cNvSpPr/>
          <p:nvPr/>
        </p:nvSpPr>
        <p:spPr>
          <a:xfrm>
            <a:off x="6405372" y="3035808"/>
            <a:ext cx="1280160" cy="292608"/>
          </a:xfrm>
          <a:prstGeom prst="roundRect">
            <a:avLst>
              <a:gd name="adj" fmla="val 31250"/>
            </a:avLst>
          </a:prstGeom>
          <a:solidFill>
            <a:srgbClr val="1E2A3A"/>
          </a:solidFill>
          <a:ln w="12700">
            <a:solidFill>
              <a:srgbClr val="1E2A3A"/>
            </a:solidFill>
            <a:prstDash val="solid"/>
          </a:ln>
        </p:spPr>
      </p:sp>
      <p:sp>
        <p:nvSpPr>
          <p:cNvPr id="23" name="Text 21"/>
          <p:cNvSpPr txBox="1"/>
          <p:nvPr/>
        </p:nvSpPr>
        <p:spPr>
          <a:xfrm>
            <a:off x="6441948" y="3035808"/>
            <a:ext cx="12070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End</a:t>
            </a:r>
            <a:endParaRPr lang="en-US" sz="1000" dirty="0"/>
          </a:p>
        </p:txBody>
      </p:sp>
      <p:sp>
        <p:nvSpPr>
          <p:cNvPr id="24" name="Text 22"/>
          <p:cNvSpPr txBox="1"/>
          <p:nvPr/>
        </p:nvSpPr>
        <p:spPr>
          <a:xfrm>
            <a:off x="5358384" y="3364992"/>
            <a:ext cx="3374136" cy="420624"/>
          </a:xfrm>
          <a:prstGeom prst="rect">
            <a:avLst/>
          </a:prstGeom>
          <a:noFill/>
          <a:ln/>
        </p:spPr>
        <p:txBody>
          <a:bodyPr wrap="square" lIns="0" tIns="0" rIns="0" bIns="0" rtlCol="0" anchor="t"/>
          <a:lstStyle/>
          <a:p>
            <a:pPr indent="0" marL="0">
              <a:buNone/>
            </a:pPr>
            <a:r>
              <a:rPr lang="en-US" sz="900" i="1" dirty="0">
                <a:solidFill>
                  <a:srgbClr val="5B6B7B"/>
                </a:solidFill>
                <a:latin typeface="Calibri" pitchFamily="34" charset="0"/>
                <a:ea typeface="Calibri" pitchFamily="34" charset="-122"/>
                <a:cs typeface="Calibri" pitchFamily="34" charset="-120"/>
              </a:rPr>
              <a:t>a diamond is a decision, a rectangle a step, a rounded rectangle the start or the end (Sweigart, 2025)</a:t>
            </a:r>
            <a:endParaRPr lang="en-US" sz="900" dirty="0"/>
          </a:p>
        </p:txBody>
      </p:sp>
      <p:sp>
        <p:nvSpPr>
          <p:cNvPr id="25" name="Shape 23"/>
          <p:cNvSpPr/>
          <p:nvPr/>
        </p:nvSpPr>
        <p:spPr>
          <a:xfrm>
            <a:off x="411480" y="3546094"/>
            <a:ext cx="4818888" cy="919480"/>
          </a:xfrm>
          <a:prstGeom prst="roundRect">
            <a:avLst>
              <a:gd name="adj" fmla="val 7956"/>
            </a:avLst>
          </a:prstGeom>
          <a:solidFill>
            <a:srgbClr val="FFF1F0"/>
          </a:solidFill>
          <a:ln w="12700">
            <a:solidFill>
              <a:srgbClr val="FFD7D5"/>
            </a:solidFill>
            <a:prstDash val="solid"/>
          </a:ln>
        </p:spPr>
      </p:sp>
      <p:sp>
        <p:nvSpPr>
          <p:cNvPr id="26" name="Shape 24"/>
          <p:cNvSpPr/>
          <p:nvPr/>
        </p:nvSpPr>
        <p:spPr>
          <a:xfrm>
            <a:off x="411480" y="3546094"/>
            <a:ext cx="64008" cy="919480"/>
          </a:xfrm>
          <a:prstGeom prst="rect">
            <a:avLst/>
          </a:prstGeom>
          <a:solidFill>
            <a:srgbClr val="FF7B72"/>
          </a:solidFill>
          <a:ln w="12700">
            <a:solidFill>
              <a:srgbClr val="FF7B72"/>
            </a:solidFill>
            <a:prstDash val="solid"/>
          </a:ln>
        </p:spPr>
      </p:sp>
      <p:sp>
        <p:nvSpPr>
          <p:cNvPr id="27" name="Text 25"/>
          <p:cNvSpPr txBox="1"/>
          <p:nvPr/>
        </p:nvSpPr>
        <p:spPr>
          <a:xfrm>
            <a:off x="612648" y="365582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flowchart can reveal a fault the code hides. The book's own vampire flowchart has a path that can never be taken, because anyone older than 2000 is already older than 100 and the earlier test catches them (Sweigart, 2025).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parts of a flow control statement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Condition, block, indentation, clause and keyword</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control structure is the set of parts out of which a flow control statement is built. A statement of this kind starts with a keyword and a condition, ends its first line with a colon, and is followed by a block of indented lines (Sweigart, 2025). Learning the parts first makes every statement that follows easy to read: if, elif and else differ in the keyword and in whether they have a condition, but they share the shape of header, colon and indented block - and the same shape returns in the loops and function definitions of later chapters.</a:t>
            </a:r>
            <a:endParaRPr lang="en-US" sz="1300" dirty="0"/>
          </a:p>
        </p:txBody>
      </p:sp>
      <p:sp>
        <p:nvSpPr>
          <p:cNvPr id="8" name="Shape 6"/>
          <p:cNvSpPr/>
          <p:nvPr/>
        </p:nvSpPr>
        <p:spPr>
          <a:xfrm>
            <a:off x="411480" y="2817876"/>
            <a:ext cx="4572000" cy="1285748"/>
          </a:xfrm>
          <a:prstGeom prst="roundRect">
            <a:avLst>
              <a:gd name="adj" fmla="val 7112"/>
            </a:avLst>
          </a:prstGeom>
          <a:solidFill>
            <a:srgbClr val="17202B"/>
          </a:solidFill>
          <a:ln w="12700">
            <a:solidFill>
              <a:srgbClr val="17202B"/>
            </a:solidFill>
            <a:prstDash val="solid"/>
          </a:ln>
        </p:spPr>
      </p:sp>
      <p:sp>
        <p:nvSpPr>
          <p:cNvPr id="9" name="Text 7"/>
          <p:cNvSpPr txBox="1"/>
          <p:nvPr/>
        </p:nvSpPr>
        <p:spPr>
          <a:xfrm>
            <a:off x="612648" y="2918460"/>
            <a:ext cx="4169664" cy="1084580"/>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x = 1</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if x &gt; 3:</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print('big')</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print('always')</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print('end')</a:t>
            </a:r>
            <a:endParaRPr lang="en-US" sz="1400" dirty="0"/>
          </a:p>
        </p:txBody>
      </p:sp>
      <p:sp>
        <p:nvSpPr>
          <p:cNvPr id="10" name="Shape 8"/>
          <p:cNvSpPr/>
          <p:nvPr/>
        </p:nvSpPr>
        <p:spPr>
          <a:xfrm>
            <a:off x="5166360" y="2817876"/>
            <a:ext cx="3566160" cy="418084"/>
          </a:xfrm>
          <a:prstGeom prst="roundRect">
            <a:avLst>
              <a:gd name="adj" fmla="val 21871"/>
            </a:avLst>
          </a:prstGeom>
          <a:solidFill>
            <a:srgbClr val="0F1823"/>
          </a:solidFill>
          <a:ln w="12700">
            <a:solidFill>
              <a:srgbClr val="0F1823"/>
            </a:solidFill>
            <a:prstDash val="solid"/>
          </a:ln>
        </p:spPr>
      </p:sp>
      <p:sp>
        <p:nvSpPr>
          <p:cNvPr id="11" name="Text 9"/>
          <p:cNvSpPr txBox="1"/>
          <p:nvPr/>
        </p:nvSpPr>
        <p:spPr>
          <a:xfrm>
            <a:off x="5367528" y="2918460"/>
            <a:ext cx="3163824" cy="216916"/>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end</a:t>
            </a:r>
            <a:endParaRPr lang="en-US" sz="1400" dirty="0"/>
          </a:p>
        </p:txBody>
      </p:sp>
      <p:sp>
        <p:nvSpPr>
          <p:cNvPr id="12" name="Text 10"/>
          <p:cNvSpPr txBox="1"/>
          <p:nvPr/>
        </p:nvSpPr>
        <p:spPr>
          <a:xfrm>
            <a:off x="411480" y="412191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indent_in_v1_0_0.py, run under Python 3.14.4</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condition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 expression evaluated for its truth</a:t>
            </a:r>
            <a:endParaRPr lang="en-US" sz="1300" dirty="0"/>
          </a:p>
        </p:txBody>
      </p:sp>
      <p:sp>
        <p:nvSpPr>
          <p:cNvPr id="6" name="Shape 4"/>
          <p:cNvSpPr/>
          <p:nvPr/>
        </p:nvSpPr>
        <p:spPr>
          <a:xfrm>
            <a:off x="411480" y="1152144"/>
            <a:ext cx="4818888" cy="2307463"/>
          </a:xfrm>
          <a:prstGeom prst="roundRect">
            <a:avLst>
              <a:gd name="adj" fmla="val 3963"/>
            </a:avLst>
          </a:prstGeom>
          <a:solidFill>
            <a:srgbClr val="F1F4F8"/>
          </a:solidFill>
          <a:ln w="12700">
            <a:solidFill>
              <a:srgbClr val="F1F4F8"/>
            </a:solidFill>
            <a:prstDash val="solid"/>
          </a:ln>
        </p:spPr>
      </p:sp>
      <p:sp>
        <p:nvSpPr>
          <p:cNvPr id="7" name="Text 5"/>
          <p:cNvSpPr txBox="1"/>
          <p:nvPr/>
        </p:nvSpPr>
        <p:spPr>
          <a:xfrm>
            <a:off x="594360" y="1280160"/>
            <a:ext cx="4453128" cy="2051431"/>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 condition is an expression that a flow control statement evaluates to decide what to do. The textbook explains that the Boolean expressions seen so far could all be considered conditions, and that condition is just a more specific name in the context of flow control statements (Sweigart, 2025). Almost every flow control statement has one, so a condition is how a program connects its data to its decisions. Python evaluates it and reads the result as true or false: the documentation says the if statement selects exactly one of its suites by evaluating the expressions one by one until one is found to be true.</a:t>
            </a:r>
            <a:endParaRPr lang="en-US" sz="1150" dirty="0"/>
          </a:p>
        </p:txBody>
      </p:sp>
      <p:sp>
        <p:nvSpPr>
          <p:cNvPr id="8" name="Shape 6"/>
          <p:cNvSpPr/>
          <p:nvPr/>
        </p:nvSpPr>
        <p:spPr>
          <a:xfrm>
            <a:off x="5358384" y="1152144"/>
            <a:ext cx="3374136" cy="1936496"/>
          </a:xfrm>
          <a:prstGeom prst="roundRect">
            <a:avLst>
              <a:gd name="adj" fmla="val 4722"/>
            </a:avLst>
          </a:prstGeom>
          <a:solidFill>
            <a:srgbClr val="17202B"/>
          </a:solidFill>
          <a:ln w="12700">
            <a:solidFill>
              <a:srgbClr val="17202B"/>
            </a:solidFill>
            <a:prstDash val="solid"/>
          </a:ln>
        </p:spPr>
      </p:sp>
      <p:sp>
        <p:nvSpPr>
          <p:cNvPr id="9" name="Text 7"/>
          <p:cNvSpPr txBox="1"/>
          <p:nvPr/>
        </p:nvSpPr>
        <p:spPr>
          <a:xfrm>
            <a:off x="5559552" y="1252728"/>
            <a:ext cx="2971800" cy="1735328"/>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3000 &gt; 100</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bool('Alice')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True == True</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bool('')</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p:txBody>
      </p:sp>
      <p:sp>
        <p:nvSpPr>
          <p:cNvPr id="10" name="Text 8"/>
          <p:cNvSpPr txBox="1"/>
          <p:nvPr/>
        </p:nvSpPr>
        <p:spPr>
          <a:xfrm>
            <a:off x="5358384" y="3106928"/>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569335"/>
            <a:ext cx="4818888" cy="1089914"/>
          </a:xfrm>
          <a:prstGeom prst="roundRect">
            <a:avLst>
              <a:gd name="adj" fmla="val 6712"/>
            </a:avLst>
          </a:prstGeom>
          <a:solidFill>
            <a:srgbClr val="FFF1F0"/>
          </a:solidFill>
          <a:ln w="12700">
            <a:solidFill>
              <a:srgbClr val="FFD7D5"/>
            </a:solidFill>
            <a:prstDash val="solid"/>
          </a:ln>
        </p:spPr>
      </p:sp>
      <p:sp>
        <p:nvSpPr>
          <p:cNvPr id="12" name="Shape 10"/>
          <p:cNvSpPr/>
          <p:nvPr/>
        </p:nvSpPr>
        <p:spPr>
          <a:xfrm>
            <a:off x="411480" y="3569335"/>
            <a:ext cx="64008" cy="1089914"/>
          </a:xfrm>
          <a:prstGeom prst="rect">
            <a:avLst/>
          </a:prstGeom>
          <a:solidFill>
            <a:srgbClr val="FF7B72"/>
          </a:solidFill>
          <a:ln w="12700">
            <a:solidFill>
              <a:srgbClr val="FF7B72"/>
            </a:solidFill>
            <a:prstDash val="solid"/>
          </a:ln>
        </p:spPr>
      </p:sp>
      <p:sp>
        <p:nvSpPr>
          <p:cNvPr id="13" name="Text 11"/>
          <p:cNvSpPr txBox="1"/>
          <p:nvPr/>
        </p:nvSpPr>
        <p:spPr>
          <a:xfrm>
            <a:off x="612648" y="3679063"/>
            <a:ext cx="4416552" cy="870458"/>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condition is an expression, not a statement, so an assignment cannot take its place. The style guide also advises against comparing a Boolean with True using ==, so if greeting: is preferred to if greeting == True: (Van Rossum et al., 2001).</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block</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group of lines treated together</a:t>
            </a:r>
            <a:endParaRPr lang="en-US" sz="1300" dirty="0"/>
          </a:p>
        </p:txBody>
      </p:sp>
      <p:sp>
        <p:nvSpPr>
          <p:cNvPr id="6" name="Shape 4"/>
          <p:cNvSpPr/>
          <p:nvPr/>
        </p:nvSpPr>
        <p:spPr>
          <a:xfrm>
            <a:off x="411480" y="1152144"/>
            <a:ext cx="8321040" cy="1044702"/>
          </a:xfrm>
          <a:prstGeom prst="roundRect">
            <a:avLst>
              <a:gd name="adj" fmla="val 8753"/>
            </a:avLst>
          </a:prstGeom>
          <a:solidFill>
            <a:srgbClr val="F1F4F8"/>
          </a:solidFill>
          <a:ln w="12700">
            <a:solidFill>
              <a:srgbClr val="F1F4F8"/>
            </a:solidFill>
            <a:prstDash val="solid"/>
          </a:ln>
        </p:spPr>
      </p:sp>
      <p:sp>
        <p:nvSpPr>
          <p:cNvPr id="7" name="Text 5"/>
          <p:cNvSpPr txBox="1"/>
          <p:nvPr/>
        </p:nvSpPr>
        <p:spPr>
          <a:xfrm>
            <a:off x="594360" y="1280160"/>
            <a:ext cx="7955280" cy="788670"/>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A block is a group of lines of code treated together, and you can tell where one begins and ends from the indentation of the lines (Sweigart, 2025). The reference documentation calls such a group a suite. A block decides what belongs to a decision: everything inside it runs together when the condition holds, and everything outside runs regardless. The textbook gives four rules: a new block begins when the indentation increases, blocks can contain other blocks, a block ends when the indentation decreases to a containing block's level, and Python expects a block immediately after any statement that ends with a colon.</a:t>
            </a:r>
            <a:endParaRPr lang="en-US" sz="900" dirty="0"/>
          </a:p>
        </p:txBody>
      </p:sp>
      <p:sp>
        <p:nvSpPr>
          <p:cNvPr id="8" name="Shape 6"/>
          <p:cNvSpPr/>
          <p:nvPr/>
        </p:nvSpPr>
        <p:spPr>
          <a:xfrm>
            <a:off x="411480" y="2306574"/>
            <a:ext cx="4572000" cy="1440688"/>
          </a:xfrm>
          <a:prstGeom prst="roundRect">
            <a:avLst>
              <a:gd name="adj" fmla="val 6347"/>
            </a:avLst>
          </a:prstGeom>
          <a:solidFill>
            <a:srgbClr val="17202B"/>
          </a:solidFill>
          <a:ln w="12700">
            <a:solidFill>
              <a:srgbClr val="17202B"/>
            </a:solidFill>
            <a:prstDash val="solid"/>
          </a:ln>
        </p:spPr>
      </p:sp>
      <p:sp>
        <p:nvSpPr>
          <p:cNvPr id="9" name="Text 7"/>
          <p:cNvSpPr txBox="1"/>
          <p:nvPr/>
        </p:nvSpPr>
        <p:spPr>
          <a:xfrm>
            <a:off x="612648" y="2407158"/>
            <a:ext cx="4169664" cy="123952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username = 'Mary'</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password = 'swordfish'</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if username == 'Mary':</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print('Hello, Mary')</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if password == 'swordfish':</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print('Access granted.')</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else: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print('Wrong password.')</a:t>
            </a:r>
            <a:endParaRPr lang="en-US" sz="1000" dirty="0"/>
          </a:p>
        </p:txBody>
      </p:sp>
      <p:sp>
        <p:nvSpPr>
          <p:cNvPr id="10" name="Shape 8"/>
          <p:cNvSpPr/>
          <p:nvPr/>
        </p:nvSpPr>
        <p:spPr>
          <a:xfrm>
            <a:off x="5166360" y="2306574"/>
            <a:ext cx="3566160" cy="511048"/>
          </a:xfrm>
          <a:prstGeom prst="roundRect">
            <a:avLst>
              <a:gd name="adj" fmla="val 17893"/>
            </a:avLst>
          </a:prstGeom>
          <a:solidFill>
            <a:srgbClr val="0F1823"/>
          </a:solidFill>
          <a:ln w="12700">
            <a:solidFill>
              <a:srgbClr val="0F1823"/>
            </a:solidFill>
            <a:prstDash val="solid"/>
          </a:ln>
        </p:spPr>
      </p:sp>
      <p:sp>
        <p:nvSpPr>
          <p:cNvPr id="11" name="Text 9"/>
          <p:cNvSpPr txBox="1"/>
          <p:nvPr/>
        </p:nvSpPr>
        <p:spPr>
          <a:xfrm>
            <a:off x="5367528" y="2407158"/>
            <a:ext cx="3163824" cy="309880"/>
          </a:xfrm>
          <a:prstGeom prst="rect">
            <a:avLst/>
          </a:prstGeom>
          <a:noFill/>
          <a:ln/>
        </p:spPr>
        <p:txBody>
          <a:bodyPr wrap="square" lIns="0" tIns="0" rIns="0" bIns="0" rtlCol="0" anchor="t"/>
          <a:lstStyle/>
          <a:p>
            <a:pPr indent="0" marL="0">
              <a:buNone/>
            </a:pPr>
            <a:r>
              <a:rPr lang="en-US" sz="1000" dirty="0">
                <a:solidFill>
                  <a:srgbClr val="7EE787"/>
                </a:solidFill>
                <a:latin typeface="Courier New" pitchFamily="34" charset="0"/>
                <a:ea typeface="Courier New" pitchFamily="34" charset="-122"/>
                <a:cs typeface="Courier New" pitchFamily="34" charset="-120"/>
              </a:rPr>
              <a:t>Hello, Mary</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Access granted.</a:t>
            </a:r>
            <a:endParaRPr lang="en-US" sz="1000" dirty="0"/>
          </a:p>
        </p:txBody>
      </p:sp>
      <p:sp>
        <p:nvSpPr>
          <p:cNvPr id="12" name="Text 10"/>
          <p:cNvSpPr txBox="1"/>
          <p:nvPr/>
        </p:nvSpPr>
        <p:spPr>
          <a:xfrm>
            <a:off x="411480" y="3765550"/>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password_v1_0_0.py, run under Python 3.14.4</a:t>
            </a:r>
            <a:endParaRPr lang="en-US" sz="900" dirty="0"/>
          </a:p>
        </p:txBody>
      </p:sp>
      <p:sp>
        <p:nvSpPr>
          <p:cNvPr id="13" name="Shape 11"/>
          <p:cNvSpPr/>
          <p:nvPr/>
        </p:nvSpPr>
        <p:spPr>
          <a:xfrm>
            <a:off x="411480" y="4094734"/>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094734"/>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204462"/>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One level of indentation decides whether a line belongs to a block, and a mistake in indentation does not look like a mistake to a reader. When a program behaves strangely, check the blocks first.</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Indentation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Whitespace that is part of the syntax</a:t>
            </a:r>
            <a:endParaRPr lang="en-US" sz="1300" dirty="0"/>
          </a:p>
        </p:txBody>
      </p:sp>
      <p:sp>
        <p:nvSpPr>
          <p:cNvPr id="6" name="Shape 4"/>
          <p:cNvSpPr/>
          <p:nvPr/>
        </p:nvSpPr>
        <p:spPr>
          <a:xfrm>
            <a:off x="411480" y="1152144"/>
            <a:ext cx="8321040" cy="905256"/>
          </a:xfrm>
          <a:prstGeom prst="roundRect">
            <a:avLst>
              <a:gd name="adj" fmla="val 10101"/>
            </a:avLst>
          </a:prstGeom>
          <a:solidFill>
            <a:srgbClr val="F1F4F8"/>
          </a:solidFill>
          <a:ln w="12700">
            <a:solidFill>
              <a:srgbClr val="F1F4F8"/>
            </a:solidFill>
            <a:prstDash val="solid"/>
          </a:ln>
        </p:spPr>
      </p:sp>
      <p:sp>
        <p:nvSpPr>
          <p:cNvPr id="7" name="Text 5"/>
          <p:cNvSpPr txBox="1"/>
          <p:nvPr/>
        </p:nvSpPr>
        <p:spPr>
          <a:xfrm>
            <a:off x="594360" y="1280160"/>
            <a:ext cx="7955280" cy="649224"/>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Indentation is the whitespace at the beginning of a line of code. The language reference says that leading whitespace is used to compute the indentation level of the line, which in turn is used to determine the grouping of statements (Python Software Foundation, 2026). In Python it is part of the syntax, not decoration. To read it, Python keeps a stack of indentation levels and compares each line with the top of it: a line indented more opens a block, a line indented less closes one, and equal indentation continues the block.</a:t>
            </a:r>
            <a:endParaRPr lang="en-US" sz="900" dirty="0"/>
          </a:p>
        </p:txBody>
      </p:sp>
      <p:sp>
        <p:nvSpPr>
          <p:cNvPr id="8" name="Shape 6"/>
          <p:cNvSpPr/>
          <p:nvPr/>
        </p:nvSpPr>
        <p:spPr>
          <a:xfrm>
            <a:off x="411480" y="2167128"/>
            <a:ext cx="4572000" cy="1285748"/>
          </a:xfrm>
          <a:prstGeom prst="roundRect">
            <a:avLst>
              <a:gd name="adj" fmla="val 7112"/>
            </a:avLst>
          </a:prstGeom>
          <a:solidFill>
            <a:srgbClr val="17202B"/>
          </a:solidFill>
          <a:ln w="12700">
            <a:solidFill>
              <a:srgbClr val="17202B"/>
            </a:solidFill>
            <a:prstDash val="solid"/>
          </a:ln>
        </p:spPr>
      </p:sp>
      <p:sp>
        <p:nvSpPr>
          <p:cNvPr id="9" name="Text 7"/>
          <p:cNvSpPr txBox="1"/>
          <p:nvPr/>
        </p:nvSpPr>
        <p:spPr>
          <a:xfrm>
            <a:off x="612648" y="2267712"/>
            <a:ext cx="4169664" cy="1084580"/>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x = 1</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if x &gt; 3:</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print('big')</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print('always')</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print('end')</a:t>
            </a:r>
            <a:endParaRPr lang="en-US" sz="1400" dirty="0"/>
          </a:p>
        </p:txBody>
      </p:sp>
      <p:sp>
        <p:nvSpPr>
          <p:cNvPr id="10" name="Shape 8"/>
          <p:cNvSpPr/>
          <p:nvPr/>
        </p:nvSpPr>
        <p:spPr>
          <a:xfrm>
            <a:off x="5166360" y="2167128"/>
            <a:ext cx="3566160" cy="635000"/>
          </a:xfrm>
          <a:prstGeom prst="roundRect">
            <a:avLst>
              <a:gd name="adj" fmla="val 14400"/>
            </a:avLst>
          </a:prstGeom>
          <a:solidFill>
            <a:srgbClr val="0F1823"/>
          </a:solidFill>
          <a:ln w="12700">
            <a:solidFill>
              <a:srgbClr val="0F1823"/>
            </a:solidFill>
            <a:prstDash val="solid"/>
          </a:ln>
        </p:spPr>
      </p:sp>
      <p:sp>
        <p:nvSpPr>
          <p:cNvPr id="11" name="Text 9"/>
          <p:cNvSpPr txBox="1"/>
          <p:nvPr/>
        </p:nvSpPr>
        <p:spPr>
          <a:xfrm>
            <a:off x="5367528" y="2267712"/>
            <a:ext cx="3163824" cy="433832"/>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always</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end</a:t>
            </a:r>
            <a:endParaRPr lang="en-US" sz="1400" dirty="0"/>
          </a:p>
        </p:txBody>
      </p:sp>
      <p:sp>
        <p:nvSpPr>
          <p:cNvPr id="12" name="Text 10"/>
          <p:cNvSpPr txBox="1"/>
          <p:nvPr/>
        </p:nvSpPr>
        <p:spPr>
          <a:xfrm>
            <a:off x="411480" y="3471164"/>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indent_out_v1_0_0.py, run under Python 3.14.4</a:t>
            </a:r>
            <a:endParaRPr lang="en-US" sz="900" dirty="0"/>
          </a:p>
        </p:txBody>
      </p:sp>
      <p:sp>
        <p:nvSpPr>
          <p:cNvPr id="13" name="Shape 11"/>
          <p:cNvSpPr/>
          <p:nvPr/>
        </p:nvSpPr>
        <p:spPr>
          <a:xfrm>
            <a:off x="411480" y="3800348"/>
            <a:ext cx="8321040" cy="749046"/>
          </a:xfrm>
          <a:prstGeom prst="roundRect">
            <a:avLst>
              <a:gd name="adj" fmla="val 9766"/>
            </a:avLst>
          </a:prstGeom>
          <a:solidFill>
            <a:srgbClr val="FFF1F0"/>
          </a:solidFill>
          <a:ln w="12700">
            <a:solidFill>
              <a:srgbClr val="FFD7D5"/>
            </a:solidFill>
            <a:prstDash val="solid"/>
          </a:ln>
        </p:spPr>
      </p:sp>
      <p:sp>
        <p:nvSpPr>
          <p:cNvPr id="14" name="Shape 12"/>
          <p:cNvSpPr/>
          <p:nvPr/>
        </p:nvSpPr>
        <p:spPr>
          <a:xfrm>
            <a:off x="411480" y="3800348"/>
            <a:ext cx="64008" cy="749046"/>
          </a:xfrm>
          <a:prstGeom prst="rect">
            <a:avLst/>
          </a:prstGeom>
          <a:solidFill>
            <a:srgbClr val="FF7B72"/>
          </a:solidFill>
          <a:ln w="12700">
            <a:solidFill>
              <a:srgbClr val="FF7B72"/>
            </a:solidFill>
            <a:prstDash val="solid"/>
          </a:ln>
        </p:spPr>
      </p:sp>
      <p:sp>
        <p:nvSpPr>
          <p:cNvPr id="15" name="Text 13"/>
          <p:cNvSpPr txBox="1"/>
          <p:nvPr/>
        </p:nvSpPr>
        <p:spPr>
          <a:xfrm>
            <a:off x="612648" y="3910076"/>
            <a:ext cx="7918704"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Wrong indentation is reported as an IndentationError, a kind of SyntaxError: a missing block after a colon, an unexpected indent, or a level that does not match any outer one. Mixing tabs and spaces can raise a TabError.</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clause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header and the suite it controls</a:t>
            </a:r>
            <a:endParaRPr lang="en-US" sz="1300" dirty="0"/>
          </a:p>
        </p:txBody>
      </p:sp>
      <p:sp>
        <p:nvSpPr>
          <p:cNvPr id="6" name="Shape 4"/>
          <p:cNvSpPr/>
          <p:nvPr/>
        </p:nvSpPr>
        <p:spPr>
          <a:xfrm>
            <a:off x="411480" y="1152144"/>
            <a:ext cx="8321040" cy="1044702"/>
          </a:xfrm>
          <a:prstGeom prst="roundRect">
            <a:avLst>
              <a:gd name="adj" fmla="val 8753"/>
            </a:avLst>
          </a:prstGeom>
          <a:solidFill>
            <a:srgbClr val="F1F4F8"/>
          </a:solidFill>
          <a:ln w="12700">
            <a:solidFill>
              <a:srgbClr val="F1F4F8"/>
            </a:solidFill>
            <a:prstDash val="solid"/>
          </a:ln>
        </p:spPr>
      </p:sp>
      <p:sp>
        <p:nvSpPr>
          <p:cNvPr id="7" name="Text 5"/>
          <p:cNvSpPr txBox="1"/>
          <p:nvPr/>
        </p:nvSpPr>
        <p:spPr>
          <a:xfrm>
            <a:off x="594360" y="1280160"/>
            <a:ext cx="7955280" cy="788670"/>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A clause is one part of a compound statement. In the textbook's wording, flow control statements are always followed by a block of code called the clause, so the block after if is the if clause and the block after else is the else clause (Sweigart, 2025). The reference documentation uses the word for the header and its suite together: a compound statement consists of one or more clauses, and a clause consists of a header and a suite (Python Software Foundation, 2026). Both usages are common, and knowing both prevents confusion when one source is read after the other.</a:t>
            </a:r>
            <a:endParaRPr lang="en-US" sz="900" dirty="0"/>
          </a:p>
        </p:txBody>
      </p:sp>
      <p:sp>
        <p:nvSpPr>
          <p:cNvPr id="8" name="Shape 6"/>
          <p:cNvSpPr/>
          <p:nvPr/>
        </p:nvSpPr>
        <p:spPr>
          <a:xfrm>
            <a:off x="411480" y="2306574"/>
            <a:ext cx="8321040" cy="376729"/>
          </a:xfrm>
          <a:prstGeom prst="roundRect">
            <a:avLst>
              <a:gd name="adj" fmla="val 19418"/>
            </a:avLst>
          </a:prstGeom>
          <a:solidFill>
            <a:srgbClr val="FFD43B"/>
          </a:solidFill>
          <a:ln w="12700">
            <a:solidFill>
              <a:srgbClr val="FFD43B"/>
            </a:solidFill>
            <a:prstDash val="solid"/>
          </a:ln>
        </p:spPr>
      </p:sp>
      <p:sp>
        <p:nvSpPr>
          <p:cNvPr id="9" name="Text 7"/>
          <p:cNvSpPr txBox="1"/>
          <p:nvPr/>
        </p:nvSpPr>
        <p:spPr>
          <a:xfrm>
            <a:off x="594360" y="2306574"/>
            <a:ext cx="7955280" cy="376729"/>
          </a:xfrm>
          <a:prstGeom prst="rect">
            <a:avLst/>
          </a:prstGeom>
          <a:noFill/>
          <a:ln/>
        </p:spPr>
        <p:txBody>
          <a:bodyPr wrap="square" lIns="0" tIns="0" rIns="0" bIns="0" rtlCol="0" anchor="ctr"/>
          <a:lstStyle/>
          <a:p>
            <a:pPr indent="0" marL="0">
              <a:buNone/>
            </a:pPr>
            <a:r>
              <a:rPr lang="en-US" sz="1300" b="1" dirty="0">
                <a:solidFill>
                  <a:srgbClr val="8B2E00"/>
                </a:solidFill>
                <a:latin typeface="Courier New" pitchFamily="34" charset="0"/>
                <a:ea typeface="Courier New" pitchFamily="34" charset="-122"/>
                <a:cs typeface="Courier New" pitchFamily="34" charset="-120"/>
              </a:rPr>
              <a:t>if </a:t>
            </a:r>
            <a:pPr indent="0" marL="0">
              <a:buNone/>
            </a:pPr>
            <a:r>
              <a:rPr lang="en-US" sz="1300" dirty="0">
                <a:solidFill>
                  <a:srgbClr val="1E2A3A"/>
                </a:solidFill>
                <a:latin typeface="Courier New" pitchFamily="34" charset="0"/>
                <a:ea typeface="Courier New" pitchFamily="34" charset="-122"/>
                <a:cs typeface="Courier New" pitchFamily="34" charset="-120"/>
              </a:rPr>
              <a:t>name == 'Alice'</a:t>
            </a:r>
            <a:pPr indent="0" marL="0">
              <a:buNone/>
            </a:pPr>
            <a:r>
              <a:rPr lang="en-US" sz="1300" b="1" dirty="0">
                <a:solidFill>
                  <a:srgbClr val="8B2E00"/>
                </a:solidFill>
                <a:latin typeface="Courier New" pitchFamily="34" charset="0"/>
                <a:ea typeface="Courier New" pitchFamily="34" charset="-122"/>
                <a:cs typeface="Courier New" pitchFamily="34" charset="-120"/>
              </a:rPr>
              <a:t>:</a:t>
            </a:r>
            <a:endParaRPr lang="en-US" sz="1300" dirty="0"/>
          </a:p>
        </p:txBody>
      </p:sp>
      <p:sp>
        <p:nvSpPr>
          <p:cNvPr id="10" name="Text 8"/>
          <p:cNvSpPr txBox="1"/>
          <p:nvPr/>
        </p:nvSpPr>
        <p:spPr>
          <a:xfrm>
            <a:off x="594360" y="2701591"/>
            <a:ext cx="7955280" cy="182880"/>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the header: a keyword, a condition and a colon</a:t>
            </a:r>
            <a:endParaRPr lang="en-US" sz="900" dirty="0"/>
          </a:p>
        </p:txBody>
      </p:sp>
      <p:sp>
        <p:nvSpPr>
          <p:cNvPr id="11" name="Shape 9"/>
          <p:cNvSpPr/>
          <p:nvPr/>
        </p:nvSpPr>
        <p:spPr>
          <a:xfrm>
            <a:off x="777240" y="2902759"/>
            <a:ext cx="7955280" cy="574064"/>
          </a:xfrm>
          <a:prstGeom prst="roundRect">
            <a:avLst>
              <a:gd name="adj" fmla="val 12743"/>
            </a:avLst>
          </a:prstGeom>
          <a:solidFill>
            <a:srgbClr val="17202B"/>
          </a:solidFill>
          <a:ln w="12700">
            <a:solidFill>
              <a:srgbClr val="17202B"/>
            </a:solidFill>
            <a:prstDash val="solid"/>
          </a:ln>
        </p:spPr>
      </p:sp>
      <p:sp>
        <p:nvSpPr>
          <p:cNvPr id="12" name="Text 10"/>
          <p:cNvSpPr txBox="1"/>
          <p:nvPr/>
        </p:nvSpPr>
        <p:spPr>
          <a:xfrm>
            <a:off x="978408" y="2948479"/>
            <a:ext cx="7552944" cy="482624"/>
          </a:xfrm>
          <a:prstGeom prst="rect">
            <a:avLst/>
          </a:prstGeom>
          <a:noFill/>
          <a:ln/>
        </p:spPr>
        <p:txBody>
          <a:bodyPr wrap="square" lIns="0" tIns="0" rIns="0" bIns="0" rtlCol="0" anchor="t"/>
          <a:lstStyle/>
          <a:p>
            <a:pPr indent="0" marL="0">
              <a:buNone/>
            </a:pPr>
            <a:r>
              <a:rPr lang="en-US" sz="1100" dirty="0">
                <a:solidFill>
                  <a:srgbClr val="E6EDF3"/>
                </a:solidFill>
                <a:latin typeface="Courier New" pitchFamily="34" charset="0"/>
                <a:ea typeface="Courier New" pitchFamily="34" charset="-122"/>
                <a:cs typeface="Courier New" pitchFamily="34" charset="-120"/>
              </a:rPr>
              <a:t>print('Hi, Alice.')</a:t>
            </a:r>
            <a:endParaRPr lang="en-US" sz="1100" dirty="0"/>
          </a:p>
          <a:p>
            <a:pPr indent="0" marL="0">
              <a:buNone/>
            </a:pPr>
            <a:r>
              <a:rPr lang="en-US" sz="1100" dirty="0">
                <a:solidFill>
                  <a:srgbClr val="E6EDF3"/>
                </a:solidFill>
                <a:latin typeface="Courier New" pitchFamily="34" charset="0"/>
                <a:ea typeface="Courier New" pitchFamily="34" charset="-122"/>
                <a:cs typeface="Courier New" pitchFamily="34" charset="-120"/>
              </a:rPr>
              <a:t>print('How are you?')</a:t>
            </a:r>
            <a:endParaRPr lang="en-US" sz="1100" dirty="0"/>
          </a:p>
        </p:txBody>
      </p:sp>
      <p:sp>
        <p:nvSpPr>
          <p:cNvPr id="13" name="Text 11"/>
          <p:cNvSpPr txBox="1"/>
          <p:nvPr/>
        </p:nvSpPr>
        <p:spPr>
          <a:xfrm>
            <a:off x="777240" y="3495111"/>
            <a:ext cx="7955280" cy="182880"/>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the suite: the indented block the header controls</a:t>
            </a:r>
            <a:endParaRPr lang="en-US" sz="900" dirty="0"/>
          </a:p>
        </p:txBody>
      </p:sp>
      <p:sp>
        <p:nvSpPr>
          <p:cNvPr id="14" name="Text 12"/>
          <p:cNvSpPr txBox="1"/>
          <p:nvPr/>
        </p:nvSpPr>
        <p:spPr>
          <a:xfrm>
            <a:off x="411480" y="3696279"/>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book calls the block alone the clause; the reference calls the header and the block together a clause</a:t>
            </a:r>
            <a:endParaRPr lang="en-US" sz="900" dirty="0"/>
          </a:p>
        </p:txBody>
      </p:sp>
      <p:sp>
        <p:nvSpPr>
          <p:cNvPr id="15" name="Shape 13"/>
          <p:cNvSpPr/>
          <p:nvPr/>
        </p:nvSpPr>
        <p:spPr>
          <a:xfrm>
            <a:off x="411480" y="4025463"/>
            <a:ext cx="8321040" cy="578612"/>
          </a:xfrm>
          <a:prstGeom prst="roundRect">
            <a:avLst>
              <a:gd name="adj" fmla="val 12643"/>
            </a:avLst>
          </a:prstGeom>
          <a:solidFill>
            <a:srgbClr val="FFF1F0"/>
          </a:solidFill>
          <a:ln w="12700">
            <a:solidFill>
              <a:srgbClr val="FFD7D5"/>
            </a:solidFill>
            <a:prstDash val="solid"/>
          </a:ln>
        </p:spPr>
      </p:sp>
      <p:sp>
        <p:nvSpPr>
          <p:cNvPr id="16" name="Shape 14"/>
          <p:cNvSpPr/>
          <p:nvPr/>
        </p:nvSpPr>
        <p:spPr>
          <a:xfrm>
            <a:off x="411480" y="4025463"/>
            <a:ext cx="64008" cy="578612"/>
          </a:xfrm>
          <a:prstGeom prst="rect">
            <a:avLst/>
          </a:prstGeom>
          <a:solidFill>
            <a:srgbClr val="FF7B72"/>
          </a:solidFill>
          <a:ln w="12700">
            <a:solidFill>
              <a:srgbClr val="FF7B72"/>
            </a:solidFill>
            <a:prstDash val="solid"/>
          </a:ln>
        </p:spPr>
      </p:sp>
      <p:sp>
        <p:nvSpPr>
          <p:cNvPr id="17" name="Text 15"/>
          <p:cNvSpPr txBox="1"/>
          <p:nvPr/>
        </p:nvSpPr>
        <p:spPr>
          <a:xfrm>
            <a:off x="612648" y="4135191"/>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colon at the end of the header is required; without it Python reports a SyntaxError that says expected ':'. After the colon the next line must be indented, or an IndentationError is raised.</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keyword</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word the language has reserved</a:t>
            </a:r>
            <a:endParaRPr lang="en-US" sz="1300" dirty="0"/>
          </a:p>
        </p:txBody>
      </p:sp>
      <p:sp>
        <p:nvSpPr>
          <p:cNvPr id="6" name="Shape 4"/>
          <p:cNvSpPr/>
          <p:nvPr/>
        </p:nvSpPr>
        <p:spPr>
          <a:xfrm>
            <a:off x="411480" y="1152144"/>
            <a:ext cx="4818888" cy="2284222"/>
          </a:xfrm>
          <a:prstGeom prst="roundRect">
            <a:avLst>
              <a:gd name="adj" fmla="val 4003"/>
            </a:avLst>
          </a:prstGeom>
          <a:solidFill>
            <a:srgbClr val="F1F4F8"/>
          </a:solidFill>
          <a:ln w="12700">
            <a:solidFill>
              <a:srgbClr val="F1F4F8"/>
            </a:solidFill>
            <a:prstDash val="solid"/>
          </a:ln>
        </p:spPr>
      </p:sp>
      <p:sp>
        <p:nvSpPr>
          <p:cNvPr id="7" name="Text 5"/>
          <p:cNvSpPr txBox="1"/>
          <p:nvPr/>
        </p:nvSpPr>
        <p:spPr>
          <a:xfrm>
            <a:off x="594360" y="1280160"/>
            <a:ext cx="4453128" cy="20281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 keyword is a word the language reserves for its own use. The language reference states that keywords cannot be used as ordinary identifiers and must be spelled exactly as written; the list includes False, None, True, and, or, not, if, elif and else (Python Software Foundation, 2026). Keywords tell the interpreter what kind of statement a line is, and because they are reserved a program cannot give them a second meaning - which is why assigning a value to True is illegal. Every keyword is lowercase except False, None and True.</a:t>
            </a:r>
            <a:endParaRPr lang="en-US" sz="1250" dirty="0"/>
          </a:p>
        </p:txBody>
      </p:sp>
      <p:sp>
        <p:nvSpPr>
          <p:cNvPr id="8" name="Shape 6"/>
          <p:cNvSpPr/>
          <p:nvPr/>
        </p:nvSpPr>
        <p:spPr>
          <a:xfrm>
            <a:off x="5358384" y="1152144"/>
            <a:ext cx="3374136" cy="1192784"/>
          </a:xfrm>
          <a:prstGeom prst="roundRect">
            <a:avLst>
              <a:gd name="adj" fmla="val 7666"/>
            </a:avLst>
          </a:prstGeom>
          <a:solidFill>
            <a:srgbClr val="17202B"/>
          </a:solidFill>
          <a:ln w="12700">
            <a:solidFill>
              <a:srgbClr val="17202B"/>
            </a:solidFill>
            <a:prstDash val="solid"/>
          </a:ln>
        </p:spPr>
      </p:sp>
      <p:sp>
        <p:nvSpPr>
          <p:cNvPr id="9" name="Text 7"/>
          <p:cNvSpPr txBox="1"/>
          <p:nvPr/>
        </p:nvSpPr>
        <p:spPr>
          <a:xfrm>
            <a:off x="5559552" y="1252728"/>
            <a:ext cx="2971800" cy="991616"/>
          </a:xfrm>
          <a:prstGeom prst="rect">
            <a:avLst/>
          </a:prstGeom>
          <a:noFill/>
          <a:ln/>
        </p:spPr>
        <p:txBody>
          <a:bodyPr wrap="square" lIns="0" tIns="0" rIns="0" bIns="0" rtlCol="0" anchor="t"/>
          <a:lstStyle/>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__import__('keyword').iskeyword('if')</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__import__('keyword').iskeyword('true')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False</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__import__('keyword').iskeyword('match')</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False</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__import__('keyword').issoftkeyword('match')</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p:txBody>
      </p:sp>
      <p:sp>
        <p:nvSpPr>
          <p:cNvPr id="10" name="Text 8"/>
          <p:cNvSpPr txBox="1"/>
          <p:nvPr/>
        </p:nvSpPr>
        <p:spPr>
          <a:xfrm>
            <a:off x="5358384" y="2363216"/>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54609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54609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65582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keyword cannot be used as the name of a variable: the line if = 3 is a SyntaxError. A word that merely looks like a keyword, such as the lowercase true, is not reserved and is reported as an unknown name instead.</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Branching</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if, elif, else, and the chain they form</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Branching is the choice between alternative blocks of code, done with the if statement and the elif and else clauses that may follow it. The textbook describes the if statement as the most common flow control statement and the others as additions to it (Sweigart, 2025). Branching is what makes a program respond to its input: each additional clause adds an alternative, and a reader sees the alternatives one below the other. The tutorial notes that an if, elif and else sequence is Python's substitute for the switch or case statements of other languages.</a:t>
            </a:r>
            <a:endParaRPr lang="en-US" sz="1300" dirty="0"/>
          </a:p>
        </p:txBody>
      </p:sp>
      <p:sp>
        <p:nvSpPr>
          <p:cNvPr id="8" name="Shape 6"/>
          <p:cNvSpPr/>
          <p:nvPr/>
        </p:nvSpPr>
        <p:spPr>
          <a:xfrm>
            <a:off x="411480" y="2817876"/>
            <a:ext cx="4572000" cy="1440688"/>
          </a:xfrm>
          <a:prstGeom prst="roundRect">
            <a:avLst>
              <a:gd name="adj" fmla="val 6347"/>
            </a:avLst>
          </a:prstGeom>
          <a:solidFill>
            <a:srgbClr val="17202B"/>
          </a:solidFill>
          <a:ln w="12700">
            <a:solidFill>
              <a:srgbClr val="17202B"/>
            </a:solidFill>
            <a:prstDash val="solid"/>
          </a:ln>
        </p:spPr>
      </p:sp>
      <p:sp>
        <p:nvSpPr>
          <p:cNvPr id="9" name="Text 7"/>
          <p:cNvSpPr txBox="1"/>
          <p:nvPr/>
        </p:nvSpPr>
        <p:spPr>
          <a:xfrm>
            <a:off x="612648" y="2918460"/>
            <a:ext cx="4169664" cy="1239520"/>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name = 'Carol'</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age = 3000</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if name == 'Alice':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print('Hi, Alice.')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elif age &lt; 12:</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print('You are not Alice, kiddo.')</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elif age &gt; 100:</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print('You are not Alice, grannie.')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elif age &gt; 2000:</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print('Unlike you, Alice is not an undead, immortal vampire.')</a:t>
            </a:r>
            <a:endParaRPr lang="en-US" sz="800" dirty="0"/>
          </a:p>
        </p:txBody>
      </p:sp>
      <p:sp>
        <p:nvSpPr>
          <p:cNvPr id="10" name="Shape 8"/>
          <p:cNvSpPr/>
          <p:nvPr/>
        </p:nvSpPr>
        <p:spPr>
          <a:xfrm>
            <a:off x="5166360" y="2817876"/>
            <a:ext cx="3566160" cy="325120"/>
          </a:xfrm>
          <a:prstGeom prst="roundRect">
            <a:avLst>
              <a:gd name="adj" fmla="val 28125"/>
            </a:avLst>
          </a:prstGeom>
          <a:solidFill>
            <a:srgbClr val="0F1823"/>
          </a:solidFill>
          <a:ln w="12700">
            <a:solidFill>
              <a:srgbClr val="0F1823"/>
            </a:solidFill>
            <a:prstDash val="solid"/>
          </a:ln>
        </p:spPr>
      </p:sp>
      <p:sp>
        <p:nvSpPr>
          <p:cNvPr id="11" name="Text 9"/>
          <p:cNvSpPr txBox="1"/>
          <p:nvPr/>
        </p:nvSpPr>
        <p:spPr>
          <a:xfrm>
            <a:off x="5367528" y="2918460"/>
            <a:ext cx="3163824" cy="123952"/>
          </a:xfrm>
          <a:prstGeom prst="rect">
            <a:avLst/>
          </a:prstGeom>
          <a:noFill/>
          <a:ln/>
        </p:spPr>
        <p:txBody>
          <a:bodyPr wrap="square" lIns="0" tIns="0" rIns="0" bIns="0" rtlCol="0" anchor="t"/>
          <a:lstStyle/>
          <a:p>
            <a:pPr indent="0" marL="0">
              <a:buNone/>
            </a:pPr>
            <a:r>
              <a:rPr lang="en-US" sz="800" dirty="0">
                <a:solidFill>
                  <a:srgbClr val="7EE787"/>
                </a:solidFill>
                <a:latin typeface="Courier New" pitchFamily="34" charset="0"/>
                <a:ea typeface="Courier New" pitchFamily="34" charset="-122"/>
                <a:cs typeface="Courier New" pitchFamily="34" charset="-120"/>
              </a:rPr>
              <a:t>You are not Alice, grannie.</a:t>
            </a:r>
            <a:endParaRPr lang="en-US" sz="800" dirty="0"/>
          </a:p>
        </p:txBody>
      </p:sp>
      <p:sp>
        <p:nvSpPr>
          <p:cNvPr id="12" name="Text 10"/>
          <p:cNvSpPr txBox="1"/>
          <p:nvPr/>
        </p:nvSpPr>
        <p:spPr>
          <a:xfrm>
            <a:off x="411480" y="427685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vampire_reordered_v1_0_0.py, run under Python 3.14.4</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if statement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Run this block only when the condition is true</a:t>
            </a:r>
            <a:endParaRPr lang="en-US" sz="1300" dirty="0"/>
          </a:p>
        </p:txBody>
      </p:sp>
      <p:sp>
        <p:nvSpPr>
          <p:cNvPr id="6" name="Shape 4"/>
          <p:cNvSpPr/>
          <p:nvPr/>
        </p:nvSpPr>
        <p:spPr>
          <a:xfrm>
            <a:off x="411480" y="1152144"/>
            <a:ext cx="8321040" cy="936244"/>
          </a:xfrm>
          <a:prstGeom prst="roundRect">
            <a:avLst>
              <a:gd name="adj" fmla="val 9767"/>
            </a:avLst>
          </a:prstGeom>
          <a:solidFill>
            <a:srgbClr val="F1F4F8"/>
          </a:solidFill>
          <a:ln w="12700">
            <a:solidFill>
              <a:srgbClr val="F1F4F8"/>
            </a:solidFill>
            <a:prstDash val="solid"/>
          </a:ln>
        </p:spPr>
      </p:sp>
      <p:sp>
        <p:nvSpPr>
          <p:cNvPr id="7" name="Text 5"/>
          <p:cNvSpPr txBox="1"/>
          <p:nvPr/>
        </p:nvSpPr>
        <p:spPr>
          <a:xfrm>
            <a:off x="594360" y="1280160"/>
            <a:ext cx="7955280" cy="680212"/>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The if statement is the most common flow control statement. Its block, the if clause, executes when the condition is True, and the block is skipped when the condition is False (Sweigart, 2025). In Python it consists of the if keyword, a condition, a colon and, starting on the next line, an indented block. Python evaluates the condition and reads its value as true or false; if it is true the block runs and execution continues after it, and if it is false the block is skipped and nothing is said about it.</a:t>
            </a:r>
            <a:endParaRPr lang="en-US" sz="950" dirty="0"/>
          </a:p>
        </p:txBody>
      </p:sp>
      <p:sp>
        <p:nvSpPr>
          <p:cNvPr id="8" name="Shape 6"/>
          <p:cNvSpPr/>
          <p:nvPr/>
        </p:nvSpPr>
        <p:spPr>
          <a:xfrm>
            <a:off x="411480" y="2198116"/>
            <a:ext cx="4572000" cy="1285748"/>
          </a:xfrm>
          <a:prstGeom prst="roundRect">
            <a:avLst>
              <a:gd name="adj" fmla="val 7112"/>
            </a:avLst>
          </a:prstGeom>
          <a:solidFill>
            <a:srgbClr val="17202B"/>
          </a:solidFill>
          <a:ln w="12700">
            <a:solidFill>
              <a:srgbClr val="17202B"/>
            </a:solidFill>
            <a:prstDash val="solid"/>
          </a:ln>
        </p:spPr>
      </p:sp>
      <p:sp>
        <p:nvSpPr>
          <p:cNvPr id="9" name="Text 7"/>
          <p:cNvSpPr txBox="1"/>
          <p:nvPr/>
        </p:nvSpPr>
        <p:spPr>
          <a:xfrm>
            <a:off x="612648" y="2298700"/>
            <a:ext cx="4169664" cy="1084580"/>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name = 'Bob'</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if name == 'Alice':</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print('Hi, Alice.')</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else:</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print('Hello, stranger.')</a:t>
            </a:r>
            <a:endParaRPr lang="en-US" sz="1400" dirty="0"/>
          </a:p>
        </p:txBody>
      </p:sp>
      <p:sp>
        <p:nvSpPr>
          <p:cNvPr id="10" name="Shape 8"/>
          <p:cNvSpPr/>
          <p:nvPr/>
        </p:nvSpPr>
        <p:spPr>
          <a:xfrm>
            <a:off x="5166360" y="2198116"/>
            <a:ext cx="3566160" cy="418084"/>
          </a:xfrm>
          <a:prstGeom prst="roundRect">
            <a:avLst>
              <a:gd name="adj" fmla="val 21871"/>
            </a:avLst>
          </a:prstGeom>
          <a:solidFill>
            <a:srgbClr val="0F1823"/>
          </a:solidFill>
          <a:ln w="12700">
            <a:solidFill>
              <a:srgbClr val="0F1823"/>
            </a:solidFill>
            <a:prstDash val="solid"/>
          </a:ln>
        </p:spPr>
      </p:sp>
      <p:sp>
        <p:nvSpPr>
          <p:cNvPr id="11" name="Text 9"/>
          <p:cNvSpPr txBox="1"/>
          <p:nvPr/>
        </p:nvSpPr>
        <p:spPr>
          <a:xfrm>
            <a:off x="5367528" y="2298700"/>
            <a:ext cx="3163824" cy="216916"/>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Hello, stranger.</a:t>
            </a:r>
            <a:endParaRPr lang="en-US" sz="1400" dirty="0"/>
          </a:p>
        </p:txBody>
      </p:sp>
      <p:sp>
        <p:nvSpPr>
          <p:cNvPr id="12" name="Text 10"/>
          <p:cNvSpPr txBox="1"/>
          <p:nvPr/>
        </p:nvSpPr>
        <p:spPr>
          <a:xfrm>
            <a:off x="411480" y="350215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alice_v1_0_0.py, run under Python 3.14.4</a:t>
            </a:r>
            <a:endParaRPr lang="en-US" sz="900" dirty="0"/>
          </a:p>
        </p:txBody>
      </p:sp>
      <p:sp>
        <p:nvSpPr>
          <p:cNvPr id="13" name="Shape 11"/>
          <p:cNvSpPr/>
          <p:nvPr/>
        </p:nvSpPr>
        <p:spPr>
          <a:xfrm>
            <a:off x="411480" y="3831336"/>
            <a:ext cx="8321040" cy="749046"/>
          </a:xfrm>
          <a:prstGeom prst="roundRect">
            <a:avLst>
              <a:gd name="adj" fmla="val 9766"/>
            </a:avLst>
          </a:prstGeom>
          <a:solidFill>
            <a:srgbClr val="FFF1F0"/>
          </a:solidFill>
          <a:ln w="12700">
            <a:solidFill>
              <a:srgbClr val="FFD7D5"/>
            </a:solidFill>
            <a:prstDash val="solid"/>
          </a:ln>
        </p:spPr>
      </p:sp>
      <p:sp>
        <p:nvSpPr>
          <p:cNvPr id="14" name="Shape 12"/>
          <p:cNvSpPr/>
          <p:nvPr/>
        </p:nvSpPr>
        <p:spPr>
          <a:xfrm>
            <a:off x="411480" y="3831336"/>
            <a:ext cx="64008" cy="749046"/>
          </a:xfrm>
          <a:prstGeom prst="rect">
            <a:avLst/>
          </a:prstGeom>
          <a:solidFill>
            <a:srgbClr val="FF7B72"/>
          </a:solidFill>
          <a:ln w="12700">
            <a:solidFill>
              <a:srgbClr val="FF7B72"/>
            </a:solidFill>
            <a:prstDash val="solid"/>
          </a:ln>
        </p:spPr>
      </p:sp>
      <p:sp>
        <p:nvSpPr>
          <p:cNvPr id="15" name="Text 13"/>
          <p:cNvSpPr txBox="1"/>
          <p:nvPr/>
        </p:nvSpPr>
        <p:spPr>
          <a:xfrm>
            <a:off x="612648" y="3941064"/>
            <a:ext cx="7918704"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three details that cause most errors are the colon after the condition, the indentation of the block, and the comparison operator inside it. A block skipped because its condition was false produces no message, so a program that prints nothing is not necessarily broken.</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elif clause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further condition, tried only when the earlier ones failed</a:t>
            </a:r>
            <a:endParaRPr lang="en-US" sz="1300" dirty="0"/>
          </a:p>
        </p:txBody>
      </p:sp>
      <p:sp>
        <p:nvSpPr>
          <p:cNvPr id="6" name="Shape 4"/>
          <p:cNvSpPr/>
          <p:nvPr/>
        </p:nvSpPr>
        <p:spPr>
          <a:xfrm>
            <a:off x="411480" y="1152144"/>
            <a:ext cx="8321040" cy="905256"/>
          </a:xfrm>
          <a:prstGeom prst="roundRect">
            <a:avLst>
              <a:gd name="adj" fmla="val 10101"/>
            </a:avLst>
          </a:prstGeom>
          <a:solidFill>
            <a:srgbClr val="F1F4F8"/>
          </a:solidFill>
          <a:ln w="12700">
            <a:solidFill>
              <a:srgbClr val="F1F4F8"/>
            </a:solidFill>
            <a:prstDash val="solid"/>
          </a:ln>
        </p:spPr>
      </p:sp>
      <p:sp>
        <p:nvSpPr>
          <p:cNvPr id="7" name="Text 5"/>
          <p:cNvSpPr txBox="1"/>
          <p:nvPr/>
        </p:nvSpPr>
        <p:spPr>
          <a:xfrm>
            <a:off x="594360" y="1280160"/>
            <a:ext cx="7955280" cy="649224"/>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The elif clause is an else-if clause. It always follows an if statement or another elif, and it provides another condition that is checked only if all of the previous conditions were False (Sweigart, 2025). Use if and else when only one of two clauses should run, and elif when one of many should. Python tests the conditions from top to bottom; once one is found to be True the rest are skipped automatically, and when all are False none of the clauses runs. The tutorial adds that elif is short for else if and avoids excessive indentation.</a:t>
            </a:r>
            <a:endParaRPr lang="en-US" sz="900" dirty="0"/>
          </a:p>
        </p:txBody>
      </p:sp>
      <p:sp>
        <p:nvSpPr>
          <p:cNvPr id="8" name="Shape 6"/>
          <p:cNvSpPr/>
          <p:nvPr/>
        </p:nvSpPr>
        <p:spPr>
          <a:xfrm>
            <a:off x="411480" y="2167128"/>
            <a:ext cx="4572000" cy="1285748"/>
          </a:xfrm>
          <a:prstGeom prst="roundRect">
            <a:avLst>
              <a:gd name="adj" fmla="val 7112"/>
            </a:avLst>
          </a:prstGeom>
          <a:solidFill>
            <a:srgbClr val="17202B"/>
          </a:solidFill>
          <a:ln w="12700">
            <a:solidFill>
              <a:srgbClr val="17202B"/>
            </a:solidFill>
            <a:prstDash val="solid"/>
          </a:ln>
        </p:spPr>
      </p:sp>
      <p:sp>
        <p:nvSpPr>
          <p:cNvPr id="9" name="Text 7"/>
          <p:cNvSpPr txBox="1"/>
          <p:nvPr/>
        </p:nvSpPr>
        <p:spPr>
          <a:xfrm>
            <a:off x="612648" y="2267712"/>
            <a:ext cx="4169664" cy="108458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name = 'Carol'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age = 3000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if name == 'Alice':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print('Hi, Alice.')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elif age &lt; 12:</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print('You are not Alice, kiddo.')</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elif age &gt; 2000: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print('Unlike you, Alice is not an undead, immortal vampire.')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elif age &gt; 100: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print('You are not Alice, grannie.')</a:t>
            </a:r>
            <a:endParaRPr lang="en-US" sz="700" dirty="0"/>
          </a:p>
        </p:txBody>
      </p:sp>
      <p:sp>
        <p:nvSpPr>
          <p:cNvPr id="10" name="Shape 8"/>
          <p:cNvSpPr/>
          <p:nvPr/>
        </p:nvSpPr>
        <p:spPr>
          <a:xfrm>
            <a:off x="5166360" y="2167128"/>
            <a:ext cx="3566160" cy="309626"/>
          </a:xfrm>
          <a:prstGeom prst="roundRect">
            <a:avLst>
              <a:gd name="adj" fmla="val 29532"/>
            </a:avLst>
          </a:prstGeom>
          <a:solidFill>
            <a:srgbClr val="0F1823"/>
          </a:solidFill>
          <a:ln w="12700">
            <a:solidFill>
              <a:srgbClr val="0F1823"/>
            </a:solidFill>
            <a:prstDash val="solid"/>
          </a:ln>
        </p:spPr>
      </p:sp>
      <p:sp>
        <p:nvSpPr>
          <p:cNvPr id="11" name="Text 9"/>
          <p:cNvSpPr txBox="1"/>
          <p:nvPr/>
        </p:nvSpPr>
        <p:spPr>
          <a:xfrm>
            <a:off x="5367528" y="2267712"/>
            <a:ext cx="3163824" cy="108458"/>
          </a:xfrm>
          <a:prstGeom prst="rect">
            <a:avLst/>
          </a:prstGeom>
          <a:noFill/>
          <a:ln/>
        </p:spPr>
        <p:txBody>
          <a:bodyPr wrap="square" lIns="0" tIns="0" rIns="0" bIns="0" rtlCol="0" anchor="t"/>
          <a:lstStyle/>
          <a:p>
            <a:pPr indent="0" marL="0">
              <a:buNone/>
            </a:pPr>
            <a:r>
              <a:rPr lang="en-US" sz="700" dirty="0">
                <a:solidFill>
                  <a:srgbClr val="7EE787"/>
                </a:solidFill>
                <a:latin typeface="Courier New" pitchFamily="34" charset="0"/>
                <a:ea typeface="Courier New" pitchFamily="34" charset="-122"/>
                <a:cs typeface="Courier New" pitchFamily="34" charset="-120"/>
              </a:rPr>
              <a:t>Unlike you, Alice is not an undead, immortal vampire.</a:t>
            </a:r>
            <a:endParaRPr lang="en-US" sz="700" dirty="0"/>
          </a:p>
        </p:txBody>
      </p:sp>
      <p:sp>
        <p:nvSpPr>
          <p:cNvPr id="12" name="Text 10"/>
          <p:cNvSpPr txBox="1"/>
          <p:nvPr/>
        </p:nvSpPr>
        <p:spPr>
          <a:xfrm>
            <a:off x="411480" y="3471164"/>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vampire_v1_0_0.py, run under Python 3.14.4</a:t>
            </a:r>
            <a:endParaRPr lang="en-US" sz="900" dirty="0"/>
          </a:p>
        </p:txBody>
      </p:sp>
      <p:sp>
        <p:nvSpPr>
          <p:cNvPr id="13" name="Shape 11"/>
          <p:cNvSpPr/>
          <p:nvPr/>
        </p:nvSpPr>
        <p:spPr>
          <a:xfrm>
            <a:off x="411480" y="3800348"/>
            <a:ext cx="8321040" cy="749046"/>
          </a:xfrm>
          <a:prstGeom prst="roundRect">
            <a:avLst>
              <a:gd name="adj" fmla="val 9766"/>
            </a:avLst>
          </a:prstGeom>
          <a:solidFill>
            <a:srgbClr val="FFF1F0"/>
          </a:solidFill>
          <a:ln w="12700">
            <a:solidFill>
              <a:srgbClr val="FFD7D5"/>
            </a:solidFill>
            <a:prstDash val="solid"/>
          </a:ln>
        </p:spPr>
      </p:sp>
      <p:sp>
        <p:nvSpPr>
          <p:cNvPr id="14" name="Shape 12"/>
          <p:cNvSpPr/>
          <p:nvPr/>
        </p:nvSpPr>
        <p:spPr>
          <a:xfrm>
            <a:off x="411480" y="3800348"/>
            <a:ext cx="64008" cy="749046"/>
          </a:xfrm>
          <a:prstGeom prst="rect">
            <a:avLst/>
          </a:prstGeom>
          <a:solidFill>
            <a:srgbClr val="FF7B72"/>
          </a:solidFill>
          <a:ln w="12700">
            <a:solidFill>
              <a:srgbClr val="FF7B72"/>
            </a:solidFill>
            <a:prstDash val="solid"/>
          </a:ln>
        </p:spPr>
      </p:sp>
      <p:sp>
        <p:nvSpPr>
          <p:cNvPr id="15" name="Text 13"/>
          <p:cNvSpPr txBox="1"/>
          <p:nvPr/>
        </p:nvSpPr>
        <p:spPr>
          <a:xfrm>
            <a:off x="612648" y="3910076"/>
            <a:ext cx="7918704"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order of the elif clauses matters. Put the more specific condition before the more general one, or the general one will catch the case the specific one was written for - which is exactly what the reordered version on the group slide does.</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else clause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What happens when nothing else did</a:t>
            </a:r>
            <a:endParaRPr lang="en-US" sz="1300" dirty="0"/>
          </a:p>
        </p:txBody>
      </p:sp>
      <p:sp>
        <p:nvSpPr>
          <p:cNvPr id="6" name="Shape 4"/>
          <p:cNvSpPr/>
          <p:nvPr/>
        </p:nvSpPr>
        <p:spPr>
          <a:xfrm>
            <a:off x="411480" y="1152144"/>
            <a:ext cx="8321040" cy="936244"/>
          </a:xfrm>
          <a:prstGeom prst="roundRect">
            <a:avLst>
              <a:gd name="adj" fmla="val 9767"/>
            </a:avLst>
          </a:prstGeom>
          <a:solidFill>
            <a:srgbClr val="F1F4F8"/>
          </a:solidFill>
          <a:ln w="12700">
            <a:solidFill>
              <a:srgbClr val="F1F4F8"/>
            </a:solidFill>
            <a:prstDash val="solid"/>
          </a:ln>
        </p:spPr>
      </p:sp>
      <p:sp>
        <p:nvSpPr>
          <p:cNvPr id="7" name="Text 5"/>
          <p:cNvSpPr txBox="1"/>
          <p:nvPr/>
        </p:nvSpPr>
        <p:spPr>
          <a:xfrm>
            <a:off x="594360" y="1280160"/>
            <a:ext cx="7955280" cy="680212"/>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The else clause is the part of an if statement that runs when nothing else has. An if clause can optionally be followed by an else, and the else clause is executed only when the condition of the if statement is False (Sweigart, 2025). Unlike if and elif it has no condition of its own: it consists of the keyword, a colon and an indented block. The else clause makes sure every case is handled; the documentation says that if all the expressions are false, the suite of the else clause, if present, is executed.</a:t>
            </a:r>
            <a:endParaRPr lang="en-US" sz="950" dirty="0"/>
          </a:p>
        </p:txBody>
      </p:sp>
      <p:sp>
        <p:nvSpPr>
          <p:cNvPr id="8" name="Shape 6"/>
          <p:cNvSpPr/>
          <p:nvPr/>
        </p:nvSpPr>
        <p:spPr>
          <a:xfrm>
            <a:off x="411480" y="2198116"/>
            <a:ext cx="4572000" cy="1440688"/>
          </a:xfrm>
          <a:prstGeom prst="roundRect">
            <a:avLst>
              <a:gd name="adj" fmla="val 6347"/>
            </a:avLst>
          </a:prstGeom>
          <a:solidFill>
            <a:srgbClr val="17202B"/>
          </a:solidFill>
          <a:ln w="12700">
            <a:solidFill>
              <a:srgbClr val="17202B"/>
            </a:solidFill>
            <a:prstDash val="solid"/>
          </a:ln>
        </p:spPr>
      </p:sp>
      <p:sp>
        <p:nvSpPr>
          <p:cNvPr id="9" name="Text 7"/>
          <p:cNvSpPr txBox="1"/>
          <p:nvPr/>
        </p:nvSpPr>
        <p:spPr>
          <a:xfrm>
            <a:off x="612648" y="2298700"/>
            <a:ext cx="4169664" cy="123952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name = 'Carol'</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age = 3000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if name == 'Alice':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print('Hi, Alice.')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elif age &lt; 12:</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print('You are not Alice, kiddo.')</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else: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print('You are neither Alice nor a little kid.')</a:t>
            </a:r>
            <a:endParaRPr lang="en-US" sz="1000" dirty="0"/>
          </a:p>
        </p:txBody>
      </p:sp>
      <p:sp>
        <p:nvSpPr>
          <p:cNvPr id="10" name="Shape 8"/>
          <p:cNvSpPr/>
          <p:nvPr/>
        </p:nvSpPr>
        <p:spPr>
          <a:xfrm>
            <a:off x="5166360" y="2198116"/>
            <a:ext cx="3566160" cy="356108"/>
          </a:xfrm>
          <a:prstGeom prst="roundRect">
            <a:avLst>
              <a:gd name="adj" fmla="val 25678"/>
            </a:avLst>
          </a:prstGeom>
          <a:solidFill>
            <a:srgbClr val="0F1823"/>
          </a:solidFill>
          <a:ln w="12700">
            <a:solidFill>
              <a:srgbClr val="0F1823"/>
            </a:solidFill>
            <a:prstDash val="solid"/>
          </a:ln>
        </p:spPr>
      </p:sp>
      <p:sp>
        <p:nvSpPr>
          <p:cNvPr id="11" name="Text 9"/>
          <p:cNvSpPr txBox="1"/>
          <p:nvPr/>
        </p:nvSpPr>
        <p:spPr>
          <a:xfrm>
            <a:off x="5367528" y="2298700"/>
            <a:ext cx="3163824" cy="154940"/>
          </a:xfrm>
          <a:prstGeom prst="rect">
            <a:avLst/>
          </a:prstGeom>
          <a:noFill/>
          <a:ln/>
        </p:spPr>
        <p:txBody>
          <a:bodyPr wrap="square" lIns="0" tIns="0" rIns="0" bIns="0" rtlCol="0" anchor="t"/>
          <a:lstStyle/>
          <a:p>
            <a:pPr indent="0" marL="0">
              <a:buNone/>
            </a:pPr>
            <a:r>
              <a:rPr lang="en-US" sz="1000" dirty="0">
                <a:solidFill>
                  <a:srgbClr val="7EE787"/>
                </a:solidFill>
                <a:latin typeface="Courier New" pitchFamily="34" charset="0"/>
                <a:ea typeface="Courier New" pitchFamily="34" charset="-122"/>
                <a:cs typeface="Courier New" pitchFamily="34" charset="-120"/>
              </a:rPr>
              <a:t>You are neither Alice nor a little kid.</a:t>
            </a:r>
            <a:endParaRPr lang="en-US" sz="1000" dirty="0"/>
          </a:p>
        </p:txBody>
      </p:sp>
      <p:sp>
        <p:nvSpPr>
          <p:cNvPr id="12" name="Text 10"/>
          <p:cNvSpPr txBox="1"/>
          <p:nvPr/>
        </p:nvSpPr>
        <p:spPr>
          <a:xfrm>
            <a:off x="411480" y="365709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littlekid_v1_0_0.py, run under Python 3.14.4</a:t>
            </a:r>
            <a:endParaRPr lang="en-US" sz="900" dirty="0"/>
          </a:p>
        </p:txBody>
      </p:sp>
      <p:sp>
        <p:nvSpPr>
          <p:cNvPr id="13" name="Shape 11"/>
          <p:cNvSpPr/>
          <p:nvPr/>
        </p:nvSpPr>
        <p:spPr>
          <a:xfrm>
            <a:off x="411480" y="3986276"/>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3986276"/>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096004"/>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else clause must come last. Python 3.14 reports an elif that follows an else with the message 'elif' block follows an 'else' block, where Python 3.12 said only invalid syntax.</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branch chain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if, any number of elifs, at most one else</a:t>
            </a:r>
            <a:endParaRPr lang="en-US" sz="1300" dirty="0"/>
          </a:p>
        </p:txBody>
      </p:sp>
      <p:sp>
        <p:nvSpPr>
          <p:cNvPr id="6" name="Shape 4"/>
          <p:cNvSpPr/>
          <p:nvPr/>
        </p:nvSpPr>
        <p:spPr>
          <a:xfrm>
            <a:off x="411480" y="1152144"/>
            <a:ext cx="8321040" cy="936244"/>
          </a:xfrm>
          <a:prstGeom prst="roundRect">
            <a:avLst>
              <a:gd name="adj" fmla="val 9767"/>
            </a:avLst>
          </a:prstGeom>
          <a:solidFill>
            <a:srgbClr val="F1F4F8"/>
          </a:solidFill>
          <a:ln w="12700">
            <a:solidFill>
              <a:srgbClr val="F1F4F8"/>
            </a:solidFill>
            <a:prstDash val="solid"/>
          </a:ln>
        </p:spPr>
      </p:sp>
      <p:sp>
        <p:nvSpPr>
          <p:cNvPr id="7" name="Text 5"/>
          <p:cNvSpPr txBox="1"/>
          <p:nvPr/>
        </p:nvSpPr>
        <p:spPr>
          <a:xfrm>
            <a:off x="594360" y="1280160"/>
            <a:ext cx="7955280" cy="680212"/>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A branch chain is an if statement together with the elif clauses and the else clause that follow it. The textbook states two rules: there is always exactly one if statement, with any elif statements following it, and if you want to be sure that at least one clause is executed you close the structure with an else (Sweigart, 2025). A chain is different from a sequence of separate if statements: Python tests the conditions in the order written, runs the block of the first true one, and does not evaluate the rest.</a:t>
            </a:r>
            <a:endParaRPr lang="en-US" sz="950" dirty="0"/>
          </a:p>
        </p:txBody>
      </p:sp>
      <p:sp>
        <p:nvSpPr>
          <p:cNvPr id="8" name="Shape 6"/>
          <p:cNvSpPr/>
          <p:nvPr/>
        </p:nvSpPr>
        <p:spPr>
          <a:xfrm>
            <a:off x="411480" y="2198116"/>
            <a:ext cx="4572000" cy="1440688"/>
          </a:xfrm>
          <a:prstGeom prst="roundRect">
            <a:avLst>
              <a:gd name="adj" fmla="val 6347"/>
            </a:avLst>
          </a:prstGeom>
          <a:solidFill>
            <a:srgbClr val="17202B"/>
          </a:solidFill>
          <a:ln w="12700">
            <a:solidFill>
              <a:srgbClr val="17202B"/>
            </a:solidFill>
            <a:prstDash val="solid"/>
          </a:ln>
        </p:spPr>
      </p:sp>
      <p:sp>
        <p:nvSpPr>
          <p:cNvPr id="9" name="Text 7"/>
          <p:cNvSpPr txBox="1"/>
          <p:nvPr/>
        </p:nvSpPr>
        <p:spPr>
          <a:xfrm>
            <a:off x="612648" y="2298700"/>
            <a:ext cx="4169664" cy="1239520"/>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age = 70</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if age &gt; 12:</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print('A')</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if age &gt; 65:</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print('B')</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 now the same tests as one chain ---')</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if age &gt; 12:</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print('A')</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elif age &gt; 65:</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print('B')</a:t>
            </a:r>
            <a:endParaRPr lang="en-US" sz="800" dirty="0"/>
          </a:p>
        </p:txBody>
      </p:sp>
      <p:sp>
        <p:nvSpPr>
          <p:cNvPr id="10" name="Shape 8"/>
          <p:cNvSpPr/>
          <p:nvPr/>
        </p:nvSpPr>
        <p:spPr>
          <a:xfrm>
            <a:off x="5166360" y="2198116"/>
            <a:ext cx="3566160" cy="696976"/>
          </a:xfrm>
          <a:prstGeom prst="roundRect">
            <a:avLst>
              <a:gd name="adj" fmla="val 13120"/>
            </a:avLst>
          </a:prstGeom>
          <a:solidFill>
            <a:srgbClr val="0F1823"/>
          </a:solidFill>
          <a:ln w="12700">
            <a:solidFill>
              <a:srgbClr val="0F1823"/>
            </a:solidFill>
            <a:prstDash val="solid"/>
          </a:ln>
        </p:spPr>
      </p:sp>
      <p:sp>
        <p:nvSpPr>
          <p:cNvPr id="11" name="Text 9"/>
          <p:cNvSpPr txBox="1"/>
          <p:nvPr/>
        </p:nvSpPr>
        <p:spPr>
          <a:xfrm>
            <a:off x="5367528" y="2298700"/>
            <a:ext cx="3163824" cy="495808"/>
          </a:xfrm>
          <a:prstGeom prst="rect">
            <a:avLst/>
          </a:prstGeom>
          <a:noFill/>
          <a:ln/>
        </p:spPr>
        <p:txBody>
          <a:bodyPr wrap="square" lIns="0" tIns="0" rIns="0" bIns="0" rtlCol="0" anchor="t"/>
          <a:lstStyle/>
          <a:p>
            <a:pPr indent="0" marL="0">
              <a:buNone/>
            </a:pPr>
            <a:r>
              <a:rPr lang="en-US" sz="800" dirty="0">
                <a:solidFill>
                  <a:srgbClr val="7EE787"/>
                </a:solidFill>
                <a:latin typeface="Courier New" pitchFamily="34" charset="0"/>
                <a:ea typeface="Courier New" pitchFamily="34" charset="-122"/>
                <a:cs typeface="Courier New" pitchFamily="34" charset="-120"/>
              </a:rPr>
              <a:t>A</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B</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 now the same tests as one chain ---</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a:t>
            </a:r>
            <a:endParaRPr lang="en-US" sz="800" dirty="0"/>
          </a:p>
        </p:txBody>
      </p:sp>
      <p:sp>
        <p:nvSpPr>
          <p:cNvPr id="12" name="Text 10"/>
          <p:cNvSpPr txBox="1"/>
          <p:nvPr/>
        </p:nvSpPr>
        <p:spPr>
          <a:xfrm>
            <a:off x="411480" y="365709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chain_vs_separate_v1_0_0.py, run under Python 3.14.4</a:t>
            </a:r>
            <a:endParaRPr lang="en-US" sz="900" dirty="0"/>
          </a:p>
        </p:txBody>
      </p:sp>
      <p:sp>
        <p:nvSpPr>
          <p:cNvPr id="13" name="Shape 11"/>
          <p:cNvSpPr/>
          <p:nvPr/>
        </p:nvSpPr>
        <p:spPr>
          <a:xfrm>
            <a:off x="411480" y="3986276"/>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3986276"/>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096004"/>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chain without an else may run no block at all. When a variable is assigned inside the blocks of a chain, a missing else can leave it unassigned - the fault the worked programs of this chapter end with.</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Expression forms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Bringing a choice, or a name, inside an expression</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expression form is a construct that brings a choice or a naming into a single expression, so that it has a value and can be used inside larger expressions. The chapter has two: the conditional expression, which chooses between two values, and the assignment expression, which gives a name to a value while it is being used. A statement cannot be placed inside a larger expression, but a choice sometimes has to be - a message that depends on a condition may be needed as the argument of a call, or a value may be needed twice in one condition.</a:t>
            </a:r>
            <a:endParaRPr lang="en-US" sz="1300" dirty="0"/>
          </a:p>
        </p:txBody>
      </p:sp>
      <p:sp>
        <p:nvSpPr>
          <p:cNvPr id="8" name="Shape 6"/>
          <p:cNvSpPr/>
          <p:nvPr/>
        </p:nvSpPr>
        <p:spPr>
          <a:xfrm>
            <a:off x="411480" y="2817876"/>
            <a:ext cx="4572000" cy="851916"/>
          </a:xfrm>
          <a:prstGeom prst="roundRect">
            <a:avLst>
              <a:gd name="adj" fmla="val 10733"/>
            </a:avLst>
          </a:prstGeom>
          <a:solidFill>
            <a:srgbClr val="17202B"/>
          </a:solidFill>
          <a:ln w="12700">
            <a:solidFill>
              <a:srgbClr val="17202B"/>
            </a:solidFill>
            <a:prstDash val="solid"/>
          </a:ln>
        </p:spPr>
      </p:sp>
      <p:sp>
        <p:nvSpPr>
          <p:cNvPr id="9" name="Text 7"/>
          <p:cNvSpPr txBox="1"/>
          <p:nvPr/>
        </p:nvSpPr>
        <p:spPr>
          <a:xfrm>
            <a:off x="612648" y="2918460"/>
            <a:ext cx="4169664" cy="650748"/>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name = 'Alice'</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if (size := len(name)) &gt; 3:</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print(size)</a:t>
            </a:r>
            <a:endParaRPr lang="en-US" sz="1400" dirty="0"/>
          </a:p>
        </p:txBody>
      </p:sp>
      <p:sp>
        <p:nvSpPr>
          <p:cNvPr id="10" name="Shape 8"/>
          <p:cNvSpPr/>
          <p:nvPr/>
        </p:nvSpPr>
        <p:spPr>
          <a:xfrm>
            <a:off x="5166360" y="2817876"/>
            <a:ext cx="3566160" cy="418084"/>
          </a:xfrm>
          <a:prstGeom prst="roundRect">
            <a:avLst>
              <a:gd name="adj" fmla="val 21871"/>
            </a:avLst>
          </a:prstGeom>
          <a:solidFill>
            <a:srgbClr val="0F1823"/>
          </a:solidFill>
          <a:ln w="12700">
            <a:solidFill>
              <a:srgbClr val="0F1823"/>
            </a:solidFill>
            <a:prstDash val="solid"/>
          </a:ln>
        </p:spPr>
      </p:sp>
      <p:sp>
        <p:nvSpPr>
          <p:cNvPr id="11" name="Text 9"/>
          <p:cNvSpPr txBox="1"/>
          <p:nvPr/>
        </p:nvSpPr>
        <p:spPr>
          <a:xfrm>
            <a:off x="5367528" y="2918460"/>
            <a:ext cx="3163824" cy="216916"/>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5</a:t>
            </a:r>
            <a:endParaRPr lang="en-US" sz="1400" dirty="0"/>
          </a:p>
        </p:txBody>
      </p:sp>
      <p:sp>
        <p:nvSpPr>
          <p:cNvPr id="12" name="Text 10"/>
          <p:cNvSpPr txBox="1"/>
          <p:nvPr/>
        </p:nvSpPr>
        <p:spPr>
          <a:xfrm>
            <a:off x="411480" y="3688080"/>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walrus_size_v1_0_0.py, run under Python 3.14.4</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conditional expression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x if C else y, choosing between two values</a:t>
            </a:r>
            <a:endParaRPr lang="en-US" sz="1300" dirty="0"/>
          </a:p>
        </p:txBody>
      </p:sp>
      <p:sp>
        <p:nvSpPr>
          <p:cNvPr id="6" name="Shape 4"/>
          <p:cNvSpPr/>
          <p:nvPr/>
        </p:nvSpPr>
        <p:spPr>
          <a:xfrm>
            <a:off x="411480" y="1152144"/>
            <a:ext cx="4818888" cy="2361692"/>
          </a:xfrm>
          <a:prstGeom prst="roundRect">
            <a:avLst>
              <a:gd name="adj" fmla="val 3872"/>
            </a:avLst>
          </a:prstGeom>
          <a:solidFill>
            <a:srgbClr val="F1F4F8"/>
          </a:solidFill>
          <a:ln w="12700">
            <a:solidFill>
              <a:srgbClr val="F1F4F8"/>
            </a:solidFill>
            <a:prstDash val="solid"/>
          </a:ln>
        </p:spPr>
      </p:sp>
      <p:sp>
        <p:nvSpPr>
          <p:cNvPr id="7" name="Text 5"/>
          <p:cNvSpPr txBox="1"/>
          <p:nvPr/>
        </p:nvSpPr>
        <p:spPr>
          <a:xfrm>
            <a:off x="594360" y="1280160"/>
            <a:ext cx="445312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conditional expression, sometimes called a ternary operator because it combines three operands, is an alternative to the if-else statement. Because it is an expression it returns a value and can appear as a sub-expression (Python Software Foundation, 2026). It is written x if C else y. Python evaluates the condition first, not x: if the condition is true, x is evaluated and returned, and otherwise y is. Only one of the two values is ever evaluated, which the last line of the card shows by never dividing by zero.</a:t>
            </a:r>
            <a:endParaRPr lang="en-US" sz="1300" dirty="0"/>
          </a:p>
        </p:txBody>
      </p:sp>
      <p:sp>
        <p:nvSpPr>
          <p:cNvPr id="8" name="Shape 6"/>
          <p:cNvSpPr/>
          <p:nvPr/>
        </p:nvSpPr>
        <p:spPr>
          <a:xfrm>
            <a:off x="5358384" y="1152144"/>
            <a:ext cx="3374136" cy="1130808"/>
          </a:xfrm>
          <a:prstGeom prst="roundRect">
            <a:avLst>
              <a:gd name="adj" fmla="val 8086"/>
            </a:avLst>
          </a:prstGeom>
          <a:solidFill>
            <a:srgbClr val="17202B"/>
          </a:solidFill>
          <a:ln w="12700">
            <a:solidFill>
              <a:srgbClr val="17202B"/>
            </a:solidFill>
            <a:prstDash val="solid"/>
          </a:ln>
        </p:spPr>
      </p:sp>
      <p:sp>
        <p:nvSpPr>
          <p:cNvPr id="9" name="Text 7"/>
          <p:cNvSpPr txBox="1"/>
          <p:nvPr/>
        </p:nvSpPr>
        <p:spPr>
          <a:xfrm>
            <a:off x="5559552" y="1252728"/>
            <a:ext cx="2971800" cy="929640"/>
          </a:xfrm>
          <a:prstGeom prst="rect">
            <a:avLst/>
          </a:prstGeom>
          <a:noFill/>
          <a:ln/>
        </p:spPr>
        <p:txBody>
          <a:bodyPr wrap="square" lIns="0" tIns="0" rIns="0" bIns="0" rtlCol="0" anchor="t"/>
          <a:lstStyle/>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'even' if 10 % 2 == 0 else 'odd'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'even'</a:t>
            </a:r>
            <a:endParaRPr lang="en-US" sz="1000" dirty="0"/>
          </a:p>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'even' if 7 % 2 == 0 else 'odd'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'odd'</a:t>
            </a:r>
            <a:endParaRPr lang="en-US" sz="1000" dirty="0"/>
          </a:p>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'adult' if 20 &gt;= 18 else 1 / 0</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'adult'</a:t>
            </a:r>
            <a:endParaRPr lang="en-US" sz="1000" dirty="0"/>
          </a:p>
        </p:txBody>
      </p:sp>
      <p:sp>
        <p:nvSpPr>
          <p:cNvPr id="10" name="Text 8"/>
          <p:cNvSpPr txBox="1"/>
          <p:nvPr/>
        </p:nvSpPr>
        <p:spPr>
          <a:xfrm>
            <a:off x="5358384" y="2301240"/>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62356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62356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73329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It chooses values, not actions, so each part must be an expression. Nesting several conditional expressions quickly becomes unreadable, and then an ordinary if statement is clearer.</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assignment expression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name := value, which assigns and yields at once</a:t>
            </a:r>
            <a:endParaRPr lang="en-US" sz="1300" dirty="0"/>
          </a:p>
        </p:txBody>
      </p:sp>
      <p:sp>
        <p:nvSpPr>
          <p:cNvPr id="6" name="Shape 4"/>
          <p:cNvSpPr/>
          <p:nvPr/>
        </p:nvSpPr>
        <p:spPr>
          <a:xfrm>
            <a:off x="411480" y="1152144"/>
            <a:ext cx="4818888" cy="2477897"/>
          </a:xfrm>
          <a:prstGeom prst="roundRect">
            <a:avLst>
              <a:gd name="adj" fmla="val 3690"/>
            </a:avLst>
          </a:prstGeom>
          <a:solidFill>
            <a:srgbClr val="F1F4F8"/>
          </a:solidFill>
          <a:ln w="12700">
            <a:solidFill>
              <a:srgbClr val="F1F4F8"/>
            </a:solidFill>
            <a:prstDash val="solid"/>
          </a:ln>
        </p:spPr>
      </p:sp>
      <p:sp>
        <p:nvSpPr>
          <p:cNvPr id="7" name="Text 5"/>
          <p:cNvSpPr txBox="1"/>
          <p:nvPr/>
        </p:nvSpPr>
        <p:spPr>
          <a:xfrm>
            <a:off x="594360" y="1280160"/>
            <a:ext cx="4453128" cy="2221865"/>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An assignment expression, also called a named expression or informally the walrus operator, assigns an expression to an identifier while also returning the value of the expression (Python Software Foundation, 2026). It is written with the operator := and was added in Python 3.8 by PEP 572 (Angelico et al., 2018). Naming the result of an expression is an important part of programming, because it allows a descriptive name in place of a longer expression; until this form existed, naming a value required a separate statement and was impossible inside a condition.</a:t>
            </a:r>
            <a:endParaRPr lang="en-US" sz="1250" dirty="0"/>
          </a:p>
        </p:txBody>
      </p:sp>
      <p:sp>
        <p:nvSpPr>
          <p:cNvPr id="8" name="Shape 6"/>
          <p:cNvSpPr/>
          <p:nvPr/>
        </p:nvSpPr>
        <p:spPr>
          <a:xfrm>
            <a:off x="5358384" y="1152144"/>
            <a:ext cx="3374136" cy="944880"/>
          </a:xfrm>
          <a:prstGeom prst="roundRect">
            <a:avLst>
              <a:gd name="adj" fmla="val 9677"/>
            </a:avLst>
          </a:prstGeom>
          <a:solidFill>
            <a:srgbClr val="17202B"/>
          </a:solidFill>
          <a:ln w="12700">
            <a:solidFill>
              <a:srgbClr val="17202B"/>
            </a:solidFill>
            <a:prstDash val="solid"/>
          </a:ln>
        </p:spPr>
      </p:sp>
      <p:sp>
        <p:nvSpPr>
          <p:cNvPr id="9" name="Text 7"/>
          <p:cNvSpPr txBox="1"/>
          <p:nvPr/>
        </p:nvSpPr>
        <p:spPr>
          <a:xfrm>
            <a:off x="5559552" y="1252728"/>
            <a:ext cx="2971800" cy="743712"/>
          </a:xfrm>
          <a:prstGeom prst="rect">
            <a:avLst/>
          </a:prstGeom>
          <a:noFill/>
          <a:ln/>
        </p:spPr>
        <p:txBody>
          <a:bodyPr wrap="square" lIns="0" tIns="0" rIns="0" bIns="0" rtlCol="0" anchor="t"/>
          <a:lstStyle/>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(limit := 10) &gt; 5</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limit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10</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x := 3</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SyntaxError: invalid syntax (&lt;string&gt;, line 1)</a:t>
            </a:r>
            <a:endParaRPr lang="en-US" sz="800" dirty="0"/>
          </a:p>
        </p:txBody>
      </p:sp>
      <p:sp>
        <p:nvSpPr>
          <p:cNvPr id="10" name="Text 8"/>
          <p:cNvSpPr txBox="1"/>
          <p:nvPr/>
        </p:nvSpPr>
        <p:spPr>
          <a:xfrm>
            <a:off x="5358384" y="2115312"/>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739769"/>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739769"/>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849497"/>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operator := is not a second form of =. As a statement on its own it is rejected, as the last line of the card shows, and overusing the form makes conditions harder to read.</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960120"/>
            <a:ext cx="1188720" cy="914400"/>
          </a:xfrm>
          <a:prstGeom prst="rect">
            <a:avLst/>
          </a:prstGeom>
          <a:noFill/>
          <a:ln/>
        </p:spPr>
        <p:txBody>
          <a:bodyPr wrap="square" lIns="0" tIns="0" rIns="0" bIns="0" rtlCol="0" anchor="ctr"/>
          <a:lstStyle/>
          <a:p>
            <a:pPr indent="0" marL="0">
              <a:buNone/>
            </a:pPr>
            <a:r>
              <a:rPr lang="en-US" sz="5400" b="1" dirty="0">
                <a:solidFill>
                  <a:srgbClr val="FFD43B"/>
                </a:solidFill>
                <a:latin typeface="Cambria" pitchFamily="34" charset="0"/>
                <a:ea typeface="Cambria" pitchFamily="34" charset="-122"/>
                <a:cs typeface="Cambria" pitchFamily="34" charset="-120"/>
              </a:rPr>
              <a:t>V</a:t>
            </a:r>
            <a:endParaRPr lang="en-US" sz="5400" dirty="0"/>
          </a:p>
        </p:txBody>
      </p:sp>
      <p:sp>
        <p:nvSpPr>
          <p:cNvPr id="3" name="Text 1"/>
          <p:cNvSpPr txBox="1"/>
          <p:nvPr/>
        </p:nvSpPr>
        <p:spPr>
          <a:xfrm>
            <a:off x="1783080" y="1051560"/>
            <a:ext cx="6858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Modern practice</a:t>
            </a:r>
            <a:endParaRPr lang="en-US" sz="3200" dirty="0"/>
          </a:p>
        </p:txBody>
      </p:sp>
      <p:sp>
        <p:nvSpPr>
          <p:cNvPr id="4" name="Text 2"/>
          <p:cNvSpPr txBox="1"/>
          <p:nvPr/>
        </p:nvSpPr>
        <p:spPr>
          <a:xfrm>
            <a:off x="548640" y="2148840"/>
            <a:ext cx="8046720" cy="788670"/>
          </a:xfrm>
          <a:prstGeom prst="rect">
            <a:avLst/>
          </a:prstGeom>
          <a:noFill/>
          <a:ln/>
        </p:spPr>
        <p:txBody>
          <a:bodyPr wrap="square" lIns="0" tIns="0" rIns="0" bIns="0" rtlCol="0" anchor="t"/>
          <a:lstStyle/>
          <a:p>
            <a:pPr indent="0" marL="0">
              <a:buNone/>
            </a:pPr>
            <a:r>
              <a:rPr lang="en-US" sz="1500" dirty="0">
                <a:solidFill>
                  <a:srgbClr val="C9D4E0"/>
                </a:solidFill>
                <a:latin typeface="Calibri" pitchFamily="34" charset="0"/>
                <a:ea typeface="Calibri" pitchFamily="34" charset="-122"/>
                <a:cs typeface="Calibri" pitchFamily="34" charset="-120"/>
              </a:rPr>
              <a:t>What current Python and its community add to the chapter: a statement for choosing among patterns, added in Python 3.10, and the parts of the official style guide that concern conditions.</a:t>
            </a:r>
            <a:endParaRPr lang="en-US" sz="1500" dirty="0"/>
          </a:p>
        </p:txBody>
      </p:sp>
      <p:sp>
        <p:nvSpPr>
          <p:cNvPr id="5" name="Text 3"/>
          <p:cNvSpPr txBox="1"/>
          <p:nvPr/>
        </p:nvSpPr>
        <p:spPr>
          <a:xfrm>
            <a:off x="548640" y="4133088"/>
            <a:ext cx="8046720" cy="402336"/>
          </a:xfrm>
          <a:prstGeom prst="rect">
            <a:avLst/>
          </a:prstGeom>
          <a:noFill/>
          <a:ln/>
        </p:spPr>
        <p:txBody>
          <a:bodyPr wrap="square" lIns="0" tIns="0" rIns="0" bIns="0" rtlCol="0" anchor="ctr"/>
          <a:lstStyle/>
          <a:p>
            <a:pPr indent="0" marL="0">
              <a:buNone/>
            </a:pPr>
            <a:r>
              <a:rPr lang="en-US" sz="1250" i="1" dirty="0">
                <a:solidFill>
                  <a:srgbClr val="FFD43B"/>
                </a:solidFill>
                <a:latin typeface="Calibri" pitchFamily="34" charset="0"/>
                <a:ea typeface="Calibri" pitchFamily="34" charset="-122"/>
                <a:cs typeface="Calibri" pitchFamily="34" charset="-120"/>
              </a:rPr>
              <a:t>Pattern matching   ·   Style</a:t>
            </a:r>
            <a:endParaRPr lang="en-US" sz="12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Pattern matching</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match statement, its patterns, its guards and its soft keywords</a:t>
            </a:r>
            <a:endParaRPr lang="en-US" sz="1300" dirty="0"/>
          </a:p>
        </p:txBody>
      </p:sp>
      <p:sp>
        <p:nvSpPr>
          <p:cNvPr id="6" name="Shape 4"/>
          <p:cNvSpPr/>
          <p:nvPr/>
        </p:nvSpPr>
        <p:spPr>
          <a:xfrm>
            <a:off x="411480" y="1152144"/>
            <a:ext cx="8321040" cy="1757426"/>
          </a:xfrm>
          <a:prstGeom prst="roundRect">
            <a:avLst>
              <a:gd name="adj" fmla="val 5203"/>
            </a:avLst>
          </a:prstGeom>
          <a:solidFill>
            <a:srgbClr val="F1F4F8"/>
          </a:solidFill>
          <a:ln w="12700">
            <a:solidFill>
              <a:srgbClr val="F1F4F8"/>
            </a:solidFill>
            <a:prstDash val="solid"/>
          </a:ln>
        </p:spPr>
      </p:sp>
      <p:sp>
        <p:nvSpPr>
          <p:cNvPr id="7" name="Text 5"/>
          <p:cNvSpPr txBox="1"/>
          <p:nvPr/>
        </p:nvSpPr>
        <p:spPr>
          <a:xfrm>
            <a:off x="594360" y="1280160"/>
            <a:ext cx="7955280" cy="150139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Pattern matching is a way of choosing between alternatives by comparing a value with patterns that describe its shape. Python 3.10 added it as the match statement, specified in PEP 634 and explained for learners in PEP 636 (Bucher and van Rossum, 2020) (Moisset, 2020). A long elif chain that compares one value with many constants is repetitive, because the value is named in every condition; a match statement names it once and lists the cases below it. A pattern can be a plain value, but it can also describe a sequence of a given length and capture parts of the value into names.</a:t>
            </a:r>
            <a:endParaRPr lang="en-US" sz="1300" dirty="0"/>
          </a:p>
        </p:txBody>
      </p:sp>
      <p:sp>
        <p:nvSpPr>
          <p:cNvPr id="8" name="Shape 6"/>
          <p:cNvSpPr/>
          <p:nvPr/>
        </p:nvSpPr>
        <p:spPr>
          <a:xfrm>
            <a:off x="411480" y="3019298"/>
            <a:ext cx="4572000" cy="1285748"/>
          </a:xfrm>
          <a:prstGeom prst="roundRect">
            <a:avLst>
              <a:gd name="adj" fmla="val 7112"/>
            </a:avLst>
          </a:prstGeom>
          <a:solidFill>
            <a:srgbClr val="17202B"/>
          </a:solidFill>
          <a:ln w="12700">
            <a:solidFill>
              <a:srgbClr val="17202B"/>
            </a:solidFill>
            <a:prstDash val="solid"/>
          </a:ln>
        </p:spPr>
      </p:sp>
      <p:sp>
        <p:nvSpPr>
          <p:cNvPr id="9" name="Text 7"/>
          <p:cNvSpPr txBox="1"/>
          <p:nvPr/>
        </p:nvSpPr>
        <p:spPr>
          <a:xfrm>
            <a:off x="612648" y="3119882"/>
            <a:ext cx="4169664" cy="1084580"/>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expected = 'quit'</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command = 'go'</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match command:</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case expected:</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print('matched', expected)</a:t>
            </a:r>
            <a:endParaRPr lang="en-US" sz="1400" dirty="0"/>
          </a:p>
        </p:txBody>
      </p:sp>
      <p:sp>
        <p:nvSpPr>
          <p:cNvPr id="10" name="Shape 8"/>
          <p:cNvSpPr/>
          <p:nvPr/>
        </p:nvSpPr>
        <p:spPr>
          <a:xfrm>
            <a:off x="5166360" y="3019298"/>
            <a:ext cx="3566160" cy="418084"/>
          </a:xfrm>
          <a:prstGeom prst="roundRect">
            <a:avLst>
              <a:gd name="adj" fmla="val 21871"/>
            </a:avLst>
          </a:prstGeom>
          <a:solidFill>
            <a:srgbClr val="0F1823"/>
          </a:solidFill>
          <a:ln w="12700">
            <a:solidFill>
              <a:srgbClr val="0F1823"/>
            </a:solidFill>
            <a:prstDash val="solid"/>
          </a:ln>
        </p:spPr>
      </p:sp>
      <p:sp>
        <p:nvSpPr>
          <p:cNvPr id="11" name="Text 9"/>
          <p:cNvSpPr txBox="1"/>
          <p:nvPr/>
        </p:nvSpPr>
        <p:spPr>
          <a:xfrm>
            <a:off x="5367528" y="3119882"/>
            <a:ext cx="3163824" cy="216916"/>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matched go</a:t>
            </a:r>
            <a:endParaRPr lang="en-US" sz="1400" dirty="0"/>
          </a:p>
        </p:txBody>
      </p:sp>
      <p:sp>
        <p:nvSpPr>
          <p:cNvPr id="12" name="Text 10"/>
          <p:cNvSpPr txBox="1"/>
          <p:nvPr/>
        </p:nvSpPr>
        <p:spPr>
          <a:xfrm>
            <a:off x="411480" y="4323334"/>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match_capture_v1_0_0.py, run under Python 3.14.4</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match statement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Compare one value against successive cases</a:t>
            </a:r>
            <a:endParaRPr lang="en-US" sz="1300" dirty="0"/>
          </a:p>
        </p:txBody>
      </p:sp>
      <p:sp>
        <p:nvSpPr>
          <p:cNvPr id="6" name="Shape 4"/>
          <p:cNvSpPr/>
          <p:nvPr/>
        </p:nvSpPr>
        <p:spPr>
          <a:xfrm>
            <a:off x="411480" y="1152144"/>
            <a:ext cx="8321040" cy="905256"/>
          </a:xfrm>
          <a:prstGeom prst="roundRect">
            <a:avLst>
              <a:gd name="adj" fmla="val 10101"/>
            </a:avLst>
          </a:prstGeom>
          <a:solidFill>
            <a:srgbClr val="F1F4F8"/>
          </a:solidFill>
          <a:ln w="12700">
            <a:solidFill>
              <a:srgbClr val="F1F4F8"/>
            </a:solidFill>
            <a:prstDash val="solid"/>
          </a:ln>
        </p:spPr>
      </p:sp>
      <p:sp>
        <p:nvSpPr>
          <p:cNvPr id="7" name="Text 5"/>
          <p:cNvSpPr txBox="1"/>
          <p:nvPr/>
        </p:nvSpPr>
        <p:spPr>
          <a:xfrm>
            <a:off x="594360" y="1280160"/>
            <a:ext cx="7955280" cy="649224"/>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A match statement takes an expression and compares its value with successive patterns given as case blocks. The tutorial says this is superficially similar to a switch statement in C, Java or JavaScript, but more similar to pattern matching in languages like Rust or Haskell (Python Software Foundation, 2026). The subject expression is evaluated once; each pattern is then tried in order, and the first that succeeds, with its guard if it has one, has its block executed. Only the first matching case runs, and the statement was added in Python 3.10.</a:t>
            </a:r>
            <a:endParaRPr lang="en-US" sz="900" dirty="0"/>
          </a:p>
        </p:txBody>
      </p:sp>
      <p:sp>
        <p:nvSpPr>
          <p:cNvPr id="8" name="Shape 6"/>
          <p:cNvSpPr/>
          <p:nvPr/>
        </p:nvSpPr>
        <p:spPr>
          <a:xfrm>
            <a:off x="411480" y="2167128"/>
            <a:ext cx="4572000" cy="1440688"/>
          </a:xfrm>
          <a:prstGeom prst="roundRect">
            <a:avLst>
              <a:gd name="adj" fmla="val 6347"/>
            </a:avLst>
          </a:prstGeom>
          <a:solidFill>
            <a:srgbClr val="17202B"/>
          </a:solidFill>
          <a:ln w="12700">
            <a:solidFill>
              <a:srgbClr val="17202B"/>
            </a:solidFill>
            <a:prstDash val="solid"/>
          </a:ln>
        </p:spPr>
      </p:sp>
      <p:sp>
        <p:nvSpPr>
          <p:cNvPr id="9" name="Text 7"/>
          <p:cNvSpPr txBox="1"/>
          <p:nvPr/>
        </p:nvSpPr>
        <p:spPr>
          <a:xfrm>
            <a:off x="612648" y="2267712"/>
            <a:ext cx="4169664" cy="123952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command = 'quit'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match command:</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case 'go':</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print('going')</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case 'quit':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print('bye')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case _:</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print('unknown')</a:t>
            </a:r>
            <a:endParaRPr lang="en-US" sz="1000" dirty="0"/>
          </a:p>
        </p:txBody>
      </p:sp>
      <p:sp>
        <p:nvSpPr>
          <p:cNvPr id="10" name="Shape 8"/>
          <p:cNvSpPr/>
          <p:nvPr/>
        </p:nvSpPr>
        <p:spPr>
          <a:xfrm>
            <a:off x="5166360" y="2167128"/>
            <a:ext cx="3566160" cy="356108"/>
          </a:xfrm>
          <a:prstGeom prst="roundRect">
            <a:avLst>
              <a:gd name="adj" fmla="val 25678"/>
            </a:avLst>
          </a:prstGeom>
          <a:solidFill>
            <a:srgbClr val="0F1823"/>
          </a:solidFill>
          <a:ln w="12700">
            <a:solidFill>
              <a:srgbClr val="0F1823"/>
            </a:solidFill>
            <a:prstDash val="solid"/>
          </a:ln>
        </p:spPr>
      </p:sp>
      <p:sp>
        <p:nvSpPr>
          <p:cNvPr id="11" name="Text 9"/>
          <p:cNvSpPr txBox="1"/>
          <p:nvPr/>
        </p:nvSpPr>
        <p:spPr>
          <a:xfrm>
            <a:off x="5367528" y="2267712"/>
            <a:ext cx="3163824" cy="154940"/>
          </a:xfrm>
          <a:prstGeom prst="rect">
            <a:avLst/>
          </a:prstGeom>
          <a:noFill/>
          <a:ln/>
        </p:spPr>
        <p:txBody>
          <a:bodyPr wrap="square" lIns="0" tIns="0" rIns="0" bIns="0" rtlCol="0" anchor="t"/>
          <a:lstStyle/>
          <a:p>
            <a:pPr indent="0" marL="0">
              <a:buNone/>
            </a:pPr>
            <a:r>
              <a:rPr lang="en-US" sz="1000" dirty="0">
                <a:solidFill>
                  <a:srgbClr val="7EE787"/>
                </a:solidFill>
                <a:latin typeface="Courier New" pitchFamily="34" charset="0"/>
                <a:ea typeface="Courier New" pitchFamily="34" charset="-122"/>
                <a:cs typeface="Courier New" pitchFamily="34" charset="-120"/>
              </a:rPr>
              <a:t>bye</a:t>
            </a:r>
            <a:endParaRPr lang="en-US" sz="1000" dirty="0"/>
          </a:p>
        </p:txBody>
      </p:sp>
      <p:sp>
        <p:nvSpPr>
          <p:cNvPr id="12" name="Text 10"/>
          <p:cNvSpPr txBox="1"/>
          <p:nvPr/>
        </p:nvSpPr>
        <p:spPr>
          <a:xfrm>
            <a:off x="411480" y="3626104"/>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match_command_v1_0_0.py, run under Python 3.14.4</a:t>
            </a:r>
            <a:endParaRPr lang="en-US" sz="900" dirty="0"/>
          </a:p>
        </p:txBody>
      </p:sp>
      <p:sp>
        <p:nvSpPr>
          <p:cNvPr id="13" name="Shape 11"/>
          <p:cNvSpPr/>
          <p:nvPr/>
        </p:nvSpPr>
        <p:spPr>
          <a:xfrm>
            <a:off x="411480" y="3955288"/>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3955288"/>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065016"/>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If no case matches and there is no wildcard, nothing happens and no error is raised. The statement also needs Python 3.10 or later, so it will not run on an older interpreter.</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case pattern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literal, a capture, or alternatives joined by a vertical bar</a:t>
            </a:r>
            <a:endParaRPr lang="en-US" sz="1300" dirty="0"/>
          </a:p>
        </p:txBody>
      </p:sp>
      <p:sp>
        <p:nvSpPr>
          <p:cNvPr id="6" name="Shape 4"/>
          <p:cNvSpPr/>
          <p:nvPr/>
        </p:nvSpPr>
        <p:spPr>
          <a:xfrm>
            <a:off x="411480" y="1152144"/>
            <a:ext cx="8321040" cy="905256"/>
          </a:xfrm>
          <a:prstGeom prst="roundRect">
            <a:avLst>
              <a:gd name="adj" fmla="val 10101"/>
            </a:avLst>
          </a:prstGeom>
          <a:solidFill>
            <a:srgbClr val="F1F4F8"/>
          </a:solidFill>
          <a:ln w="12700">
            <a:solidFill>
              <a:srgbClr val="F1F4F8"/>
            </a:solidFill>
            <a:prstDash val="solid"/>
          </a:ln>
        </p:spPr>
      </p:sp>
      <p:sp>
        <p:nvSpPr>
          <p:cNvPr id="7" name="Text 5"/>
          <p:cNvSpPr txBox="1"/>
          <p:nvPr/>
        </p:nvSpPr>
        <p:spPr>
          <a:xfrm>
            <a:off x="594360" y="1280160"/>
            <a:ext cx="7955280" cy="649224"/>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A case pattern is the description that follows the word case. A literal pattern, a value written out in the code, succeeds when the subject equals it. A capture pattern is a name: it always succeeds and binds the name to the subject. An OR pattern, written with vertical bars, tries its alternatives in turn and succeeds as soon as one does (Python Software Foundation, 2026). Patterns are what make the statement more than a row of comparisons, because a single case can accept several related values and share one block between them.</a:t>
            </a:r>
            <a:endParaRPr lang="en-US" sz="900" dirty="0"/>
          </a:p>
        </p:txBody>
      </p:sp>
      <p:sp>
        <p:nvSpPr>
          <p:cNvPr id="8" name="Shape 6"/>
          <p:cNvSpPr/>
          <p:nvPr/>
        </p:nvSpPr>
        <p:spPr>
          <a:xfrm>
            <a:off x="411480" y="2167128"/>
            <a:ext cx="4572000" cy="1316736"/>
          </a:xfrm>
          <a:prstGeom prst="roundRect">
            <a:avLst>
              <a:gd name="adj" fmla="val 6944"/>
            </a:avLst>
          </a:prstGeom>
          <a:solidFill>
            <a:srgbClr val="17202B"/>
          </a:solidFill>
          <a:ln w="12700">
            <a:solidFill>
              <a:srgbClr val="17202B"/>
            </a:solidFill>
            <a:prstDash val="solid"/>
          </a:ln>
        </p:spPr>
      </p:sp>
      <p:sp>
        <p:nvSpPr>
          <p:cNvPr id="9" name="Text 7"/>
          <p:cNvSpPr txBox="1"/>
          <p:nvPr/>
        </p:nvSpPr>
        <p:spPr>
          <a:xfrm>
            <a:off x="612648" y="2267712"/>
            <a:ext cx="4169664" cy="1115568"/>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status = 403</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match status: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case 400:</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print('bad request')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case 401 | 403 | 404:</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print('not allowed')</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case _:</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print('other')</a:t>
            </a:r>
            <a:endParaRPr lang="en-US" sz="900" dirty="0"/>
          </a:p>
        </p:txBody>
      </p:sp>
      <p:sp>
        <p:nvSpPr>
          <p:cNvPr id="10" name="Shape 8"/>
          <p:cNvSpPr/>
          <p:nvPr/>
        </p:nvSpPr>
        <p:spPr>
          <a:xfrm>
            <a:off x="5166360" y="2167128"/>
            <a:ext cx="3566160" cy="340614"/>
          </a:xfrm>
          <a:prstGeom prst="roundRect">
            <a:avLst>
              <a:gd name="adj" fmla="val 26846"/>
            </a:avLst>
          </a:prstGeom>
          <a:solidFill>
            <a:srgbClr val="0F1823"/>
          </a:solidFill>
          <a:ln w="12700">
            <a:solidFill>
              <a:srgbClr val="0F1823"/>
            </a:solidFill>
            <a:prstDash val="solid"/>
          </a:ln>
        </p:spPr>
      </p:sp>
      <p:sp>
        <p:nvSpPr>
          <p:cNvPr id="11" name="Text 9"/>
          <p:cNvSpPr txBox="1"/>
          <p:nvPr/>
        </p:nvSpPr>
        <p:spPr>
          <a:xfrm>
            <a:off x="5367528" y="2267712"/>
            <a:ext cx="3163824" cy="139446"/>
          </a:xfrm>
          <a:prstGeom prst="rect">
            <a:avLst/>
          </a:prstGeom>
          <a:noFill/>
          <a:ln/>
        </p:spPr>
        <p:txBody>
          <a:bodyPr wrap="square" lIns="0" tIns="0" rIns="0" bIns="0" rtlCol="0" anchor="t"/>
          <a:lstStyle/>
          <a:p>
            <a:pPr indent="0" marL="0">
              <a:buNone/>
            </a:pPr>
            <a:r>
              <a:rPr lang="en-US" sz="900" dirty="0">
                <a:solidFill>
                  <a:srgbClr val="7EE787"/>
                </a:solidFill>
                <a:latin typeface="Courier New" pitchFamily="34" charset="0"/>
                <a:ea typeface="Courier New" pitchFamily="34" charset="-122"/>
                <a:cs typeface="Courier New" pitchFamily="34" charset="-120"/>
              </a:rPr>
              <a:t>not allowed</a:t>
            </a:r>
            <a:endParaRPr lang="en-US" sz="900" dirty="0"/>
          </a:p>
        </p:txBody>
      </p:sp>
      <p:sp>
        <p:nvSpPr>
          <p:cNvPr id="12" name="Text 10"/>
          <p:cNvSpPr txBox="1"/>
          <p:nvPr/>
        </p:nvSpPr>
        <p:spPr>
          <a:xfrm>
            <a:off x="411480" y="350215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match_status_v1_0_0.py, run under Python 3.14.4</a:t>
            </a:r>
            <a:endParaRPr lang="en-US" sz="900" dirty="0"/>
          </a:p>
        </p:txBody>
      </p:sp>
      <p:sp>
        <p:nvSpPr>
          <p:cNvPr id="13" name="Shape 11"/>
          <p:cNvSpPr/>
          <p:nvPr/>
        </p:nvSpPr>
        <p:spPr>
          <a:xfrm>
            <a:off x="411480" y="3831336"/>
            <a:ext cx="8321040" cy="749046"/>
          </a:xfrm>
          <a:prstGeom prst="roundRect">
            <a:avLst>
              <a:gd name="adj" fmla="val 9766"/>
            </a:avLst>
          </a:prstGeom>
          <a:solidFill>
            <a:srgbClr val="FFF1F0"/>
          </a:solidFill>
          <a:ln w="12700">
            <a:solidFill>
              <a:srgbClr val="FFD7D5"/>
            </a:solidFill>
            <a:prstDash val="solid"/>
          </a:ln>
        </p:spPr>
      </p:sp>
      <p:sp>
        <p:nvSpPr>
          <p:cNvPr id="14" name="Shape 12"/>
          <p:cNvSpPr/>
          <p:nvPr/>
        </p:nvSpPr>
        <p:spPr>
          <a:xfrm>
            <a:off x="411480" y="3831336"/>
            <a:ext cx="64008" cy="749046"/>
          </a:xfrm>
          <a:prstGeom prst="rect">
            <a:avLst/>
          </a:prstGeom>
          <a:solidFill>
            <a:srgbClr val="FF7B72"/>
          </a:solidFill>
          <a:ln w="12700">
            <a:solidFill>
              <a:srgbClr val="FF7B72"/>
            </a:solidFill>
            <a:prstDash val="solid"/>
          </a:ln>
        </p:spPr>
      </p:sp>
      <p:sp>
        <p:nvSpPr>
          <p:cNvPr id="15" name="Text 13"/>
          <p:cNvSpPr txBox="1"/>
          <p:nvPr/>
        </p:nvSpPr>
        <p:spPr>
          <a:xfrm>
            <a:off x="612648" y="3941064"/>
            <a:ext cx="7918704"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bare name in a case is a capture and not a comparison. To compare with a stored constant, the tutorial says the constant must be a dotted name, such as Color.RED, to keep it from being read as a capture variable.</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wildcard pattern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underscore, which matches anything</a:t>
            </a:r>
            <a:endParaRPr lang="en-US" sz="1300" dirty="0"/>
          </a:p>
        </p:txBody>
      </p:sp>
      <p:sp>
        <p:nvSpPr>
          <p:cNvPr id="6" name="Shape 4"/>
          <p:cNvSpPr/>
          <p:nvPr/>
        </p:nvSpPr>
        <p:spPr>
          <a:xfrm>
            <a:off x="411480" y="1152144"/>
            <a:ext cx="8321040" cy="1160907"/>
          </a:xfrm>
          <a:prstGeom prst="roundRect">
            <a:avLst>
              <a:gd name="adj" fmla="val 7877"/>
            </a:avLst>
          </a:prstGeom>
          <a:solidFill>
            <a:srgbClr val="F1F4F8"/>
          </a:solidFill>
          <a:ln w="12700">
            <a:solidFill>
              <a:srgbClr val="F1F4F8"/>
            </a:solidFill>
            <a:prstDash val="solid"/>
          </a:ln>
        </p:spPr>
      </p:sp>
      <p:sp>
        <p:nvSpPr>
          <p:cNvPr id="7" name="Text 5"/>
          <p:cNvSpPr txBox="1"/>
          <p:nvPr/>
        </p:nvSpPr>
        <p:spPr>
          <a:xfrm>
            <a:off x="594360" y="1280160"/>
            <a:ext cx="7955280" cy="904875"/>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The wildcard pattern is written with a single underscore. The reference documentation says that a wildcard pattern always succeeds, matching anything, and binds no name (Python Software Foundation, 2026). A match statement does nothing when no case matches, which is rarely what a program wants for an unknown command, so the wildcard provides the case for everything else, in the way the else clause does in a chain. A case block that cannot fail is called irrefutable, and a match statement may have at most one, which must be the last.</a:t>
            </a:r>
            <a:endParaRPr lang="en-US" sz="1050" dirty="0"/>
          </a:p>
        </p:txBody>
      </p:sp>
      <p:sp>
        <p:nvSpPr>
          <p:cNvPr id="8" name="Shape 6"/>
          <p:cNvSpPr/>
          <p:nvPr/>
        </p:nvSpPr>
        <p:spPr>
          <a:xfrm>
            <a:off x="411480" y="2422779"/>
            <a:ext cx="4572000" cy="1285748"/>
          </a:xfrm>
          <a:prstGeom prst="roundRect">
            <a:avLst>
              <a:gd name="adj" fmla="val 7112"/>
            </a:avLst>
          </a:prstGeom>
          <a:solidFill>
            <a:srgbClr val="17202B"/>
          </a:solidFill>
          <a:ln w="12700">
            <a:solidFill>
              <a:srgbClr val="17202B"/>
            </a:solidFill>
            <a:prstDash val="solid"/>
          </a:ln>
        </p:spPr>
      </p:sp>
      <p:sp>
        <p:nvSpPr>
          <p:cNvPr id="9" name="Text 7"/>
          <p:cNvSpPr txBox="1"/>
          <p:nvPr/>
        </p:nvSpPr>
        <p:spPr>
          <a:xfrm>
            <a:off x="612648" y="2523363"/>
            <a:ext cx="4169664" cy="1084580"/>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command = 'dance'</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match command:</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case 'go':</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print('going')</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print('after')</a:t>
            </a:r>
            <a:endParaRPr lang="en-US" sz="1400" dirty="0"/>
          </a:p>
        </p:txBody>
      </p:sp>
      <p:sp>
        <p:nvSpPr>
          <p:cNvPr id="10" name="Shape 8"/>
          <p:cNvSpPr/>
          <p:nvPr/>
        </p:nvSpPr>
        <p:spPr>
          <a:xfrm>
            <a:off x="5166360" y="2422779"/>
            <a:ext cx="3566160" cy="418084"/>
          </a:xfrm>
          <a:prstGeom prst="roundRect">
            <a:avLst>
              <a:gd name="adj" fmla="val 21871"/>
            </a:avLst>
          </a:prstGeom>
          <a:solidFill>
            <a:srgbClr val="0F1823"/>
          </a:solidFill>
          <a:ln w="12700">
            <a:solidFill>
              <a:srgbClr val="0F1823"/>
            </a:solidFill>
            <a:prstDash val="solid"/>
          </a:ln>
        </p:spPr>
      </p:sp>
      <p:sp>
        <p:nvSpPr>
          <p:cNvPr id="11" name="Text 9"/>
          <p:cNvSpPr txBox="1"/>
          <p:nvPr/>
        </p:nvSpPr>
        <p:spPr>
          <a:xfrm>
            <a:off x="5367528" y="2523363"/>
            <a:ext cx="3163824" cy="216916"/>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after</a:t>
            </a:r>
            <a:endParaRPr lang="en-US" sz="1400" dirty="0"/>
          </a:p>
        </p:txBody>
      </p:sp>
      <p:sp>
        <p:nvSpPr>
          <p:cNvPr id="12" name="Text 10"/>
          <p:cNvSpPr txBox="1"/>
          <p:nvPr/>
        </p:nvSpPr>
        <p:spPr>
          <a:xfrm>
            <a:off x="411480" y="3726815"/>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match_nomatch_v1_0_0.py, run under Python 3.14.4</a:t>
            </a:r>
            <a:endParaRPr lang="en-US" sz="900" dirty="0"/>
          </a:p>
        </p:txBody>
      </p:sp>
      <p:sp>
        <p:nvSpPr>
          <p:cNvPr id="13" name="Shape 11"/>
          <p:cNvSpPr/>
          <p:nvPr/>
        </p:nvSpPr>
        <p:spPr>
          <a:xfrm>
            <a:off x="411480" y="4055999"/>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055999"/>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165727"/>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Python enforces the last-position rule when it reads the program: a wildcard followed by another case is a SyntaxError saying wildcard makes remaining patterns unreachable.</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sequence pattern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Matching a group of a given length and taking its parts</a:t>
            </a:r>
            <a:endParaRPr lang="en-US" sz="1300" dirty="0"/>
          </a:p>
        </p:txBody>
      </p:sp>
      <p:sp>
        <p:nvSpPr>
          <p:cNvPr id="6" name="Shape 4"/>
          <p:cNvSpPr/>
          <p:nvPr/>
        </p:nvSpPr>
        <p:spPr>
          <a:xfrm>
            <a:off x="411480" y="1152144"/>
            <a:ext cx="8321040" cy="905256"/>
          </a:xfrm>
          <a:prstGeom prst="roundRect">
            <a:avLst>
              <a:gd name="adj" fmla="val 10101"/>
            </a:avLst>
          </a:prstGeom>
          <a:solidFill>
            <a:srgbClr val="F1F4F8"/>
          </a:solidFill>
          <a:ln w="12700">
            <a:solidFill>
              <a:srgbClr val="F1F4F8"/>
            </a:solidFill>
            <a:prstDash val="solid"/>
          </a:ln>
        </p:spPr>
      </p:sp>
      <p:sp>
        <p:nvSpPr>
          <p:cNvPr id="7" name="Text 5"/>
          <p:cNvSpPr txBox="1"/>
          <p:nvPr/>
        </p:nvSpPr>
        <p:spPr>
          <a:xfrm>
            <a:off x="594360" y="1280160"/>
            <a:ext cx="7955280" cy="649224"/>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A sequence pattern describes a sequence by listing patterns for its items; the syntax is similar to the unpacking of a list or tuple, and there is no difference whether parentheses or square brackets are used (Python Software Foundation, 2026). Commands usually arrive as a few words, and a program must know how many it received before it can use them. PEP 636 starts from exactly that observation (Moisset, 2020). For a fixed-length pattern the subject must be a sequence of the same length, and the subpatterns are matched from left to right.</a:t>
            </a:r>
            <a:endParaRPr lang="en-US" sz="900" dirty="0"/>
          </a:p>
        </p:txBody>
      </p:sp>
      <p:sp>
        <p:nvSpPr>
          <p:cNvPr id="8" name="Shape 6"/>
          <p:cNvSpPr/>
          <p:nvPr/>
        </p:nvSpPr>
        <p:spPr>
          <a:xfrm>
            <a:off x="411480" y="2167128"/>
            <a:ext cx="4572000" cy="1440688"/>
          </a:xfrm>
          <a:prstGeom prst="roundRect">
            <a:avLst>
              <a:gd name="adj" fmla="val 6347"/>
            </a:avLst>
          </a:prstGeom>
          <a:solidFill>
            <a:srgbClr val="17202B"/>
          </a:solidFill>
          <a:ln w="12700">
            <a:solidFill>
              <a:srgbClr val="17202B"/>
            </a:solidFill>
            <a:prstDash val="solid"/>
          </a:ln>
        </p:spPr>
      </p:sp>
      <p:sp>
        <p:nvSpPr>
          <p:cNvPr id="9" name="Text 7"/>
          <p:cNvSpPr txBox="1"/>
          <p:nvPr/>
        </p:nvSpPr>
        <p:spPr>
          <a:xfrm>
            <a:off x="612648" y="2267712"/>
            <a:ext cx="4169664" cy="123952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command = ['go', 'north']</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match command:</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case ['go', direction]:</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print('going ' + direction)</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case ['quit']: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print('bye')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case _:</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print('unknown')</a:t>
            </a:r>
            <a:endParaRPr lang="en-US" sz="1000" dirty="0"/>
          </a:p>
        </p:txBody>
      </p:sp>
      <p:sp>
        <p:nvSpPr>
          <p:cNvPr id="10" name="Shape 8"/>
          <p:cNvSpPr/>
          <p:nvPr/>
        </p:nvSpPr>
        <p:spPr>
          <a:xfrm>
            <a:off x="5166360" y="2167128"/>
            <a:ext cx="3566160" cy="356108"/>
          </a:xfrm>
          <a:prstGeom prst="roundRect">
            <a:avLst>
              <a:gd name="adj" fmla="val 25678"/>
            </a:avLst>
          </a:prstGeom>
          <a:solidFill>
            <a:srgbClr val="0F1823"/>
          </a:solidFill>
          <a:ln w="12700">
            <a:solidFill>
              <a:srgbClr val="0F1823"/>
            </a:solidFill>
            <a:prstDash val="solid"/>
          </a:ln>
        </p:spPr>
      </p:sp>
      <p:sp>
        <p:nvSpPr>
          <p:cNvPr id="11" name="Text 9"/>
          <p:cNvSpPr txBox="1"/>
          <p:nvPr/>
        </p:nvSpPr>
        <p:spPr>
          <a:xfrm>
            <a:off x="5367528" y="2267712"/>
            <a:ext cx="3163824" cy="154940"/>
          </a:xfrm>
          <a:prstGeom prst="rect">
            <a:avLst/>
          </a:prstGeom>
          <a:noFill/>
          <a:ln/>
        </p:spPr>
        <p:txBody>
          <a:bodyPr wrap="square" lIns="0" tIns="0" rIns="0" bIns="0" rtlCol="0" anchor="t"/>
          <a:lstStyle/>
          <a:p>
            <a:pPr indent="0" marL="0">
              <a:buNone/>
            </a:pPr>
            <a:r>
              <a:rPr lang="en-US" sz="1000" dirty="0">
                <a:solidFill>
                  <a:srgbClr val="7EE787"/>
                </a:solidFill>
                <a:latin typeface="Courier New" pitchFamily="34" charset="0"/>
                <a:ea typeface="Courier New" pitchFamily="34" charset="-122"/>
                <a:cs typeface="Courier New" pitchFamily="34" charset="-120"/>
              </a:rPr>
              <a:t>going north</a:t>
            </a:r>
            <a:endParaRPr lang="en-US" sz="1000" dirty="0"/>
          </a:p>
        </p:txBody>
      </p:sp>
      <p:sp>
        <p:nvSpPr>
          <p:cNvPr id="12" name="Text 10"/>
          <p:cNvSpPr txBox="1"/>
          <p:nvPr/>
        </p:nvSpPr>
        <p:spPr>
          <a:xfrm>
            <a:off x="411480" y="3626104"/>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match_sequence_v1_0_0.py, run under Python 3.14.4</a:t>
            </a:r>
            <a:endParaRPr lang="en-US" sz="900" dirty="0"/>
          </a:p>
        </p:txBody>
      </p:sp>
      <p:sp>
        <p:nvSpPr>
          <p:cNvPr id="13" name="Shape 11"/>
          <p:cNvSpPr/>
          <p:nvPr/>
        </p:nvSpPr>
        <p:spPr>
          <a:xfrm>
            <a:off x="411480" y="3955288"/>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3955288"/>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065016"/>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string is not matched by a sequence pattern, even though a string is a sequence of characters: the documentation says the pattern fails for a string or a sequence of bytes.</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guard</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 extra condition attached to a case</a:t>
            </a:r>
            <a:endParaRPr lang="en-US" sz="1300" dirty="0"/>
          </a:p>
        </p:txBody>
      </p:sp>
      <p:sp>
        <p:nvSpPr>
          <p:cNvPr id="6" name="Shape 4"/>
          <p:cNvSpPr/>
          <p:nvPr/>
        </p:nvSpPr>
        <p:spPr>
          <a:xfrm>
            <a:off x="411480" y="1152144"/>
            <a:ext cx="8321040" cy="1122172"/>
          </a:xfrm>
          <a:prstGeom prst="roundRect">
            <a:avLst>
              <a:gd name="adj" fmla="val 8148"/>
            </a:avLst>
          </a:prstGeom>
          <a:solidFill>
            <a:srgbClr val="F1F4F8"/>
          </a:solidFill>
          <a:ln w="12700">
            <a:solidFill>
              <a:srgbClr val="F1F4F8"/>
            </a:solidFill>
            <a:prstDash val="solid"/>
          </a:ln>
        </p:spPr>
      </p:sp>
      <p:sp>
        <p:nvSpPr>
          <p:cNvPr id="7" name="Text 5"/>
          <p:cNvSpPr txBox="1"/>
          <p:nvPr/>
        </p:nvSpPr>
        <p:spPr>
          <a:xfrm>
            <a:off x="594360" y="1280160"/>
            <a:ext cx="7955280" cy="86614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A guard is an extra condition attached to a case. It takes the form of the word if followed by an expression, and the documentation says it must succeed for the code inside the case block to execute (Python Software Foundation, 2026). Patterns can describe the shape and the constants of a value but not every relationship between its parts - that two coordinates are equal, for instance - and a guard supplies the rest. Python checks the pattern first; if it fails the guard is never evaluated, and if it succeeds the names are bound and only then is the guard tested.</a:t>
            </a:r>
            <a:endParaRPr lang="en-US" sz="1000" dirty="0"/>
          </a:p>
        </p:txBody>
      </p:sp>
      <p:sp>
        <p:nvSpPr>
          <p:cNvPr id="8" name="Shape 6"/>
          <p:cNvSpPr/>
          <p:nvPr/>
        </p:nvSpPr>
        <p:spPr>
          <a:xfrm>
            <a:off x="411480" y="2384044"/>
            <a:ext cx="4572000" cy="1316736"/>
          </a:xfrm>
          <a:prstGeom prst="roundRect">
            <a:avLst>
              <a:gd name="adj" fmla="val 6944"/>
            </a:avLst>
          </a:prstGeom>
          <a:solidFill>
            <a:srgbClr val="17202B"/>
          </a:solidFill>
          <a:ln w="12700">
            <a:solidFill>
              <a:srgbClr val="17202B"/>
            </a:solidFill>
            <a:prstDash val="solid"/>
          </a:ln>
        </p:spPr>
      </p:sp>
      <p:sp>
        <p:nvSpPr>
          <p:cNvPr id="9" name="Text 7"/>
          <p:cNvSpPr txBox="1"/>
          <p:nvPr/>
        </p:nvSpPr>
        <p:spPr>
          <a:xfrm>
            <a:off x="612648" y="2484628"/>
            <a:ext cx="4169664" cy="1115568"/>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for point in [(3, 3), (3, 4)]:</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match point: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case (x, y) if x == 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print('on the diagonal at', x)</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case (x, y):</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print('elsewhere')</a:t>
            </a:r>
            <a:endParaRPr lang="en-US" sz="1200" dirty="0"/>
          </a:p>
        </p:txBody>
      </p:sp>
      <p:sp>
        <p:nvSpPr>
          <p:cNvPr id="10" name="Shape 8"/>
          <p:cNvSpPr/>
          <p:nvPr/>
        </p:nvSpPr>
        <p:spPr>
          <a:xfrm>
            <a:off x="5166360" y="2384044"/>
            <a:ext cx="3566160" cy="573024"/>
          </a:xfrm>
          <a:prstGeom prst="roundRect">
            <a:avLst>
              <a:gd name="adj" fmla="val 15957"/>
            </a:avLst>
          </a:prstGeom>
          <a:solidFill>
            <a:srgbClr val="0F1823"/>
          </a:solidFill>
          <a:ln w="12700">
            <a:solidFill>
              <a:srgbClr val="0F1823"/>
            </a:solidFill>
            <a:prstDash val="solid"/>
          </a:ln>
        </p:spPr>
      </p:sp>
      <p:sp>
        <p:nvSpPr>
          <p:cNvPr id="11" name="Text 9"/>
          <p:cNvSpPr txBox="1"/>
          <p:nvPr/>
        </p:nvSpPr>
        <p:spPr>
          <a:xfrm>
            <a:off x="5367528" y="2484628"/>
            <a:ext cx="3163824" cy="371856"/>
          </a:xfrm>
          <a:prstGeom prst="rect">
            <a:avLst/>
          </a:prstGeom>
          <a:noFill/>
          <a:ln/>
        </p:spPr>
        <p:txBody>
          <a:bodyPr wrap="square" lIns="0" tIns="0" rIns="0" bIns="0" rtlCol="0" anchor="t"/>
          <a:lstStyle/>
          <a:p>
            <a:pPr indent="0" marL="0">
              <a:buNone/>
            </a:pPr>
            <a:r>
              <a:rPr lang="en-US" sz="1200" dirty="0">
                <a:solidFill>
                  <a:srgbClr val="7EE787"/>
                </a:solidFill>
                <a:latin typeface="Courier New" pitchFamily="34" charset="0"/>
                <a:ea typeface="Courier New" pitchFamily="34" charset="-122"/>
                <a:cs typeface="Courier New" pitchFamily="34" charset="-120"/>
              </a:rPr>
              <a:t>on the diagonal at 3</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elsewhere</a:t>
            </a:r>
            <a:endParaRPr lang="en-US" sz="1200" dirty="0"/>
          </a:p>
        </p:txBody>
      </p:sp>
      <p:sp>
        <p:nvSpPr>
          <p:cNvPr id="12" name="Text 10"/>
          <p:cNvSpPr txBox="1"/>
          <p:nvPr/>
        </p:nvSpPr>
        <p:spPr>
          <a:xfrm>
            <a:off x="411480" y="3719068"/>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match_guard_v1_0_0.py, run under Python 3.14.4</a:t>
            </a:r>
            <a:endParaRPr lang="en-US" sz="900" dirty="0"/>
          </a:p>
        </p:txBody>
      </p:sp>
      <p:sp>
        <p:nvSpPr>
          <p:cNvPr id="13" name="Shape 11"/>
          <p:cNvSpPr/>
          <p:nvPr/>
        </p:nvSpPr>
        <p:spPr>
          <a:xfrm>
            <a:off x="411480" y="4048252"/>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048252"/>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157980"/>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guard belongs to the case line and is not an if statement. A case whose pattern fails never reaches its guard, so never rely on a guard to run.</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soft keyword</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word that is reserved only where it has to be</a:t>
            </a:r>
            <a:endParaRPr lang="en-US" sz="1300" dirty="0"/>
          </a:p>
        </p:txBody>
      </p:sp>
      <p:sp>
        <p:nvSpPr>
          <p:cNvPr id="6" name="Shape 4"/>
          <p:cNvSpPr/>
          <p:nvPr/>
        </p:nvSpPr>
        <p:spPr>
          <a:xfrm>
            <a:off x="411480" y="1152144"/>
            <a:ext cx="8321040" cy="1509522"/>
          </a:xfrm>
          <a:prstGeom prst="roundRect">
            <a:avLst>
              <a:gd name="adj" fmla="val 6058"/>
            </a:avLst>
          </a:prstGeom>
          <a:solidFill>
            <a:srgbClr val="F1F4F8"/>
          </a:solidFill>
          <a:ln w="12700">
            <a:solidFill>
              <a:srgbClr val="F1F4F8"/>
            </a:solidFill>
            <a:prstDash val="solid"/>
          </a:ln>
        </p:spPr>
      </p:sp>
      <p:sp>
        <p:nvSpPr>
          <p:cNvPr id="7" name="Text 5"/>
          <p:cNvSpPr txBox="1"/>
          <p:nvPr/>
        </p:nvSpPr>
        <p:spPr>
          <a:xfrm>
            <a:off x="594360" y="1280160"/>
            <a:ext cx="7955280" cy="12534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 soft keyword is a name reserved only in specific contexts. The language reference lists match, case and the underscore as soft keywords when they are used in the match statement, and adds that the distinction is made by the parser rather than when the text is split into tokens (Python Software Foundation, 2026). Soft keywords are a compatibility measure: they make it possible to extend the grammar while preserving compatibility with existing code that uses these names as identifiers. Without them, adding the match statement would have broken every program with a variable called match.</a:t>
            </a:r>
            <a:endParaRPr lang="en-US" sz="1250" dirty="0"/>
          </a:p>
        </p:txBody>
      </p:sp>
      <p:sp>
        <p:nvSpPr>
          <p:cNvPr id="8" name="Shape 6"/>
          <p:cNvSpPr/>
          <p:nvPr/>
        </p:nvSpPr>
        <p:spPr>
          <a:xfrm>
            <a:off x="411480" y="2771394"/>
            <a:ext cx="4572000" cy="851916"/>
          </a:xfrm>
          <a:prstGeom prst="roundRect">
            <a:avLst>
              <a:gd name="adj" fmla="val 10733"/>
            </a:avLst>
          </a:prstGeom>
          <a:solidFill>
            <a:srgbClr val="17202B"/>
          </a:solidFill>
          <a:ln w="12700">
            <a:solidFill>
              <a:srgbClr val="17202B"/>
            </a:solidFill>
            <a:prstDash val="solid"/>
          </a:ln>
        </p:spPr>
      </p:sp>
      <p:sp>
        <p:nvSpPr>
          <p:cNvPr id="9" name="Text 7"/>
          <p:cNvSpPr txBox="1"/>
          <p:nvPr/>
        </p:nvSpPr>
        <p:spPr>
          <a:xfrm>
            <a:off x="612648" y="2871978"/>
            <a:ext cx="4169664" cy="650748"/>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match = 3</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case = 4</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print(match + case)</a:t>
            </a:r>
            <a:endParaRPr lang="en-US" sz="1400" dirty="0"/>
          </a:p>
        </p:txBody>
      </p:sp>
      <p:sp>
        <p:nvSpPr>
          <p:cNvPr id="10" name="Shape 8"/>
          <p:cNvSpPr/>
          <p:nvPr/>
        </p:nvSpPr>
        <p:spPr>
          <a:xfrm>
            <a:off x="5166360" y="2771394"/>
            <a:ext cx="3566160" cy="418084"/>
          </a:xfrm>
          <a:prstGeom prst="roundRect">
            <a:avLst>
              <a:gd name="adj" fmla="val 21871"/>
            </a:avLst>
          </a:prstGeom>
          <a:solidFill>
            <a:srgbClr val="0F1823"/>
          </a:solidFill>
          <a:ln w="12700">
            <a:solidFill>
              <a:srgbClr val="0F1823"/>
            </a:solidFill>
            <a:prstDash val="solid"/>
          </a:ln>
        </p:spPr>
      </p:sp>
      <p:sp>
        <p:nvSpPr>
          <p:cNvPr id="11" name="Text 9"/>
          <p:cNvSpPr txBox="1"/>
          <p:nvPr/>
        </p:nvSpPr>
        <p:spPr>
          <a:xfrm>
            <a:off x="5367528" y="2871978"/>
            <a:ext cx="3163824" cy="216916"/>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7</a:t>
            </a:r>
            <a:endParaRPr lang="en-US" sz="1400" dirty="0"/>
          </a:p>
        </p:txBody>
      </p:sp>
      <p:sp>
        <p:nvSpPr>
          <p:cNvPr id="12" name="Text 10"/>
          <p:cNvSpPr txBox="1"/>
          <p:nvPr/>
        </p:nvSpPr>
        <p:spPr>
          <a:xfrm>
            <a:off x="411480" y="3641598"/>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softkeyword_v1_0_0.py, run under Python 3.14.4</a:t>
            </a:r>
            <a:endParaRPr lang="en-US" sz="900" dirty="0"/>
          </a:p>
        </p:txBody>
      </p:sp>
      <p:sp>
        <p:nvSpPr>
          <p:cNvPr id="13" name="Shape 11"/>
          <p:cNvSpPr/>
          <p:nvPr/>
        </p:nvSpPr>
        <p:spPr>
          <a:xfrm>
            <a:off x="411480" y="3970782"/>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3970782"/>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080510"/>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That a word is allowed as a name does not make it a good name. A reader who sees a variable called match near a match statement has to work out which meaning applies.</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Style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What PEP 8 asks of the conditions in this chapter</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Style is the set of conventions for writing code that other people can read easily, and for Python the main reference is PEP 8, the style guide for Python code (Van Rossum et al., 2001). PEP 8 recalls that code is read much more often than it is written, and readers expect the conventions of their community. The recommendations are also not arbitrary: several of them protect against genuine mistakes, such as comparing a value with None using the equality operators. Four of them concern the ideas of this chapter.</a:t>
            </a:r>
            <a:endParaRPr lang="en-US" sz="1300" dirty="0"/>
          </a:p>
        </p:txBody>
      </p:sp>
      <p:sp>
        <p:nvSpPr>
          <p:cNvPr id="8" name="Shape 6"/>
          <p:cNvSpPr/>
          <p:nvPr/>
        </p:nvSpPr>
        <p:spPr>
          <a:xfrm>
            <a:off x="411480" y="2836164"/>
            <a:ext cx="4023360" cy="1461516"/>
          </a:xfrm>
          <a:prstGeom prst="roundRect">
            <a:avLst>
              <a:gd name="adj" fmla="val 6257"/>
            </a:avLst>
          </a:prstGeom>
          <a:solidFill>
            <a:srgbClr val="F1F4F8"/>
          </a:solidFill>
          <a:ln w="12700">
            <a:solidFill>
              <a:srgbClr val="F1F4F8"/>
            </a:solidFill>
            <a:prstDash val="solid"/>
          </a:ln>
        </p:spPr>
      </p:sp>
      <p:sp>
        <p:nvSpPr>
          <p:cNvPr id="9" name="Text 7"/>
          <p:cNvSpPr txBox="1"/>
          <p:nvPr/>
        </p:nvSpPr>
        <p:spPr>
          <a:xfrm>
            <a:off x="594360" y="2964180"/>
            <a:ext cx="3657600" cy="216916"/>
          </a:xfrm>
          <a:prstGeom prst="rect">
            <a:avLst/>
          </a:prstGeom>
          <a:noFill/>
          <a:ln/>
        </p:spPr>
        <p:txBody>
          <a:bodyPr wrap="square" lIns="0" tIns="0" rIns="0" bIns="0" rtlCol="0" anchor="ctr"/>
          <a:lstStyle/>
          <a:p>
            <a:pPr indent="0" marL="0">
              <a:buNone/>
            </a:pPr>
            <a:r>
              <a:rPr lang="en-US" sz="1400" b="1" dirty="0">
                <a:solidFill>
                  <a:srgbClr val="1A7F37"/>
                </a:solidFill>
                <a:latin typeface="Cambria" pitchFamily="34" charset="0"/>
                <a:ea typeface="Cambria" pitchFamily="34" charset="-122"/>
                <a:cs typeface="Cambria" pitchFamily="34" charset="-120"/>
              </a:rPr>
              <a:t>PEP 8 asks for</a:t>
            </a:r>
            <a:endParaRPr lang="en-US" sz="1400" dirty="0"/>
          </a:p>
        </p:txBody>
      </p:sp>
      <p:sp>
        <p:nvSpPr>
          <p:cNvPr id="10" name="Text 8"/>
          <p:cNvSpPr txBox="1"/>
          <p:nvPr/>
        </p:nvSpPr>
        <p:spPr>
          <a:xfrm>
            <a:off x="594360" y="3254248"/>
            <a:ext cx="3657600" cy="91541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if greeting:</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if foo is not None:</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if not seq:</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four spaces for each level of indentation</a:t>
            </a:r>
            <a:endParaRPr lang="en-US" sz="1300" dirty="0"/>
          </a:p>
        </p:txBody>
      </p:sp>
      <p:sp>
        <p:nvSpPr>
          <p:cNvPr id="11" name="Shape 9"/>
          <p:cNvSpPr/>
          <p:nvPr/>
        </p:nvSpPr>
        <p:spPr>
          <a:xfrm>
            <a:off x="4709160" y="2836164"/>
            <a:ext cx="4023360" cy="1461516"/>
          </a:xfrm>
          <a:prstGeom prst="roundRect">
            <a:avLst>
              <a:gd name="adj" fmla="val 6257"/>
            </a:avLst>
          </a:prstGeom>
          <a:solidFill>
            <a:srgbClr val="FFF1F0"/>
          </a:solidFill>
          <a:ln w="12700">
            <a:solidFill>
              <a:srgbClr val="FFD7D5"/>
            </a:solidFill>
            <a:prstDash val="solid"/>
          </a:ln>
        </p:spPr>
      </p:sp>
      <p:sp>
        <p:nvSpPr>
          <p:cNvPr id="12" name="Text 10"/>
          <p:cNvSpPr txBox="1"/>
          <p:nvPr/>
        </p:nvSpPr>
        <p:spPr>
          <a:xfrm>
            <a:off x="4892040" y="2964180"/>
            <a:ext cx="3657600" cy="216916"/>
          </a:xfrm>
          <a:prstGeom prst="rect">
            <a:avLst/>
          </a:prstGeom>
          <a:noFill/>
          <a:ln/>
        </p:spPr>
        <p:txBody>
          <a:bodyPr wrap="square" lIns="0" tIns="0" rIns="0" bIns="0" rtlCol="0" anchor="ctr"/>
          <a:lstStyle/>
          <a:p>
            <a:pPr indent="0" marL="0">
              <a:buNone/>
            </a:pPr>
            <a:r>
              <a:rPr lang="en-US" sz="1400" b="1" dirty="0">
                <a:solidFill>
                  <a:srgbClr val="FF7B72"/>
                </a:solidFill>
                <a:latin typeface="Cambria" pitchFamily="34" charset="0"/>
                <a:ea typeface="Cambria" pitchFamily="34" charset="-122"/>
                <a:cs typeface="Cambria" pitchFamily="34" charset="-120"/>
              </a:rPr>
              <a:t>PEP 8 calls wrong</a:t>
            </a:r>
            <a:endParaRPr lang="en-US" sz="1400" dirty="0"/>
          </a:p>
        </p:txBody>
      </p:sp>
      <p:sp>
        <p:nvSpPr>
          <p:cNvPr id="13" name="Text 11"/>
          <p:cNvSpPr txBox="1"/>
          <p:nvPr/>
        </p:nvSpPr>
        <p:spPr>
          <a:xfrm>
            <a:off x="4892040" y="3254248"/>
            <a:ext cx="3657600" cy="91541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if greeting == True:</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if not foo is None:</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if not len(seq):</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tabs mixed with spaces in one file</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Comparing a Boolean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Test the value, do not compare it with True</a:t>
            </a:r>
            <a:endParaRPr lang="en-US" sz="1300" dirty="0"/>
          </a:p>
        </p:txBody>
      </p:sp>
      <p:sp>
        <p:nvSpPr>
          <p:cNvPr id="6" name="Shape 4"/>
          <p:cNvSpPr/>
          <p:nvPr/>
        </p:nvSpPr>
        <p:spPr>
          <a:xfrm>
            <a:off x="411480" y="1152144"/>
            <a:ext cx="8321040" cy="1160907"/>
          </a:xfrm>
          <a:prstGeom prst="roundRect">
            <a:avLst>
              <a:gd name="adj" fmla="val 7877"/>
            </a:avLst>
          </a:prstGeom>
          <a:solidFill>
            <a:srgbClr val="F1F4F8"/>
          </a:solidFill>
          <a:ln w="12700">
            <a:solidFill>
              <a:srgbClr val="F1F4F8"/>
            </a:solidFill>
            <a:prstDash val="solid"/>
          </a:ln>
        </p:spPr>
      </p:sp>
      <p:sp>
        <p:nvSpPr>
          <p:cNvPr id="7" name="Text 5"/>
          <p:cNvSpPr txBox="1"/>
          <p:nvPr/>
        </p:nvSpPr>
        <p:spPr>
          <a:xfrm>
            <a:off x="594360" y="1280160"/>
            <a:ext cx="7955280" cy="904875"/>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PEP 8 recommends that a Boolean value not be compared with True or False using the equality operator. Its example reads: correct is if greeting:, wrong is if greeting == True:, and the form if greeting is True: is called worse (Van Rossum et al., 2001). The comparison is redundant for a real Boolean, because the result equals the value itself. For other values it changes the meaning, since a non-empty string counts as true but is not equal to True - which is what the program on this slide shows.</a:t>
            </a:r>
            <a:endParaRPr lang="en-US" sz="1050" dirty="0"/>
          </a:p>
        </p:txBody>
      </p:sp>
      <p:sp>
        <p:nvSpPr>
          <p:cNvPr id="8" name="Shape 6"/>
          <p:cNvSpPr/>
          <p:nvPr/>
        </p:nvSpPr>
        <p:spPr>
          <a:xfrm>
            <a:off x="411480" y="2422779"/>
            <a:ext cx="4572000" cy="1285748"/>
          </a:xfrm>
          <a:prstGeom prst="roundRect">
            <a:avLst>
              <a:gd name="adj" fmla="val 7112"/>
            </a:avLst>
          </a:prstGeom>
          <a:solidFill>
            <a:srgbClr val="17202B"/>
          </a:solidFill>
          <a:ln w="12700">
            <a:solidFill>
              <a:srgbClr val="17202B"/>
            </a:solidFill>
            <a:prstDash val="solid"/>
          </a:ln>
        </p:spPr>
      </p:sp>
      <p:sp>
        <p:nvSpPr>
          <p:cNvPr id="9" name="Text 7"/>
          <p:cNvSpPr txBox="1"/>
          <p:nvPr/>
        </p:nvSpPr>
        <p:spPr>
          <a:xfrm>
            <a:off x="612648" y="2523363"/>
            <a:ext cx="4169664" cy="1084580"/>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greeting = 'hello'</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if greeting == True:</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print('equal to True')</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if greeting:</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    print('counts as true')</a:t>
            </a:r>
            <a:endParaRPr lang="en-US" sz="1400" dirty="0"/>
          </a:p>
        </p:txBody>
      </p:sp>
      <p:sp>
        <p:nvSpPr>
          <p:cNvPr id="10" name="Shape 8"/>
          <p:cNvSpPr/>
          <p:nvPr/>
        </p:nvSpPr>
        <p:spPr>
          <a:xfrm>
            <a:off x="5166360" y="2422779"/>
            <a:ext cx="3566160" cy="418084"/>
          </a:xfrm>
          <a:prstGeom prst="roundRect">
            <a:avLst>
              <a:gd name="adj" fmla="val 21871"/>
            </a:avLst>
          </a:prstGeom>
          <a:solidFill>
            <a:srgbClr val="0F1823"/>
          </a:solidFill>
          <a:ln w="12700">
            <a:solidFill>
              <a:srgbClr val="0F1823"/>
            </a:solidFill>
            <a:prstDash val="solid"/>
          </a:ln>
        </p:spPr>
      </p:sp>
      <p:sp>
        <p:nvSpPr>
          <p:cNvPr id="11" name="Text 9"/>
          <p:cNvSpPr txBox="1"/>
          <p:nvPr/>
        </p:nvSpPr>
        <p:spPr>
          <a:xfrm>
            <a:off x="5367528" y="2523363"/>
            <a:ext cx="3163824" cy="216916"/>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counts as true</a:t>
            </a:r>
            <a:endParaRPr lang="en-US" sz="1400" dirty="0"/>
          </a:p>
        </p:txBody>
      </p:sp>
      <p:sp>
        <p:nvSpPr>
          <p:cNvPr id="12" name="Text 10"/>
          <p:cNvSpPr txBox="1"/>
          <p:nvPr/>
        </p:nvSpPr>
        <p:spPr>
          <a:xfrm>
            <a:off x="411480" y="3726815"/>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stylebool_v1_0_0.py, run under Python 3.14.4</a:t>
            </a:r>
            <a:endParaRPr lang="en-US" sz="900" dirty="0"/>
          </a:p>
        </p:txBody>
      </p:sp>
      <p:sp>
        <p:nvSpPr>
          <p:cNvPr id="13" name="Shape 11"/>
          <p:cNvSpPr/>
          <p:nvPr/>
        </p:nvSpPr>
        <p:spPr>
          <a:xfrm>
            <a:off x="411480" y="4055999"/>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4055999"/>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165727"/>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recommendation concerns conditions, not every use of a Boolean: a program may still store, print and pass on True and False.</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Comparing with None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Use is and is not for singletons</a:t>
            </a:r>
            <a:endParaRPr lang="en-US" sz="1300" dirty="0"/>
          </a:p>
        </p:txBody>
      </p:sp>
      <p:sp>
        <p:nvSpPr>
          <p:cNvPr id="6" name="Shape 4"/>
          <p:cNvSpPr/>
          <p:nvPr/>
        </p:nvSpPr>
        <p:spPr>
          <a:xfrm>
            <a:off x="411480" y="1152144"/>
            <a:ext cx="8321040" cy="1556004"/>
          </a:xfrm>
          <a:prstGeom prst="roundRect">
            <a:avLst>
              <a:gd name="adj" fmla="val 5877"/>
            </a:avLst>
          </a:prstGeom>
          <a:solidFill>
            <a:srgbClr val="F1F4F8"/>
          </a:solidFill>
          <a:ln w="12700">
            <a:solidFill>
              <a:srgbClr val="F1F4F8"/>
            </a:solidFill>
            <a:prstDash val="solid"/>
          </a:ln>
        </p:spPr>
      </p:sp>
      <p:sp>
        <p:nvSpPr>
          <p:cNvPr id="7" name="Text 5"/>
          <p:cNvSpPr txBox="1"/>
          <p:nvPr/>
        </p:nvSpPr>
        <p:spPr>
          <a:xfrm>
            <a:off x="594360" y="1280160"/>
            <a:ext cx="7955280" cy="129997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style guide says that comparisons to singletons like None should always be done with is or is not, never the equality operators (Van Rossum et al., 2001). The reason lies in how the operators work: equality can be customised by the kind of object being compared, whereas the behaviour of is cannot be customised and it never raises an exception (Python Software Foundation, 2026). Asking whether a value is the one and only None is a question of identity, and the identity operator answers exactly that. PEP 8 also prefers if foo is not None: to if not foo is None:.</a:t>
            </a:r>
            <a:endParaRPr lang="en-US" sz="1300" dirty="0"/>
          </a:p>
        </p:txBody>
      </p:sp>
      <p:sp>
        <p:nvSpPr>
          <p:cNvPr id="8" name="Shape 6"/>
          <p:cNvSpPr/>
          <p:nvPr/>
        </p:nvSpPr>
        <p:spPr>
          <a:xfrm>
            <a:off x="411480" y="2817876"/>
            <a:ext cx="4572000" cy="635000"/>
          </a:xfrm>
          <a:prstGeom prst="roundRect">
            <a:avLst>
              <a:gd name="adj" fmla="val 14400"/>
            </a:avLst>
          </a:prstGeom>
          <a:solidFill>
            <a:srgbClr val="17202B"/>
          </a:solidFill>
          <a:ln w="12700">
            <a:solidFill>
              <a:srgbClr val="17202B"/>
            </a:solidFill>
            <a:prstDash val="solid"/>
          </a:ln>
        </p:spPr>
      </p:sp>
      <p:sp>
        <p:nvSpPr>
          <p:cNvPr id="9" name="Text 7"/>
          <p:cNvSpPr txBox="1"/>
          <p:nvPr/>
        </p:nvSpPr>
        <p:spPr>
          <a:xfrm>
            <a:off x="612648" y="2918460"/>
            <a:ext cx="4169664" cy="433832"/>
          </a:xfrm>
          <a:prstGeom prst="rect">
            <a:avLst/>
          </a:prstGeom>
          <a:noFill/>
          <a:ln/>
        </p:spPr>
        <p:txBody>
          <a:bodyPr wrap="square" lIns="0" tIns="0" rIns="0" bIns="0" rtlCol="0" anchor="t"/>
          <a:lstStyle/>
          <a:p>
            <a:pPr indent="0" marL="0">
              <a:buNone/>
            </a:pPr>
            <a:r>
              <a:rPr lang="en-US" sz="1400" dirty="0">
                <a:solidFill>
                  <a:srgbClr val="E6EDF3"/>
                </a:solidFill>
                <a:latin typeface="Courier New" pitchFamily="34" charset="0"/>
                <a:ea typeface="Courier New" pitchFamily="34" charset="-122"/>
                <a:cs typeface="Courier New" pitchFamily="34" charset="-120"/>
              </a:rPr>
              <a:t>x = []</a:t>
            </a:r>
            <a:endParaRPr lang="en-US" sz="1400" dirty="0"/>
          </a:p>
          <a:p>
            <a:pPr indent="0" marL="0">
              <a:buNone/>
            </a:pPr>
            <a:r>
              <a:rPr lang="en-US" sz="1400" dirty="0">
                <a:solidFill>
                  <a:srgbClr val="E6EDF3"/>
                </a:solidFill>
                <a:latin typeface="Courier New" pitchFamily="34" charset="0"/>
                <a:ea typeface="Courier New" pitchFamily="34" charset="-122"/>
                <a:cs typeface="Courier New" pitchFamily="34" charset="-120"/>
              </a:rPr>
              <a:t>print(x is not None, bool(x))</a:t>
            </a:r>
            <a:endParaRPr lang="en-US" sz="1400" dirty="0"/>
          </a:p>
        </p:txBody>
      </p:sp>
      <p:sp>
        <p:nvSpPr>
          <p:cNvPr id="10" name="Shape 8"/>
          <p:cNvSpPr/>
          <p:nvPr/>
        </p:nvSpPr>
        <p:spPr>
          <a:xfrm>
            <a:off x="5166360" y="2817876"/>
            <a:ext cx="3566160" cy="418084"/>
          </a:xfrm>
          <a:prstGeom prst="roundRect">
            <a:avLst>
              <a:gd name="adj" fmla="val 21871"/>
            </a:avLst>
          </a:prstGeom>
          <a:solidFill>
            <a:srgbClr val="0F1823"/>
          </a:solidFill>
          <a:ln w="12700">
            <a:solidFill>
              <a:srgbClr val="0F1823"/>
            </a:solidFill>
            <a:prstDash val="solid"/>
          </a:ln>
        </p:spPr>
      </p:sp>
      <p:sp>
        <p:nvSpPr>
          <p:cNvPr id="11" name="Text 9"/>
          <p:cNvSpPr txBox="1"/>
          <p:nvPr/>
        </p:nvSpPr>
        <p:spPr>
          <a:xfrm>
            <a:off x="5367528" y="2918460"/>
            <a:ext cx="3163824" cy="216916"/>
          </a:xfrm>
          <a:prstGeom prst="rect">
            <a:avLst/>
          </a:prstGeom>
          <a:noFill/>
          <a:ln/>
        </p:spPr>
        <p:txBody>
          <a:bodyPr wrap="square" lIns="0" tIns="0" rIns="0" bIns="0" rtlCol="0" anchor="t"/>
          <a:lstStyle/>
          <a:p>
            <a:pPr indent="0" marL="0">
              <a:buNone/>
            </a:pPr>
            <a:r>
              <a:rPr lang="en-US" sz="1400" dirty="0">
                <a:solidFill>
                  <a:srgbClr val="7EE787"/>
                </a:solidFill>
                <a:latin typeface="Courier New" pitchFamily="34" charset="0"/>
                <a:ea typeface="Courier New" pitchFamily="34" charset="-122"/>
                <a:cs typeface="Courier New" pitchFamily="34" charset="-120"/>
              </a:rPr>
              <a:t>True False</a:t>
            </a:r>
            <a:endParaRPr lang="en-US" sz="1400" dirty="0"/>
          </a:p>
        </p:txBody>
      </p:sp>
      <p:sp>
        <p:nvSpPr>
          <p:cNvPr id="12" name="Text 10"/>
          <p:cNvSpPr txBox="1"/>
          <p:nvPr/>
        </p:nvSpPr>
        <p:spPr>
          <a:xfrm>
            <a:off x="411480" y="3471164"/>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singleton_v1_0_0.py, run under Python 3.14.4</a:t>
            </a:r>
            <a:endParaRPr lang="en-US" sz="900" dirty="0"/>
          </a:p>
        </p:txBody>
      </p:sp>
      <p:sp>
        <p:nvSpPr>
          <p:cNvPr id="13" name="Shape 11"/>
          <p:cNvSpPr/>
          <p:nvPr/>
        </p:nvSpPr>
        <p:spPr>
          <a:xfrm>
            <a:off x="411480" y="3800348"/>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3800348"/>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3910076"/>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PEP 8 warns against writing if x when the intention is if x is not None: the variable might hold some other value that counts as false, such as an empty container, and the shorter test would treat it as unset.</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Testing for emptiness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 empty sequence is already false</a:t>
            </a:r>
            <a:endParaRPr lang="en-US" sz="1300" dirty="0"/>
          </a:p>
        </p:txBody>
      </p:sp>
      <p:sp>
        <p:nvSpPr>
          <p:cNvPr id="6" name="Shape 4"/>
          <p:cNvSpPr/>
          <p:nvPr/>
        </p:nvSpPr>
        <p:spPr>
          <a:xfrm>
            <a:off x="411480" y="1152144"/>
            <a:ext cx="4818888" cy="2361692"/>
          </a:xfrm>
          <a:prstGeom prst="roundRect">
            <a:avLst>
              <a:gd name="adj" fmla="val 3872"/>
            </a:avLst>
          </a:prstGeom>
          <a:solidFill>
            <a:srgbClr val="F1F4F8"/>
          </a:solidFill>
          <a:ln w="12700">
            <a:solidFill>
              <a:srgbClr val="F1F4F8"/>
            </a:solidFill>
            <a:prstDash val="solid"/>
          </a:ln>
        </p:spPr>
      </p:sp>
      <p:sp>
        <p:nvSpPr>
          <p:cNvPr id="7" name="Text 5"/>
          <p:cNvSpPr txBox="1"/>
          <p:nvPr/>
        </p:nvSpPr>
        <p:spPr>
          <a:xfrm>
            <a:off x="594360" y="1280160"/>
            <a:ext cx="445312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PEP 8 advises that, for sequences such as strings, lists and tuples, a program should use the fact that empty sequences are false: if not seq: and if seq: are correct, while if len(seq): and if not len(seq): are wrong (Van Rossum et al., 2001). The plain test says what is meant - does the sequence have content - and works for every kind of sequence without asking for its length. Python itself defines the truth of a sequence this way, so the shorter test is the documented rule rather than a trick.</a:t>
            </a:r>
            <a:endParaRPr lang="en-US" sz="1300" dirty="0"/>
          </a:p>
        </p:txBody>
      </p:sp>
      <p:sp>
        <p:nvSpPr>
          <p:cNvPr id="8" name="Shape 6"/>
          <p:cNvSpPr/>
          <p:nvPr/>
        </p:nvSpPr>
        <p:spPr>
          <a:xfrm>
            <a:off x="5358384" y="1152144"/>
            <a:ext cx="3374136" cy="1936496"/>
          </a:xfrm>
          <a:prstGeom prst="roundRect">
            <a:avLst>
              <a:gd name="adj" fmla="val 4722"/>
            </a:avLst>
          </a:prstGeom>
          <a:solidFill>
            <a:srgbClr val="17202B"/>
          </a:solidFill>
          <a:ln w="12700">
            <a:solidFill>
              <a:srgbClr val="17202B"/>
            </a:solidFill>
            <a:prstDash val="solid"/>
          </a:ln>
        </p:spPr>
      </p:sp>
      <p:sp>
        <p:nvSpPr>
          <p:cNvPr id="9" name="Text 7"/>
          <p:cNvSpPr txBox="1"/>
          <p:nvPr/>
        </p:nvSpPr>
        <p:spPr>
          <a:xfrm>
            <a:off x="5559552" y="1252728"/>
            <a:ext cx="2971800" cy="1735328"/>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bool([])</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len([])</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0</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bool([1, 2])</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len([1, 2])</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2</a:t>
            </a:r>
            <a:endParaRPr lang="en-US" sz="1400" dirty="0"/>
          </a:p>
        </p:txBody>
      </p:sp>
      <p:sp>
        <p:nvSpPr>
          <p:cNvPr id="10" name="Text 8"/>
          <p:cNvSpPr txBox="1"/>
          <p:nvPr/>
        </p:nvSpPr>
        <p:spPr>
          <a:xfrm>
            <a:off x="5358384" y="3106928"/>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623564"/>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623564"/>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733292"/>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truth test cannot tell an empty sequence from None, since both are false. When the difference matters, test for None separately with is.</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Indentation style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Four spaces, and one statement to a line</a:t>
            </a:r>
            <a:endParaRPr lang="en-US" sz="1300" dirty="0"/>
          </a:p>
        </p:txBody>
      </p:sp>
      <p:sp>
        <p:nvSpPr>
          <p:cNvPr id="6" name="Shape 4"/>
          <p:cNvSpPr/>
          <p:nvPr/>
        </p:nvSpPr>
        <p:spPr>
          <a:xfrm>
            <a:off x="411480" y="1152144"/>
            <a:ext cx="8321040" cy="905256"/>
          </a:xfrm>
          <a:prstGeom prst="roundRect">
            <a:avLst>
              <a:gd name="adj" fmla="val 10101"/>
            </a:avLst>
          </a:prstGeom>
          <a:solidFill>
            <a:srgbClr val="F1F4F8"/>
          </a:solidFill>
          <a:ln w="12700">
            <a:solidFill>
              <a:srgbClr val="F1F4F8"/>
            </a:solidFill>
            <a:prstDash val="solid"/>
          </a:ln>
        </p:spPr>
      </p:sp>
      <p:sp>
        <p:nvSpPr>
          <p:cNvPr id="7" name="Text 5"/>
          <p:cNvSpPr txBox="1"/>
          <p:nvPr/>
        </p:nvSpPr>
        <p:spPr>
          <a:xfrm>
            <a:off x="594360" y="1280160"/>
            <a:ext cx="7955280" cy="649224"/>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The style guide's rules about indentation are short: use four spaces per indentation level, prefer spaces to tabs, use tabs solely to remain consistent with code already indented with tabs, and remember that Python disallows mixing tabs and spaces for indentation (Van Rossum et al., 2001). Because Python reads indentation as structure, a consistent habit prevents a whole class of faults caused by lines that look aligned and are not. The guide also discourages putting a statement on the header line of a clause.</a:t>
            </a:r>
            <a:endParaRPr lang="en-US" sz="900" dirty="0"/>
          </a:p>
        </p:txBody>
      </p:sp>
      <p:sp>
        <p:nvSpPr>
          <p:cNvPr id="8" name="Shape 6"/>
          <p:cNvSpPr/>
          <p:nvPr/>
        </p:nvSpPr>
        <p:spPr>
          <a:xfrm>
            <a:off x="411480" y="2167128"/>
            <a:ext cx="4023360" cy="1662938"/>
          </a:xfrm>
          <a:prstGeom prst="roundRect">
            <a:avLst>
              <a:gd name="adj" fmla="val 5499"/>
            </a:avLst>
          </a:prstGeom>
          <a:solidFill>
            <a:srgbClr val="F1F4F8"/>
          </a:solidFill>
          <a:ln w="12700">
            <a:solidFill>
              <a:srgbClr val="F1F4F8"/>
            </a:solidFill>
            <a:prstDash val="solid"/>
          </a:ln>
        </p:spPr>
      </p:sp>
      <p:sp>
        <p:nvSpPr>
          <p:cNvPr id="9" name="Text 7"/>
          <p:cNvSpPr txBox="1"/>
          <p:nvPr/>
        </p:nvSpPr>
        <p:spPr>
          <a:xfrm>
            <a:off x="594360" y="2295144"/>
            <a:ext cx="3657600" cy="216916"/>
          </a:xfrm>
          <a:prstGeom prst="rect">
            <a:avLst/>
          </a:prstGeom>
          <a:noFill/>
          <a:ln/>
        </p:spPr>
        <p:txBody>
          <a:bodyPr wrap="square" lIns="0" tIns="0" rIns="0" bIns="0" rtlCol="0" anchor="ctr"/>
          <a:lstStyle/>
          <a:p>
            <a:pPr indent="0" marL="0">
              <a:buNone/>
            </a:pPr>
            <a:r>
              <a:rPr lang="en-US" sz="1400" b="1" dirty="0">
                <a:solidFill>
                  <a:srgbClr val="1A7F37"/>
                </a:solidFill>
                <a:latin typeface="Cambria" pitchFamily="34" charset="0"/>
                <a:ea typeface="Cambria" pitchFamily="34" charset="-122"/>
                <a:cs typeface="Cambria" pitchFamily="34" charset="-120"/>
              </a:rPr>
              <a:t>Correct</a:t>
            </a:r>
            <a:endParaRPr lang="en-US" sz="1400" dirty="0"/>
          </a:p>
        </p:txBody>
      </p:sp>
      <p:sp>
        <p:nvSpPr>
          <p:cNvPr id="10" name="Text 8"/>
          <p:cNvSpPr txBox="1"/>
          <p:nvPr/>
        </p:nvSpPr>
        <p:spPr>
          <a:xfrm>
            <a:off x="594360" y="2585212"/>
            <a:ext cx="3657600" cy="111683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if foo == 'blah':</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    do_blah_thing()</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four spaces for each level, spaces throughout</a:t>
            </a:r>
            <a:endParaRPr lang="en-US" sz="1300" dirty="0"/>
          </a:p>
        </p:txBody>
      </p:sp>
      <p:sp>
        <p:nvSpPr>
          <p:cNvPr id="11" name="Shape 9"/>
          <p:cNvSpPr/>
          <p:nvPr/>
        </p:nvSpPr>
        <p:spPr>
          <a:xfrm>
            <a:off x="4709160" y="2167128"/>
            <a:ext cx="4023360" cy="1662938"/>
          </a:xfrm>
          <a:prstGeom prst="roundRect">
            <a:avLst>
              <a:gd name="adj" fmla="val 5499"/>
            </a:avLst>
          </a:prstGeom>
          <a:solidFill>
            <a:srgbClr val="FFF1F0"/>
          </a:solidFill>
          <a:ln w="12700">
            <a:solidFill>
              <a:srgbClr val="FFD7D5"/>
            </a:solidFill>
            <a:prstDash val="solid"/>
          </a:ln>
        </p:spPr>
      </p:sp>
      <p:sp>
        <p:nvSpPr>
          <p:cNvPr id="12" name="Text 10"/>
          <p:cNvSpPr txBox="1"/>
          <p:nvPr/>
        </p:nvSpPr>
        <p:spPr>
          <a:xfrm>
            <a:off x="4892040" y="2295144"/>
            <a:ext cx="3657600" cy="216916"/>
          </a:xfrm>
          <a:prstGeom prst="rect">
            <a:avLst/>
          </a:prstGeom>
          <a:noFill/>
          <a:ln/>
        </p:spPr>
        <p:txBody>
          <a:bodyPr wrap="square" lIns="0" tIns="0" rIns="0" bIns="0" rtlCol="0" anchor="ctr"/>
          <a:lstStyle/>
          <a:p>
            <a:pPr indent="0" marL="0">
              <a:buNone/>
            </a:pPr>
            <a:r>
              <a:rPr lang="en-US" sz="1400" b="1" dirty="0">
                <a:solidFill>
                  <a:srgbClr val="FF7B72"/>
                </a:solidFill>
                <a:latin typeface="Cambria" pitchFamily="34" charset="0"/>
                <a:ea typeface="Cambria" pitchFamily="34" charset="-122"/>
                <a:cs typeface="Cambria" pitchFamily="34" charset="-120"/>
              </a:rPr>
              <a:t>Wrong</a:t>
            </a:r>
            <a:endParaRPr lang="en-US" sz="1400" dirty="0"/>
          </a:p>
        </p:txBody>
      </p:sp>
      <p:sp>
        <p:nvSpPr>
          <p:cNvPr id="13" name="Text 11"/>
          <p:cNvSpPr txBox="1"/>
          <p:nvPr/>
        </p:nvSpPr>
        <p:spPr>
          <a:xfrm>
            <a:off x="4892040" y="2585212"/>
            <a:ext cx="3657600" cy="111683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if foo == 'blah': do_blah_thing()</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tabs and spaces mixed in one file</a:t>
            </a:r>
            <a:endParaRPr lang="en-US" sz="1300" dirty="0"/>
          </a:p>
        </p:txBody>
      </p:sp>
      <p:sp>
        <p:nvSpPr>
          <p:cNvPr id="14" name="Shape 12"/>
          <p:cNvSpPr/>
          <p:nvPr/>
        </p:nvSpPr>
        <p:spPr>
          <a:xfrm>
            <a:off x="411480" y="3939794"/>
            <a:ext cx="8321040" cy="578612"/>
          </a:xfrm>
          <a:prstGeom prst="roundRect">
            <a:avLst>
              <a:gd name="adj" fmla="val 12643"/>
            </a:avLst>
          </a:prstGeom>
          <a:solidFill>
            <a:srgbClr val="FFF1F0"/>
          </a:solidFill>
          <a:ln w="12700">
            <a:solidFill>
              <a:srgbClr val="FFD7D5"/>
            </a:solidFill>
            <a:prstDash val="solid"/>
          </a:ln>
        </p:spPr>
      </p:sp>
      <p:sp>
        <p:nvSpPr>
          <p:cNvPr id="15" name="Shape 13"/>
          <p:cNvSpPr/>
          <p:nvPr/>
        </p:nvSpPr>
        <p:spPr>
          <a:xfrm>
            <a:off x="411480" y="3939794"/>
            <a:ext cx="64008" cy="578612"/>
          </a:xfrm>
          <a:prstGeom prst="rect">
            <a:avLst/>
          </a:prstGeom>
          <a:solidFill>
            <a:srgbClr val="FF7B72"/>
          </a:solidFill>
          <a:ln w="12700">
            <a:solidFill>
              <a:srgbClr val="FF7B72"/>
            </a:solidFill>
            <a:prstDash val="solid"/>
          </a:ln>
        </p:spPr>
      </p:sp>
      <p:sp>
        <p:nvSpPr>
          <p:cNvPr id="16" name="Text 14"/>
          <p:cNvSpPr txBox="1"/>
          <p:nvPr/>
        </p:nvSpPr>
        <p:spPr>
          <a:xfrm>
            <a:off x="612648" y="4049522"/>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Python accepts other amounts of indentation and only insists that they are used consistently, so a program that happens to run is not necessarily a program in good style.</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960120"/>
            <a:ext cx="1188720" cy="914400"/>
          </a:xfrm>
          <a:prstGeom prst="rect">
            <a:avLst/>
          </a:prstGeom>
          <a:noFill/>
          <a:ln/>
        </p:spPr>
        <p:txBody>
          <a:bodyPr wrap="square" lIns="0" tIns="0" rIns="0" bIns="0" rtlCol="0" anchor="ctr"/>
          <a:lstStyle/>
          <a:p>
            <a:pPr indent="0" marL="0">
              <a:buNone/>
            </a:pPr>
            <a:r>
              <a:rPr lang="en-US" sz="5400" b="1" dirty="0">
                <a:solidFill>
                  <a:srgbClr val="FFD43B"/>
                </a:solidFill>
                <a:latin typeface="Cambria" pitchFamily="34" charset="0"/>
                <a:ea typeface="Cambria" pitchFamily="34" charset="-122"/>
                <a:cs typeface="Cambria" pitchFamily="34" charset="-120"/>
              </a:rPr>
              <a:t>VI</a:t>
            </a:r>
            <a:endParaRPr lang="en-US" sz="5400" dirty="0"/>
          </a:p>
        </p:txBody>
      </p:sp>
      <p:sp>
        <p:nvSpPr>
          <p:cNvPr id="3" name="Text 1"/>
          <p:cNvSpPr txBox="1"/>
          <p:nvPr/>
        </p:nvSpPr>
        <p:spPr>
          <a:xfrm>
            <a:off x="1783080" y="1051560"/>
            <a:ext cx="6858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worked programs</a:t>
            </a:r>
            <a:endParaRPr lang="en-US" sz="3200" dirty="0"/>
          </a:p>
        </p:txBody>
      </p:sp>
      <p:sp>
        <p:nvSpPr>
          <p:cNvPr id="4" name="Text 2"/>
          <p:cNvSpPr txBox="1"/>
          <p:nvPr/>
        </p:nvSpPr>
        <p:spPr>
          <a:xfrm>
            <a:off x="548640" y="2148840"/>
            <a:ext cx="8046720" cy="788670"/>
          </a:xfrm>
          <a:prstGeom prst="rect">
            <a:avLst/>
          </a:prstGeom>
          <a:noFill/>
          <a:ln/>
        </p:spPr>
        <p:txBody>
          <a:bodyPr wrap="square" lIns="0" tIns="0" rIns="0" bIns="0" rtlCol="0" anchor="t"/>
          <a:lstStyle/>
          <a:p>
            <a:pPr indent="0" marL="0">
              <a:buNone/>
            </a:pPr>
            <a:r>
              <a:rPr lang="en-US" sz="1500" dirty="0">
                <a:solidFill>
                  <a:srgbClr val="C9D4E0"/>
                </a:solidFill>
                <a:latin typeface="Calibri" pitchFamily="34" charset="0"/>
                <a:ea typeface="Calibri" pitchFamily="34" charset="-122"/>
                <a:cs typeface="Calibri" pitchFamily="34" charset="-120"/>
              </a:rPr>
              <a:t>Two complete programs end the book chapter: Opposite Day, which sets and reverses a Boolean, and the Dishonest Capacity Calculator, which chooses a conversion factor from the unit the user types - and shows a typical fault when no branch runs.</a:t>
            </a:r>
            <a:endParaRPr lang="en-US" sz="1500" dirty="0"/>
          </a:p>
        </p:txBody>
      </p:sp>
      <p:sp>
        <p:nvSpPr>
          <p:cNvPr id="5" name="Text 3"/>
          <p:cNvSpPr txBox="1"/>
          <p:nvPr/>
        </p:nvSpPr>
        <p:spPr>
          <a:xfrm>
            <a:off x="548640" y="4133088"/>
            <a:ext cx="8046720" cy="402336"/>
          </a:xfrm>
          <a:prstGeom prst="rect">
            <a:avLst/>
          </a:prstGeom>
          <a:noFill/>
          <a:ln/>
        </p:spPr>
        <p:txBody>
          <a:bodyPr wrap="square" lIns="0" tIns="0" rIns="0" bIns="0" rtlCol="0" anchor="ctr"/>
          <a:lstStyle/>
          <a:p>
            <a:pPr indent="0" marL="0">
              <a:buNone/>
            </a:pPr>
            <a:r>
              <a:rPr lang="en-US" sz="1250" i="1" dirty="0">
                <a:solidFill>
                  <a:srgbClr val="FFD43B"/>
                </a:solidFill>
                <a:latin typeface="Calibri" pitchFamily="34" charset="0"/>
                <a:ea typeface="Calibri" pitchFamily="34" charset="-122"/>
                <a:cs typeface="Calibri" pitchFamily="34" charset="-120"/>
              </a:rPr>
              <a:t>Decision patterns</a:t>
            </a:r>
            <a:endParaRPr lang="en-US" sz="12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Decision patterns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Four ways of using a decision that recur in real programs</a:t>
            </a:r>
            <a:endParaRPr lang="en-US" sz="1300" dirty="0"/>
          </a:p>
        </p:txBody>
      </p:sp>
      <p:sp>
        <p:nvSpPr>
          <p:cNvPr id="6" name="Shape 4"/>
          <p:cNvSpPr/>
          <p:nvPr/>
        </p:nvSpPr>
        <p:spPr>
          <a:xfrm>
            <a:off x="4526280" y="1152144"/>
            <a:ext cx="4206240" cy="1502664"/>
          </a:xfrm>
          <a:prstGeom prst="roundRect">
            <a:avLst>
              <a:gd name="adj" fmla="val 6085"/>
            </a:avLst>
          </a:prstGeom>
          <a:solidFill>
            <a:srgbClr val="17202B"/>
          </a:solidFill>
          <a:ln w="12700">
            <a:solidFill>
              <a:srgbClr val="17202B"/>
            </a:solidFill>
            <a:prstDash val="solid"/>
          </a:ln>
        </p:spPr>
      </p:sp>
      <p:sp>
        <p:nvSpPr>
          <p:cNvPr id="7" name="Text 5"/>
          <p:cNvSpPr txBox="1"/>
          <p:nvPr/>
        </p:nvSpPr>
        <p:spPr>
          <a:xfrm>
            <a:off x="4727448" y="1252728"/>
            <a:ext cx="3803904" cy="1301496"/>
          </a:xfrm>
          <a:prstGeom prst="rect">
            <a:avLst/>
          </a:prstGeom>
          <a:noFill/>
          <a:ln/>
        </p:spPr>
        <p:txBody>
          <a:bodyPr wrap="square" lIns="0" tIns="0" rIns="0" bIns="0" rtlCol="0" anchor="t"/>
          <a:lstStyle/>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'tb' == 'TB' or 'tb' == 'tb'</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True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'Tb' == 'TB' or 'Tb' == 'tb'</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False</a:t>
            </a:r>
            <a:endParaRPr lang="en-US" sz="1400" dirty="0"/>
          </a:p>
          <a:p>
            <a:pPr indent="0" marL="0">
              <a:buNone/>
            </a:pPr>
            <a:r>
              <a:rPr lang="en-US" sz="1400" b="1" dirty="0">
                <a:solidFill>
                  <a:srgbClr val="FFD43B"/>
                </a:solidFill>
                <a:latin typeface="Courier New" pitchFamily="34" charset="0"/>
                <a:ea typeface="Courier New" pitchFamily="34" charset="-122"/>
                <a:cs typeface="Courier New" pitchFamily="34" charset="-120"/>
              </a:rPr>
              <a:t>&gt;&gt;&gt; </a:t>
            </a:r>
            <a:pPr indent="0" marL="0">
              <a:buNone/>
            </a:pPr>
            <a:r>
              <a:rPr lang="en-US" sz="1400" dirty="0">
                <a:solidFill>
                  <a:srgbClr val="E6EDF3"/>
                </a:solidFill>
                <a:latin typeface="Courier New" pitchFamily="34" charset="0"/>
                <a:ea typeface="Courier New" pitchFamily="34" charset="-122"/>
                <a:cs typeface="Courier New" pitchFamily="34" charset="-120"/>
              </a:rPr>
              <a:t>'GB' == 'TB' or 'tb'</a:t>
            </a:r>
            <a:endParaRPr lang="en-US" sz="1400" dirty="0"/>
          </a:p>
          <a:p>
            <a:pPr indent="0" marL="0">
              <a:buNone/>
            </a:pPr>
            <a:r>
              <a:rPr lang="en-US" sz="1400" dirty="0">
                <a:solidFill>
                  <a:srgbClr val="7EE787"/>
                </a:solidFill>
                <a:latin typeface="Courier New" pitchFamily="34" charset="0"/>
                <a:ea typeface="Courier New" pitchFamily="34" charset="-122"/>
                <a:cs typeface="Courier New" pitchFamily="34" charset="-120"/>
              </a:rPr>
              <a:t>'tb'</a:t>
            </a:r>
            <a:endParaRPr lang="en-US" sz="1400" dirty="0"/>
          </a:p>
        </p:txBody>
      </p:sp>
      <p:sp>
        <p:nvSpPr>
          <p:cNvPr id="8" name="Text 6"/>
          <p:cNvSpPr txBox="1"/>
          <p:nvPr/>
        </p:nvSpPr>
        <p:spPr>
          <a:xfrm>
            <a:off x="4526280" y="2673096"/>
            <a:ext cx="42062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3858768" cy="3167380"/>
          </a:xfrm>
          <a:prstGeom prst="roundRect">
            <a:avLst>
              <a:gd name="adj" fmla="val 2887"/>
            </a:avLst>
          </a:prstGeom>
          <a:solidFill>
            <a:srgbClr val="F1F4F8"/>
          </a:solidFill>
          <a:ln w="12700">
            <a:solidFill>
              <a:srgbClr val="F1F4F8"/>
            </a:solidFill>
            <a:prstDash val="solid"/>
          </a:ln>
        </p:spPr>
      </p:sp>
      <p:sp>
        <p:nvSpPr>
          <p:cNvPr id="10" name="Text 8"/>
          <p:cNvSpPr txBox="1"/>
          <p:nvPr/>
        </p:nvSpPr>
        <p:spPr>
          <a:xfrm>
            <a:off x="594360" y="1280160"/>
            <a:ext cx="3493008" cy="291134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decision pattern is a way of using the flow control statements that recurs in many programs. The two worked programs of the textbook contain four: the toggle, which reverses a Boolean variable; the case-insensitive test, which accepts several spellings of one answer; the unassigned name, which is a fault that appears when no branch runs; and the input guard, which is the cure for it. A programmer who has seen the toggle once recognises it everywhere, and one who has seen the unassigned name once checks every chain for a missing else clause.</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toggle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Setting a Boolean to its opposite</a:t>
            </a:r>
            <a:endParaRPr lang="en-US" sz="1300" dirty="0"/>
          </a:p>
        </p:txBody>
      </p:sp>
      <p:sp>
        <p:nvSpPr>
          <p:cNvPr id="6" name="Shape 4"/>
          <p:cNvSpPr/>
          <p:nvPr/>
        </p:nvSpPr>
        <p:spPr>
          <a:xfrm>
            <a:off x="411480" y="1152144"/>
            <a:ext cx="8321040" cy="967232"/>
          </a:xfrm>
          <a:prstGeom prst="roundRect">
            <a:avLst>
              <a:gd name="adj" fmla="val 9454"/>
            </a:avLst>
          </a:prstGeom>
          <a:solidFill>
            <a:srgbClr val="F1F4F8"/>
          </a:solidFill>
          <a:ln w="12700">
            <a:solidFill>
              <a:srgbClr val="F1F4F8"/>
            </a:solidFill>
            <a:prstDash val="solid"/>
          </a:ln>
        </p:spPr>
      </p:sp>
      <p:sp>
        <p:nvSpPr>
          <p:cNvPr id="7" name="Text 5"/>
          <p:cNvSpPr txBox="1"/>
          <p:nvPr/>
        </p:nvSpPr>
        <p:spPr>
          <a:xfrm>
            <a:off x="594360" y="1280160"/>
            <a:ext cx="7955280" cy="711200"/>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To toggle a Boolean variable is to set it to its opposite Boolean value (Sweigart, 2025). In Python the idiom assigns the negation of the variable to the variable itself. Many programs keep a switch that is on or off - a light, a mode, the player whose turn it is - and the toggle changes it without asking what its present state is, which makes the code shorter and removes a decision. The textbook uses the idiom in Opposite Day, where one line reverses the answer when today is Opposite Day.</a:t>
            </a:r>
            <a:endParaRPr lang="en-US" sz="1000" dirty="0"/>
          </a:p>
        </p:txBody>
      </p:sp>
      <p:sp>
        <p:nvSpPr>
          <p:cNvPr id="8" name="Shape 6"/>
          <p:cNvSpPr/>
          <p:nvPr/>
        </p:nvSpPr>
        <p:spPr>
          <a:xfrm>
            <a:off x="411480" y="2229104"/>
            <a:ext cx="4572000" cy="1394206"/>
          </a:xfrm>
          <a:prstGeom prst="roundRect">
            <a:avLst>
              <a:gd name="adj" fmla="val 6559"/>
            </a:avLst>
          </a:prstGeom>
          <a:solidFill>
            <a:srgbClr val="17202B"/>
          </a:solidFill>
          <a:ln w="12700">
            <a:solidFill>
              <a:srgbClr val="17202B"/>
            </a:solidFill>
            <a:prstDash val="solid"/>
          </a:ln>
        </p:spPr>
      </p:sp>
      <p:sp>
        <p:nvSpPr>
          <p:cNvPr id="9" name="Text 7"/>
          <p:cNvSpPr txBox="1"/>
          <p:nvPr/>
        </p:nvSpPr>
        <p:spPr>
          <a:xfrm>
            <a:off x="612648" y="2329688"/>
            <a:ext cx="4169664" cy="119303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today_is_opposite_day = True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if today_is_opposite_day == True: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say_it_is_opposite_day = True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else: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say_it_is_opposite_day = False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if today_is_opposite_day == True: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say_it_is_opposite_day = not say_it_is_opposite_day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if say_it_is_opposite_day == True: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print('Today is Opposite Day.')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else: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print('Today is not Opposite Day.')</a:t>
            </a:r>
            <a:endParaRPr lang="en-US" sz="700" dirty="0"/>
          </a:p>
        </p:txBody>
      </p:sp>
      <p:sp>
        <p:nvSpPr>
          <p:cNvPr id="10" name="Shape 8"/>
          <p:cNvSpPr/>
          <p:nvPr/>
        </p:nvSpPr>
        <p:spPr>
          <a:xfrm>
            <a:off x="5166360" y="2229104"/>
            <a:ext cx="3566160" cy="309626"/>
          </a:xfrm>
          <a:prstGeom prst="roundRect">
            <a:avLst>
              <a:gd name="adj" fmla="val 29532"/>
            </a:avLst>
          </a:prstGeom>
          <a:solidFill>
            <a:srgbClr val="0F1823"/>
          </a:solidFill>
          <a:ln w="12700">
            <a:solidFill>
              <a:srgbClr val="0F1823"/>
            </a:solidFill>
            <a:prstDash val="solid"/>
          </a:ln>
        </p:spPr>
      </p:sp>
      <p:sp>
        <p:nvSpPr>
          <p:cNvPr id="11" name="Text 9"/>
          <p:cNvSpPr txBox="1"/>
          <p:nvPr/>
        </p:nvSpPr>
        <p:spPr>
          <a:xfrm>
            <a:off x="5367528" y="2329688"/>
            <a:ext cx="3163824" cy="108458"/>
          </a:xfrm>
          <a:prstGeom prst="rect">
            <a:avLst/>
          </a:prstGeom>
          <a:noFill/>
          <a:ln/>
        </p:spPr>
        <p:txBody>
          <a:bodyPr wrap="square" lIns="0" tIns="0" rIns="0" bIns="0" rtlCol="0" anchor="t"/>
          <a:lstStyle/>
          <a:p>
            <a:pPr indent="0" marL="0">
              <a:buNone/>
            </a:pPr>
            <a:r>
              <a:rPr lang="en-US" sz="700" dirty="0">
                <a:solidFill>
                  <a:srgbClr val="7EE787"/>
                </a:solidFill>
                <a:latin typeface="Courier New" pitchFamily="34" charset="0"/>
                <a:ea typeface="Courier New" pitchFamily="34" charset="-122"/>
                <a:cs typeface="Courier New" pitchFamily="34" charset="-120"/>
              </a:rPr>
              <a:t>Today is not Opposite Day.</a:t>
            </a:r>
            <a:endParaRPr lang="en-US" sz="700" dirty="0"/>
          </a:p>
        </p:txBody>
      </p:sp>
      <p:sp>
        <p:nvSpPr>
          <p:cNvPr id="12" name="Text 10"/>
          <p:cNvSpPr txBox="1"/>
          <p:nvPr/>
        </p:nvSpPr>
        <p:spPr>
          <a:xfrm>
            <a:off x="411480" y="3641598"/>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oppositeday_v1_0_0.py, run under Python 3.14.4</a:t>
            </a:r>
            <a:endParaRPr lang="en-US" sz="900" dirty="0"/>
          </a:p>
        </p:txBody>
      </p:sp>
      <p:sp>
        <p:nvSpPr>
          <p:cNvPr id="13" name="Shape 11"/>
          <p:cNvSpPr/>
          <p:nvPr/>
        </p:nvSpPr>
        <p:spPr>
          <a:xfrm>
            <a:off x="411480" y="3970782"/>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3970782"/>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080510"/>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textbook points out that this program can never print Today is Opposite Day, whatever the first variable holds, and that the whole thing could be replaced by one print statement (Sweigart, 2025).</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case-insensitive test</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Accepting either spelling of an answer</a:t>
            </a:r>
            <a:endParaRPr lang="en-US" sz="1300" dirty="0"/>
          </a:p>
        </p:txBody>
      </p:sp>
      <p:sp>
        <p:nvSpPr>
          <p:cNvPr id="6" name="Shape 4"/>
          <p:cNvSpPr/>
          <p:nvPr/>
        </p:nvSpPr>
        <p:spPr>
          <a:xfrm>
            <a:off x="411480" y="1152144"/>
            <a:ext cx="8321040" cy="1199642"/>
          </a:xfrm>
          <a:prstGeom prst="roundRect">
            <a:avLst>
              <a:gd name="adj" fmla="val 7622"/>
            </a:avLst>
          </a:prstGeom>
          <a:solidFill>
            <a:srgbClr val="F1F4F8"/>
          </a:solidFill>
          <a:ln w="12700">
            <a:solidFill>
              <a:srgbClr val="F1F4F8"/>
            </a:solidFill>
            <a:prstDash val="solid"/>
          </a:ln>
        </p:spPr>
      </p:sp>
      <p:sp>
        <p:nvSpPr>
          <p:cNvPr id="7" name="Text 5"/>
          <p:cNvSpPr txBox="1"/>
          <p:nvPr/>
        </p:nvSpPr>
        <p:spPr>
          <a:xfrm>
            <a:off x="594360" y="1280160"/>
            <a:ext cx="7955280" cy="94361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case-insensitive test is a condition that accepts an answer whether it is typed in uppercase or in lowercase. The textbook builds it from the operator or, so that the Dishonest Capacity Calculator works no matter whether the user enters the unit in lowercase or uppercase (Sweigart, 2025). Users type the same answer in different ways, and a program that accepts only one of them seems broken to everyone else; a test that covers both spellings costs one more comparison and saves the user an error message. Each side of the or must be a complete comparison.</a:t>
            </a:r>
            <a:endParaRPr lang="en-US" sz="1100" dirty="0"/>
          </a:p>
        </p:txBody>
      </p:sp>
      <p:sp>
        <p:nvSpPr>
          <p:cNvPr id="8" name="Shape 6"/>
          <p:cNvSpPr/>
          <p:nvPr/>
        </p:nvSpPr>
        <p:spPr>
          <a:xfrm>
            <a:off x="411480" y="2461514"/>
            <a:ext cx="4572000" cy="1068832"/>
          </a:xfrm>
          <a:prstGeom prst="roundRect">
            <a:avLst>
              <a:gd name="adj" fmla="val 8555"/>
            </a:avLst>
          </a:prstGeom>
          <a:solidFill>
            <a:srgbClr val="17202B"/>
          </a:solidFill>
          <a:ln w="12700">
            <a:solidFill>
              <a:srgbClr val="17202B"/>
            </a:solidFill>
            <a:prstDash val="solid"/>
          </a:ln>
        </p:spPr>
      </p:sp>
      <p:sp>
        <p:nvSpPr>
          <p:cNvPr id="9" name="Text 7"/>
          <p:cNvSpPr txBox="1"/>
          <p:nvPr/>
        </p:nvSpPr>
        <p:spPr>
          <a:xfrm>
            <a:off x="612648" y="2562098"/>
            <a:ext cx="4169664" cy="86766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advertised = 10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unit = 'TB'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if unit == 'TB' or unit == 'tb':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discrepancy = 1000000000000 / 1099511627776</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elif unit == 'GB' or unit == 'gb':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discrepancy = 1000000000 / 1073741824</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real_capacity = advertised * discrepancy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print('Real capacity: ' + str(round(real_capacity, 2)) + ' ' + unit)</a:t>
            </a:r>
            <a:endParaRPr lang="en-US" sz="700" dirty="0"/>
          </a:p>
        </p:txBody>
      </p:sp>
      <p:sp>
        <p:nvSpPr>
          <p:cNvPr id="10" name="Shape 8"/>
          <p:cNvSpPr/>
          <p:nvPr/>
        </p:nvSpPr>
        <p:spPr>
          <a:xfrm>
            <a:off x="5166360" y="2461514"/>
            <a:ext cx="3566160" cy="309626"/>
          </a:xfrm>
          <a:prstGeom prst="roundRect">
            <a:avLst>
              <a:gd name="adj" fmla="val 29532"/>
            </a:avLst>
          </a:prstGeom>
          <a:solidFill>
            <a:srgbClr val="0F1823"/>
          </a:solidFill>
          <a:ln w="12700">
            <a:solidFill>
              <a:srgbClr val="0F1823"/>
            </a:solidFill>
            <a:prstDash val="solid"/>
          </a:ln>
        </p:spPr>
      </p:sp>
      <p:sp>
        <p:nvSpPr>
          <p:cNvPr id="11" name="Text 9"/>
          <p:cNvSpPr txBox="1"/>
          <p:nvPr/>
        </p:nvSpPr>
        <p:spPr>
          <a:xfrm>
            <a:off x="5367528" y="2562098"/>
            <a:ext cx="3163824" cy="108458"/>
          </a:xfrm>
          <a:prstGeom prst="rect">
            <a:avLst/>
          </a:prstGeom>
          <a:noFill/>
          <a:ln/>
        </p:spPr>
        <p:txBody>
          <a:bodyPr wrap="square" lIns="0" tIns="0" rIns="0" bIns="0" rtlCol="0" anchor="t"/>
          <a:lstStyle/>
          <a:p>
            <a:pPr indent="0" marL="0">
              <a:buNone/>
            </a:pPr>
            <a:r>
              <a:rPr lang="en-US" sz="700" dirty="0">
                <a:solidFill>
                  <a:srgbClr val="7EE787"/>
                </a:solidFill>
                <a:latin typeface="Courier New" pitchFamily="34" charset="0"/>
                <a:ea typeface="Courier New" pitchFamily="34" charset="-122"/>
                <a:cs typeface="Courier New" pitchFamily="34" charset="-120"/>
              </a:rPr>
              <a:t>Real capacity: 9.09 TB</a:t>
            </a:r>
            <a:endParaRPr lang="en-US" sz="700" dirty="0"/>
          </a:p>
        </p:txBody>
      </p:sp>
      <p:sp>
        <p:nvSpPr>
          <p:cNvPr id="12" name="Text 10"/>
          <p:cNvSpPr txBox="1"/>
          <p:nvPr/>
        </p:nvSpPr>
        <p:spPr>
          <a:xfrm>
            <a:off x="411480" y="3548634"/>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capacity_v1_0_0.py, run under Python 3.14.4</a:t>
            </a:r>
            <a:endParaRPr lang="en-US" sz="900" dirty="0"/>
          </a:p>
        </p:txBody>
      </p:sp>
      <p:sp>
        <p:nvSpPr>
          <p:cNvPr id="13" name="Shape 11"/>
          <p:cNvSpPr/>
          <p:nvPr/>
        </p:nvSpPr>
        <p:spPr>
          <a:xfrm>
            <a:off x="411480" y="3877818"/>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3877818"/>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3987546"/>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test lists the accepted spellings and no others: a user who types a mixed spelling matches neither comparison and no branch runs, which is the fault the next slide is about.</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unassigned name</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variable that no branch ever created</a:t>
            </a:r>
            <a:endParaRPr lang="en-US" sz="1300" dirty="0"/>
          </a:p>
        </p:txBody>
      </p:sp>
      <p:sp>
        <p:nvSpPr>
          <p:cNvPr id="6" name="Shape 4"/>
          <p:cNvSpPr/>
          <p:nvPr/>
        </p:nvSpPr>
        <p:spPr>
          <a:xfrm>
            <a:off x="411480" y="1152144"/>
            <a:ext cx="8321040" cy="1044702"/>
          </a:xfrm>
          <a:prstGeom prst="roundRect">
            <a:avLst>
              <a:gd name="adj" fmla="val 8753"/>
            </a:avLst>
          </a:prstGeom>
          <a:solidFill>
            <a:srgbClr val="F1F4F8"/>
          </a:solidFill>
          <a:ln w="12700">
            <a:solidFill>
              <a:srgbClr val="F1F4F8"/>
            </a:solidFill>
            <a:prstDash val="solid"/>
          </a:ln>
        </p:spPr>
      </p:sp>
      <p:sp>
        <p:nvSpPr>
          <p:cNvPr id="7" name="Text 5"/>
          <p:cNvSpPr txBox="1"/>
          <p:nvPr/>
        </p:nvSpPr>
        <p:spPr>
          <a:xfrm>
            <a:off x="594360" y="1280160"/>
            <a:ext cx="7955280" cy="788670"/>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An unassigned name is a variable the program uses without any assignment to it having been executed. In the Dishonest Capacity Calculator the variable holding the factor is assigned inside the if clause and the elif clause only; if the user enters a unit that is neither of the two, neither clause runs and the variable is never created (Sweigart, 2025). The fault is typical of decisions without an alternative: the program does not fail at the decision, where the cause lies, but later at the line that uses the variable, and by then the connection is hard to see.</a:t>
            </a:r>
            <a:endParaRPr lang="en-US" sz="900" dirty="0"/>
          </a:p>
        </p:txBody>
      </p:sp>
      <p:sp>
        <p:nvSpPr>
          <p:cNvPr id="8" name="Shape 6"/>
          <p:cNvSpPr/>
          <p:nvPr/>
        </p:nvSpPr>
        <p:spPr>
          <a:xfrm>
            <a:off x="411480" y="2306574"/>
            <a:ext cx="4572000" cy="1316736"/>
          </a:xfrm>
          <a:prstGeom prst="roundRect">
            <a:avLst>
              <a:gd name="adj" fmla="val 6944"/>
            </a:avLst>
          </a:prstGeom>
          <a:solidFill>
            <a:srgbClr val="17202B"/>
          </a:solidFill>
          <a:ln w="12700">
            <a:solidFill>
              <a:srgbClr val="17202B"/>
            </a:solidFill>
            <a:prstDash val="solid"/>
          </a:ln>
        </p:spPr>
      </p:sp>
      <p:sp>
        <p:nvSpPr>
          <p:cNvPr id="9" name="Text 7"/>
          <p:cNvSpPr txBox="1"/>
          <p:nvPr/>
        </p:nvSpPr>
        <p:spPr>
          <a:xfrm>
            <a:off x="612648" y="2407158"/>
            <a:ext cx="4169664" cy="1115568"/>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advertised = 10</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unit = 'KB'</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if unit == 'TB' or unit == 'tb':</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discrepancy = 1000000000000 / 1099511627776</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elif unit == 'GB' or unit == 'gb':</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discrepancy = 1000000000 / 1073741824</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real_capacity = advertised * discrepancy</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print(real_capacity)</a:t>
            </a:r>
            <a:endParaRPr lang="en-US" sz="900" dirty="0"/>
          </a:p>
        </p:txBody>
      </p:sp>
      <p:sp>
        <p:nvSpPr>
          <p:cNvPr id="10" name="Shape 8"/>
          <p:cNvSpPr/>
          <p:nvPr/>
        </p:nvSpPr>
        <p:spPr>
          <a:xfrm>
            <a:off x="5166360" y="2306574"/>
            <a:ext cx="3566160" cy="480060"/>
          </a:xfrm>
          <a:prstGeom prst="roundRect">
            <a:avLst>
              <a:gd name="adj" fmla="val 19048"/>
            </a:avLst>
          </a:prstGeom>
          <a:solidFill>
            <a:srgbClr val="0F1823"/>
          </a:solidFill>
          <a:ln w="12700">
            <a:solidFill>
              <a:srgbClr val="0F1823"/>
            </a:solidFill>
            <a:prstDash val="solid"/>
          </a:ln>
        </p:spPr>
      </p:sp>
      <p:sp>
        <p:nvSpPr>
          <p:cNvPr id="11" name="Text 9"/>
          <p:cNvSpPr txBox="1"/>
          <p:nvPr/>
        </p:nvSpPr>
        <p:spPr>
          <a:xfrm>
            <a:off x="5367528" y="2407158"/>
            <a:ext cx="3163824" cy="278892"/>
          </a:xfrm>
          <a:prstGeom prst="rect">
            <a:avLst/>
          </a:prstGeom>
          <a:noFill/>
          <a:ln/>
        </p:spPr>
        <p:txBody>
          <a:bodyPr wrap="square" lIns="0" tIns="0" rIns="0" bIns="0" rtlCol="0" anchor="t"/>
          <a:lstStyle/>
          <a:p>
            <a:pPr indent="0" marL="0">
              <a:buNone/>
            </a:pPr>
            <a:r>
              <a:rPr lang="en-US" sz="900" dirty="0">
                <a:solidFill>
                  <a:srgbClr val="7EE787"/>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FF7B72"/>
                </a:solidFill>
                <a:latin typeface="Courier New" pitchFamily="34" charset="0"/>
                <a:ea typeface="Courier New" pitchFamily="34" charset="-122"/>
                <a:cs typeface="Courier New" pitchFamily="34" charset="-120"/>
              </a:rPr>
              <a:t>NameError: name 'discrepancy' is not defined</a:t>
            </a:r>
            <a:endParaRPr lang="en-US" sz="900" dirty="0"/>
          </a:p>
        </p:txBody>
      </p:sp>
      <p:sp>
        <p:nvSpPr>
          <p:cNvPr id="12" name="Text 10"/>
          <p:cNvSpPr txBox="1"/>
          <p:nvPr/>
        </p:nvSpPr>
        <p:spPr>
          <a:xfrm>
            <a:off x="411480" y="3641598"/>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capacity_bug_v1_0_0.py, run under Python 3.14.4; its error output in red</a:t>
            </a:r>
            <a:endParaRPr lang="en-US" sz="900" dirty="0"/>
          </a:p>
        </p:txBody>
      </p:sp>
      <p:sp>
        <p:nvSpPr>
          <p:cNvPr id="13" name="Shape 11"/>
          <p:cNvSpPr/>
          <p:nvPr/>
        </p:nvSpPr>
        <p:spPr>
          <a:xfrm>
            <a:off x="411480" y="3970782"/>
            <a:ext cx="8321040" cy="749046"/>
          </a:xfrm>
          <a:prstGeom prst="roundRect">
            <a:avLst>
              <a:gd name="adj" fmla="val 9766"/>
            </a:avLst>
          </a:prstGeom>
          <a:solidFill>
            <a:srgbClr val="FFF1F0"/>
          </a:solidFill>
          <a:ln w="12700">
            <a:solidFill>
              <a:srgbClr val="FFD7D5"/>
            </a:solidFill>
            <a:prstDash val="solid"/>
          </a:ln>
        </p:spPr>
      </p:sp>
      <p:sp>
        <p:nvSpPr>
          <p:cNvPr id="14" name="Shape 12"/>
          <p:cNvSpPr/>
          <p:nvPr/>
        </p:nvSpPr>
        <p:spPr>
          <a:xfrm>
            <a:off x="411480" y="3970782"/>
            <a:ext cx="64008" cy="749046"/>
          </a:xfrm>
          <a:prstGeom prst="rect">
            <a:avLst/>
          </a:prstGeom>
          <a:solidFill>
            <a:srgbClr val="FF7B72"/>
          </a:solidFill>
          <a:ln w="12700">
            <a:solidFill>
              <a:srgbClr val="FF7B72"/>
            </a:solidFill>
            <a:prstDash val="solid"/>
          </a:ln>
        </p:spPr>
      </p:sp>
      <p:sp>
        <p:nvSpPr>
          <p:cNvPr id="15" name="Text 13"/>
          <p:cNvSpPr txBox="1"/>
          <p:nvPr/>
        </p:nvSpPr>
        <p:spPr>
          <a:xfrm>
            <a:off x="612648" y="4080510"/>
            <a:ext cx="7918704"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error is reported where the name is used, not where it should have been assigned. When a name is missing because a branch did not run, the cause is in the logic and the repair is a new branch or a first value.</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input guard</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 else clause that refuses what no branch accepts</a:t>
            </a:r>
            <a:endParaRPr lang="en-US" sz="1300" dirty="0"/>
          </a:p>
        </p:txBody>
      </p:sp>
      <p:sp>
        <p:nvSpPr>
          <p:cNvPr id="6" name="Shape 4"/>
          <p:cNvSpPr/>
          <p:nvPr/>
        </p:nvSpPr>
        <p:spPr>
          <a:xfrm>
            <a:off x="411480" y="1152144"/>
            <a:ext cx="8321040" cy="905256"/>
          </a:xfrm>
          <a:prstGeom prst="roundRect">
            <a:avLst>
              <a:gd name="adj" fmla="val 10101"/>
            </a:avLst>
          </a:prstGeom>
          <a:solidFill>
            <a:srgbClr val="F1F4F8"/>
          </a:solidFill>
          <a:ln w="12700">
            <a:solidFill>
              <a:srgbClr val="F1F4F8"/>
            </a:solidFill>
            <a:prstDash val="solid"/>
          </a:ln>
        </p:spPr>
      </p:sp>
      <p:sp>
        <p:nvSpPr>
          <p:cNvPr id="7" name="Text 5"/>
          <p:cNvSpPr txBox="1"/>
          <p:nvPr/>
        </p:nvSpPr>
        <p:spPr>
          <a:xfrm>
            <a:off x="594360" y="1280160"/>
            <a:ext cx="7955280" cy="649224"/>
          </a:xfrm>
          <a:prstGeom prst="rect">
            <a:avLst/>
          </a:prstGeom>
          <a:noFill/>
          <a:ln/>
        </p:spPr>
        <p:txBody>
          <a:bodyPr wrap="square" lIns="0" tIns="0" rIns="0" bIns="0" rtlCol="0" anchor="t"/>
          <a:lstStyle/>
          <a:p>
            <a:pPr indent="0" marL="0">
              <a:buNone/>
            </a:pPr>
            <a:r>
              <a:rPr lang="en-US" sz="900" dirty="0">
                <a:solidFill>
                  <a:srgbClr val="1F2933"/>
                </a:solidFill>
                <a:latin typeface="Calibri" pitchFamily="34" charset="0"/>
                <a:ea typeface="Calibri" pitchFamily="34" charset="-122"/>
                <a:cs typeface="Calibri" pitchFamily="34" charset="-120"/>
              </a:rPr>
              <a:t>An input guard is a branch that deals with input none of the expected cases accept. The textbook identifies the true origin of the unassigned variable as the fact that the program does not handle an invalid unit, and says the simplest remedy is an else clause that displays a message and then calls sys.exit() to quit the program (Sweigart, 2025). The documentation says that sys.exit raises a SystemExit exception; given a string, it prints that string to the error output and the exit status is 1, which it calls a quick way to exit when an error occurs.</a:t>
            </a:r>
            <a:endParaRPr lang="en-US" sz="900" dirty="0"/>
          </a:p>
        </p:txBody>
      </p:sp>
      <p:sp>
        <p:nvSpPr>
          <p:cNvPr id="8" name="Shape 6"/>
          <p:cNvSpPr/>
          <p:nvPr/>
        </p:nvSpPr>
        <p:spPr>
          <a:xfrm>
            <a:off x="411480" y="2167128"/>
            <a:ext cx="4572000" cy="1440688"/>
          </a:xfrm>
          <a:prstGeom prst="roundRect">
            <a:avLst>
              <a:gd name="adj" fmla="val 6347"/>
            </a:avLst>
          </a:prstGeom>
          <a:solidFill>
            <a:srgbClr val="17202B"/>
          </a:solidFill>
          <a:ln w="12700">
            <a:solidFill>
              <a:srgbClr val="17202B"/>
            </a:solidFill>
            <a:prstDash val="solid"/>
          </a:ln>
        </p:spPr>
      </p:sp>
      <p:sp>
        <p:nvSpPr>
          <p:cNvPr id="9" name="Text 7"/>
          <p:cNvSpPr txBox="1"/>
          <p:nvPr/>
        </p:nvSpPr>
        <p:spPr>
          <a:xfrm>
            <a:off x="612648" y="2267712"/>
            <a:ext cx="4169664" cy="1239520"/>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import sys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advertised = 10</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unit = 'KB'</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if unit == 'TB' or unit == 'tb':</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discrepancy = 1000000000000 / 1099511627776</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elif unit == 'GB' or unit == 'gb':</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discrepancy = 1000000000 / 1073741824</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else: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sys.exit('You must enter TB or GB')</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print(advertised * discrepancy)</a:t>
            </a:r>
            <a:endParaRPr lang="en-US" sz="800" dirty="0"/>
          </a:p>
        </p:txBody>
      </p:sp>
      <p:sp>
        <p:nvSpPr>
          <p:cNvPr id="10" name="Shape 8"/>
          <p:cNvSpPr/>
          <p:nvPr/>
        </p:nvSpPr>
        <p:spPr>
          <a:xfrm>
            <a:off x="5166360" y="2167128"/>
            <a:ext cx="3566160" cy="449072"/>
          </a:xfrm>
          <a:prstGeom prst="roundRect">
            <a:avLst>
              <a:gd name="adj" fmla="val 20362"/>
            </a:avLst>
          </a:prstGeom>
          <a:solidFill>
            <a:srgbClr val="0F1823"/>
          </a:solidFill>
          <a:ln w="12700">
            <a:solidFill>
              <a:srgbClr val="0F1823"/>
            </a:solidFill>
            <a:prstDash val="solid"/>
          </a:ln>
        </p:spPr>
      </p:sp>
      <p:sp>
        <p:nvSpPr>
          <p:cNvPr id="11" name="Text 9"/>
          <p:cNvSpPr txBox="1"/>
          <p:nvPr/>
        </p:nvSpPr>
        <p:spPr>
          <a:xfrm>
            <a:off x="5367528" y="2267712"/>
            <a:ext cx="3163824" cy="247904"/>
          </a:xfrm>
          <a:prstGeom prst="rect">
            <a:avLst/>
          </a:prstGeom>
          <a:noFill/>
          <a:ln/>
        </p:spPr>
        <p:txBody>
          <a:bodyPr wrap="square" lIns="0" tIns="0" rIns="0" bIns="0" rtlCol="0" anchor="t"/>
          <a:lstStyle/>
          <a:p>
            <a:pPr indent="0" marL="0">
              <a:buNone/>
            </a:pPr>
            <a:r>
              <a:rPr lang="en-US" sz="800" dirty="0">
                <a:solidFill>
                  <a:srgbClr val="7EE787"/>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You must enter TB or GB</a:t>
            </a:r>
            <a:endParaRPr lang="en-US" sz="800" dirty="0"/>
          </a:p>
        </p:txBody>
      </p:sp>
      <p:sp>
        <p:nvSpPr>
          <p:cNvPr id="12" name="Text 10"/>
          <p:cNvSpPr txBox="1"/>
          <p:nvPr/>
        </p:nvSpPr>
        <p:spPr>
          <a:xfrm>
            <a:off x="411480" y="3626104"/>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capacity_guard_v1_0_0.py, run under Python 3.14.4; its error output in red</a:t>
            </a:r>
            <a:endParaRPr lang="en-US" sz="900" dirty="0"/>
          </a:p>
        </p:txBody>
      </p:sp>
      <p:sp>
        <p:nvSpPr>
          <p:cNvPr id="13" name="Shape 11"/>
          <p:cNvSpPr/>
          <p:nvPr/>
        </p:nvSpPr>
        <p:spPr>
          <a:xfrm>
            <a:off x="411480" y="3955288"/>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3955288"/>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4065016"/>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guard must come last, because else takes everything that is left. It also does not replace checking the number the user types, and thinking of the cases a program must handle is the real work.</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960120"/>
            <a:ext cx="1188720" cy="914400"/>
          </a:xfrm>
          <a:prstGeom prst="rect">
            <a:avLst/>
          </a:prstGeom>
          <a:noFill/>
          <a:ln/>
        </p:spPr>
        <p:txBody>
          <a:bodyPr wrap="square" lIns="0" tIns="0" rIns="0" bIns="0" rtlCol="0" anchor="ctr"/>
          <a:lstStyle/>
          <a:p>
            <a:pPr indent="0" marL="0">
              <a:buNone/>
            </a:pPr>
            <a:r>
              <a:rPr lang="en-US" sz="5400" b="1" dirty="0">
                <a:solidFill>
                  <a:srgbClr val="FFD43B"/>
                </a:solidFill>
                <a:latin typeface="Cambria" pitchFamily="34" charset="0"/>
                <a:ea typeface="Cambria" pitchFamily="34" charset="-122"/>
                <a:cs typeface="Cambria" pitchFamily="34" charset="-120"/>
              </a:rPr>
              <a:t>VII</a:t>
            </a:r>
            <a:endParaRPr lang="en-US" sz="5400" dirty="0"/>
          </a:p>
        </p:txBody>
      </p:sp>
      <p:sp>
        <p:nvSpPr>
          <p:cNvPr id="3" name="Text 1"/>
          <p:cNvSpPr txBox="1"/>
          <p:nvPr/>
        </p:nvSpPr>
        <p:spPr>
          <a:xfrm>
            <a:off x="1783080" y="1051560"/>
            <a:ext cx="68580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Reading an error report</a:t>
            </a:r>
            <a:endParaRPr lang="en-US" sz="3200" dirty="0"/>
          </a:p>
        </p:txBody>
      </p:sp>
      <p:sp>
        <p:nvSpPr>
          <p:cNvPr id="4" name="Text 2"/>
          <p:cNvSpPr txBox="1"/>
          <p:nvPr/>
        </p:nvSpPr>
        <p:spPr>
          <a:xfrm>
            <a:off x="548640" y="2148840"/>
            <a:ext cx="8046720" cy="788670"/>
          </a:xfrm>
          <a:prstGeom prst="rect">
            <a:avLst/>
          </a:prstGeom>
          <a:noFill/>
          <a:ln/>
        </p:spPr>
        <p:txBody>
          <a:bodyPr wrap="square" lIns="0" tIns="0" rIns="0" bIns="0" rtlCol="0" anchor="t"/>
          <a:lstStyle/>
          <a:p>
            <a:pPr indent="0" marL="0">
              <a:buNone/>
            </a:pPr>
            <a:r>
              <a:rPr lang="en-US" sz="1500" dirty="0">
                <a:solidFill>
                  <a:srgbClr val="C9D4E0"/>
                </a:solidFill>
                <a:latin typeface="Calibri" pitchFamily="34" charset="0"/>
                <a:ea typeface="Calibri" pitchFamily="34" charset="-122"/>
                <a:cs typeface="Calibri" pitchFamily="34" charset="-120"/>
              </a:rPr>
              <a:t>An error report names the kind of error and gives a message, and for an error that happens while a program runs it also shows the lines through which execution arrived. The chapter meets four kinds of error, and the report that carries them.</a:t>
            </a:r>
            <a:endParaRPr lang="en-US" sz="1500" dirty="0"/>
          </a:p>
        </p:txBody>
      </p:sp>
      <p:sp>
        <p:nvSpPr>
          <p:cNvPr id="5" name="Text 3"/>
          <p:cNvSpPr txBox="1"/>
          <p:nvPr/>
        </p:nvSpPr>
        <p:spPr>
          <a:xfrm>
            <a:off x="548640" y="4133088"/>
            <a:ext cx="8046720" cy="402336"/>
          </a:xfrm>
          <a:prstGeom prst="rect">
            <a:avLst/>
          </a:prstGeom>
          <a:noFill/>
          <a:ln/>
        </p:spPr>
        <p:txBody>
          <a:bodyPr wrap="square" lIns="0" tIns="0" rIns="0" bIns="0" rtlCol="0" anchor="ctr"/>
          <a:lstStyle/>
          <a:p>
            <a:pPr indent="0" marL="0">
              <a:buNone/>
            </a:pPr>
            <a:r>
              <a:rPr lang="en-US" sz="1250" i="1" dirty="0">
                <a:solidFill>
                  <a:srgbClr val="FFD43B"/>
                </a:solidFill>
                <a:latin typeface="Calibri" pitchFamily="34" charset="0"/>
                <a:ea typeface="Calibri" pitchFamily="34" charset="-122"/>
                <a:cs typeface="Calibri" pitchFamily="34" charset="-120"/>
              </a:rPr>
              <a:t>The kinds of error</a:t>
            </a:r>
            <a:endParaRPr lang="en-US" sz="12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kinds of error</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Four kinds, and the report that carries them</a:t>
            </a:r>
            <a:endParaRPr lang="en-US" sz="1300" dirty="0"/>
          </a:p>
        </p:txBody>
      </p:sp>
      <p:sp>
        <p:nvSpPr>
          <p:cNvPr id="6" name="Shape 4"/>
          <p:cNvSpPr/>
          <p:nvPr/>
        </p:nvSpPr>
        <p:spPr>
          <a:xfrm>
            <a:off x="3794760" y="1152144"/>
            <a:ext cx="4937760" cy="1130808"/>
          </a:xfrm>
          <a:prstGeom prst="roundRect">
            <a:avLst>
              <a:gd name="adj" fmla="val 8086"/>
            </a:avLst>
          </a:prstGeom>
          <a:solidFill>
            <a:srgbClr val="17202B"/>
          </a:solidFill>
          <a:ln w="12700">
            <a:solidFill>
              <a:srgbClr val="17202B"/>
            </a:solidFill>
            <a:prstDash val="solid"/>
          </a:ln>
        </p:spPr>
      </p:sp>
      <p:sp>
        <p:nvSpPr>
          <p:cNvPr id="7" name="Text 5"/>
          <p:cNvSpPr txBox="1"/>
          <p:nvPr/>
        </p:nvSpPr>
        <p:spPr>
          <a:xfrm>
            <a:off x="3995928" y="1252728"/>
            <a:ext cx="4535424" cy="929640"/>
          </a:xfrm>
          <a:prstGeom prst="rect">
            <a:avLst/>
          </a:prstGeom>
          <a:noFill/>
          <a:ln/>
        </p:spPr>
        <p:txBody>
          <a:bodyPr wrap="square" lIns="0" tIns="0" rIns="0" bIns="0" rtlCol="0" anchor="t"/>
          <a:lstStyle/>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if True</a:t>
            </a:r>
            <a:endParaRPr lang="en-US" sz="1000" dirty="0"/>
          </a:p>
          <a:p>
            <a:pPr indent="0" marL="0">
              <a:buNone/>
            </a:pPr>
            <a:r>
              <a:rPr lang="en-US" sz="1000" dirty="0">
                <a:solidFill>
                  <a:srgbClr val="FF7B72"/>
                </a:solidFill>
                <a:latin typeface="Courier New" pitchFamily="34" charset="0"/>
                <a:ea typeface="Courier New" pitchFamily="34" charset="-122"/>
                <a:cs typeface="Courier New" pitchFamily="34" charset="-120"/>
              </a:rPr>
              <a:t>SyntaxError: expected ':' (&lt;string&gt;, line 1)</a:t>
            </a:r>
            <a:endParaRPr lang="en-US" sz="1000" dirty="0"/>
          </a:p>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if = 3</a:t>
            </a:r>
            <a:endParaRPr lang="en-US" sz="1000" dirty="0"/>
          </a:p>
          <a:p>
            <a:pPr indent="0" marL="0">
              <a:buNone/>
            </a:pPr>
            <a:r>
              <a:rPr lang="en-US" sz="1000" dirty="0">
                <a:solidFill>
                  <a:srgbClr val="FF7B72"/>
                </a:solidFill>
                <a:latin typeface="Courier New" pitchFamily="34" charset="0"/>
                <a:ea typeface="Courier New" pitchFamily="34" charset="-122"/>
                <a:cs typeface="Courier New" pitchFamily="34" charset="-120"/>
              </a:rPr>
              <a:t>SyntaxError: invalid syntax (&lt;string&gt;, line 1)</a:t>
            </a:r>
            <a:endParaRPr lang="en-US" sz="1000" dirty="0"/>
          </a:p>
          <a:p>
            <a:pPr indent="0" marL="0">
              <a:buNone/>
            </a:pPr>
            <a:r>
              <a:rPr lang="en-US" sz="1000" b="1" dirty="0">
                <a:solidFill>
                  <a:srgbClr val="FFD43B"/>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False = 2 + 2</a:t>
            </a:r>
            <a:endParaRPr lang="en-US" sz="1000" dirty="0"/>
          </a:p>
          <a:p>
            <a:pPr indent="0" marL="0">
              <a:buNone/>
            </a:pPr>
            <a:r>
              <a:rPr lang="en-US" sz="1000" dirty="0">
                <a:solidFill>
                  <a:srgbClr val="FF7B72"/>
                </a:solidFill>
                <a:latin typeface="Courier New" pitchFamily="34" charset="0"/>
                <a:ea typeface="Courier New" pitchFamily="34" charset="-122"/>
                <a:cs typeface="Courier New" pitchFamily="34" charset="-120"/>
              </a:rPr>
              <a:t>SyntaxError: cannot assign to False (&lt;string&gt;, line 1)</a:t>
            </a:r>
            <a:endParaRPr lang="en-US" sz="1000" dirty="0"/>
          </a:p>
        </p:txBody>
      </p:sp>
      <p:sp>
        <p:nvSpPr>
          <p:cNvPr id="8" name="Text 6"/>
          <p:cNvSpPr txBox="1"/>
          <p:nvPr/>
        </p:nvSpPr>
        <p:spPr>
          <a:xfrm>
            <a:off x="3794760" y="2301240"/>
            <a:ext cx="49377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11480" y="1152144"/>
            <a:ext cx="3127248" cy="3322320"/>
          </a:xfrm>
          <a:prstGeom prst="roundRect">
            <a:avLst>
              <a:gd name="adj" fmla="val 2924"/>
            </a:avLst>
          </a:prstGeom>
          <a:solidFill>
            <a:srgbClr val="F1F4F8"/>
          </a:solidFill>
          <a:ln w="12700">
            <a:solidFill>
              <a:srgbClr val="F1F4F8"/>
            </a:solidFill>
            <a:prstDash val="solid"/>
          </a:ln>
        </p:spPr>
      </p:sp>
      <p:sp>
        <p:nvSpPr>
          <p:cNvPr id="10" name="Text 8"/>
          <p:cNvSpPr txBox="1"/>
          <p:nvPr/>
        </p:nvSpPr>
        <p:spPr>
          <a:xfrm>
            <a:off x="594360" y="1280160"/>
            <a:ext cx="2761488" cy="306628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kind of error is the type Python prints at the start of the last line of a report. The tutorial distinguishes syntax errors, which the parser finds when it reads the text, from exceptions, which are errors detected during execution in a statement that is syntactically correct (Python Software Foundation, 2026). Each kind points to a different class of cause: a SyntaxError says the text of the program is wrong, a NameError that a name has no value, a TypeError that an operation met the wrong types, and a ZeroDivisionError that a number was divided by zero.</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exception</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 error found while the program is running</a:t>
            </a:r>
            <a:endParaRPr lang="en-US" sz="1300" dirty="0"/>
          </a:p>
        </p:txBody>
      </p:sp>
      <p:sp>
        <p:nvSpPr>
          <p:cNvPr id="6" name="Shape 4"/>
          <p:cNvSpPr/>
          <p:nvPr/>
        </p:nvSpPr>
        <p:spPr>
          <a:xfrm>
            <a:off x="411480" y="1152144"/>
            <a:ext cx="8321040" cy="1463040"/>
          </a:xfrm>
          <a:prstGeom prst="roundRect">
            <a:avLst>
              <a:gd name="adj" fmla="val 6250"/>
            </a:avLst>
          </a:prstGeom>
          <a:solidFill>
            <a:srgbClr val="F1F4F8"/>
          </a:solidFill>
          <a:ln w="12700">
            <a:solidFill>
              <a:srgbClr val="F1F4F8"/>
            </a:solidFill>
            <a:prstDash val="solid"/>
          </a:ln>
        </p:spPr>
      </p:sp>
      <p:sp>
        <p:nvSpPr>
          <p:cNvPr id="7" name="Text 5"/>
          <p:cNvSpPr txBox="1"/>
          <p:nvPr/>
        </p:nvSpPr>
        <p:spPr>
          <a:xfrm>
            <a:off x="594360" y="1280160"/>
            <a:ext cx="7955280" cy="120700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An exception is an error detected while a program runs. The tutorial explains that even if a statement or expression is syntactically correct, it may cause an error when an attempt is made to execute it, and that errors detected during execution are called exceptions and are not unconditionally fatal (Python Software Foundation, 2026). The word separates two moments at which a line can fail: a syntax error is found when the text is read, before anything runs, whereas an exception arises only when execution reaches the line. A program can be written to handle one, which comes later in the course.</a:t>
            </a:r>
            <a:endParaRPr lang="en-US" sz="1200" dirty="0"/>
          </a:p>
        </p:txBody>
      </p:sp>
      <p:sp>
        <p:nvSpPr>
          <p:cNvPr id="8" name="Shape 6"/>
          <p:cNvSpPr/>
          <p:nvPr/>
        </p:nvSpPr>
        <p:spPr>
          <a:xfrm>
            <a:off x="411480" y="2724912"/>
            <a:ext cx="4572000" cy="526542"/>
          </a:xfrm>
          <a:prstGeom prst="roundRect">
            <a:avLst>
              <a:gd name="adj" fmla="val 17366"/>
            </a:avLst>
          </a:prstGeom>
          <a:solidFill>
            <a:srgbClr val="17202B"/>
          </a:solidFill>
          <a:ln w="12700">
            <a:solidFill>
              <a:srgbClr val="17202B"/>
            </a:solidFill>
            <a:prstDash val="solid"/>
          </a:ln>
        </p:spPr>
      </p:sp>
      <p:sp>
        <p:nvSpPr>
          <p:cNvPr id="9" name="Text 7"/>
          <p:cNvSpPr txBox="1"/>
          <p:nvPr/>
        </p:nvSpPr>
        <p:spPr>
          <a:xfrm>
            <a:off x="612648" y="2825496"/>
            <a:ext cx="4169664" cy="32537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print('start')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print(1 + 'a')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print('never reached')</a:t>
            </a:r>
            <a:endParaRPr lang="en-US" sz="700" dirty="0"/>
          </a:p>
        </p:txBody>
      </p:sp>
      <p:sp>
        <p:nvSpPr>
          <p:cNvPr id="10" name="Shape 8"/>
          <p:cNvSpPr/>
          <p:nvPr/>
        </p:nvSpPr>
        <p:spPr>
          <a:xfrm>
            <a:off x="5166360" y="2724912"/>
            <a:ext cx="3566160" cy="526542"/>
          </a:xfrm>
          <a:prstGeom prst="roundRect">
            <a:avLst>
              <a:gd name="adj" fmla="val 17366"/>
            </a:avLst>
          </a:prstGeom>
          <a:solidFill>
            <a:srgbClr val="0F1823"/>
          </a:solidFill>
          <a:ln w="12700">
            <a:solidFill>
              <a:srgbClr val="0F1823"/>
            </a:solidFill>
            <a:prstDash val="solid"/>
          </a:ln>
        </p:spPr>
      </p:sp>
      <p:sp>
        <p:nvSpPr>
          <p:cNvPr id="11" name="Text 9"/>
          <p:cNvSpPr txBox="1"/>
          <p:nvPr/>
        </p:nvSpPr>
        <p:spPr>
          <a:xfrm>
            <a:off x="5367528" y="2825496"/>
            <a:ext cx="3163824" cy="325374"/>
          </a:xfrm>
          <a:prstGeom prst="rect">
            <a:avLst/>
          </a:prstGeom>
          <a:noFill/>
          <a:ln/>
        </p:spPr>
        <p:txBody>
          <a:bodyPr wrap="square" lIns="0" tIns="0" rIns="0" bIns="0" rtlCol="0" anchor="t"/>
          <a:lstStyle/>
          <a:p>
            <a:pPr indent="0" marL="0">
              <a:buNone/>
            </a:pPr>
            <a:r>
              <a:rPr lang="en-US" sz="700" dirty="0">
                <a:solidFill>
                  <a:srgbClr val="7EE787"/>
                </a:solidFill>
                <a:latin typeface="Courier New" pitchFamily="34" charset="0"/>
                <a:ea typeface="Courier New" pitchFamily="34" charset="-122"/>
                <a:cs typeface="Courier New" pitchFamily="34" charset="-120"/>
              </a:rPr>
              <a:t>start</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TypeError: unsupported operand type(s) for +: 'int' and 'str'</a:t>
            </a:r>
            <a:endParaRPr lang="en-US" sz="700" dirty="0"/>
          </a:p>
        </p:txBody>
      </p:sp>
      <p:sp>
        <p:nvSpPr>
          <p:cNvPr id="12" name="Text 10"/>
          <p:cNvSpPr txBox="1"/>
          <p:nvPr/>
        </p:nvSpPr>
        <p:spPr>
          <a:xfrm>
            <a:off x="411480" y="3269742"/>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runtime_error_v1_0_0.py, run under Python 3.14.4; its error output in red</a:t>
            </a:r>
            <a:endParaRPr lang="en-US" sz="900" dirty="0"/>
          </a:p>
        </p:txBody>
      </p:sp>
      <p:sp>
        <p:nvSpPr>
          <p:cNvPr id="13" name="Shape 11"/>
          <p:cNvSpPr/>
          <p:nvPr/>
        </p:nvSpPr>
        <p:spPr>
          <a:xfrm>
            <a:off x="411480" y="3598926"/>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3598926"/>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3708654"/>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An exception cannot be found by reading the text alone, and the same line can run in one execution and fail in another, depending on the data.</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SyntaxError</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text of the program is not valid Python</a:t>
            </a:r>
            <a:endParaRPr lang="en-US" sz="1300" dirty="0"/>
          </a:p>
        </p:txBody>
      </p:sp>
      <p:sp>
        <p:nvSpPr>
          <p:cNvPr id="6" name="Shape 4"/>
          <p:cNvSpPr/>
          <p:nvPr/>
        </p:nvSpPr>
        <p:spPr>
          <a:xfrm>
            <a:off x="411480" y="1152144"/>
            <a:ext cx="4818888" cy="2563114"/>
          </a:xfrm>
          <a:prstGeom prst="roundRect">
            <a:avLst>
              <a:gd name="adj" fmla="val 3568"/>
            </a:avLst>
          </a:prstGeom>
          <a:solidFill>
            <a:srgbClr val="F1F4F8"/>
          </a:solidFill>
          <a:ln w="12700">
            <a:solidFill>
              <a:srgbClr val="F1F4F8"/>
            </a:solidFill>
            <a:prstDash val="solid"/>
          </a:ln>
        </p:spPr>
      </p:sp>
      <p:sp>
        <p:nvSpPr>
          <p:cNvPr id="7" name="Text 5"/>
          <p:cNvSpPr txBox="1"/>
          <p:nvPr/>
        </p:nvSpPr>
        <p:spPr>
          <a:xfrm>
            <a:off x="594360" y="1280160"/>
            <a:ext cx="4453128" cy="230708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SyntaxError is raised when the parser, the part of Python that reads the text of a program, meets text that does not follow the grammar (Python Software Foundation, 2026). The tutorial calls these parsing errors and says they are perhaps the most common kind of complaint while one is still learning the language. Because the parser reads the whole text before anything runs, a SyntaxError stops the program at once and none of it is executed. An IndentationError is a kind of SyntaxError, and a TabError is a kind of IndentationError.</a:t>
            </a:r>
            <a:endParaRPr lang="en-US" sz="1300" dirty="0"/>
          </a:p>
        </p:txBody>
      </p:sp>
      <p:sp>
        <p:nvSpPr>
          <p:cNvPr id="8" name="Shape 6"/>
          <p:cNvSpPr/>
          <p:nvPr/>
        </p:nvSpPr>
        <p:spPr>
          <a:xfrm>
            <a:off x="5358384" y="1152144"/>
            <a:ext cx="3374136" cy="944880"/>
          </a:xfrm>
          <a:prstGeom prst="roundRect">
            <a:avLst>
              <a:gd name="adj" fmla="val 9677"/>
            </a:avLst>
          </a:prstGeom>
          <a:solidFill>
            <a:srgbClr val="17202B"/>
          </a:solidFill>
          <a:ln w="12700">
            <a:solidFill>
              <a:srgbClr val="17202B"/>
            </a:solidFill>
            <a:prstDash val="solid"/>
          </a:ln>
        </p:spPr>
      </p:sp>
      <p:sp>
        <p:nvSpPr>
          <p:cNvPr id="9" name="Text 7"/>
          <p:cNvSpPr txBox="1"/>
          <p:nvPr/>
        </p:nvSpPr>
        <p:spPr>
          <a:xfrm>
            <a:off x="5559552" y="1252728"/>
            <a:ext cx="2971800" cy="743712"/>
          </a:xfrm>
          <a:prstGeom prst="rect">
            <a:avLst/>
          </a:prstGeom>
          <a:noFill/>
          <a:ln/>
        </p:spPr>
        <p:txBody>
          <a:bodyPr wrap="square" lIns="0" tIns="0" rIns="0" bIns="0" rtlCol="0" anchor="t"/>
          <a:lstStyle/>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if = 3</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SyntaxError: invalid syntax (&lt;string&gt;, line 1)</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4 == not 5</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SyntaxError: invalid syntax (&lt;string&gt;, line 1)</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x := 3</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SyntaxError: invalid syntax (&lt;string&gt;, line 1)</a:t>
            </a:r>
            <a:endParaRPr lang="en-US" sz="800" dirty="0"/>
          </a:p>
        </p:txBody>
      </p:sp>
      <p:sp>
        <p:nvSpPr>
          <p:cNvPr id="10" name="Text 8"/>
          <p:cNvSpPr txBox="1"/>
          <p:nvPr/>
        </p:nvSpPr>
        <p:spPr>
          <a:xfrm>
            <a:off x="5358384" y="2115312"/>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824986"/>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824986"/>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934714"/>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Do not stop at the first message. When the reported line looks correct, look at the lines before it, because an unclosed bracket is often noticed only later.</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NameError</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name was used that has no value</a:t>
            </a:r>
            <a:endParaRPr lang="en-US" sz="1300" dirty="0"/>
          </a:p>
        </p:txBody>
      </p:sp>
      <p:sp>
        <p:nvSpPr>
          <p:cNvPr id="6" name="Shape 4"/>
          <p:cNvSpPr/>
          <p:nvPr/>
        </p:nvSpPr>
        <p:spPr>
          <a:xfrm>
            <a:off x="411480" y="1152144"/>
            <a:ext cx="4818888" cy="2361692"/>
          </a:xfrm>
          <a:prstGeom prst="roundRect">
            <a:avLst>
              <a:gd name="adj" fmla="val 3872"/>
            </a:avLst>
          </a:prstGeom>
          <a:solidFill>
            <a:srgbClr val="F1F4F8"/>
          </a:solidFill>
          <a:ln w="12700">
            <a:solidFill>
              <a:srgbClr val="F1F4F8"/>
            </a:solidFill>
            <a:prstDash val="solid"/>
          </a:ln>
        </p:spPr>
      </p:sp>
      <p:sp>
        <p:nvSpPr>
          <p:cNvPr id="7" name="Text 5"/>
          <p:cNvSpPr txBox="1"/>
          <p:nvPr/>
        </p:nvSpPr>
        <p:spPr>
          <a:xfrm>
            <a:off x="594360" y="1280160"/>
            <a:ext cx="4453128" cy="21056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NameError is raised when a local or global name is not found; the documentation adds that the associated value is an error message including the name that could not be found (Python Software Foundation, 2026). The message therefore always has the same shape. A name in Python exists only after it has been assigned, so any use of a name before its assignment, or of a name spelled differently, fails this way. The error is a precise report about the program: it names the exact word Python could not find.</a:t>
            </a:r>
            <a:endParaRPr lang="en-US" sz="1300" dirty="0"/>
          </a:p>
        </p:txBody>
      </p:sp>
      <p:sp>
        <p:nvSpPr>
          <p:cNvPr id="8" name="Shape 6"/>
          <p:cNvSpPr/>
          <p:nvPr/>
        </p:nvSpPr>
        <p:spPr>
          <a:xfrm>
            <a:off x="5358384" y="1152144"/>
            <a:ext cx="3374136" cy="944880"/>
          </a:xfrm>
          <a:prstGeom prst="roundRect">
            <a:avLst>
              <a:gd name="adj" fmla="val 9677"/>
            </a:avLst>
          </a:prstGeom>
          <a:solidFill>
            <a:srgbClr val="17202B"/>
          </a:solidFill>
          <a:ln w="12700">
            <a:solidFill>
              <a:srgbClr val="17202B"/>
            </a:solidFill>
            <a:prstDash val="solid"/>
          </a:ln>
        </p:spPr>
      </p:sp>
      <p:sp>
        <p:nvSpPr>
          <p:cNvPr id="9" name="Text 7"/>
          <p:cNvSpPr txBox="1"/>
          <p:nvPr/>
        </p:nvSpPr>
        <p:spPr>
          <a:xfrm>
            <a:off x="5559552" y="1252728"/>
            <a:ext cx="2971800" cy="743712"/>
          </a:xfrm>
          <a:prstGeom prst="rect">
            <a:avLst/>
          </a:prstGeom>
          <a:noFill/>
          <a:ln/>
        </p:spPr>
        <p:txBody>
          <a:bodyPr wrap="square" lIns="0" tIns="0" rIns="0" bIns="0" rtlCol="0" anchor="t"/>
          <a:lstStyle/>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true</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NameError: name 'true' is not defined</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4 + spam * 3</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NameError: name 'spam' is not defined</a:t>
            </a:r>
            <a:endParaRPr lang="en-US" sz="800" dirty="0"/>
          </a:p>
          <a:p>
            <a:pPr indent="0" marL="0">
              <a:buNone/>
            </a:pPr>
            <a:r>
              <a:rPr lang="en-US" sz="800" b="1" dirty="0">
                <a:solidFill>
                  <a:srgbClr val="FFD43B"/>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discrepancy</a:t>
            </a:r>
            <a:endParaRPr lang="en-US" sz="800" dirty="0"/>
          </a:p>
          <a:p>
            <a:pPr indent="0" marL="0">
              <a:buNone/>
            </a:pPr>
            <a:r>
              <a:rPr lang="en-US" sz="800" dirty="0">
                <a:solidFill>
                  <a:srgbClr val="FF7B72"/>
                </a:solidFill>
                <a:latin typeface="Courier New" pitchFamily="34" charset="0"/>
                <a:ea typeface="Courier New" pitchFamily="34" charset="-122"/>
                <a:cs typeface="Courier New" pitchFamily="34" charset="-120"/>
              </a:rPr>
              <a:t>NameError: name 'discrepancy' is not defined</a:t>
            </a:r>
            <a:endParaRPr lang="en-US" sz="800" dirty="0"/>
          </a:p>
        </p:txBody>
      </p:sp>
      <p:sp>
        <p:nvSpPr>
          <p:cNvPr id="10" name="Text 8"/>
          <p:cNvSpPr txBox="1"/>
          <p:nvPr/>
        </p:nvSpPr>
        <p:spPr>
          <a:xfrm>
            <a:off x="5358384" y="2115312"/>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62356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62356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73329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error is reported where the name is used, not where it should have been assigned. A typing mistake has a local repair; a name assigned only inside a branch that did not run needs a new branch or a first value.</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TypeError</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 operation met a type it does not support</a:t>
            </a:r>
            <a:endParaRPr lang="en-US" sz="1300" dirty="0"/>
          </a:p>
        </p:txBody>
      </p:sp>
      <p:sp>
        <p:nvSpPr>
          <p:cNvPr id="6" name="Shape 4"/>
          <p:cNvSpPr/>
          <p:nvPr/>
        </p:nvSpPr>
        <p:spPr>
          <a:xfrm>
            <a:off x="411480" y="1152144"/>
            <a:ext cx="4818888" cy="2563114"/>
          </a:xfrm>
          <a:prstGeom prst="roundRect">
            <a:avLst>
              <a:gd name="adj" fmla="val 3568"/>
            </a:avLst>
          </a:prstGeom>
          <a:solidFill>
            <a:srgbClr val="F1F4F8"/>
          </a:solidFill>
          <a:ln w="12700">
            <a:solidFill>
              <a:srgbClr val="F1F4F8"/>
            </a:solidFill>
            <a:prstDash val="solid"/>
          </a:ln>
        </p:spPr>
      </p:sp>
      <p:sp>
        <p:nvSpPr>
          <p:cNvPr id="7" name="Text 5"/>
          <p:cNvSpPr txBox="1"/>
          <p:nvPr/>
        </p:nvSpPr>
        <p:spPr>
          <a:xfrm>
            <a:off x="594360" y="1280160"/>
            <a:ext cx="4453128" cy="230708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TypeError is raised when an operation or function is applied to an object of inappropriate type, and the associated value gives details about the mismatch (Python Software Foundation, 2026). It is the error of chapter 1, where a string and a number were added, and it returns here when an order comparison is applied to unrelated types. The error protects against silent guessing: Python could convert one operand or the other, but either choice would hide a mistake, so it refuses and reports both types - which is the information needed to repair the line.</a:t>
            </a:r>
            <a:endParaRPr lang="en-US" sz="1300" dirty="0"/>
          </a:p>
        </p:txBody>
      </p:sp>
      <p:sp>
        <p:nvSpPr>
          <p:cNvPr id="8" name="Shape 6"/>
          <p:cNvSpPr/>
          <p:nvPr/>
        </p:nvSpPr>
        <p:spPr>
          <a:xfrm>
            <a:off x="5358384" y="1152144"/>
            <a:ext cx="3374136" cy="960374"/>
          </a:xfrm>
          <a:prstGeom prst="roundRect">
            <a:avLst>
              <a:gd name="adj" fmla="val 9521"/>
            </a:avLst>
          </a:prstGeom>
          <a:solidFill>
            <a:srgbClr val="17202B"/>
          </a:solidFill>
          <a:ln w="12700">
            <a:solidFill>
              <a:srgbClr val="17202B"/>
            </a:solidFill>
            <a:prstDash val="solid"/>
          </a:ln>
        </p:spPr>
      </p:sp>
      <p:sp>
        <p:nvSpPr>
          <p:cNvPr id="9" name="Text 7"/>
          <p:cNvSpPr txBox="1"/>
          <p:nvPr/>
        </p:nvSpPr>
        <p:spPr>
          <a:xfrm>
            <a:off x="5559552" y="1252728"/>
            <a:ext cx="2971800" cy="759206"/>
          </a:xfrm>
          <a:prstGeom prst="rect">
            <a:avLst/>
          </a:prstGeom>
          <a:noFill/>
          <a:ln/>
        </p:spPr>
        <p:txBody>
          <a:bodyPr wrap="square" lIns="0" tIns="0" rIns="0" bIns="0" rtlCol="0" anchor="t"/>
          <a:lstStyle/>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3 &lt; '4'</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TypeError: '&lt;' not supported between instances of 'int' and 'str'</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'Alice' + 42</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TypeError: can only concatenate str (not "int") to str</a:t>
            </a:r>
            <a:endParaRPr lang="en-US" sz="700" dirty="0"/>
          </a:p>
          <a:p>
            <a:pPr indent="0" marL="0">
              <a:buNone/>
            </a:pPr>
            <a:r>
              <a:rPr lang="en-US" sz="700" b="1" dirty="0">
                <a:solidFill>
                  <a:srgbClr val="FFD43B"/>
                </a:solidFill>
                <a:latin typeface="Courier New" pitchFamily="34" charset="0"/>
                <a:ea typeface="Courier New" pitchFamily="34" charset="-122"/>
                <a:cs typeface="Courier New" pitchFamily="34" charset="-120"/>
              </a:rPr>
              <a:t>&gt;&gt;&gt; </a:t>
            </a:r>
            <a:pPr indent="0" marL="0">
              <a:buNone/>
            </a:pPr>
            <a:r>
              <a:rPr lang="en-US" sz="700" dirty="0">
                <a:solidFill>
                  <a:srgbClr val="E6EDF3"/>
                </a:solidFill>
                <a:latin typeface="Courier New" pitchFamily="34" charset="0"/>
                <a:ea typeface="Courier New" pitchFamily="34" charset="-122"/>
                <a:cs typeface="Courier New" pitchFamily="34" charset="-120"/>
              </a:rPr>
              <a:t>42 == '42'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False</a:t>
            </a:r>
            <a:endParaRPr lang="en-US" sz="700" dirty="0"/>
          </a:p>
        </p:txBody>
      </p:sp>
      <p:sp>
        <p:nvSpPr>
          <p:cNvPr id="10" name="Text 8"/>
          <p:cNvSpPr txBox="1"/>
          <p:nvPr/>
        </p:nvSpPr>
        <p:spPr>
          <a:xfrm>
            <a:off x="5358384" y="2130806"/>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824986"/>
            <a:ext cx="4818888" cy="749046"/>
          </a:xfrm>
          <a:prstGeom prst="roundRect">
            <a:avLst>
              <a:gd name="adj" fmla="val 9766"/>
            </a:avLst>
          </a:prstGeom>
          <a:solidFill>
            <a:srgbClr val="FFF1F0"/>
          </a:solidFill>
          <a:ln w="12700">
            <a:solidFill>
              <a:srgbClr val="FFD7D5"/>
            </a:solidFill>
            <a:prstDash val="solid"/>
          </a:ln>
        </p:spPr>
      </p:sp>
      <p:sp>
        <p:nvSpPr>
          <p:cNvPr id="12" name="Shape 10"/>
          <p:cNvSpPr/>
          <p:nvPr/>
        </p:nvSpPr>
        <p:spPr>
          <a:xfrm>
            <a:off x="411480" y="3824986"/>
            <a:ext cx="64008" cy="749046"/>
          </a:xfrm>
          <a:prstGeom prst="rect">
            <a:avLst/>
          </a:prstGeom>
          <a:solidFill>
            <a:srgbClr val="FF7B72"/>
          </a:solidFill>
          <a:ln w="12700">
            <a:solidFill>
              <a:srgbClr val="FF7B72"/>
            </a:solidFill>
            <a:prstDash val="solid"/>
          </a:ln>
        </p:spPr>
      </p:sp>
      <p:sp>
        <p:nvSpPr>
          <p:cNvPr id="13" name="Text 11"/>
          <p:cNvSpPr txBox="1"/>
          <p:nvPr/>
        </p:nvSpPr>
        <p:spPr>
          <a:xfrm>
            <a:off x="612648" y="3934714"/>
            <a:ext cx="4416552" cy="529590"/>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comparison for equality never raises a TypeError, as the last line of the card shows: values of different types are simply unequal. Only the ordering comparisons refuse.</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ZeroDivisionError</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division or remainder with zero on the right</a:t>
            </a:r>
            <a:endParaRPr lang="en-US" sz="1300" dirty="0"/>
          </a:p>
        </p:txBody>
      </p:sp>
      <p:sp>
        <p:nvSpPr>
          <p:cNvPr id="6" name="Shape 4"/>
          <p:cNvSpPr/>
          <p:nvPr/>
        </p:nvSpPr>
        <p:spPr>
          <a:xfrm>
            <a:off x="411480" y="1152144"/>
            <a:ext cx="4818888" cy="2284222"/>
          </a:xfrm>
          <a:prstGeom prst="roundRect">
            <a:avLst>
              <a:gd name="adj" fmla="val 4003"/>
            </a:avLst>
          </a:prstGeom>
          <a:solidFill>
            <a:srgbClr val="F1F4F8"/>
          </a:solidFill>
          <a:ln w="12700">
            <a:solidFill>
              <a:srgbClr val="F1F4F8"/>
            </a:solidFill>
            <a:prstDash val="solid"/>
          </a:ln>
        </p:spPr>
      </p:sp>
      <p:sp>
        <p:nvSpPr>
          <p:cNvPr id="7" name="Text 5"/>
          <p:cNvSpPr txBox="1"/>
          <p:nvPr/>
        </p:nvSpPr>
        <p:spPr>
          <a:xfrm>
            <a:off x="594360" y="1280160"/>
            <a:ext cx="4453128" cy="202819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A ZeroDivisionError is raised when the second argument of a division or modulo operation is zero; the documentation adds that the associated value indicates the type of the operands and the operation (Python Software Foundation, 2026). Division by zero has no answer, so Python stops and says so. The error often appears at the end of a chain of calculations while the cause lies earlier, in a value that should not have been zero, and it cannot be prevented by testing the result, because there is none: the test has to be made on the divisor first.</a:t>
            </a:r>
            <a:endParaRPr lang="en-US" sz="1250" dirty="0"/>
          </a:p>
        </p:txBody>
      </p:sp>
      <p:sp>
        <p:nvSpPr>
          <p:cNvPr id="8" name="Shape 6"/>
          <p:cNvSpPr/>
          <p:nvPr/>
        </p:nvSpPr>
        <p:spPr>
          <a:xfrm>
            <a:off x="5358384" y="1152144"/>
            <a:ext cx="3374136" cy="1223772"/>
          </a:xfrm>
          <a:prstGeom prst="roundRect">
            <a:avLst>
              <a:gd name="adj" fmla="val 7472"/>
            </a:avLst>
          </a:prstGeom>
          <a:solidFill>
            <a:srgbClr val="17202B"/>
          </a:solidFill>
          <a:ln w="12700">
            <a:solidFill>
              <a:srgbClr val="17202B"/>
            </a:solidFill>
            <a:prstDash val="solid"/>
          </a:ln>
        </p:spPr>
      </p:sp>
      <p:sp>
        <p:nvSpPr>
          <p:cNvPr id="9" name="Text 7"/>
          <p:cNvSpPr txBox="1"/>
          <p:nvPr/>
        </p:nvSpPr>
        <p:spPr>
          <a:xfrm>
            <a:off x="5559552" y="1252728"/>
            <a:ext cx="2971800" cy="1022604"/>
          </a:xfrm>
          <a:prstGeom prst="rect">
            <a:avLst/>
          </a:prstGeom>
          <a:noFill/>
          <a:ln/>
        </p:spPr>
        <p:txBody>
          <a:bodyPr wrap="square" lIns="0" tIns="0" rIns="0" bIns="0" rtlCol="0" anchor="t"/>
          <a:lstStyle/>
          <a:p>
            <a:pPr indent="0" marL="0">
              <a:buNone/>
            </a:pPr>
            <a:r>
              <a:rPr lang="en-US" sz="1100" b="1" dirty="0">
                <a:solidFill>
                  <a:srgbClr val="FFD43B"/>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1 / 0</a:t>
            </a:r>
            <a:endParaRPr lang="en-US" sz="1100" dirty="0"/>
          </a:p>
          <a:p>
            <a:pPr indent="0" marL="0">
              <a:buNone/>
            </a:pPr>
            <a:r>
              <a:rPr lang="en-US" sz="1100" dirty="0">
                <a:solidFill>
                  <a:srgbClr val="FF7B72"/>
                </a:solidFill>
                <a:latin typeface="Courier New" pitchFamily="34" charset="0"/>
                <a:ea typeface="Courier New" pitchFamily="34" charset="-122"/>
                <a:cs typeface="Courier New" pitchFamily="34" charset="-120"/>
              </a:rPr>
              <a:t>ZeroDivisionError: division by zero</a:t>
            </a:r>
            <a:endParaRPr lang="en-US" sz="1100" dirty="0"/>
          </a:p>
          <a:p>
            <a:pPr indent="0" marL="0">
              <a:buNone/>
            </a:pPr>
            <a:r>
              <a:rPr lang="en-US" sz="1100" b="1" dirty="0">
                <a:solidFill>
                  <a:srgbClr val="FFD43B"/>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1 % 0</a:t>
            </a:r>
            <a:endParaRPr lang="en-US" sz="1100" dirty="0"/>
          </a:p>
          <a:p>
            <a:pPr indent="0" marL="0">
              <a:buNone/>
            </a:pPr>
            <a:r>
              <a:rPr lang="en-US" sz="1100" dirty="0">
                <a:solidFill>
                  <a:srgbClr val="FF7B72"/>
                </a:solidFill>
                <a:latin typeface="Courier New" pitchFamily="34" charset="0"/>
                <a:ea typeface="Courier New" pitchFamily="34" charset="-122"/>
                <a:cs typeface="Courier New" pitchFamily="34" charset="-120"/>
              </a:rPr>
              <a:t>ZeroDivisionError: division by zero</a:t>
            </a:r>
            <a:endParaRPr lang="en-US" sz="1100" dirty="0"/>
          </a:p>
          <a:p>
            <a:pPr indent="0" marL="0">
              <a:buNone/>
            </a:pPr>
            <a:r>
              <a:rPr lang="en-US" sz="1100" b="1" dirty="0">
                <a:solidFill>
                  <a:srgbClr val="FFD43B"/>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1 / 0.0</a:t>
            </a:r>
            <a:endParaRPr lang="en-US" sz="1100" dirty="0"/>
          </a:p>
          <a:p>
            <a:pPr indent="0" marL="0">
              <a:buNone/>
            </a:pPr>
            <a:r>
              <a:rPr lang="en-US" sz="1100" dirty="0">
                <a:solidFill>
                  <a:srgbClr val="FF7B72"/>
                </a:solidFill>
                <a:latin typeface="Courier New" pitchFamily="34" charset="0"/>
                <a:ea typeface="Courier New" pitchFamily="34" charset="-122"/>
                <a:cs typeface="Courier New" pitchFamily="34" charset="-120"/>
              </a:rPr>
              <a:t>ZeroDivisionError: division by zero</a:t>
            </a:r>
            <a:endParaRPr lang="en-US" sz="1100" dirty="0"/>
          </a:p>
        </p:txBody>
      </p:sp>
      <p:sp>
        <p:nvSpPr>
          <p:cNvPr id="10" name="Text 8"/>
          <p:cNvSpPr txBox="1"/>
          <p:nvPr/>
        </p:nvSpPr>
        <p:spPr>
          <a:xfrm>
            <a:off x="5358384" y="2394204"/>
            <a:ext cx="3374136"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1" name="Shape 9"/>
          <p:cNvSpPr/>
          <p:nvPr/>
        </p:nvSpPr>
        <p:spPr>
          <a:xfrm>
            <a:off x="411480" y="3546094"/>
            <a:ext cx="4818888" cy="919480"/>
          </a:xfrm>
          <a:prstGeom prst="roundRect">
            <a:avLst>
              <a:gd name="adj" fmla="val 7956"/>
            </a:avLst>
          </a:prstGeom>
          <a:solidFill>
            <a:srgbClr val="FFF1F0"/>
          </a:solidFill>
          <a:ln w="12700">
            <a:solidFill>
              <a:srgbClr val="FFD7D5"/>
            </a:solidFill>
            <a:prstDash val="solid"/>
          </a:ln>
        </p:spPr>
      </p:sp>
      <p:sp>
        <p:nvSpPr>
          <p:cNvPr id="12" name="Shape 10"/>
          <p:cNvSpPr/>
          <p:nvPr/>
        </p:nvSpPr>
        <p:spPr>
          <a:xfrm>
            <a:off x="411480" y="3546094"/>
            <a:ext cx="64008" cy="919480"/>
          </a:xfrm>
          <a:prstGeom prst="rect">
            <a:avLst/>
          </a:prstGeom>
          <a:solidFill>
            <a:srgbClr val="FF7B72"/>
          </a:solidFill>
          <a:ln w="12700">
            <a:solidFill>
              <a:srgbClr val="FF7B72"/>
            </a:solidFill>
            <a:prstDash val="solid"/>
          </a:ln>
        </p:spPr>
      </p:sp>
      <p:sp>
        <p:nvSpPr>
          <p:cNvPr id="13" name="Text 11"/>
          <p:cNvSpPr txBox="1"/>
          <p:nvPr/>
        </p:nvSpPr>
        <p:spPr>
          <a:xfrm>
            <a:off x="612648" y="3655822"/>
            <a:ext cx="4416552" cy="700024"/>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The message wording is not a stable part of the language: in Python 3.12 the second and third lines of this card read integer modulo by zero and float division by zero instead.</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The traceback</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whole report, read from the bottom</a:t>
            </a:r>
            <a:endParaRPr lang="en-US" sz="1300" dirty="0"/>
          </a:p>
        </p:txBody>
      </p:sp>
      <p:sp>
        <p:nvSpPr>
          <p:cNvPr id="6" name="Shape 4"/>
          <p:cNvSpPr/>
          <p:nvPr/>
        </p:nvSpPr>
        <p:spPr>
          <a:xfrm>
            <a:off x="411480" y="1152144"/>
            <a:ext cx="8321040" cy="936244"/>
          </a:xfrm>
          <a:prstGeom prst="roundRect">
            <a:avLst>
              <a:gd name="adj" fmla="val 9767"/>
            </a:avLst>
          </a:prstGeom>
          <a:solidFill>
            <a:srgbClr val="F1F4F8"/>
          </a:solidFill>
          <a:ln w="12700">
            <a:solidFill>
              <a:srgbClr val="F1F4F8"/>
            </a:solidFill>
            <a:prstDash val="solid"/>
          </a:ln>
        </p:spPr>
      </p:sp>
      <p:sp>
        <p:nvSpPr>
          <p:cNvPr id="7" name="Text 5"/>
          <p:cNvSpPr txBox="1"/>
          <p:nvPr/>
        </p:nvSpPr>
        <p:spPr>
          <a:xfrm>
            <a:off x="594360" y="1280160"/>
            <a:ext cx="7955280" cy="680212"/>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A traceback is the report Python prints when an error stops a program. The tutorial explains that the last line indicates what happened, that the rest of that line gives details based on the kind of error, and that the part before it shows the context where the exception occurred, as a list of the source lines through which the program reached it (Python Software Foundation, 2026). The report is a map from the symptom to the place: the last line says what went wrong, and the lines above say where.</a:t>
            </a:r>
            <a:endParaRPr lang="en-US" sz="950" dirty="0"/>
          </a:p>
        </p:txBody>
      </p:sp>
      <p:sp>
        <p:nvSpPr>
          <p:cNvPr id="8" name="Shape 6"/>
          <p:cNvSpPr/>
          <p:nvPr/>
        </p:nvSpPr>
        <p:spPr>
          <a:xfrm>
            <a:off x="411480" y="2198116"/>
            <a:ext cx="4572000" cy="1068832"/>
          </a:xfrm>
          <a:prstGeom prst="roundRect">
            <a:avLst>
              <a:gd name="adj" fmla="val 8555"/>
            </a:avLst>
          </a:prstGeom>
          <a:solidFill>
            <a:srgbClr val="17202B"/>
          </a:solidFill>
          <a:ln w="12700">
            <a:solidFill>
              <a:srgbClr val="17202B"/>
            </a:solidFill>
            <a:prstDash val="solid"/>
          </a:ln>
        </p:spPr>
      </p:sp>
      <p:sp>
        <p:nvSpPr>
          <p:cNvPr id="9" name="Text 7"/>
          <p:cNvSpPr txBox="1"/>
          <p:nvPr/>
        </p:nvSpPr>
        <p:spPr>
          <a:xfrm>
            <a:off x="612648" y="2298700"/>
            <a:ext cx="4169664" cy="86766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advertised = 10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unit = 'KB'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if unit == 'TB' or unit == 'tb':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discrepancy = 1000000000000 / 1099511627776</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elif unit == 'GB' or unit == 'gb':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discrepancy = 1000000000 / 1073741824</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real_capacity = advertised * discrepancy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print(real_capacity)</a:t>
            </a:r>
            <a:endParaRPr lang="en-US" sz="700" dirty="0"/>
          </a:p>
        </p:txBody>
      </p:sp>
      <p:sp>
        <p:nvSpPr>
          <p:cNvPr id="10" name="Shape 8"/>
          <p:cNvSpPr/>
          <p:nvPr/>
        </p:nvSpPr>
        <p:spPr>
          <a:xfrm>
            <a:off x="5166360" y="2198116"/>
            <a:ext cx="3566160" cy="743458"/>
          </a:xfrm>
          <a:prstGeom prst="roundRect">
            <a:avLst>
              <a:gd name="adj" fmla="val 12299"/>
            </a:avLst>
          </a:prstGeom>
          <a:solidFill>
            <a:srgbClr val="0F1823"/>
          </a:solidFill>
          <a:ln w="12700">
            <a:solidFill>
              <a:srgbClr val="0F1823"/>
            </a:solidFill>
            <a:prstDash val="solid"/>
          </a:ln>
        </p:spPr>
      </p:sp>
      <p:sp>
        <p:nvSpPr>
          <p:cNvPr id="11" name="Text 9"/>
          <p:cNvSpPr txBox="1"/>
          <p:nvPr/>
        </p:nvSpPr>
        <p:spPr>
          <a:xfrm>
            <a:off x="5367528" y="2298700"/>
            <a:ext cx="3163824" cy="542290"/>
          </a:xfrm>
          <a:prstGeom prst="rect">
            <a:avLst/>
          </a:prstGeom>
          <a:noFill/>
          <a:ln/>
        </p:spPr>
        <p:txBody>
          <a:bodyPr wrap="square" lIns="0" tIns="0" rIns="0" bIns="0" rtlCol="0" anchor="t"/>
          <a:lstStyle/>
          <a:p>
            <a:pPr indent="0" marL="0">
              <a:buNone/>
            </a:pPr>
            <a:r>
              <a:rPr lang="en-US" sz="700" dirty="0">
                <a:solidFill>
                  <a:srgbClr val="FF7B72"/>
                </a:solidFill>
                <a:latin typeface="Courier New" pitchFamily="34" charset="0"/>
                <a:ea typeface="Courier New" pitchFamily="34" charset="-122"/>
                <a:cs typeface="Courier New" pitchFamily="34" charset="-120"/>
              </a:rPr>
              <a:t>Traceback (most recent call last):</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  File "capacity_bug_v1_0_0.py", line 7, in &lt;module&gt;</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    real_capacity = advertised * discrepancy</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                                 ^^^^^^^^^^^</a:t>
            </a:r>
            <a:endParaRPr lang="en-US" sz="700" dirty="0"/>
          </a:p>
          <a:p>
            <a:pPr indent="0" marL="0">
              <a:buNone/>
            </a:pPr>
            <a:r>
              <a:rPr lang="en-US" sz="700" dirty="0">
                <a:solidFill>
                  <a:srgbClr val="FF7B72"/>
                </a:solidFill>
                <a:latin typeface="Courier New" pitchFamily="34" charset="0"/>
                <a:ea typeface="Courier New" pitchFamily="34" charset="-122"/>
                <a:cs typeface="Courier New" pitchFamily="34" charset="-120"/>
              </a:rPr>
              <a:t>NameError: name 'discrepancy' is not defined</a:t>
            </a:r>
            <a:endParaRPr lang="en-US" sz="700" dirty="0"/>
          </a:p>
        </p:txBody>
      </p:sp>
      <p:sp>
        <p:nvSpPr>
          <p:cNvPr id="12" name="Text 10"/>
          <p:cNvSpPr txBox="1"/>
          <p:nvPr/>
        </p:nvSpPr>
        <p:spPr>
          <a:xfrm>
            <a:off x="411480" y="3285236"/>
            <a:ext cx="8321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capacity_bug_v1_0_0.py, run under Python 3.14.4; its error output in red</a:t>
            </a:r>
            <a:endParaRPr lang="en-US" sz="900" dirty="0"/>
          </a:p>
        </p:txBody>
      </p:sp>
      <p:sp>
        <p:nvSpPr>
          <p:cNvPr id="13" name="Shape 11"/>
          <p:cNvSpPr/>
          <p:nvPr/>
        </p:nvSpPr>
        <p:spPr>
          <a:xfrm>
            <a:off x="411480" y="3614420"/>
            <a:ext cx="8321040" cy="578612"/>
          </a:xfrm>
          <a:prstGeom prst="roundRect">
            <a:avLst>
              <a:gd name="adj" fmla="val 12643"/>
            </a:avLst>
          </a:prstGeom>
          <a:solidFill>
            <a:srgbClr val="FFF1F0"/>
          </a:solidFill>
          <a:ln w="12700">
            <a:solidFill>
              <a:srgbClr val="FFD7D5"/>
            </a:solidFill>
            <a:prstDash val="solid"/>
          </a:ln>
        </p:spPr>
      </p:sp>
      <p:sp>
        <p:nvSpPr>
          <p:cNvPr id="14" name="Shape 12"/>
          <p:cNvSpPr/>
          <p:nvPr/>
        </p:nvSpPr>
        <p:spPr>
          <a:xfrm>
            <a:off x="411480" y="3614420"/>
            <a:ext cx="64008" cy="578612"/>
          </a:xfrm>
          <a:prstGeom prst="rect">
            <a:avLst/>
          </a:prstGeom>
          <a:solidFill>
            <a:srgbClr val="FF7B72"/>
          </a:solidFill>
          <a:ln w="12700">
            <a:solidFill>
              <a:srgbClr val="FF7B72"/>
            </a:solidFill>
            <a:prstDash val="solid"/>
          </a:ln>
        </p:spPr>
      </p:sp>
      <p:sp>
        <p:nvSpPr>
          <p:cNvPr id="15" name="Text 13"/>
          <p:cNvSpPr txBox="1"/>
          <p:nvPr/>
        </p:nvSpPr>
        <p:spPr>
          <a:xfrm>
            <a:off x="612648" y="3724148"/>
            <a:ext cx="7918704" cy="359156"/>
          </a:xfrm>
          <a:prstGeom prst="rect">
            <a:avLst/>
          </a:prstGeom>
          <a:noFill/>
          <a:ln/>
        </p:spPr>
        <p:txBody>
          <a:bodyPr wrap="square" lIns="0" tIns="0" rIns="0" bIns="0" rtlCol="0" anchor="t"/>
          <a:lstStyle/>
          <a:p>
            <a:pPr indent="0" marL="0">
              <a:buNone/>
            </a:pPr>
            <a:r>
              <a:rPr lang="en-US" sz="1100" b="1" dirty="0">
                <a:solidFill>
                  <a:srgbClr val="A4342C"/>
                </a:solidFill>
                <a:latin typeface="Calibri" pitchFamily="34" charset="0"/>
                <a:ea typeface="Calibri" pitchFamily="34" charset="-122"/>
                <a:cs typeface="Calibri" pitchFamily="34" charset="-120"/>
              </a:rPr>
              <a:t>Watch out — </a:t>
            </a:r>
            <a:pPr indent="0" marL="0">
              <a:buNone/>
            </a:pPr>
            <a:r>
              <a:rPr lang="en-US" sz="1100" dirty="0">
                <a:solidFill>
                  <a:srgbClr val="1F2933"/>
                </a:solidFill>
                <a:latin typeface="Calibri" pitchFamily="34" charset="0"/>
                <a:ea typeface="Calibri" pitchFamily="34" charset="-122"/>
                <a:cs typeface="Calibri" pitchFamily="34" charset="-120"/>
              </a:rPr>
              <a:t>A traceback is printed only when an error is not handled. A program that stops with sys.exit and a message prints the message and no traceback, because the interpreter treats that request as a reason to leave.</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What to take away</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sentence for each branch of the chapter</a:t>
            </a:r>
            <a:endParaRPr lang="en-US" sz="1300" dirty="0"/>
          </a:p>
        </p:txBody>
      </p:sp>
      <p:sp>
        <p:nvSpPr>
          <p:cNvPr id="6" name="Shape 4"/>
          <p:cNvSpPr/>
          <p:nvPr/>
        </p:nvSpPr>
        <p:spPr>
          <a:xfrm>
            <a:off x="411480" y="1133856"/>
            <a:ext cx="1874520" cy="457200"/>
          </a:xfrm>
          <a:prstGeom prst="roundRect">
            <a:avLst>
              <a:gd name="adj" fmla="val 14000"/>
            </a:avLst>
          </a:prstGeom>
          <a:solidFill>
            <a:srgbClr val="1E2A3A"/>
          </a:solidFill>
          <a:ln w="12700">
            <a:solidFill>
              <a:srgbClr val="1E2A3A"/>
            </a:solidFill>
            <a:prstDash val="solid"/>
          </a:ln>
        </p:spPr>
      </p:sp>
      <p:sp>
        <p:nvSpPr>
          <p:cNvPr id="7" name="Text 5"/>
          <p:cNvSpPr txBox="1"/>
          <p:nvPr/>
        </p:nvSpPr>
        <p:spPr>
          <a:xfrm>
            <a:off x="475488" y="1133856"/>
            <a:ext cx="1746504" cy="457200"/>
          </a:xfrm>
          <a:prstGeom prst="rect">
            <a:avLst/>
          </a:prstGeom>
          <a:noFill/>
          <a:ln/>
        </p:spPr>
        <p:txBody>
          <a:bodyPr wrap="square" lIns="0" tIns="0" rIns="0" bIns="0" rtlCol="0" anchor="ctr"/>
          <a:lstStyle/>
          <a:p>
            <a:pPr indent="0" marL="0">
              <a:buNone/>
            </a:pPr>
            <a:r>
              <a:rPr lang="en-US" sz="1050" b="1" dirty="0">
                <a:solidFill>
                  <a:srgbClr val="FFFFFF"/>
                </a:solidFill>
                <a:latin typeface="Cambria" pitchFamily="34" charset="0"/>
                <a:ea typeface="Cambria" pitchFamily="34" charset="-122"/>
                <a:cs typeface="Cambria" pitchFamily="34" charset="-120"/>
              </a:rPr>
              <a:t>I · Values</a:t>
            </a:r>
            <a:endParaRPr lang="en-US" sz="1050" dirty="0"/>
          </a:p>
        </p:txBody>
      </p:sp>
      <p:sp>
        <p:nvSpPr>
          <p:cNvPr id="8" name="Text 6"/>
          <p:cNvSpPr txBox="1"/>
          <p:nvPr/>
        </p:nvSpPr>
        <p:spPr>
          <a:xfrm>
            <a:off x="2395728" y="1133856"/>
            <a:ext cx="6336792" cy="457200"/>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A Boolean has exactly two members, and every other value can be asked whether it counts as true: None, zero and the empty collections are false, everything else is true.</a:t>
            </a:r>
            <a:endParaRPr lang="en-US" sz="1050" dirty="0"/>
          </a:p>
        </p:txBody>
      </p:sp>
      <p:sp>
        <p:nvSpPr>
          <p:cNvPr id="9" name="Shape 7"/>
          <p:cNvSpPr/>
          <p:nvPr/>
        </p:nvSpPr>
        <p:spPr>
          <a:xfrm>
            <a:off x="411480" y="1655064"/>
            <a:ext cx="1874520" cy="457200"/>
          </a:xfrm>
          <a:prstGeom prst="roundRect">
            <a:avLst>
              <a:gd name="adj" fmla="val 14000"/>
            </a:avLst>
          </a:prstGeom>
          <a:solidFill>
            <a:srgbClr val="1E2A3A"/>
          </a:solidFill>
          <a:ln w="12700">
            <a:solidFill>
              <a:srgbClr val="1E2A3A"/>
            </a:solidFill>
            <a:prstDash val="solid"/>
          </a:ln>
        </p:spPr>
      </p:sp>
      <p:sp>
        <p:nvSpPr>
          <p:cNvPr id="10" name="Text 8"/>
          <p:cNvSpPr txBox="1"/>
          <p:nvPr/>
        </p:nvSpPr>
        <p:spPr>
          <a:xfrm>
            <a:off x="475488" y="1655064"/>
            <a:ext cx="1746504" cy="457200"/>
          </a:xfrm>
          <a:prstGeom prst="rect">
            <a:avLst/>
          </a:prstGeom>
          <a:noFill/>
          <a:ln/>
        </p:spPr>
        <p:txBody>
          <a:bodyPr wrap="square" lIns="0" tIns="0" rIns="0" bIns="0" rtlCol="0" anchor="ctr"/>
          <a:lstStyle/>
          <a:p>
            <a:pPr indent="0" marL="0">
              <a:buNone/>
            </a:pPr>
            <a:r>
              <a:rPr lang="en-US" sz="1050" b="1" dirty="0">
                <a:solidFill>
                  <a:srgbClr val="FFFFFF"/>
                </a:solidFill>
                <a:latin typeface="Cambria" pitchFamily="34" charset="0"/>
                <a:ea typeface="Cambria" pitchFamily="34" charset="-122"/>
                <a:cs typeface="Cambria" pitchFamily="34" charset="-120"/>
              </a:rPr>
              <a:t>II · Comparisons</a:t>
            </a:r>
            <a:endParaRPr lang="en-US" sz="1050" dirty="0"/>
          </a:p>
        </p:txBody>
      </p:sp>
      <p:sp>
        <p:nvSpPr>
          <p:cNvPr id="11" name="Text 9"/>
          <p:cNvSpPr txBox="1"/>
          <p:nvPr/>
        </p:nvSpPr>
        <p:spPr>
          <a:xfrm>
            <a:off x="2395728" y="1655064"/>
            <a:ext cx="6336792" cy="457200"/>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The equality operators compare values of any type; the identity operators ask whether two names mean one object, and that question is reserved for None.</a:t>
            </a:r>
            <a:endParaRPr lang="en-US" sz="1050" dirty="0"/>
          </a:p>
        </p:txBody>
      </p:sp>
      <p:sp>
        <p:nvSpPr>
          <p:cNvPr id="12" name="Shape 10"/>
          <p:cNvSpPr/>
          <p:nvPr/>
        </p:nvSpPr>
        <p:spPr>
          <a:xfrm>
            <a:off x="411480" y="2176272"/>
            <a:ext cx="1874520" cy="457200"/>
          </a:xfrm>
          <a:prstGeom prst="roundRect">
            <a:avLst>
              <a:gd name="adj" fmla="val 14000"/>
            </a:avLst>
          </a:prstGeom>
          <a:solidFill>
            <a:srgbClr val="1E2A3A"/>
          </a:solidFill>
          <a:ln w="12700">
            <a:solidFill>
              <a:srgbClr val="1E2A3A"/>
            </a:solidFill>
            <a:prstDash val="solid"/>
          </a:ln>
        </p:spPr>
      </p:sp>
      <p:sp>
        <p:nvSpPr>
          <p:cNvPr id="13" name="Text 11"/>
          <p:cNvSpPr txBox="1"/>
          <p:nvPr/>
        </p:nvSpPr>
        <p:spPr>
          <a:xfrm>
            <a:off x="475488" y="2176272"/>
            <a:ext cx="1746504" cy="457200"/>
          </a:xfrm>
          <a:prstGeom prst="rect">
            <a:avLst/>
          </a:prstGeom>
          <a:noFill/>
          <a:ln/>
        </p:spPr>
        <p:txBody>
          <a:bodyPr wrap="square" lIns="0" tIns="0" rIns="0" bIns="0" rtlCol="0" anchor="ctr"/>
          <a:lstStyle/>
          <a:p>
            <a:pPr indent="0" marL="0">
              <a:buNone/>
            </a:pPr>
            <a:r>
              <a:rPr lang="en-US" sz="1050" b="1" dirty="0">
                <a:solidFill>
                  <a:srgbClr val="FFFFFF"/>
                </a:solidFill>
                <a:latin typeface="Cambria" pitchFamily="34" charset="0"/>
                <a:ea typeface="Cambria" pitchFamily="34" charset="-122"/>
                <a:cs typeface="Cambria" pitchFamily="34" charset="-120"/>
              </a:rPr>
              <a:t>III · Boolean operations</a:t>
            </a:r>
            <a:endParaRPr lang="en-US" sz="1050" dirty="0"/>
          </a:p>
        </p:txBody>
      </p:sp>
      <p:sp>
        <p:nvSpPr>
          <p:cNvPr id="14" name="Text 12"/>
          <p:cNvSpPr txBox="1"/>
          <p:nvPr/>
        </p:nvSpPr>
        <p:spPr>
          <a:xfrm>
            <a:off x="2395728" y="2176272"/>
            <a:ext cx="6336792" cy="457200"/>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not binds first, then and, then or. Evaluation stops as soon as the answer is known, and with values that are not Booleans the result is one of the operands.</a:t>
            </a:r>
            <a:endParaRPr lang="en-US" sz="1050" dirty="0"/>
          </a:p>
        </p:txBody>
      </p:sp>
      <p:sp>
        <p:nvSpPr>
          <p:cNvPr id="15" name="Shape 13"/>
          <p:cNvSpPr/>
          <p:nvPr/>
        </p:nvSpPr>
        <p:spPr>
          <a:xfrm>
            <a:off x="411480" y="2697480"/>
            <a:ext cx="1874520" cy="457200"/>
          </a:xfrm>
          <a:prstGeom prst="roundRect">
            <a:avLst>
              <a:gd name="adj" fmla="val 14000"/>
            </a:avLst>
          </a:prstGeom>
          <a:solidFill>
            <a:srgbClr val="1E2A3A"/>
          </a:solidFill>
          <a:ln w="12700">
            <a:solidFill>
              <a:srgbClr val="1E2A3A"/>
            </a:solidFill>
            <a:prstDash val="solid"/>
          </a:ln>
        </p:spPr>
      </p:sp>
      <p:sp>
        <p:nvSpPr>
          <p:cNvPr id="16" name="Text 14"/>
          <p:cNvSpPr txBox="1"/>
          <p:nvPr/>
        </p:nvSpPr>
        <p:spPr>
          <a:xfrm>
            <a:off x="475488" y="2697480"/>
            <a:ext cx="1746504" cy="457200"/>
          </a:xfrm>
          <a:prstGeom prst="rect">
            <a:avLst/>
          </a:prstGeom>
          <a:noFill/>
          <a:ln/>
        </p:spPr>
        <p:txBody>
          <a:bodyPr wrap="square" lIns="0" tIns="0" rIns="0" bIns="0" rtlCol="0" anchor="ctr"/>
          <a:lstStyle/>
          <a:p>
            <a:pPr indent="0" marL="0">
              <a:buNone/>
            </a:pPr>
            <a:r>
              <a:rPr lang="en-US" sz="1050" b="1" dirty="0">
                <a:solidFill>
                  <a:srgbClr val="FFFFFF"/>
                </a:solidFill>
                <a:latin typeface="Cambria" pitchFamily="34" charset="0"/>
                <a:ea typeface="Cambria" pitchFamily="34" charset="-122"/>
                <a:cs typeface="Cambria" pitchFamily="34" charset="-120"/>
              </a:rPr>
              <a:t>IV · Flow control</a:t>
            </a:r>
            <a:endParaRPr lang="en-US" sz="1050" dirty="0"/>
          </a:p>
        </p:txBody>
      </p:sp>
      <p:sp>
        <p:nvSpPr>
          <p:cNvPr id="17" name="Text 15"/>
          <p:cNvSpPr txBox="1"/>
          <p:nvPr/>
        </p:nvSpPr>
        <p:spPr>
          <a:xfrm>
            <a:off x="2395728" y="2697480"/>
            <a:ext cx="6336792" cy="457200"/>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A condition, a colon and an indented block: that shape is the whole of if, elif and else, and the first true condition in a chain is the only one that runs.</a:t>
            </a:r>
            <a:endParaRPr lang="en-US" sz="1050" dirty="0"/>
          </a:p>
        </p:txBody>
      </p:sp>
      <p:sp>
        <p:nvSpPr>
          <p:cNvPr id="18" name="Shape 16"/>
          <p:cNvSpPr/>
          <p:nvPr/>
        </p:nvSpPr>
        <p:spPr>
          <a:xfrm>
            <a:off x="411480" y="3218688"/>
            <a:ext cx="1874520" cy="457200"/>
          </a:xfrm>
          <a:prstGeom prst="roundRect">
            <a:avLst>
              <a:gd name="adj" fmla="val 14000"/>
            </a:avLst>
          </a:prstGeom>
          <a:solidFill>
            <a:srgbClr val="1E2A3A"/>
          </a:solidFill>
          <a:ln w="12700">
            <a:solidFill>
              <a:srgbClr val="1E2A3A"/>
            </a:solidFill>
            <a:prstDash val="solid"/>
          </a:ln>
        </p:spPr>
      </p:sp>
      <p:sp>
        <p:nvSpPr>
          <p:cNvPr id="19" name="Text 17"/>
          <p:cNvSpPr txBox="1"/>
          <p:nvPr/>
        </p:nvSpPr>
        <p:spPr>
          <a:xfrm>
            <a:off x="475488" y="3218688"/>
            <a:ext cx="1746504" cy="457200"/>
          </a:xfrm>
          <a:prstGeom prst="rect">
            <a:avLst/>
          </a:prstGeom>
          <a:noFill/>
          <a:ln/>
        </p:spPr>
        <p:txBody>
          <a:bodyPr wrap="square" lIns="0" tIns="0" rIns="0" bIns="0" rtlCol="0" anchor="ctr"/>
          <a:lstStyle/>
          <a:p>
            <a:pPr indent="0" marL="0">
              <a:buNone/>
            </a:pPr>
            <a:r>
              <a:rPr lang="en-US" sz="1050" b="1" dirty="0">
                <a:solidFill>
                  <a:srgbClr val="FFFFFF"/>
                </a:solidFill>
                <a:latin typeface="Cambria" pitchFamily="34" charset="0"/>
                <a:ea typeface="Cambria" pitchFamily="34" charset="-122"/>
                <a:cs typeface="Cambria" pitchFamily="34" charset="-120"/>
              </a:rPr>
              <a:t>V · Modern practice</a:t>
            </a:r>
            <a:endParaRPr lang="en-US" sz="1050" dirty="0"/>
          </a:p>
        </p:txBody>
      </p:sp>
      <p:sp>
        <p:nvSpPr>
          <p:cNvPr id="20" name="Text 18"/>
          <p:cNvSpPr txBox="1"/>
          <p:nvPr/>
        </p:nvSpPr>
        <p:spPr>
          <a:xfrm>
            <a:off x="2395728" y="3218688"/>
            <a:ext cx="6336792" cy="457200"/>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A match statement compares one value against patterns, which an elif chain can only do by repeating the value; PEP 8 asks for the plain test over a comparison with True.</a:t>
            </a:r>
            <a:endParaRPr lang="en-US" sz="1050" dirty="0"/>
          </a:p>
        </p:txBody>
      </p:sp>
      <p:sp>
        <p:nvSpPr>
          <p:cNvPr id="21" name="Shape 19"/>
          <p:cNvSpPr/>
          <p:nvPr/>
        </p:nvSpPr>
        <p:spPr>
          <a:xfrm>
            <a:off x="411480" y="3739896"/>
            <a:ext cx="1874520" cy="457200"/>
          </a:xfrm>
          <a:prstGeom prst="roundRect">
            <a:avLst>
              <a:gd name="adj" fmla="val 14000"/>
            </a:avLst>
          </a:prstGeom>
          <a:solidFill>
            <a:srgbClr val="1E2A3A"/>
          </a:solidFill>
          <a:ln w="12700">
            <a:solidFill>
              <a:srgbClr val="1E2A3A"/>
            </a:solidFill>
            <a:prstDash val="solid"/>
          </a:ln>
        </p:spPr>
      </p:sp>
      <p:sp>
        <p:nvSpPr>
          <p:cNvPr id="22" name="Text 20"/>
          <p:cNvSpPr txBox="1"/>
          <p:nvPr/>
        </p:nvSpPr>
        <p:spPr>
          <a:xfrm>
            <a:off x="475488" y="3739896"/>
            <a:ext cx="1746504" cy="457200"/>
          </a:xfrm>
          <a:prstGeom prst="rect">
            <a:avLst/>
          </a:prstGeom>
          <a:noFill/>
          <a:ln/>
        </p:spPr>
        <p:txBody>
          <a:bodyPr wrap="square" lIns="0" tIns="0" rIns="0" bIns="0" rtlCol="0" anchor="ctr"/>
          <a:lstStyle/>
          <a:p>
            <a:pPr indent="0" marL="0">
              <a:buNone/>
            </a:pPr>
            <a:r>
              <a:rPr lang="en-US" sz="1050" b="1" dirty="0">
                <a:solidFill>
                  <a:srgbClr val="FFFFFF"/>
                </a:solidFill>
                <a:latin typeface="Cambria" pitchFamily="34" charset="0"/>
                <a:ea typeface="Cambria" pitchFamily="34" charset="-122"/>
                <a:cs typeface="Cambria" pitchFamily="34" charset="-120"/>
              </a:rPr>
              <a:t>VI · Worked programs</a:t>
            </a:r>
            <a:endParaRPr lang="en-US" sz="1050" dirty="0"/>
          </a:p>
        </p:txBody>
      </p:sp>
      <p:sp>
        <p:nvSpPr>
          <p:cNvPr id="23" name="Text 21"/>
          <p:cNvSpPr txBox="1"/>
          <p:nvPr/>
        </p:nvSpPr>
        <p:spPr>
          <a:xfrm>
            <a:off x="2395728" y="3739896"/>
            <a:ext cx="6336792" cy="457200"/>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A chain with no else clause may run nothing at all, and a variable assigned only inside its branches then does not exist when a later line asks for it.</a:t>
            </a:r>
            <a:endParaRPr lang="en-US" sz="1050" dirty="0"/>
          </a:p>
        </p:txBody>
      </p:sp>
      <p:sp>
        <p:nvSpPr>
          <p:cNvPr id="24" name="Shape 22"/>
          <p:cNvSpPr/>
          <p:nvPr/>
        </p:nvSpPr>
        <p:spPr>
          <a:xfrm>
            <a:off x="411480" y="4261104"/>
            <a:ext cx="1874520" cy="457200"/>
          </a:xfrm>
          <a:prstGeom prst="roundRect">
            <a:avLst>
              <a:gd name="adj" fmla="val 14000"/>
            </a:avLst>
          </a:prstGeom>
          <a:solidFill>
            <a:srgbClr val="1E2A3A"/>
          </a:solidFill>
          <a:ln w="12700">
            <a:solidFill>
              <a:srgbClr val="1E2A3A"/>
            </a:solidFill>
            <a:prstDash val="solid"/>
          </a:ln>
        </p:spPr>
      </p:sp>
      <p:sp>
        <p:nvSpPr>
          <p:cNvPr id="25" name="Text 23"/>
          <p:cNvSpPr txBox="1"/>
          <p:nvPr/>
        </p:nvSpPr>
        <p:spPr>
          <a:xfrm>
            <a:off x="475488" y="4261104"/>
            <a:ext cx="1746504" cy="457200"/>
          </a:xfrm>
          <a:prstGeom prst="rect">
            <a:avLst/>
          </a:prstGeom>
          <a:noFill/>
          <a:ln/>
        </p:spPr>
        <p:txBody>
          <a:bodyPr wrap="square" lIns="0" tIns="0" rIns="0" bIns="0" rtlCol="0" anchor="ctr"/>
          <a:lstStyle/>
          <a:p>
            <a:pPr indent="0" marL="0">
              <a:buNone/>
            </a:pPr>
            <a:r>
              <a:rPr lang="en-US" sz="1050" b="1" dirty="0">
                <a:solidFill>
                  <a:srgbClr val="FFFFFF"/>
                </a:solidFill>
                <a:latin typeface="Cambria" pitchFamily="34" charset="0"/>
                <a:ea typeface="Cambria" pitchFamily="34" charset="-122"/>
                <a:cs typeface="Cambria" pitchFamily="34" charset="-120"/>
              </a:rPr>
              <a:t>VII · Error reports</a:t>
            </a:r>
            <a:endParaRPr lang="en-US" sz="1050" dirty="0"/>
          </a:p>
        </p:txBody>
      </p:sp>
      <p:sp>
        <p:nvSpPr>
          <p:cNvPr id="26" name="Text 24"/>
          <p:cNvSpPr txBox="1"/>
          <p:nvPr/>
        </p:nvSpPr>
        <p:spPr>
          <a:xfrm>
            <a:off x="2395728" y="4261104"/>
            <a:ext cx="6336792" cy="457200"/>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Read the last line first: it names the kind of error, which is more reliable than its wording, and the lines above it say where the program was.</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Questions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Predict the answer first, then settle it in the shell  ·  1 of 4</a:t>
            </a:r>
            <a:endParaRPr lang="en-US" sz="1300" dirty="0"/>
          </a:p>
        </p:txBody>
      </p:sp>
      <p:sp>
        <p:nvSpPr>
          <p:cNvPr id="6" name="Shape 4"/>
          <p:cNvSpPr/>
          <p:nvPr/>
        </p:nvSpPr>
        <p:spPr>
          <a:xfrm>
            <a:off x="411480" y="1234440"/>
            <a:ext cx="402336" cy="402336"/>
          </a:xfrm>
          <a:prstGeom prst="ellipse">
            <a:avLst/>
          </a:prstGeom>
          <a:solidFill>
            <a:srgbClr val="FFD43B"/>
          </a:solidFill>
          <a:ln w="12700">
            <a:solidFill>
              <a:srgbClr val="FFD43B"/>
            </a:solidFill>
            <a:prstDash val="solid"/>
          </a:ln>
        </p:spPr>
      </p:sp>
      <p:sp>
        <p:nvSpPr>
          <p:cNvPr id="7" name="Text 5"/>
          <p:cNvSpPr txBox="1"/>
          <p:nvPr/>
        </p:nvSpPr>
        <p:spPr>
          <a:xfrm>
            <a:off x="411480" y="123444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960120" y="1188720"/>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How are the two Boolean values spelled in Python?</a:t>
            </a:r>
            <a:endParaRPr lang="en-US" sz="1200" dirty="0"/>
          </a:p>
        </p:txBody>
      </p:sp>
      <p:sp>
        <p:nvSpPr>
          <p:cNvPr id="9" name="Shape 7"/>
          <p:cNvSpPr/>
          <p:nvPr/>
        </p:nvSpPr>
        <p:spPr>
          <a:xfrm>
            <a:off x="7086600" y="1261872"/>
            <a:ext cx="1645920" cy="347472"/>
          </a:xfrm>
          <a:prstGeom prst="roundRect">
            <a:avLst>
              <a:gd name="adj" fmla="val 15789"/>
            </a:avLst>
          </a:prstGeom>
          <a:solidFill>
            <a:srgbClr val="F1F4F8"/>
          </a:solidFill>
          <a:ln w="12700">
            <a:solidFill>
              <a:srgbClr val="F1F4F8"/>
            </a:solidFill>
            <a:prstDash val="solid"/>
          </a:ln>
        </p:spPr>
      </p:sp>
      <p:sp>
        <p:nvSpPr>
          <p:cNvPr id="10" name="Text 8"/>
          <p:cNvSpPr txBox="1"/>
          <p:nvPr/>
        </p:nvSpPr>
        <p:spPr>
          <a:xfrm>
            <a:off x="7114032" y="1261872"/>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BooleanValue</a:t>
            </a:r>
            <a:endParaRPr lang="en-US" sz="900" dirty="0"/>
          </a:p>
        </p:txBody>
      </p:sp>
      <p:sp>
        <p:nvSpPr>
          <p:cNvPr id="11" name="Shape 9"/>
          <p:cNvSpPr/>
          <p:nvPr/>
        </p:nvSpPr>
        <p:spPr>
          <a:xfrm>
            <a:off x="411480" y="1810512"/>
            <a:ext cx="402336" cy="402336"/>
          </a:xfrm>
          <a:prstGeom prst="ellipse">
            <a:avLst/>
          </a:prstGeom>
          <a:solidFill>
            <a:srgbClr val="FFD43B"/>
          </a:solidFill>
          <a:ln w="12700">
            <a:solidFill>
              <a:srgbClr val="FFD43B"/>
            </a:solidFill>
            <a:prstDash val="solid"/>
          </a:ln>
        </p:spPr>
      </p:sp>
      <p:sp>
        <p:nvSpPr>
          <p:cNvPr id="12" name="Text 10"/>
          <p:cNvSpPr txBox="1"/>
          <p:nvPr/>
        </p:nvSpPr>
        <p:spPr>
          <a:xfrm>
            <a:off x="411480" y="1810512"/>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2</a:t>
            </a:r>
            <a:endParaRPr lang="en-US" sz="1400" dirty="0"/>
          </a:p>
        </p:txBody>
      </p:sp>
      <p:sp>
        <p:nvSpPr>
          <p:cNvPr id="13" name="Text 11"/>
          <p:cNvSpPr txBox="1"/>
          <p:nvPr/>
        </p:nvSpPr>
        <p:spPr>
          <a:xfrm>
            <a:off x="960120" y="1764792"/>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Which of these values counts as false when Python tests it for truth?</a:t>
            </a:r>
            <a:endParaRPr lang="en-US" sz="1200" dirty="0"/>
          </a:p>
        </p:txBody>
      </p:sp>
      <p:sp>
        <p:nvSpPr>
          <p:cNvPr id="14" name="Shape 12"/>
          <p:cNvSpPr/>
          <p:nvPr/>
        </p:nvSpPr>
        <p:spPr>
          <a:xfrm>
            <a:off x="7086600" y="1837944"/>
            <a:ext cx="1645920" cy="347472"/>
          </a:xfrm>
          <a:prstGeom prst="roundRect">
            <a:avLst>
              <a:gd name="adj" fmla="val 15789"/>
            </a:avLst>
          </a:prstGeom>
          <a:solidFill>
            <a:srgbClr val="F1F4F8"/>
          </a:solidFill>
          <a:ln w="12700">
            <a:solidFill>
              <a:srgbClr val="F1F4F8"/>
            </a:solidFill>
            <a:prstDash val="solid"/>
          </a:ln>
        </p:spPr>
      </p:sp>
      <p:sp>
        <p:nvSpPr>
          <p:cNvPr id="15" name="Text 13"/>
          <p:cNvSpPr txBox="1"/>
          <p:nvPr/>
        </p:nvSpPr>
        <p:spPr>
          <a:xfrm>
            <a:off x="7114032" y="1837944"/>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Truthiness</a:t>
            </a:r>
            <a:endParaRPr lang="en-US" sz="900" dirty="0"/>
          </a:p>
        </p:txBody>
      </p:sp>
      <p:sp>
        <p:nvSpPr>
          <p:cNvPr id="16" name="Shape 14"/>
          <p:cNvSpPr/>
          <p:nvPr/>
        </p:nvSpPr>
        <p:spPr>
          <a:xfrm>
            <a:off x="411480" y="2386584"/>
            <a:ext cx="402336" cy="402336"/>
          </a:xfrm>
          <a:prstGeom prst="ellipse">
            <a:avLst/>
          </a:prstGeom>
          <a:solidFill>
            <a:srgbClr val="FFD43B"/>
          </a:solidFill>
          <a:ln w="12700">
            <a:solidFill>
              <a:srgbClr val="FFD43B"/>
            </a:solidFill>
            <a:prstDash val="solid"/>
          </a:ln>
        </p:spPr>
      </p:sp>
      <p:sp>
        <p:nvSpPr>
          <p:cNvPr id="17" name="Text 15"/>
          <p:cNvSpPr txBox="1"/>
          <p:nvPr/>
        </p:nvSpPr>
        <p:spPr>
          <a:xfrm>
            <a:off x="411480" y="2386584"/>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3</a:t>
            </a:r>
            <a:endParaRPr lang="en-US" sz="1400" dirty="0"/>
          </a:p>
        </p:txBody>
      </p:sp>
      <p:sp>
        <p:nvSpPr>
          <p:cNvPr id="18" name="Text 16"/>
          <p:cNvSpPr txBox="1"/>
          <p:nvPr/>
        </p:nvSpPr>
        <p:spPr>
          <a:xfrm>
            <a:off x="960120" y="2340864"/>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What does the value None stand for in a program?</a:t>
            </a:r>
            <a:endParaRPr lang="en-US" sz="1200" dirty="0"/>
          </a:p>
        </p:txBody>
      </p:sp>
      <p:sp>
        <p:nvSpPr>
          <p:cNvPr id="19" name="Shape 17"/>
          <p:cNvSpPr/>
          <p:nvPr/>
        </p:nvSpPr>
        <p:spPr>
          <a:xfrm>
            <a:off x="7086600" y="2414016"/>
            <a:ext cx="1645920" cy="347472"/>
          </a:xfrm>
          <a:prstGeom prst="roundRect">
            <a:avLst>
              <a:gd name="adj" fmla="val 15789"/>
            </a:avLst>
          </a:prstGeom>
          <a:solidFill>
            <a:srgbClr val="F1F4F8"/>
          </a:solidFill>
          <a:ln w="12700">
            <a:solidFill>
              <a:srgbClr val="F1F4F8"/>
            </a:solidFill>
            <a:prstDash val="solid"/>
          </a:ln>
        </p:spPr>
      </p:sp>
      <p:sp>
        <p:nvSpPr>
          <p:cNvPr id="20" name="Text 18"/>
          <p:cNvSpPr txBox="1"/>
          <p:nvPr/>
        </p:nvSpPr>
        <p:spPr>
          <a:xfrm>
            <a:off x="7114032" y="2414016"/>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NoneValue</a:t>
            </a:r>
            <a:endParaRPr lang="en-US" sz="900" dirty="0"/>
          </a:p>
        </p:txBody>
      </p:sp>
      <p:sp>
        <p:nvSpPr>
          <p:cNvPr id="21" name="Shape 19"/>
          <p:cNvSpPr/>
          <p:nvPr/>
        </p:nvSpPr>
        <p:spPr>
          <a:xfrm>
            <a:off x="411480" y="2962656"/>
            <a:ext cx="402336" cy="402336"/>
          </a:xfrm>
          <a:prstGeom prst="ellipse">
            <a:avLst/>
          </a:prstGeom>
          <a:solidFill>
            <a:srgbClr val="FFD43B"/>
          </a:solidFill>
          <a:ln w="12700">
            <a:solidFill>
              <a:srgbClr val="FFD43B"/>
            </a:solidFill>
            <a:prstDash val="solid"/>
          </a:ln>
        </p:spPr>
      </p:sp>
      <p:sp>
        <p:nvSpPr>
          <p:cNvPr id="22" name="Text 20"/>
          <p:cNvSpPr txBox="1"/>
          <p:nvPr/>
        </p:nvSpPr>
        <p:spPr>
          <a:xfrm>
            <a:off x="411480" y="2962656"/>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4</a:t>
            </a:r>
            <a:endParaRPr lang="en-US" sz="1400" dirty="0"/>
          </a:p>
        </p:txBody>
      </p:sp>
      <p:sp>
        <p:nvSpPr>
          <p:cNvPr id="23" name="Text 21"/>
          <p:cNvSpPr txBox="1"/>
          <p:nvPr/>
        </p:nvSpPr>
        <p:spPr>
          <a:xfrm>
            <a:off x="960120" y="2916936"/>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Which operator tests that two values are different?</a:t>
            </a:r>
            <a:endParaRPr lang="en-US" sz="1200" dirty="0"/>
          </a:p>
        </p:txBody>
      </p:sp>
      <p:sp>
        <p:nvSpPr>
          <p:cNvPr id="24" name="Shape 22"/>
          <p:cNvSpPr/>
          <p:nvPr/>
        </p:nvSpPr>
        <p:spPr>
          <a:xfrm>
            <a:off x="7086600" y="2990088"/>
            <a:ext cx="1645920" cy="347472"/>
          </a:xfrm>
          <a:prstGeom prst="roundRect">
            <a:avLst>
              <a:gd name="adj" fmla="val 15789"/>
            </a:avLst>
          </a:prstGeom>
          <a:solidFill>
            <a:srgbClr val="F1F4F8"/>
          </a:solidFill>
          <a:ln w="12700">
            <a:solidFill>
              <a:srgbClr val="F1F4F8"/>
            </a:solidFill>
            <a:prstDash val="solid"/>
          </a:ln>
        </p:spPr>
      </p:sp>
      <p:sp>
        <p:nvSpPr>
          <p:cNvPr id="25" name="Text 23"/>
          <p:cNvSpPr txBox="1"/>
          <p:nvPr/>
        </p:nvSpPr>
        <p:spPr>
          <a:xfrm>
            <a:off x="7114032" y="2990088"/>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Equality</a:t>
            </a:r>
            <a:endParaRPr lang="en-US" sz="900" dirty="0"/>
          </a:p>
        </p:txBody>
      </p:sp>
      <p:sp>
        <p:nvSpPr>
          <p:cNvPr id="26" name="Shape 24"/>
          <p:cNvSpPr/>
          <p:nvPr/>
        </p:nvSpPr>
        <p:spPr>
          <a:xfrm>
            <a:off x="411480" y="3538728"/>
            <a:ext cx="402336" cy="402336"/>
          </a:xfrm>
          <a:prstGeom prst="ellipse">
            <a:avLst/>
          </a:prstGeom>
          <a:solidFill>
            <a:srgbClr val="FFD43B"/>
          </a:solidFill>
          <a:ln w="12700">
            <a:solidFill>
              <a:srgbClr val="FFD43B"/>
            </a:solidFill>
            <a:prstDash val="solid"/>
          </a:ln>
        </p:spPr>
      </p:sp>
      <p:sp>
        <p:nvSpPr>
          <p:cNvPr id="27" name="Text 25"/>
          <p:cNvSpPr txBox="1"/>
          <p:nvPr/>
        </p:nvSpPr>
        <p:spPr>
          <a:xfrm>
            <a:off x="411480" y="3538728"/>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5</a:t>
            </a:r>
            <a:endParaRPr lang="en-US" sz="1400" dirty="0"/>
          </a:p>
        </p:txBody>
      </p:sp>
      <p:sp>
        <p:nvSpPr>
          <p:cNvPr id="28" name="Text 26"/>
          <p:cNvSpPr txBox="1"/>
          <p:nvPr/>
        </p:nvSpPr>
        <p:spPr>
          <a:xfrm>
            <a:off x="960120" y="3493008"/>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Which line only asks whether x holds 5, leaving x unchanged?</a:t>
            </a:r>
            <a:endParaRPr lang="en-US" sz="1200" dirty="0"/>
          </a:p>
        </p:txBody>
      </p:sp>
      <p:sp>
        <p:nvSpPr>
          <p:cNvPr id="29" name="Shape 27"/>
          <p:cNvSpPr/>
          <p:nvPr/>
        </p:nvSpPr>
        <p:spPr>
          <a:xfrm>
            <a:off x="7086600" y="3566160"/>
            <a:ext cx="1645920" cy="347472"/>
          </a:xfrm>
          <a:prstGeom prst="roundRect">
            <a:avLst>
              <a:gd name="adj" fmla="val 15789"/>
            </a:avLst>
          </a:prstGeom>
          <a:solidFill>
            <a:srgbClr val="F1F4F8"/>
          </a:solidFill>
          <a:ln w="12700">
            <a:solidFill>
              <a:srgbClr val="F1F4F8"/>
            </a:solidFill>
            <a:prstDash val="solid"/>
          </a:ln>
        </p:spPr>
      </p:sp>
      <p:sp>
        <p:nvSpPr>
          <p:cNvPr id="30" name="Text 28"/>
          <p:cNvSpPr txBox="1"/>
          <p:nvPr/>
        </p:nvSpPr>
        <p:spPr>
          <a:xfrm>
            <a:off x="7114032" y="3566160"/>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EqualsVersusAssign</a:t>
            </a:r>
            <a:endParaRPr lang="en-US" sz="900" dirty="0"/>
          </a:p>
        </p:txBody>
      </p:sp>
      <p:sp>
        <p:nvSpPr>
          <p:cNvPr id="31" name="Shape 29"/>
          <p:cNvSpPr/>
          <p:nvPr/>
        </p:nvSpPr>
        <p:spPr>
          <a:xfrm>
            <a:off x="411480" y="4114800"/>
            <a:ext cx="402336" cy="402336"/>
          </a:xfrm>
          <a:prstGeom prst="ellipse">
            <a:avLst/>
          </a:prstGeom>
          <a:solidFill>
            <a:srgbClr val="FFD43B"/>
          </a:solidFill>
          <a:ln w="12700">
            <a:solidFill>
              <a:srgbClr val="FFD43B"/>
            </a:solidFill>
            <a:prstDash val="solid"/>
          </a:ln>
        </p:spPr>
      </p:sp>
      <p:sp>
        <p:nvSpPr>
          <p:cNvPr id="32" name="Text 30"/>
          <p:cNvSpPr txBox="1"/>
          <p:nvPr/>
        </p:nvSpPr>
        <p:spPr>
          <a:xfrm>
            <a:off x="411480" y="411480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6</a:t>
            </a:r>
            <a:endParaRPr lang="en-US" sz="1400" dirty="0"/>
          </a:p>
        </p:txBody>
      </p:sp>
      <p:sp>
        <p:nvSpPr>
          <p:cNvPr id="33" name="Text 31"/>
          <p:cNvSpPr txBox="1"/>
          <p:nvPr/>
        </p:nvSpPr>
        <p:spPr>
          <a:xfrm>
            <a:off x="960120" y="4069080"/>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What does the is operator compare?</a:t>
            </a:r>
            <a:endParaRPr lang="en-US" sz="1200" dirty="0"/>
          </a:p>
        </p:txBody>
      </p:sp>
      <p:sp>
        <p:nvSpPr>
          <p:cNvPr id="34" name="Shape 32"/>
          <p:cNvSpPr/>
          <p:nvPr/>
        </p:nvSpPr>
        <p:spPr>
          <a:xfrm>
            <a:off x="7086600" y="4142232"/>
            <a:ext cx="1645920" cy="347472"/>
          </a:xfrm>
          <a:prstGeom prst="roundRect">
            <a:avLst>
              <a:gd name="adj" fmla="val 15789"/>
            </a:avLst>
          </a:prstGeom>
          <a:solidFill>
            <a:srgbClr val="F1F4F8"/>
          </a:solidFill>
          <a:ln w="12700">
            <a:solidFill>
              <a:srgbClr val="F1F4F8"/>
            </a:solidFill>
            <a:prstDash val="solid"/>
          </a:ln>
        </p:spPr>
      </p:sp>
      <p:sp>
        <p:nvSpPr>
          <p:cNvPr id="35" name="Text 33"/>
          <p:cNvSpPr txBox="1"/>
          <p:nvPr/>
        </p:nvSpPr>
        <p:spPr>
          <a:xfrm>
            <a:off x="7114032" y="4142232"/>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IdentityComparison</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Questions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Predict the answer first, then settle it in the shell  ·  2 of 4</a:t>
            </a:r>
            <a:endParaRPr lang="en-US" sz="1300" dirty="0"/>
          </a:p>
        </p:txBody>
      </p:sp>
      <p:sp>
        <p:nvSpPr>
          <p:cNvPr id="6" name="Shape 4"/>
          <p:cNvSpPr/>
          <p:nvPr/>
        </p:nvSpPr>
        <p:spPr>
          <a:xfrm>
            <a:off x="411480" y="1234440"/>
            <a:ext cx="402336" cy="402336"/>
          </a:xfrm>
          <a:prstGeom prst="ellipse">
            <a:avLst/>
          </a:prstGeom>
          <a:solidFill>
            <a:srgbClr val="FFD43B"/>
          </a:solidFill>
          <a:ln w="12700">
            <a:solidFill>
              <a:srgbClr val="FFD43B"/>
            </a:solidFill>
            <a:prstDash val="solid"/>
          </a:ln>
        </p:spPr>
      </p:sp>
      <p:sp>
        <p:nvSpPr>
          <p:cNvPr id="7" name="Text 5"/>
          <p:cNvSpPr txBox="1"/>
          <p:nvPr/>
        </p:nvSpPr>
        <p:spPr>
          <a:xfrm>
            <a:off x="411480" y="123444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7</a:t>
            </a:r>
            <a:endParaRPr lang="en-US" sz="1400" dirty="0"/>
          </a:p>
        </p:txBody>
      </p:sp>
      <p:sp>
        <p:nvSpPr>
          <p:cNvPr id="8" name="Text 6"/>
          <p:cNvSpPr txBox="1"/>
          <p:nvPr/>
        </p:nvSpPr>
        <p:spPr>
          <a:xfrm>
            <a:off x="960120" y="1188720"/>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What is the difference between &lt; and &lt;=?</a:t>
            </a:r>
            <a:endParaRPr lang="en-US" sz="1200" dirty="0"/>
          </a:p>
        </p:txBody>
      </p:sp>
      <p:sp>
        <p:nvSpPr>
          <p:cNvPr id="9" name="Shape 7"/>
          <p:cNvSpPr/>
          <p:nvPr/>
        </p:nvSpPr>
        <p:spPr>
          <a:xfrm>
            <a:off x="7086600" y="1261872"/>
            <a:ext cx="1645920" cy="347472"/>
          </a:xfrm>
          <a:prstGeom prst="roundRect">
            <a:avLst>
              <a:gd name="adj" fmla="val 15789"/>
            </a:avLst>
          </a:prstGeom>
          <a:solidFill>
            <a:srgbClr val="F1F4F8"/>
          </a:solidFill>
          <a:ln w="12700">
            <a:solidFill>
              <a:srgbClr val="F1F4F8"/>
            </a:solidFill>
            <a:prstDash val="solid"/>
          </a:ln>
        </p:spPr>
      </p:sp>
      <p:sp>
        <p:nvSpPr>
          <p:cNvPr id="10" name="Text 8"/>
          <p:cNvSpPr txBox="1"/>
          <p:nvPr/>
        </p:nvSpPr>
        <p:spPr>
          <a:xfrm>
            <a:off x="7114032" y="1261872"/>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Ordering</a:t>
            </a:r>
            <a:endParaRPr lang="en-US" sz="900" dirty="0"/>
          </a:p>
        </p:txBody>
      </p:sp>
      <p:sp>
        <p:nvSpPr>
          <p:cNvPr id="11" name="Shape 9"/>
          <p:cNvSpPr/>
          <p:nvPr/>
        </p:nvSpPr>
        <p:spPr>
          <a:xfrm>
            <a:off x="411480" y="1810512"/>
            <a:ext cx="402336" cy="402336"/>
          </a:xfrm>
          <a:prstGeom prst="ellipse">
            <a:avLst/>
          </a:prstGeom>
          <a:solidFill>
            <a:srgbClr val="FFD43B"/>
          </a:solidFill>
          <a:ln w="12700">
            <a:solidFill>
              <a:srgbClr val="FFD43B"/>
            </a:solidFill>
            <a:prstDash val="solid"/>
          </a:ln>
        </p:spPr>
      </p:sp>
      <p:sp>
        <p:nvSpPr>
          <p:cNvPr id="12" name="Text 10"/>
          <p:cNvSpPr txBox="1"/>
          <p:nvPr/>
        </p:nvSpPr>
        <p:spPr>
          <a:xfrm>
            <a:off x="411480" y="1810512"/>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8</a:t>
            </a:r>
            <a:endParaRPr lang="en-US" sz="1400" dirty="0"/>
          </a:p>
        </p:txBody>
      </p:sp>
      <p:sp>
        <p:nvSpPr>
          <p:cNvPr id="13" name="Text 11"/>
          <p:cNvSpPr txBox="1"/>
          <p:nvPr/>
        </p:nvSpPr>
        <p:spPr>
          <a:xfrm>
            <a:off x="960120" y="1764792"/>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Why is 'Zebra' &lt; 'apple' true in Python?</a:t>
            </a:r>
            <a:endParaRPr lang="en-US" sz="1200" dirty="0"/>
          </a:p>
        </p:txBody>
      </p:sp>
      <p:sp>
        <p:nvSpPr>
          <p:cNvPr id="14" name="Shape 12"/>
          <p:cNvSpPr/>
          <p:nvPr/>
        </p:nvSpPr>
        <p:spPr>
          <a:xfrm>
            <a:off x="7086600" y="1837944"/>
            <a:ext cx="1645920" cy="347472"/>
          </a:xfrm>
          <a:prstGeom prst="roundRect">
            <a:avLst>
              <a:gd name="adj" fmla="val 15789"/>
            </a:avLst>
          </a:prstGeom>
          <a:solidFill>
            <a:srgbClr val="F1F4F8"/>
          </a:solidFill>
          <a:ln w="12700">
            <a:solidFill>
              <a:srgbClr val="F1F4F8"/>
            </a:solidFill>
            <a:prstDash val="solid"/>
          </a:ln>
        </p:spPr>
      </p:sp>
      <p:sp>
        <p:nvSpPr>
          <p:cNvPr id="15" name="Text 13"/>
          <p:cNvSpPr txBox="1"/>
          <p:nvPr/>
        </p:nvSpPr>
        <p:spPr>
          <a:xfrm>
            <a:off x="7114032" y="1837944"/>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StringOrdering</a:t>
            </a:r>
            <a:endParaRPr lang="en-US" sz="900" dirty="0"/>
          </a:p>
        </p:txBody>
      </p:sp>
      <p:sp>
        <p:nvSpPr>
          <p:cNvPr id="16" name="Shape 14"/>
          <p:cNvSpPr/>
          <p:nvPr/>
        </p:nvSpPr>
        <p:spPr>
          <a:xfrm>
            <a:off x="411480" y="2386584"/>
            <a:ext cx="402336" cy="402336"/>
          </a:xfrm>
          <a:prstGeom prst="ellipse">
            <a:avLst/>
          </a:prstGeom>
          <a:solidFill>
            <a:srgbClr val="FFD43B"/>
          </a:solidFill>
          <a:ln w="12700">
            <a:solidFill>
              <a:srgbClr val="FFD43B"/>
            </a:solidFill>
            <a:prstDash val="solid"/>
          </a:ln>
        </p:spPr>
      </p:sp>
      <p:sp>
        <p:nvSpPr>
          <p:cNvPr id="17" name="Text 15"/>
          <p:cNvSpPr txBox="1"/>
          <p:nvPr/>
        </p:nvSpPr>
        <p:spPr>
          <a:xfrm>
            <a:off x="411480" y="2386584"/>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9</a:t>
            </a:r>
            <a:endParaRPr lang="en-US" sz="1400" dirty="0"/>
          </a:p>
        </p:txBody>
      </p:sp>
      <p:sp>
        <p:nvSpPr>
          <p:cNvPr id="18" name="Text 16"/>
          <p:cNvSpPr txBox="1"/>
          <p:nvPr/>
        </p:nvSpPr>
        <p:spPr>
          <a:xfrm>
            <a:off x="960120" y="2340864"/>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In which case is an and expression false?</a:t>
            </a:r>
            <a:endParaRPr lang="en-US" sz="1200" dirty="0"/>
          </a:p>
        </p:txBody>
      </p:sp>
      <p:sp>
        <p:nvSpPr>
          <p:cNvPr id="19" name="Shape 17"/>
          <p:cNvSpPr/>
          <p:nvPr/>
        </p:nvSpPr>
        <p:spPr>
          <a:xfrm>
            <a:off x="7086600" y="2414016"/>
            <a:ext cx="1645920" cy="347472"/>
          </a:xfrm>
          <a:prstGeom prst="roundRect">
            <a:avLst>
              <a:gd name="adj" fmla="val 15789"/>
            </a:avLst>
          </a:prstGeom>
          <a:solidFill>
            <a:srgbClr val="F1F4F8"/>
          </a:solidFill>
          <a:ln w="12700">
            <a:solidFill>
              <a:srgbClr val="F1F4F8"/>
            </a:solidFill>
            <a:prstDash val="solid"/>
          </a:ln>
        </p:spPr>
      </p:sp>
      <p:sp>
        <p:nvSpPr>
          <p:cNvPr id="20" name="Text 18"/>
          <p:cNvSpPr txBox="1"/>
          <p:nvPr/>
        </p:nvSpPr>
        <p:spPr>
          <a:xfrm>
            <a:off x="7114032" y="2414016"/>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AndOperator</a:t>
            </a:r>
            <a:endParaRPr lang="en-US" sz="900" dirty="0"/>
          </a:p>
        </p:txBody>
      </p:sp>
      <p:sp>
        <p:nvSpPr>
          <p:cNvPr id="21" name="Shape 19"/>
          <p:cNvSpPr/>
          <p:nvPr/>
        </p:nvSpPr>
        <p:spPr>
          <a:xfrm>
            <a:off x="411480" y="2962656"/>
            <a:ext cx="402336" cy="402336"/>
          </a:xfrm>
          <a:prstGeom prst="ellipse">
            <a:avLst/>
          </a:prstGeom>
          <a:solidFill>
            <a:srgbClr val="FFD43B"/>
          </a:solidFill>
          <a:ln w="12700">
            <a:solidFill>
              <a:srgbClr val="FFD43B"/>
            </a:solidFill>
            <a:prstDash val="solid"/>
          </a:ln>
        </p:spPr>
      </p:sp>
      <p:sp>
        <p:nvSpPr>
          <p:cNvPr id="22" name="Text 20"/>
          <p:cNvSpPr txBox="1"/>
          <p:nvPr/>
        </p:nvSpPr>
        <p:spPr>
          <a:xfrm>
            <a:off x="411480" y="2962656"/>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10</a:t>
            </a:r>
            <a:endParaRPr lang="en-US" sz="1400" dirty="0"/>
          </a:p>
        </p:txBody>
      </p:sp>
      <p:sp>
        <p:nvSpPr>
          <p:cNvPr id="23" name="Text 21"/>
          <p:cNvSpPr txBox="1"/>
          <p:nvPr/>
        </p:nvSpPr>
        <p:spPr>
          <a:xfrm>
            <a:off x="960120" y="2916936"/>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In which case is an or expression false?</a:t>
            </a:r>
            <a:endParaRPr lang="en-US" sz="1200" dirty="0"/>
          </a:p>
        </p:txBody>
      </p:sp>
      <p:sp>
        <p:nvSpPr>
          <p:cNvPr id="24" name="Shape 22"/>
          <p:cNvSpPr/>
          <p:nvPr/>
        </p:nvSpPr>
        <p:spPr>
          <a:xfrm>
            <a:off x="7086600" y="2990088"/>
            <a:ext cx="1645920" cy="347472"/>
          </a:xfrm>
          <a:prstGeom prst="roundRect">
            <a:avLst>
              <a:gd name="adj" fmla="val 15789"/>
            </a:avLst>
          </a:prstGeom>
          <a:solidFill>
            <a:srgbClr val="F1F4F8"/>
          </a:solidFill>
          <a:ln w="12700">
            <a:solidFill>
              <a:srgbClr val="F1F4F8"/>
            </a:solidFill>
            <a:prstDash val="solid"/>
          </a:ln>
        </p:spPr>
      </p:sp>
      <p:sp>
        <p:nvSpPr>
          <p:cNvPr id="25" name="Text 23"/>
          <p:cNvSpPr txBox="1"/>
          <p:nvPr/>
        </p:nvSpPr>
        <p:spPr>
          <a:xfrm>
            <a:off x="7114032" y="2990088"/>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OrOperator</a:t>
            </a:r>
            <a:endParaRPr lang="en-US" sz="900" dirty="0"/>
          </a:p>
        </p:txBody>
      </p:sp>
      <p:sp>
        <p:nvSpPr>
          <p:cNvPr id="26" name="Shape 24"/>
          <p:cNvSpPr/>
          <p:nvPr/>
        </p:nvSpPr>
        <p:spPr>
          <a:xfrm>
            <a:off x="411480" y="3538728"/>
            <a:ext cx="402336" cy="402336"/>
          </a:xfrm>
          <a:prstGeom prst="ellipse">
            <a:avLst/>
          </a:prstGeom>
          <a:solidFill>
            <a:srgbClr val="FFD43B"/>
          </a:solidFill>
          <a:ln w="12700">
            <a:solidFill>
              <a:srgbClr val="FFD43B"/>
            </a:solidFill>
            <a:prstDash val="solid"/>
          </a:ln>
        </p:spPr>
      </p:sp>
      <p:sp>
        <p:nvSpPr>
          <p:cNvPr id="27" name="Text 25"/>
          <p:cNvSpPr txBox="1"/>
          <p:nvPr/>
        </p:nvSpPr>
        <p:spPr>
          <a:xfrm>
            <a:off x="411480" y="3538728"/>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11</a:t>
            </a:r>
            <a:endParaRPr lang="en-US" sz="1400" dirty="0"/>
          </a:p>
        </p:txBody>
      </p:sp>
      <p:sp>
        <p:nvSpPr>
          <p:cNvPr id="28" name="Text 26"/>
          <p:cNvSpPr txBox="1"/>
          <p:nvPr/>
        </p:nvSpPr>
        <p:spPr>
          <a:xfrm>
            <a:off x="960120" y="3493008"/>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What does the or operator return when its first operand is true?</a:t>
            </a:r>
            <a:endParaRPr lang="en-US" sz="1200" dirty="0"/>
          </a:p>
        </p:txBody>
      </p:sp>
      <p:sp>
        <p:nvSpPr>
          <p:cNvPr id="29" name="Shape 27"/>
          <p:cNvSpPr/>
          <p:nvPr/>
        </p:nvSpPr>
        <p:spPr>
          <a:xfrm>
            <a:off x="7086600" y="3566160"/>
            <a:ext cx="1645920" cy="347472"/>
          </a:xfrm>
          <a:prstGeom prst="roundRect">
            <a:avLst>
              <a:gd name="adj" fmla="val 15789"/>
            </a:avLst>
          </a:prstGeom>
          <a:solidFill>
            <a:srgbClr val="F1F4F8"/>
          </a:solidFill>
          <a:ln w="12700">
            <a:solidFill>
              <a:srgbClr val="F1F4F8"/>
            </a:solidFill>
            <a:prstDash val="solid"/>
          </a:ln>
        </p:spPr>
      </p:sp>
      <p:sp>
        <p:nvSpPr>
          <p:cNvPr id="30" name="Text 28"/>
          <p:cNvSpPr txBox="1"/>
          <p:nvPr/>
        </p:nvSpPr>
        <p:spPr>
          <a:xfrm>
            <a:off x="7114032" y="3566160"/>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ShortCircuit</a:t>
            </a:r>
            <a:endParaRPr lang="en-US" sz="900" dirty="0"/>
          </a:p>
        </p:txBody>
      </p:sp>
      <p:sp>
        <p:nvSpPr>
          <p:cNvPr id="31" name="Shape 29"/>
          <p:cNvSpPr/>
          <p:nvPr/>
        </p:nvSpPr>
        <p:spPr>
          <a:xfrm>
            <a:off x="411480" y="4114800"/>
            <a:ext cx="402336" cy="402336"/>
          </a:xfrm>
          <a:prstGeom prst="ellipse">
            <a:avLst/>
          </a:prstGeom>
          <a:solidFill>
            <a:srgbClr val="FFD43B"/>
          </a:solidFill>
          <a:ln w="12700">
            <a:solidFill>
              <a:srgbClr val="FFD43B"/>
            </a:solidFill>
            <a:prstDash val="solid"/>
          </a:ln>
        </p:spPr>
      </p:sp>
      <p:sp>
        <p:nvSpPr>
          <p:cNvPr id="32" name="Text 30"/>
          <p:cNvSpPr txBox="1"/>
          <p:nvPr/>
        </p:nvSpPr>
        <p:spPr>
          <a:xfrm>
            <a:off x="411480" y="411480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12</a:t>
            </a:r>
            <a:endParaRPr lang="en-US" sz="1400" dirty="0"/>
          </a:p>
        </p:txBody>
      </p:sp>
      <p:sp>
        <p:nvSpPr>
          <p:cNvPr id="33" name="Text 31"/>
          <p:cNvSpPr txBox="1"/>
          <p:nvPr/>
        </p:nvSpPr>
        <p:spPr>
          <a:xfrm>
            <a:off x="960120" y="4069080"/>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What does an and expression return when its first operand is false?</a:t>
            </a:r>
            <a:endParaRPr lang="en-US" sz="1200" dirty="0"/>
          </a:p>
        </p:txBody>
      </p:sp>
      <p:sp>
        <p:nvSpPr>
          <p:cNvPr id="34" name="Shape 32"/>
          <p:cNvSpPr/>
          <p:nvPr/>
        </p:nvSpPr>
        <p:spPr>
          <a:xfrm>
            <a:off x="7086600" y="4142232"/>
            <a:ext cx="1645920" cy="347472"/>
          </a:xfrm>
          <a:prstGeom prst="roundRect">
            <a:avLst>
              <a:gd name="adj" fmla="val 15789"/>
            </a:avLst>
          </a:prstGeom>
          <a:solidFill>
            <a:srgbClr val="F1F4F8"/>
          </a:solidFill>
          <a:ln w="12700">
            <a:solidFill>
              <a:srgbClr val="F1F4F8"/>
            </a:solidFill>
            <a:prstDash val="solid"/>
          </a:ln>
        </p:spPr>
      </p:sp>
      <p:sp>
        <p:nvSpPr>
          <p:cNvPr id="35" name="Text 33"/>
          <p:cNvSpPr txBox="1"/>
          <p:nvPr/>
        </p:nvSpPr>
        <p:spPr>
          <a:xfrm>
            <a:off x="7114032" y="4142232"/>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OperandResult</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Questions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Predict the answer first, then settle it in the shell  ·  3 of 4</a:t>
            </a:r>
            <a:endParaRPr lang="en-US" sz="1300" dirty="0"/>
          </a:p>
        </p:txBody>
      </p:sp>
      <p:sp>
        <p:nvSpPr>
          <p:cNvPr id="6" name="Shape 4"/>
          <p:cNvSpPr/>
          <p:nvPr/>
        </p:nvSpPr>
        <p:spPr>
          <a:xfrm>
            <a:off x="411480" y="1234440"/>
            <a:ext cx="402336" cy="402336"/>
          </a:xfrm>
          <a:prstGeom prst="ellipse">
            <a:avLst/>
          </a:prstGeom>
          <a:solidFill>
            <a:srgbClr val="FFD43B"/>
          </a:solidFill>
          <a:ln w="12700">
            <a:solidFill>
              <a:srgbClr val="FFD43B"/>
            </a:solidFill>
            <a:prstDash val="solid"/>
          </a:ln>
        </p:spPr>
      </p:sp>
      <p:sp>
        <p:nvSpPr>
          <p:cNvPr id="7" name="Text 5"/>
          <p:cNvSpPr txBox="1"/>
          <p:nvPr/>
        </p:nvSpPr>
        <p:spPr>
          <a:xfrm>
            <a:off x="411480" y="123444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13</a:t>
            </a:r>
            <a:endParaRPr lang="en-US" sz="1400" dirty="0"/>
          </a:p>
        </p:txBody>
      </p:sp>
      <p:sp>
        <p:nvSpPr>
          <p:cNvPr id="8" name="Text 6"/>
          <p:cNvSpPr txBox="1"/>
          <p:nvPr/>
        </p:nvSpPr>
        <p:spPr>
          <a:xfrm>
            <a:off x="960120" y="1188720"/>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In which order does Python apply the three Boolean operators?</a:t>
            </a:r>
            <a:endParaRPr lang="en-US" sz="1200" dirty="0"/>
          </a:p>
        </p:txBody>
      </p:sp>
      <p:sp>
        <p:nvSpPr>
          <p:cNvPr id="9" name="Shape 7"/>
          <p:cNvSpPr/>
          <p:nvPr/>
        </p:nvSpPr>
        <p:spPr>
          <a:xfrm>
            <a:off x="7086600" y="1261872"/>
            <a:ext cx="1645920" cy="347472"/>
          </a:xfrm>
          <a:prstGeom prst="roundRect">
            <a:avLst>
              <a:gd name="adj" fmla="val 15789"/>
            </a:avLst>
          </a:prstGeom>
          <a:solidFill>
            <a:srgbClr val="F1F4F8"/>
          </a:solidFill>
          <a:ln w="12700">
            <a:solidFill>
              <a:srgbClr val="F1F4F8"/>
            </a:solidFill>
            <a:prstDash val="solid"/>
          </a:ln>
        </p:spPr>
      </p:sp>
      <p:sp>
        <p:nvSpPr>
          <p:cNvPr id="10" name="Text 8"/>
          <p:cNvSpPr txBox="1"/>
          <p:nvPr/>
        </p:nvSpPr>
        <p:spPr>
          <a:xfrm>
            <a:off x="7114032" y="1261872"/>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BooleanPrecedence</a:t>
            </a:r>
            <a:endParaRPr lang="en-US" sz="900" dirty="0"/>
          </a:p>
        </p:txBody>
      </p:sp>
      <p:sp>
        <p:nvSpPr>
          <p:cNvPr id="11" name="Shape 9"/>
          <p:cNvSpPr/>
          <p:nvPr/>
        </p:nvSpPr>
        <p:spPr>
          <a:xfrm>
            <a:off x="411480" y="1810512"/>
            <a:ext cx="402336" cy="402336"/>
          </a:xfrm>
          <a:prstGeom prst="ellipse">
            <a:avLst/>
          </a:prstGeom>
          <a:solidFill>
            <a:srgbClr val="FFD43B"/>
          </a:solidFill>
          <a:ln w="12700">
            <a:solidFill>
              <a:srgbClr val="FFD43B"/>
            </a:solidFill>
            <a:prstDash val="solid"/>
          </a:ln>
        </p:spPr>
      </p:sp>
      <p:sp>
        <p:nvSpPr>
          <p:cNvPr id="12" name="Text 10"/>
          <p:cNvSpPr txBox="1"/>
          <p:nvPr/>
        </p:nvSpPr>
        <p:spPr>
          <a:xfrm>
            <a:off x="411480" y="1810512"/>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14</a:t>
            </a:r>
            <a:endParaRPr lang="en-US" sz="1400" dirty="0"/>
          </a:p>
        </p:txBody>
      </p:sp>
      <p:sp>
        <p:nvSpPr>
          <p:cNvPr id="13" name="Text 11"/>
          <p:cNvSpPr txBox="1"/>
          <p:nvPr/>
        </p:nvSpPr>
        <p:spPr>
          <a:xfrm>
            <a:off x="960120" y="1764792"/>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What happens when a line is indented for no reason, with no block opened before it?</a:t>
            </a:r>
            <a:endParaRPr lang="en-US" sz="1200" dirty="0"/>
          </a:p>
        </p:txBody>
      </p:sp>
      <p:sp>
        <p:nvSpPr>
          <p:cNvPr id="14" name="Shape 12"/>
          <p:cNvSpPr/>
          <p:nvPr/>
        </p:nvSpPr>
        <p:spPr>
          <a:xfrm>
            <a:off x="7086600" y="1837944"/>
            <a:ext cx="1645920" cy="347472"/>
          </a:xfrm>
          <a:prstGeom prst="roundRect">
            <a:avLst>
              <a:gd name="adj" fmla="val 15789"/>
            </a:avLst>
          </a:prstGeom>
          <a:solidFill>
            <a:srgbClr val="F1F4F8"/>
          </a:solidFill>
          <a:ln w="12700">
            <a:solidFill>
              <a:srgbClr val="F1F4F8"/>
            </a:solidFill>
            <a:prstDash val="solid"/>
          </a:ln>
        </p:spPr>
      </p:sp>
      <p:sp>
        <p:nvSpPr>
          <p:cNvPr id="15" name="Text 13"/>
          <p:cNvSpPr txBox="1"/>
          <p:nvPr/>
        </p:nvSpPr>
        <p:spPr>
          <a:xfrm>
            <a:off x="7114032" y="1837944"/>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Indentation</a:t>
            </a:r>
            <a:endParaRPr lang="en-US" sz="900" dirty="0"/>
          </a:p>
        </p:txBody>
      </p:sp>
      <p:sp>
        <p:nvSpPr>
          <p:cNvPr id="16" name="Shape 14"/>
          <p:cNvSpPr/>
          <p:nvPr/>
        </p:nvSpPr>
        <p:spPr>
          <a:xfrm>
            <a:off x="411480" y="2386584"/>
            <a:ext cx="402336" cy="402336"/>
          </a:xfrm>
          <a:prstGeom prst="ellipse">
            <a:avLst/>
          </a:prstGeom>
          <a:solidFill>
            <a:srgbClr val="FFD43B"/>
          </a:solidFill>
          <a:ln w="12700">
            <a:solidFill>
              <a:srgbClr val="FFD43B"/>
            </a:solidFill>
            <a:prstDash val="solid"/>
          </a:ln>
        </p:spPr>
      </p:sp>
      <p:sp>
        <p:nvSpPr>
          <p:cNvPr id="17" name="Text 15"/>
          <p:cNvSpPr txBox="1"/>
          <p:nvPr/>
        </p:nvSpPr>
        <p:spPr>
          <a:xfrm>
            <a:off x="411480" y="2386584"/>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15</a:t>
            </a:r>
            <a:endParaRPr lang="en-US" sz="1400" dirty="0"/>
          </a:p>
        </p:txBody>
      </p:sp>
      <p:sp>
        <p:nvSpPr>
          <p:cNvPr id="18" name="Text 16"/>
          <p:cNvSpPr txBox="1"/>
          <p:nvPr/>
        </p:nvSpPr>
        <p:spPr>
          <a:xfrm>
            <a:off x="960120" y="2340864"/>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What does an if statement do when its condition is false?</a:t>
            </a:r>
            <a:endParaRPr lang="en-US" sz="1200" dirty="0"/>
          </a:p>
        </p:txBody>
      </p:sp>
      <p:sp>
        <p:nvSpPr>
          <p:cNvPr id="19" name="Shape 17"/>
          <p:cNvSpPr/>
          <p:nvPr/>
        </p:nvSpPr>
        <p:spPr>
          <a:xfrm>
            <a:off x="7086600" y="2414016"/>
            <a:ext cx="1645920" cy="347472"/>
          </a:xfrm>
          <a:prstGeom prst="roundRect">
            <a:avLst>
              <a:gd name="adj" fmla="val 15789"/>
            </a:avLst>
          </a:prstGeom>
          <a:solidFill>
            <a:srgbClr val="F1F4F8"/>
          </a:solidFill>
          <a:ln w="12700">
            <a:solidFill>
              <a:srgbClr val="F1F4F8"/>
            </a:solidFill>
            <a:prstDash val="solid"/>
          </a:ln>
        </p:spPr>
      </p:sp>
      <p:sp>
        <p:nvSpPr>
          <p:cNvPr id="20" name="Text 18"/>
          <p:cNvSpPr txBox="1"/>
          <p:nvPr/>
        </p:nvSpPr>
        <p:spPr>
          <a:xfrm>
            <a:off x="7114032" y="2414016"/>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IfStatement</a:t>
            </a:r>
            <a:endParaRPr lang="en-US" sz="900" dirty="0"/>
          </a:p>
        </p:txBody>
      </p:sp>
      <p:sp>
        <p:nvSpPr>
          <p:cNvPr id="21" name="Shape 19"/>
          <p:cNvSpPr/>
          <p:nvPr/>
        </p:nvSpPr>
        <p:spPr>
          <a:xfrm>
            <a:off x="411480" y="2962656"/>
            <a:ext cx="402336" cy="402336"/>
          </a:xfrm>
          <a:prstGeom prst="ellipse">
            <a:avLst/>
          </a:prstGeom>
          <a:solidFill>
            <a:srgbClr val="FFD43B"/>
          </a:solidFill>
          <a:ln w="12700">
            <a:solidFill>
              <a:srgbClr val="FFD43B"/>
            </a:solidFill>
            <a:prstDash val="solid"/>
          </a:ln>
        </p:spPr>
      </p:sp>
      <p:sp>
        <p:nvSpPr>
          <p:cNvPr id="22" name="Text 20"/>
          <p:cNvSpPr txBox="1"/>
          <p:nvPr/>
        </p:nvSpPr>
        <p:spPr>
          <a:xfrm>
            <a:off x="411480" y="2962656"/>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16</a:t>
            </a:r>
            <a:endParaRPr lang="en-US" sz="1400" dirty="0"/>
          </a:p>
        </p:txBody>
      </p:sp>
      <p:sp>
        <p:nvSpPr>
          <p:cNvPr id="23" name="Text 21"/>
          <p:cNvSpPr txBox="1"/>
          <p:nvPr/>
        </p:nvSpPr>
        <p:spPr>
          <a:xfrm>
            <a:off x="960120" y="2916936"/>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When is the condition of an elif tested?</a:t>
            </a:r>
            <a:endParaRPr lang="en-US" sz="1200" dirty="0"/>
          </a:p>
        </p:txBody>
      </p:sp>
      <p:sp>
        <p:nvSpPr>
          <p:cNvPr id="24" name="Shape 22"/>
          <p:cNvSpPr/>
          <p:nvPr/>
        </p:nvSpPr>
        <p:spPr>
          <a:xfrm>
            <a:off x="7086600" y="2990088"/>
            <a:ext cx="1645920" cy="347472"/>
          </a:xfrm>
          <a:prstGeom prst="roundRect">
            <a:avLst>
              <a:gd name="adj" fmla="val 15789"/>
            </a:avLst>
          </a:prstGeom>
          <a:solidFill>
            <a:srgbClr val="F1F4F8"/>
          </a:solidFill>
          <a:ln w="12700">
            <a:solidFill>
              <a:srgbClr val="F1F4F8"/>
            </a:solidFill>
            <a:prstDash val="solid"/>
          </a:ln>
        </p:spPr>
      </p:sp>
      <p:sp>
        <p:nvSpPr>
          <p:cNvPr id="25" name="Text 23"/>
          <p:cNvSpPr txBox="1"/>
          <p:nvPr/>
        </p:nvSpPr>
        <p:spPr>
          <a:xfrm>
            <a:off x="7114032" y="2990088"/>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ElifClause</a:t>
            </a:r>
            <a:endParaRPr lang="en-US" sz="900" dirty="0"/>
          </a:p>
        </p:txBody>
      </p:sp>
      <p:sp>
        <p:nvSpPr>
          <p:cNvPr id="26" name="Shape 24"/>
          <p:cNvSpPr/>
          <p:nvPr/>
        </p:nvSpPr>
        <p:spPr>
          <a:xfrm>
            <a:off x="411480" y="3538728"/>
            <a:ext cx="402336" cy="402336"/>
          </a:xfrm>
          <a:prstGeom prst="ellipse">
            <a:avLst/>
          </a:prstGeom>
          <a:solidFill>
            <a:srgbClr val="FFD43B"/>
          </a:solidFill>
          <a:ln w="12700">
            <a:solidFill>
              <a:srgbClr val="FFD43B"/>
            </a:solidFill>
            <a:prstDash val="solid"/>
          </a:ln>
        </p:spPr>
      </p:sp>
      <p:sp>
        <p:nvSpPr>
          <p:cNvPr id="27" name="Text 25"/>
          <p:cNvSpPr txBox="1"/>
          <p:nvPr/>
        </p:nvSpPr>
        <p:spPr>
          <a:xfrm>
            <a:off x="411480" y="3538728"/>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17</a:t>
            </a:r>
            <a:endParaRPr lang="en-US" sz="1400" dirty="0"/>
          </a:p>
        </p:txBody>
      </p:sp>
      <p:sp>
        <p:nvSpPr>
          <p:cNvPr id="28" name="Text 26"/>
          <p:cNvSpPr txBox="1"/>
          <p:nvPr/>
        </p:nvSpPr>
        <p:spPr>
          <a:xfrm>
            <a:off x="960120" y="3493008"/>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How does a chain of if, elif and else differ from separate if statements?</a:t>
            </a:r>
            <a:endParaRPr lang="en-US" sz="1200" dirty="0"/>
          </a:p>
        </p:txBody>
      </p:sp>
      <p:sp>
        <p:nvSpPr>
          <p:cNvPr id="29" name="Shape 27"/>
          <p:cNvSpPr/>
          <p:nvPr/>
        </p:nvSpPr>
        <p:spPr>
          <a:xfrm>
            <a:off x="7086600" y="3566160"/>
            <a:ext cx="1645920" cy="347472"/>
          </a:xfrm>
          <a:prstGeom prst="roundRect">
            <a:avLst>
              <a:gd name="adj" fmla="val 15789"/>
            </a:avLst>
          </a:prstGeom>
          <a:solidFill>
            <a:srgbClr val="F1F4F8"/>
          </a:solidFill>
          <a:ln w="12700">
            <a:solidFill>
              <a:srgbClr val="F1F4F8"/>
            </a:solidFill>
            <a:prstDash val="solid"/>
          </a:ln>
        </p:spPr>
      </p:sp>
      <p:sp>
        <p:nvSpPr>
          <p:cNvPr id="30" name="Text 28"/>
          <p:cNvSpPr txBox="1"/>
          <p:nvPr/>
        </p:nvSpPr>
        <p:spPr>
          <a:xfrm>
            <a:off x="7114032" y="3566160"/>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BranchChain</a:t>
            </a:r>
            <a:endParaRPr lang="en-US" sz="900" dirty="0"/>
          </a:p>
        </p:txBody>
      </p:sp>
      <p:sp>
        <p:nvSpPr>
          <p:cNvPr id="31" name="Shape 29"/>
          <p:cNvSpPr/>
          <p:nvPr/>
        </p:nvSpPr>
        <p:spPr>
          <a:xfrm>
            <a:off x="411480" y="4114800"/>
            <a:ext cx="402336" cy="402336"/>
          </a:xfrm>
          <a:prstGeom prst="ellipse">
            <a:avLst/>
          </a:prstGeom>
          <a:solidFill>
            <a:srgbClr val="FFD43B"/>
          </a:solidFill>
          <a:ln w="12700">
            <a:solidFill>
              <a:srgbClr val="FFD43B"/>
            </a:solidFill>
            <a:prstDash val="solid"/>
          </a:ln>
        </p:spPr>
      </p:sp>
      <p:sp>
        <p:nvSpPr>
          <p:cNvPr id="32" name="Text 30"/>
          <p:cNvSpPr txBox="1"/>
          <p:nvPr/>
        </p:nvSpPr>
        <p:spPr>
          <a:xfrm>
            <a:off x="411480" y="411480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18</a:t>
            </a:r>
            <a:endParaRPr lang="en-US" sz="1400" dirty="0"/>
          </a:p>
        </p:txBody>
      </p:sp>
      <p:sp>
        <p:nvSpPr>
          <p:cNvPr id="33" name="Text 31"/>
          <p:cNvSpPr txBox="1"/>
          <p:nvPr/>
        </p:nvSpPr>
        <p:spPr>
          <a:xfrm>
            <a:off x="960120" y="4069080"/>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In the expression x if C else y, which part is evaluated first?</a:t>
            </a:r>
            <a:endParaRPr lang="en-US" sz="1200" dirty="0"/>
          </a:p>
        </p:txBody>
      </p:sp>
      <p:sp>
        <p:nvSpPr>
          <p:cNvPr id="34" name="Shape 32"/>
          <p:cNvSpPr/>
          <p:nvPr/>
        </p:nvSpPr>
        <p:spPr>
          <a:xfrm>
            <a:off x="7086600" y="4142232"/>
            <a:ext cx="1645920" cy="347472"/>
          </a:xfrm>
          <a:prstGeom prst="roundRect">
            <a:avLst>
              <a:gd name="adj" fmla="val 15789"/>
            </a:avLst>
          </a:prstGeom>
          <a:solidFill>
            <a:srgbClr val="F1F4F8"/>
          </a:solidFill>
          <a:ln w="12700">
            <a:solidFill>
              <a:srgbClr val="F1F4F8"/>
            </a:solidFill>
            <a:prstDash val="solid"/>
          </a:ln>
        </p:spPr>
      </p:sp>
      <p:sp>
        <p:nvSpPr>
          <p:cNvPr id="35" name="Text 33"/>
          <p:cNvSpPr txBox="1"/>
          <p:nvPr/>
        </p:nvSpPr>
        <p:spPr>
          <a:xfrm>
            <a:off x="7114032" y="4142232"/>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ConditionalExpression</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Questions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Predict the answer first, then settle it in the shell  ·  4 of 4</a:t>
            </a:r>
            <a:endParaRPr lang="en-US" sz="1300" dirty="0"/>
          </a:p>
        </p:txBody>
      </p:sp>
      <p:sp>
        <p:nvSpPr>
          <p:cNvPr id="6" name="Shape 4"/>
          <p:cNvSpPr/>
          <p:nvPr/>
        </p:nvSpPr>
        <p:spPr>
          <a:xfrm>
            <a:off x="411480" y="1234440"/>
            <a:ext cx="402336" cy="402336"/>
          </a:xfrm>
          <a:prstGeom prst="ellipse">
            <a:avLst/>
          </a:prstGeom>
          <a:solidFill>
            <a:srgbClr val="FFD43B"/>
          </a:solidFill>
          <a:ln w="12700">
            <a:solidFill>
              <a:srgbClr val="FFD43B"/>
            </a:solidFill>
            <a:prstDash val="solid"/>
          </a:ln>
        </p:spPr>
      </p:sp>
      <p:sp>
        <p:nvSpPr>
          <p:cNvPr id="7" name="Text 5"/>
          <p:cNvSpPr txBox="1"/>
          <p:nvPr/>
        </p:nvSpPr>
        <p:spPr>
          <a:xfrm>
            <a:off x="411480" y="123444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19</a:t>
            </a:r>
            <a:endParaRPr lang="en-US" sz="1400" dirty="0"/>
          </a:p>
        </p:txBody>
      </p:sp>
      <p:sp>
        <p:nvSpPr>
          <p:cNvPr id="8" name="Text 6"/>
          <p:cNvSpPr txBox="1"/>
          <p:nvPr/>
        </p:nvSpPr>
        <p:spPr>
          <a:xfrm>
            <a:off x="960120" y="1188720"/>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Since which Python version does the match statement exist?</a:t>
            </a:r>
            <a:endParaRPr lang="en-US" sz="1200" dirty="0"/>
          </a:p>
        </p:txBody>
      </p:sp>
      <p:sp>
        <p:nvSpPr>
          <p:cNvPr id="9" name="Shape 7"/>
          <p:cNvSpPr/>
          <p:nvPr/>
        </p:nvSpPr>
        <p:spPr>
          <a:xfrm>
            <a:off x="7086600" y="1261872"/>
            <a:ext cx="1645920" cy="347472"/>
          </a:xfrm>
          <a:prstGeom prst="roundRect">
            <a:avLst>
              <a:gd name="adj" fmla="val 15789"/>
            </a:avLst>
          </a:prstGeom>
          <a:solidFill>
            <a:srgbClr val="F1F4F8"/>
          </a:solidFill>
          <a:ln w="12700">
            <a:solidFill>
              <a:srgbClr val="F1F4F8"/>
            </a:solidFill>
            <a:prstDash val="solid"/>
          </a:ln>
        </p:spPr>
      </p:sp>
      <p:sp>
        <p:nvSpPr>
          <p:cNvPr id="10" name="Text 8"/>
          <p:cNvSpPr txBox="1"/>
          <p:nvPr/>
        </p:nvSpPr>
        <p:spPr>
          <a:xfrm>
            <a:off x="7114032" y="1261872"/>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MatchStatement</a:t>
            </a:r>
            <a:endParaRPr lang="en-US" sz="900" dirty="0"/>
          </a:p>
        </p:txBody>
      </p:sp>
      <p:sp>
        <p:nvSpPr>
          <p:cNvPr id="11" name="Shape 9"/>
          <p:cNvSpPr/>
          <p:nvPr/>
        </p:nvSpPr>
        <p:spPr>
          <a:xfrm>
            <a:off x="411480" y="1810512"/>
            <a:ext cx="402336" cy="402336"/>
          </a:xfrm>
          <a:prstGeom prst="ellipse">
            <a:avLst/>
          </a:prstGeom>
          <a:solidFill>
            <a:srgbClr val="FFD43B"/>
          </a:solidFill>
          <a:ln w="12700">
            <a:solidFill>
              <a:srgbClr val="FFD43B"/>
            </a:solidFill>
            <a:prstDash val="solid"/>
          </a:ln>
        </p:spPr>
      </p:sp>
      <p:sp>
        <p:nvSpPr>
          <p:cNvPr id="12" name="Text 10"/>
          <p:cNvSpPr txBox="1"/>
          <p:nvPr/>
        </p:nvSpPr>
        <p:spPr>
          <a:xfrm>
            <a:off x="411480" y="1810512"/>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20</a:t>
            </a:r>
            <a:endParaRPr lang="en-US" sz="1400" dirty="0"/>
          </a:p>
        </p:txBody>
      </p:sp>
      <p:sp>
        <p:nvSpPr>
          <p:cNvPr id="13" name="Text 11"/>
          <p:cNvSpPr txBox="1"/>
          <p:nvPr/>
        </p:nvSpPr>
        <p:spPr>
          <a:xfrm>
            <a:off x="960120" y="1764792"/>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What does the pattern 401 | 403 | 404 in a case accept?</a:t>
            </a:r>
            <a:endParaRPr lang="en-US" sz="1200" dirty="0"/>
          </a:p>
        </p:txBody>
      </p:sp>
      <p:sp>
        <p:nvSpPr>
          <p:cNvPr id="14" name="Shape 12"/>
          <p:cNvSpPr/>
          <p:nvPr/>
        </p:nvSpPr>
        <p:spPr>
          <a:xfrm>
            <a:off x="7086600" y="1837944"/>
            <a:ext cx="1645920" cy="347472"/>
          </a:xfrm>
          <a:prstGeom prst="roundRect">
            <a:avLst>
              <a:gd name="adj" fmla="val 15789"/>
            </a:avLst>
          </a:prstGeom>
          <a:solidFill>
            <a:srgbClr val="F1F4F8"/>
          </a:solidFill>
          <a:ln w="12700">
            <a:solidFill>
              <a:srgbClr val="F1F4F8"/>
            </a:solidFill>
            <a:prstDash val="solid"/>
          </a:ln>
        </p:spPr>
      </p:sp>
      <p:sp>
        <p:nvSpPr>
          <p:cNvPr id="15" name="Text 13"/>
          <p:cNvSpPr txBox="1"/>
          <p:nvPr/>
        </p:nvSpPr>
        <p:spPr>
          <a:xfrm>
            <a:off x="7114032" y="1837944"/>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CasePattern</a:t>
            </a:r>
            <a:endParaRPr lang="en-US" sz="900" dirty="0"/>
          </a:p>
        </p:txBody>
      </p:sp>
      <p:sp>
        <p:nvSpPr>
          <p:cNvPr id="16" name="Shape 14"/>
          <p:cNvSpPr/>
          <p:nvPr/>
        </p:nvSpPr>
        <p:spPr>
          <a:xfrm>
            <a:off x="411480" y="2386584"/>
            <a:ext cx="402336" cy="402336"/>
          </a:xfrm>
          <a:prstGeom prst="ellipse">
            <a:avLst/>
          </a:prstGeom>
          <a:solidFill>
            <a:srgbClr val="FFD43B"/>
          </a:solidFill>
          <a:ln w="12700">
            <a:solidFill>
              <a:srgbClr val="FFD43B"/>
            </a:solidFill>
            <a:prstDash val="solid"/>
          </a:ln>
        </p:spPr>
      </p:sp>
      <p:sp>
        <p:nvSpPr>
          <p:cNvPr id="17" name="Text 15"/>
          <p:cNvSpPr txBox="1"/>
          <p:nvPr/>
        </p:nvSpPr>
        <p:spPr>
          <a:xfrm>
            <a:off x="411480" y="2386584"/>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21</a:t>
            </a:r>
            <a:endParaRPr lang="en-US" sz="1400" dirty="0"/>
          </a:p>
        </p:txBody>
      </p:sp>
      <p:sp>
        <p:nvSpPr>
          <p:cNvPr id="18" name="Text 16"/>
          <p:cNvSpPr txBox="1"/>
          <p:nvPr/>
        </p:nvSpPr>
        <p:spPr>
          <a:xfrm>
            <a:off x="960120" y="2340864"/>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What does case _: do in a match statement?</a:t>
            </a:r>
            <a:endParaRPr lang="en-US" sz="1200" dirty="0"/>
          </a:p>
        </p:txBody>
      </p:sp>
      <p:sp>
        <p:nvSpPr>
          <p:cNvPr id="19" name="Shape 17"/>
          <p:cNvSpPr/>
          <p:nvPr/>
        </p:nvSpPr>
        <p:spPr>
          <a:xfrm>
            <a:off x="7086600" y="2414016"/>
            <a:ext cx="1645920" cy="347472"/>
          </a:xfrm>
          <a:prstGeom prst="roundRect">
            <a:avLst>
              <a:gd name="adj" fmla="val 15789"/>
            </a:avLst>
          </a:prstGeom>
          <a:solidFill>
            <a:srgbClr val="F1F4F8"/>
          </a:solidFill>
          <a:ln w="12700">
            <a:solidFill>
              <a:srgbClr val="F1F4F8"/>
            </a:solidFill>
            <a:prstDash val="solid"/>
          </a:ln>
        </p:spPr>
      </p:sp>
      <p:sp>
        <p:nvSpPr>
          <p:cNvPr id="20" name="Text 18"/>
          <p:cNvSpPr txBox="1"/>
          <p:nvPr/>
        </p:nvSpPr>
        <p:spPr>
          <a:xfrm>
            <a:off x="7114032" y="2414016"/>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WildcardPattern</a:t>
            </a:r>
            <a:endParaRPr lang="en-US" sz="900" dirty="0"/>
          </a:p>
        </p:txBody>
      </p:sp>
      <p:sp>
        <p:nvSpPr>
          <p:cNvPr id="21" name="Shape 19"/>
          <p:cNvSpPr/>
          <p:nvPr/>
        </p:nvSpPr>
        <p:spPr>
          <a:xfrm>
            <a:off x="411480" y="2962656"/>
            <a:ext cx="402336" cy="402336"/>
          </a:xfrm>
          <a:prstGeom prst="ellipse">
            <a:avLst/>
          </a:prstGeom>
          <a:solidFill>
            <a:srgbClr val="FFD43B"/>
          </a:solidFill>
          <a:ln w="12700">
            <a:solidFill>
              <a:srgbClr val="FFD43B"/>
            </a:solidFill>
            <a:prstDash val="solid"/>
          </a:ln>
        </p:spPr>
      </p:sp>
      <p:sp>
        <p:nvSpPr>
          <p:cNvPr id="22" name="Text 20"/>
          <p:cNvSpPr txBox="1"/>
          <p:nvPr/>
        </p:nvSpPr>
        <p:spPr>
          <a:xfrm>
            <a:off x="411480" y="2962656"/>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22</a:t>
            </a:r>
            <a:endParaRPr lang="en-US" sz="1400" dirty="0"/>
          </a:p>
        </p:txBody>
      </p:sp>
      <p:sp>
        <p:nvSpPr>
          <p:cNvPr id="23" name="Text 21"/>
          <p:cNvSpPr txBox="1"/>
          <p:nvPr/>
        </p:nvSpPr>
        <p:spPr>
          <a:xfrm>
            <a:off x="960120" y="2916936"/>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Which test for None follows PEP 8?</a:t>
            </a:r>
            <a:endParaRPr lang="en-US" sz="1200" dirty="0"/>
          </a:p>
        </p:txBody>
      </p:sp>
      <p:sp>
        <p:nvSpPr>
          <p:cNvPr id="24" name="Shape 22"/>
          <p:cNvSpPr/>
          <p:nvPr/>
        </p:nvSpPr>
        <p:spPr>
          <a:xfrm>
            <a:off x="7086600" y="2990088"/>
            <a:ext cx="1645920" cy="347472"/>
          </a:xfrm>
          <a:prstGeom prst="roundRect">
            <a:avLst>
              <a:gd name="adj" fmla="val 15789"/>
            </a:avLst>
          </a:prstGeom>
          <a:solidFill>
            <a:srgbClr val="F1F4F8"/>
          </a:solidFill>
          <a:ln w="12700">
            <a:solidFill>
              <a:srgbClr val="F1F4F8"/>
            </a:solidFill>
            <a:prstDash val="solid"/>
          </a:ln>
        </p:spPr>
      </p:sp>
      <p:sp>
        <p:nvSpPr>
          <p:cNvPr id="25" name="Text 23"/>
          <p:cNvSpPr txBox="1"/>
          <p:nvPr/>
        </p:nvSpPr>
        <p:spPr>
          <a:xfrm>
            <a:off x="7114032" y="2990088"/>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SingletonComparison</a:t>
            </a:r>
            <a:endParaRPr lang="en-US" sz="900" dirty="0"/>
          </a:p>
        </p:txBody>
      </p:sp>
      <p:sp>
        <p:nvSpPr>
          <p:cNvPr id="26" name="Shape 24"/>
          <p:cNvSpPr/>
          <p:nvPr/>
        </p:nvSpPr>
        <p:spPr>
          <a:xfrm>
            <a:off x="411480" y="3538728"/>
            <a:ext cx="402336" cy="402336"/>
          </a:xfrm>
          <a:prstGeom prst="ellipse">
            <a:avLst/>
          </a:prstGeom>
          <a:solidFill>
            <a:srgbClr val="FFD43B"/>
          </a:solidFill>
          <a:ln w="12700">
            <a:solidFill>
              <a:srgbClr val="FFD43B"/>
            </a:solidFill>
            <a:prstDash val="solid"/>
          </a:ln>
        </p:spPr>
      </p:sp>
      <p:sp>
        <p:nvSpPr>
          <p:cNvPr id="27" name="Text 25"/>
          <p:cNvSpPr txBox="1"/>
          <p:nvPr/>
        </p:nvSpPr>
        <p:spPr>
          <a:xfrm>
            <a:off x="411480" y="3538728"/>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23</a:t>
            </a:r>
            <a:endParaRPr lang="en-US" sz="1400" dirty="0"/>
          </a:p>
        </p:txBody>
      </p:sp>
      <p:sp>
        <p:nvSpPr>
          <p:cNvPr id="28" name="Text 26"/>
          <p:cNvSpPr txBox="1"/>
          <p:nvPr/>
        </p:nvSpPr>
        <p:spPr>
          <a:xfrm>
            <a:off x="960120" y="3493008"/>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In the first version of the capacity program, why does the unit 'KB' end in a NameError?</a:t>
            </a:r>
            <a:endParaRPr lang="en-US" sz="1200" dirty="0"/>
          </a:p>
        </p:txBody>
      </p:sp>
      <p:sp>
        <p:nvSpPr>
          <p:cNvPr id="29" name="Shape 27"/>
          <p:cNvSpPr/>
          <p:nvPr/>
        </p:nvSpPr>
        <p:spPr>
          <a:xfrm>
            <a:off x="7086600" y="3566160"/>
            <a:ext cx="1645920" cy="347472"/>
          </a:xfrm>
          <a:prstGeom prst="roundRect">
            <a:avLst>
              <a:gd name="adj" fmla="val 15789"/>
            </a:avLst>
          </a:prstGeom>
          <a:solidFill>
            <a:srgbClr val="F1F4F8"/>
          </a:solidFill>
          <a:ln w="12700">
            <a:solidFill>
              <a:srgbClr val="F1F4F8"/>
            </a:solidFill>
            <a:prstDash val="solid"/>
          </a:ln>
        </p:spPr>
      </p:sp>
      <p:sp>
        <p:nvSpPr>
          <p:cNvPr id="30" name="Text 28"/>
          <p:cNvSpPr txBox="1"/>
          <p:nvPr/>
        </p:nvSpPr>
        <p:spPr>
          <a:xfrm>
            <a:off x="7114032" y="3566160"/>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UnassignedName</a:t>
            </a:r>
            <a:endParaRPr lang="en-US" sz="900" dirty="0"/>
          </a:p>
        </p:txBody>
      </p:sp>
      <p:sp>
        <p:nvSpPr>
          <p:cNvPr id="31" name="Shape 29"/>
          <p:cNvSpPr/>
          <p:nvPr/>
        </p:nvSpPr>
        <p:spPr>
          <a:xfrm>
            <a:off x="411480" y="4114800"/>
            <a:ext cx="402336" cy="402336"/>
          </a:xfrm>
          <a:prstGeom prst="ellipse">
            <a:avLst/>
          </a:prstGeom>
          <a:solidFill>
            <a:srgbClr val="FFD43B"/>
          </a:solidFill>
          <a:ln w="12700">
            <a:solidFill>
              <a:srgbClr val="FFD43B"/>
            </a:solidFill>
            <a:prstDash val="solid"/>
          </a:ln>
        </p:spPr>
      </p:sp>
      <p:sp>
        <p:nvSpPr>
          <p:cNvPr id="32" name="Text 30"/>
          <p:cNvSpPr txBox="1"/>
          <p:nvPr/>
        </p:nvSpPr>
        <p:spPr>
          <a:xfrm>
            <a:off x="411480" y="4114800"/>
            <a:ext cx="402336" cy="402336"/>
          </a:xfrm>
          <a:prstGeom prst="rect">
            <a:avLst/>
          </a:prstGeom>
          <a:noFill/>
          <a:ln/>
        </p:spPr>
        <p:txBody>
          <a:bodyPr wrap="square" lIns="0" tIns="0" rIns="0" bIns="0" rtlCol="0" anchor="ctr"/>
          <a:lstStyle/>
          <a:p>
            <a:pPr algn="ctr" indent="0" marL="0">
              <a:buNone/>
            </a:pPr>
            <a:r>
              <a:rPr lang="en-US" sz="1400" b="1" dirty="0">
                <a:solidFill>
                  <a:srgbClr val="1E2A3A"/>
                </a:solidFill>
                <a:latin typeface="Cambria" pitchFamily="34" charset="0"/>
                <a:ea typeface="Cambria" pitchFamily="34" charset="-122"/>
                <a:cs typeface="Cambria" pitchFamily="34" charset="-120"/>
              </a:rPr>
              <a:t>24</a:t>
            </a:r>
            <a:endParaRPr lang="en-US" sz="1400" dirty="0"/>
          </a:p>
        </p:txBody>
      </p:sp>
      <p:sp>
        <p:nvSpPr>
          <p:cNvPr id="33" name="Text 31"/>
          <p:cNvSpPr txBox="1"/>
          <p:nvPr/>
        </p:nvSpPr>
        <p:spPr>
          <a:xfrm>
            <a:off x="960120" y="4069080"/>
            <a:ext cx="5989320" cy="493776"/>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Why does 3 &lt; '4' raise a TypeError instead of giving an answer?</a:t>
            </a:r>
            <a:endParaRPr lang="en-US" sz="1200" dirty="0"/>
          </a:p>
        </p:txBody>
      </p:sp>
      <p:sp>
        <p:nvSpPr>
          <p:cNvPr id="34" name="Shape 32"/>
          <p:cNvSpPr/>
          <p:nvPr/>
        </p:nvSpPr>
        <p:spPr>
          <a:xfrm>
            <a:off x="7086600" y="4142232"/>
            <a:ext cx="1645920" cy="347472"/>
          </a:xfrm>
          <a:prstGeom prst="roundRect">
            <a:avLst>
              <a:gd name="adj" fmla="val 15789"/>
            </a:avLst>
          </a:prstGeom>
          <a:solidFill>
            <a:srgbClr val="F1F4F8"/>
          </a:solidFill>
          <a:ln w="12700">
            <a:solidFill>
              <a:srgbClr val="F1F4F8"/>
            </a:solidFill>
            <a:prstDash val="solid"/>
          </a:ln>
        </p:spPr>
      </p:sp>
      <p:sp>
        <p:nvSpPr>
          <p:cNvPr id="35" name="Text 33"/>
          <p:cNvSpPr txBox="1"/>
          <p:nvPr/>
        </p:nvSpPr>
        <p:spPr>
          <a:xfrm>
            <a:off x="7114032" y="4142232"/>
            <a:ext cx="1591056" cy="347472"/>
          </a:xfrm>
          <a:prstGeom prst="rect">
            <a:avLst/>
          </a:prstGeom>
          <a:noFill/>
          <a:ln/>
        </p:spPr>
        <p:txBody>
          <a:bodyPr wrap="square" lIns="0" tIns="0" rIns="0" bIns="0" rtlCol="0" anchor="ctr"/>
          <a:lstStyle/>
          <a:p>
            <a:pPr algn="ctr" indent="0" marL="0">
              <a:buNone/>
            </a:pPr>
            <a:r>
              <a:rPr lang="en-US" sz="900" i="1" dirty="0">
                <a:solidFill>
                  <a:srgbClr val="5B6B7B"/>
                </a:solidFill>
                <a:latin typeface="Calibri" pitchFamily="34" charset="0"/>
                <a:ea typeface="Calibri" pitchFamily="34" charset="-122"/>
                <a:cs typeface="Calibri" pitchFamily="34" charset="-120"/>
              </a:rPr>
              <a:t>TypeErrorKind</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310896"/>
            <a:ext cx="548640" cy="384048"/>
          </a:xfrm>
          <a:prstGeom prst="roundRect">
            <a:avLst>
              <a:gd name="adj" fmla="val 19048"/>
            </a:avLst>
          </a:prstGeom>
          <a:solidFill>
            <a:srgbClr val="FFD43B"/>
          </a:solidFill>
          <a:ln w="12700">
            <a:solidFill>
              <a:srgbClr val="FFD43B"/>
            </a:solidFill>
            <a:prstDash val="solid"/>
          </a:ln>
        </p:spPr>
      </p:sp>
      <p:sp>
        <p:nvSpPr>
          <p:cNvPr id="3" name="Text 1"/>
          <p:cNvSpPr txBox="1"/>
          <p:nvPr/>
        </p:nvSpPr>
        <p:spPr>
          <a:xfrm>
            <a:off x="384048" y="310896"/>
            <a:ext cx="548640" cy="384048"/>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&gt;&gt;&gt;</a:t>
            </a:r>
            <a:endParaRPr lang="en-US" sz="1400" dirty="0"/>
          </a:p>
        </p:txBody>
      </p:sp>
      <p:sp>
        <p:nvSpPr>
          <p:cNvPr id="4" name="Text 2"/>
          <p:cNvSpPr txBox="1"/>
          <p:nvPr/>
        </p:nvSpPr>
        <p:spPr>
          <a:xfrm>
            <a:off x="1051560" y="219456"/>
            <a:ext cx="7680960" cy="548640"/>
          </a:xfrm>
          <a:prstGeom prst="rect">
            <a:avLst/>
          </a:prstGeom>
          <a:noFill/>
          <a:ln/>
        </p:spPr>
        <p:txBody>
          <a:bodyPr wrap="square" lIns="0" tIns="0" rIns="0" bIns="0" rtlCol="0" anchor="ctr"/>
          <a:lstStyle/>
          <a:p>
            <a:pPr indent="0" marL="0">
              <a:buNone/>
            </a:pPr>
            <a:r>
              <a:rPr lang="en-US" sz="2800" b="1" dirty="0">
                <a:solidFill>
                  <a:srgbClr val="1E2A3A"/>
                </a:solidFill>
                <a:latin typeface="Cambria" pitchFamily="34" charset="0"/>
                <a:ea typeface="Cambria" pitchFamily="34" charset="-122"/>
                <a:cs typeface="Cambria" pitchFamily="34" charset="-120"/>
              </a:rPr>
              <a:t>Sources</a:t>
            </a:r>
            <a:endParaRPr lang="en-US" sz="2800" dirty="0"/>
          </a:p>
        </p:txBody>
      </p:sp>
      <p:sp>
        <p:nvSpPr>
          <p:cNvPr id="5" name="Text 3"/>
          <p:cNvSpPr txBox="1"/>
          <p:nvPr/>
        </p:nvSpPr>
        <p:spPr>
          <a:xfrm>
            <a:off x="1051560" y="749808"/>
            <a:ext cx="768096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claim beyond the book comes from the chapter's research record</a:t>
            </a:r>
            <a:endParaRPr lang="en-US" sz="1300" dirty="0"/>
          </a:p>
        </p:txBody>
      </p:sp>
      <p:sp>
        <p:nvSpPr>
          <p:cNvPr id="6" name="Shape 4"/>
          <p:cNvSpPr/>
          <p:nvPr/>
        </p:nvSpPr>
        <p:spPr>
          <a:xfrm>
            <a:off x="411480" y="1152144"/>
            <a:ext cx="8321040" cy="1012190"/>
          </a:xfrm>
          <a:prstGeom prst="roundRect">
            <a:avLst>
              <a:gd name="adj" fmla="val 9034"/>
            </a:avLst>
          </a:prstGeom>
          <a:solidFill>
            <a:srgbClr val="F1F4F8"/>
          </a:solidFill>
          <a:ln w="12700">
            <a:solidFill>
              <a:srgbClr val="F1F4F8"/>
            </a:solidFill>
            <a:prstDash val="solid"/>
          </a:ln>
        </p:spPr>
      </p:sp>
      <p:sp>
        <p:nvSpPr>
          <p:cNvPr id="7" name="Text 5"/>
          <p:cNvSpPr txBox="1"/>
          <p:nvPr/>
        </p:nvSpPr>
        <p:spPr>
          <a:xfrm>
            <a:off x="594360" y="1280160"/>
            <a:ext cx="7955280" cy="216916"/>
          </a:xfrm>
          <a:prstGeom prst="rect">
            <a:avLst/>
          </a:prstGeom>
          <a:noFill/>
          <a:ln/>
        </p:spPr>
        <p:txBody>
          <a:bodyPr wrap="square" lIns="0" tIns="0" rIns="0" bIns="0" rtlCol="0" anchor="ctr"/>
          <a:lstStyle/>
          <a:p>
            <a:pPr indent="0" marL="0">
              <a:buNone/>
            </a:pPr>
            <a:r>
              <a:rPr lang="en-US" sz="1400" b="1" dirty="0">
                <a:solidFill>
                  <a:srgbClr val="306998"/>
                </a:solidFill>
                <a:latin typeface="Cambria" pitchFamily="34" charset="0"/>
                <a:ea typeface="Cambria" pitchFamily="34" charset="-122"/>
                <a:cs typeface="Cambria" pitchFamily="34" charset="-120"/>
              </a:rPr>
              <a:t>Primary source</a:t>
            </a:r>
            <a:endParaRPr lang="en-US" sz="1400" dirty="0"/>
          </a:p>
        </p:txBody>
      </p:sp>
      <p:sp>
        <p:nvSpPr>
          <p:cNvPr id="8" name="Text 6"/>
          <p:cNvSpPr txBox="1"/>
          <p:nvPr/>
        </p:nvSpPr>
        <p:spPr>
          <a:xfrm>
            <a:off x="594360" y="1570228"/>
            <a:ext cx="7955280" cy="46609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Automate the Boring Stuff with Python, 3rd edition - Chapter 2, if-else and Flow Control (Al Sweigart, No Starch Press; cited as Sweigart, 2025) — https://automatetheboringstuff.com/3e/chapter2.html</a:t>
            </a:r>
            <a:endParaRPr lang="en-US" sz="1150" dirty="0"/>
          </a:p>
        </p:txBody>
      </p:sp>
      <p:sp>
        <p:nvSpPr>
          <p:cNvPr id="9" name="Text 7"/>
          <p:cNvSpPr txBox="1"/>
          <p:nvPr/>
        </p:nvSpPr>
        <p:spPr>
          <a:xfrm>
            <a:off x="411480" y="2066544"/>
            <a:ext cx="4160520" cy="2194560"/>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 The Python Tutorial, 4. More Control Flow Tools</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The Python Language Reference, 8. Compound statements</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The Python Language Reference, 6. Expressions</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The Python Standard Library, Built-in Types - Truth Value Testing</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PEP 634 - Structural Pattern Matching: Specification (Bucher and van Rossum, 2020; Python 3.10)</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PEP 636 - Structural Pattern Matching: Tutorial (Moisset, 2020)</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PEP 765 - Disallow return/break/continue that exit a finally block (Katriel and Coghlan, 2024; Python 3.14)</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What's new in Python 3.14</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PEP 8 - Style Guide for Python Code (Van Rossum, Warsaw and Coghlan, 2001; Van Rossum et al., 2001)</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The Python Language Reference, 2. Lexical analysis</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Glossary</a:t>
            </a:r>
            <a:endParaRPr lang="en-US" sz="950" dirty="0"/>
          </a:p>
        </p:txBody>
      </p:sp>
      <p:sp>
        <p:nvSpPr>
          <p:cNvPr id="10" name="Text 8"/>
          <p:cNvSpPr txBox="1"/>
          <p:nvPr/>
        </p:nvSpPr>
        <p:spPr>
          <a:xfrm>
            <a:off x="4663440" y="2066544"/>
            <a:ext cx="4069080" cy="2194560"/>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 The Python Language Reference, 3. Data model</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The Python Standard Library, Built-in Constants</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The Python Standard Library, Built-in Functions</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The Python Language Reference, 7. Simple statements</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The Python Standard Library, Built-in Exceptions</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The Python Tutorial, 8. Errors and Exceptions</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The Python Standard Library, sys - System-specific parameters and functions</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The Python Standard Library, keyword - Testing for Python keywords</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What's New In Python 3.10</a:t>
            </a:r>
            <a:endParaRPr lang="en-US" sz="950" dirty="0"/>
          </a:p>
          <a:p>
            <a:pPr indent="0" marL="0">
              <a:buNone/>
            </a:pPr>
            <a:r>
              <a:rPr lang="en-US" sz="950" dirty="0">
                <a:solidFill>
                  <a:srgbClr val="1F2933"/>
                </a:solidFill>
                <a:latin typeface="Calibri" pitchFamily="34" charset="0"/>
                <a:ea typeface="Calibri" pitchFamily="34" charset="-122"/>
                <a:cs typeface="Calibri" pitchFamily="34" charset="-120"/>
              </a:rPr>
              <a:t>· PEP 572 - Assignment Expressions (Angelico, Peters and Van Rossum, 2018; Angelico et al., 2018)</a:t>
            </a:r>
            <a:endParaRPr lang="en-US" sz="950" dirty="0"/>
          </a:p>
        </p:txBody>
      </p:sp>
      <p:sp>
        <p:nvSpPr>
          <p:cNvPr id="11" name="Text 9"/>
          <p:cNvSpPr txBox="1"/>
          <p:nvPr/>
        </p:nvSpPr>
        <p:spPr>
          <a:xfrm>
            <a:off x="411480" y="4297680"/>
            <a:ext cx="8321040" cy="621792"/>
          </a:xfrm>
          <a:prstGeom prst="rect">
            <a:avLst/>
          </a:prstGeom>
          <a:noFill/>
          <a:ln/>
        </p:spPr>
        <p:txBody>
          <a:bodyPr wrap="square" lIns="0" tIns="0" rIns="0" bIns="0" rtlCol="0" anchor="t"/>
          <a:lstStyle/>
          <a:p>
            <a:pPr indent="0" marL="0">
              <a:buNone/>
            </a:pPr>
            <a:r>
              <a:rPr lang="en-US" sz="950" i="1" dirty="0">
                <a:solidFill>
                  <a:srgbClr val="5B6B7B"/>
                </a:solidFill>
                <a:latin typeface="Calibri" pitchFamily="34" charset="0"/>
                <a:ea typeface="Calibri" pitchFamily="34" charset="-122"/>
                <a:cs typeface="Calibri" pitchFamily="34" charset="-120"/>
              </a:rPr>
              <a:t>21 secondary sources, all recorded as verified in sen0414_ch02_research_v1_1_0.ttl. The chapter's own author-year citations are (Angelico et al., 2018), (Bucher and van Rossum, 2020), (Moisset, 2020), (Python Software Foundation, 2026), (Sweigart, 2025), (Van Rossum et al., 2001). Slides adapt Automate the Boring Stuff with Python (CC BY-NC-SA); see NOTICE_v1_2.md.</a:t>
            </a:r>
            <a:endParaRPr lang="en-US" sz="9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E2A3A"/>
        </a:solidFill>
      </p:bgPr>
    </p:bg>
    <p:spTree>
      <p:nvGrpSpPr>
        <p:cNvPr id="1" name=""/>
        <p:cNvGrpSpPr/>
        <p:nvPr/>
      </p:nvGrpSpPr>
      <p:grpSpPr>
        <a:xfrm>
          <a:off x="0" y="0"/>
          <a:ext cx="0" cy="0"/>
          <a:chOff x="0" y="0"/>
          <a:chExt cx="0" cy="0"/>
        </a:xfrm>
      </p:grpSpPr>
      <p:sp>
        <p:nvSpPr>
          <p:cNvPr id="2" name="Text 0"/>
          <p:cNvSpPr txBox="1"/>
          <p:nvPr/>
        </p:nvSpPr>
        <p:spPr>
          <a:xfrm>
            <a:off x="548640" y="1234440"/>
            <a:ext cx="804672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Chapter 3 — Loops and modules</a:t>
            </a:r>
            <a:endParaRPr lang="en-US" sz="3000" dirty="0"/>
          </a:p>
        </p:txBody>
      </p:sp>
      <p:sp>
        <p:nvSpPr>
          <p:cNvPr id="3" name="Text 1"/>
          <p:cNvSpPr txBox="1"/>
          <p:nvPr/>
        </p:nvSpPr>
        <p:spPr>
          <a:xfrm>
            <a:off x="548640" y="2057400"/>
            <a:ext cx="8046720" cy="640080"/>
          </a:xfrm>
          <a:prstGeom prst="rect">
            <a:avLst/>
          </a:prstGeom>
          <a:noFill/>
          <a:ln/>
        </p:spPr>
        <p:txBody>
          <a:bodyPr wrap="square" lIns="0" tIns="0" rIns="0" bIns="0" rtlCol="0" anchor="t"/>
          <a:lstStyle/>
          <a:p>
            <a:pPr indent="0" marL="0">
              <a:buNone/>
            </a:pPr>
            <a:r>
              <a:rPr lang="en-US" sz="1600" dirty="0">
                <a:solidFill>
                  <a:srgbClr val="FFD43B"/>
                </a:solidFill>
                <a:latin typeface="Calibri" pitchFamily="34" charset="0"/>
                <a:ea typeface="Calibri" pitchFamily="34" charset="-122"/>
                <a:cs typeface="Calibri" pitchFamily="34" charset="-120"/>
              </a:rPr>
              <a:t>while and for, range, break and continue, the loop else clause, and the import statement that brings in the standard library.</a:t>
            </a:r>
            <a:endParaRPr lang="en-US" sz="1600" dirty="0"/>
          </a:p>
        </p:txBody>
      </p:sp>
      <p:sp>
        <p:nvSpPr>
          <p:cNvPr id="4" name="Text 2"/>
          <p:cNvSpPr txBox="1"/>
          <p:nvPr/>
        </p:nvSpPr>
        <p:spPr>
          <a:xfrm>
            <a:off x="548640" y="2971800"/>
            <a:ext cx="8046720" cy="640080"/>
          </a:xfrm>
          <a:prstGeom prst="rect">
            <a:avLst/>
          </a:prstGeom>
          <a:noFill/>
          <a:ln/>
        </p:spPr>
        <p:txBody>
          <a:bodyPr wrap="square" lIns="0" tIns="0" rIns="0" bIns="0" rtlCol="0" anchor="t"/>
          <a:lstStyle/>
          <a:p>
            <a:pPr indent="0" marL="0">
              <a:buNone/>
            </a:pPr>
            <a:r>
              <a:rPr lang="en-US" sz="1400" dirty="0">
                <a:solidFill>
                  <a:srgbClr val="C9D4E0"/>
                </a:solidFill>
                <a:latin typeface="Calibri" pitchFamily="34" charset="0"/>
                <a:ea typeface="Calibri" pitchFamily="34" charset="-122"/>
                <a:cs typeface="Calibri" pitchFamily="34" charset="-120"/>
              </a:rPr>
              <a:t>Before then: work through the interactive page for chapter 2, write the three truth tables from memory, and bring one error report you could not read.</a:t>
            </a:r>
            <a:endParaRPr lang="en-US" sz="1400" dirty="0"/>
          </a:p>
        </p:txBody>
      </p:sp>
      <p:sp>
        <p:nvSpPr>
          <p:cNvPr id="5" name="Text 3"/>
          <p:cNvSpPr txBox="1"/>
          <p:nvPr/>
        </p:nvSpPr>
        <p:spPr>
          <a:xfrm>
            <a:off x="548640" y="3977640"/>
            <a:ext cx="8046720" cy="512064"/>
          </a:xfrm>
          <a:prstGeom prst="rect">
            <a:avLst/>
          </a:prstGeom>
          <a:noFill/>
          <a:ln/>
        </p:spPr>
        <p:txBody>
          <a:bodyPr wrap="square" lIns="0" tIns="0" rIns="0" bIns="0" rtlCol="0" anchor="ctr"/>
          <a:lstStyle/>
          <a:p>
            <a:pPr indent="0" marL="0">
              <a:buNone/>
            </a:pPr>
            <a:r>
              <a:rPr lang="en-US" sz="2400" i="1" dirty="0">
                <a:solidFill>
                  <a:srgbClr val="8FA3B8"/>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2 - Flow Control</dc:title>
  <dc:subject>Lecture deck built from the chapter 2 corpus and its executed examples</dc:subject>
  <dc:creator>Yusuf Altunel</dc:creator>
  <cp:lastModifiedBy>Yusuf Altunel</cp:lastModifiedBy>
  <cp:revision>1</cp:revision>
  <dcterms:created xsi:type="dcterms:W3CDTF">2026-10-04T18:53:16Z</dcterms:created>
  <dcterms:modified xsi:type="dcterms:W3CDTF">2026-10-04T18:53:16Z</dcterms:modified>
  <cp:version>2.0.0</cp:version>
</cp:coreProperties>
</file>