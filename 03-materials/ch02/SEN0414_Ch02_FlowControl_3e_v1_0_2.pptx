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Automate the Boring Stuff with Python, 3rd edition, chapter 2 (Sweigart, 2025). Every result on these slides was produced by running it under Python 3.14.4; every claim beyond the book is in 03-materials/ch02/rdodi.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names from Automate the Boring Stuff with Python, 3rd edition, chapter 2 (Sweigart, 2025); the second line of each item is what the course adds from the chapter 2 research record.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Operators from Automate the Boring Stuff with Python, 3rd edition, chapter 2 (Sweigart, 2025), section Comparison Operators; every result evaluated under Python 3.14.4.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Automate the Boring Stuff with Python, 3rd edition, chapter 2 (Sweigart, 2025). Results evaluated under Python 3.14.4.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Automate the Boring Stuff with Python, 3rd edition, chapter 2 (Sweigart, 2025), sections Boolean Operators and Mixing Boolean and Comparison Operators.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Truth Value Testing, Python documentation (Python Software Foundation, 2026). Results evaluated under Python 3.14.4.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Python Language Reference, Boolean operations (Python Software Foundation, 2026): x or y evaluates x; if x is true its value is returned, otherwise y is evaluated and returned.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Comparisons, The Python Language Reference (Python Software Foundation, 2026).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Automate the Boring Stuff with Python, 3rd edition, chapter 2 (Sweigart, 2025), section Components of Flow Control.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Automate the Boring Stuff with Python, 3rd edition, chapter 2 (Sweigart, 2025), section Flow Control Statements. The program and its three runs were executed under Python 3.14.4 with the inputs shown.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Conditional expressions, The Python Language Reference (Python Software Foundation, 2026).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PEP 634, Structural Pattern Matching (Bucher and van Rossum, 2020), Python 3.10. Unlike a C or Java switch, match compares a value’s shape: the case ['go', direction] captures the second word. Executed under Python 3.14.4.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PEP 8 (van Rossum, Warsaw and Coghlan, 2001); PEP 765 (Katriel and Coghlan, 2024), Python 3.14.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False; True, since only the empty string is false; 'default'; at most one; when one value is compared against many shapes or values.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verified source list in 03-materials/ch02/rdodi/sen0414_ch02_research_v1_0_0.ttl.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Chapter 3 of the 3rd edition is Loops.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0"/>
            <a:ext cx="1097280" cy="731520"/>
          </a:xfrm>
          <a:prstGeom prst="roundRect">
            <a:avLst>
              <a:gd name="adj" fmla="val 15000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09728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116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 2: if-else and Flow Control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889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Deciding what runs — in the book’s terms and in today’s Python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SEN0414 Advanced Programming · Fall 2026 · Yusuf Altunel, PhD · İstanbul Kültür University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chapter at a glance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book’s sections, and where this course takes them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99032"/>
            <a:ext cx="502920" cy="50292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399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325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values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16916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any value can be tested for truth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399032"/>
            <a:ext cx="502920" cy="50292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63440" y="1399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0" y="1325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operators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303520" y="16916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chained comparisons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450592"/>
            <a:ext cx="502920" cy="50292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2450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2377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operators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27432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short-circuit returns an operand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2450592"/>
            <a:ext cx="502920" cy="50292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63440" y="2450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303520" y="2377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of flow control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303520" y="27432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blocks are indentation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3502152"/>
            <a:ext cx="502920" cy="50292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" y="35021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" y="34290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control statements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097280" y="37947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the conditional expression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63440" y="3502152"/>
            <a:ext cx="502920" cy="50292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663440" y="35021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5303520" y="34290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short programs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5303520" y="37947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match as the modern alternative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 operators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asks a question and answers True or False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3108960"/>
                <a:gridCol w="2011680"/>
                <a:gridCol w="20116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699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699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699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Evaluates 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699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==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equal 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42 == 42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7F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True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!=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equal 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42 != 42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7F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False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 than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 &lt; 3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7F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True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&gt;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than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 &gt; 3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7F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False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&lt;=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 than or equal 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 &lt;= 4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7F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True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&gt;=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than or equal 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 &gt;= 6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7F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False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== is not =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asks; assignment stores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17202B"/>
          </a:solidFill>
          <a:ln w="12700">
            <a:solidFill>
              <a:srgbClr val="1720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35608"/>
            <a:ext cx="365760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 == '42'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'hello' == 'Hello'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82549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under Python 3.14.4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54880" y="1325880"/>
            <a:ext cx="3931920" cy="2651760"/>
          </a:xfrm>
          <a:prstGeom prst="roundRect">
            <a:avLst>
              <a:gd name="adj" fmla="val 3448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37760" y="1463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069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different questions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1856232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== compares two values and answers True or False. = stores a value in a variable. An integer never equals a string, even one with the same digits.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Boolean operators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and, or and not combine truth values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840480" cy="1920240"/>
          </a:xfrm>
          <a:prstGeom prst="roundRect">
            <a:avLst>
              <a:gd name="adj" fmla="val 4762"/>
            </a:avLst>
          </a:prstGeom>
          <a:solidFill>
            <a:srgbClr val="17202B"/>
          </a:solidFill>
          <a:ln w="12700">
            <a:solidFill>
              <a:srgbClr val="1720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35608"/>
            <a:ext cx="347472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 and False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 or False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True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2826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under Python 3.14.4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0" y="1325880"/>
            <a:ext cx="4114800" cy="1463040"/>
          </a:xfrm>
          <a:prstGeom prst="roundRect">
            <a:avLst>
              <a:gd name="adj" fmla="val 6250"/>
            </a:avLst>
          </a:prstGeom>
          <a:solidFill>
            <a:srgbClr val="17202B"/>
          </a:solidFill>
          <a:ln w="12700">
            <a:solidFill>
              <a:srgbClr val="17202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54880" y="1435608"/>
            <a:ext cx="374904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(4 &lt; 5) and (5 &lt; 6)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+ 2 == 4 and not 2 + 2 == 5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82549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under Python 3.14.4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315468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Comparisons evaluate first, then not, then and, then or.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Truthiness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value can be tested for truth, not only True and False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023360" cy="2286000"/>
          </a:xfrm>
          <a:prstGeom prst="roundRect">
            <a:avLst>
              <a:gd name="adj" fmla="val 4000"/>
            </a:avLst>
          </a:prstGeom>
          <a:solidFill>
            <a:srgbClr val="17202B"/>
          </a:solidFill>
          <a:ln w="12700">
            <a:solidFill>
              <a:srgbClr val="1720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35608"/>
            <a:ext cx="365760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bool('')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bool('0')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bool([])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bool(0.0)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64845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under Python 3.14.4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54880" y="1325880"/>
            <a:ext cx="3931920" cy="2651760"/>
          </a:xfrm>
          <a:prstGeom prst="roundRect">
            <a:avLst>
              <a:gd name="adj" fmla="val 3448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37760" y="1463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069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False values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1856232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None, False, zero of any numeric type, and empty sequences are false. Everything else is true — so the string '0' is true.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Short-circuit evaluation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and or return one of their operands, not a Boolean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206240" cy="1920240"/>
          </a:xfrm>
          <a:prstGeom prst="roundRect">
            <a:avLst>
              <a:gd name="adj" fmla="val 4762"/>
            </a:avLst>
          </a:prstGeom>
          <a:solidFill>
            <a:srgbClr val="17202B"/>
          </a:solidFill>
          <a:ln w="12700">
            <a:solidFill>
              <a:srgbClr val="1720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35608"/>
            <a:ext cx="384048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or 'default'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'default'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'' or 'default'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'default'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'set' or 'default'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'set'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28269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under Python 3.14.4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937760" y="1325880"/>
            <a:ext cx="3749040" cy="2651760"/>
          </a:xfrm>
          <a:prstGeom prst="roundRect">
            <a:avLst>
              <a:gd name="adj" fmla="val 3448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120640" y="1463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069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fallback idiom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120640" y="1856232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or default gives x when x is true, and default otherwise. The second operand is evaluated only when it is needed.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Chained comparisons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&lt; y &lt;= z means x &lt; y and y &lt;= z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17202B"/>
          </a:solidFill>
          <a:ln w="12700">
            <a:solidFill>
              <a:srgbClr val="1720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35608"/>
            <a:ext cx="365760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&lt; 2 &lt; 3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&gt; 2 &gt; 5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82549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under Python 3.14.4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54880" y="1325880"/>
            <a:ext cx="3931920" cy="2377440"/>
          </a:xfrm>
          <a:prstGeom prst="roundRect">
            <a:avLst>
              <a:gd name="adj" fmla="val 3846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37760" y="1463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069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it like mathematics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1856232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middle value is evaluated once and compared on both sides. 3 &gt; 2 &gt; 5 is False because 2 &gt; 5 is false.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Blocks and indentation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of flow control: a condition and a block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977640" cy="2651760"/>
          </a:xfrm>
          <a:prstGeom prst="roundRect">
            <a:avLst>
              <a:gd name="adj" fmla="val 3448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630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069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Condition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856232"/>
            <a:ext cx="3611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expression evaluated for its truth value, deciding which block runs next.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325880"/>
            <a:ext cx="3977640" cy="2651760"/>
          </a:xfrm>
          <a:prstGeom prst="roundRect">
            <a:avLst>
              <a:gd name="adj" fmla="val 3448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92040" y="14630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069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1856232"/>
            <a:ext cx="3611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at the same indentation. Python uses indentation, not braces, so indentation is part of what the program means.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if, elif, else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most one branch of the chain runs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206240" cy="2194560"/>
          </a:xfrm>
          <a:prstGeom prst="roundRect">
            <a:avLst>
              <a:gd name="adj" fmla="val 4167"/>
            </a:avLst>
          </a:prstGeom>
          <a:solidFill>
            <a:srgbClr val="17202B"/>
          </a:solidFill>
          <a:ln w="12700">
            <a:solidFill>
              <a:srgbClr val="1720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35608"/>
            <a:ext cx="384048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= int(input('Age: '))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age &lt; 12: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print('child ticket')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age &lt; 65: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print('adult ticket')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print('senior ticket')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937760" y="1325880"/>
            <a:ext cx="3749040" cy="2194560"/>
          </a:xfrm>
          <a:prstGeom prst="roundRect">
            <a:avLst>
              <a:gd name="adj" fmla="val 4167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74920" y="141732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Age: </a:t>
            </a:r>
            <a:r>
              <a:rPr lang="en-US" sz="12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child ticket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Age: </a:t>
            </a:r>
            <a:r>
              <a:rPr lang="en-US" sz="12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adult ticket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Age: </a:t>
            </a:r>
            <a:r>
              <a:rPr lang="en-US" sz="12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senior ticket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355701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real runs under Python 3.14.4 — typed input in blue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a value in one line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conditional expression x if C else 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17202B"/>
          </a:solidFill>
          <a:ln w="12700">
            <a:solidFill>
              <a:srgbClr val="1720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35608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'even' if 10 % 2 == 0 else 'odd'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'even'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3682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under Python 3.14.4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269748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8346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069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to use it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227832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decision chooses a value rather than runs a block. For anything longer, a full if statement stays clearer.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match statement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3.10’s alternative to long elif chains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480560" cy="2377440"/>
          </a:xfrm>
          <a:prstGeom prst="roundRect">
            <a:avLst>
              <a:gd name="adj" fmla="val 3846"/>
            </a:avLst>
          </a:prstGeom>
          <a:solidFill>
            <a:srgbClr val="17202B"/>
          </a:solidFill>
          <a:ln w="12700">
            <a:solidFill>
              <a:srgbClr val="1720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35608"/>
            <a:ext cx="4114800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 = input('Command: ')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command.split():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['go', direction]: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print(f'going {direction}')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['quit']: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print('bye')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_: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print('unknown command')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212080" y="1325880"/>
            <a:ext cx="3474720" cy="2377440"/>
          </a:xfrm>
          <a:prstGeom prst="roundRect">
            <a:avLst>
              <a:gd name="adj" fmla="val 3846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349240" y="1417320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Command: </a:t>
            </a:r>
            <a:r>
              <a:rPr lang="en-US" sz="12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 north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going north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Command: </a:t>
            </a:r>
            <a:r>
              <a:rPr lang="en-US" sz="12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quit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bye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Command: </a:t>
            </a:r>
            <a:r>
              <a:rPr lang="en-US" sz="12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dance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unknown command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212080" y="373989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real runs under Python 3.14.4 — typed input in blue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Style and current Python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conditions others can read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977640" cy="2651760"/>
          </a:xfrm>
          <a:prstGeom prst="roundRect">
            <a:avLst>
              <a:gd name="adj" fmla="val 3448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630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069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PEP 8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856232"/>
            <a:ext cx="3611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 Boolean directly: write if greeting: rather than if greeting == True:.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325880"/>
            <a:ext cx="3977640" cy="2651760"/>
          </a:xfrm>
          <a:prstGeom prst="roundRect">
            <a:avLst>
              <a:gd name="adj" fmla="val 3448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92040" y="14630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069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in 3.14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1856232"/>
            <a:ext cx="3611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 765 disallows return, break and continue that exit a finally block — one more way the language keeps control flow predictable.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yourself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first, then run it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16736"/>
            <a:ext cx="420624" cy="420624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3167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280160"/>
            <a:ext cx="7589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42 == '42' evaluate to?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420624" cy="420624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1920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1883664"/>
            <a:ext cx="7589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bool('0') evaluate to, and why?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2523744"/>
            <a:ext cx="420624" cy="420624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5237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487168"/>
            <a:ext cx="7589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'' or 'default' return?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3127248"/>
            <a:ext cx="420624" cy="420624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127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090672"/>
            <a:ext cx="7589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branches of an if-elif-else chain can run?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" y="3730752"/>
            <a:ext cx="420624" cy="420624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3730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3694176"/>
            <a:ext cx="7589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is match clearer than an elif chain?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beyond the book is recorded in the chapter’s research record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80160"/>
            <a:ext cx="8229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Sweigart, A. (2025). Automate the Boring Stuff with Python, 3rd ed., ch. 2. No Starch Press. automatetheboringstuff.com/3e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Software Foundation (2026). Python 3.14 documentation: Control flow tutorial; Language Reference, Expressions; Built-in Types, Truth Value Testing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Bucher, B., van Rossum, G. (2020). PEP 634 – Structural Pattern Matching: Specification. peps.python.org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Katriel, I., Coghlan, A. (2024). PEP 765 – Disallow return/break/continue that exit a finally block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Rossum, G., Warsaw, B., Coghlan, A. (2001). PEP 8 – Style Guide for Python Code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adapt Automate the Boring Stuff with Python (CC BY-NC-SA). See NOTICE.md.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week: Chapter 3 — Loops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3774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then: work through the chapter 2 interactive page and try its subject agents.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9D4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SEN0414 Chapter 2 - if-else and Flow Control</dc:title>
  <dc:subject>PptxGenJS Presentation</dc:subject>
  <dc:creator>Yusuf Altunel</dc:creator>
  <cp:lastModifiedBy>Yusuf Altunel</cp:lastModifiedBy>
  <cp:revision>1</cp:revision>
  <dcterms:created xsi:type="dcterms:W3CDTF">2026-09-25T00:21:11Z</dcterms:created>
  <dcterms:modified xsi:type="dcterms:W3CDTF">2026-09-25T00:21:11Z</dcterms:modified>
  <cp:version>1.0.2</cp:version>
</cp:coreProperties>
</file>