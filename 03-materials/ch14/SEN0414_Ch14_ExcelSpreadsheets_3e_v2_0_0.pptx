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max_row</c:v>
                </c:pt>
              </c:strCache>
            </c:strRef>
          </c:tx>
          <c:spPr>
            <a:solidFill>
              <a:srgbClr val="0E7C86"/>
            </a:solidFill>
          </c:spPr>
          <c:cat>
            <c:strRef>
              <c:f>Sheet1!$A$2:$A$3</c:f>
              <c:strCache>
                <c:ptCount val="2"/>
                <c:pt idx="0">
                  <c:v>before looking</c:v>
                </c:pt>
                <c:pt idx="1">
                  <c:v>after cell(row=40)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40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2C3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  <c:min val="0.0"/>
        </c:scaling>
        <c:delete val="0"/>
        <c:axPos val="l"/>
        <c:majorGridlines>
          <c:spPr>
            <a:ln>
              <a:solidFill>
                <a:srgbClr val="D9D2C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90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MB</c:v>
                </c:pt>
              </c:strCache>
            </c:strRef>
          </c:tx>
          <c:spPr>
            <a:solidFill>
              <a:srgbClr val="0E7C86"/>
            </a:solidFill>
          </c:spPr>
          <c:cat>
            <c:strRef>
              <c:f>Sheet1!$A$2:$A$3</c:f>
              <c:strCache>
                <c:ptCount val="2"/>
                <c:pt idx="0">
                  <c:v>every cell in memory</c:v>
                </c:pt>
                <c:pt idx="1">
                  <c:v>read_only, row by row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114</c:v>
                </c:pt>
                <c:pt idx="1">
                  <c:v>11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2C3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.0"/>
          <c:min val="0.0"/>
        </c:scaling>
        <c:delete val="0"/>
        <c:axPos val="l"/>
        <c:majorGridlines>
          <c:spPr>
            <a:ln>
              <a:solidFill>
                <a:srgbClr val="D9D2C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40.0"/>
      </c:valAx>
    </c:plotArea>
    <c:dispBlanksAs val="gap"/>
  </c:chart>
  <c:txPr>
    <a:bodyPr/>
    <a:lstStyle/>
    <a:p>
      <a:pPr>
        <a:defRPr sz="90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population</c:v>
                </c:pt>
              </c:strCache>
            </c:strRef>
          </c:tx>
          <c:spPr>
            <a:solidFill>
              <a:srgbClr val="0E7C86"/>
            </a:solidFill>
          </c:spPr>
          <c:cat>
            <c:strRef>
              <c:f>Sheet1!$A$2:$A$3</c:f>
              <c:strCache>
                <c:ptCount val="2"/>
                <c:pt idx="0">
                  <c:v>Anchorage</c:v>
                </c:pt>
                <c:pt idx="1">
                  <c:v>Autauga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7155</c:v>
                </c:pt>
                <c:pt idx="1">
                  <c:v>4082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2C3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00.0"/>
          <c:min val="0.0"/>
        </c:scaling>
        <c:delete val="0"/>
        <c:axPos val="l"/>
        <c:majorGridlines>
          <c:spPr>
            <a:ln>
              <a:solidFill>
                <a:srgbClr val="D9D2C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2000.0"/>
      </c:valAx>
    </c:plotArea>
    <c:dispBlanksAs val="gap"/>
  </c:chart>
  <c:txPr>
    <a:bodyPr/>
    <a:lstStyle/>
    <a:p>
      <a:pPr>
        <a:defRPr sz="90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First series</c:v>
                </c:pt>
              </c:strCache>
            </c:strRef>
          </c:tx>
          <c:spPr>
            <a:solidFill>
              <a:srgbClr val="0E7C86"/>
            </a:solidFill>
          </c:spP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25</c:v>
                </c:pt>
                <c:pt idx="5">
                  <c:v>36</c:v>
                </c:pt>
                <c:pt idx="6">
                  <c:v>49</c:v>
                </c:pt>
                <c:pt idx="7">
                  <c:v>64</c:v>
                </c:pt>
                <c:pt idx="8">
                  <c:v>81</c:v>
                </c:pt>
                <c:pt idx="9">
                  <c:v>100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8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2C3"/>
            </a:solidFill>
          </a:ln>
        </c:spPr>
        <c:txPr>
          <a:bodyPr/>
          <a:lstStyle/>
          <a:p>
            <a:pPr>
              <a:defRPr sz="8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.0"/>
          <c:min val="0.0"/>
        </c:scaling>
        <c:delete val="0"/>
        <c:axPos val="l"/>
        <c:majorGridlines>
          <c:spPr>
            <a:ln>
              <a:solidFill>
                <a:srgbClr val="D9D2C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/>
            </a:pPr>
          </a:p>
        </c:txPr>
        <c:crossAx val="-2068027336"/>
        <c:crosses val="autoZero"/>
        <c:majorUnit val="40.0"/>
      </c:valAx>
    </c:plotArea>
    <c:dispBlanksAs val="gap"/>
  </c:chart>
  <c:txPr>
    <a:bodyPr/>
    <a:lstStyle/>
    <a:p>
      <a:pPr>
        <a:defRPr sz="85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examples</c:v>
                </c:pt>
              </c:strCache>
            </c:strRef>
          </c:tx>
          <c:spPr>
            <a:solidFill>
              <a:srgbClr val="0E7C86"/>
            </a:solidFill>
          </c:spPr>
          <c:cat>
            <c:strRef>
              <c:f>Sheet1!$A$2:$A$6</c:f>
              <c:strCache>
                <c:ptCount val="5"/>
                <c:pt idx="0">
                  <c:v>Part 1</c:v>
                </c:pt>
                <c:pt idx="1">
                  <c:v>Part 2</c:v>
                </c:pt>
                <c:pt idx="2">
                  <c:v>Part 3</c:v>
                </c:pt>
                <c:pt idx="3">
                  <c:v>Part 4</c:v>
                </c:pt>
                <c:pt idx="4">
                  <c:v>Part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  <c:pt idx="4">
                  <c:v>3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2C3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 val="0"/>
        <c:axPos val="l"/>
        <c:majorGridlines>
          <c:spPr>
            <a:ln>
              <a:solidFill>
                <a:srgbClr val="D9D2C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2.0"/>
      </c:valAx>
    </c:plotArea>
    <c:dispBlanksAs val="gap"/>
  </c:chart>
  <c:txPr>
    <a:bodyPr/>
    <a:lstStyle/>
    <a:p>
      <a:pPr>
        <a:defRPr sz="1000">
          <a:solidFill>
            <a:srgbClr val="1F29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chapter reads and writes Excel workbooks from Python with openpyxl. Every code slide shows the code, a plain explanation, and the result as a table, chart or drawn diagram. The same examples stand in the chapter-code tab of the page, in this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parts: reading a workbook, the two projects, writing and formulas, looks and layout, and charts. Each range is a run of slides. The code slides have their place in the chapter-code tab of the page, in the same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questions to carry through the chapter. Which object of openpyxl stands for which part of a workbook, and what does it keep of what the spreadsheet program stored? And which outputs and programs of the book differ today?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one. A workbook is a zip of XML. We open it, list its sheets, take cells by name and by number, convert column letters, read slices and dates, and see that looking at a cell can create it. Predict each result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binder picture carries the whole chapter. A workbook is the binder, a sheet is a page, a cell is a box. Ask students to add a picture of their own for the saved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.xlsx file is a zip. Predict how many parts a new workbook has, then read the count. The workbook, one sheet, the styles and a theme are all separate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.xlsx file is a documented zip of XML. Ecma approved it in December 2006, ISO in early 2008. The photograph is a rally in Oslo about the ISO vote, not the format itself; say so. Any program may read the format, which is why openpyxl 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Create_sheet adds a sheet at the end or at an index. Sheetnames lists them in tab order. The active sheet is the one that was open when the file was saved.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openpyxl was born in 2010 from the lack of a Python library for the format. Its authors are volunteers. The newest release is 3.1.5 of June 2024. Always say which release you 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sheet is graph paper, and a cell has an address. Column letters count like digits without a zero: 27 is AA. Ask which seat is column 900.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cell by name or by row and column. Max_row and max_column are the size of the used area. The Cell object prints with its sheet and coordinate.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Dan Bricklin had the idea in spring 1978 at Harvard Business School. His journal dates the first Apple II prototype to 8 October 1978. The grid of named rows and columns is the idea that openpyxl still addresses. Ask: why is the cell name A1 so human?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Column letters are a number system without zero. Predict column 27 and column 900. A number outside 1 to 18278 raises a ValueError.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slice gives rows of cells. A whole column is ws['B']. Rows and columns are generators, so you can loop but not index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Iter_rows hands out one line at a time, and read-only mode avoids holding every cell in memory. Insert_rows moves values but not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cell has a data type: n, s, d, f. A datetime stays a date, and a string stays a string. SEPT2 would become a date in Excel, but not in openpyxl.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Excel turns SEPT2 into a date by default. In 2016 three researchers counted errors in 704 of 3,597 papers. The picture is panel b of Figure 1 of their paper: the files with errors, year by year. Check what a spreadsheet application did to your data before you trust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Looking at a cell creates it. Cell(row=40) raised max_row from 1 to 40. A loop to max_row then reaches empty rows. Predict the dimensions before you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Read-only mode reads row by row and uses little memory. On the real census file, the cell loop peaked at 114 MB, read-only iteration at 11 MB. Iter_rows with values_only gives tuples.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two. Two projects on real data: a tally of census tracts by county, and a correction of produce prices. The files are replaced by small stand-ins with the same columns, so every example runs on this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9 reads and tallies; Project 10 reads, corrects and saves a copy. The practice programs are the small recital pieces. Sys holds what was typed after the script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9, first steps. Row 1 holds the headers, so the loop starts at row 2. Columns B, C and D hold state, county and population. The real file has 72,865 rows; the stand-in has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9, the tally. Setdefault creates a missing key once. The counts are tracts and population by county. Predict the population of Anchorage before you read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Pformat turns the dictionary into Python text. The book writes it to census2010.py and imports it. Exec reads the same text back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10. The prices of garlic, celery and lemon are corrected, the formulas stay. The book saves the result under a new name so the original is kept.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three. Writing a workbook, and formulas. A formula is only text for openpyxl; a spreadsheet program calculates it. We see what is cached, what is lost on save, and why rounding can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formula is a recipe card. openpyxl stores the card and never cooks. The cached result is the photograph that a real spreadsheet program left in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Create_sheet at an index, remove a sheet, save, load again. Save overwrites the old file without asking. Loading again proves what was 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formula is a string with data type f. With data_only=True you get the stored result, and a file that openpyxl wrote has none: None. A spreadsheet program must open and save it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Excel for the Macintosh was announced on 2 May 1985. It kept a Lotus 1-2-3 bug on purpose: 29 February 1900. A file format keeps the habits and the bugs of its program. Ask students which habit of a tool they have inherited.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rounds the binary number it holds, a spreadsheet rounds the decimal number it shows. On the real produce file the two differed in 629 of 23,757 rows. Predict 2.675.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April 2013 three economists found a coding error in a published spreadsheet: five countries left out. The picture is the title page of the paper they tested. A formula is code, so it needs a second reader and a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blank rows were inserted at row 3. The values moved down, but the SUM still says B1:B5. Insert_rows does not rewrite references, merged ranges or row heights.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four. Fonts, row heights, column widths, merged cells and frozen panes. Each is an object or a setting that openpyxl stores. Style objects cannot be changed; you assign a new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font is an object, and it keeps only what it is given. Row height is in points, column width in characters. Ask why Calibri 11 is not always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merged range keeps one real cell. Freeze panes pins the rows above and the columns left of a cell. Insert_rows does not move merged ranges.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practice program in a small size. One Font object is shared by the heading cells. Predict the corner cell A1: nothing was written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style object keeps only what it was given. A1 has a size and no name; B3 a name and no size. A style cannot be changed in place: assign a new Font.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Row height in points, column width in characters. A hidden column is still in the file. Reading a dimension also creates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merge_cells only the top-left cell is real. The others are MergedCell objects and are read-only. Unmerge gives empty cells back, the text stays in the corner.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cell you name is the first that scrolls. A2 freezes row 1, B1 freezes column A, C2 freezes both. The view is saved in the sheet's pane.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 five. Charts. openpyxl writes a chart as XML; Excel or LibreOffice draws it. We name the cells with Reference, wrap them in a Series, and add a BarChart to the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openpyxl writes a drawing order and a painter draws it. Reference names the cells, Series wraps them, BarChart is the frame, add_chart hangs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names the cells, Series wraps them, BarChart is the chart, add_chart places it. The bars in the deck are the data of column A. The application draws the chart when it opens the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order is min_col, min_row, max_col, max_row: column first. The chapter's text says row first, and its example hides this because the block is square.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chart is stored as XML inside the zip: a drawing part and a chart part. openpyxl writes the order; the spreadsheet program draws.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openpyxl keeps and what it does not: values and formulas as text, settings of looks, and chart orders. It does not calculate, draw or follow references. Choose the right tool for each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differs today. The book's online scripts use removed names. Reference is column first. A saved workbook loses formula results. openpyxl is stable and quiet. Install defusedxml before you open a file you did not make.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sentences to keep. The chart counts the code examples in each part of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drills. Predict first, then run what you can on the page. Ask students to explain each answer in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book chapter and the openpyxl documentation, then the file format standard and the stories' first-hand sources. Choose one link and read it before the next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hyperlink" Target="https://www.loc.gov/preservation/digital/formats/fdd/fdd000395.sht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hyperlink" Target="https://openpyxl.readthedocs.io/en/stable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hyperlink" Target="http://www.bricklin.com/history/saiidea.ht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hyperlink" Target="https://genomebiology.biomedcentral.com/articles/10.1186/s13059-016-1044-7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chart" Target="../charts/char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Relationship Id="rId4" Type="http://schemas.openxmlformats.org/officeDocument/2006/relationships/hyperlink" Target="https://en.wikipedia.org/wiki/Microsoft_Excel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Relationship Id="rId4" Type="http://schemas.openxmlformats.org/officeDocument/2006/relationships/hyperlink" Target="https://peri.umass.edu/publication/does-high-public-debt-consistently-stifle-economic-growth-a-critique-of-reinhart-and-rogoff/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chart" Target="../charts/chart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chart" Target="../charts/chart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automatetheboringstuff.com/3e/chapter14.html" TargetMode="External"/><Relationship Id="rId4" Type="http://schemas.openxmlformats.org/officeDocument/2006/relationships/hyperlink" Target="https://openpyxl.readthedocs.io/en/stable/" TargetMode="External"/><Relationship Id="rId5" Type="http://schemas.openxmlformats.org/officeDocument/2006/relationships/hyperlink" Target="https://openpyxl.readthedocs.io/en/stable/tutorial.html" TargetMode="External"/><Relationship Id="rId6" Type="http://schemas.openxmlformats.org/officeDocument/2006/relationships/hyperlink" Target="https://openpyxl.readthedocs.io/en/stable/styles.html" TargetMode="External"/><Relationship Id="rId7" Type="http://schemas.openxmlformats.org/officeDocument/2006/relationships/hyperlink" Target="https://openpyxl.readthedocs.io/en/stable/charts/introduction.html" TargetMode="External"/><Relationship Id="rId8" Type="http://schemas.openxmlformats.org/officeDocument/2006/relationships/hyperlink" Target="https://openpyxl.readthedocs.io/en/stable/optimized.html" TargetMode="External"/><Relationship Id="rId9" Type="http://schemas.openxmlformats.org/officeDocument/2006/relationships/hyperlink" Target="https://pypi.org/project/openpyxl/" TargetMode="External"/><Relationship Id="rId10" Type="http://schemas.openxmlformats.org/officeDocument/2006/relationships/hyperlink" Target="https://docs.python.org/3/library/pprint.html" TargetMode="External"/><Relationship Id="rId11" Type="http://schemas.openxmlformats.org/officeDocument/2006/relationships/hyperlink" Target="https://docs.python.org/3/library/decimal.html" TargetMode="External"/><Relationship Id="rId12" Type="http://schemas.openxmlformats.org/officeDocument/2006/relationships/hyperlink" Target="https://docs.python.org/3/library/zipfile.html" TargetMode="External"/><Relationship Id="rId13" Type="http://schemas.openxmlformats.org/officeDocument/2006/relationships/hyperlink" Target="https://www.loc.gov/preservation/digital/formats/fdd/fdd000395.shtml" TargetMode="External"/><Relationship Id="rId14" Type="http://schemas.openxmlformats.org/officeDocument/2006/relationships/hyperlink" Target="http://www.bricklin.com/history/saiidea.htm" TargetMode="External"/><Relationship Id="rId15" Type="http://schemas.openxmlformats.org/officeDocument/2006/relationships/hyperlink" Target="https://genomebiology.biomedcentral.com/articles/10.1186/s13059-016-1044-7" TargetMode="External"/><Relationship Id="rId16" Type="http://schemas.openxmlformats.org/officeDocument/2006/relationships/hyperlink" Target="https://pypi.org/project/defusedxml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800" b="1" i="0">
                <a:solidFill>
                  <a:srgbClr val="1F2933"/>
                </a:solidFill>
                <a:latin typeface="Calibri"/>
              </a:rPr>
              <a:t>Excel Spreadsheets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548640" y="2423160"/>
            <a:ext cx="80467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600" b="0" i="0">
                <a:solidFill>
                  <a:srgbClr val="5B6773"/>
                </a:solidFill>
                <a:latin typeface="Calibri"/>
              </a:rPr>
              <a:t>Chapter 14 of Automate the Boring Stuff with Python, 3rd edition, for an advanced course</a:t>
            </a:r>
          </a:p>
        </p:txBody>
      </p:sp>
      <p:sp>
        <p:nvSpPr>
          <p:cNvPr id="5" name="card"/>
          <p:cNvSpPr/>
          <p:nvPr/>
        </p:nvSpPr>
        <p:spPr>
          <a:xfrm>
            <a:off x="548640" y="320040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t"/>
          <p:cNvSpPr txBox="1"/>
          <p:nvPr/>
        </p:nvSpPr>
        <p:spPr>
          <a:xfrm>
            <a:off x="640080" y="3246120"/>
            <a:ext cx="23774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i="0">
                <a:solidFill>
                  <a:srgbClr val="0E7C86"/>
                </a:solidFill>
                <a:latin typeface="Calibri"/>
              </a:rPr>
              <a:t>24</a:t>
            </a:r>
          </a:p>
        </p:txBody>
      </p:sp>
      <p:sp>
        <p:nvSpPr>
          <p:cNvPr id="7" name="stat label"/>
          <p:cNvSpPr txBox="1"/>
          <p:nvPr/>
        </p:nvSpPr>
        <p:spPr>
          <a:xfrm>
            <a:off x="640080" y="3703320"/>
            <a:ext cx="23774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50" b="0" i="0">
                <a:solidFill>
                  <a:srgbClr val="1F2933"/>
                </a:solidFill>
                <a:latin typeface="Calibri"/>
              </a:rPr>
              <a:t>code examples that run on the chapter page</a:t>
            </a:r>
          </a:p>
        </p:txBody>
      </p:sp>
      <p:sp>
        <p:nvSpPr>
          <p:cNvPr id="8" name="card"/>
          <p:cNvSpPr/>
          <p:nvPr/>
        </p:nvSpPr>
        <p:spPr>
          <a:xfrm>
            <a:off x="3291840" y="320040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"/>
          <p:cNvSpPr txBox="1"/>
          <p:nvPr/>
        </p:nvSpPr>
        <p:spPr>
          <a:xfrm>
            <a:off x="3383280" y="3246120"/>
            <a:ext cx="23774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i="0">
                <a:solidFill>
                  <a:srgbClr val="0E7C86"/>
                </a:solidFill>
                <a:latin typeface="Calibri"/>
              </a:rPr>
              <a:t>6</a:t>
            </a:r>
          </a:p>
        </p:txBody>
      </p:sp>
      <p:sp>
        <p:nvSpPr>
          <p:cNvPr id="10" name="stat label"/>
          <p:cNvSpPr txBox="1"/>
          <p:nvPr/>
        </p:nvSpPr>
        <p:spPr>
          <a:xfrm>
            <a:off x="3383280" y="3703320"/>
            <a:ext cx="23774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50" b="0" i="0">
                <a:solidFill>
                  <a:srgbClr val="1F2933"/>
                </a:solidFill>
                <a:latin typeface="Calibri"/>
              </a:rPr>
              <a:t>true stories with who, what, when, where, why and how</a:t>
            </a:r>
          </a:p>
        </p:txBody>
      </p:sp>
      <p:sp>
        <p:nvSpPr>
          <p:cNvPr id="11" name="card"/>
          <p:cNvSpPr/>
          <p:nvPr/>
        </p:nvSpPr>
        <p:spPr>
          <a:xfrm>
            <a:off x="6035040" y="3200400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"/>
          <p:cNvSpPr txBox="1"/>
          <p:nvPr/>
        </p:nvSpPr>
        <p:spPr>
          <a:xfrm>
            <a:off x="6126479" y="3246120"/>
            <a:ext cx="23774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2800" b="1" i="0">
                <a:solidFill>
                  <a:srgbClr val="0E7C86"/>
                </a:solidFill>
                <a:latin typeface="Calibri"/>
              </a:rPr>
              <a:t>46</a:t>
            </a:r>
          </a:p>
        </p:txBody>
      </p:sp>
      <p:sp>
        <p:nvSpPr>
          <p:cNvPr id="13" name="stat label"/>
          <p:cNvSpPr txBox="1"/>
          <p:nvPr/>
        </p:nvSpPr>
        <p:spPr>
          <a:xfrm>
            <a:off x="6126479" y="3703320"/>
            <a:ext cx="237744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50" b="0" i="0">
                <a:solidFill>
                  <a:srgbClr val="1F2933"/>
                </a:solidFill>
                <a:latin typeface="Calibri"/>
              </a:rPr>
              <a:t>distinct chapter concepts, each with an everyday picture</a:t>
            </a:r>
          </a:p>
        </p:txBody>
      </p:sp>
      <p:sp>
        <p:nvSpPr>
          <p:cNvPr id="14" name="author"/>
          <p:cNvSpPr txBox="1"/>
          <p:nvPr/>
        </p:nvSpPr>
        <p:spPr>
          <a:xfrm>
            <a:off x="548640" y="4434840"/>
            <a:ext cx="7315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0" i="0">
                <a:solidFill>
                  <a:srgbClr val="5B6773"/>
                </a:solidFill>
                <a:latin typeface="Calibri"/>
              </a:rPr>
              <a:t>SEN0414 Advanced Programming, Fall 2026. Yusuf Altunel, İstanbul Kültür Üniversitesi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 / 51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Today's route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051560" y="658368"/>
            <a:ext cx="7680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5B6773"/>
                </a:solidFill>
                <a:latin typeface="Calibri"/>
              </a:rPr>
              <a:t>Five parts; every range is a run of slides you can jump to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457200" y="1097280"/>
          <a:ext cx="8229598" cy="3520440"/>
        </p:xfrm>
        <a:graphic>
          <a:graphicData uri="http://schemas.openxmlformats.org/drawingml/2006/table">
            <a:tbl>
              <a:tblPr firstRow="0" bandRow="0"/>
              <a:tblGrid>
                <a:gridCol w="2683565"/>
                <a:gridCol w="983973"/>
                <a:gridCol w="1162878"/>
                <a:gridCol w="339918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Slides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Code examples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You will run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Reading a workbook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4 - 19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the zip, sheets, cells, letters, slices, dates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Two projects on real data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20 - 25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the census tally and the price correction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Writing and formulas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26 - 33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save, formulas, rounding, insert_rows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Looks and layout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34 - 41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fonts, sizes, merge, freeze panes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Charts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42 - 46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Reference, Series, BarChart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Tools, changes, summary, practice, resources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47 - 51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what openpyxl keeps, and what differs today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6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Open the chapter-code tab of the page: the same 24 examples, in this order.</a:t>
            </a:r>
          </a:p>
        </p:txBody>
      </p:sp>
      <p:sp>
        <p:nvSpPr>
          <p:cNvPr id="8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 / 51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Two questions this chapter answers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051560" y="658368"/>
            <a:ext cx="7680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5B6773"/>
                </a:solidFill>
                <a:latin typeface="Calibri"/>
              </a:rPr>
              <a:t>Carry them through every part; the answers come back at the end</a:t>
            </a:r>
          </a:p>
        </p:txBody>
      </p:sp>
      <p:sp>
        <p:nvSpPr>
          <p:cNvPr id="5" name="card"/>
          <p:cNvSpPr/>
          <p:nvPr/>
        </p:nvSpPr>
        <p:spPr>
          <a:xfrm>
            <a:off x="457200" y="1188720"/>
            <a:ext cx="822960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question"/>
          <p:cNvSpPr txBox="1"/>
          <p:nvPr/>
        </p:nvSpPr>
        <p:spPr>
          <a:xfrm>
            <a:off x="1280160" y="1298448"/>
            <a:ext cx="722376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600" b="1" i="0">
                <a:solidFill>
                  <a:srgbClr val="1F2933"/>
                </a:solidFill>
                <a:latin typeface="Calibri"/>
              </a:rPr>
              <a:t>Which object of openpyxl stands for which part of a workbook, and what does it keep of what the spreadsheet program stored?</a:t>
            </a:r>
          </a:p>
        </p:txBody>
      </p:sp>
      <p:sp>
        <p:nvSpPr>
          <p:cNvPr id="8" name="answer"/>
          <p:cNvSpPr txBox="1"/>
          <p:nvPr/>
        </p:nvSpPr>
        <p:spPr>
          <a:xfrm>
            <a:off x="1280160" y="2057400"/>
            <a:ext cx="72237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0E7C86"/>
                </a:solidFill>
                <a:latin typeface="Calibri"/>
              </a:rPr>
              <a:t>Answer on slide 47: what openpyxl keeps, and what it does not do.</a:t>
            </a:r>
          </a:p>
        </p:txBody>
      </p:sp>
      <p:sp>
        <p:nvSpPr>
          <p:cNvPr id="9" name="card"/>
          <p:cNvSpPr/>
          <p:nvPr/>
        </p:nvSpPr>
        <p:spPr>
          <a:xfrm>
            <a:off x="457200" y="2788920"/>
            <a:ext cx="822960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9718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question"/>
          <p:cNvSpPr txBox="1"/>
          <p:nvPr/>
        </p:nvSpPr>
        <p:spPr>
          <a:xfrm>
            <a:off x="1280160" y="2898648"/>
            <a:ext cx="722376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600" b="1" i="0">
                <a:solidFill>
                  <a:srgbClr val="1F2933"/>
                </a:solidFill>
                <a:latin typeface="Calibri"/>
              </a:rPr>
              <a:t>Which printed outputs, programs and files of the book differ in current Python and the current library?</a:t>
            </a:r>
          </a:p>
        </p:txBody>
      </p:sp>
      <p:sp>
        <p:nvSpPr>
          <p:cNvPr id="12" name="answer"/>
          <p:cNvSpPr txBox="1"/>
          <p:nvPr/>
        </p:nvSpPr>
        <p:spPr>
          <a:xfrm>
            <a:off x="1280160" y="3657600"/>
            <a:ext cx="72237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0E7C86"/>
                </a:solidFill>
                <a:latin typeface="Calibri"/>
              </a:rPr>
              <a:t>Answer on slide 48: the changes, from the chapter research.</a:t>
            </a:r>
          </a:p>
        </p:txBody>
      </p:sp>
      <p:sp>
        <p:nvSpPr>
          <p:cNvPr id="13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openpyxl keeps what was stored; the application calculates and draws.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 / 51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Part 1: Reading a workbook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0">
                <a:solidFill>
                  <a:srgbClr val="5B6773"/>
                </a:solidFill>
                <a:latin typeface="Calibri"/>
              </a:rPr>
              <a:t>An .xlsx file is a zip; a workbook holds sheets, and a sheet holds cells</a:t>
            </a:r>
          </a:p>
        </p:txBody>
      </p:sp>
      <p:sp>
        <p:nvSpPr>
          <p:cNvPr id="4" name="rule"/>
          <p:cNvSpPr/>
          <p:nvPr/>
        </p:nvSpPr>
        <p:spPr>
          <a:xfrm>
            <a:off x="457200" y="1216152"/>
            <a:ext cx="1097280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xlsx file</a:t>
            </a:r>
          </a:p>
        </p:txBody>
      </p:sp>
      <p:sp>
        <p:nvSpPr>
          <p:cNvPr id="6" name="meaning"/>
          <p:cNvSpPr txBox="1"/>
          <p:nvPr/>
        </p:nvSpPr>
        <p:spPr>
          <a:xfrm>
            <a:off x="2606040" y="1417320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A zip of XML parts that openpyxl opens.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75688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Workbook</a:t>
            </a:r>
          </a:p>
        </p:txBody>
      </p:sp>
      <p:sp>
        <p:nvSpPr>
          <p:cNvPr id="8" name="meaning"/>
          <p:cNvSpPr txBox="1"/>
          <p:nvPr/>
        </p:nvSpPr>
        <p:spPr>
          <a:xfrm>
            <a:off x="2606040" y="2075688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The whole file, holding a list of sheets.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34056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Cell</a:t>
            </a:r>
          </a:p>
        </p:txBody>
      </p:sp>
      <p:sp>
        <p:nvSpPr>
          <p:cNvPr id="10" name="meaning"/>
          <p:cNvSpPr txBox="1"/>
          <p:nvPr/>
        </p:nvSpPr>
        <p:spPr>
          <a:xfrm>
            <a:off x="2606040" y="2734056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One box with a name, a value and a type.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92424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Column letter</a:t>
            </a:r>
          </a:p>
        </p:txBody>
      </p:sp>
      <p:sp>
        <p:nvSpPr>
          <p:cNvPr id="12" name="meaning"/>
          <p:cNvSpPr txBox="1"/>
          <p:nvPr/>
        </p:nvSpPr>
        <p:spPr>
          <a:xfrm>
            <a:off x="2606040" y="3392424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A number written in letters, without a zero.</a:t>
            </a:r>
          </a:p>
        </p:txBody>
      </p:sp>
      <p:graphicFrame>
        <p:nvGraphicFramePr>
          <p:cNvPr id="13" name="table"/>
          <p:cNvGraphicFramePr>
            <a:graphicFrameLocks noGrp="1"/>
          </p:cNvGraphicFramePr>
          <p:nvPr/>
        </p:nvGraphicFramePr>
        <p:xfrm>
          <a:off x="5303520" y="1417320"/>
          <a:ext cx="3474719" cy="3200400"/>
        </p:xfrm>
        <a:graphic>
          <a:graphicData uri="http://schemas.openxmlformats.org/drawingml/2006/table">
            <a:tbl>
              <a:tblPr firstRow="0" bandRow="0"/>
              <a:tblGrid>
                <a:gridCol w="507543"/>
                <a:gridCol w="2967176"/>
              </a:tblGrid>
              <a:tr h="200025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Slide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In this part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0002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Everyday pictures: the file and the workb...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An .xlsx file is a zip of XML parts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0002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Story: the .xlsx format became a standard...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Sheets: create_sheet, sheetnames and the 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0002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Story: openpyxl was born in 2010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Everyday pictures: sheets and cells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0002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A cell by name, by row and column, and it...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Story: a student pictured the spreadsheet...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0002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get_column_letter and column_index_from_s...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A slice of cells, one column, and the gen...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0002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Everyday pictures: reading many cells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Every cell has a data type: number, text 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0002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Story: Excel turned gene names into dates...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Looking at a cell changes the workbook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00025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Read-only mode: values row by row, with i...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4 / 51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Everyday pictures: the file and the workbook</a:t>
            </a:r>
          </a:p>
        </p:txBody>
      </p:sp>
      <p:sp>
        <p:nvSpPr>
          <p:cNvPr id="4" name="card"/>
          <p:cNvSpPr/>
          <p:nvPr/>
        </p:nvSpPr>
        <p:spPr>
          <a:xfrm>
            <a:off x="365760" y="749808"/>
            <a:ext cx="8412480" cy="566928"/>
          </a:xfrm>
          <a:prstGeom prst="roundRect">
            <a:avLst>
              <a:gd name="adj" fmla="val 8000"/>
            </a:avLst>
          </a:prstGeom>
          <a:solidFill>
            <a:srgbClr val="F8E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nalogy"/>
          <p:cNvSpPr txBox="1"/>
          <p:nvPr/>
        </p:nvSpPr>
        <p:spPr>
          <a:xfrm>
            <a:off x="502920" y="758952"/>
            <a:ext cx="813816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400" b="1" i="0">
                <a:solidFill>
                  <a:srgbClr val="B7791F"/>
                </a:solidFill>
                <a:latin typeface="Calibri"/>
              </a:rPr>
              <a:t>ANALOGY 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A workbook is a ring binder: every sheet is one page in it, and the whole binder travels as one file.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760" y="1417320"/>
          <a:ext cx="8412480" cy="3108960"/>
        </p:xfrm>
        <a:graphic>
          <a:graphicData uri="http://schemas.openxmlformats.org/drawingml/2006/table">
            <a:tbl>
              <a:tblPr firstRow="0" bandRow="0"/>
              <a:tblGrid>
                <a:gridCol w="3566160"/>
                <a:gridCol w="4846320"/>
              </a:tblGrid>
              <a:tr h="3454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Chapter concept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Everyday picture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Reading Excel Files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Reading a ledger: you look at every line and change nothing.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xlsx file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 parcel of small labelled papers tied into one bundle; you can unpack it with any zip tool.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openpyxl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An interpreter who reads and writes the binder without Excel in the room.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workbook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 ring binder that holds all the pages of one job.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Workbook()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Buying a new binder that already holds one blank page.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openpyxl.load_workbook()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Taking a binder off the shelf and opening it on your desk.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Writing Excel Documents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Writing a new ledger page by page, and filing it at the end.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save()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Putting the binder back on the shelf: a binder with the same label is replaced.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5 / 51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An .xlsx file is a zip of XML parts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786384"/>
            <a:ext cx="4336541" cy="787908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0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5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io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zipfile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openpyxl</a:t>
            </a:r>
          </a:p>
          <a:p>
            <a:pPr algn="l"/>
            <a:r>
              <a:rPr sz="10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wb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Workbook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0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buf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io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BytesIO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0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wb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save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buf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4684014" y="786384"/>
            <a:ext cx="4094226" cy="787908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Workbook() makes a new workbook in memory. save() writes the .xlsx bytes; here into memory, so that this example needs no disk file.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620012"/>
            <a:ext cx="4336541" cy="69951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0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names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sorted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zipfile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ZipFile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buf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namelist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0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5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len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names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9BE3A8"/>
                </a:solidFill>
                <a:latin typeface="Courier New"/>
              </a:rPr>
              <a:t>'parts in the zip'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0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5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name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names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name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4684014" y="1620012"/>
            <a:ext cx="4094226" cy="699516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An .xlsx file is an ordinary zip archive. The names inside show what openpyxl keeps: the workbook, a sheet, the strings and the styles.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392680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365760" y="2667000"/>
          <a:ext cx="5720486" cy="1828800"/>
        </p:xfrm>
        <a:graphic>
          <a:graphicData uri="http://schemas.openxmlformats.org/drawingml/2006/table">
            <a:tbl>
              <a:tblPr firstRow="0" bandRow="0"/>
              <a:tblGrid>
                <a:gridCol w="2958872"/>
                <a:gridCol w="2761614"/>
              </a:tblGrid>
              <a:tr h="182880"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Part inside the zip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What it holds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F2933"/>
                          </a:solidFill>
                          <a:latin typeface="Courier New"/>
                        </a:rPr>
                        <a:t>[Content_Types].xml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F2933"/>
                          </a:solidFill>
                          <a:latin typeface="Calibri"/>
                        </a:rPr>
                        <a:t>what kind each part is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F2933"/>
                          </a:solidFill>
                          <a:latin typeface="Courier New"/>
                        </a:rPr>
                        <a:t>_rels/.rels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F2933"/>
                          </a:solidFill>
                          <a:latin typeface="Calibri"/>
                        </a:rPr>
                        <a:t>where to start reading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F2933"/>
                          </a:solidFill>
                          <a:latin typeface="Courier New"/>
                        </a:rPr>
                        <a:t>docProps/app.xml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F2933"/>
                          </a:solidFill>
                          <a:latin typeface="Calibri"/>
                        </a:rPr>
                        <a:t>which program wrote the file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F2933"/>
                          </a:solidFill>
                          <a:latin typeface="Courier New"/>
                        </a:rPr>
                        <a:t>docProps/core.xml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F2933"/>
                          </a:solidFill>
                          <a:latin typeface="Calibri"/>
                        </a:rPr>
                        <a:t>author and dates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F2933"/>
                          </a:solidFill>
                          <a:latin typeface="Courier New"/>
                        </a:rPr>
                        <a:t>xl/_rels/workbook.xml.rels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F2933"/>
                          </a:solidFill>
                          <a:latin typeface="Calibri"/>
                        </a:rPr>
                        <a:t>links from the workbook to its parts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F2933"/>
                          </a:solidFill>
                          <a:latin typeface="Courier New"/>
                        </a:rPr>
                        <a:t>xl/styles.xml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F2933"/>
                          </a:solidFill>
                          <a:latin typeface="Calibri"/>
                        </a:rPr>
                        <a:t>fonts, fills and number formats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F2933"/>
                          </a:solidFill>
                          <a:latin typeface="Courier New"/>
                        </a:rPr>
                        <a:t>xl/theme/theme1.xml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F2933"/>
                          </a:solidFill>
                          <a:latin typeface="Calibri"/>
                        </a:rPr>
                        <a:t>colours and fonts of the theme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F2933"/>
                          </a:solidFill>
                          <a:latin typeface="Courier New"/>
                        </a:rPr>
                        <a:t>xl/workbook.xml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F2933"/>
                          </a:solidFill>
                          <a:latin typeface="Calibri"/>
                        </a:rPr>
                        <a:t>the list of sheets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F2933"/>
                          </a:solidFill>
                          <a:latin typeface="Courier New"/>
                        </a:rPr>
                        <a:t>xl/worksheets/sheet1.xml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50" b="0" i="0">
                          <a:solidFill>
                            <a:srgbClr val="1F2933"/>
                          </a:solidFill>
                          <a:latin typeface="Calibri"/>
                        </a:rPr>
                        <a:t>the cells of the first sheet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22745" y="2712719"/>
            <a:ext cx="2355494" cy="457200"/>
          </a:xfrm>
          <a:prstGeom prst="roundRect">
            <a:avLst>
              <a:gd name="adj" fmla="val 12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book.xlsx</a:t>
            </a:r>
          </a:p>
        </p:txBody>
      </p:sp>
      <p:cxnSp>
        <p:nvCxnSpPr>
          <p:cNvPr id="11" name="arrow"/>
          <p:cNvCxnSpPr/>
          <p:nvPr/>
        </p:nvCxnSpPr>
        <p:spPr>
          <a:xfrm>
            <a:off x="7600492" y="3188207"/>
            <a:ext cx="0" cy="256033"/>
          </a:xfrm>
          <a:prstGeom prst="line">
            <a:avLst/>
          </a:prstGeom>
          <a:ln w="1524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22745" y="3462528"/>
            <a:ext cx="2355494" cy="457200"/>
          </a:xfrm>
          <a:prstGeom prst="roundRect">
            <a:avLst>
              <a:gd name="adj" fmla="val 12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a zip of 9</a:t>
            </a:r>
          </a:p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XML parts</a:t>
            </a:r>
          </a:p>
        </p:txBody>
      </p:sp>
      <p:cxnSp>
        <p:nvCxnSpPr>
          <p:cNvPr id="13" name="arrow"/>
          <p:cNvCxnSpPr/>
          <p:nvPr/>
        </p:nvCxnSpPr>
        <p:spPr>
          <a:xfrm>
            <a:off x="7600492" y="3938016"/>
            <a:ext cx="0" cy="256031"/>
          </a:xfrm>
          <a:prstGeom prst="line">
            <a:avLst/>
          </a:prstGeom>
          <a:ln w="1524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422745" y="4212336"/>
            <a:ext cx="2355494" cy="274320"/>
          </a:xfrm>
          <a:prstGeom prst="roundRect">
            <a:avLst>
              <a:gd name="adj" fmla="val 12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alibri"/>
              </a:rPr>
              <a:t>openpyxl reads it</a:t>
            </a:r>
          </a:p>
        </p:txBody>
      </p:sp>
      <p:sp>
        <p:nvSpPr>
          <p:cNvPr id="15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An .xlsx file is a zip of XML parts.</a:t>
            </a:r>
          </a:p>
        </p:txBody>
      </p:sp>
      <p:sp>
        <p:nvSpPr>
          <p:cNvPr id="17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6 / 51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Story: the .xlsx format became a standard in 2006</a:t>
            </a:r>
          </a:p>
        </p:txBody>
      </p:sp>
      <p:pic>
        <p:nvPicPr>
          <p:cNvPr id="4" name="photo ooxml" descr="Picture for the story: the .xlsx format became a standard in 20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25" y="868680"/>
            <a:ext cx="2651429" cy="2926080"/>
          </a:xfrm>
          <a:prstGeom prst="rect">
            <a:avLst/>
          </a:prstGeom>
        </p:spPr>
      </p:pic>
      <p:sp>
        <p:nvSpPr>
          <p:cNvPr id="5" name="credit"/>
          <p:cNvSpPr txBox="1"/>
          <p:nvPr/>
        </p:nvSpPr>
        <p:spPr>
          <a:xfrm>
            <a:off x="365760" y="3840480"/>
            <a:ext cx="26517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0">
                <a:solidFill>
                  <a:srgbClr val="5B6773"/>
                </a:solidFill>
                <a:latin typeface="Calibri"/>
              </a:rPr>
              <a:t>A rally about the OOXML vote in ISO, Oslo, 9 April 2008. Photo: Andy Armstrong, CC BY-SA 2.0, Flickr.</a:t>
            </a:r>
          </a:p>
        </p:txBody>
      </p:sp>
      <p:sp>
        <p:nvSpPr>
          <p:cNvPr id="6" name="card"/>
          <p:cNvSpPr/>
          <p:nvPr/>
        </p:nvSpPr>
        <p:spPr>
          <a:xfrm>
            <a:off x="3200400" y="841248"/>
            <a:ext cx="557784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ho"/>
          <p:cNvSpPr txBox="1"/>
          <p:nvPr/>
        </p:nvSpPr>
        <p:spPr>
          <a:xfrm>
            <a:off x="3246120" y="841248"/>
            <a:ext cx="548640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WHO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Microsoft, and the committee TC45 of Ecma International.</a:t>
            </a:r>
          </a:p>
        </p:txBody>
      </p:sp>
      <p:sp>
        <p:nvSpPr>
          <p:cNvPr id="8" name="card"/>
          <p:cNvSpPr/>
          <p:nvPr/>
        </p:nvSpPr>
        <p:spPr>
          <a:xfrm>
            <a:off x="3200400" y="1307592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at"/>
          <p:cNvSpPr txBox="1"/>
          <p:nvPr/>
        </p:nvSpPr>
        <p:spPr>
          <a:xfrm>
            <a:off x="3246120" y="1307592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WHAT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Office Open XML, the family of formats of .xlsx files: SpreadsheetML inside a ZIP-based package.</a:t>
            </a:r>
          </a:p>
        </p:txBody>
      </p:sp>
      <p:sp>
        <p:nvSpPr>
          <p:cNvPr id="10" name="card"/>
          <p:cNvSpPr/>
          <p:nvPr/>
        </p:nvSpPr>
        <p:spPr>
          <a:xfrm>
            <a:off x="3200400" y="1929384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hen"/>
          <p:cNvSpPr txBox="1"/>
          <p:nvPr/>
        </p:nvSpPr>
        <p:spPr>
          <a:xfrm>
            <a:off x="3246120" y="1929384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WHEN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TC45 set up in December 2005; ECMA 376 approved in December 2006; ISO/IEC 29500 approved in early 2008.</a:t>
            </a:r>
          </a:p>
        </p:txBody>
      </p:sp>
      <p:sp>
        <p:nvSpPr>
          <p:cNvPr id="12" name="card"/>
          <p:cNvSpPr/>
          <p:nvPr/>
        </p:nvSpPr>
        <p:spPr>
          <a:xfrm>
            <a:off x="3200400" y="2551176"/>
            <a:ext cx="557784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here"/>
          <p:cNvSpPr txBox="1"/>
          <p:nvPr/>
        </p:nvSpPr>
        <p:spPr>
          <a:xfrm>
            <a:off x="3246120" y="2551176"/>
            <a:ext cx="548640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WHERE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Ecma International, then ISO/IEC JTC 1.</a:t>
            </a:r>
          </a:p>
        </p:txBody>
      </p:sp>
      <p:sp>
        <p:nvSpPr>
          <p:cNvPr id="14" name="card"/>
          <p:cNvSpPr/>
          <p:nvPr/>
        </p:nvSpPr>
        <p:spPr>
          <a:xfrm>
            <a:off x="3200400" y="3017520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why"/>
          <p:cNvSpPr txBox="1"/>
          <p:nvPr/>
        </p:nvSpPr>
        <p:spPr>
          <a:xfrm>
            <a:off x="3246120" y="3017520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WHY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Microsoft submitted its Office formats for review, to make them a documented standard that any program may read.</a:t>
            </a:r>
          </a:p>
        </p:txBody>
      </p:sp>
      <p:sp>
        <p:nvSpPr>
          <p:cNvPr id="16" name="card"/>
          <p:cNvSpPr/>
          <p:nvPr/>
        </p:nvSpPr>
        <p:spPr>
          <a:xfrm>
            <a:off x="3200400" y="3639311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ow"/>
          <p:cNvSpPr txBox="1"/>
          <p:nvPr/>
        </p:nvSpPr>
        <p:spPr>
          <a:xfrm>
            <a:off x="3246120" y="3639311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HOW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A zip of XML files. Any program with a zip library can open an .xlsx file, and openpyxl does exactly that.</a:t>
            </a:r>
          </a:p>
        </p:txBody>
      </p:sp>
      <p:sp>
        <p:nvSpPr>
          <p:cNvPr id="18" name="read"/>
          <p:cNvSpPr txBox="1"/>
          <p:nvPr/>
        </p:nvSpPr>
        <p:spPr>
          <a:xfrm>
            <a:off x="3200400" y="4279391"/>
            <a:ext cx="557784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1" i="0">
                <a:solidFill>
                  <a:srgbClr val="B7791F"/>
                </a:solidFill>
                <a:latin typeface="Calibri"/>
              </a:rPr>
              <a:t>READ  </a:t>
            </a:r>
            <a:r>
              <a:rPr sz="1300" b="0" i="0">
                <a:solidFill>
                  <a:srgbClr val="0E7C86"/>
                </a:solidFill>
                <a:latin typeface="Calibri"/>
                <a:hlinkClick r:id="rId4"/>
              </a:rPr>
              <a:t>OOXML Format Family (Library of Congress)</a:t>
            </a:r>
          </a:p>
        </p:txBody>
      </p:sp>
      <p:sp>
        <p:nvSpPr>
          <p:cNvPr id="19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7 / 51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900" b="1" i="0">
                <a:solidFill>
                  <a:srgbClr val="1F2933"/>
                </a:solidFill>
                <a:latin typeface="Calibri"/>
              </a:rPr>
              <a:t>Sheets: create_sheet, sheetnames and the active sheet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786384"/>
            <a:ext cx="4812791" cy="1144269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io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openpyxl</a:t>
            </a:r>
          </a:p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wb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Workbook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wb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create_sheet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9BE3A8"/>
                </a:solidFill>
                <a:latin typeface="Courier New"/>
              </a:rPr>
              <a:t>'Sheet2'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wb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create_sheet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9BE3A8"/>
                </a:solidFill>
                <a:latin typeface="Courier New"/>
              </a:rPr>
              <a:t>'Sheet3'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buf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io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BytesIO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;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wb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save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buf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160264" y="786384"/>
            <a:ext cx="3617976" cy="1144269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A new workbook has one sheet named Sheet. create_sheet adds one at the end, or at the index you give. The stand-in for example3.xlsx goes into memory.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976374"/>
            <a:ext cx="4812791" cy="921765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wb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load_workbook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buf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wb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sheetnames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wb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active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title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wb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300" b="0" i="0">
                <a:solidFill>
                  <a:srgbClr val="9BE3A8"/>
                </a:solidFill>
                <a:latin typeface="Courier New"/>
              </a:rPr>
              <a:t>'Sheet3'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title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160264" y="1976374"/>
            <a:ext cx="3617976" cy="921765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load_workbook opens the saved bytes again. sheetnames lists the sheets in tab order, and the active sheet is the one that was open when the file was saved.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971291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428491"/>
            <a:ext cx="1737360" cy="420624"/>
          </a:xfrm>
          <a:prstGeom prst="roundRect">
            <a:avLst>
              <a:gd name="adj" fmla="val 20000"/>
            </a:avLst>
          </a:prstGeom>
          <a:solidFill>
            <a:srgbClr val="F8E7C6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 i="0">
                <a:solidFill>
                  <a:srgbClr val="1F2933"/>
                </a:solidFill>
                <a:latin typeface="Calibri"/>
              </a:rPr>
              <a:t>0</a:t>
            </a:r>
          </a:p>
          <a:p>
            <a:pPr algn="ctr"/>
            <a:r>
              <a:rPr sz="1000" b="1" i="0">
                <a:solidFill>
                  <a:srgbClr val="1F2933"/>
                </a:solidFill>
                <a:latin typeface="Calibri"/>
              </a:rPr>
              <a:t>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4560" y="3428491"/>
            <a:ext cx="173736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1</a:t>
            </a:r>
          </a:p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Sheet3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3428491"/>
            <a:ext cx="173736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2</a:t>
            </a:r>
          </a:p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Sheet2</a:t>
            </a:r>
          </a:p>
        </p:txBody>
      </p:sp>
      <p:sp>
        <p:nvSpPr>
          <p:cNvPr id="12" name="visual note"/>
          <p:cNvSpPr txBox="1"/>
          <p:nvPr/>
        </p:nvSpPr>
        <p:spPr>
          <a:xfrm>
            <a:off x="365760" y="3199891"/>
            <a:ext cx="841248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1">
                <a:solidFill>
                  <a:srgbClr val="5B6773"/>
                </a:solidFill>
                <a:latin typeface="Calibri"/>
              </a:rPr>
              <a:t>the tabs of the reloaded workbook, with their index</a:t>
            </a:r>
          </a:p>
        </p:txBody>
      </p:sp>
      <p:cxnSp>
        <p:nvCxnSpPr>
          <p:cNvPr id="13" name="arrow"/>
          <p:cNvCxnSpPr/>
          <p:nvPr/>
        </p:nvCxnSpPr>
        <p:spPr>
          <a:xfrm>
            <a:off x="1234440" y="3867403"/>
            <a:ext cx="777240" cy="146304"/>
          </a:xfrm>
          <a:prstGeom prst="line">
            <a:avLst/>
          </a:prstGeom>
          <a:ln w="19050">
            <a:solidFill>
              <a:srgbClr val="B779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65760" y="4022851"/>
            <a:ext cx="3291840" cy="274320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wb.active.title = 'Sheet'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4022851"/>
            <a:ext cx="4572000" cy="27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wb.sheetnames = ['Sheet', 'Sheet3', 'Sheet2']</a:t>
            </a:r>
          </a:p>
        </p:txBody>
      </p:sp>
      <p:sp>
        <p:nvSpPr>
          <p:cNvPr id="16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A workbook is a list of sheets; one is active.</a:t>
            </a:r>
          </a:p>
        </p:txBody>
      </p:sp>
      <p:sp>
        <p:nvSpPr>
          <p:cNvPr id="18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8 / 51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Story: openpyxl was born in 2010</a:t>
            </a:r>
          </a:p>
        </p:txBody>
      </p:sp>
      <p:pic>
        <p:nvPicPr>
          <p:cNvPr id="4" name="photo openpyxl" descr="Picture for the story: openpyxl was born in 20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68807"/>
            <a:ext cx="2651760" cy="2925824"/>
          </a:xfrm>
          <a:prstGeom prst="rect">
            <a:avLst/>
          </a:prstGeom>
        </p:spPr>
      </p:pic>
      <p:sp>
        <p:nvSpPr>
          <p:cNvPr id="5" name="credit"/>
          <p:cNvSpPr txBox="1"/>
          <p:nvPr/>
        </p:nvSpPr>
        <p:spPr>
          <a:xfrm>
            <a:off x="365760" y="3840480"/>
            <a:ext cx="26517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0">
                <a:solidFill>
                  <a:srgbClr val="5B6773"/>
                </a:solidFill>
                <a:latin typeface="Calibri"/>
              </a:rPr>
              <a:t>The logo of the openpyxl documentation, enlarged. Not a picture of the authors.</a:t>
            </a:r>
          </a:p>
        </p:txBody>
      </p:sp>
      <p:sp>
        <p:nvSpPr>
          <p:cNvPr id="6" name="card"/>
          <p:cNvSpPr/>
          <p:nvPr/>
        </p:nvSpPr>
        <p:spPr>
          <a:xfrm>
            <a:off x="3200400" y="841248"/>
            <a:ext cx="557784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ho"/>
          <p:cNvSpPr txBox="1"/>
          <p:nvPr/>
        </p:nvSpPr>
        <p:spPr>
          <a:xfrm>
            <a:off x="3246120" y="841248"/>
            <a:ext cx="548640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WHO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Eric Gazoni and Charlie Clark, volunteers.</a:t>
            </a:r>
          </a:p>
        </p:txBody>
      </p:sp>
      <p:sp>
        <p:nvSpPr>
          <p:cNvPr id="8" name="card"/>
          <p:cNvSpPr/>
          <p:nvPr/>
        </p:nvSpPr>
        <p:spPr>
          <a:xfrm>
            <a:off x="3200400" y="1307592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at"/>
          <p:cNvSpPr txBox="1"/>
          <p:nvPr/>
        </p:nvSpPr>
        <p:spPr>
          <a:xfrm>
            <a:off x="3246120" y="1307592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WHAT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openpyxl, a Python library that reads and writes Office Open XML files.</a:t>
            </a:r>
          </a:p>
        </p:txBody>
      </p:sp>
      <p:sp>
        <p:nvSpPr>
          <p:cNvPr id="10" name="card"/>
          <p:cNvSpPr/>
          <p:nvPr/>
        </p:nvSpPr>
        <p:spPr>
          <a:xfrm>
            <a:off x="3200400" y="1929384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hen"/>
          <p:cNvSpPr txBox="1"/>
          <p:nvPr/>
        </p:nvSpPr>
        <p:spPr>
          <a:xfrm>
            <a:off x="3246120" y="1929384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WHEN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First upload to PyPI, openpyxl 1.1.0, on 11 August 2010; the newest release, 3.1.5, on 28 June 2024.</a:t>
            </a:r>
          </a:p>
        </p:txBody>
      </p:sp>
      <p:sp>
        <p:nvSpPr>
          <p:cNvPr id="12" name="card"/>
          <p:cNvSpPr/>
          <p:nvPr/>
        </p:nvSpPr>
        <p:spPr>
          <a:xfrm>
            <a:off x="3200400" y="2551176"/>
            <a:ext cx="557784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here"/>
          <p:cNvSpPr txBox="1"/>
          <p:nvPr/>
        </p:nvSpPr>
        <p:spPr>
          <a:xfrm>
            <a:off x="3246120" y="2551176"/>
            <a:ext cx="548640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WHERE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The open-source Python community.</a:t>
            </a:r>
          </a:p>
        </p:txBody>
      </p:sp>
      <p:sp>
        <p:nvSpPr>
          <p:cNvPr id="14" name="card"/>
          <p:cNvSpPr/>
          <p:nvPr/>
        </p:nvSpPr>
        <p:spPr>
          <a:xfrm>
            <a:off x="3200400" y="3017520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why"/>
          <p:cNvSpPr txBox="1"/>
          <p:nvPr/>
        </p:nvSpPr>
        <p:spPr>
          <a:xfrm>
            <a:off x="3246120" y="3017520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WHY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No library could read and write the format natively from Python; the project was first based on PHPExcel.</a:t>
            </a:r>
          </a:p>
        </p:txBody>
      </p:sp>
      <p:sp>
        <p:nvSpPr>
          <p:cNvPr id="16" name="card"/>
          <p:cNvSpPr/>
          <p:nvPr/>
        </p:nvSpPr>
        <p:spPr>
          <a:xfrm>
            <a:off x="3200400" y="3639311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ow"/>
          <p:cNvSpPr txBox="1"/>
          <p:nvPr/>
        </p:nvSpPr>
        <p:spPr>
          <a:xfrm>
            <a:off x="3246120" y="3639311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HOW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A library written in Python, so no Excel is needed. Every program of chapter 14 is built on it.</a:t>
            </a:r>
          </a:p>
        </p:txBody>
      </p:sp>
      <p:sp>
        <p:nvSpPr>
          <p:cNvPr id="18" name="read"/>
          <p:cNvSpPr txBox="1"/>
          <p:nvPr/>
        </p:nvSpPr>
        <p:spPr>
          <a:xfrm>
            <a:off x="3200400" y="4279391"/>
            <a:ext cx="557784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1" i="0">
                <a:solidFill>
                  <a:srgbClr val="B7791F"/>
                </a:solidFill>
                <a:latin typeface="Calibri"/>
              </a:rPr>
              <a:t>READ  </a:t>
            </a:r>
            <a:r>
              <a:rPr sz="1300" b="0" i="0">
                <a:solidFill>
                  <a:srgbClr val="0E7C86"/>
                </a:solidFill>
                <a:latin typeface="Calibri"/>
                <a:hlinkClick r:id="rId4"/>
              </a:rPr>
              <a:t>openpyxl documentation</a:t>
            </a:r>
          </a:p>
        </p:txBody>
      </p:sp>
      <p:sp>
        <p:nvSpPr>
          <p:cNvPr id="19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9 / 51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Everyday pictures: sheets and cells</a:t>
            </a:r>
          </a:p>
        </p:txBody>
      </p:sp>
      <p:sp>
        <p:nvSpPr>
          <p:cNvPr id="4" name="card"/>
          <p:cNvSpPr/>
          <p:nvPr/>
        </p:nvSpPr>
        <p:spPr>
          <a:xfrm>
            <a:off x="365760" y="749808"/>
            <a:ext cx="8412480" cy="566928"/>
          </a:xfrm>
          <a:prstGeom prst="roundRect">
            <a:avLst>
              <a:gd name="adj" fmla="val 8000"/>
            </a:avLst>
          </a:prstGeom>
          <a:solidFill>
            <a:srgbClr val="F8E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nalogy"/>
          <p:cNvSpPr txBox="1"/>
          <p:nvPr/>
        </p:nvSpPr>
        <p:spPr>
          <a:xfrm>
            <a:off x="502920" y="758952"/>
            <a:ext cx="813816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400" b="1" i="0">
                <a:solidFill>
                  <a:srgbClr val="B7791F"/>
                </a:solidFill>
                <a:latin typeface="Calibri"/>
              </a:rPr>
              <a:t>ANALOGY 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A sheet is a page of graph paper, and every cell has an address like a seat in a cinema: row and seat.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760" y="1417320"/>
          <a:ext cx="8412480" cy="3108960"/>
        </p:xfrm>
        <a:graphic>
          <a:graphicData uri="http://schemas.openxmlformats.org/drawingml/2006/table">
            <a:tbl>
              <a:tblPr firstRow="0" bandRow="0"/>
              <a:tblGrid>
                <a:gridCol w="3566160"/>
                <a:gridCol w="4846320"/>
              </a:tblGrid>
              <a:tr h="3454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Chapter concept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Everyday picture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worksheet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One page of graph paper in the binder.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active sheet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The page the binder was left open at.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create_sheet()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Slipping a new page into the binder, at the back or at a place you choose.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cell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One box of the graph paper; it holds one value or one formula.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cell()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Asking for the seat by row and number: row 2, seat 2.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openpyxl.utils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 small box of tools beside the binder, such as a ruler and a converter.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get_column_letter()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Turning a seat number into its sign on the cinema wall: 27 becomes AA.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column_index_from_string()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Turning the sign on the wall back into a number.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10 / 51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900" b="1" i="0">
                <a:solidFill>
                  <a:srgbClr val="1F2933"/>
                </a:solidFill>
                <a:latin typeface="Calibri"/>
              </a:rPr>
              <a:t>A cell by name, by row and column, and its coordinate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786384"/>
            <a:ext cx="5456681" cy="89001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0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5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openpyxl</a:t>
            </a:r>
          </a:p>
          <a:p>
            <a:pPr algn="l"/>
            <a:r>
              <a:rPr sz="10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Workbook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active</a:t>
            </a:r>
          </a:p>
          <a:p>
            <a:pPr algn="l"/>
            <a:r>
              <a:rPr sz="10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5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row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50" b="0" i="0">
                <a:solidFill>
                  <a:srgbClr val="9BE3A8"/>
                </a:solidFill>
                <a:latin typeface="Courier New"/>
              </a:rPr>
              <a:t>'Apples'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7CC4FF"/>
                </a:solidFill>
                <a:latin typeface="Courier New"/>
              </a:rPr>
              <a:t>73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50" b="0" i="0">
                <a:solidFill>
                  <a:srgbClr val="9BE3A8"/>
                </a:solidFill>
                <a:latin typeface="Courier New"/>
              </a:rPr>
              <a:t>'Cherries'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7CC4FF"/>
                </a:solidFill>
                <a:latin typeface="Courier New"/>
              </a:rPr>
              <a:t>85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50" b="0" i="0">
                <a:solidFill>
                  <a:srgbClr val="9BE3A8"/>
                </a:solidFill>
                <a:latin typeface="Courier New"/>
              </a:rPr>
              <a:t>'Pears'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7CC4FF"/>
                </a:solidFill>
                <a:latin typeface="Courier New"/>
              </a:rPr>
              <a:t>14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10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append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row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804154" y="786384"/>
            <a:ext cx="2974086" cy="890016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append writes one row below the last used row. These three rows stand in for the chapter's fruit sheet.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722120"/>
            <a:ext cx="5456681" cy="89001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0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5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50" b="0" i="0">
                <a:solidFill>
                  <a:srgbClr val="9BE3A8"/>
                </a:solidFill>
                <a:latin typeface="Courier New"/>
              </a:rPr>
              <a:t>'A1'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value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cell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row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7CC4FF"/>
                </a:solidFill>
                <a:latin typeface="Courier New"/>
              </a:rPr>
              <a:t>2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column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7CC4FF"/>
                </a:solidFill>
                <a:latin typeface="Courier New"/>
              </a:rPr>
              <a:t>2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value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0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5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50" b="0" i="0">
                <a:solidFill>
                  <a:srgbClr val="9BE3A8"/>
                </a:solidFill>
                <a:latin typeface="Courier New"/>
              </a:rPr>
              <a:t>'B3'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coordinate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max_row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max_column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0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5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50" b="0" i="0">
                <a:solidFill>
                  <a:srgbClr val="9BE3A8"/>
                </a:solidFill>
                <a:latin typeface="Courier New"/>
              </a:rPr>
              <a:t>'A1'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804154" y="1722120"/>
            <a:ext cx="2974086" cy="890016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A cell is found by its name, A1, or by row and column number with cell(). max_row and max_column give the size of the used area.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685288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9" name="sheet grid"/>
          <p:cNvGraphicFramePr>
            <a:graphicFrameLocks noGrp="1"/>
          </p:cNvGraphicFramePr>
          <p:nvPr/>
        </p:nvGraphicFramePr>
        <p:xfrm>
          <a:off x="365760" y="2959608"/>
          <a:ext cx="4206237" cy="1097280"/>
        </p:xfrm>
        <a:graphic>
          <a:graphicData uri="http://schemas.openxmlformats.org/drawingml/2006/table">
            <a:tbl>
              <a:tblPr firstRow="0" bandRow="0"/>
              <a:tblGrid>
                <a:gridCol w="539261"/>
                <a:gridCol w="1402079"/>
                <a:gridCol w="1402079"/>
                <a:gridCol w="862818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29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Apples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Cherries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8E7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Pears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CF1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908499" y="3005328"/>
            <a:ext cx="3869740" cy="274320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ws['A1']  =  'Apples'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08499" y="3371088"/>
            <a:ext cx="3869740" cy="274320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ws.cell(row=2, column=2)  =  85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08499" y="3736848"/>
            <a:ext cx="3869740" cy="274320"/>
          </a:xfrm>
          <a:prstGeom prst="roundRect">
            <a:avLst>
              <a:gd name="adj" fmla="val 15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ws['B3'].coordinate  =  'B3'</a:t>
            </a:r>
          </a:p>
        </p:txBody>
      </p:sp>
      <p:sp>
        <p:nvSpPr>
          <p:cNvPr id="13" name="visual note"/>
          <p:cNvSpPr txBox="1"/>
          <p:nvPr/>
        </p:nvSpPr>
        <p:spPr>
          <a:xfrm>
            <a:off x="4908499" y="4102608"/>
            <a:ext cx="386974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1">
                <a:solidFill>
                  <a:srgbClr val="5B6773"/>
                </a:solidFill>
                <a:latin typeface="Calibri"/>
              </a:rPr>
              <a:t>max_row = 3, max_column = 2: the used area</a:t>
            </a:r>
          </a:p>
        </p:txBody>
      </p:sp>
      <p:sp>
        <p:nvSpPr>
          <p:cNvPr id="14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A cell has a name and a row and column number.</a:t>
            </a:r>
          </a:p>
        </p:txBody>
      </p:sp>
      <p:sp>
        <p:nvSpPr>
          <p:cNvPr id="16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11 / 51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Story: a student pictured the spreadsheet in 1978</a:t>
            </a:r>
          </a:p>
        </p:txBody>
      </p:sp>
      <p:pic>
        <p:nvPicPr>
          <p:cNvPr id="4" name="photo bricklin" descr="Picture for the story: a student pictured the spreadsheet in 19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840" y="868680"/>
            <a:ext cx="2651598" cy="2926080"/>
          </a:xfrm>
          <a:prstGeom prst="rect">
            <a:avLst/>
          </a:prstGeom>
        </p:spPr>
      </p:pic>
      <p:sp>
        <p:nvSpPr>
          <p:cNvPr id="5" name="credit"/>
          <p:cNvSpPr txBox="1"/>
          <p:nvPr/>
        </p:nvSpPr>
        <p:spPr>
          <a:xfrm>
            <a:off x="365760" y="3840480"/>
            <a:ext cx="26517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0">
                <a:solidFill>
                  <a:srgbClr val="5B6773"/>
                </a:solidFill>
                <a:latin typeface="Calibri"/>
              </a:rPr>
              <a:t>Dan Bricklin at the Business of Software conference, 2010. Photo: Betsy Weber, CC BY 2.0, Flickr.</a:t>
            </a:r>
          </a:p>
        </p:txBody>
      </p:sp>
      <p:sp>
        <p:nvSpPr>
          <p:cNvPr id="6" name="card"/>
          <p:cNvSpPr/>
          <p:nvPr/>
        </p:nvSpPr>
        <p:spPr>
          <a:xfrm>
            <a:off x="3200400" y="841248"/>
            <a:ext cx="557784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ho"/>
          <p:cNvSpPr txBox="1"/>
          <p:nvPr/>
        </p:nvSpPr>
        <p:spPr>
          <a:xfrm>
            <a:off x="3246120" y="841248"/>
            <a:ext cx="548640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WHO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Dan Bricklin, a student, and later Bob Frankston.</a:t>
            </a:r>
          </a:p>
        </p:txBody>
      </p:sp>
      <p:sp>
        <p:nvSpPr>
          <p:cNvPr id="8" name="card"/>
          <p:cNvSpPr/>
          <p:nvPr/>
        </p:nvSpPr>
        <p:spPr>
          <a:xfrm>
            <a:off x="3200400" y="1307592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at"/>
          <p:cNvSpPr txBox="1"/>
          <p:nvPr/>
        </p:nvSpPr>
        <p:spPr>
          <a:xfrm>
            <a:off x="3246120" y="1307592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WHAT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The idea of the electronic spreadsheet; VisiCalc, its first product, came out for the Apple II in 1979.</a:t>
            </a:r>
          </a:p>
        </p:txBody>
      </p:sp>
      <p:sp>
        <p:nvSpPr>
          <p:cNvPr id="10" name="card"/>
          <p:cNvSpPr/>
          <p:nvPr/>
        </p:nvSpPr>
        <p:spPr>
          <a:xfrm>
            <a:off x="3200400" y="1929384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hen"/>
          <p:cNvSpPr txBox="1"/>
          <p:nvPr/>
        </p:nvSpPr>
        <p:spPr>
          <a:xfrm>
            <a:off x="3246120" y="1929384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WHEN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Spring 1978 the idea; 8 October 1978 the first prototype on an Apple II; 1979 VisiCalc.</a:t>
            </a:r>
          </a:p>
        </p:txBody>
      </p:sp>
      <p:sp>
        <p:nvSpPr>
          <p:cNvPr id="12" name="card"/>
          <p:cNvSpPr/>
          <p:nvPr/>
        </p:nvSpPr>
        <p:spPr>
          <a:xfrm>
            <a:off x="3200400" y="2551176"/>
            <a:ext cx="557784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here"/>
          <p:cNvSpPr txBox="1"/>
          <p:nvPr/>
        </p:nvSpPr>
        <p:spPr>
          <a:xfrm>
            <a:off x="3246120" y="2551176"/>
            <a:ext cx="548640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WHERE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Harvard Business School, Cambridge, Massachusetts.</a:t>
            </a:r>
          </a:p>
        </p:txBody>
      </p:sp>
      <p:sp>
        <p:nvSpPr>
          <p:cNvPr id="14" name="card"/>
          <p:cNvSpPr/>
          <p:nvPr/>
        </p:nvSpPr>
        <p:spPr>
          <a:xfrm>
            <a:off x="3200400" y="3017520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why"/>
          <p:cNvSpPr txBox="1"/>
          <p:nvPr/>
        </p:nvSpPr>
        <p:spPr>
          <a:xfrm>
            <a:off x="3246120" y="3017520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WHY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To put numbers, formula results and text on a screen in rows and columns with human-friendly names.</a:t>
            </a:r>
          </a:p>
        </p:txBody>
      </p:sp>
      <p:sp>
        <p:nvSpPr>
          <p:cNvPr id="16" name="card"/>
          <p:cNvSpPr/>
          <p:nvPr/>
        </p:nvSpPr>
        <p:spPr>
          <a:xfrm>
            <a:off x="3200400" y="3639311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ow"/>
          <p:cNvSpPr txBox="1"/>
          <p:nvPr/>
        </p:nvSpPr>
        <p:spPr>
          <a:xfrm>
            <a:off x="3246120" y="3639311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HOW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He built the screen in Basic on the school's timesharing system, then on an Apple II borrowed from Dan Fylstra.</a:t>
            </a:r>
          </a:p>
        </p:txBody>
      </p:sp>
      <p:sp>
        <p:nvSpPr>
          <p:cNvPr id="18" name="read"/>
          <p:cNvSpPr txBox="1"/>
          <p:nvPr/>
        </p:nvSpPr>
        <p:spPr>
          <a:xfrm>
            <a:off x="3200400" y="4279391"/>
            <a:ext cx="557784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1" i="0">
                <a:solidFill>
                  <a:srgbClr val="B7791F"/>
                </a:solidFill>
                <a:latin typeface="Calibri"/>
              </a:rPr>
              <a:t>READ  </a:t>
            </a:r>
            <a:r>
              <a:rPr sz="1300" b="0" i="0">
                <a:solidFill>
                  <a:srgbClr val="0E7C86"/>
                </a:solidFill>
                <a:latin typeface="Calibri"/>
                <a:hlinkClick r:id="rId4"/>
              </a:rPr>
              <a:t>The Idea, by Dan Bricklin (bricklin.com)</a:t>
            </a:r>
          </a:p>
        </p:txBody>
      </p:sp>
      <p:sp>
        <p:nvSpPr>
          <p:cNvPr id="19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12 / 51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get_column_letter and column_index_from_string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786384"/>
            <a:ext cx="8412480" cy="601980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from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utils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get_column_letter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column_index_from_string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get_column_letter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n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n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7CC4FF"/>
                </a:solidFill>
                <a:latin typeface="Courier New"/>
              </a:rPr>
              <a:t>2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7CC4FF"/>
                </a:solidFill>
                <a:latin typeface="Courier New"/>
              </a:rPr>
              <a:t>27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7CC4FF"/>
                </a:solidFill>
                <a:latin typeface="Courier New"/>
              </a:rPr>
              <a:t>900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column_index_from_string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'AA'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column_index_from_string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'XFD'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365760" y="1397508"/>
            <a:ext cx="8412480" cy="477266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Column 27 is AA, because the letters count like digits without a zero. Column 900 is AHP, and the last column of a sheet is XFD.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911350"/>
            <a:ext cx="8412480" cy="756920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try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get_column_letter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7CC4FF"/>
                </a:solidFill>
                <a:latin typeface="Courier New"/>
              </a:rPr>
              <a:t>0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except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ValueError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as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'ValueError:'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365760" y="2677413"/>
            <a:ext cx="8412480" cy="302641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There is no column 0, and no column beyond 18278. The wrong number stops the program with a ValueError.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3044063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365760" y="3318382"/>
          <a:ext cx="8412475" cy="585216"/>
        </p:xfrm>
        <a:graphic>
          <a:graphicData uri="http://schemas.openxmlformats.org/drawingml/2006/table">
            <a:tbl>
              <a:tblPr firstRow="0" bandRow="0"/>
              <a:tblGrid>
                <a:gridCol w="924448"/>
                <a:gridCol w="832003"/>
                <a:gridCol w="832003"/>
                <a:gridCol w="832003"/>
                <a:gridCol w="832003"/>
                <a:gridCol w="832003"/>
                <a:gridCol w="832003"/>
                <a:gridCol w="832003"/>
                <a:gridCol w="832003"/>
                <a:gridCol w="832003"/>
              </a:tblGrid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number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52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53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702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703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900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2933"/>
                          </a:solidFill>
                          <a:latin typeface="Calibri"/>
                        </a:rPr>
                        <a:t>letters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Z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AA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AZ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BA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ZZ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AAA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AHP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65760" y="4049903"/>
            <a:ext cx="3291840" cy="292608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XFD = column 16384, the last 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4049903"/>
            <a:ext cx="3657600" cy="292608"/>
          </a:xfrm>
          <a:prstGeom prst="roundRect">
            <a:avLst>
              <a:gd name="adj" fmla="val 15000"/>
            </a:avLst>
          </a:prstGeom>
          <a:solidFill>
            <a:srgbClr val="F7DAD2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number 0 is refused: ValueError</a:t>
            </a:r>
          </a:p>
        </p:txBody>
      </p:sp>
      <p:sp>
        <p:nvSpPr>
          <p:cNvPr id="12" name="visual note"/>
          <p:cNvSpPr txBox="1"/>
          <p:nvPr/>
        </p:nvSpPr>
        <p:spPr>
          <a:xfrm>
            <a:off x="365760" y="4369943"/>
            <a:ext cx="841248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1">
                <a:solidFill>
                  <a:srgbClr val="5B6773"/>
                </a:solidFill>
                <a:latin typeface="Calibri"/>
              </a:rPr>
              <a:t>letters count like digits without a zero: Z, then AA</a:t>
            </a:r>
          </a:p>
        </p:txBody>
      </p:sp>
      <p:sp>
        <p:nvSpPr>
          <p:cNvPr id="13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Letters count like digits without a zero.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13 / 51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A slice of cells, one column, and the generators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786384"/>
            <a:ext cx="5193791" cy="694944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openpyxl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Workbook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active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'Apples'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73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2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'Cherries'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85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3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'Pears'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14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append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541264" y="786384"/>
            <a:ext cx="3236976" cy="694944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A small sheet of three rows and three columns.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527048"/>
            <a:ext cx="5193791" cy="555498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block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'A1'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'C2'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len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block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'rows of'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len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block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0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'cells'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row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block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value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row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541264" y="1527048"/>
            <a:ext cx="3236976" cy="555498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A slice such as A1:C2 gives a tuple of rows, and each row is a tuple of cells.</a:t>
            </a:r>
          </a:p>
        </p:txBody>
      </p:sp>
      <p:sp>
        <p:nvSpPr>
          <p:cNvPr id="8" name="code"/>
          <p:cNvSpPr/>
          <p:nvPr/>
        </p:nvSpPr>
        <p:spPr>
          <a:xfrm>
            <a:off x="365760" y="2128266"/>
            <a:ext cx="5193791" cy="651891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value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'B'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type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rows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__name__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type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columns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__name__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9" name="explanation"/>
          <p:cNvSpPr txBox="1"/>
          <p:nvPr/>
        </p:nvSpPr>
        <p:spPr>
          <a:xfrm>
            <a:off x="5541264" y="2128266"/>
            <a:ext cx="3236976" cy="651891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ws['B'] is the whole column B. rows and columns are generators, so they can be looped over but not indexed.</a:t>
            </a:r>
          </a:p>
        </p:txBody>
      </p:sp>
      <p:sp>
        <p:nvSpPr>
          <p:cNvPr id="10" name="result label"/>
          <p:cNvSpPr txBox="1"/>
          <p:nvPr/>
        </p:nvSpPr>
        <p:spPr>
          <a:xfrm>
            <a:off x="365760" y="2853309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11" name="sheet grid"/>
          <p:cNvGraphicFramePr>
            <a:graphicFrameLocks noGrp="1"/>
          </p:cNvGraphicFramePr>
          <p:nvPr/>
        </p:nvGraphicFramePr>
        <p:xfrm>
          <a:off x="365760" y="3127629"/>
          <a:ext cx="4206238" cy="1097280"/>
        </p:xfrm>
        <a:graphic>
          <a:graphicData uri="http://schemas.openxmlformats.org/drawingml/2006/table">
            <a:tbl>
              <a:tblPr firstRow="0" bandRow="0"/>
              <a:tblGrid>
                <a:gridCol w="512956"/>
                <a:gridCol w="1231094"/>
                <a:gridCol w="1231094"/>
                <a:gridCol w="1231094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29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Apples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CF1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73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Cherries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CF1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Pears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8E7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908499" y="3173349"/>
            <a:ext cx="3869740" cy="274320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ws['A1':'C2']: the teal cells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08499" y="3539109"/>
            <a:ext cx="3869740" cy="274320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ws['B']: column B, amber and green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08499" y="3904869"/>
            <a:ext cx="3869740" cy="274320"/>
          </a:xfrm>
          <a:prstGeom prst="roundRect">
            <a:avLst>
              <a:gd name="adj" fmla="val 15000"/>
            </a:avLst>
          </a:prstGeom>
          <a:solidFill>
            <a:srgbClr val="ECE6D8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5B6773"/>
                </a:solidFill>
                <a:latin typeface="Courier New"/>
              </a:rPr>
              <a:t>ws.rows, ws.columns: generators</a:t>
            </a:r>
          </a:p>
        </p:txBody>
      </p:sp>
      <p:sp>
        <p:nvSpPr>
          <p:cNvPr id="15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A slice gives rows; a rows property is a generator.</a:t>
            </a:r>
          </a:p>
        </p:txBody>
      </p:sp>
      <p:sp>
        <p:nvSpPr>
          <p:cNvPr id="17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14 / 51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Everyday pictures: reading many cells</a:t>
            </a:r>
          </a:p>
        </p:txBody>
      </p:sp>
      <p:sp>
        <p:nvSpPr>
          <p:cNvPr id="4" name="card"/>
          <p:cNvSpPr/>
          <p:nvPr/>
        </p:nvSpPr>
        <p:spPr>
          <a:xfrm>
            <a:off x="365760" y="749808"/>
            <a:ext cx="8412480" cy="566928"/>
          </a:xfrm>
          <a:prstGeom prst="roundRect">
            <a:avLst>
              <a:gd name="adj" fmla="val 8000"/>
            </a:avLst>
          </a:prstGeom>
          <a:solidFill>
            <a:srgbClr val="F8E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nalogy"/>
          <p:cNvSpPr txBox="1"/>
          <p:nvPr/>
        </p:nvSpPr>
        <p:spPr>
          <a:xfrm>
            <a:off x="502920" y="758952"/>
            <a:ext cx="813816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400" b="1" i="0">
                <a:solidFill>
                  <a:srgbClr val="B7791F"/>
                </a:solidFill>
                <a:latin typeface="Calibri"/>
              </a:rPr>
              <a:t>ANALOGY 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Reading a big sheet is like reading a long scroll: unroll one line at a time and you never need the whole scroll on the table.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760" y="1417320"/>
          <a:ext cx="8412480" cy="1828800"/>
        </p:xfrm>
        <a:graphic>
          <a:graphicData uri="http://schemas.openxmlformats.org/drawingml/2006/table">
            <a:tbl>
              <a:tblPr firstRow="0" bandRow="0"/>
              <a:tblGrid>
                <a:gridCol w="3566160"/>
                <a:gridCol w="48463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Chapter concept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Everyday picture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iter_rows()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Unrolling the scroll line by line, handing you each line as it appears.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read-only mode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Reading the scroll through a window: fast and light, but you may not write on it.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insert_rows()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Pushing new empty lines into a page; the notes in the margin still point at the old lines.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15 / 51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Every cell has a data type: number, text or date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786384"/>
            <a:ext cx="5620512" cy="989329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datetime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openpyxl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Workbook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active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'A1'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datetime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datetime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7CC4FF"/>
                </a:solidFill>
                <a:latin typeface="Courier New"/>
              </a:rPr>
              <a:t>2035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7CC4FF"/>
                </a:solidFill>
                <a:latin typeface="Courier New"/>
              </a:rPr>
              <a:t>4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7CC4FF"/>
                </a:solidFill>
                <a:latin typeface="Courier New"/>
              </a:rPr>
              <a:t>5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7CC4FF"/>
                </a:solidFill>
                <a:latin typeface="Courier New"/>
              </a:rPr>
              <a:t>13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7CC4FF"/>
                </a:solidFill>
                <a:latin typeface="Courier New"/>
              </a:rPr>
              <a:t>34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7CC4FF"/>
                </a:solidFill>
                <a:latin typeface="Courier New"/>
              </a:rPr>
              <a:t>2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'B1'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'SEPT2'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'C1'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7CC4FF"/>
                </a:solidFill>
                <a:latin typeface="Courier New"/>
              </a:rPr>
              <a:t>73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967984" y="786384"/>
            <a:ext cx="2810255" cy="989329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Python values go into cells as they are: a datetime, a string that only looks like a gene name or a date, and a number.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821434"/>
            <a:ext cx="5620512" cy="108051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100" b="0" i="0">
                <a:solidFill>
                  <a:srgbClr val="9BE3A8"/>
                </a:solidFill>
                <a:latin typeface="Courier New"/>
              </a:rPr>
              <a:t>'A1'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value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c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10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11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c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coordinate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c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data_type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type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c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value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__name__</a:t>
            </a:r>
            <a:r>
              <a:rPr sz="11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967984" y="1821434"/>
            <a:ext cx="2810255" cy="1080516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data_type is n for a number, s for a string and d for a date. A string stays a string: openpyxl never turns SEPT2 into a date.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975101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365760" y="3249421"/>
          <a:ext cx="8412477" cy="1097280"/>
        </p:xfrm>
        <a:graphic>
          <a:graphicData uri="http://schemas.openxmlformats.org/drawingml/2006/table">
            <a:tbl>
              <a:tblPr firstRow="0" bandRow="0"/>
              <a:tblGrid>
                <a:gridCol w="934719"/>
                <a:gridCol w="2700302"/>
                <a:gridCol w="1246293"/>
                <a:gridCol w="1454008"/>
                <a:gridCol w="2077155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Cell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data_type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Python type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A person would call it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A1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2035-04-05 13:34:02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CF1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datetime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B1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SEPT2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8E7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str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C1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73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int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number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visual note"/>
          <p:cNvSpPr txBox="1"/>
          <p:nvPr/>
        </p:nvSpPr>
        <p:spPr>
          <a:xfrm>
            <a:off x="365760" y="4438141"/>
            <a:ext cx="841248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1">
                <a:solidFill>
                  <a:srgbClr val="5B6773"/>
                </a:solidFill>
                <a:latin typeface="Calibri"/>
              </a:rPr>
              <a:t>SEPT2 stays text: only a spreadsheet application would turn it into a date</a:t>
            </a:r>
          </a:p>
        </p:txBody>
      </p:sp>
      <p:sp>
        <p:nvSpPr>
          <p:cNvPr id="11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Numbers, text and dates keep their own data types.</a:t>
            </a:r>
          </a:p>
        </p:txBody>
      </p:sp>
      <p:sp>
        <p:nvSpPr>
          <p:cNvPr id="13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16 / 51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Story: Excel turned gene names into dates, 2016</a:t>
            </a:r>
          </a:p>
        </p:txBody>
      </p:sp>
      <p:pic>
        <p:nvPicPr>
          <p:cNvPr id="4" name="photo ziemann" descr="Picture for the story: Excel turned gene names into dates, 20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813" y="868680"/>
            <a:ext cx="2649653" cy="2926080"/>
          </a:xfrm>
          <a:prstGeom prst="rect">
            <a:avLst/>
          </a:prstGeom>
        </p:spPr>
      </p:pic>
      <p:sp>
        <p:nvSpPr>
          <p:cNvPr id="5" name="credit"/>
          <p:cNvSpPr txBox="1"/>
          <p:nvPr/>
        </p:nvSpPr>
        <p:spPr>
          <a:xfrm>
            <a:off x="365760" y="3840480"/>
            <a:ext cx="26517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0">
                <a:solidFill>
                  <a:srgbClr val="5B6773"/>
                </a:solidFill>
                <a:latin typeface="Calibri"/>
              </a:rPr>
              <a:t>Panel b of Fig. 1: files with gene-name errors per year. Ziemann et al. 2016, CC BY 4.0, cropped.</a:t>
            </a:r>
          </a:p>
        </p:txBody>
      </p:sp>
      <p:sp>
        <p:nvSpPr>
          <p:cNvPr id="6" name="card"/>
          <p:cNvSpPr/>
          <p:nvPr/>
        </p:nvSpPr>
        <p:spPr>
          <a:xfrm>
            <a:off x="3200400" y="841248"/>
            <a:ext cx="557784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ho"/>
          <p:cNvSpPr txBox="1"/>
          <p:nvPr/>
        </p:nvSpPr>
        <p:spPr>
          <a:xfrm>
            <a:off x="3246120" y="841248"/>
            <a:ext cx="548640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WHO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Mark Ziemann, Yotam Eren and Assam El-Osta.</a:t>
            </a:r>
          </a:p>
        </p:txBody>
      </p:sp>
      <p:sp>
        <p:nvSpPr>
          <p:cNvPr id="8" name="card"/>
          <p:cNvSpPr/>
          <p:nvPr/>
        </p:nvSpPr>
        <p:spPr>
          <a:xfrm>
            <a:off x="3200400" y="1307592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at"/>
          <p:cNvSpPr txBox="1"/>
          <p:nvPr/>
        </p:nvSpPr>
        <p:spPr>
          <a:xfrm>
            <a:off x="3246120" y="1307592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WHAT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A screening of 35,175 Excel files from 18 journals for gene names that Excel had turned into dates.</a:t>
            </a:r>
          </a:p>
        </p:txBody>
      </p:sp>
      <p:sp>
        <p:nvSpPr>
          <p:cNvPr id="10" name="card"/>
          <p:cNvSpPr/>
          <p:nvPr/>
        </p:nvSpPr>
        <p:spPr>
          <a:xfrm>
            <a:off x="3200400" y="1929384"/>
            <a:ext cx="557784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hen"/>
          <p:cNvSpPr txBox="1"/>
          <p:nvPr/>
        </p:nvSpPr>
        <p:spPr>
          <a:xfrm>
            <a:off x="3246120" y="1929384"/>
            <a:ext cx="548640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WHEN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Published 23 August 2016, on files of 2005 to 2015.</a:t>
            </a:r>
          </a:p>
        </p:txBody>
      </p:sp>
      <p:sp>
        <p:nvSpPr>
          <p:cNvPr id="12" name="card"/>
          <p:cNvSpPr/>
          <p:nvPr/>
        </p:nvSpPr>
        <p:spPr>
          <a:xfrm>
            <a:off x="3200400" y="2395728"/>
            <a:ext cx="557784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here"/>
          <p:cNvSpPr txBox="1"/>
          <p:nvPr/>
        </p:nvSpPr>
        <p:spPr>
          <a:xfrm>
            <a:off x="3246120" y="2395728"/>
            <a:ext cx="548640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WHERE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Genome Biology.</a:t>
            </a:r>
          </a:p>
        </p:txBody>
      </p:sp>
      <p:sp>
        <p:nvSpPr>
          <p:cNvPr id="14" name="card"/>
          <p:cNvSpPr/>
          <p:nvPr/>
        </p:nvSpPr>
        <p:spPr>
          <a:xfrm>
            <a:off x="3200400" y="2862072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why"/>
          <p:cNvSpPr txBox="1"/>
          <p:nvPr/>
        </p:nvSpPr>
        <p:spPr>
          <a:xfrm>
            <a:off x="3246120" y="2862072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WHY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By default Excel turns SEPT2 and MARCH1 into the dates 2-Sep and 1-Mar; the problem was first described in 2004.</a:t>
            </a:r>
          </a:p>
        </p:txBody>
      </p:sp>
      <p:sp>
        <p:nvSpPr>
          <p:cNvPr id="16" name="card"/>
          <p:cNvSpPr/>
          <p:nvPr/>
        </p:nvSpPr>
        <p:spPr>
          <a:xfrm>
            <a:off x="3200400" y="3483863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ow"/>
          <p:cNvSpPr txBox="1"/>
          <p:nvPr/>
        </p:nvSpPr>
        <p:spPr>
          <a:xfrm>
            <a:off x="3246120" y="3483863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HOW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Errors in 987 files from 704 of 3,597 papers with gene lists: 19.6 percent. In openpyxl a string stays a string.</a:t>
            </a:r>
          </a:p>
        </p:txBody>
      </p:sp>
      <p:sp>
        <p:nvSpPr>
          <p:cNvPr id="18" name="read"/>
          <p:cNvSpPr txBox="1"/>
          <p:nvPr/>
        </p:nvSpPr>
        <p:spPr>
          <a:xfrm>
            <a:off x="3200400" y="4123943"/>
            <a:ext cx="557784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1" i="0">
                <a:solidFill>
                  <a:srgbClr val="B7791F"/>
                </a:solidFill>
                <a:latin typeface="Calibri"/>
              </a:rPr>
              <a:t>READ  </a:t>
            </a:r>
            <a:r>
              <a:rPr sz="1300" b="0" i="0">
                <a:solidFill>
                  <a:srgbClr val="0E7C86"/>
                </a:solidFill>
                <a:latin typeface="Calibri"/>
                <a:hlinkClick r:id="rId4"/>
              </a:rPr>
              <a:t>Gene name errors are widespread (Genome Biology)</a:t>
            </a:r>
          </a:p>
        </p:txBody>
      </p:sp>
      <p:sp>
        <p:nvSpPr>
          <p:cNvPr id="19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17 / 51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Looking at a cell changes the workbook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786384"/>
            <a:ext cx="3822191" cy="942848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openpyxl</a:t>
            </a:r>
          </a:p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Workbook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active</a:t>
            </a:r>
          </a:p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300" b="0" i="0">
                <a:solidFill>
                  <a:srgbClr val="9BE3A8"/>
                </a:solidFill>
                <a:latin typeface="Courier New"/>
              </a:rPr>
              <a:t>'A1'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9BE3A8"/>
                </a:solidFill>
                <a:latin typeface="Courier New"/>
              </a:rPr>
              <a:t>'tall'</a:t>
            </a:r>
          </a:p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max_row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dimensions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4169663" y="786384"/>
            <a:ext cx="4608576" cy="942848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A sheet with one value in A1 has one used row.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774952"/>
            <a:ext cx="3822191" cy="74142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cell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row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300" b="0" i="0">
                <a:solidFill>
                  <a:srgbClr val="7CC4FF"/>
                </a:solidFill>
                <a:latin typeface="Courier New"/>
              </a:rPr>
              <a:t>40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column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30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max_row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dimensions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3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3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300" b="0" i="0">
                <a:solidFill>
                  <a:srgbClr val="9BE3A8"/>
                </a:solidFill>
                <a:latin typeface="Courier New"/>
              </a:rPr>
              <a:t>'A40'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value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is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None</a:t>
            </a:r>
            <a:r>
              <a:rPr sz="13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4169663" y="1774952"/>
            <a:ext cx="4608576" cy="741426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Only looking at row 40 created the cell and raised max_row to 40. A loop up to max_row now reaches empty rows, which is how Project 9 can fail.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589530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45561"/>
            <a:ext cx="3364991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1">
                <a:solidFill>
                  <a:srgbClr val="5B6773"/>
                </a:solidFill>
                <a:latin typeface="Calibri"/>
              </a:rPr>
              <a:t>max_row of the sheet</a:t>
            </a:r>
          </a:p>
        </p:txBody>
      </p:sp>
      <p:graphicFrame>
        <p:nvGraphicFramePr>
          <p:cNvPr id="10" name="chart"/>
          <p:cNvGraphicFramePr>
            <a:graphicFrameLocks noGrp="1"/>
          </p:cNvGraphicFramePr>
          <p:nvPr/>
        </p:nvGraphicFramePr>
        <p:xfrm>
          <a:off x="365760" y="3046730"/>
          <a:ext cx="3533241" cy="156184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1" name="table"/>
          <p:cNvGraphicFramePr>
            <a:graphicFrameLocks noGrp="1"/>
          </p:cNvGraphicFramePr>
          <p:nvPr/>
        </p:nvGraphicFramePr>
        <p:xfrm>
          <a:off x="4319625" y="2955290"/>
          <a:ext cx="4458613" cy="932688"/>
        </p:xfrm>
        <a:graphic>
          <a:graphicData uri="http://schemas.openxmlformats.org/drawingml/2006/table">
            <a:tbl>
              <a:tblPr firstRow="0" bandRow="0"/>
              <a:tblGrid>
                <a:gridCol w="1910834"/>
                <a:gridCol w="254777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Moment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dimensions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F2933"/>
                          </a:solidFill>
                          <a:latin typeface="Calibri"/>
                        </a:rPr>
                        <a:t>before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A1:A1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F2933"/>
                          </a:solidFill>
                          <a:latin typeface="Calibri"/>
                        </a:rPr>
                        <a:t>after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A1:A40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12" name="visual note"/>
          <p:cNvSpPr txBox="1"/>
          <p:nvPr/>
        </p:nvSpPr>
        <p:spPr>
          <a:xfrm>
            <a:off x="4319625" y="4006850"/>
            <a:ext cx="4458614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1">
                <a:solidFill>
                  <a:srgbClr val="5B6773"/>
                </a:solidFill>
                <a:latin typeface="Calibri"/>
              </a:rPr>
              <a:t>A40 holds None, but the cell now exists</a:t>
            </a:r>
          </a:p>
        </p:txBody>
      </p:sp>
      <p:sp>
        <p:nvSpPr>
          <p:cNvPr id="13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Looking at a cell can create it.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18 / 51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Read-only mode: values row by row, with iter_rows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786384"/>
            <a:ext cx="5468112" cy="725932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io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openpyxl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Workbook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active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i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range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6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append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i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i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*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10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buf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io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BytesIO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;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parent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save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buf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815584" y="786384"/>
            <a:ext cx="2962656" cy="725932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A stand-in file with five rows and two columns.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558036"/>
            <a:ext cx="5468112" cy="873125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fast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load_workbook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buf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read_only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True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sheet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fast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active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type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sheet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__name__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sheet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max_row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rows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list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sheet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iter_rows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min_row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2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max_row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4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values_only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True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rows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815584" y="1558036"/>
            <a:ext cx="2962656" cy="873125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read_only=True reads a big file row by row without holding every cell in memory. iter_rows with values_only gives plain tuples of values.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504313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365760" y="2979801"/>
          <a:ext cx="4206239" cy="1097280"/>
        </p:xfrm>
        <a:graphic>
          <a:graphicData uri="http://schemas.openxmlformats.org/drawingml/2006/table">
            <a:tbl>
              <a:tblPr firstRow="0" bandRow="0"/>
              <a:tblGrid>
                <a:gridCol w="1869439"/>
                <a:gridCol w="1168400"/>
                <a:gridCol w="116840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row of the sheet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column A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column B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F2933"/>
                          </a:solidFill>
                          <a:latin typeface="Calibri"/>
                        </a:rPr>
                        <a:t>row 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20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F2933"/>
                          </a:solidFill>
                          <a:latin typeface="Calibri"/>
                        </a:rPr>
                        <a:t>row 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30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1F2933"/>
                          </a:solidFill>
                          <a:latin typeface="Calibri"/>
                        </a:rPr>
                        <a:t>row 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40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5760" y="2760345"/>
            <a:ext cx="42062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00" b="0" i="1">
                <a:solidFill>
                  <a:srgbClr val="5B6773"/>
                </a:solidFill>
                <a:latin typeface="Calibri"/>
              </a:rPr>
              <a:t>iter_rows(min_row=2, max_row=4, values_only=True) gave: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2624" y="2760345"/>
            <a:ext cx="3785615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00" b="0" i="1">
                <a:solidFill>
                  <a:srgbClr val="5B6773"/>
                </a:solidFill>
                <a:latin typeface="Calibri"/>
              </a:rPr>
              <a:t>memory on the real census file (research finding F8)</a:t>
            </a:r>
          </a:p>
        </p:txBody>
      </p:sp>
      <p:graphicFrame>
        <p:nvGraphicFramePr>
          <p:cNvPr id="12" name="chart"/>
          <p:cNvGraphicFramePr>
            <a:graphicFrameLocks noGrp="1"/>
          </p:cNvGraphicFramePr>
          <p:nvPr/>
        </p:nvGraphicFramePr>
        <p:xfrm>
          <a:off x="4992624" y="2961513"/>
          <a:ext cx="3785615" cy="1647063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Read-only mode saves memory.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19 / 51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Part 2: Two projects on real data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0">
                <a:solidFill>
                  <a:srgbClr val="5B6773"/>
                </a:solidFill>
                <a:latin typeface="Calibri"/>
              </a:rPr>
              <a:t>Read and tally a census sheet, then correct the prices of a produce sheet</a:t>
            </a:r>
          </a:p>
        </p:txBody>
      </p:sp>
      <p:sp>
        <p:nvSpPr>
          <p:cNvPr id="4" name="rule"/>
          <p:cNvSpPr/>
          <p:nvPr/>
        </p:nvSpPr>
        <p:spPr>
          <a:xfrm>
            <a:off x="457200" y="1216152"/>
            <a:ext cx="1097280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Project 9</a:t>
            </a:r>
          </a:p>
        </p:txBody>
      </p:sp>
      <p:sp>
        <p:nvSpPr>
          <p:cNvPr id="6" name="meaning"/>
          <p:cNvSpPr txBox="1"/>
          <p:nvPr/>
        </p:nvSpPr>
        <p:spPr>
          <a:xfrm>
            <a:off x="2606040" y="1417320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Tally tracts and population by county.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75688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setdefault</a:t>
            </a:r>
          </a:p>
        </p:txBody>
      </p:sp>
      <p:sp>
        <p:nvSpPr>
          <p:cNvPr id="8" name="meaning"/>
          <p:cNvSpPr txBox="1"/>
          <p:nvPr/>
        </p:nvSpPr>
        <p:spPr>
          <a:xfrm>
            <a:off x="2606040" y="2075688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Creates a missing key once, never twice.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34056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pformat</a:t>
            </a:r>
          </a:p>
        </p:txBody>
      </p:sp>
      <p:sp>
        <p:nvSpPr>
          <p:cNvPr id="10" name="meaning"/>
          <p:cNvSpPr txBox="1"/>
          <p:nvPr/>
        </p:nvSpPr>
        <p:spPr>
          <a:xfrm>
            <a:off x="2606040" y="2734056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Writes the result as Python 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92424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Project 10</a:t>
            </a:r>
          </a:p>
        </p:txBody>
      </p:sp>
      <p:sp>
        <p:nvSpPr>
          <p:cNvPr id="12" name="meaning"/>
          <p:cNvSpPr txBox="1"/>
          <p:nvPr/>
        </p:nvSpPr>
        <p:spPr>
          <a:xfrm>
            <a:off x="2606040" y="3392424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Corrects prices and keeps the formulas.</a:t>
            </a:r>
          </a:p>
        </p:txBody>
      </p:sp>
      <p:graphicFrame>
        <p:nvGraphicFramePr>
          <p:cNvPr id="13" name="table"/>
          <p:cNvGraphicFramePr>
            <a:graphicFrameLocks noGrp="1"/>
          </p:cNvGraphicFramePr>
          <p:nvPr/>
        </p:nvGraphicFramePr>
        <p:xfrm>
          <a:off x="5303520" y="1417320"/>
          <a:ext cx="3474719" cy="2194560"/>
        </p:xfrm>
        <a:graphic>
          <a:graphicData uri="http://schemas.openxmlformats.org/drawingml/2006/table">
            <a:tbl>
              <a:tblPr firstRow="0" bandRow="0"/>
              <a:tblGrid>
                <a:gridCol w="507543"/>
                <a:gridCol w="2967176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Slide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In this part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Everyday pictures: the two projects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Project 9: read the census sheet row by row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Project 9: tally tracts and population wi...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pprint.pformat: save the tally as a Pytho...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Project 10: correct prices in a sheet of 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20 / 51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Everyday pictures: the two projects</a:t>
            </a:r>
          </a:p>
        </p:txBody>
      </p:sp>
      <p:sp>
        <p:nvSpPr>
          <p:cNvPr id="4" name="card"/>
          <p:cNvSpPr/>
          <p:nvPr/>
        </p:nvSpPr>
        <p:spPr>
          <a:xfrm>
            <a:off x="365760" y="749808"/>
            <a:ext cx="8412480" cy="566928"/>
          </a:xfrm>
          <a:prstGeom prst="roundRect">
            <a:avLst>
              <a:gd name="adj" fmla="val 8000"/>
            </a:avLst>
          </a:prstGeom>
          <a:solidFill>
            <a:srgbClr val="F8E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nalogy"/>
          <p:cNvSpPr txBox="1"/>
          <p:nvPr/>
        </p:nvSpPr>
        <p:spPr>
          <a:xfrm>
            <a:off x="502920" y="758952"/>
            <a:ext cx="813816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400" b="1" i="0">
                <a:solidFill>
                  <a:srgbClr val="B7791F"/>
                </a:solidFill>
                <a:latin typeface="Calibri"/>
              </a:rPr>
              <a:t>ANALOGY 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A project is a recipe on a card: read the ingredients, follow the steps, write down the result.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760" y="1417320"/>
          <a:ext cx="8412480" cy="3108960"/>
        </p:xfrm>
        <a:graphic>
          <a:graphicData uri="http://schemas.openxmlformats.org/drawingml/2006/table">
            <a:tbl>
              <a:tblPr firstRow="0" bandRow="0"/>
              <a:tblGrid>
                <a:gridCol w="3566160"/>
                <a:gridCol w="4846320"/>
              </a:tblGrid>
              <a:tr h="3454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Chapter concept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Everyday picture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Project 9: Reading Data from a Spreadsheet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Counting the votes of every district from a pile of ballot slips.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census tract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One small neighbourhood, the unit the census counts.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setdefault()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 hotel clerk who gives you a key only if you have none yet, and never a second one.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pprint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 tidy printer that lays a long list out in readable lines.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pprint.pformat()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Typing the tidy list into a letter instead of onto the screen.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Project 10: Updating a Spreadsheet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Correcting the price tags in a shop, and leaving the old stock list untouched.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sys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The notice board at the door of the program: it shows what was typed to start it.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544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Practice Programs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Small recital pieces that follow the finger exercises.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21 / 51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Project 9: read the census sheet row by row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786384"/>
            <a:ext cx="5056631" cy="651891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openpyxl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sheet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Workbook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active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sheet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append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'CensusTract'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'State'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'County'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'POP2010'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404104" y="786384"/>
            <a:ext cx="3374136" cy="651891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A stand-in for censuspopdata.xlsx: a header row, then one row for each census tract.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483995"/>
            <a:ext cx="5056631" cy="756920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tracts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'02020000100'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'AK'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'Anchorage'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7CC4FF"/>
                </a:solidFill>
                <a:latin typeface="Courier New"/>
              </a:rPr>
              <a:t>4115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        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'02020000200'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'AK'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'Anchorage'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7CC4FF"/>
                </a:solidFill>
                <a:latin typeface="Courier New"/>
              </a:rPr>
              <a:t>3040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        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'01001020100'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'AL'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'Autauga'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7CC4FF"/>
                </a:solidFill>
                <a:latin typeface="Courier New"/>
              </a:rPr>
              <a:t>1912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]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tract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tracts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sheet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append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tract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404104" y="1483995"/>
            <a:ext cx="3374136" cy="756920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Three tracts in two states and two counties. The real file has 72,865 rows.</a:t>
            </a:r>
          </a:p>
        </p:txBody>
      </p:sp>
      <p:sp>
        <p:nvSpPr>
          <p:cNvPr id="8" name="code"/>
          <p:cNvSpPr/>
          <p:nvPr/>
        </p:nvSpPr>
        <p:spPr>
          <a:xfrm>
            <a:off x="365760" y="2286635"/>
            <a:ext cx="5056631" cy="651891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row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range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7CC4FF"/>
                </a:solidFill>
                <a:latin typeface="Courier New"/>
              </a:rPr>
              <a:t>2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sheet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max_row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+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row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sheet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c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+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str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row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value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c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'BCD'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9" name="explanation"/>
          <p:cNvSpPr txBox="1"/>
          <p:nvPr/>
        </p:nvSpPr>
        <p:spPr>
          <a:xfrm>
            <a:off x="5404104" y="2286635"/>
            <a:ext cx="3374136" cy="651891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Row 1 holds the headers, so the loop starts at row 2. Columns B, C and D hold the state, the county and the population.</a:t>
            </a:r>
          </a:p>
        </p:txBody>
      </p:sp>
      <p:sp>
        <p:nvSpPr>
          <p:cNvPr id="10" name="result label"/>
          <p:cNvSpPr txBox="1"/>
          <p:nvPr/>
        </p:nvSpPr>
        <p:spPr>
          <a:xfrm>
            <a:off x="365760" y="3011677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11" name="sheet grid"/>
          <p:cNvGraphicFramePr>
            <a:graphicFrameLocks noGrp="1"/>
          </p:cNvGraphicFramePr>
          <p:nvPr/>
        </p:nvGraphicFramePr>
        <p:xfrm>
          <a:off x="365760" y="3285997"/>
          <a:ext cx="5215735" cy="1234440"/>
        </p:xfrm>
        <a:graphic>
          <a:graphicData uri="http://schemas.openxmlformats.org/drawingml/2006/table">
            <a:tbl>
              <a:tblPr firstRow="0" bandRow="0"/>
              <a:tblGrid>
                <a:gridCol w="474157"/>
                <a:gridCol w="1612137"/>
                <a:gridCol w="1043147"/>
                <a:gridCol w="1043147"/>
                <a:gridCol w="1043147"/>
              </a:tblGrid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F29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CensusTract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County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POP2010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02020000100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AK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Anchorage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4115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02020000200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AK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Anchorage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3040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01001020100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AL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Autauga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1912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917996" y="3331717"/>
            <a:ext cx="2860243" cy="274320"/>
          </a:xfrm>
          <a:prstGeom prst="roundRect">
            <a:avLst>
              <a:gd name="adj" fmla="val 15000"/>
            </a:avLst>
          </a:prstGeom>
          <a:solidFill>
            <a:srgbClr val="ECE6D8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5B6773"/>
                </a:solidFill>
                <a:latin typeface="Courier New"/>
              </a:rPr>
              <a:t>row 1: the headers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17996" y="3697477"/>
            <a:ext cx="2860243" cy="274320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B, C, D: read by the loop</a:t>
            </a:r>
          </a:p>
        </p:txBody>
      </p:sp>
      <p:sp>
        <p:nvSpPr>
          <p:cNvPr id="14" name="visual note"/>
          <p:cNvSpPr txBox="1"/>
          <p:nvPr/>
        </p:nvSpPr>
        <p:spPr>
          <a:xfrm>
            <a:off x="5917996" y="4063237"/>
            <a:ext cx="2860243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1">
                <a:solidFill>
                  <a:srgbClr val="5B6773"/>
                </a:solidFill>
                <a:latin typeface="Calibri"/>
              </a:rPr>
              <a:t>the loop printed 3 rows, 2 to 4</a:t>
            </a:r>
          </a:p>
        </p:txBody>
      </p:sp>
      <p:sp>
        <p:nvSpPr>
          <p:cNvPr id="15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Row 1 is the header; the loop starts at row 2.</a:t>
            </a:r>
          </a:p>
        </p:txBody>
      </p:sp>
      <p:sp>
        <p:nvSpPr>
          <p:cNvPr id="17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22 / 51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900" b="1" i="0">
                <a:solidFill>
                  <a:srgbClr val="1F2933"/>
                </a:solidFill>
                <a:latin typeface="Calibri"/>
              </a:rPr>
              <a:t>Project 9: tally tracts and population with setdefault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786384"/>
            <a:ext cx="5323332" cy="651891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rows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'AK'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'Anchorage'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4115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'AK'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'Anchorage'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3040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      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'AL'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'Autauga'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1912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'AL'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'Autauga'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2170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]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670804" y="786384"/>
            <a:ext cx="3107435" cy="651891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The values the last loop read from the sheet, typed in so that this example stands alone.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483995"/>
            <a:ext cx="5323332" cy="651891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county_data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{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}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state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county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pop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rows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county_data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setdefault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state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{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}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670804" y="1483995"/>
            <a:ext cx="3107435" cy="651891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Start with an empty dictionary. setdefault creates the state's entry once and leaves an existing one alone.</a:t>
            </a:r>
          </a:p>
        </p:txBody>
      </p:sp>
      <p:sp>
        <p:nvSpPr>
          <p:cNvPr id="8" name="code"/>
          <p:cNvSpPr/>
          <p:nvPr/>
        </p:nvSpPr>
        <p:spPr>
          <a:xfrm>
            <a:off x="365760" y="2181606"/>
            <a:ext cx="5323332" cy="725932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county_data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state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setdefault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county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{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'tracts'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0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'pop'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0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}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county_data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state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county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'tracts'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+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1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county_data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state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county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'pop'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+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pop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county_data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9" name="explanation"/>
          <p:cNvSpPr txBox="1"/>
          <p:nvPr/>
        </p:nvSpPr>
        <p:spPr>
          <a:xfrm>
            <a:off x="5670804" y="2181606"/>
            <a:ext cx="3107435" cy="725932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The same for the county, then add one tract and its population to it.</a:t>
            </a:r>
          </a:p>
        </p:txBody>
      </p:sp>
      <p:sp>
        <p:nvSpPr>
          <p:cNvPr id="10" name="result label"/>
          <p:cNvSpPr txBox="1"/>
          <p:nvPr/>
        </p:nvSpPr>
        <p:spPr>
          <a:xfrm>
            <a:off x="365760" y="2980689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11" name="table"/>
          <p:cNvGraphicFramePr>
            <a:graphicFrameLocks noGrp="1"/>
          </p:cNvGraphicFramePr>
          <p:nvPr/>
        </p:nvGraphicFramePr>
        <p:xfrm>
          <a:off x="365760" y="3255009"/>
          <a:ext cx="4626861" cy="877824"/>
        </p:xfrm>
        <a:graphic>
          <a:graphicData uri="http://schemas.openxmlformats.org/drawingml/2006/table">
            <a:tbl>
              <a:tblPr firstRow="0" bandRow="0"/>
              <a:tblGrid>
                <a:gridCol w="753210"/>
                <a:gridCol w="1721623"/>
                <a:gridCol w="860811"/>
                <a:gridCol w="1291217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County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Tracts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Population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F2933"/>
                          </a:solidFill>
                          <a:latin typeface="Calibri"/>
                        </a:rPr>
                        <a:t>AK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Anchorage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7,155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F2933"/>
                          </a:solidFill>
                          <a:latin typeface="Calibri"/>
                        </a:rPr>
                        <a:t>AL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Autauga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4,082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13248" y="3236721"/>
            <a:ext cx="3364991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1">
                <a:solidFill>
                  <a:srgbClr val="5B6773"/>
                </a:solidFill>
                <a:latin typeface="Calibri"/>
              </a:rPr>
              <a:t>population by county</a:t>
            </a:r>
          </a:p>
        </p:txBody>
      </p:sp>
      <p:graphicFrame>
        <p:nvGraphicFramePr>
          <p:cNvPr id="13" name="chart"/>
          <p:cNvGraphicFramePr>
            <a:graphicFrameLocks noGrp="1"/>
          </p:cNvGraphicFramePr>
          <p:nvPr/>
        </p:nvGraphicFramePr>
        <p:xfrm>
          <a:off x="5413248" y="3437889"/>
          <a:ext cx="3364991" cy="1188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Count with a dictionary and setdefault.</a:t>
            </a:r>
          </a:p>
        </p:txBody>
      </p:sp>
      <p:sp>
        <p:nvSpPr>
          <p:cNvPr id="16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23 / 51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pprint.pformat: save the tally as a Python file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786384"/>
            <a:ext cx="5616701" cy="69951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0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5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pprint</a:t>
            </a:r>
          </a:p>
          <a:p>
            <a:pPr algn="l"/>
            <a:r>
              <a:rPr sz="10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county_data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{</a:t>
            </a:r>
            <a:r>
              <a:rPr sz="1050" b="0" i="0">
                <a:solidFill>
                  <a:srgbClr val="9BE3A8"/>
                </a:solidFill>
                <a:latin typeface="Courier New"/>
              </a:rPr>
              <a:t>'AK'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{</a:t>
            </a:r>
            <a:r>
              <a:rPr sz="1050" b="0" i="0">
                <a:solidFill>
                  <a:srgbClr val="9BE3A8"/>
                </a:solidFill>
                <a:latin typeface="Courier New"/>
              </a:rPr>
              <a:t>'Anchorage'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{</a:t>
            </a:r>
            <a:r>
              <a:rPr sz="1050" b="0" i="0">
                <a:solidFill>
                  <a:srgbClr val="9BE3A8"/>
                </a:solidFill>
                <a:latin typeface="Courier New"/>
              </a:rPr>
              <a:t>'tracts'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7CC4FF"/>
                </a:solidFill>
                <a:latin typeface="Courier New"/>
              </a:rPr>
              <a:t>2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9BE3A8"/>
                </a:solidFill>
                <a:latin typeface="Courier New"/>
              </a:rPr>
              <a:t>'pop'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7CC4FF"/>
                </a:solidFill>
                <a:latin typeface="Courier New"/>
              </a:rPr>
              <a:t>7155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}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}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,</a:t>
            </a:r>
          </a:p>
          <a:p>
            <a:pPr algn="l"/>
            <a:r>
              <a:rPr sz="10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              </a:t>
            </a:r>
            <a:r>
              <a:rPr sz="1050" b="0" i="0">
                <a:solidFill>
                  <a:srgbClr val="9BE3A8"/>
                </a:solidFill>
                <a:latin typeface="Courier New"/>
              </a:rPr>
              <a:t>'AL'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{</a:t>
            </a:r>
            <a:r>
              <a:rPr sz="1050" b="0" i="0">
                <a:solidFill>
                  <a:srgbClr val="9BE3A8"/>
                </a:solidFill>
                <a:latin typeface="Courier New"/>
              </a:rPr>
              <a:t>'Autauga'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{</a:t>
            </a:r>
            <a:r>
              <a:rPr sz="1050" b="0" i="0">
                <a:solidFill>
                  <a:srgbClr val="9BE3A8"/>
                </a:solidFill>
                <a:latin typeface="Courier New"/>
              </a:rPr>
              <a:t>'tracts'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7CC4FF"/>
                </a:solidFill>
                <a:latin typeface="Courier New"/>
              </a:rPr>
              <a:t>2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9BE3A8"/>
                </a:solidFill>
                <a:latin typeface="Courier New"/>
              </a:rPr>
              <a:t>'pop'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7CC4FF"/>
                </a:solidFill>
                <a:latin typeface="Courier New"/>
              </a:rPr>
              <a:t>4082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}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}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}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964174" y="786384"/>
            <a:ext cx="2814066" cy="699516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The result of the tally of Project 9, typed in so that this example stands alone.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531620"/>
            <a:ext cx="5616701" cy="108051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0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text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9BE3A8"/>
                </a:solidFill>
                <a:latin typeface="Courier New"/>
              </a:rPr>
              <a:t>'allData = '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+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pprint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pformat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county_data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0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5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text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0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ns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{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}</a:t>
            </a:r>
          </a:p>
          <a:p>
            <a:pPr algn="l"/>
            <a:r>
              <a:rPr sz="10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exec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text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ns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0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5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ns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50" b="0" i="0">
                <a:solidFill>
                  <a:srgbClr val="9BE3A8"/>
                </a:solidFill>
                <a:latin typeface="Courier New"/>
              </a:rPr>
              <a:t>'allData'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50" b="0" i="0">
                <a:solidFill>
                  <a:srgbClr val="9BE3A8"/>
                </a:solidFill>
                <a:latin typeface="Courier New"/>
              </a:rPr>
              <a:t>'AK'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50" b="0" i="0">
                <a:solidFill>
                  <a:srgbClr val="9BE3A8"/>
                </a:solidFill>
                <a:latin typeface="Courier New"/>
              </a:rPr>
              <a:t>'Anchorage'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50" b="0" i="0">
                <a:solidFill>
                  <a:srgbClr val="9BE3A8"/>
                </a:solidFill>
                <a:latin typeface="Courier New"/>
              </a:rPr>
              <a:t>'pop'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5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964174" y="1531620"/>
            <a:ext cx="2814066" cy="1080516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00" b="0" i="0">
                <a:solidFill>
                  <a:srgbClr val="1F2933"/>
                </a:solidFill>
                <a:latin typeface="Calibri"/>
              </a:rPr>
              <a:t>pformat turns the dictionary into text that is valid Python. The book writes it to census2010.py and imports it; here exec reads the text back.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685288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959608"/>
            <a:ext cx="1828799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county_data</a:t>
            </a:r>
          </a:p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(a dictionary)</a:t>
            </a:r>
          </a:p>
        </p:txBody>
      </p:sp>
      <p:cxnSp>
        <p:nvCxnSpPr>
          <p:cNvPr id="10" name="arrow"/>
          <p:cNvCxnSpPr/>
          <p:nvPr/>
        </p:nvCxnSpPr>
        <p:spPr>
          <a:xfrm>
            <a:off x="2212848" y="3224784"/>
            <a:ext cx="329184" cy="0"/>
          </a:xfrm>
          <a:prstGeom prst="line">
            <a:avLst/>
          </a:prstGeom>
          <a:ln w="1905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60320" y="2959608"/>
            <a:ext cx="1828799" cy="530352"/>
          </a:xfrm>
          <a:prstGeom prst="roundRect">
            <a:avLst>
              <a:gd name="adj" fmla="val 12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pprint.pformat</a:t>
            </a:r>
          </a:p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(text)</a:t>
            </a:r>
          </a:p>
        </p:txBody>
      </p:sp>
      <p:cxnSp>
        <p:nvCxnSpPr>
          <p:cNvPr id="12" name="arrow"/>
          <p:cNvCxnSpPr/>
          <p:nvPr/>
        </p:nvCxnSpPr>
        <p:spPr>
          <a:xfrm>
            <a:off x="4407407" y="3224784"/>
            <a:ext cx="329185" cy="0"/>
          </a:xfrm>
          <a:prstGeom prst="line">
            <a:avLst/>
          </a:prstGeom>
          <a:ln w="1905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754880" y="2959608"/>
            <a:ext cx="1828799" cy="530352"/>
          </a:xfrm>
          <a:prstGeom prst="roundRect">
            <a:avLst>
              <a:gd name="adj" fmla="val 12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'allData = ...'</a:t>
            </a:r>
          </a:p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(valid Python)</a:t>
            </a:r>
          </a:p>
        </p:txBody>
      </p:sp>
      <p:cxnSp>
        <p:nvCxnSpPr>
          <p:cNvPr id="14" name="arrow"/>
          <p:cNvCxnSpPr/>
          <p:nvPr/>
        </p:nvCxnSpPr>
        <p:spPr>
          <a:xfrm>
            <a:off x="6601968" y="3224784"/>
            <a:ext cx="329184" cy="0"/>
          </a:xfrm>
          <a:prstGeom prst="line">
            <a:avLst/>
          </a:prstGeom>
          <a:ln w="1905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949440" y="2959608"/>
            <a:ext cx="1828799" cy="530352"/>
          </a:xfrm>
          <a:prstGeom prst="roundRect">
            <a:avLst>
              <a:gd name="adj" fmla="val 12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exec(text)</a:t>
            </a:r>
          </a:p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allData is back</a:t>
            </a:r>
          </a:p>
        </p:txBody>
      </p:sp>
      <p:sp>
        <p:nvSpPr>
          <p:cNvPr id="16" name="printed text"/>
          <p:cNvSpPr txBox="1"/>
          <p:nvPr/>
        </p:nvSpPr>
        <p:spPr>
          <a:xfrm>
            <a:off x="365760" y="3645408"/>
            <a:ext cx="84124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0">
                <a:solidFill>
                  <a:srgbClr val="1F2933"/>
                </a:solidFill>
                <a:latin typeface="Courier New"/>
              </a:rPr>
              <a:t>allData = {'AK': {'Anchorage': {'pop': 7155, 'tracts': 2}},
 'AL': {'Autauga': {'pop': 4082, 'tracts': 2}}}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4148328"/>
            <a:ext cx="3474720" cy="274320"/>
          </a:xfrm>
          <a:prstGeom prst="roundRect">
            <a:avLst>
              <a:gd name="adj" fmla="val 15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allData['AK']['Anchorage']['pop'] = 7155</a:t>
            </a:r>
          </a:p>
        </p:txBody>
      </p:sp>
      <p:sp>
        <p:nvSpPr>
          <p:cNvPr id="18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pformat writes a dictionary as Python.</a:t>
            </a:r>
          </a:p>
        </p:txBody>
      </p:sp>
      <p:sp>
        <p:nvSpPr>
          <p:cNvPr id="20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24 / 51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Project 10: correct prices in a sheet of produce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786384"/>
            <a:ext cx="5178551" cy="873125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openpyxl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Workbook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active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append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'PRODUCE'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'COST PER POUND'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'POUNDS SOLD'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'TOTAL'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append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'Garlic'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1.19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10.0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'=ROUND(B2*C2,2)'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append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'Celery'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3.07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4.5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'=ROUND(B3*C3,2)'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526024" y="786384"/>
            <a:ext cx="3252216" cy="873125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A stand-in for produceSales3.xlsx. Garlic and celery carry wrong prices. The total of each row is a formula: text that starts with an equal sign.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705228"/>
            <a:ext cx="5178551" cy="651891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updates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{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'Garlic'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3.07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'Celery'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1.19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}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row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range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2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max_row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+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name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cell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row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row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column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value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526024" y="1705228"/>
            <a:ext cx="3252216" cy="651891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The correct prices are a dictionary. The loop reads the name in column A of every row below the header.</a:t>
            </a:r>
          </a:p>
        </p:txBody>
      </p:sp>
      <p:sp>
        <p:nvSpPr>
          <p:cNvPr id="8" name="code"/>
          <p:cNvSpPr/>
          <p:nvPr/>
        </p:nvSpPr>
        <p:spPr>
          <a:xfrm>
            <a:off x="365760" y="2402839"/>
            <a:ext cx="5178551" cy="651891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if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name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updates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      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cell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row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row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column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2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value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updates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name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]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cell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row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column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2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value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range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2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4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9" name="explanation"/>
          <p:cNvSpPr txBox="1"/>
          <p:nvPr/>
        </p:nvSpPr>
        <p:spPr>
          <a:xfrm>
            <a:off x="5526024" y="2402839"/>
            <a:ext cx="3252216" cy="651891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When the name is in the dictionary, replace the price in column B. The formulas in column D are not touched.</a:t>
            </a:r>
          </a:p>
        </p:txBody>
      </p:sp>
      <p:sp>
        <p:nvSpPr>
          <p:cNvPr id="10" name="result label"/>
          <p:cNvSpPr txBox="1"/>
          <p:nvPr/>
        </p:nvSpPr>
        <p:spPr>
          <a:xfrm>
            <a:off x="365760" y="3127883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11" name="table"/>
          <p:cNvGraphicFramePr>
            <a:graphicFrameLocks noGrp="1"/>
          </p:cNvGraphicFramePr>
          <p:nvPr/>
        </p:nvGraphicFramePr>
        <p:xfrm>
          <a:off x="365760" y="3402203"/>
          <a:ext cx="8412477" cy="822960"/>
        </p:xfrm>
        <a:graphic>
          <a:graphicData uri="http://schemas.openxmlformats.org/drawingml/2006/table">
            <a:tbl>
              <a:tblPr firstRow="0" bandRow="0"/>
              <a:tblGrid>
                <a:gridCol w="1520327"/>
                <a:gridCol w="1621682"/>
                <a:gridCol w="1418972"/>
                <a:gridCol w="2635234"/>
                <a:gridCol w="1216262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PRODUCE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COST PER POUND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POUNDS SOLD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TOTAL (a formula, still text)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F2933"/>
                          </a:solidFill>
                          <a:latin typeface="Calibri"/>
                        </a:rPr>
                        <a:t>Garlic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3.07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8E7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10.0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=ROUND(B2*C2,2)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8E7C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F2933"/>
                          </a:solidFill>
                          <a:latin typeface="Calibri"/>
                        </a:rPr>
                        <a:t>Celery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1.19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8E7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4.5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=ROUND(B3*C3,2)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8E7C6"/>
                    </a:solidFill>
                  </a:tcPr>
                </a:tc>
              </a:tr>
            </a:tbl>
          </a:graphicData>
        </a:graphic>
      </p:graphicFrame>
      <p:sp>
        <p:nvSpPr>
          <p:cNvPr id="12" name="visual note"/>
          <p:cNvSpPr txBox="1"/>
          <p:nvPr/>
        </p:nvSpPr>
        <p:spPr>
          <a:xfrm>
            <a:off x="365760" y="4243450"/>
            <a:ext cx="841248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1">
                <a:solidFill>
                  <a:srgbClr val="5B6773"/>
                </a:solidFill>
                <a:latin typeface="Calibri"/>
              </a:rPr>
              <a:t>the amber cells were replaced; the total formulas were not touched, and they hold no result</a:t>
            </a:r>
          </a:p>
        </p:txBody>
      </p:sp>
      <p:sp>
        <p:nvSpPr>
          <p:cNvPr id="13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Change the cell, keep the formula.</a:t>
            </a:r>
          </a:p>
        </p:txBody>
      </p:sp>
      <p:sp>
        <p:nvSpPr>
          <p:cNvPr id="15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25 / 51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Part 3: Writing and formulas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0">
                <a:solidFill>
                  <a:srgbClr val="5B6773"/>
                </a:solidFill>
                <a:latin typeface="Calibri"/>
              </a:rPr>
              <a:t>A formula is only text; an application calculates it and caches the result</a:t>
            </a:r>
          </a:p>
        </p:txBody>
      </p:sp>
      <p:sp>
        <p:nvSpPr>
          <p:cNvPr id="4" name="rule"/>
          <p:cNvSpPr/>
          <p:nvPr/>
        </p:nvSpPr>
        <p:spPr>
          <a:xfrm>
            <a:off x="457200" y="1216152"/>
            <a:ext cx="1097280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save()</a:t>
            </a:r>
          </a:p>
        </p:txBody>
      </p:sp>
      <p:sp>
        <p:nvSpPr>
          <p:cNvPr id="6" name="meaning"/>
          <p:cNvSpPr txBox="1"/>
          <p:nvPr/>
        </p:nvSpPr>
        <p:spPr>
          <a:xfrm>
            <a:off x="2606040" y="1417320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Writes the whole workbook and replaces the old file.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75688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Formula</a:t>
            </a:r>
          </a:p>
        </p:txBody>
      </p:sp>
      <p:sp>
        <p:nvSpPr>
          <p:cNvPr id="8" name="meaning"/>
          <p:cNvSpPr txBox="1"/>
          <p:nvPr/>
        </p:nvSpPr>
        <p:spPr>
          <a:xfrm>
            <a:off x="2606040" y="2075688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Text that starts with an equal sign.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34056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data_only</a:t>
            </a:r>
          </a:p>
        </p:txBody>
      </p:sp>
      <p:sp>
        <p:nvSpPr>
          <p:cNvPr id="10" name="meaning"/>
          <p:cNvSpPr txBox="1"/>
          <p:nvPr/>
        </p:nvSpPr>
        <p:spPr>
          <a:xfrm>
            <a:off x="2606040" y="2734056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Reads the result an application stored.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92424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insert_rows</a:t>
            </a:r>
          </a:p>
        </p:txBody>
      </p:sp>
      <p:sp>
        <p:nvSpPr>
          <p:cNvPr id="12" name="meaning"/>
          <p:cNvSpPr txBox="1"/>
          <p:nvPr/>
        </p:nvSpPr>
        <p:spPr>
          <a:xfrm>
            <a:off x="2606040" y="3392424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Moves values but not the references.</a:t>
            </a:r>
          </a:p>
        </p:txBody>
      </p:sp>
      <p:graphicFrame>
        <p:nvGraphicFramePr>
          <p:cNvPr id="13" name="table"/>
          <p:cNvGraphicFramePr>
            <a:graphicFrameLocks noGrp="1"/>
          </p:cNvGraphicFramePr>
          <p:nvPr/>
        </p:nvGraphicFramePr>
        <p:xfrm>
          <a:off x="5303520" y="1417320"/>
          <a:ext cx="3474719" cy="2926080"/>
        </p:xfrm>
        <a:graphic>
          <a:graphicData uri="http://schemas.openxmlformats.org/drawingml/2006/table">
            <a:tbl>
              <a:tblPr firstRow="0" bandRow="0"/>
              <a:tblGrid>
                <a:gridCol w="507543"/>
                <a:gridCol w="2967176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Slide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In this part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Everyday pictures: formulas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Writing a workbook: title, new sheets, re...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A formula is text, and openpyxl never cal...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Story: Excel came to the Macintosh on 2 M...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Exact halves: a spreadsheet's ROUND and P...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Story: a spreadsheet error left five coun...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insert_rows moves values but not references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26 / 51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Everyday pictures: formulas</a:t>
            </a:r>
          </a:p>
        </p:txBody>
      </p:sp>
      <p:sp>
        <p:nvSpPr>
          <p:cNvPr id="4" name="card"/>
          <p:cNvSpPr/>
          <p:nvPr/>
        </p:nvSpPr>
        <p:spPr>
          <a:xfrm>
            <a:off x="365760" y="749808"/>
            <a:ext cx="8412480" cy="566928"/>
          </a:xfrm>
          <a:prstGeom prst="roundRect">
            <a:avLst>
              <a:gd name="adj" fmla="val 8000"/>
            </a:avLst>
          </a:prstGeom>
          <a:solidFill>
            <a:srgbClr val="F8E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nalogy"/>
          <p:cNvSpPr txBox="1"/>
          <p:nvPr/>
        </p:nvSpPr>
        <p:spPr>
          <a:xfrm>
            <a:off x="502920" y="758952"/>
            <a:ext cx="813816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400" b="1" i="0">
                <a:solidFill>
                  <a:srgbClr val="B7791F"/>
                </a:solidFill>
                <a:latin typeface="Calibri"/>
              </a:rPr>
              <a:t>ANALOGY 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A formula in a file is a recipe written on a card; the cooked dish is only there if somebody cooked it.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760" y="1417320"/>
          <a:ext cx="8412480" cy="2286000"/>
        </p:xfrm>
        <a:graphic>
          <a:graphicData uri="http://schemas.openxmlformats.org/drawingml/2006/table">
            <a:tbl>
              <a:tblPr firstRow="0" bandRow="0"/>
              <a:tblGrid>
                <a:gridCol w="3566160"/>
                <a:gridCol w="48463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Chapter concept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Everyday picture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Formulas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Cooking instructions written beside the ingredients.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formula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One recipe card: it says what to do and cooks nothing.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cached result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The photograph of the finished dish that the last cook left in the folder.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data_only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Asking for the photograph and not for the recipe; no cook means no photograph.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27 / 51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Writing a workbook: title, new sheets, remove, save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786384"/>
            <a:ext cx="5250942" cy="725932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io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openpyxl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wb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Workbook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wb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active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title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'Spam Bacon Eggs Sheet'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wb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'Spam Bacon Eggs Sheet'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'A1'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'Hello, world!'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598414" y="786384"/>
            <a:ext cx="3179825" cy="725932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A new workbook, its sheet renamed, and A1 filled. Nothing is on disk yet.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558036"/>
            <a:ext cx="5250942" cy="725932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wb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create_sheet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index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0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title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'First Sheet'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wb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create_sheet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index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2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title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'Middle Sheet'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wb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remove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wb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'Middle Sheet'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wb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sheetnames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598414" y="1558036"/>
            <a:ext cx="3179825" cy="725932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create_sheet puts a sheet at a position; remove takes one away.</a:t>
            </a:r>
          </a:p>
        </p:txBody>
      </p:sp>
      <p:sp>
        <p:nvSpPr>
          <p:cNvPr id="8" name="code"/>
          <p:cNvSpPr/>
          <p:nvPr/>
        </p:nvSpPr>
        <p:spPr>
          <a:xfrm>
            <a:off x="365760" y="2329688"/>
            <a:ext cx="5250942" cy="651891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buf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io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BytesIO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;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wb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save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buf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copy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load_workbook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buf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copy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sheetnames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copy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'Spam Bacon Eggs Sheet'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'A1'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value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9" name="explanation"/>
          <p:cNvSpPr txBox="1"/>
          <p:nvPr/>
        </p:nvSpPr>
        <p:spPr>
          <a:xfrm>
            <a:off x="5598414" y="2329688"/>
            <a:ext cx="3179825" cy="651891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save writes the whole workbook, and replaces an old file without asking. Loading it again proves what was written.</a:t>
            </a:r>
          </a:p>
        </p:txBody>
      </p:sp>
      <p:sp>
        <p:nvSpPr>
          <p:cNvPr id="10" name="result label"/>
          <p:cNvSpPr txBox="1"/>
          <p:nvPr/>
        </p:nvSpPr>
        <p:spPr>
          <a:xfrm>
            <a:off x="365760" y="3054731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329051"/>
            <a:ext cx="1463039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 i="0">
                <a:solidFill>
                  <a:srgbClr val="1F2933"/>
                </a:solidFill>
                <a:latin typeface="Calibri"/>
              </a:rPr>
              <a:t>Workbook()</a:t>
            </a:r>
          </a:p>
          <a:p>
            <a:pPr algn="ctr"/>
            <a:r>
              <a:rPr sz="900" b="0" i="0">
                <a:solidFill>
                  <a:srgbClr val="1F2933"/>
                </a:solidFill>
                <a:latin typeface="Calibri"/>
              </a:rPr>
              <a:t>1 sheet</a:t>
            </a:r>
          </a:p>
        </p:txBody>
      </p:sp>
      <p:cxnSp>
        <p:nvCxnSpPr>
          <p:cNvPr id="12" name="arrow"/>
          <p:cNvCxnSpPr/>
          <p:nvPr/>
        </p:nvCxnSpPr>
        <p:spPr>
          <a:xfrm>
            <a:off x="1847088" y="3603370"/>
            <a:ext cx="237743" cy="0"/>
          </a:xfrm>
          <a:prstGeom prst="line">
            <a:avLst/>
          </a:prstGeom>
          <a:ln w="1905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103120" y="3329051"/>
            <a:ext cx="1463039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 i="0">
                <a:solidFill>
                  <a:srgbClr val="1F2933"/>
                </a:solidFill>
                <a:latin typeface="Calibri"/>
              </a:rPr>
              <a:t>title and A1</a:t>
            </a:r>
          </a:p>
          <a:p>
            <a:pPr algn="ctr"/>
            <a:r>
              <a:rPr sz="900" b="0" i="0">
                <a:solidFill>
                  <a:srgbClr val="1F2933"/>
                </a:solidFill>
                <a:latin typeface="Calibri"/>
              </a:rPr>
              <a:t>Spam Bacon Eggs Sheet</a:t>
            </a:r>
          </a:p>
        </p:txBody>
      </p:sp>
      <p:cxnSp>
        <p:nvCxnSpPr>
          <p:cNvPr id="14" name="arrow"/>
          <p:cNvCxnSpPr/>
          <p:nvPr/>
        </p:nvCxnSpPr>
        <p:spPr>
          <a:xfrm>
            <a:off x="3584447" y="3603370"/>
            <a:ext cx="237744" cy="0"/>
          </a:xfrm>
          <a:prstGeom prst="line">
            <a:avLst/>
          </a:prstGeom>
          <a:ln w="1905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40480" y="3329051"/>
            <a:ext cx="1463039" cy="548640"/>
          </a:xfrm>
          <a:prstGeom prst="roundRect">
            <a:avLst>
              <a:gd name="adj" fmla="val 12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 i="0">
                <a:solidFill>
                  <a:srgbClr val="1F2933"/>
                </a:solidFill>
                <a:latin typeface="Calibri"/>
              </a:rPr>
              <a:t>create_sheet x2</a:t>
            </a:r>
          </a:p>
          <a:p>
            <a:pPr algn="ctr"/>
            <a:r>
              <a:rPr sz="900" b="0" i="0">
                <a:solidFill>
                  <a:srgbClr val="1F2933"/>
                </a:solidFill>
                <a:latin typeface="Calibri"/>
              </a:rPr>
              <a:t>3 sheets</a:t>
            </a:r>
          </a:p>
        </p:txBody>
      </p:sp>
      <p:cxnSp>
        <p:nvCxnSpPr>
          <p:cNvPr id="16" name="arrow"/>
          <p:cNvCxnSpPr/>
          <p:nvPr/>
        </p:nvCxnSpPr>
        <p:spPr>
          <a:xfrm>
            <a:off x="5321807" y="3603370"/>
            <a:ext cx="237745" cy="0"/>
          </a:xfrm>
          <a:prstGeom prst="line">
            <a:avLst/>
          </a:prstGeom>
          <a:ln w="1905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577840" y="3329051"/>
            <a:ext cx="1463039" cy="548640"/>
          </a:xfrm>
          <a:prstGeom prst="roundRect">
            <a:avLst>
              <a:gd name="adj" fmla="val 12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 i="0">
                <a:solidFill>
                  <a:srgbClr val="1F2933"/>
                </a:solidFill>
                <a:latin typeface="Calibri"/>
              </a:rPr>
              <a:t>remove</a:t>
            </a:r>
          </a:p>
          <a:p>
            <a:pPr algn="ctr"/>
            <a:r>
              <a:rPr sz="900" b="0" i="0">
                <a:solidFill>
                  <a:srgbClr val="1F2933"/>
                </a:solidFill>
                <a:latin typeface="Calibri"/>
              </a:rPr>
              <a:t>2 sheets</a:t>
            </a:r>
          </a:p>
        </p:txBody>
      </p:sp>
      <p:cxnSp>
        <p:nvCxnSpPr>
          <p:cNvPr id="18" name="arrow"/>
          <p:cNvCxnSpPr/>
          <p:nvPr/>
        </p:nvCxnSpPr>
        <p:spPr>
          <a:xfrm>
            <a:off x="7059167" y="3603370"/>
            <a:ext cx="237745" cy="0"/>
          </a:xfrm>
          <a:prstGeom prst="line">
            <a:avLst/>
          </a:prstGeom>
          <a:ln w="1905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15200" y="3329051"/>
            <a:ext cx="1463039" cy="548640"/>
          </a:xfrm>
          <a:prstGeom prst="roundRect">
            <a:avLst>
              <a:gd name="adj" fmla="val 12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 i="0">
                <a:solidFill>
                  <a:srgbClr val="1F2933"/>
                </a:solidFill>
                <a:latin typeface="Calibri"/>
              </a:rPr>
              <a:t>save and load</a:t>
            </a:r>
          </a:p>
          <a:p>
            <a:pPr algn="ctr"/>
            <a:r>
              <a:rPr sz="900" b="0" i="0">
                <a:solidFill>
                  <a:srgbClr val="1F2933"/>
                </a:solidFill>
                <a:latin typeface="Calibri"/>
              </a:rPr>
              <a:t>2 sheets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4106291"/>
            <a:ext cx="1737360" cy="384048"/>
          </a:xfrm>
          <a:prstGeom prst="roundRect">
            <a:avLst>
              <a:gd name="adj" fmla="val 20000"/>
            </a:avLst>
          </a:prstGeom>
          <a:solidFill>
            <a:srgbClr val="F8E7C6"/>
          </a:solidFill>
          <a:ln w="9525">
            <a:solidFill>
              <a:srgbClr val="B779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 i="0">
                <a:solidFill>
                  <a:srgbClr val="1F2933"/>
                </a:solidFill>
                <a:latin typeface="Calibri"/>
              </a:rPr>
              <a:t>0</a:t>
            </a:r>
          </a:p>
          <a:p>
            <a:pPr algn="ctr"/>
            <a:r>
              <a:rPr sz="1000" b="1" i="0">
                <a:solidFill>
                  <a:srgbClr val="1F2933"/>
                </a:solidFill>
                <a:latin typeface="Calibri"/>
              </a:rPr>
              <a:t>First Sheet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4560" y="4106291"/>
            <a:ext cx="1737360" cy="38404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1</a:t>
            </a:r>
          </a:p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Spam Bacon Eggs Sheet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90995" y="4152010"/>
            <a:ext cx="2187244" cy="310896"/>
          </a:xfrm>
          <a:prstGeom prst="roundRect">
            <a:avLst>
              <a:gd name="adj" fmla="val 15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 i="0">
                <a:solidFill>
                  <a:srgbClr val="1F2933"/>
                </a:solidFill>
                <a:latin typeface="Courier New"/>
              </a:rPr>
              <a:t>A1 = 'Hello, world!'</a:t>
            </a:r>
          </a:p>
        </p:txBody>
      </p:sp>
      <p:sp>
        <p:nvSpPr>
          <p:cNvPr id="23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Save writes the whole workbook.</a:t>
            </a:r>
          </a:p>
        </p:txBody>
      </p:sp>
      <p:sp>
        <p:nvSpPr>
          <p:cNvPr id="25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28 / 51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A formula is text, and openpyxl never calculates it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786384"/>
            <a:ext cx="5209032" cy="911859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io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openpyxl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Workbook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active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'A1'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'A2'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7CC4FF"/>
                </a:solidFill>
                <a:latin typeface="Courier New"/>
              </a:rPr>
              <a:t>200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7CC4FF"/>
                </a:solidFill>
                <a:latin typeface="Courier New"/>
              </a:rPr>
              <a:t>300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'A3'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'=SUM(A1:A2)'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'A3'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value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'A3'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data_type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556504" y="786384"/>
            <a:ext cx="3221735" cy="911859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A formula is a string that starts with an equal sign. Its data type is f. Python only stores the text.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743963"/>
            <a:ext cx="5209032" cy="82651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buf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io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BytesIO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;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parent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save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buf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kept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load_workbook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buf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'Sheet'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]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cached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load_workbook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buf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data_only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True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'Sheet'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]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kept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'A3'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value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'|'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cached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'A3'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value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556504" y="1743963"/>
            <a:ext cx="3221735" cy="826516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data_only=True asks for the result that a spreadsheet program stored. This file was never opened in one, so there is no result: None.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643632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9" name="table"/>
          <p:cNvGraphicFramePr>
            <a:graphicFrameLocks noGrp="1"/>
          </p:cNvGraphicFramePr>
          <p:nvPr/>
        </p:nvGraphicFramePr>
        <p:xfrm>
          <a:off x="365760" y="2917951"/>
          <a:ext cx="4374488" cy="1243584"/>
        </p:xfrm>
        <a:graphic>
          <a:graphicData uri="http://schemas.openxmlformats.org/drawingml/2006/table">
            <a:tbl>
              <a:tblPr firstRow="0" bandRow="0"/>
              <a:tblGrid>
                <a:gridCol w="695941"/>
                <a:gridCol w="1690143"/>
                <a:gridCol w="1988404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Cell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what Python stored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what data_only=True reads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A1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200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200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A2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300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300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A3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=SUM(A1:A2)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8E7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None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7DAD2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76748" y="2917951"/>
            <a:ext cx="1111910" cy="566928"/>
          </a:xfrm>
          <a:prstGeom prst="roundRect">
            <a:avLst>
              <a:gd name="adj" fmla="val 12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0" i="0">
                <a:solidFill>
                  <a:srgbClr val="1F2933"/>
                </a:solidFill>
                <a:latin typeface="Calibri"/>
              </a:rPr>
              <a:t>openpyxl writes</a:t>
            </a:r>
          </a:p>
          <a:p>
            <a:pPr algn="ctr"/>
            <a:r>
              <a:rPr sz="850" b="0" i="0">
                <a:solidFill>
                  <a:srgbClr val="1F2933"/>
                </a:solidFill>
                <a:latin typeface="Calibri"/>
              </a:rPr>
              <a:t>=SUM(A1:A2)</a:t>
            </a:r>
          </a:p>
        </p:txBody>
      </p:sp>
      <p:cxnSp>
        <p:nvCxnSpPr>
          <p:cNvPr id="11" name="arrow"/>
          <p:cNvCxnSpPr/>
          <p:nvPr/>
        </p:nvCxnSpPr>
        <p:spPr>
          <a:xfrm>
            <a:off x="6206947" y="3201415"/>
            <a:ext cx="146304" cy="0"/>
          </a:xfrm>
          <a:prstGeom prst="line">
            <a:avLst/>
          </a:prstGeom>
          <a:ln w="1905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71539" y="2917951"/>
            <a:ext cx="1111910" cy="566928"/>
          </a:xfrm>
          <a:prstGeom prst="roundRect">
            <a:avLst>
              <a:gd name="adj" fmla="val 12000"/>
            </a:avLst>
          </a:prstGeom>
          <a:solidFill>
            <a:srgbClr val="ECE6D8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0" i="0">
                <a:solidFill>
                  <a:srgbClr val="1F2933"/>
                </a:solidFill>
                <a:latin typeface="Calibri"/>
              </a:rPr>
              <a:t>no program opened</a:t>
            </a:r>
          </a:p>
          <a:p>
            <a:pPr algn="ctr"/>
            <a:r>
              <a:rPr sz="850" b="0" i="0">
                <a:solidFill>
                  <a:srgbClr val="1F2933"/>
                </a:solidFill>
                <a:latin typeface="Calibri"/>
              </a:rPr>
              <a:t>the file</a:t>
            </a:r>
          </a:p>
        </p:txBody>
      </p:sp>
      <p:cxnSp>
        <p:nvCxnSpPr>
          <p:cNvPr id="13" name="arrow"/>
          <p:cNvCxnSpPr/>
          <p:nvPr/>
        </p:nvCxnSpPr>
        <p:spPr>
          <a:xfrm>
            <a:off x="7501737" y="3201415"/>
            <a:ext cx="146304" cy="0"/>
          </a:xfrm>
          <a:prstGeom prst="line">
            <a:avLst/>
          </a:prstGeom>
          <a:ln w="1905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666329" y="2917951"/>
            <a:ext cx="1111910" cy="566928"/>
          </a:xfrm>
          <a:prstGeom prst="roundRect">
            <a:avLst>
              <a:gd name="adj" fmla="val 12000"/>
            </a:avLst>
          </a:prstGeom>
          <a:solidFill>
            <a:srgbClr val="F7DAD2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850" b="0" i="0">
                <a:solidFill>
                  <a:srgbClr val="1F2933"/>
                </a:solidFill>
                <a:latin typeface="Calibri"/>
              </a:rPr>
              <a:t>the cached result</a:t>
            </a:r>
          </a:p>
          <a:p>
            <a:pPr algn="ctr"/>
            <a:r>
              <a:rPr sz="850" b="0" i="0">
                <a:solidFill>
                  <a:srgbClr val="1F2933"/>
                </a:solidFill>
                <a:latin typeface="Calibri"/>
              </a:rPr>
              <a:t>is None</a:t>
            </a:r>
          </a:p>
        </p:txBody>
      </p:sp>
      <p:sp>
        <p:nvSpPr>
          <p:cNvPr id="15" name="visual note"/>
          <p:cNvSpPr txBox="1"/>
          <p:nvPr/>
        </p:nvSpPr>
        <p:spPr>
          <a:xfrm>
            <a:off x="365760" y="4243832"/>
            <a:ext cx="841248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1">
                <a:solidFill>
                  <a:srgbClr val="5B6773"/>
                </a:solidFill>
                <a:latin typeface="Calibri"/>
              </a:rPr>
              <a:t>a spreadsheet program calculates the formula and stores its result when it saves the file</a:t>
            </a:r>
          </a:p>
        </p:txBody>
      </p:sp>
      <p:sp>
        <p:nvSpPr>
          <p:cNvPr id="16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openpyxl stores a formula; it never calculates it.</a:t>
            </a:r>
          </a:p>
        </p:txBody>
      </p:sp>
      <p:sp>
        <p:nvSpPr>
          <p:cNvPr id="18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29 / 51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Story: Excel came to the Macintosh on 2 May 1985</a:t>
            </a:r>
          </a:p>
        </p:txBody>
      </p:sp>
      <p:pic>
        <p:nvPicPr>
          <p:cNvPr id="4" name="photo excel" descr="Picture for the story: Excel came to the Macintosh on 2 May 198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672" y="868680"/>
            <a:ext cx="2649934" cy="2926080"/>
          </a:xfrm>
          <a:prstGeom prst="rect">
            <a:avLst/>
          </a:prstGeom>
        </p:spPr>
      </p:pic>
      <p:sp>
        <p:nvSpPr>
          <p:cNvPr id="5" name="credit"/>
          <p:cNvSpPr txBox="1"/>
          <p:nvPr/>
        </p:nvSpPr>
        <p:spPr>
          <a:xfrm>
            <a:off x="365760" y="3840480"/>
            <a:ext cx="26517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0">
                <a:solidFill>
                  <a:srgbClr val="5B6773"/>
                </a:solidFill>
                <a:latin typeface="Calibri"/>
              </a:rPr>
              <a:t>A Macintosh showing Excel 1.0, 1985. Photo: Microsoft Sweden, CC BY 2.0, Flickr.</a:t>
            </a:r>
          </a:p>
        </p:txBody>
      </p:sp>
      <p:sp>
        <p:nvSpPr>
          <p:cNvPr id="6" name="card"/>
          <p:cNvSpPr/>
          <p:nvPr/>
        </p:nvSpPr>
        <p:spPr>
          <a:xfrm>
            <a:off x="3200400" y="841248"/>
            <a:ext cx="557784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ho"/>
          <p:cNvSpPr txBox="1"/>
          <p:nvPr/>
        </p:nvSpPr>
        <p:spPr>
          <a:xfrm>
            <a:off x="3246120" y="841248"/>
            <a:ext cx="548640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WHO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Steve Jobs of Apple and Bill Gates of Microsoft.</a:t>
            </a:r>
          </a:p>
        </p:txBody>
      </p:sp>
      <p:sp>
        <p:nvSpPr>
          <p:cNvPr id="8" name="card"/>
          <p:cNvSpPr/>
          <p:nvPr/>
        </p:nvSpPr>
        <p:spPr>
          <a:xfrm>
            <a:off x="3200400" y="1307592"/>
            <a:ext cx="557784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at"/>
          <p:cNvSpPr txBox="1"/>
          <p:nvPr/>
        </p:nvSpPr>
        <p:spPr>
          <a:xfrm>
            <a:off x="3246120" y="1307592"/>
            <a:ext cx="548640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WHAT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Excel for the Macintosh, after Multiplan of 1982.</a:t>
            </a:r>
          </a:p>
        </p:txBody>
      </p:sp>
      <p:sp>
        <p:nvSpPr>
          <p:cNvPr id="10" name="card"/>
          <p:cNvSpPr/>
          <p:nvPr/>
        </p:nvSpPr>
        <p:spPr>
          <a:xfrm>
            <a:off x="3200400" y="1773936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hen"/>
          <p:cNvSpPr txBox="1"/>
          <p:nvPr/>
        </p:nvSpPr>
        <p:spPr>
          <a:xfrm>
            <a:off x="3246120" y="1773936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WHEN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Announced 2 May 1985, on sale 30 September 1985; Excel 2.05, the first for Windows, on 19 November 1987.</a:t>
            </a:r>
          </a:p>
        </p:txBody>
      </p:sp>
      <p:sp>
        <p:nvSpPr>
          <p:cNvPr id="12" name="card"/>
          <p:cNvSpPr/>
          <p:nvPr/>
        </p:nvSpPr>
        <p:spPr>
          <a:xfrm>
            <a:off x="3200400" y="2395728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here"/>
          <p:cNvSpPr txBox="1"/>
          <p:nvPr/>
        </p:nvSpPr>
        <p:spPr>
          <a:xfrm>
            <a:off x="3246120" y="2395728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WHERE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Tavern on the Green, New York City, at a press conference.</a:t>
            </a:r>
          </a:p>
        </p:txBody>
      </p:sp>
      <p:sp>
        <p:nvSpPr>
          <p:cNvPr id="14" name="card"/>
          <p:cNvSpPr/>
          <p:nvPr/>
        </p:nvSpPr>
        <p:spPr>
          <a:xfrm>
            <a:off x="3200400" y="3017520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why"/>
          <p:cNvSpPr txBox="1"/>
          <p:nvPr/>
        </p:nvSpPr>
        <p:spPr>
          <a:xfrm>
            <a:off x="3246120" y="3017520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WHY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Lotus 1-2-3 had become the leading program, so Microsoft began a new spreadsheet in 1983, code-named Odyssey.</a:t>
            </a:r>
          </a:p>
        </p:txBody>
      </p:sp>
      <p:sp>
        <p:nvSpPr>
          <p:cNvPr id="16" name="card"/>
          <p:cNvSpPr/>
          <p:nvPr/>
        </p:nvSpPr>
        <p:spPr>
          <a:xfrm>
            <a:off x="3200400" y="3639311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ow"/>
          <p:cNvSpPr txBox="1"/>
          <p:nvPr/>
        </p:nvSpPr>
        <p:spPr>
          <a:xfrm>
            <a:off x="3246120" y="3639311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HOW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Excel kept a Lotus bug on purpose: 29 February 1900 counts as a day. The Office Open XML format still carries it.</a:t>
            </a:r>
          </a:p>
        </p:txBody>
      </p:sp>
      <p:sp>
        <p:nvSpPr>
          <p:cNvPr id="18" name="read"/>
          <p:cNvSpPr txBox="1"/>
          <p:nvPr/>
        </p:nvSpPr>
        <p:spPr>
          <a:xfrm>
            <a:off x="3200400" y="4279391"/>
            <a:ext cx="557784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1" i="0">
                <a:solidFill>
                  <a:srgbClr val="B7791F"/>
                </a:solidFill>
                <a:latin typeface="Calibri"/>
              </a:rPr>
              <a:t>READ  </a:t>
            </a:r>
            <a:r>
              <a:rPr sz="1300" b="0" i="0">
                <a:solidFill>
                  <a:srgbClr val="0E7C86"/>
                </a:solidFill>
                <a:latin typeface="Calibri"/>
                <a:hlinkClick r:id="rId4"/>
              </a:rPr>
              <a:t>Microsoft Excel (Wikipedia)</a:t>
            </a:r>
          </a:p>
        </p:txBody>
      </p:sp>
      <p:sp>
        <p:nvSpPr>
          <p:cNvPr id="19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30 / 51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900" b="1" i="0">
                <a:solidFill>
                  <a:srgbClr val="1F2933"/>
                </a:solidFill>
                <a:latin typeface="Calibri"/>
              </a:rPr>
              <a:t>Exact halves: a spreadsheet's ROUND and Python's round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786384"/>
            <a:ext cx="8412480" cy="1221739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from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decimal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Decimal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ROUND_HALF_UP</a:t>
            </a:r>
          </a:p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text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9BE3A8"/>
                </a:solidFill>
                <a:latin typeface="Courier New"/>
              </a:rPr>
              <a:t>'0.125'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9BE3A8"/>
                </a:solidFill>
                <a:latin typeface="Courier New"/>
              </a:rPr>
              <a:t>'1.005'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9BE3A8"/>
                </a:solidFill>
                <a:latin typeface="Courier New"/>
              </a:rPr>
              <a:t>'2.675'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9BE3A8"/>
                </a:solidFill>
                <a:latin typeface="Courier New"/>
              </a:rPr>
              <a:t>'65.205'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x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float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text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up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Decimal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text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quantize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Decimal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9BE3A8"/>
                </a:solidFill>
                <a:latin typeface="Courier New"/>
              </a:rPr>
              <a:t>'0.01'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ROUND_HALF_UP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text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round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x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7CC4FF"/>
                </a:solidFill>
                <a:latin typeface="Courier New"/>
              </a:rPr>
              <a:t>2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up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365760" y="2017267"/>
            <a:ext cx="8412480" cy="524891"/>
          </a:xfrm>
          <a:prstGeom prst="rect">
            <a:avLst/>
          </a:prstGeom>
          <a:noFill/>
        </p:spPr>
        <p:txBody>
          <a:bodyPr wrap="square" lIns="109728" rIns="109728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A spreadsheet's ROUND takes a half away from zero. Python rounds the binary float: 0.125 is exact and goes to the even digit, the others sit just off the half.</a:t>
            </a:r>
          </a:p>
        </p:txBody>
      </p:sp>
      <p:sp>
        <p:nvSpPr>
          <p:cNvPr id="6" name="result label"/>
          <p:cNvSpPr txBox="1"/>
          <p:nvPr/>
        </p:nvSpPr>
        <p:spPr>
          <a:xfrm>
            <a:off x="365760" y="2606166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7" name="table"/>
          <p:cNvGraphicFramePr>
            <a:graphicFrameLocks noGrp="1"/>
          </p:cNvGraphicFramePr>
          <p:nvPr/>
        </p:nvGraphicFramePr>
        <p:xfrm>
          <a:off x="365760" y="2880486"/>
          <a:ext cx="6056985" cy="1371600"/>
        </p:xfrm>
        <a:graphic>
          <a:graphicData uri="http://schemas.openxmlformats.org/drawingml/2006/table">
            <a:tbl>
              <a:tblPr firstRow="0" bandRow="0"/>
              <a:tblGrid>
                <a:gridCol w="1538282"/>
                <a:gridCol w="1538282"/>
                <a:gridCol w="2018995"/>
                <a:gridCol w="961426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Exact half as text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Python round(x, 2)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spreadsheet ROUND (half up)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the same?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0.125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0.12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0.13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7DAD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1.005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1.0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1.01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7DAD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2.675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2.67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2.68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7DAD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65.205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65.2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65.21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7DAD2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759244" y="2880486"/>
            <a:ext cx="2018995" cy="566928"/>
          </a:xfrm>
          <a:prstGeom prst="roundRect">
            <a:avLst>
              <a:gd name="adj" fmla="val 12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alibri"/>
              </a:rPr>
              <a:t>Python rounds</a:t>
            </a:r>
          </a:p>
          <a:p>
            <a:pPr algn="ctr"/>
            <a:r>
              <a:rPr sz="950" b="0" i="0">
                <a:solidFill>
                  <a:srgbClr val="1F2933"/>
                </a:solidFill>
                <a:latin typeface="Calibri"/>
              </a:rPr>
              <a:t>the binary float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59244" y="3612007"/>
            <a:ext cx="2018995" cy="566928"/>
          </a:xfrm>
          <a:prstGeom prst="roundRect">
            <a:avLst>
              <a:gd name="adj" fmla="val 12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alibri"/>
              </a:rPr>
              <a:t>a spreadsheet rounds</a:t>
            </a:r>
          </a:p>
          <a:p>
            <a:pPr algn="ctr"/>
            <a:r>
              <a:rPr sz="950" b="0" i="0">
                <a:solidFill>
                  <a:srgbClr val="1F2933"/>
                </a:solidFill>
                <a:latin typeface="Calibri"/>
              </a:rPr>
              <a:t>the decimal shown</a:t>
            </a:r>
          </a:p>
        </p:txBody>
      </p:sp>
      <p:sp>
        <p:nvSpPr>
          <p:cNvPr id="10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Binary rounding and decimal rounding differ at halves.</a:t>
            </a:r>
          </a:p>
        </p:txBody>
      </p:sp>
      <p:sp>
        <p:nvSpPr>
          <p:cNvPr id="12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31 / 51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900" b="1" i="0">
                <a:solidFill>
                  <a:srgbClr val="1F2933"/>
                </a:solidFill>
                <a:latin typeface="Calibri"/>
              </a:rPr>
              <a:t>Story: a spreadsheet error left five countries out, 2013</a:t>
            </a:r>
          </a:p>
        </p:txBody>
      </p:sp>
      <p:pic>
        <p:nvPicPr>
          <p:cNvPr id="4" name="photo herndon" descr="Picture for the story: a spreadsheet error left five countries out, 20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422" y="868680"/>
            <a:ext cx="2650434" cy="2926080"/>
          </a:xfrm>
          <a:prstGeom prst="rect">
            <a:avLst/>
          </a:prstGeom>
        </p:spPr>
      </p:pic>
      <p:sp>
        <p:nvSpPr>
          <p:cNvPr id="5" name="credit"/>
          <p:cNvSpPr txBox="1"/>
          <p:nvPr/>
        </p:nvSpPr>
        <p:spPr>
          <a:xfrm>
            <a:off x="365760" y="3840480"/>
            <a:ext cx="265176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0">
                <a:solidFill>
                  <a:srgbClr val="5B6773"/>
                </a:solidFill>
                <a:latin typeface="Calibri"/>
              </a:rPr>
              <a:t>Title page of Reinhart and Rogoff's working paper, 2010. Image: Open Knowledge Foundation, CC BY 2.0, Flickr.</a:t>
            </a:r>
          </a:p>
        </p:txBody>
      </p:sp>
      <p:sp>
        <p:nvSpPr>
          <p:cNvPr id="6" name="card"/>
          <p:cNvSpPr/>
          <p:nvPr/>
        </p:nvSpPr>
        <p:spPr>
          <a:xfrm>
            <a:off x="3200400" y="841248"/>
            <a:ext cx="557784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ho"/>
          <p:cNvSpPr txBox="1"/>
          <p:nvPr/>
        </p:nvSpPr>
        <p:spPr>
          <a:xfrm>
            <a:off x="3246120" y="841248"/>
            <a:ext cx="548640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WHO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Thomas Herndon, with Michael Ash and Robert Pollin.</a:t>
            </a:r>
          </a:p>
        </p:txBody>
      </p:sp>
      <p:sp>
        <p:nvSpPr>
          <p:cNvPr id="8" name="card"/>
          <p:cNvSpPr/>
          <p:nvPr/>
        </p:nvSpPr>
        <p:spPr>
          <a:xfrm>
            <a:off x="3200400" y="1307592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hat"/>
          <p:cNvSpPr txBox="1"/>
          <p:nvPr/>
        </p:nvSpPr>
        <p:spPr>
          <a:xfrm>
            <a:off x="3246120" y="1307592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WHAT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A working paper that tested Reinhart and Rogoff's study of public debt and economic growth.</a:t>
            </a:r>
          </a:p>
        </p:txBody>
      </p:sp>
      <p:sp>
        <p:nvSpPr>
          <p:cNvPr id="10" name="card"/>
          <p:cNvSpPr/>
          <p:nvPr/>
        </p:nvSpPr>
        <p:spPr>
          <a:xfrm>
            <a:off x="3200400" y="1929384"/>
            <a:ext cx="557784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hen"/>
          <p:cNvSpPr txBox="1"/>
          <p:nvPr/>
        </p:nvSpPr>
        <p:spPr>
          <a:xfrm>
            <a:off x="3246120" y="1929384"/>
            <a:ext cx="548640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WHEN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15 April 2013.</a:t>
            </a:r>
          </a:p>
        </p:txBody>
      </p:sp>
      <p:sp>
        <p:nvSpPr>
          <p:cNvPr id="12" name="card"/>
          <p:cNvSpPr/>
          <p:nvPr/>
        </p:nvSpPr>
        <p:spPr>
          <a:xfrm>
            <a:off x="3200400" y="2395728"/>
            <a:ext cx="557784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here"/>
          <p:cNvSpPr txBox="1"/>
          <p:nvPr/>
        </p:nvSpPr>
        <p:spPr>
          <a:xfrm>
            <a:off x="3246120" y="2395728"/>
            <a:ext cx="5486400" cy="402336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WHERE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Political Economy Research Institute (UMass).</a:t>
            </a:r>
          </a:p>
        </p:txBody>
      </p:sp>
      <p:sp>
        <p:nvSpPr>
          <p:cNvPr id="14" name="card"/>
          <p:cNvSpPr/>
          <p:nvPr/>
        </p:nvSpPr>
        <p:spPr>
          <a:xfrm>
            <a:off x="3200400" y="2862072"/>
            <a:ext cx="5577840" cy="557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why"/>
          <p:cNvSpPr txBox="1"/>
          <p:nvPr/>
        </p:nvSpPr>
        <p:spPr>
          <a:xfrm>
            <a:off x="3246120" y="2862072"/>
            <a:ext cx="5486400" cy="5577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WHY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To replicate the published result from the authors' own working spreadsheet.</a:t>
            </a:r>
          </a:p>
        </p:txBody>
      </p:sp>
      <p:sp>
        <p:nvSpPr>
          <p:cNvPr id="16" name="card"/>
          <p:cNvSpPr/>
          <p:nvPr/>
        </p:nvSpPr>
        <p:spPr>
          <a:xfrm>
            <a:off x="3200400" y="3483863"/>
            <a:ext cx="5577840" cy="7726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ow"/>
          <p:cNvSpPr txBox="1"/>
          <p:nvPr/>
        </p:nvSpPr>
        <p:spPr>
          <a:xfrm>
            <a:off x="3246120" y="3483863"/>
            <a:ext cx="5486400" cy="7726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0E7C86"/>
                </a:solidFill>
                <a:latin typeface="Calibri"/>
              </a:rPr>
              <a:t>HOW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A coding error left out five countries, from Australia to Denmark. Growth above 90 percent debt was 2.2 percent a year, not -0.1.</a:t>
            </a:r>
          </a:p>
        </p:txBody>
      </p:sp>
      <p:sp>
        <p:nvSpPr>
          <p:cNvPr id="18" name="read"/>
          <p:cNvSpPr txBox="1"/>
          <p:nvPr/>
        </p:nvSpPr>
        <p:spPr>
          <a:xfrm>
            <a:off x="3200400" y="4338827"/>
            <a:ext cx="5577840" cy="3291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300" b="1" i="0">
                <a:solidFill>
                  <a:srgbClr val="B7791F"/>
                </a:solidFill>
                <a:latin typeface="Calibri"/>
              </a:rPr>
              <a:t>READ  </a:t>
            </a:r>
            <a:r>
              <a:rPr sz="1300" b="0" i="0">
                <a:solidFill>
                  <a:srgbClr val="0E7C86"/>
                </a:solidFill>
                <a:latin typeface="Calibri"/>
                <a:hlinkClick r:id="rId4"/>
              </a:rPr>
              <a:t>Herndon, Ash and Pollin: a critique (PERI)</a:t>
            </a:r>
          </a:p>
        </p:txBody>
      </p:sp>
      <p:sp>
        <p:nvSpPr>
          <p:cNvPr id="19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32 / 51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insert_rows moves values but not references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786384"/>
            <a:ext cx="4645151" cy="834390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sys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openpyxl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sys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argv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'blankRowInserter.py'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'3'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'2'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Workbook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active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i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range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6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append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'row %d'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%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i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i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'B6'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'=SUM(B1:B5)'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4992624" y="786384"/>
            <a:ext cx="3785615" cy="834390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The practice program reads a row number and a count from sys.argv. A list stands in for the command line here.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666494"/>
            <a:ext cx="4645151" cy="82651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start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count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sys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argv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sys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argv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2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insert_rows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start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count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cell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row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column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value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range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8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'B8'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value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4992624" y="1666494"/>
            <a:ext cx="3785615" cy="826516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Two blank rows now sit at row 3, and the sum moved down to B8. But it still says B1:B5: insert_rows does not rewrite references inside formulas.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566162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9" name="sheet grid"/>
          <p:cNvGraphicFramePr>
            <a:graphicFrameLocks noGrp="1"/>
          </p:cNvGraphicFramePr>
          <p:nvPr/>
        </p:nvGraphicFramePr>
        <p:xfrm>
          <a:off x="365760" y="2840482"/>
          <a:ext cx="3785615" cy="1563624"/>
        </p:xfrm>
        <a:graphic>
          <a:graphicData uri="http://schemas.openxmlformats.org/drawingml/2006/table">
            <a:tbl>
              <a:tblPr firstRow="0" bandRow="0"/>
              <a:tblGrid>
                <a:gridCol w="610583"/>
                <a:gridCol w="1221166"/>
                <a:gridCol w="1953866"/>
              </a:tblGrid>
              <a:tr h="173736"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29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2933"/>
                          </a:solidFill>
                          <a:latin typeface="Calibri"/>
                        </a:rPr>
                        <a:t>row 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29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2933"/>
                          </a:solidFill>
                          <a:latin typeface="Calibri"/>
                        </a:rPr>
                        <a:t>row 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8E7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8E7C6"/>
                    </a:solidFill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8E7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8E7C6"/>
                    </a:solidFill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29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2933"/>
                          </a:solidFill>
                          <a:latin typeface="Calibri"/>
                        </a:rPr>
                        <a:t>row 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29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2933"/>
                          </a:solidFill>
                          <a:latin typeface="Calibri"/>
                        </a:rPr>
                        <a:t>row 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293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2933"/>
                          </a:solidFill>
                          <a:latin typeface="Calibri"/>
                        </a:rPr>
                        <a:t>row 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29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29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2933"/>
                          </a:solidFill>
                          <a:latin typeface="Calibri"/>
                        </a:rPr>
                        <a:t>=SUM(B1:B5)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7DAD2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0" y="2886201"/>
            <a:ext cx="4206240" cy="274320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amber: the two inserted blank 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251962"/>
            <a:ext cx="4206240" cy="274320"/>
          </a:xfrm>
          <a:prstGeom prst="roundRect">
            <a:avLst>
              <a:gd name="adj" fmla="val 15000"/>
            </a:avLst>
          </a:prstGeom>
          <a:solidFill>
            <a:srgbClr val="F7DAD2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red: B8 holds =SUM(B1:B5)</a:t>
            </a:r>
          </a:p>
        </p:txBody>
      </p:sp>
      <p:sp>
        <p:nvSpPr>
          <p:cNvPr id="12" name="visual note"/>
          <p:cNvSpPr txBox="1"/>
          <p:nvPr/>
        </p:nvSpPr>
        <p:spPr>
          <a:xfrm>
            <a:off x="4572000" y="3617722"/>
            <a:ext cx="420624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1">
                <a:solidFill>
                  <a:srgbClr val="5B6773"/>
                </a:solidFill>
                <a:latin typeface="Calibri"/>
              </a:rPr>
              <a:t>the sum moved from B6 to B8,</a:t>
            </a:r>
          </a:p>
        </p:txBody>
      </p:sp>
      <p:sp>
        <p:nvSpPr>
          <p:cNvPr id="13" name="visual note"/>
          <p:cNvSpPr txBox="1"/>
          <p:nvPr/>
        </p:nvSpPr>
        <p:spPr>
          <a:xfrm>
            <a:off x="4572000" y="3818890"/>
            <a:ext cx="420624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1">
                <a:solidFill>
                  <a:srgbClr val="5B6773"/>
                </a:solidFill>
                <a:latin typeface="Calibri"/>
              </a:rPr>
              <a:t>but it still adds B1:B5, not B1:B7</a:t>
            </a:r>
          </a:p>
        </p:txBody>
      </p:sp>
      <p:sp>
        <p:nvSpPr>
          <p:cNvPr id="14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insert_rows does not fix formulas.</a:t>
            </a:r>
          </a:p>
        </p:txBody>
      </p:sp>
      <p:sp>
        <p:nvSpPr>
          <p:cNvPr id="16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33 / 51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Part 4: Looks and layout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0">
                <a:solidFill>
                  <a:srgbClr val="5B6773"/>
                </a:solidFill>
                <a:latin typeface="Calibri"/>
              </a:rPr>
              <a:t>Fonts, sizes, merges and frozen panes are objects and settings</a:t>
            </a:r>
          </a:p>
        </p:txBody>
      </p:sp>
      <p:sp>
        <p:nvSpPr>
          <p:cNvPr id="4" name="rule"/>
          <p:cNvSpPr/>
          <p:nvPr/>
        </p:nvSpPr>
        <p:spPr>
          <a:xfrm>
            <a:off x="457200" y="1216152"/>
            <a:ext cx="1097280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Font()</a:t>
            </a:r>
          </a:p>
        </p:txBody>
      </p:sp>
      <p:sp>
        <p:nvSpPr>
          <p:cNvPr id="6" name="meaning"/>
          <p:cNvSpPr txBox="1"/>
          <p:nvPr/>
        </p:nvSpPr>
        <p:spPr>
          <a:xfrm>
            <a:off x="2606040" y="1417320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A style object that cannot be changed.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75688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Row height</a:t>
            </a:r>
          </a:p>
        </p:txBody>
      </p:sp>
      <p:sp>
        <p:nvSpPr>
          <p:cNvPr id="8" name="meaning"/>
          <p:cNvSpPr txBox="1"/>
          <p:nvPr/>
        </p:nvSpPr>
        <p:spPr>
          <a:xfrm>
            <a:off x="2606040" y="2075688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Measured in points, like type.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34056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Merged cell</a:t>
            </a:r>
          </a:p>
        </p:txBody>
      </p:sp>
      <p:sp>
        <p:nvSpPr>
          <p:cNvPr id="10" name="meaning"/>
          <p:cNvSpPr txBox="1"/>
          <p:nvPr/>
        </p:nvSpPr>
        <p:spPr>
          <a:xfrm>
            <a:off x="2606040" y="2734056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Only the top-left cell stays real.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92424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Freeze panes</a:t>
            </a:r>
          </a:p>
        </p:txBody>
      </p:sp>
      <p:sp>
        <p:nvSpPr>
          <p:cNvPr id="12" name="meaning"/>
          <p:cNvSpPr txBox="1"/>
          <p:nvPr/>
        </p:nvSpPr>
        <p:spPr>
          <a:xfrm>
            <a:off x="2606040" y="3392424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Pins rows and columns to the window.</a:t>
            </a:r>
          </a:p>
        </p:txBody>
      </p:sp>
      <p:graphicFrame>
        <p:nvGraphicFramePr>
          <p:cNvPr id="13" name="table"/>
          <p:cNvGraphicFramePr>
            <a:graphicFrameLocks noGrp="1"/>
          </p:cNvGraphicFramePr>
          <p:nvPr/>
        </p:nvGraphicFramePr>
        <p:xfrm>
          <a:off x="5303520" y="1417320"/>
          <a:ext cx="3474719" cy="2926080"/>
        </p:xfrm>
        <a:graphic>
          <a:graphicData uri="http://schemas.openxmlformats.org/drawingml/2006/table">
            <a:tbl>
              <a:tblPr firstRow="0" bandRow="0"/>
              <a:tblGrid>
                <a:gridCol w="507543"/>
                <a:gridCol w="2967176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Slide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In this part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Everyday pictures: fonts, rows and columns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36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Everyday pictures: merge, freeze and insert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A multiplication table with bold headings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Setting the font style of cells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Adjusting rows and columns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Merge and unmerge cells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freeze_panes: the cell above and left of 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34 / 51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Everyday pictures: fonts, rows and columns</a:t>
            </a:r>
          </a:p>
        </p:txBody>
      </p:sp>
      <p:sp>
        <p:nvSpPr>
          <p:cNvPr id="4" name="card"/>
          <p:cNvSpPr/>
          <p:nvPr/>
        </p:nvSpPr>
        <p:spPr>
          <a:xfrm>
            <a:off x="365760" y="749808"/>
            <a:ext cx="8412480" cy="566928"/>
          </a:xfrm>
          <a:prstGeom prst="roundRect">
            <a:avLst>
              <a:gd name="adj" fmla="val 8000"/>
            </a:avLst>
          </a:prstGeom>
          <a:solidFill>
            <a:srgbClr val="F8E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nalogy"/>
          <p:cNvSpPr txBox="1"/>
          <p:nvPr/>
        </p:nvSpPr>
        <p:spPr>
          <a:xfrm>
            <a:off x="502920" y="758952"/>
            <a:ext cx="813816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400" b="1" i="0">
                <a:solidFill>
                  <a:srgbClr val="B7791F"/>
                </a:solidFill>
                <a:latin typeface="Calibri"/>
              </a:rPr>
              <a:t>ANALOGY 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Layout is the dress of a table: it does not change the numbers, and every piece of it is an object you put on.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760" y="1417320"/>
          <a:ext cx="8412480" cy="3108959"/>
        </p:xfrm>
        <a:graphic>
          <a:graphicData uri="http://schemas.openxmlformats.org/drawingml/2006/table">
            <a:tbl>
              <a:tblPr firstRow="0" bandRow="0"/>
              <a:tblGrid>
                <a:gridCol w="3566160"/>
                <a:gridCol w="4846320"/>
              </a:tblGrid>
              <a:tr h="444137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Chapter concept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Everyday picture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Setting the Font Style of Cells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Choosing the pen and the ink for each box.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Font()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 pen set that holds only the pens you put into it; the rest stays as before.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openpyxl.styles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The stationery cupboard: fonts, fills and borders.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Adjusting Rows and Columns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Moving the shelves of a bookcase to fit the books.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row height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The height of a shelf, measured in points.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column width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The width of a bookcase, measured in characters.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35 / 51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Everyday pictures: merge, freeze and insert</a:t>
            </a:r>
          </a:p>
        </p:txBody>
      </p:sp>
      <p:sp>
        <p:nvSpPr>
          <p:cNvPr id="4" name="card"/>
          <p:cNvSpPr/>
          <p:nvPr/>
        </p:nvSpPr>
        <p:spPr>
          <a:xfrm>
            <a:off x="365760" y="749808"/>
            <a:ext cx="8412480" cy="566928"/>
          </a:xfrm>
          <a:prstGeom prst="roundRect">
            <a:avLst>
              <a:gd name="adj" fmla="val 8000"/>
            </a:avLst>
          </a:prstGeom>
          <a:solidFill>
            <a:srgbClr val="F8E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nalogy"/>
          <p:cNvSpPr txBox="1"/>
          <p:nvPr/>
        </p:nvSpPr>
        <p:spPr>
          <a:xfrm>
            <a:off x="502920" y="758952"/>
            <a:ext cx="813816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400" b="1" i="0">
                <a:solidFill>
                  <a:srgbClr val="B7791F"/>
                </a:solidFill>
                <a:latin typeface="Calibri"/>
              </a:rPr>
              <a:t>ANALOGY 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Merging cells is knocking out a wall between rooms, and freezing panes is pinning a heading to the window.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760" y="1417320"/>
          <a:ext cx="8412480" cy="2286000"/>
        </p:xfrm>
        <a:graphic>
          <a:graphicData uri="http://schemas.openxmlformats.org/drawingml/2006/table">
            <a:tbl>
              <a:tblPr firstRow="0" bandRow="0"/>
              <a:tblGrid>
                <a:gridCol w="3566160"/>
                <a:gridCol w="48463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Chapter concept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Everyday picture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merge_cells()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Knocking down the walls between a block of rooms to make one hall.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merged cell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The hall: only the corner room keeps its name and its furniture.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unmerge_cells()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Rebuilding the walls; the furniture stays in the corner room.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933"/>
                          </a:solidFill>
                          <a:latin typeface="Calibri"/>
                        </a:rPr>
                        <a:t>freeze panes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3"/>
                          </a:solidFill>
                          <a:latin typeface="Calibri"/>
                        </a:rPr>
                        <a:t>A heading pinned to the window frame, while the page slides underneath.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36 / 51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A multiplication table with bold headings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786384"/>
            <a:ext cx="5178551" cy="725932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openpyxl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from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styles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Font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N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4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Workbook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active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526024" y="786384"/>
            <a:ext cx="3252216" cy="725932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The practice program takes N from the command line; here N is 4. Font comes from openpyxl.styles.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558036"/>
            <a:ext cx="5178551" cy="578739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i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range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N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+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cell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row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column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i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+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value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i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font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Font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bold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True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cell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row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i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+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column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value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i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font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Font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bold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True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526024" y="1558036"/>
            <a:ext cx="3252216" cy="578739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The first row and the first column hold the headings 1 to N, in bold.</a:t>
            </a:r>
          </a:p>
        </p:txBody>
      </p:sp>
      <p:sp>
        <p:nvSpPr>
          <p:cNvPr id="8" name="code"/>
          <p:cNvSpPr/>
          <p:nvPr/>
        </p:nvSpPr>
        <p:spPr>
          <a:xfrm>
            <a:off x="365760" y="2182495"/>
            <a:ext cx="5178551" cy="82651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j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range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N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+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      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cell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row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i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+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column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j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+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value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i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*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j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row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iter_rows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values_only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True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row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9" name="explanation"/>
          <p:cNvSpPr txBox="1"/>
          <p:nvPr/>
        </p:nvSpPr>
        <p:spPr>
          <a:xfrm>
            <a:off x="5526024" y="2182495"/>
            <a:ext cx="3252216" cy="826516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Every other cell holds the product of its row heading and its column heading. The last line prints the grid; the empty corner A1 is None.</a:t>
            </a:r>
          </a:p>
        </p:txBody>
      </p:sp>
      <p:sp>
        <p:nvSpPr>
          <p:cNvPr id="10" name="result label"/>
          <p:cNvSpPr txBox="1"/>
          <p:nvPr/>
        </p:nvSpPr>
        <p:spPr>
          <a:xfrm>
            <a:off x="365760" y="3082163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11" name="sheet grid"/>
          <p:cNvGraphicFramePr>
            <a:graphicFrameLocks noGrp="1"/>
          </p:cNvGraphicFramePr>
          <p:nvPr/>
        </p:nvGraphicFramePr>
        <p:xfrm>
          <a:off x="365760" y="3356482"/>
          <a:ext cx="4206235" cy="1207008"/>
        </p:xfrm>
        <a:graphic>
          <a:graphicData uri="http://schemas.openxmlformats.org/drawingml/2006/table">
            <a:tbl>
              <a:tblPr firstRow="0" bandRow="0"/>
              <a:tblGrid>
                <a:gridCol w="382385"/>
                <a:gridCol w="764770"/>
                <a:gridCol w="764770"/>
                <a:gridCol w="764770"/>
                <a:gridCol w="764770"/>
                <a:gridCol w="764770"/>
              </a:tblGrid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F29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1F29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1F293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992624" y="3402202"/>
            <a:ext cx="3785615" cy="274320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teal: the headings, in bold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92624" y="3767963"/>
            <a:ext cx="3785615" cy="274320"/>
          </a:xfrm>
          <a:prstGeom prst="roundRect">
            <a:avLst>
              <a:gd name="adj" fmla="val 15000"/>
            </a:avLst>
          </a:prstGeom>
          <a:solidFill>
            <a:srgbClr val="ECE6D8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5B6773"/>
                </a:solidFill>
                <a:latin typeface="Courier New"/>
              </a:rPr>
              <a:t>A1 stays empty: None</a:t>
            </a:r>
          </a:p>
        </p:txBody>
      </p:sp>
      <p:sp>
        <p:nvSpPr>
          <p:cNvPr id="14" name="visual note"/>
          <p:cNvSpPr txBox="1"/>
          <p:nvPr/>
        </p:nvSpPr>
        <p:spPr>
          <a:xfrm>
            <a:off x="4992624" y="4133722"/>
            <a:ext cx="3785615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1">
                <a:solidFill>
                  <a:srgbClr val="5B6773"/>
                </a:solidFill>
                <a:latin typeface="Calibri"/>
              </a:rPr>
              <a:t>cell (row i, column j) = i * j</a:t>
            </a:r>
          </a:p>
        </p:txBody>
      </p:sp>
      <p:sp>
        <p:nvSpPr>
          <p:cNvPr id="15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One Font object can style many cells.</a:t>
            </a:r>
          </a:p>
        </p:txBody>
      </p:sp>
      <p:sp>
        <p:nvSpPr>
          <p:cNvPr id="17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37 / 51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Setting the font style of cells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786384"/>
            <a:ext cx="4904232" cy="911859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openpyxl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from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styles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Font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Workbook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active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'A1'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font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Font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size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7CC4FF"/>
                </a:solidFill>
                <a:latin typeface="Courier New"/>
              </a:rPr>
              <a:t>24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italic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True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'B3'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font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Font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name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'Times New Roman'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bold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True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251704" y="786384"/>
            <a:ext cx="3526535" cy="911859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Font comes from openpyxl.styles and keeps only the options you give. A1 gets a size and italic; B3 gets a name and bold.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743963"/>
            <a:ext cx="4904232" cy="651891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c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'A1'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'B3'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'C5'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c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coordinate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c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font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name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c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font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sz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c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font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b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251704" y="1743963"/>
            <a:ext cx="3526535" cy="651891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A1 has no name and B3 has no size. Calibri 11 is the default only for cells that were never styled, such as C5.</a:t>
            </a:r>
          </a:p>
        </p:txBody>
      </p:sp>
      <p:sp>
        <p:nvSpPr>
          <p:cNvPr id="8" name="code"/>
          <p:cNvSpPr/>
          <p:nvPr/>
        </p:nvSpPr>
        <p:spPr>
          <a:xfrm>
            <a:off x="365760" y="2441574"/>
            <a:ext cx="4904232" cy="47726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try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'A1'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font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bold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True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except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AttributeError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as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'AttributeError:'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9" name="explanation"/>
          <p:cNvSpPr txBox="1"/>
          <p:nvPr/>
        </p:nvSpPr>
        <p:spPr>
          <a:xfrm>
            <a:off x="5251704" y="2441574"/>
            <a:ext cx="3526535" cy="477266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A style object cannot be changed. To change one option, assign a new Font.</a:t>
            </a:r>
          </a:p>
        </p:txBody>
      </p:sp>
      <p:sp>
        <p:nvSpPr>
          <p:cNvPr id="10" name="result label"/>
          <p:cNvSpPr txBox="1"/>
          <p:nvPr/>
        </p:nvSpPr>
        <p:spPr>
          <a:xfrm>
            <a:off x="365760" y="2991993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11" name="table"/>
          <p:cNvGraphicFramePr>
            <a:graphicFrameLocks noGrp="1"/>
          </p:cNvGraphicFramePr>
          <p:nvPr/>
        </p:nvGraphicFramePr>
        <p:xfrm>
          <a:off x="365760" y="3266312"/>
          <a:ext cx="4626861" cy="1170432"/>
        </p:xfrm>
        <a:graphic>
          <a:graphicData uri="http://schemas.openxmlformats.org/drawingml/2006/table">
            <a:tbl>
              <a:tblPr firstRow="0" bandRow="0"/>
              <a:tblGrid>
                <a:gridCol w="635059"/>
                <a:gridCol w="1723733"/>
                <a:gridCol w="816505"/>
                <a:gridCol w="725782"/>
                <a:gridCol w="725782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Cell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font.name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font.sz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bold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italic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A1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None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8E7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24.0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False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B3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Times New Roman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None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8E7C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False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C5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Calibri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ourier New"/>
                        </a:rPr>
                        <a:t>11.0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False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F2933"/>
                          </a:solidFill>
                          <a:latin typeface="Calibri"/>
                        </a:rPr>
                        <a:t>False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visual note"/>
          <p:cNvSpPr txBox="1"/>
          <p:nvPr/>
        </p:nvSpPr>
        <p:spPr>
          <a:xfrm>
            <a:off x="365760" y="4500753"/>
            <a:ext cx="4626864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1">
                <a:solidFill>
                  <a:srgbClr val="5B6773"/>
                </a:solidFill>
                <a:latin typeface="Calibri"/>
              </a:rPr>
              <a:t>amber: nothing was given, so nothing is stored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13248" y="3266312"/>
            <a:ext cx="3364991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800" b="0" i="0">
                <a:solidFill>
                  <a:srgbClr val="1F2933"/>
                </a:solidFill>
                <a:latin typeface="Calibri"/>
              </a:rPr>
              <a:t>Hello, world!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13248" y="3906392"/>
            <a:ext cx="3364991" cy="411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 i="0">
                <a:solidFill>
                  <a:srgbClr val="1F2933"/>
                </a:solidFill>
                <a:latin typeface="Times New Roman"/>
              </a:rPr>
              <a:t>Bold Times New Roman</a:t>
            </a:r>
          </a:p>
        </p:txBody>
      </p:sp>
      <p:sp>
        <p:nvSpPr>
          <p:cNvPr id="15" name="visual note"/>
          <p:cNvSpPr txBox="1"/>
          <p:nvPr/>
        </p:nvSpPr>
        <p:spPr>
          <a:xfrm>
            <a:off x="5413248" y="4363592"/>
            <a:ext cx="3364991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00" b="0" i="1">
                <a:solidFill>
                  <a:srgbClr val="5B6773"/>
                </a:solidFill>
                <a:latin typeface="Calibri"/>
              </a:rPr>
              <a:t>sample text; A1 is 24 pt here shown at 18</a:t>
            </a:r>
          </a:p>
        </p:txBody>
      </p:sp>
      <p:sp>
        <p:nvSpPr>
          <p:cNvPr id="16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A style keeps only what it is given.</a:t>
            </a:r>
          </a:p>
        </p:txBody>
      </p:sp>
      <p:sp>
        <p:nvSpPr>
          <p:cNvPr id="18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38 / 51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Adjusting rows and columns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786384"/>
            <a:ext cx="5666232" cy="1066799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openpyxl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Workbook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active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'A5'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'B5'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'Tall row'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'Wide column'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row_dimensions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00" b="0" i="0">
                <a:solidFill>
                  <a:srgbClr val="7CC4FF"/>
                </a:solidFill>
                <a:latin typeface="Courier New"/>
              </a:rPr>
              <a:t>5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height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7CC4FF"/>
                </a:solidFill>
                <a:latin typeface="Courier New"/>
              </a:rPr>
              <a:t>70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column_dimensions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'B'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width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7CC4FF"/>
                </a:solidFill>
                <a:latin typeface="Courier New"/>
              </a:rPr>
              <a:t>20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column_dimensions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'D'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hidden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True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6013704" y="786384"/>
            <a:ext cx="2764535" cy="1066799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Row height is in points and column width in characters. A column can be hidden without being deleted.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898904"/>
            <a:ext cx="5666232" cy="651891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row_dimensions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00" b="0" i="0">
                <a:solidFill>
                  <a:srgbClr val="7CC4FF"/>
                </a:solidFill>
                <a:latin typeface="Courier New"/>
              </a:rPr>
              <a:t>5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height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column_dimensions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'B'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width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column_dimensions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'D'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hidden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sorted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column_dimensions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sorted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row_dimensions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6013704" y="1898904"/>
            <a:ext cx="2764535" cy="651891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Reading a dimension creates it too. Here only the rows and columns that were set are listed.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623947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898267"/>
            <a:ext cx="578129" cy="256032"/>
          </a:xfrm>
          <a:prstGeom prst="roundRect">
            <a:avLst>
              <a:gd name="adj" fmla="val 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82801" y="2898267"/>
            <a:ext cx="1371600" cy="256032"/>
          </a:xfrm>
          <a:prstGeom prst="roundRect">
            <a:avLst>
              <a:gd name="adj" fmla="val 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1833" y="2898267"/>
            <a:ext cx="578129" cy="256032"/>
          </a:xfrm>
          <a:prstGeom prst="roundRect">
            <a:avLst>
              <a:gd name="adj" fmla="val 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7394" y="2898267"/>
            <a:ext cx="109728" cy="256032"/>
          </a:xfrm>
          <a:prstGeom prst="roundRect">
            <a:avLst>
              <a:gd name="adj" fmla="val 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5954" y="3172586"/>
            <a:ext cx="91440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00" b="0" i="1">
                <a:solidFill>
                  <a:srgbClr val="5B6773"/>
                </a:solidFill>
                <a:latin typeface="Calibri"/>
              </a:rPr>
              <a:t>D hidden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401187"/>
            <a:ext cx="365760" cy="182880"/>
          </a:xfrm>
          <a:prstGeom prst="roundRect">
            <a:avLst>
              <a:gd name="adj" fmla="val 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611499"/>
            <a:ext cx="365760" cy="544068"/>
          </a:xfrm>
          <a:prstGeom prst="roundRect">
            <a:avLst>
              <a:gd name="adj" fmla="val 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182999"/>
            <a:ext cx="365760" cy="182880"/>
          </a:xfrm>
          <a:prstGeom prst="roundRect">
            <a:avLst>
              <a:gd name="adj" fmla="val 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6</a:t>
            </a:r>
          </a:p>
        </p:txBody>
      </p:sp>
      <p:graphicFrame>
        <p:nvGraphicFramePr>
          <p:cNvPr id="17" name="table"/>
          <p:cNvGraphicFramePr>
            <a:graphicFrameLocks noGrp="1"/>
          </p:cNvGraphicFramePr>
          <p:nvPr/>
        </p:nvGraphicFramePr>
        <p:xfrm>
          <a:off x="4151376" y="2898267"/>
          <a:ext cx="4626863" cy="1170432"/>
        </p:xfrm>
        <a:graphic>
          <a:graphicData uri="http://schemas.openxmlformats.org/drawingml/2006/table">
            <a:tbl>
              <a:tblPr firstRow="0" bandRow="0"/>
              <a:tblGrid>
                <a:gridCol w="2673299"/>
                <a:gridCol w="1953564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Value from the run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row_dimensions[5].height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70.0 points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column_dimensions['B'].width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20.0 characters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column_dimensions['D'].hidden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1F2933"/>
                          </a:solidFill>
                          <a:latin typeface="Courier New"/>
                        </a:rPr>
                        <a:t>True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visual note"/>
          <p:cNvSpPr txBox="1"/>
          <p:nvPr/>
        </p:nvSpPr>
        <p:spPr>
          <a:xfrm>
            <a:off x="4151376" y="4178427"/>
            <a:ext cx="4626864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1">
                <a:solidFill>
                  <a:srgbClr val="5B6773"/>
                </a:solidFill>
                <a:latin typeface="Calibri"/>
              </a:rPr>
              <a:t>column B is wider, row 5 is taller, column D has no width</a:t>
            </a:r>
          </a:p>
        </p:txBody>
      </p:sp>
      <p:sp>
        <p:nvSpPr>
          <p:cNvPr id="19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Heights are in points, widths in characters.</a:t>
            </a:r>
          </a:p>
        </p:txBody>
      </p:sp>
      <p:sp>
        <p:nvSpPr>
          <p:cNvPr id="21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39 / 51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Merge and unmerge cells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786384"/>
            <a:ext cx="4816601" cy="873125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openpyxl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Workbook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active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merge_cells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'F1:I3'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'F1'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'Twelve cells merged together.'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*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merged_cells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ranges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type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'G2'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__name__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164074" y="786384"/>
            <a:ext cx="3614166" cy="873125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merge_cells joins a block into one. Only the top-left cell is a real Cell; the other eleven are MergedCell objects.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705228"/>
            <a:ext cx="4816601" cy="1020317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try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'G2'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'x'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except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AttributeError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as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'AttributeError:'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unmerge_cells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'F1:I3'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5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5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len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merged_cells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ranges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type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50" b="0" i="0">
                <a:solidFill>
                  <a:srgbClr val="9BE3A8"/>
                </a:solidFill>
                <a:latin typeface="Courier New"/>
              </a:rPr>
              <a:t>'G2'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__name__</a:t>
            </a:r>
            <a:r>
              <a:rPr sz="95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164074" y="1705228"/>
            <a:ext cx="3614166" cy="1020317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A merged cell is read-only. After unmerge_cells the text stays in the top-left cell and the others are ordinary empty cells again.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798698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sp>
        <p:nvSpPr>
          <p:cNvPr id="9" name="visual note"/>
          <p:cNvSpPr txBox="1"/>
          <p:nvPr/>
        </p:nvSpPr>
        <p:spPr>
          <a:xfrm>
            <a:off x="365760" y="3027298"/>
            <a:ext cx="3364991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1">
                <a:solidFill>
                  <a:srgbClr val="5B6773"/>
                </a:solidFill>
                <a:latin typeface="Calibri"/>
              </a:rPr>
              <a:t>after merge_cells('F1:I3')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255898"/>
            <a:ext cx="3364991" cy="822960"/>
          </a:xfrm>
          <a:prstGeom prst="roundRect">
            <a:avLst>
              <a:gd name="adj" fmla="val 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alibri"/>
              </a:rPr>
              <a:t>F1:I3: one real cell</a:t>
            </a:r>
          </a:p>
          <a:p>
            <a:pPr algn="ctr"/>
            <a:r>
              <a:rPr sz="950" b="0" i="0">
                <a:solidFill>
                  <a:srgbClr val="1F2933"/>
                </a:solidFill>
                <a:latin typeface="Calibri"/>
              </a:rPr>
              <a:t>'Twelve cells merged together.'</a:t>
            </a:r>
          </a:p>
        </p:txBody>
      </p:sp>
      <p:cxnSp>
        <p:nvCxnSpPr>
          <p:cNvPr id="11" name="arrow"/>
          <p:cNvCxnSpPr/>
          <p:nvPr/>
        </p:nvCxnSpPr>
        <p:spPr>
          <a:xfrm>
            <a:off x="3899001" y="3667378"/>
            <a:ext cx="841248" cy="0"/>
          </a:xfrm>
          <a:prstGeom prst="line">
            <a:avLst/>
          </a:prstGeom>
          <a:ln w="1905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isual note"/>
          <p:cNvSpPr txBox="1"/>
          <p:nvPr/>
        </p:nvSpPr>
        <p:spPr>
          <a:xfrm>
            <a:off x="4908499" y="3027298"/>
            <a:ext cx="386974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1">
                <a:solidFill>
                  <a:srgbClr val="5B6773"/>
                </a:solidFill>
                <a:latin typeface="Calibri"/>
              </a:rPr>
              <a:t>after unmerge_cells('F1:I3'): twelve cells again</a:t>
            </a:r>
          </a:p>
        </p:txBody>
      </p:sp>
      <p:graphicFrame>
        <p:nvGraphicFramePr>
          <p:cNvPr id="13" name="sheet grid"/>
          <p:cNvGraphicFramePr>
            <a:graphicFrameLocks noGrp="1"/>
          </p:cNvGraphicFramePr>
          <p:nvPr/>
        </p:nvGraphicFramePr>
        <p:xfrm>
          <a:off x="4908499" y="3255898"/>
          <a:ext cx="3869739" cy="877824"/>
        </p:xfrm>
        <a:graphic>
          <a:graphicData uri="http://schemas.openxmlformats.org/drawingml/2006/table">
            <a:tbl>
              <a:tblPr firstRow="0" bandRow="0"/>
              <a:tblGrid>
                <a:gridCol w="429971"/>
                <a:gridCol w="859942"/>
                <a:gridCol w="859942"/>
                <a:gridCol w="859942"/>
                <a:gridCol w="859942"/>
              </a:tblGrid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F29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Twelve cells merged together.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8E7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visual note"/>
          <p:cNvSpPr txBox="1"/>
          <p:nvPr/>
        </p:nvSpPr>
        <p:spPr>
          <a:xfrm>
            <a:off x="365760" y="4170298"/>
            <a:ext cx="841248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1">
                <a:solidFill>
                  <a:srgbClr val="5B6773"/>
                </a:solidFill>
                <a:latin typeface="Calibri"/>
              </a:rPr>
              <a:t>type of G2 while merged: MergedCell, read-only; after: Cell</a:t>
            </a:r>
          </a:p>
        </p:txBody>
      </p:sp>
      <p:sp>
        <p:nvSpPr>
          <p:cNvPr id="15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A merged range keeps one real cell.</a:t>
            </a:r>
          </a:p>
        </p:txBody>
      </p:sp>
      <p:sp>
        <p:nvSpPr>
          <p:cNvPr id="17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40 / 51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900" b="1" i="0">
                <a:solidFill>
                  <a:srgbClr val="1F2933"/>
                </a:solidFill>
                <a:latin typeface="Calibri"/>
              </a:rPr>
              <a:t>freeze_panes: the cell above and left of it stays in view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786384"/>
            <a:ext cx="5376671" cy="1438655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openpyxl</a:t>
            </a:r>
          </a:p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setting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9BE3A8"/>
                </a:solidFill>
                <a:latin typeface="Courier New"/>
              </a:rPr>
              <a:t>'A2'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9BE3A8"/>
                </a:solidFill>
                <a:latin typeface="Courier New"/>
              </a:rPr>
              <a:t>'B1'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9BE3A8"/>
                </a:solidFill>
                <a:latin typeface="Courier New"/>
              </a:rPr>
              <a:t>'C2'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:</a:t>
            </a:r>
          </a:p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Workbook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active</a:t>
            </a:r>
          </a:p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freeze_panes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setting</a:t>
            </a:r>
          </a:p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pane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sheet_view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pane</a:t>
            </a:r>
          </a:p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   </a:t>
            </a:r>
            <a:r>
              <a:rPr sz="14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setting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pane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xSplit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pane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ySplit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724144" y="786384"/>
            <a:ext cx="3054096" cy="1438655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The cell you name is the first one that scrolls. A2 freezes row 1, B1 freezes column A, and C2 freezes both.</a:t>
            </a:r>
          </a:p>
        </p:txBody>
      </p:sp>
      <p:sp>
        <p:nvSpPr>
          <p:cNvPr id="6" name="result label"/>
          <p:cNvSpPr txBox="1"/>
          <p:nvPr/>
        </p:nvSpPr>
        <p:spPr>
          <a:xfrm>
            <a:off x="365760" y="2298192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sp>
        <p:nvSpPr>
          <p:cNvPr id="7" name="setting"/>
          <p:cNvSpPr txBox="1"/>
          <p:nvPr/>
        </p:nvSpPr>
        <p:spPr>
          <a:xfrm>
            <a:off x="365760" y="2535935"/>
            <a:ext cx="26822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0">
                <a:solidFill>
                  <a:srgbClr val="1F2933"/>
                </a:solidFill>
                <a:latin typeface="Courier New"/>
              </a:rPr>
              <a:t>freeze_panes = 'A2'</a:t>
            </a:r>
          </a:p>
        </p:txBody>
      </p:sp>
      <p:graphicFrame>
        <p:nvGraphicFramePr>
          <p:cNvPr id="8" name="sheet grid"/>
          <p:cNvGraphicFramePr>
            <a:graphicFrameLocks noGrp="1"/>
          </p:cNvGraphicFramePr>
          <p:nvPr/>
        </p:nvGraphicFramePr>
        <p:xfrm>
          <a:off x="365760" y="2755392"/>
          <a:ext cx="2682237" cy="1005840"/>
        </p:xfrm>
        <a:graphic>
          <a:graphicData uri="http://schemas.openxmlformats.org/drawingml/2006/table">
            <a:tbl>
              <a:tblPr firstRow="0" bandRow="0"/>
              <a:tblGrid>
                <a:gridCol w="187133"/>
                <a:gridCol w="623776"/>
                <a:gridCol w="623776"/>
                <a:gridCol w="623776"/>
                <a:gridCol w="623776"/>
              </a:tblGrid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F29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9" name="visual note"/>
          <p:cNvSpPr txBox="1"/>
          <p:nvPr/>
        </p:nvSpPr>
        <p:spPr>
          <a:xfrm>
            <a:off x="365760" y="3852671"/>
            <a:ext cx="268224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00" b="0" i="1">
                <a:solidFill>
                  <a:srgbClr val="5B6773"/>
                </a:solidFill>
                <a:latin typeface="Calibri"/>
              </a:rPr>
              <a:t>frozen: 0 column(s), 1 row(s)</a:t>
            </a:r>
          </a:p>
        </p:txBody>
      </p:sp>
      <p:sp>
        <p:nvSpPr>
          <p:cNvPr id="10" name="setting"/>
          <p:cNvSpPr txBox="1"/>
          <p:nvPr/>
        </p:nvSpPr>
        <p:spPr>
          <a:xfrm>
            <a:off x="3230880" y="2535935"/>
            <a:ext cx="26822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0">
                <a:solidFill>
                  <a:srgbClr val="1F2933"/>
                </a:solidFill>
                <a:latin typeface="Courier New"/>
              </a:rPr>
              <a:t>freeze_panes = 'B1'</a:t>
            </a:r>
          </a:p>
        </p:txBody>
      </p:sp>
      <p:graphicFrame>
        <p:nvGraphicFramePr>
          <p:cNvPr id="11" name="sheet grid"/>
          <p:cNvGraphicFramePr>
            <a:graphicFrameLocks noGrp="1"/>
          </p:cNvGraphicFramePr>
          <p:nvPr/>
        </p:nvGraphicFramePr>
        <p:xfrm>
          <a:off x="3230880" y="2755392"/>
          <a:ext cx="2682237" cy="1005840"/>
        </p:xfrm>
        <a:graphic>
          <a:graphicData uri="http://schemas.openxmlformats.org/drawingml/2006/table">
            <a:tbl>
              <a:tblPr firstRow="0" bandRow="0"/>
              <a:tblGrid>
                <a:gridCol w="187133"/>
                <a:gridCol w="623776"/>
                <a:gridCol w="623776"/>
                <a:gridCol w="623776"/>
                <a:gridCol w="623776"/>
              </a:tblGrid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F29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12" name="visual note"/>
          <p:cNvSpPr txBox="1"/>
          <p:nvPr/>
        </p:nvSpPr>
        <p:spPr>
          <a:xfrm>
            <a:off x="3230880" y="3852671"/>
            <a:ext cx="268224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00" b="0" i="1">
                <a:solidFill>
                  <a:srgbClr val="5B6773"/>
                </a:solidFill>
                <a:latin typeface="Calibri"/>
              </a:rPr>
              <a:t>frozen: 1 column(s), 0 row(s)</a:t>
            </a:r>
          </a:p>
        </p:txBody>
      </p:sp>
      <p:sp>
        <p:nvSpPr>
          <p:cNvPr id="13" name="setting"/>
          <p:cNvSpPr txBox="1"/>
          <p:nvPr/>
        </p:nvSpPr>
        <p:spPr>
          <a:xfrm>
            <a:off x="6096000" y="2535935"/>
            <a:ext cx="26822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0">
                <a:solidFill>
                  <a:srgbClr val="1F2933"/>
                </a:solidFill>
                <a:latin typeface="Courier New"/>
              </a:rPr>
              <a:t>freeze_panes = 'C2'</a:t>
            </a:r>
          </a:p>
        </p:txBody>
      </p:sp>
      <p:graphicFrame>
        <p:nvGraphicFramePr>
          <p:cNvPr id="14" name="sheet grid"/>
          <p:cNvGraphicFramePr>
            <a:graphicFrameLocks noGrp="1"/>
          </p:cNvGraphicFramePr>
          <p:nvPr/>
        </p:nvGraphicFramePr>
        <p:xfrm>
          <a:off x="6096000" y="2755392"/>
          <a:ext cx="2682237" cy="1005840"/>
        </p:xfrm>
        <a:graphic>
          <a:graphicData uri="http://schemas.openxmlformats.org/drawingml/2006/table">
            <a:tbl>
              <a:tblPr firstRow="0" bandRow="0"/>
              <a:tblGrid>
                <a:gridCol w="187133"/>
                <a:gridCol w="623776"/>
                <a:gridCol w="623776"/>
                <a:gridCol w="623776"/>
                <a:gridCol w="623776"/>
              </a:tblGrid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F29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15" name="visual note"/>
          <p:cNvSpPr txBox="1"/>
          <p:nvPr/>
        </p:nvSpPr>
        <p:spPr>
          <a:xfrm>
            <a:off x="6096000" y="3852671"/>
            <a:ext cx="2682240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00" b="0" i="1">
                <a:solidFill>
                  <a:srgbClr val="5B6773"/>
                </a:solidFill>
                <a:latin typeface="Calibri"/>
              </a:rPr>
              <a:t>frozen: 2 column(s), 1 row(s)</a:t>
            </a:r>
          </a:p>
        </p:txBody>
      </p:sp>
      <p:sp>
        <p:nvSpPr>
          <p:cNvPr id="16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The named cell is the first that scrolls.</a:t>
            </a:r>
          </a:p>
        </p:txBody>
      </p:sp>
      <p:sp>
        <p:nvSpPr>
          <p:cNvPr id="18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41 / 51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3000" b="1" i="0">
                <a:solidFill>
                  <a:srgbClr val="1F2933"/>
                </a:solidFill>
                <a:latin typeface="Calibri"/>
              </a:rPr>
              <a:t>Part 5: Charts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400" b="0" i="0">
                <a:solidFill>
                  <a:srgbClr val="5B6773"/>
                </a:solidFill>
                <a:latin typeface="Calibri"/>
              </a:rPr>
              <a:t>openpyxl writes the order; an application draws the chart</a:t>
            </a:r>
          </a:p>
        </p:txBody>
      </p:sp>
      <p:sp>
        <p:nvSpPr>
          <p:cNvPr id="4" name="rule"/>
          <p:cNvSpPr/>
          <p:nvPr/>
        </p:nvSpPr>
        <p:spPr>
          <a:xfrm>
            <a:off x="457200" y="1216152"/>
            <a:ext cx="1097280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417320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Reference</a:t>
            </a:r>
          </a:p>
        </p:txBody>
      </p:sp>
      <p:sp>
        <p:nvSpPr>
          <p:cNvPr id="6" name="meaning"/>
          <p:cNvSpPr txBox="1"/>
          <p:nvPr/>
        </p:nvSpPr>
        <p:spPr>
          <a:xfrm>
            <a:off x="2606040" y="1417320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Names the cells of the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75688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Series</a:t>
            </a:r>
          </a:p>
        </p:txBody>
      </p:sp>
      <p:sp>
        <p:nvSpPr>
          <p:cNvPr id="8" name="meaning"/>
          <p:cNvSpPr txBox="1"/>
          <p:nvPr/>
        </p:nvSpPr>
        <p:spPr>
          <a:xfrm>
            <a:off x="2606040" y="2075688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Wraps the cells with a title.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34056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BarChart</a:t>
            </a:r>
          </a:p>
        </p:txBody>
      </p:sp>
      <p:sp>
        <p:nvSpPr>
          <p:cNvPr id="10" name="meaning"/>
          <p:cNvSpPr txBox="1"/>
          <p:nvPr/>
        </p:nvSpPr>
        <p:spPr>
          <a:xfrm>
            <a:off x="2606040" y="2734056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The chart itself, with its bars.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92424"/>
            <a:ext cx="2011680" cy="457200"/>
          </a:xfrm>
          <a:prstGeom prst="roundRect">
            <a:avLst>
              <a:gd name="adj" fmla="val 30000"/>
            </a:avLst>
          </a:prstGeom>
          <a:solidFill>
            <a:srgbClr val="D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400" b="1" i="0">
                <a:solidFill>
                  <a:srgbClr val="1F2933"/>
                </a:solidFill>
                <a:latin typeface="Calibri"/>
              </a:rPr>
              <a:t>add_chart</a:t>
            </a:r>
          </a:p>
        </p:txBody>
      </p:sp>
      <p:sp>
        <p:nvSpPr>
          <p:cNvPr id="12" name="meaning"/>
          <p:cNvSpPr txBox="1"/>
          <p:nvPr/>
        </p:nvSpPr>
        <p:spPr>
          <a:xfrm>
            <a:off x="2606040" y="3392424"/>
            <a:ext cx="256032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Places the chart on the sheet.</a:t>
            </a:r>
          </a:p>
        </p:txBody>
      </p:sp>
      <p:graphicFrame>
        <p:nvGraphicFramePr>
          <p:cNvPr id="13" name="table"/>
          <p:cNvGraphicFramePr>
            <a:graphicFrameLocks noGrp="1"/>
          </p:cNvGraphicFramePr>
          <p:nvPr/>
        </p:nvGraphicFramePr>
        <p:xfrm>
          <a:off x="5303520" y="1417320"/>
          <a:ext cx="3474719" cy="1828800"/>
        </p:xfrm>
        <a:graphic>
          <a:graphicData uri="http://schemas.openxmlformats.org/drawingml/2006/table">
            <a:tbl>
              <a:tblPr firstRow="0" bandRow="0"/>
              <a:tblGrid>
                <a:gridCol w="507543"/>
                <a:gridCol w="2967176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Slide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In this part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43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Everyday pictures: charts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Charts: Reference, Series, BarChart and a...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Reference: columns come before rows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What a saved chart looks like inside the ...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14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42 / 51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Everyday pictures: charts</a:t>
            </a:r>
          </a:p>
        </p:txBody>
      </p:sp>
      <p:sp>
        <p:nvSpPr>
          <p:cNvPr id="4" name="card"/>
          <p:cNvSpPr/>
          <p:nvPr/>
        </p:nvSpPr>
        <p:spPr>
          <a:xfrm>
            <a:off x="365760" y="749808"/>
            <a:ext cx="8412480" cy="566928"/>
          </a:xfrm>
          <a:prstGeom prst="roundRect">
            <a:avLst>
              <a:gd name="adj" fmla="val 8000"/>
            </a:avLst>
          </a:prstGeom>
          <a:solidFill>
            <a:srgbClr val="F8E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nalogy"/>
          <p:cNvSpPr txBox="1"/>
          <p:nvPr/>
        </p:nvSpPr>
        <p:spPr>
          <a:xfrm>
            <a:off x="502920" y="758952"/>
            <a:ext cx="813816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400" b="1" i="0">
                <a:solidFill>
                  <a:srgbClr val="B7791F"/>
                </a:solidFill>
                <a:latin typeface="Calibri"/>
              </a:rPr>
              <a:t>ANALOGY  </a:t>
            </a:r>
            <a:r>
              <a:rPr sz="1400" b="0" i="0">
                <a:solidFill>
                  <a:srgbClr val="1F2933"/>
                </a:solidFill>
                <a:latin typeface="Calibri"/>
              </a:rPr>
              <a:t>A chart is a drawing order: openpyxl writes the order, and Excel or LibreOffice is the painter.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365760" y="1417320"/>
          <a:ext cx="8412480" cy="3108960"/>
        </p:xfrm>
        <a:graphic>
          <a:graphicData uri="http://schemas.openxmlformats.org/drawingml/2006/table">
            <a:tbl>
              <a:tblPr firstRow="0" bandRow="0"/>
              <a:tblGrid>
                <a:gridCol w="3566160"/>
                <a:gridCol w="4846320"/>
              </a:tblGrid>
              <a:tr h="3886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Chapter concept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Everyday picture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Charts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 wall painting commissioned from a painter who is not in the room.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chart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The painting itself, as the painter will draw it.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openpyxl.chart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The painter's catalogue of chart types.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Reference()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Pointing at the cells with a finger: from this corner to that corner.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Series()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 line of the data with its own label, ready to be drawn.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BarChart()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A blank frame for bars, hung on the wall.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F2933"/>
                          </a:solidFill>
                          <a:latin typeface="Calibri"/>
                        </a:rPr>
                        <a:t>add_chart()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F2933"/>
                          </a:solidFill>
                          <a:latin typeface="Calibri"/>
                        </a:rPr>
                        <a:t>Hanging the frame on the wall at a chosen spot.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43 / 51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Charts: Reference, Series, BarChart and add_chart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786384"/>
            <a:ext cx="4233672" cy="694944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openpyxl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from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chart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BarChart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Reference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Series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Workbook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active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i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range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11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'A%d'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%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i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i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*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i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4581144" y="786384"/>
            <a:ext cx="4197095" cy="694944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Ten squares in column A are the data of the chart.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527048"/>
            <a:ext cx="4233672" cy="694944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ref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Reference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7CC4FF"/>
                </a:solidFill>
                <a:latin typeface="Courier New"/>
              </a:rPr>
              <a:t>10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series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Series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ref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title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'First series'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chart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BarChart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chart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title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'My Chart'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4581144" y="1527048"/>
            <a:ext cx="4197095" cy="694944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Reference names the cells by their corners. Series wraps them with a title. BarChart is the chart itself.</a:t>
            </a:r>
          </a:p>
        </p:txBody>
      </p:sp>
      <p:sp>
        <p:nvSpPr>
          <p:cNvPr id="8" name="code"/>
          <p:cNvSpPr/>
          <p:nvPr/>
        </p:nvSpPr>
        <p:spPr>
          <a:xfrm>
            <a:off x="365760" y="2267712"/>
            <a:ext cx="4233672" cy="555498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chart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append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series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add_chart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chart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9BE3A8"/>
                </a:solidFill>
                <a:latin typeface="Courier New"/>
              </a:rPr>
              <a:t>'C2'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9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9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ref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len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_charts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9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9" name="explanation"/>
          <p:cNvSpPr txBox="1"/>
          <p:nvPr/>
        </p:nvSpPr>
        <p:spPr>
          <a:xfrm>
            <a:off x="4581144" y="2267712"/>
            <a:ext cx="4197095" cy="555498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append puts the series into the chart; add_chart places the chart on the sheet, its corner at C2.</a:t>
            </a:r>
          </a:p>
        </p:txBody>
      </p:sp>
      <p:sp>
        <p:nvSpPr>
          <p:cNvPr id="10" name="result label"/>
          <p:cNvSpPr txBox="1"/>
          <p:nvPr/>
        </p:nvSpPr>
        <p:spPr>
          <a:xfrm>
            <a:off x="365760" y="2896362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52394"/>
            <a:ext cx="42062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1">
                <a:solidFill>
                  <a:srgbClr val="5B6773"/>
                </a:solidFill>
                <a:latin typeface="Calibri"/>
              </a:rPr>
              <a:t>the chart the program asked for: My Chart, series 'First series'</a:t>
            </a:r>
          </a:p>
        </p:txBody>
      </p:sp>
      <p:graphicFrame>
        <p:nvGraphicFramePr>
          <p:cNvPr id="12" name="chart"/>
          <p:cNvGraphicFramePr>
            <a:graphicFrameLocks noGrp="1"/>
          </p:cNvGraphicFramePr>
          <p:nvPr/>
        </p:nvGraphicFramePr>
        <p:xfrm>
          <a:off x="365760" y="3353562"/>
          <a:ext cx="4879238" cy="1280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581497" y="3262122"/>
            <a:ext cx="3196742" cy="274320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 i="0">
                <a:solidFill>
                  <a:srgbClr val="1F2933"/>
                </a:solidFill>
                <a:latin typeface="Courier New"/>
              </a:rPr>
              <a:t>ref = 'Sheet'!$A$1:$A$10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1497" y="3627882"/>
            <a:ext cx="3196742" cy="274320"/>
          </a:xfrm>
          <a:prstGeom prst="roundRect">
            <a:avLst>
              <a:gd name="adj" fmla="val 15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1 chart on the sheet</a:t>
            </a:r>
          </a:p>
        </p:txBody>
      </p:sp>
      <p:sp>
        <p:nvSpPr>
          <p:cNvPr id="15" name="visual note"/>
          <p:cNvSpPr txBox="1"/>
          <p:nvPr/>
        </p:nvSpPr>
        <p:spPr>
          <a:xfrm>
            <a:off x="5581497" y="3993641"/>
            <a:ext cx="319674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50" b="0" i="1">
                <a:solidFill>
                  <a:srgbClr val="5B6773"/>
                </a:solidFill>
                <a:latin typeface="Calibri"/>
              </a:rPr>
              <a:t>Excel or LibreOffice draws the bars</a:t>
            </a:r>
          </a:p>
        </p:txBody>
      </p:sp>
      <p:sp>
        <p:nvSpPr>
          <p:cNvPr id="16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Reference, Series, BarChart, add_chart.</a:t>
            </a:r>
          </a:p>
        </p:txBody>
      </p:sp>
      <p:sp>
        <p:nvSpPr>
          <p:cNvPr id="18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44 / 51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Reference: columns come before rows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786384"/>
            <a:ext cx="4629911" cy="787907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openpyxl</a:t>
            </a:r>
          </a:p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from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chart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Reference</a:t>
            </a:r>
          </a:p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Workbook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active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4977384" y="786384"/>
            <a:ext cx="3800855" cy="787907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Reference needs a worksheet and four numbers, which name the corner cells of a block.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620011"/>
            <a:ext cx="4629911" cy="1004823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column_b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Reference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7CC4FF"/>
                </a:solidFill>
                <a:latin typeface="Courier New"/>
              </a:rPr>
              <a:t>2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7CC4FF"/>
                </a:solidFill>
                <a:latin typeface="Courier New"/>
              </a:rPr>
              <a:t>2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7CC4FF"/>
                </a:solidFill>
                <a:latin typeface="Courier New"/>
              </a:rPr>
              <a:t>10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row_2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Reference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7CC4FF"/>
                </a:solidFill>
                <a:latin typeface="Courier New"/>
              </a:rPr>
              <a:t>2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7CC4FF"/>
                </a:solidFill>
                <a:latin typeface="Courier New"/>
              </a:rPr>
              <a:t>10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7CC4FF"/>
                </a:solidFill>
                <a:latin typeface="Courier New"/>
              </a:rPr>
              <a:t>2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column_b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4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4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row_2</a:t>
            </a:r>
            <a:r>
              <a:rPr sz="14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4977384" y="1620011"/>
            <a:ext cx="3800855" cy="1004823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250" b="0" i="0">
                <a:solidFill>
                  <a:srgbClr val="1F2933"/>
                </a:solidFill>
                <a:latin typeface="Calibri"/>
              </a:rPr>
              <a:t>The order is min_col, min_row, max_col, max_row: column first. The chapter's text says row first, but its example hides the mistake because the block is square.</a:t>
            </a:r>
          </a:p>
        </p:txBody>
      </p:sp>
      <p:sp>
        <p:nvSpPr>
          <p:cNvPr id="8" name="result label"/>
          <p:cNvSpPr txBox="1"/>
          <p:nvPr/>
        </p:nvSpPr>
        <p:spPr>
          <a:xfrm>
            <a:off x="365760" y="2697988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graphicFrame>
        <p:nvGraphicFramePr>
          <p:cNvPr id="9" name="sheet grid"/>
          <p:cNvGraphicFramePr>
            <a:graphicFrameLocks noGrp="1"/>
          </p:cNvGraphicFramePr>
          <p:nvPr/>
        </p:nvGraphicFramePr>
        <p:xfrm>
          <a:off x="365760" y="2972307"/>
          <a:ext cx="5047484" cy="1280160"/>
        </p:xfrm>
        <a:graphic>
          <a:graphicData uri="http://schemas.openxmlformats.org/drawingml/2006/table">
            <a:tbl>
              <a:tblPr firstRow="0" bandRow="0"/>
              <a:tblGrid>
                <a:gridCol w="194134"/>
                <a:gridCol w="485335"/>
                <a:gridCol w="485335"/>
                <a:gridCol w="485335"/>
                <a:gridCol w="485335"/>
                <a:gridCol w="485335"/>
                <a:gridCol w="485335"/>
                <a:gridCol w="485335"/>
                <a:gridCol w="485335"/>
                <a:gridCol w="485335"/>
                <a:gridCol w="485335"/>
              </a:tblGrid>
              <a:tr h="182880"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Calibri"/>
                        </a:rPr>
                        <a:t>G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Calibri"/>
                        </a:rPr>
                        <a:t>H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Calibri"/>
                        </a:rPr>
                        <a:t>J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>
                          <a:solidFill>
                            <a:srgbClr val="1F293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>
                          <a:solidFill>
                            <a:srgbClr val="1F293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8E7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CF1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8E7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8E7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8E7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8E7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8E7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8E7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8E7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8E7C6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>
                          <a:solidFill>
                            <a:srgbClr val="1F293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>
                          <a:solidFill>
                            <a:srgbClr val="1F29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>
                          <a:solidFill>
                            <a:srgbClr val="1F293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ctr"/>
                      <a:r>
                        <a:rPr sz="700" b="1" i="0">
                          <a:solidFill>
                            <a:srgbClr val="1F293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D7EE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 i="0">
                          <a:solidFill>
                            <a:srgbClr val="1F2933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10" name="visual note"/>
          <p:cNvSpPr txBox="1"/>
          <p:nvPr/>
        </p:nvSpPr>
        <p:spPr>
          <a:xfrm>
            <a:off x="365760" y="4298187"/>
            <a:ext cx="5047488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00" b="0" i="1">
                <a:solidFill>
                  <a:srgbClr val="5B6773"/>
                </a:solidFill>
                <a:latin typeface="Calibri"/>
              </a:rPr>
              <a:t>rows 1 to 6 of 10 are drawn; column B goes on down to row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49747" y="3018027"/>
            <a:ext cx="3028492" cy="274320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 i="0">
                <a:solidFill>
                  <a:srgbClr val="1F2933"/>
                </a:solidFill>
                <a:latin typeface="Courier New"/>
              </a:rPr>
              <a:t>Reference(ws, 2, 1, 2, 10)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49747" y="3338067"/>
            <a:ext cx="3028492" cy="256032"/>
          </a:xfrm>
          <a:prstGeom prst="roundRect">
            <a:avLst>
              <a:gd name="adj" fmla="val 15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 i="0">
                <a:solidFill>
                  <a:srgbClr val="1F2933"/>
                </a:solidFill>
                <a:latin typeface="Courier New"/>
              </a:rPr>
              <a:t>'Sheet'!$B$1:$B$10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49747" y="3722115"/>
            <a:ext cx="3028492" cy="274320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 i="0">
                <a:solidFill>
                  <a:srgbClr val="1F2933"/>
                </a:solidFill>
                <a:latin typeface="Courier New"/>
              </a:rPr>
              <a:t>Reference(ws, 1, 2, 10, 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49747" y="4042156"/>
            <a:ext cx="3028492" cy="256032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0" i="0">
                <a:solidFill>
                  <a:srgbClr val="1F2933"/>
                </a:solidFill>
                <a:latin typeface="Courier New"/>
              </a:rPr>
              <a:t>'Sheet'!$A$2:$J$2</a:t>
            </a:r>
          </a:p>
        </p:txBody>
      </p:sp>
      <p:sp>
        <p:nvSpPr>
          <p:cNvPr id="15" name="visual note"/>
          <p:cNvSpPr txBox="1"/>
          <p:nvPr/>
        </p:nvSpPr>
        <p:spPr>
          <a:xfrm>
            <a:off x="5749747" y="4343908"/>
            <a:ext cx="3028492" cy="219456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900" b="0" i="1">
                <a:solidFill>
                  <a:srgbClr val="5B6773"/>
                </a:solidFill>
                <a:latin typeface="Calibri"/>
              </a:rPr>
              <a:t>min_col, min_row, max_col, max_row</a:t>
            </a:r>
          </a:p>
        </p:txBody>
      </p:sp>
      <p:sp>
        <p:nvSpPr>
          <p:cNvPr id="16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Reference: column first, then row.</a:t>
            </a:r>
          </a:p>
        </p:txBody>
      </p:sp>
      <p:sp>
        <p:nvSpPr>
          <p:cNvPr id="18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45 / 51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What a saved chart looks like inside the file</a:t>
            </a:r>
          </a:p>
        </p:txBody>
      </p:sp>
      <p:sp>
        <p:nvSpPr>
          <p:cNvPr id="4" name="code"/>
          <p:cNvSpPr/>
          <p:nvPr/>
        </p:nvSpPr>
        <p:spPr>
          <a:xfrm>
            <a:off x="365760" y="786384"/>
            <a:ext cx="5209032" cy="601980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io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zipfile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openpyxl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from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chart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import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BarChart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Reference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openpyxl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Workbook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active</a:t>
            </a:r>
          </a:p>
        </p:txBody>
      </p:sp>
      <p:sp>
        <p:nvSpPr>
          <p:cNvPr id="5" name="explanation"/>
          <p:cNvSpPr txBox="1"/>
          <p:nvPr/>
        </p:nvSpPr>
        <p:spPr>
          <a:xfrm>
            <a:off x="5556504" y="786384"/>
            <a:ext cx="3221735" cy="601980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A new sheet, and the two pieces of openpyxl that a chart needs.</a:t>
            </a:r>
          </a:p>
        </p:txBody>
      </p:sp>
      <p:sp>
        <p:nvSpPr>
          <p:cNvPr id="6" name="code"/>
          <p:cNvSpPr/>
          <p:nvPr/>
        </p:nvSpPr>
        <p:spPr>
          <a:xfrm>
            <a:off x="365760" y="1434084"/>
            <a:ext cx="5209032" cy="601980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v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7CC4FF"/>
                </a:solidFill>
                <a:latin typeface="Courier New"/>
              </a:rPr>
              <a:t>4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7CC4FF"/>
                </a:solidFill>
                <a:latin typeface="Courier New"/>
              </a:rPr>
              <a:t>9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: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append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v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chart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BarChart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;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chart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add_data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Reference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7CC4FF"/>
                </a:solidFill>
                <a:latin typeface="Courier New"/>
              </a:rPr>
              <a:t>1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7CC4FF"/>
                </a:solidFill>
                <a:latin typeface="Courier New"/>
              </a:rPr>
              <a:t>3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add_chart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chart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,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'C2'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7" name="explanation"/>
          <p:cNvSpPr txBox="1"/>
          <p:nvPr/>
        </p:nvSpPr>
        <p:spPr>
          <a:xfrm>
            <a:off x="5556504" y="1434084"/>
            <a:ext cx="3221735" cy="601980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A small chart of three values is added to the sheet.</a:t>
            </a:r>
          </a:p>
        </p:txBody>
      </p:sp>
      <p:sp>
        <p:nvSpPr>
          <p:cNvPr id="8" name="code"/>
          <p:cNvSpPr/>
          <p:nvPr/>
        </p:nvSpPr>
        <p:spPr>
          <a:xfrm>
            <a:off x="365760" y="2081784"/>
            <a:ext cx="5209032" cy="826516"/>
          </a:xfrm>
          <a:prstGeom prst="roundRect">
            <a:avLst>
              <a:gd name="adj" fmla="val 6000"/>
            </a:avLst>
          </a:prstGeom>
          <a:solidFill>
            <a:srgbClr val="1E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36576" bIns="36576"/>
          <a:lstStyle/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buf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io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BytesIO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;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ws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parent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save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buf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names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=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sorted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zipfile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ZipFile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buf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.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namelist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  <a:p>
            <a:pPr algn="l"/>
            <a:r>
              <a:rPr sz="1000" b="0" i="0">
                <a:solidFill>
                  <a:srgbClr val="8FA3B8"/>
                </a:solidFill>
                <a:latin typeface="Courier New"/>
              </a:rPr>
              <a:t>&gt;&gt;&gt;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print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(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[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n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for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n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names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if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'chart'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n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or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9BE3A8"/>
                </a:solidFill>
                <a:latin typeface="Courier New"/>
              </a:rPr>
              <a:t>'drawing'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C9A0FF"/>
                </a:solidFill>
                <a:latin typeface="Courier New"/>
              </a:rPr>
              <a:t>in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n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]</a:t>
            </a:r>
            <a:r>
              <a:rPr sz="1000" b="0" i="0">
                <a:solidFill>
                  <a:srgbClr val="E6EDF3"/>
                </a:solidFill>
                <a:latin typeface="Courier New"/>
              </a:rPr>
              <a:t>)</a:t>
            </a:r>
          </a:p>
        </p:txBody>
      </p:sp>
      <p:sp>
        <p:nvSpPr>
          <p:cNvPr id="9" name="explanation"/>
          <p:cNvSpPr txBox="1"/>
          <p:nvPr/>
        </p:nvSpPr>
        <p:spPr>
          <a:xfrm>
            <a:off x="5556504" y="2081784"/>
            <a:ext cx="3221735" cy="826516"/>
          </a:xfrm>
          <a:prstGeom prst="rect">
            <a:avLst/>
          </a:prstGeom>
          <a:noFill/>
        </p:spPr>
        <p:txBody>
          <a:bodyPr wrap="square" lIns="128016" rIns="128016" tIns="18288" bIns="18288" anchor="ctr">
            <a:spAutoFit/>
          </a:bodyPr>
          <a:lstStyle/>
          <a:p>
            <a:r>
              <a:rPr sz="1100" b="0" i="0">
                <a:solidFill>
                  <a:srgbClr val="1F2933"/>
                </a:solidFill>
                <a:latin typeface="Calibri"/>
              </a:rPr>
              <a:t>The saved file has a drawing part and a chart part of its own. openpyxl writes the XML that describes the chart; the application draws it.</a:t>
            </a:r>
          </a:p>
        </p:txBody>
      </p:sp>
      <p:sp>
        <p:nvSpPr>
          <p:cNvPr id="10" name="result label"/>
          <p:cNvSpPr txBox="1"/>
          <p:nvPr/>
        </p:nvSpPr>
        <p:spPr>
          <a:xfrm>
            <a:off x="365760" y="2981452"/>
            <a:ext cx="5486400" cy="237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100" b="1" i="0">
                <a:solidFill>
                  <a:srgbClr val="0E7C86"/>
                </a:solidFill>
                <a:latin typeface="Calibri"/>
              </a:rPr>
              <a:t>What the run printed (Python 3.13.16)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255771"/>
            <a:ext cx="2560319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ws.add_chart(chart)</a:t>
            </a:r>
          </a:p>
        </p:txBody>
      </p:sp>
      <p:cxnSp>
        <p:nvCxnSpPr>
          <p:cNvPr id="12" name="arrow"/>
          <p:cNvCxnSpPr/>
          <p:nvPr/>
        </p:nvCxnSpPr>
        <p:spPr>
          <a:xfrm>
            <a:off x="2944367" y="3484371"/>
            <a:ext cx="329184" cy="0"/>
          </a:xfrm>
          <a:prstGeom prst="line">
            <a:avLst/>
          </a:prstGeom>
          <a:ln w="1905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291839" y="3255771"/>
            <a:ext cx="2560319" cy="457200"/>
          </a:xfrm>
          <a:prstGeom prst="roundRect">
            <a:avLst>
              <a:gd name="adj" fmla="val 12000"/>
            </a:avLst>
          </a:prstGeom>
          <a:solidFill>
            <a:srgbClr val="D7EEF0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ws.parent.save(buf)</a:t>
            </a:r>
          </a:p>
        </p:txBody>
      </p:sp>
      <p:cxnSp>
        <p:nvCxnSpPr>
          <p:cNvPr id="14" name="arrow"/>
          <p:cNvCxnSpPr/>
          <p:nvPr/>
        </p:nvCxnSpPr>
        <p:spPr>
          <a:xfrm>
            <a:off x="5870447" y="3484371"/>
            <a:ext cx="329184" cy="0"/>
          </a:xfrm>
          <a:prstGeom prst="line">
            <a:avLst/>
          </a:prstGeom>
          <a:ln w="19050">
            <a:solidFill>
              <a:srgbClr val="5B67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17919" y="3255771"/>
            <a:ext cx="2560319" cy="457200"/>
          </a:xfrm>
          <a:prstGeom prst="roundRect">
            <a:avLst>
              <a:gd name="adj" fmla="val 12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ourier New"/>
              </a:rPr>
              <a:t>the zip holds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50132"/>
            <a:ext cx="4206240" cy="256032"/>
          </a:xfrm>
          <a:prstGeom prst="roundRect">
            <a:avLst>
              <a:gd name="adj" fmla="val 15000"/>
            </a:avLst>
          </a:prstGeom>
          <a:solidFill>
            <a:srgbClr val="F8E7C6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xl/charts/chart1.xml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51884"/>
            <a:ext cx="4206240" cy="2560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xl/drawings/_rels/drawing1.xml.rels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53636"/>
            <a:ext cx="4206240" cy="2560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50" b="0" i="0">
                <a:solidFill>
                  <a:srgbClr val="1F2933"/>
                </a:solidFill>
                <a:latin typeface="Courier New"/>
              </a:rPr>
              <a:t>xl/drawings/drawing1.xml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12080" y="3895852"/>
            <a:ext cx="3566159" cy="566928"/>
          </a:xfrm>
          <a:prstGeom prst="roundRect">
            <a:avLst>
              <a:gd name="adj" fmla="val 12000"/>
            </a:avLst>
          </a:prstGeom>
          <a:solidFill>
            <a:srgbClr val="DCF1E4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an application draws</a:t>
            </a:r>
          </a:p>
          <a:p>
            <a:pPr algn="ctr"/>
            <a:r>
              <a:rPr sz="1000" b="0" i="0">
                <a:solidFill>
                  <a:srgbClr val="1F2933"/>
                </a:solidFill>
                <a:latin typeface="Calibri"/>
              </a:rPr>
              <a:t>the bars from the XML</a:t>
            </a:r>
          </a:p>
        </p:txBody>
      </p:sp>
      <p:sp>
        <p:nvSpPr>
          <p:cNvPr id="20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A chart is XML; an application draws it.</a:t>
            </a:r>
          </a:p>
        </p:txBody>
      </p:sp>
      <p:sp>
        <p:nvSpPr>
          <p:cNvPr id="22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46 / 51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What openpyxl keeps, and what it does not do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051560" y="658368"/>
            <a:ext cx="7680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5B6773"/>
                </a:solidFill>
                <a:latin typeface="Calibri"/>
              </a:rPr>
              <a:t>From the chapter research; each answer has its code slide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457200" y="1097280"/>
          <a:ext cx="8229598" cy="2944368"/>
        </p:xfrm>
        <a:graphic>
          <a:graphicData uri="http://schemas.openxmlformats.org/drawingml/2006/table">
            <a:tbl>
              <a:tblPr firstRow="0" bandRow="0"/>
              <a:tblGrid>
                <a:gridCol w="2958957"/>
                <a:gridCol w="4438435"/>
                <a:gridCol w="832206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Answer of openpyxl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Calibri"/>
                        </a:rPr>
                        <a:t>See slide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F2933"/>
                          </a:solidFill>
                          <a:latin typeface="Calibri"/>
                        </a:rPr>
                        <a:t>Does it calculate a formula?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No: it stores the text; a spreadsheet program calculates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F2933"/>
                          </a:solidFill>
                          <a:latin typeface="Calibri"/>
                        </a:rPr>
                        <a:t>Does it keep the result of a formula?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Only if you read with data_only=True; a saved file loses it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F2933"/>
                          </a:solidFill>
                          <a:latin typeface="Calibri"/>
                        </a:rPr>
                        <a:t>Does looking at a cell change the file?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Yes: the cell, and the sheet's size, are created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F2933"/>
                          </a:solidFill>
                          <a:latin typeface="Calibri"/>
                        </a:rPr>
                        <a:t>Does insert_rows fix the formulas?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No: values and styles move, references do not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F2933"/>
                          </a:solidFill>
                          <a:latin typeface="Calibri"/>
                        </a:rPr>
                        <a:t>Does it draw a chart or a font?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No: it writes XML; an application draws it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50" b="1" i="0">
                          <a:solidFill>
                            <a:srgbClr val="1F2933"/>
                          </a:solidFill>
                          <a:latin typeface="Calibri"/>
                        </a:rPr>
                        <a:t>Is a file from outside safe to open?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Not against XML bombs; install defusedxml first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1F2933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Always: say which release you ran, keep the original file, and let an application calculate and draw.</a:t>
            </a:r>
          </a:p>
        </p:txBody>
      </p:sp>
      <p:sp>
        <p:nvSpPr>
          <p:cNvPr id="7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openpyxl keeps what was stored; it calculates and draws nothing.</a:t>
            </a:r>
          </a:p>
        </p:txBody>
      </p:sp>
      <p:sp>
        <p:nvSpPr>
          <p:cNvPr id="9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47 / 51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What differs from the book today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051560" y="658368"/>
            <a:ext cx="7680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5B6773"/>
                </a:solidFill>
                <a:latin typeface="Calibri"/>
              </a:rPr>
              <a:t>From the chapter research, checked on 12 October 2026</a:t>
            </a:r>
          </a:p>
        </p:txBody>
      </p:sp>
      <p:graphicFrame>
        <p:nvGraphicFramePr>
          <p:cNvPr id="5" name="table"/>
          <p:cNvGraphicFramePr>
            <a:graphicFrameLocks noGrp="1"/>
          </p:cNvGraphicFramePr>
          <p:nvPr/>
        </p:nvGraphicFramePr>
        <p:xfrm>
          <a:off x="457200" y="1005840"/>
          <a:ext cx="8229600" cy="3538728"/>
        </p:xfrm>
        <a:graphic>
          <a:graphicData uri="http://schemas.openxmlformats.org/drawingml/2006/table">
            <a:tbl>
              <a:tblPr firstRow="0" bandRow="0"/>
              <a:tblGrid>
                <a:gridCol w="3200400"/>
                <a:gridCol w="1463040"/>
                <a:gridCol w="3566160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What differs from the book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Version or date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What it means for the chapter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0E7C86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F2933"/>
                          </a:solidFill>
                          <a:latin typeface="Calibri"/>
                        </a:rPr>
                        <a:t>get_sheet_by_name warns; get_highest_row is gone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openpyxl 3.1.5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The online scripts stop: use wb[name] and max_row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F2933"/>
                          </a:solidFill>
                          <a:latin typeface="Calibri"/>
                        </a:rPr>
                        <a:t>Reference takes the column first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openpyxl 3.1.5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The chapter says row first; its example is square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F2933"/>
                          </a:solidFill>
                          <a:latin typeface="Calibri"/>
                        </a:rPr>
                        <a:t>A saved workbook has no formula results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openpyxl 3.1.5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Project 10 saves None for D2; open and save in an application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F2933"/>
                          </a:solidFill>
                          <a:latin typeface="Calibri"/>
                        </a:rPr>
                        <a:t>ROUND and round differ on exact halves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12 Oct 2026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629 of 23,757 rows of the real produce file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F2933"/>
                          </a:solidFill>
                          <a:latin typeface="Calibri"/>
                        </a:rPr>
                        <a:t>Font() keeps only what it is given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openpyxl 3.1.5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Calibri 11 holds only for cells never styled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F2933"/>
                          </a:solidFill>
                          <a:latin typeface="Calibri"/>
                        </a:rPr>
                        <a:t>Looking at a cell creates it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openpyxl 3.1.5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Project 9's loop can reach empty rows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F2933"/>
                          </a:solidFill>
                          <a:latin typeface="Calibri"/>
                        </a:rPr>
                        <a:t>The newest release is quiet but current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3.1.5, 28 Jun 2024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Runs the same on Python 3.12 to 3.14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1F2933"/>
                          </a:solidFill>
                          <a:latin typeface="Calibri"/>
                        </a:rPr>
                        <a:t>No guard against XML bombs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openpyxl documentation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1F2933"/>
                          </a:solidFill>
                          <a:latin typeface="Calibri"/>
                        </a:rPr>
                        <a:t>Install defusedxml before you open a foreign file</a:t>
                      </a:r>
                    </a:p>
                  </a:txBody>
                  <a:tcPr marL="54864" marR="54864" marT="18288" marB="18288" anchor="ctr">
                    <a:lnL w="6350">
                      <a:solidFill>
                        <a:srgbClr val="D9D2C3"/>
                      </a:solidFill>
                    </a:lnL>
                    <a:lnR w="6350">
                      <a:solidFill>
                        <a:srgbClr val="D9D2C3"/>
                      </a:solidFill>
                    </a:lnR>
                    <a:lnT w="6350">
                      <a:solidFill>
                        <a:srgbClr val="D9D2C3"/>
                      </a:solidFill>
                    </a:lnT>
                    <a:lnB w="6350">
                      <a:solidFill>
                        <a:srgbClr val="D9D2C3"/>
                      </a:solidFill>
                    </a:lnB>
                    <a:solidFill>
                      <a:srgbClr val="F5F0E4"/>
                    </a:solidFill>
                  </a:tcPr>
                </a:tc>
              </a:tr>
            </a:tbl>
          </a:graphicData>
        </a:graphic>
      </p:graphicFrame>
      <p:sp>
        <p:nvSpPr>
          <p:cNvPr id="6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Run what the book printed; then check what changed.</a:t>
            </a:r>
          </a:p>
        </p:txBody>
      </p:sp>
      <p:sp>
        <p:nvSpPr>
          <p:cNvPr id="8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48 / 51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Summary</a:t>
            </a:r>
          </a:p>
        </p:txBody>
      </p:sp>
      <p:sp>
        <p:nvSpPr>
          <p:cNvPr id="4" name="card"/>
          <p:cNvSpPr/>
          <p:nvPr/>
        </p:nvSpPr>
        <p:spPr>
          <a:xfrm>
            <a:off x="365760" y="749808"/>
            <a:ext cx="8412480" cy="457200"/>
          </a:xfrm>
          <a:prstGeom prst="roundRect">
            <a:avLst>
              <a:gd name="adj" fmla="val 8000"/>
            </a:avLst>
          </a:prstGeom>
          <a:solidFill>
            <a:srgbClr val="F8E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nalogy"/>
          <p:cNvSpPr txBox="1"/>
          <p:nvPr/>
        </p:nvSpPr>
        <p:spPr>
          <a:xfrm>
            <a:off x="502920" y="758952"/>
            <a:ext cx="8138160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B7791F"/>
                </a:solidFill>
                <a:latin typeface="Calibri"/>
              </a:rPr>
              <a:t>ANALOGY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A summary is a packing list: only what you really need goes into the bag.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08176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point"/>
          <p:cNvSpPr txBox="1"/>
          <p:nvPr/>
        </p:nvSpPr>
        <p:spPr>
          <a:xfrm>
            <a:off x="822960" y="1371600"/>
            <a:ext cx="4206240" cy="4754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50" b="0" i="0">
                <a:solidFill>
                  <a:srgbClr val="1F2933"/>
                </a:solidFill>
                <a:latin typeface="Calibri"/>
              </a:rPr>
              <a:t>An .xlsx file is a zip; a workbook holds sheets, a sheet holds cells.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975104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point"/>
          <p:cNvSpPr txBox="1"/>
          <p:nvPr/>
        </p:nvSpPr>
        <p:spPr>
          <a:xfrm>
            <a:off x="822960" y="1938528"/>
            <a:ext cx="4206240" cy="4754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50" b="0" i="0">
                <a:solidFill>
                  <a:srgbClr val="1F2933"/>
                </a:solidFill>
                <a:latin typeface="Calibri"/>
              </a:rPr>
              <a:t>Cells have names, numbers and data types; looking can create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542032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point"/>
          <p:cNvSpPr txBox="1"/>
          <p:nvPr/>
        </p:nvSpPr>
        <p:spPr>
          <a:xfrm>
            <a:off x="822960" y="2505456"/>
            <a:ext cx="4206240" cy="4754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50" b="0" i="0">
                <a:solidFill>
                  <a:srgbClr val="1F2933"/>
                </a:solidFill>
                <a:latin typeface="Calibri"/>
              </a:rPr>
              <a:t>A formula is text: a spreadsheet program calculates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108960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point"/>
          <p:cNvSpPr txBox="1"/>
          <p:nvPr/>
        </p:nvSpPr>
        <p:spPr>
          <a:xfrm>
            <a:off x="822960" y="3072384"/>
            <a:ext cx="4206240" cy="4754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50" b="0" i="0">
                <a:solidFill>
                  <a:srgbClr val="1F2933"/>
                </a:solidFill>
                <a:latin typeface="Calibri"/>
              </a:rPr>
              <a:t>Fonts, sizes, merges and frozen panes are objects and settings.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675887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point"/>
          <p:cNvSpPr txBox="1"/>
          <p:nvPr/>
        </p:nvSpPr>
        <p:spPr>
          <a:xfrm>
            <a:off x="822960" y="3639312"/>
            <a:ext cx="4206240" cy="47548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150" b="0" i="0">
                <a:solidFill>
                  <a:srgbClr val="1F2933"/>
                </a:solidFill>
                <a:latin typeface="Calibri"/>
              </a:rPr>
              <a:t>A chart is a drawing order that an application draws.</a:t>
            </a:r>
          </a:p>
        </p:txBody>
      </p:sp>
      <p:sp>
        <p:nvSpPr>
          <p:cNvPr id="16" name="chart label"/>
          <p:cNvSpPr txBox="1"/>
          <p:nvPr/>
        </p:nvSpPr>
        <p:spPr>
          <a:xfrm>
            <a:off x="5212080" y="1280160"/>
            <a:ext cx="35661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050" b="1" i="0">
                <a:solidFill>
                  <a:srgbClr val="0E7C86"/>
                </a:solidFill>
                <a:latin typeface="Calibri"/>
              </a:rPr>
              <a:t>code examples in each part of this deck</a:t>
            </a:r>
          </a:p>
        </p:txBody>
      </p:sp>
      <p:graphicFrame>
        <p:nvGraphicFramePr>
          <p:cNvPr id="17" name="chart"/>
          <p:cNvGraphicFramePr>
            <a:graphicFrameLocks noGrp="1"/>
          </p:cNvGraphicFramePr>
          <p:nvPr/>
        </p:nvGraphicFramePr>
        <p:xfrm>
          <a:off x="5120640" y="178308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8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A workbook is a binder: keep the original, and check what the application did.</a:t>
            </a:r>
          </a:p>
        </p:txBody>
      </p:sp>
      <p:sp>
        <p:nvSpPr>
          <p:cNvPr id="20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49 / 51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Practice Questions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051560" y="658368"/>
            <a:ext cx="7680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5B6773"/>
                </a:solidFill>
                <a:latin typeface="Calibri"/>
              </a:rPr>
              <a:t>Predict first, then run what you can on the chapter page</a:t>
            </a:r>
          </a:p>
        </p:txBody>
      </p:sp>
      <p:sp>
        <p:nvSpPr>
          <p:cNvPr id="5" name="card"/>
          <p:cNvSpPr/>
          <p:nvPr/>
        </p:nvSpPr>
        <p:spPr>
          <a:xfrm>
            <a:off x="365760" y="960120"/>
            <a:ext cx="8412480" cy="457200"/>
          </a:xfrm>
          <a:prstGeom prst="roundRect">
            <a:avLst>
              <a:gd name="adj" fmla="val 8000"/>
            </a:avLst>
          </a:prstGeom>
          <a:solidFill>
            <a:srgbClr val="F8E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nalogy"/>
          <p:cNvSpPr txBox="1"/>
          <p:nvPr/>
        </p:nvSpPr>
        <p:spPr>
          <a:xfrm>
            <a:off x="502920" y="969264"/>
            <a:ext cx="8138160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1" i="0">
                <a:solidFill>
                  <a:srgbClr val="B7791F"/>
                </a:solidFill>
                <a:latin typeface="Calibri"/>
              </a:rPr>
              <a:t>ANALOGY  </a:t>
            </a:r>
            <a:r>
              <a:rPr sz="1300" b="0" i="0">
                <a:solidFill>
                  <a:srgbClr val="1F2933"/>
                </a:solidFill>
                <a:latin typeface="Calibri"/>
              </a:rPr>
              <a:t>Practice questions are finger scales for a pianist; the practice programs are the small recital pieces.</a:t>
            </a:r>
          </a:p>
        </p:txBody>
      </p:sp>
      <p:sp>
        <p:nvSpPr>
          <p:cNvPr id="7" name="card"/>
          <p:cNvSpPr/>
          <p:nvPr/>
        </p:nvSpPr>
        <p:spPr>
          <a:xfrm>
            <a:off x="365760" y="1600200"/>
            <a:ext cx="84124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28216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question"/>
          <p:cNvSpPr txBox="1"/>
          <p:nvPr/>
        </p:nvSpPr>
        <p:spPr>
          <a:xfrm>
            <a:off x="1005840" y="1636776"/>
            <a:ext cx="768096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0" i="0">
                <a:solidFill>
                  <a:srgbClr val="1F2933"/>
                </a:solidFill>
                <a:latin typeface="Calibri"/>
              </a:rPr>
              <a:t>Which letters name column 703, and which number has the name ZZ? Use the code of the column-letters slide.</a:t>
            </a:r>
          </a:p>
        </p:txBody>
      </p:sp>
      <p:sp>
        <p:nvSpPr>
          <p:cNvPr id="10" name="card"/>
          <p:cNvSpPr/>
          <p:nvPr/>
        </p:nvSpPr>
        <p:spPr>
          <a:xfrm>
            <a:off x="365760" y="2331720"/>
            <a:ext cx="84124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459736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question"/>
          <p:cNvSpPr txBox="1"/>
          <p:nvPr/>
        </p:nvSpPr>
        <p:spPr>
          <a:xfrm>
            <a:off x="1005840" y="2368296"/>
            <a:ext cx="768096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0" i="0">
                <a:solidFill>
                  <a:srgbClr val="1F2933"/>
                </a:solidFill>
                <a:latin typeface="Calibri"/>
              </a:rPr>
              <a:t>A sheet holds =SUM(B1:B5) in B6. Two rows are inserted at row 3. Where is the formula, and what does it add?</a:t>
            </a:r>
          </a:p>
        </p:txBody>
      </p:sp>
      <p:sp>
        <p:nvSpPr>
          <p:cNvPr id="13" name="card"/>
          <p:cNvSpPr/>
          <p:nvPr/>
        </p:nvSpPr>
        <p:spPr>
          <a:xfrm>
            <a:off x="365760" y="3063240"/>
            <a:ext cx="84124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3191256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question"/>
          <p:cNvSpPr txBox="1"/>
          <p:nvPr/>
        </p:nvSpPr>
        <p:spPr>
          <a:xfrm>
            <a:off x="1005840" y="3099816"/>
            <a:ext cx="768096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0" i="0">
                <a:solidFill>
                  <a:srgbClr val="1F2933"/>
                </a:solidFill>
                <a:latin typeface="Calibri"/>
              </a:rPr>
              <a:t>What does Reference(ws, 3, 2, 3, 9) name? Write the range, then run it.</a:t>
            </a:r>
          </a:p>
        </p:txBody>
      </p:sp>
      <p:sp>
        <p:nvSpPr>
          <p:cNvPr id="16" name="card"/>
          <p:cNvSpPr/>
          <p:nvPr/>
        </p:nvSpPr>
        <p:spPr>
          <a:xfrm>
            <a:off x="365760" y="3794760"/>
            <a:ext cx="841248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3922776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question"/>
          <p:cNvSpPr txBox="1"/>
          <p:nvPr/>
        </p:nvSpPr>
        <p:spPr>
          <a:xfrm>
            <a:off x="1005840" y="3831336"/>
            <a:ext cx="768096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300" b="0" i="0">
                <a:solidFill>
                  <a:srgbClr val="1F2933"/>
                </a:solidFill>
                <a:latin typeface="Calibri"/>
              </a:rPr>
              <a:t>Practice program: write a Blank Row Inserter that also fixes the SUM of the last row.</a:t>
            </a:r>
          </a:p>
        </p:txBody>
      </p:sp>
      <p:sp>
        <p:nvSpPr>
          <p:cNvPr id="19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Each answer fits in a few lines you can run.</a:t>
            </a:r>
          </a:p>
        </p:txBody>
      </p:sp>
      <p:sp>
        <p:nvSpPr>
          <p:cNvPr id="21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50 / 51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ip"/>
          <p:cNvSpPr/>
          <p:nvPr/>
        </p:nvSpPr>
        <p:spPr>
          <a:xfrm>
            <a:off x="365760" y="256032"/>
            <a:ext cx="548640" cy="329184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  <a:latin typeface="Courier New"/>
              </a:rPr>
              <a:t>&gt;&gt;&gt;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1051560" y="164592"/>
            <a:ext cx="7680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2200" b="1" i="0">
                <a:solidFill>
                  <a:srgbClr val="1F2933"/>
                </a:solidFill>
                <a:latin typeface="Calibri"/>
              </a:rPr>
              <a:t>Resources: where to go next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051560" y="658368"/>
            <a:ext cx="768096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r>
              <a:rPr sz="1200" b="0" i="0">
                <a:solidFill>
                  <a:srgbClr val="5B6773"/>
                </a:solidFill>
                <a:latin typeface="Calibri"/>
              </a:rPr>
              <a:t>Reading and watching, chosen for this chapter; every link is live</a:t>
            </a:r>
          </a:p>
        </p:txBody>
      </p:sp>
      <p:sp>
        <p:nvSpPr>
          <p:cNvPr id="5" name="card"/>
          <p:cNvSpPr/>
          <p:nvPr/>
        </p:nvSpPr>
        <p:spPr>
          <a:xfrm>
            <a:off x="365760" y="100584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source"/>
          <p:cNvSpPr txBox="1"/>
          <p:nvPr/>
        </p:nvSpPr>
        <p:spPr>
          <a:xfrm>
            <a:off x="438912" y="1014984"/>
            <a:ext cx="3977639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50" b="1" i="0">
                <a:solidFill>
                  <a:srgbClr val="1F2933"/>
                </a:solidFill>
                <a:latin typeface="Calibri"/>
              </a:rPr>
              <a:t>Book: Automate the Boring Stuff, 3rd edition, chapter 14</a:t>
            </a:r>
          </a:p>
          <a:p>
            <a:r>
              <a:rPr sz="900" b="0" i="0">
                <a:solidFill>
                  <a:srgbClr val="0E7C86"/>
                </a:solidFill>
                <a:latin typeface="Calibri"/>
                <a:hlinkClick r:id="rId3"/>
              </a:rPr>
              <a:t>https://automatetheboringstuff.com/3e/chapter14.html</a:t>
            </a:r>
          </a:p>
        </p:txBody>
      </p:sp>
      <p:sp>
        <p:nvSpPr>
          <p:cNvPr id="7" name="card"/>
          <p:cNvSpPr/>
          <p:nvPr/>
        </p:nvSpPr>
        <p:spPr>
          <a:xfrm>
            <a:off x="365760" y="1527048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source"/>
          <p:cNvSpPr txBox="1"/>
          <p:nvPr/>
        </p:nvSpPr>
        <p:spPr>
          <a:xfrm>
            <a:off x="438912" y="1536192"/>
            <a:ext cx="3977639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50" b="1" i="0">
                <a:solidFill>
                  <a:srgbClr val="1F2933"/>
                </a:solidFill>
                <a:latin typeface="Calibri"/>
              </a:rPr>
              <a:t>openpyxl documentation: start page</a:t>
            </a:r>
          </a:p>
          <a:p>
            <a:r>
              <a:rPr sz="900" b="0" i="0">
                <a:solidFill>
                  <a:srgbClr val="0E7C86"/>
                </a:solidFill>
                <a:latin typeface="Calibri"/>
                <a:hlinkClick r:id="rId4"/>
              </a:rPr>
              <a:t>https://openpyxl.readthedocs.io/en/stable/</a:t>
            </a:r>
          </a:p>
        </p:txBody>
      </p:sp>
      <p:sp>
        <p:nvSpPr>
          <p:cNvPr id="9" name="card"/>
          <p:cNvSpPr/>
          <p:nvPr/>
        </p:nvSpPr>
        <p:spPr>
          <a:xfrm>
            <a:off x="365760" y="2048256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source"/>
          <p:cNvSpPr txBox="1"/>
          <p:nvPr/>
        </p:nvSpPr>
        <p:spPr>
          <a:xfrm>
            <a:off x="438912" y="2057400"/>
            <a:ext cx="3977639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50" b="1" i="0">
                <a:solidFill>
                  <a:srgbClr val="1F2933"/>
                </a:solidFill>
                <a:latin typeface="Calibri"/>
              </a:rPr>
              <a:t>openpyxl tutorial: workbooks, data_only, copy</a:t>
            </a:r>
          </a:p>
          <a:p>
            <a:r>
              <a:rPr sz="900" b="0" i="0">
                <a:solidFill>
                  <a:srgbClr val="0E7C86"/>
                </a:solidFill>
                <a:latin typeface="Calibri"/>
                <a:hlinkClick r:id="rId5"/>
              </a:rPr>
              <a:t>https://openpyxl.readthedocs.io/en/stable/tutorial.html</a:t>
            </a:r>
          </a:p>
        </p:txBody>
      </p:sp>
      <p:sp>
        <p:nvSpPr>
          <p:cNvPr id="11" name="card"/>
          <p:cNvSpPr/>
          <p:nvPr/>
        </p:nvSpPr>
        <p:spPr>
          <a:xfrm>
            <a:off x="365760" y="2569464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source"/>
          <p:cNvSpPr txBox="1"/>
          <p:nvPr/>
        </p:nvSpPr>
        <p:spPr>
          <a:xfrm>
            <a:off x="438912" y="2578608"/>
            <a:ext cx="3977639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50" b="1" i="0">
                <a:solidFill>
                  <a:srgbClr val="1F2933"/>
                </a:solidFill>
                <a:latin typeface="Calibri"/>
              </a:rPr>
              <a:t>openpyxl: working with styles</a:t>
            </a:r>
          </a:p>
          <a:p>
            <a:r>
              <a:rPr sz="900" b="0" i="0">
                <a:solidFill>
                  <a:srgbClr val="0E7C86"/>
                </a:solidFill>
                <a:latin typeface="Calibri"/>
                <a:hlinkClick r:id="rId6"/>
              </a:rPr>
              <a:t>https://openpyxl.readthedocs.io/en/stable/styles.html</a:t>
            </a:r>
          </a:p>
        </p:txBody>
      </p:sp>
      <p:sp>
        <p:nvSpPr>
          <p:cNvPr id="13" name="card"/>
          <p:cNvSpPr/>
          <p:nvPr/>
        </p:nvSpPr>
        <p:spPr>
          <a:xfrm>
            <a:off x="365760" y="3090672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source"/>
          <p:cNvSpPr txBox="1"/>
          <p:nvPr/>
        </p:nvSpPr>
        <p:spPr>
          <a:xfrm>
            <a:off x="438912" y="3099815"/>
            <a:ext cx="3977639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50" b="1" i="0">
                <a:solidFill>
                  <a:srgbClr val="1F2933"/>
                </a:solidFill>
                <a:latin typeface="Calibri"/>
              </a:rPr>
              <a:t>openpyxl: charts, introduction</a:t>
            </a:r>
          </a:p>
          <a:p>
            <a:r>
              <a:rPr sz="900" b="0" i="0">
                <a:solidFill>
                  <a:srgbClr val="0E7C86"/>
                </a:solidFill>
                <a:latin typeface="Calibri"/>
                <a:hlinkClick r:id="rId7"/>
              </a:rPr>
              <a:t>openpyxl.readthedocs.io</a:t>
            </a:r>
          </a:p>
        </p:txBody>
      </p:sp>
      <p:sp>
        <p:nvSpPr>
          <p:cNvPr id="15" name="card"/>
          <p:cNvSpPr/>
          <p:nvPr/>
        </p:nvSpPr>
        <p:spPr>
          <a:xfrm>
            <a:off x="365760" y="3611879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source"/>
          <p:cNvSpPr txBox="1"/>
          <p:nvPr/>
        </p:nvSpPr>
        <p:spPr>
          <a:xfrm>
            <a:off x="438912" y="3621023"/>
            <a:ext cx="3977639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50" b="1" i="0">
                <a:solidFill>
                  <a:srgbClr val="1F2933"/>
                </a:solidFill>
                <a:latin typeface="Calibri"/>
              </a:rPr>
              <a:t>openpyxl: optimised modes (read-only)</a:t>
            </a:r>
          </a:p>
          <a:p>
            <a:r>
              <a:rPr sz="900" b="0" i="0">
                <a:solidFill>
                  <a:srgbClr val="0E7C86"/>
                </a:solidFill>
                <a:latin typeface="Calibri"/>
                <a:hlinkClick r:id="rId8"/>
              </a:rPr>
              <a:t>https://openpyxl.readthedocs.io/en/stable/optimized.html</a:t>
            </a:r>
          </a:p>
        </p:txBody>
      </p:sp>
      <p:sp>
        <p:nvSpPr>
          <p:cNvPr id="17" name="card"/>
          <p:cNvSpPr/>
          <p:nvPr/>
        </p:nvSpPr>
        <p:spPr>
          <a:xfrm>
            <a:off x="365760" y="4133087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source"/>
          <p:cNvSpPr txBox="1"/>
          <p:nvPr/>
        </p:nvSpPr>
        <p:spPr>
          <a:xfrm>
            <a:off x="438912" y="4142231"/>
            <a:ext cx="3977639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50" b="1" i="0">
                <a:solidFill>
                  <a:srgbClr val="1F2933"/>
                </a:solidFill>
                <a:latin typeface="Calibri"/>
              </a:rPr>
              <a:t>openpyxl on the Python Package Index</a:t>
            </a:r>
          </a:p>
          <a:p>
            <a:r>
              <a:rPr sz="900" b="0" i="0">
                <a:solidFill>
                  <a:srgbClr val="0E7C86"/>
                </a:solidFill>
                <a:latin typeface="Calibri"/>
                <a:hlinkClick r:id="rId9"/>
              </a:rPr>
              <a:t>https://pypi.org/project/openpyxl/</a:t>
            </a:r>
          </a:p>
        </p:txBody>
      </p:sp>
      <p:sp>
        <p:nvSpPr>
          <p:cNvPr id="19" name="card"/>
          <p:cNvSpPr/>
          <p:nvPr/>
        </p:nvSpPr>
        <p:spPr>
          <a:xfrm>
            <a:off x="4663440" y="1005840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source"/>
          <p:cNvSpPr txBox="1"/>
          <p:nvPr/>
        </p:nvSpPr>
        <p:spPr>
          <a:xfrm>
            <a:off x="4736592" y="1014984"/>
            <a:ext cx="3977639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50" b="1" i="0">
                <a:solidFill>
                  <a:srgbClr val="1F2933"/>
                </a:solidFill>
                <a:latin typeface="Calibri"/>
              </a:rPr>
              <a:t>Python documentation: pprint</a:t>
            </a:r>
          </a:p>
          <a:p>
            <a:r>
              <a:rPr sz="900" b="0" i="0">
                <a:solidFill>
                  <a:srgbClr val="0E7C86"/>
                </a:solidFill>
                <a:latin typeface="Calibri"/>
                <a:hlinkClick r:id="rId10"/>
              </a:rPr>
              <a:t>https://docs.python.org/3/library/pprint.html</a:t>
            </a:r>
          </a:p>
        </p:txBody>
      </p:sp>
      <p:sp>
        <p:nvSpPr>
          <p:cNvPr id="21" name="card"/>
          <p:cNvSpPr/>
          <p:nvPr/>
        </p:nvSpPr>
        <p:spPr>
          <a:xfrm>
            <a:off x="4663440" y="1527048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source"/>
          <p:cNvSpPr txBox="1"/>
          <p:nvPr/>
        </p:nvSpPr>
        <p:spPr>
          <a:xfrm>
            <a:off x="4736592" y="1536192"/>
            <a:ext cx="3977639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50" b="1" i="0">
                <a:solidFill>
                  <a:srgbClr val="1F2933"/>
                </a:solidFill>
                <a:latin typeface="Calibri"/>
              </a:rPr>
              <a:t>Python documentation: decimal</a:t>
            </a:r>
          </a:p>
          <a:p>
            <a:r>
              <a:rPr sz="900" b="0" i="0">
                <a:solidFill>
                  <a:srgbClr val="0E7C86"/>
                </a:solidFill>
                <a:latin typeface="Calibri"/>
                <a:hlinkClick r:id="rId11"/>
              </a:rPr>
              <a:t>https://docs.python.org/3/library/decimal.html</a:t>
            </a:r>
          </a:p>
        </p:txBody>
      </p:sp>
      <p:sp>
        <p:nvSpPr>
          <p:cNvPr id="23" name="card"/>
          <p:cNvSpPr/>
          <p:nvPr/>
        </p:nvSpPr>
        <p:spPr>
          <a:xfrm>
            <a:off x="4663440" y="2048256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source"/>
          <p:cNvSpPr txBox="1"/>
          <p:nvPr/>
        </p:nvSpPr>
        <p:spPr>
          <a:xfrm>
            <a:off x="4736592" y="2057400"/>
            <a:ext cx="3977639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50" b="1" i="0">
                <a:solidFill>
                  <a:srgbClr val="1F2933"/>
                </a:solidFill>
                <a:latin typeface="Calibri"/>
              </a:rPr>
              <a:t>Python documentation: zipfile</a:t>
            </a:r>
          </a:p>
          <a:p>
            <a:r>
              <a:rPr sz="900" b="0" i="0">
                <a:solidFill>
                  <a:srgbClr val="0E7C86"/>
                </a:solidFill>
                <a:latin typeface="Calibri"/>
                <a:hlinkClick r:id="rId12"/>
              </a:rPr>
              <a:t>https://docs.python.org/3/library/zipfile.html</a:t>
            </a:r>
          </a:p>
        </p:txBody>
      </p:sp>
      <p:sp>
        <p:nvSpPr>
          <p:cNvPr id="25" name="card"/>
          <p:cNvSpPr/>
          <p:nvPr/>
        </p:nvSpPr>
        <p:spPr>
          <a:xfrm>
            <a:off x="4663440" y="2569464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source"/>
          <p:cNvSpPr txBox="1"/>
          <p:nvPr/>
        </p:nvSpPr>
        <p:spPr>
          <a:xfrm>
            <a:off x="4736592" y="2578608"/>
            <a:ext cx="3977639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50" b="1" i="0">
                <a:solidFill>
                  <a:srgbClr val="1F2933"/>
                </a:solidFill>
                <a:latin typeface="Calibri"/>
              </a:rPr>
              <a:t>Library of Congress: OOXML format family</a:t>
            </a:r>
          </a:p>
          <a:p>
            <a:r>
              <a:rPr sz="900" b="0" i="0">
                <a:solidFill>
                  <a:srgbClr val="0E7C86"/>
                </a:solidFill>
                <a:latin typeface="Calibri"/>
                <a:hlinkClick r:id="rId13"/>
              </a:rPr>
              <a:t>loc.gov</a:t>
            </a:r>
          </a:p>
        </p:txBody>
      </p:sp>
      <p:sp>
        <p:nvSpPr>
          <p:cNvPr id="27" name="card"/>
          <p:cNvSpPr/>
          <p:nvPr/>
        </p:nvSpPr>
        <p:spPr>
          <a:xfrm>
            <a:off x="4663440" y="3090672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source"/>
          <p:cNvSpPr txBox="1"/>
          <p:nvPr/>
        </p:nvSpPr>
        <p:spPr>
          <a:xfrm>
            <a:off x="4736592" y="3099815"/>
            <a:ext cx="3977639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50" b="1" i="0">
                <a:solidFill>
                  <a:srgbClr val="1F2933"/>
                </a:solidFill>
                <a:latin typeface="Calibri"/>
              </a:rPr>
              <a:t>Dan Bricklin: The Idea (VisiCalc history)</a:t>
            </a:r>
          </a:p>
          <a:p>
            <a:r>
              <a:rPr sz="900" b="0" i="0">
                <a:solidFill>
                  <a:srgbClr val="0E7C86"/>
                </a:solidFill>
                <a:latin typeface="Calibri"/>
                <a:hlinkClick r:id="rId14"/>
              </a:rPr>
              <a:t>http://www.bricklin.com/history/saiidea.htm</a:t>
            </a:r>
          </a:p>
        </p:txBody>
      </p:sp>
      <p:sp>
        <p:nvSpPr>
          <p:cNvPr id="29" name="card"/>
          <p:cNvSpPr/>
          <p:nvPr/>
        </p:nvSpPr>
        <p:spPr>
          <a:xfrm>
            <a:off x="4663440" y="3611879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source"/>
          <p:cNvSpPr txBox="1"/>
          <p:nvPr/>
        </p:nvSpPr>
        <p:spPr>
          <a:xfrm>
            <a:off x="4736592" y="3621023"/>
            <a:ext cx="3977639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50" b="1" i="0">
                <a:solidFill>
                  <a:srgbClr val="1F2933"/>
                </a:solidFill>
                <a:latin typeface="Calibri"/>
              </a:rPr>
              <a:t>Gene name errors are widespread (Genome Biology)</a:t>
            </a:r>
          </a:p>
          <a:p>
            <a:r>
              <a:rPr sz="900" b="0" i="0">
                <a:solidFill>
                  <a:srgbClr val="0E7C86"/>
                </a:solidFill>
                <a:latin typeface="Calibri"/>
                <a:hlinkClick r:id="rId15"/>
              </a:rPr>
              <a:t>genomebiology.biomedcentral.com</a:t>
            </a:r>
          </a:p>
        </p:txBody>
      </p:sp>
      <p:sp>
        <p:nvSpPr>
          <p:cNvPr id="31" name="card"/>
          <p:cNvSpPr/>
          <p:nvPr/>
        </p:nvSpPr>
        <p:spPr>
          <a:xfrm>
            <a:off x="4663440" y="4133087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2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source"/>
          <p:cNvSpPr txBox="1"/>
          <p:nvPr/>
        </p:nvSpPr>
        <p:spPr>
          <a:xfrm>
            <a:off x="4736592" y="4142231"/>
            <a:ext cx="3977639" cy="4389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050" b="1" i="0">
                <a:solidFill>
                  <a:srgbClr val="1F2933"/>
                </a:solidFill>
                <a:latin typeface="Calibri"/>
              </a:rPr>
              <a:t>defusedxml on the Python Package Index</a:t>
            </a:r>
          </a:p>
          <a:p>
            <a:r>
              <a:rPr sz="900" b="0" i="0">
                <a:solidFill>
                  <a:srgbClr val="0E7C86"/>
                </a:solidFill>
                <a:latin typeface="Calibri"/>
                <a:hlinkClick r:id="rId16"/>
              </a:rPr>
              <a:t>https://pypi.org/project/defusedxml/</a:t>
            </a:r>
          </a:p>
        </p:txBody>
      </p:sp>
      <p:sp>
        <p:nvSpPr>
          <p:cNvPr id="33" name="accent"/>
          <p:cNvSpPr/>
          <p:nvPr/>
        </p:nvSpPr>
        <p:spPr>
          <a:xfrm>
            <a:off x="365760" y="4773168"/>
            <a:ext cx="64008" cy="2743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akeaway"/>
          <p:cNvSpPr txBox="1"/>
          <p:nvPr/>
        </p:nvSpPr>
        <p:spPr>
          <a:xfrm>
            <a:off x="502920" y="4736592"/>
            <a:ext cx="7223760" cy="3291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r>
              <a:rPr sz="1200" b="0" i="1">
                <a:solidFill>
                  <a:srgbClr val="5B6773"/>
                </a:solidFill>
                <a:latin typeface="Calibri"/>
              </a:rPr>
              <a:t>Pick one link and read it before the next class.</a:t>
            </a:r>
          </a:p>
        </p:txBody>
      </p:sp>
      <p:sp>
        <p:nvSpPr>
          <p:cNvPr id="35" name="slide number"/>
          <p:cNvSpPr txBox="1"/>
          <p:nvPr/>
        </p:nvSpPr>
        <p:spPr>
          <a:xfrm>
            <a:off x="7863840" y="4754880"/>
            <a:ext cx="914400" cy="29260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100" b="0" i="0">
                <a:solidFill>
                  <a:srgbClr val="5B6773"/>
                </a:solidFill>
                <a:latin typeface="Calibri"/>
              </a:rPr>
              <a:t>51 / 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SEN0414 Chapter 14: Excel Spreadsheets (lecture deck 2.0.0)</dc:title>
  <dc:subject/>
  <dc:creator>Yusuf Altunel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