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names</c:v>
                </c:pt>
              </c:strCache>
            </c:strRef>
          </c:tx>
          <c:spPr>
            <a:solidFill>
              <a:srgbClr val="0E7C86"/>
            </a:solidFill>
          </c:spPr>
          <c:cat>
            <c:strRef>
              <c:f>Sheet1!$A$2:$A$3</c:f>
              <c:strCache>
                <c:ptCount val="2"/>
                <c:pt idx="0">
                  <c:v>ls</c:v>
                </c:pt>
                <c:pt idx="1">
                  <c:v>dir *.exe</c:v>
                </c:pt>
              </c:strCache>
            </c:strRef>
          </c:cat>
          <c:val>
            <c:numRef>
              <c:f>Sheet1!$B$2:$B$3</c:f>
              <c:numCache>
                <c:formatCode>General</c:formatCode>
                <c:ptCount val="2"/>
                <c:pt idx="0">
                  <c:v>3</c:v>
                </c:pt>
                <c:pt idx="1">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items</c:v>
                </c:pt>
              </c:strCache>
            </c:strRef>
          </c:tx>
          <c:spPr>
            <a:solidFill>
              <a:srgbClr val="0E7C86"/>
            </a:solidFill>
          </c:spPr>
          <c:cat>
            <c:strRef>
              <c:f>Sheet1!$A$2:$A$4</c:f>
              <c:strCache>
                <c:ptCount val="3"/>
                <c:pt idx="0">
                  <c:v>hello world</c:v>
                </c:pt>
                <c:pt idx="1">
                  <c:v>quoted</c:v>
                </c:pt>
                <c:pt idx="2">
                  <c:v>none</c:v>
                </c:pt>
              </c:strCache>
            </c:strRef>
          </c:cat>
          <c:val>
            <c:numRef>
              <c:f>Sheet1!$B$2:$B$4</c:f>
              <c:numCache>
                <c:formatCode>General</c:formatCode>
                <c:ptCount val="3"/>
                <c:pt idx="0">
                  <c:v>3</c:v>
                </c:pt>
                <c:pt idx="1">
                  <c:v>2</c:v>
                </c:pt>
                <c:pt idx="2">
                  <c:v>1</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800"/>
            </a:pPr>
          </a:p>
        </c:txPr>
        <c:crossAx val="-2068027336"/>
        <c:crosses val="autoZero"/>
        <c:majorUnit val="1.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density</c:v>
                </c:pt>
              </c:strCache>
            </c:strRef>
          </c:tx>
          <c:spPr>
            <a:solidFill>
              <a:srgbClr val="0E7C86"/>
            </a:solidFill>
          </c:spPr>
          <c:cat>
            <c:strRef>
              <c:f>Sheet1!$A$2:$A$3</c:f>
              <c:strCache>
                <c:ptCount val="2"/>
                <c:pt idx="0">
                  <c:v>default</c:v>
                </c:pt>
                <c:pt idx="1">
                  <c:v>20 -v</c:v>
                </c:pt>
              </c:strCache>
            </c:strRef>
          </c:cat>
          <c:val>
            <c:numRef>
              <c:f>Sheet1!$B$2:$B$3</c:f>
              <c:numCache>
                <c:formatCode>General</c:formatCode>
                <c:ptCount val="2"/>
                <c:pt idx="0">
                  <c:v>4</c:v>
                </c:pt>
                <c:pt idx="1">
                  <c:v>20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5.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lines</c:v>
                </c:pt>
              </c:strCache>
            </c:strRef>
          </c:tx>
          <c:spPr>
            <a:solidFill>
              <a:srgbClr val="0E7C86"/>
            </a:solidFill>
          </c:spPr>
          <c:cat>
            <c:strRef>
              <c:f>Sheet1!$A$2:$A$4</c:f>
              <c:strCache>
                <c:ptCount val="3"/>
                <c:pt idx="0">
                  <c:v>default</c:v>
                </c:pt>
                <c:pt idx="1">
                  <c:v>-v</c:v>
                </c:pt>
                <c:pt idx="2">
                  <c:v>-q</c:v>
                </c:pt>
              </c:strCache>
            </c:strRef>
          </c:cat>
          <c:val>
            <c:numRef>
              <c:f>Sheet1!$B$2:$B$4</c:f>
              <c:numCache>
                <c:formatCode>General</c:formatCode>
                <c:ptCount val="3"/>
                <c:pt idx="0">
                  <c:v>1</c:v>
                </c:pt>
                <c:pt idx="1">
                  <c:v>3</c:v>
                </c:pt>
                <c:pt idx="2">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flakes</c:v>
                </c:pt>
              </c:strCache>
            </c:strRef>
          </c:tx>
          <c:spPr>
            <a:solidFill>
              <a:srgbClr val="0E7C86"/>
            </a:solidFill>
          </c:spPr>
          <c:cat>
            <c:strRef>
              <c:f>Sheet1!$A$2:$A$6</c:f>
              <c:strCache>
                <c:ptCount val="5"/>
                <c:pt idx="0">
                  <c:v>row 1</c:v>
                </c:pt>
                <c:pt idx="1">
                  <c:v>row 2</c:v>
                </c:pt>
                <c:pt idx="2">
                  <c:v>row 3</c:v>
                </c:pt>
                <c:pt idx="3">
                  <c:v>row 4</c:v>
                </c:pt>
                <c:pt idx="4">
                  <c:v>row 5</c:v>
                </c:pt>
              </c:strCache>
            </c:strRef>
          </c:cat>
          <c:val>
            <c:numRef>
              <c:f>Sheet1!$B$2:$B$6</c:f>
              <c:numCache>
                <c:formatCode>General</c:formatCode>
                <c:ptCount val="5"/>
                <c:pt idx="0">
                  <c:v>12</c:v>
                </c:pt>
                <c:pt idx="1">
                  <c:v>6</c:v>
                </c:pt>
                <c:pt idx="2">
                  <c:v>7</c:v>
                </c:pt>
                <c:pt idx="3">
                  <c:v>5</c:v>
                </c:pt>
                <c:pt idx="4">
                  <c:v>8</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4.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count</c:v>
                </c:pt>
              </c:strCache>
            </c:strRef>
          </c:tx>
          <c:spPr>
            <a:solidFill>
              <a:srgbClr val="0E7C86"/>
            </a:solidFill>
          </c:spPr>
          <c:cat>
            <c:strRef>
              <c:f>Sheet1!$A$2:$A$3</c:f>
              <c:strCache>
                <c:ptCount val="2"/>
                <c:pt idx="0">
                  <c:v>reads</c:v>
                </c:pt>
                <c:pt idx="1">
                  <c:v>recorded</c:v>
                </c:pt>
              </c:strCache>
            </c:strRef>
          </c:cat>
          <c:val>
            <c:numRef>
              <c:f>Sheet1!$B$2:$B$3</c:f>
              <c:numCache>
                <c:formatCode>General</c:formatCode>
                <c:ptCount val="2"/>
                <c:pt idx="0">
                  <c:v>5</c:v>
                </c:pt>
                <c:pt idx="1">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megabytes</c:v>
                </c:pt>
              </c:strCache>
            </c:strRef>
          </c:tx>
          <c:spPr>
            <a:solidFill>
              <a:srgbClr val="0E7C86"/>
            </a:solidFill>
          </c:spPr>
          <c:cat>
            <c:strRef>
              <c:f>Sheet1!$A$2:$A$3</c:f>
              <c:strCache>
                <c:ptCount val="2"/>
                <c:pt idx="0">
                  <c:v>Measured on Ubuntu</c:v>
                </c:pt>
                <c:pt idx="1">
                  <c:v>The chapter's text (Windows)</c:v>
                </c:pt>
              </c:strCache>
            </c:strRef>
          </c:cat>
          <c:val>
            <c:numRef>
              <c:f>Sheet1!$B$2:$B$3</c:f>
              <c:numCache>
                <c:formatCode>General</c:formatCode>
                <c:ptCount val="2"/>
                <c:pt idx="0">
                  <c:v>12.95</c:v>
                </c:pt>
                <c:pt idx="1">
                  <c:v>8.0</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1100"/>
            </a:pPr>
          </a:p>
        </c:txPr>
        <c:crossAx val="-2113994440"/>
        <c:crosses val="autoZero"/>
        <c:auto val="1"/>
        <c:lblAlgn val="ctr"/>
        <c:lblOffset val="100"/>
        <c:noMultiLvlLbl val="0"/>
      </c:catAx>
      <c:valAx>
        <c:axId val="-2113994440"/>
        <c:scaling>
          <c:max val="16.0"/>
          <c:min val="0.0"/>
        </c:scaling>
        <c:delete val="0"/>
        <c:axPos val="b"/>
        <c:majorGridlines>
          <c:spPr>
            <a:ln>
              <a:solidFill>
                <a:srgbClr val="D9D2C3"/>
              </a:solidFill>
            </a:ln>
          </c:spPr>
        </c:majorGridlines>
        <c:majorTickMark val="out"/>
        <c:minorTickMark val="none"/>
        <c:tickLblPos val="nextTo"/>
        <c:spPr>
          <a:ln>
            <a:noFill/>
          </a:ln>
        </c:spPr>
        <c:txPr>
          <a:bodyPr/>
          <a:lstStyle/>
          <a:p>
            <a:pPr>
              <a:defRPr sz="1100"/>
            </a:pPr>
          </a:p>
        </c:txPr>
        <c:crossAx val="-2068027336"/>
        <c:crosses val="autoZero"/>
        <c:majorUnit val="4.0"/>
      </c:valAx>
    </c:plotArea>
    <c:dispBlanksAs val="gap"/>
  </c:chart>
  <c:txPr>
    <a:bodyPr/>
    <a:lstStyle/>
    <a:p>
      <a:pPr>
        <a:defRPr sz="11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4</c:v>
                </c:pt>
                <c:pt idx="1">
                  <c:v>3</c:v>
                </c:pt>
                <c:pt idx="2">
                  <c:v>5</c:v>
                </c:pt>
                <c:pt idx="3">
                  <c:v>4</c:v>
                </c:pt>
                <c:pt idx="4">
                  <c:v>7</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follows a typed command to a running program: the terminal, PATH, a virtual environment, the arguments, the look of the output, and the launcher. Every code slide shows the code, a plain explanation and the result drawn as a table, chart or diagram.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starting a program, isolating it, letting it read its surroundings, designing its text output, and deploying it.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How does a typed command become a running program, and how does the program learn what it was given? And which outputs and launchers of the book differ in current Python?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Programs have many names. The terminal finds a program by searching the folders of PATH, from left to right. Predict which folder wins before you read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drive-through is a good picture for the terminal: short orders, text answers. A command line program is a button on a vending machine. Ask students to add one more everyday picture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for nearly the same thing. A script is run from source by an interpreter. A command is a program you start from a terminal. Ask students which word fits their last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commands cd and pwd have Python twins: os.chdir and os.getcwd. We run them in a throw-away folder. Predict what pwd prints inside Desktop.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 and dir have one twin: os.listdir. The filter keeps names that end in dot exe, like dir star dot exe. Predict how many names each command shows.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is just text. The terminal splits it at the colons and tries the folders in order. A folder put first wins. Predict the number of folders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Shutil.which does the same walk the terminal does and returns the first hit. Who wins when two folders hold spam? And what does it return when nothing matches?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 virtual environment keeps one project's packages apart from the rest. pip installs into exactly the Python you name. Notice how little a venv really is: a folder and a file.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lunch box keeps your food apart from the shared kitchen, just as a virtual environment keeps your packages apart. Pip is the order form for new packages.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environment is a folder with a small settings file and three parts: bin, lib and pyvenv.cfg. Each line of the file is one setting, so a dictionary can read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Activate only changes PATH, for one terminal window. The test sys.prefix not equal to sys.base_prefix tells a program whether it runs inside an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 pins a version with two equals signs. Run pip as python dash m pip, so it installs into the Python you mean. Find_spec asks whether a module can be imported before you try.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Ian Bicking announced pyinstall on 24 September 2008 and renamed it pip a month later. PEP 405 then made virtual environments part of Python 3.3. The two commands of this part are his two ideas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program can ask about its system, its version and its file, and it can read the words after its name. argparse does that reading for you and refuses wrong input.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small ideas. The program checks its surroundings, reads the words it was given, lets argparse fill the form, and leaves a clear note when it must stop.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program can ask which family of system, which Python version and whether it came from a file. Dunder file is an absolute path since Python 3.9. Predict each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Catch ModuleNotFoundError and explain in your own words. Sys.exit with a text ends the program, prints the text to standard error and gives exit code 1. Here we catch it to show the value.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shell splits the line into words, and quotation marks keep two words together. Sys.argv holds the words, with the script name first. Predict the length of each list.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arguments multiply, declare them once with argparse. It converts types and fills in defaults. Predict the density for the second run.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that is not a number is refused by the int conversion. Argparse turns that into one clear message. In a terminal the exit code would be 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A text program is designed for being typed and read. Quiet by default, colour by escape code, block characters for pictures. The snowstorm puts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design in nine pictures. Notice that the pop-up and the sound are the two ways to interrupt a person. Use them only when you must.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Quiet by default is the Unix habit. The minus v switch asks for more and minus q for none. The bars show how many lines each mode prints.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Doug McIlroy proposed the pipe in 1964 and Ken Thompson built it in one night in 1973. The 1978 maxims say: do not clutter output. That is why a command is quiet by default. Ask: who reads your program's output?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Norton Commander shipped in 1986 with two panels drawn only with characters. The chapter's Figure 12-1 shows it. Our snowstorm is the same idea with block characters. Ask students what else a text screen could show.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Os.system hands a text to the shell. Cls on Windows, clear elsewhere. Chr turns a number into a character. The three block characters are the snow and the ground.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Bext sets colours with names, but the terminal receives escape codes: 30 to 37 for text, 40 to 47 for background. This stand-in builds the same codes. Zero resets.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these helpers are not in the standard library. Pymsgbox needs Tkinter, bext needs a terminal and playsound needs a sound system. That is why the page does not run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snowstorm decides cell by cell whether there is snow. The density comes from the argument. The book clears the screen and repeats the frame; we print one seeded frame and count the flakes.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 program becomes a command when a launcher sits in a PATH folder. We build the Ubuntu launcher, two small programs that touch the system, and a bundle with PyInstaller.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Deploying means reachable by name. Ccwd and the recorder are two tiny programs that touch the system. PyInstaller packs the interpreter along, so the file is large.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idea, three spellings. Windows uses a bat file and percent star. macOS and Linux use a shell script and dollar at in quotes. Forward the arguments, or the script never sees them.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launcher starts with the hash-bang line, activates the environment and runs the script with all its arguments. Three lines, three jobs.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Chmod u plus x is what makes the file a command: the owner gets the x bit. Which then finds it by its bare name on PATH.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Dennis Ritchie announced the hash-bang line by email on 10 January 1980. Our Ubuntu launcher starts with it. Ask students why the file needs no dot sh ending.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desktop file is a small settings file. Configparser reads it. The Exec line is the launcher, wrapped in a terminal window so that the user sees the output.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Os.chdir changes the folder of the running program only. The terminal that started it stays where it was. That is the chapter's point, and why ccwd copies the folder instead of moving there.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recorder polls again and again and prints only what changed. Control-C raises KeyboardInterrupt, which is not an Exception, so the except clause names it. It ends quietly.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Pyinstaller needs its capital letters and two dashes. Python dash m Pyinstaller dash dash onefile builds one executable. It leaves build, dist and a spec file.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Pyinstaller packs a copy of the interpreter with the script, so even Hello world is megabytes. The output belongs to one operating system and one Python version. Mail providers may block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practice program turns four old projects into commands. One template serves all. The only change per project is its name in the third line.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Dunder file is absolute since 3.9. No setuptools in new environments since 3.12. Python 3.13 adds a gitignore file. Python 3.14 colours argparse help. PEP 668 blocks pip in system Python.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in each part of this deck.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what you can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documentation, the two PEPs and the pip and PyInstaller manuals.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en.wikipedia.org/wiki/Pip_(package_manag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hyperlink" Target="https://en.wikipedia.org/wiki/Pipeline_(Unix)"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hyperlink" Target="https://en.wikipedia.org/wiki/Norton_Commande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chart" Target="../charts/char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hyperlink" Target="https://en.wikipedia.org/wiki/Shebang_(Unix)"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chart" Target="../charts/char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chart" Target="../charts/char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automatetheboringstuff.com/3e/chapter12.html" TargetMode="External"/><Relationship Id="rId4" Type="http://schemas.openxmlformats.org/officeDocument/2006/relationships/hyperlink" Target="https://docs.python.org/3/library/sys.html" TargetMode="External"/><Relationship Id="rId5" Type="http://schemas.openxmlformats.org/officeDocument/2006/relationships/hyperlink" Target="https://docs.python.org/3/library/os.html" TargetMode="External"/><Relationship Id="rId6" Type="http://schemas.openxmlformats.org/officeDocument/2006/relationships/hyperlink" Target="https://docs.python.org/3/library/argparse.html" TargetMode="External"/><Relationship Id="rId7" Type="http://schemas.openxmlformats.org/officeDocument/2006/relationships/hyperlink" Target="https://docs.python.org/3/library/venv.html" TargetMode="External"/><Relationship Id="rId8" Type="http://schemas.openxmlformats.org/officeDocument/2006/relationships/hyperlink" Target="https://docs.python.org/3/library/shutil.html" TargetMode="External"/><Relationship Id="rId9" Type="http://schemas.openxmlformats.org/officeDocument/2006/relationships/hyperlink" Target="https://peps.python.org/pep-0405/" TargetMode="External"/><Relationship Id="rId10" Type="http://schemas.openxmlformats.org/officeDocument/2006/relationships/hyperlink" Target="https://peps.python.org/pep-0668/" TargetMode="External"/><Relationship Id="rId11" Type="http://schemas.openxmlformats.org/officeDocument/2006/relationships/hyperlink" Target="https://pip.pypa.io/en/stable/user_guide/" TargetMode="External"/><Relationship Id="rId12" Type="http://schemas.openxmlformats.org/officeDocument/2006/relationships/hyperlink" Target="https://pyinstaller.org/en/stable/usage.html" TargetMode="External"/><Relationship Id="rId13" Type="http://schemas.openxmlformats.org/officeDocument/2006/relationships/hyperlink" Target="https://pypi.org/project/Bext/" TargetMode="External"/><Relationship Id="rId14" Type="http://schemas.openxmlformats.org/officeDocument/2006/relationships/hyperlink" Target="https://pypi.org/project/PyMsgBox/" TargetMode="External"/><Relationship Id="rId15" Type="http://schemas.openxmlformats.org/officeDocument/2006/relationships/hyperlink" Target="https://www.youtube.com/watch?v=tc4ROCJYbm0" TargetMode="External"/><Relationship Id="rId16" Type="http://schemas.openxmlformats.org/officeDocument/2006/relationships/hyperlink" Target="https://en.wikipedia.org/wiki/Pipeline_(Uni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Command Line Programs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12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23</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4</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23</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50" b="1" i="0">
                          <a:solidFill>
                            <a:srgbClr val="1F2933"/>
                          </a:solidFill>
                          <a:latin typeface="Calibri"/>
                        </a:rPr>
                        <a:t>Starting a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cd, pwd, ls as os calls; PATH and which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Isolating a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11 - 16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pyvenv.cfg, activate, pip pins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Programs that look around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17 - 23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os.name, version, sys.argv, argparse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Designing the terminal output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24 - 32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quiet mode, chr, escape codes, snowstorm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Deploying a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33 - 44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launcher, ccwd, recorder, PyInstaller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45 - 48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23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How does a typed command become a running program, and how does the program learn what it was given?</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9 to 23: PATH, the launcher, sys.argv and argparse.</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and launchers of the book differ in current Python or on a current system?</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45: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terminal searches PATH; the program reads its arguments.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Starting a program</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From a typed word to a running program: names, the terminal and PATH</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Program names</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Script, command and app name nearly the same thing.</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Terminal</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text window where you type short commands.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cd, pwd, ls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Move, show the place, and list what is there.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PATH</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list of folders searched, in order, for a program.</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starting a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 program by any other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terminal: cd and pwd as Python calls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terminal: ls and dir *.exe as Pyth...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PATH: a text of folders, searched in 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which: the first folder that holds the...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starting a program</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The terminal is a drive-through window: you say a short order and the kitchen answers in text.</a:t>
            </a:r>
          </a:p>
        </p:txBody>
      </p:sp>
      <p:graphicFrame>
        <p:nvGraphicFramePr>
          <p:cNvPr id="6" name="table"/>
          <p:cNvGraphicFramePr>
            <a:graphicFrameLocks noGrp="1"/>
          </p:cNvGraphicFramePr>
          <p:nvPr/>
        </p:nvGraphicFramePr>
        <p:xfrm>
          <a:off x="365760" y="1417320"/>
          <a:ext cx="8412480" cy="1828800"/>
        </p:xfrm>
        <a:graphic>
          <a:graphicData uri="http://schemas.openxmlformats.org/drawingml/2006/table">
            <a:tbl>
              <a:tblPr firstRow="0" bandRow="0"/>
              <a:tblGrid>
                <a:gridCol w="3291840"/>
                <a:gridCol w="512064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A Program by Any Other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One dish on many menus: dish, plate, course. Program, script and app name nearly the same 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Using the Terminal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Speaking into the drive-through speaker: short orders, and the answer comes back as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Command line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vending-machine button: you name the item and its options, and it does one job.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Program by Any Other Name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Seven words for nearly the same thing</a:t>
            </a:r>
          </a:p>
        </p:txBody>
      </p:sp>
      <p:sp>
        <p:nvSpPr>
          <p:cNvPr id="5" name="card"/>
          <p:cNvSpPr/>
          <p:nvPr/>
        </p:nvSpPr>
        <p:spPr>
          <a:xfrm>
            <a:off x="365760" y="100584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101498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One dish on many menus: dish, plate, course. The words differ by how the program is started.</a:t>
            </a:r>
          </a:p>
        </p:txBody>
      </p:sp>
      <p:graphicFrame>
        <p:nvGraphicFramePr>
          <p:cNvPr id="7" name="table"/>
          <p:cNvGraphicFramePr>
            <a:graphicFrameLocks noGrp="1"/>
          </p:cNvGraphicFramePr>
          <p:nvPr/>
        </p:nvGraphicFramePr>
        <p:xfrm>
          <a:off x="457200" y="1645920"/>
          <a:ext cx="8229600" cy="2926080"/>
        </p:xfrm>
        <a:graphic>
          <a:graphicData uri="http://schemas.openxmlformats.org/drawingml/2006/table">
            <a:tbl>
              <a:tblPr firstRow="0" bandRow="0"/>
              <a:tblGrid>
                <a:gridCol w="1554480"/>
                <a:gridCol w="4206240"/>
                <a:gridCol w="2468880"/>
              </a:tblGrid>
              <a:tr h="365760">
                <a:tc>
                  <a:txBody>
                    <a:bodyPr wrap="square"/>
                    <a:lstStyle/>
                    <a:p>
                      <a:r>
                        <a:rPr sz="1200" b="1" i="0">
                          <a:solidFill>
                            <a:srgbClr val="FFFFFF"/>
                          </a:solidFill>
                          <a:latin typeface="Calibri"/>
                        </a:rPr>
                        <a:t>Word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What it means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Starts how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00" b="1" i="0">
                          <a:solidFill>
                            <a:srgbClr val="1F2933"/>
                          </a:solidFill>
                          <a:latin typeface="Calibri"/>
                        </a:rPr>
                        <a:t>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Instructions a computer runs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ourier New"/>
                        </a:rPr>
                        <a:t>any of the ways below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alibri"/>
                        </a:rPr>
                        <a:t>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program an interpreter runs from its source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ourier New"/>
                        </a:rPr>
                        <a:t>python yourScript.py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alibri"/>
                        </a:rPr>
                        <a:t>command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program started from a terminal, set by arguments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ourier New"/>
                        </a:rPr>
                        <a:t>ls, dir, cd, cp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alibri"/>
                        </a:rPr>
                        <a:t>shell 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text file of terminal commands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ourier New"/>
                        </a:rPr>
                        <a:t>a launcher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alibri"/>
                        </a:rPr>
                        <a:t>application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program with a window of its 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ourier New"/>
                        </a:rPr>
                        <a:t>a double click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alibri"/>
                        </a:rPr>
                        <a:t>app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An application on a phone or tablet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ourier New"/>
                        </a:rPr>
                        <a:t>a tap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alibri"/>
                        </a:rPr>
                        <a:t>web app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program that runs on a server, used in a browser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ourier New"/>
                        </a:rPr>
                        <a:t>an address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script is run from source; a command is started from a terminal.</a:t>
            </a:r>
          </a:p>
        </p:txBody>
      </p:sp>
      <p:sp>
        <p:nvSpPr>
          <p:cNvPr id="1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terminal: cd and pwd as Python calls</a:t>
            </a:r>
          </a:p>
        </p:txBody>
      </p:sp>
      <p:sp>
        <p:nvSpPr>
          <p:cNvPr id="4" name="code"/>
          <p:cNvSpPr/>
          <p:nvPr/>
        </p:nvSpPr>
        <p:spPr>
          <a:xfrm>
            <a:off x="365760" y="786384"/>
            <a:ext cx="4614671" cy="98932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E6EDF3"/>
                </a:solidFill>
                <a:latin typeface="Courier New"/>
              </a:rPr>
              <a:t>start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getcwd</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with</a:t>
            </a:r>
            <a:r>
              <a:rPr sz="1100" b="0" i="0">
                <a:solidFill>
                  <a:srgbClr val="E6EDF3"/>
                </a:solidFill>
                <a:latin typeface="Courier New"/>
              </a:rPr>
              <a:t> </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TemporaryDirectory</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lab</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lab</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mkdir</a:t>
            </a:r>
            <a:r>
              <a:rPr sz="1100" b="0" i="0">
                <a:solidFill>
                  <a:srgbClr val="E6EDF3"/>
                </a:solidFill>
                <a:latin typeface="Courier New"/>
              </a:rPr>
              <a:t>(</a:t>
            </a:r>
            <a:r>
              <a:rPr sz="1100" b="0" i="0">
                <a:solidFill>
                  <a:srgbClr val="9BE3A8"/>
                </a:solidFill>
                <a:latin typeface="Courier New"/>
              </a:rPr>
              <a:t>'Desktop'</a:t>
            </a:r>
            <a:r>
              <a:rPr sz="1100" b="0" i="0">
                <a:solidFill>
                  <a:srgbClr val="E6EDF3"/>
                </a:solidFill>
                <a:latin typeface="Courier New"/>
              </a:rPr>
              <a:t>)</a:t>
            </a:r>
          </a:p>
        </p:txBody>
      </p:sp>
      <p:sp>
        <p:nvSpPr>
          <p:cNvPr id="5" name="explanation"/>
          <p:cNvSpPr txBox="1"/>
          <p:nvPr/>
        </p:nvSpPr>
        <p:spPr>
          <a:xfrm>
            <a:off x="4962144" y="786384"/>
            <a:ext cx="3816095" cy="989329"/>
          </a:xfrm>
          <a:prstGeom prst="rect">
            <a:avLst/>
          </a:prstGeom>
          <a:noFill/>
        </p:spPr>
        <p:txBody>
          <a:bodyPr wrap="square" lIns="128016" rIns="128016" tIns="18288" bIns="18288" anchor="ctr">
            <a:spAutoFit/>
          </a:bodyPr>
          <a:lstStyle/>
          <a:p>
            <a:r>
              <a:rPr sz="1200" b="0" i="0">
                <a:solidFill>
                  <a:srgbClr val="1F2933"/>
                </a:solidFill>
                <a:latin typeface="Calibri"/>
              </a:rPr>
              <a:t>Work in a throw-away folder, so nothing stays behind. os.mkdir makes a folder called Desktop.</a:t>
            </a:r>
          </a:p>
        </p:txBody>
      </p:sp>
      <p:sp>
        <p:nvSpPr>
          <p:cNvPr id="6" name="code"/>
          <p:cNvSpPr/>
          <p:nvPr/>
        </p:nvSpPr>
        <p:spPr>
          <a:xfrm>
            <a:off x="365760" y="1821434"/>
            <a:ext cx="461467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9BE3A8"/>
                </a:solidFill>
                <a:latin typeface="Courier New"/>
              </a:rPr>
              <a:t>'Desktop'</a:t>
            </a:r>
            <a:r>
              <a:rPr sz="1100" b="0" i="0">
                <a:solidFill>
                  <a:srgbClr val="E6EDF3"/>
                </a:solidFill>
                <a:latin typeface="Courier New"/>
              </a:rPr>
              <a:t>)</a:t>
            </a:r>
            <a:r>
              <a:rPr sz="1100" b="0" i="0">
                <a:solidFill>
                  <a:srgbClr val="E6EDF3"/>
                </a:solidFill>
                <a:latin typeface="Courier New"/>
              </a:rPr>
              <a:t>  </a:t>
            </a:r>
            <a:r>
              <a:rPr sz="1100" b="0" i="0">
                <a:solidFill>
                  <a:srgbClr val="8FA3B8"/>
                </a:solidFill>
                <a:latin typeface="Courier New"/>
              </a:rPr>
              <a:t># cd Desktop</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where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basename</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getcwd</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8FA3B8"/>
                </a:solidFill>
                <a:latin typeface="Courier New"/>
              </a:rPr>
              <a:t># pwd</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8FA3B8"/>
                </a:solidFill>
                <a:latin typeface="Courier New"/>
              </a:rPr>
              <a:t># cd ..</a:t>
            </a:r>
          </a:p>
        </p:txBody>
      </p:sp>
      <p:sp>
        <p:nvSpPr>
          <p:cNvPr id="7" name="explanation"/>
          <p:cNvSpPr txBox="1"/>
          <p:nvPr/>
        </p:nvSpPr>
        <p:spPr>
          <a:xfrm>
            <a:off x="4962144" y="1821434"/>
            <a:ext cx="3816095" cy="699516"/>
          </a:xfrm>
          <a:prstGeom prst="rect">
            <a:avLst/>
          </a:prstGeom>
          <a:noFill/>
        </p:spPr>
        <p:txBody>
          <a:bodyPr wrap="square" lIns="128016" rIns="128016" tIns="18288" bIns="18288" anchor="ctr">
            <a:spAutoFit/>
          </a:bodyPr>
          <a:lstStyle/>
          <a:p>
            <a:r>
              <a:rPr sz="1200" b="0" i="0">
                <a:solidFill>
                  <a:srgbClr val="1F2933"/>
                </a:solidFill>
                <a:latin typeface="Calibri"/>
              </a:rPr>
              <a:t>os.chdir is the cd command and os.getcwd is pwd. The program goes down into Desktop and back up.</a:t>
            </a:r>
          </a:p>
        </p:txBody>
      </p:sp>
      <p:sp>
        <p:nvSpPr>
          <p:cNvPr id="8" name="code"/>
          <p:cNvSpPr/>
          <p:nvPr/>
        </p:nvSpPr>
        <p:spPr>
          <a:xfrm>
            <a:off x="365760" y="2566670"/>
            <a:ext cx="461467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start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'pwd -&gt;'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where</a:t>
            </a:r>
            <a:r>
              <a:rPr sz="1100" b="0" i="0">
                <a:solidFill>
                  <a:srgbClr val="E6EDF3"/>
                </a:solidFill>
                <a:latin typeface="Courier New"/>
              </a:rPr>
              <a:t>)</a:t>
            </a:r>
          </a:p>
        </p:txBody>
      </p:sp>
      <p:sp>
        <p:nvSpPr>
          <p:cNvPr id="9" name="explanation"/>
          <p:cNvSpPr txBox="1"/>
          <p:nvPr/>
        </p:nvSpPr>
        <p:spPr>
          <a:xfrm>
            <a:off x="4962144" y="2566670"/>
            <a:ext cx="3816095" cy="509016"/>
          </a:xfrm>
          <a:prstGeom prst="rect">
            <a:avLst/>
          </a:prstGeom>
          <a:noFill/>
        </p:spPr>
        <p:txBody>
          <a:bodyPr wrap="square" lIns="128016" rIns="128016" tIns="18288" bIns="18288" anchor="ctr">
            <a:spAutoFit/>
          </a:bodyPr>
          <a:lstStyle/>
          <a:p>
            <a:r>
              <a:rPr sz="1200" b="0" i="0">
                <a:solidFill>
                  <a:srgbClr val="1F2933"/>
                </a:solidFill>
                <a:latin typeface="Calibri"/>
              </a:rPr>
              <a:t>Go back to the starting folder, then print what pwd showed inside Desktop.</a:t>
            </a:r>
          </a:p>
        </p:txBody>
      </p:sp>
      <p:sp>
        <p:nvSpPr>
          <p:cNvPr id="10" name="result label"/>
          <p:cNvSpPr txBox="1"/>
          <p:nvPr/>
        </p:nvSpPr>
        <p:spPr>
          <a:xfrm>
            <a:off x="365760" y="314883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23158"/>
          <a:ext cx="5215737" cy="1170432"/>
        </p:xfrm>
        <a:graphic>
          <a:graphicData uri="http://schemas.openxmlformats.org/drawingml/2006/table">
            <a:tbl>
              <a:tblPr firstRow="0" bandRow="0"/>
              <a:tblGrid>
                <a:gridCol w="1079118"/>
                <a:gridCol w="1798530"/>
                <a:gridCol w="2338089"/>
              </a:tblGrid>
              <a:tr h="292608">
                <a:tc>
                  <a:txBody>
                    <a:bodyPr wrap="square"/>
                    <a:lstStyle/>
                    <a:p>
                      <a:r>
                        <a:rPr sz="1050" b="1" i="0">
                          <a:solidFill>
                            <a:srgbClr val="FFFFFF"/>
                          </a:solidFill>
                          <a:latin typeface="Calibri"/>
                        </a:rPr>
                        <a:t>Terminal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Python 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it gave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50" b="0" i="0">
                          <a:solidFill>
                            <a:srgbClr val="1F2933"/>
                          </a:solidFill>
                          <a:latin typeface="Courier New"/>
                        </a:rPr>
                        <a:t>cd Desktop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os.chdir('Desktop')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moved down into the new 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ourier New"/>
                        </a:rPr>
                        <a:t>pwd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os.getcwd()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'Desktop'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50" b="0" i="0">
                          <a:solidFill>
                            <a:srgbClr val="1F2933"/>
                          </a:solidFill>
                          <a:latin typeface="Courier New"/>
                        </a:rPr>
                        <a:t>cd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os.chdir('..')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moved back up one 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TextBox 11"/>
          <p:cNvSpPr txBox="1"/>
          <p:nvPr/>
        </p:nvSpPr>
        <p:spPr>
          <a:xfrm>
            <a:off x="5917996" y="3404870"/>
            <a:ext cx="2860243" cy="201168"/>
          </a:xfrm>
          <a:prstGeom prst="rect">
            <a:avLst/>
          </a:prstGeom>
          <a:noFill/>
        </p:spPr>
        <p:txBody>
          <a:bodyPr wrap="square" lIns="45720" rIns="45720" tIns="27432" bIns="27432" anchor="t">
            <a:spAutoFit/>
          </a:bodyPr>
          <a:lstStyle/>
          <a:p>
            <a:r>
              <a:rPr sz="950" b="0" i="1">
                <a:solidFill>
                  <a:srgbClr val="5B6773"/>
                </a:solidFill>
                <a:latin typeface="Calibri"/>
              </a:rPr>
              <a:t>the walk, folder by folder</a:t>
            </a:r>
          </a:p>
        </p:txBody>
      </p:sp>
      <p:sp>
        <p:nvSpPr>
          <p:cNvPr id="13" name="Rounded Rectangle 12"/>
          <p:cNvSpPr/>
          <p:nvPr/>
        </p:nvSpPr>
        <p:spPr>
          <a:xfrm>
            <a:off x="5917996" y="3651758"/>
            <a:ext cx="77724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start</a:t>
            </a:r>
          </a:p>
        </p:txBody>
      </p:sp>
      <p:cxnSp>
        <p:nvCxnSpPr>
          <p:cNvPr id="14" name="arrow"/>
          <p:cNvCxnSpPr/>
          <p:nvPr/>
        </p:nvCxnSpPr>
        <p:spPr>
          <a:xfrm>
            <a:off x="6713524" y="3788918"/>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14692" y="3651758"/>
            <a:ext cx="77724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lab</a:t>
            </a:r>
          </a:p>
        </p:txBody>
      </p:sp>
      <p:cxnSp>
        <p:nvCxnSpPr>
          <p:cNvPr id="16" name="arrow"/>
          <p:cNvCxnSpPr/>
          <p:nvPr/>
        </p:nvCxnSpPr>
        <p:spPr>
          <a:xfrm>
            <a:off x="7710220" y="3788918"/>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11388" y="3651758"/>
            <a:ext cx="82296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Desktop</a:t>
            </a:r>
          </a:p>
        </p:txBody>
      </p:sp>
      <p:sp>
        <p:nvSpPr>
          <p:cNvPr id="18" name="TextBox 17"/>
          <p:cNvSpPr txBox="1"/>
          <p:nvPr/>
        </p:nvSpPr>
        <p:spPr>
          <a:xfrm>
            <a:off x="5917996" y="4063238"/>
            <a:ext cx="2860243" cy="457200"/>
          </a:xfrm>
          <a:prstGeom prst="rect">
            <a:avLst/>
          </a:prstGeom>
          <a:noFill/>
        </p:spPr>
        <p:txBody>
          <a:bodyPr wrap="square" lIns="45720" rIns="45720" tIns="27432" bIns="27432" anchor="t">
            <a:spAutoFit/>
          </a:bodyPr>
          <a:lstStyle/>
          <a:p>
            <a:r>
              <a:rPr sz="950" b="0" i="1">
                <a:solidFill>
                  <a:srgbClr val="5B6773"/>
                </a:solidFill>
                <a:latin typeface="Calibri"/>
              </a:rPr>
              <a:t>pwd printed 'Desktop'; the cleanup removed the lab.</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cd and pwd have twins in os.</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terminal: ls and dir *.exe as Python calls</a:t>
            </a:r>
          </a:p>
        </p:txBody>
      </p:sp>
      <p:sp>
        <p:nvSpPr>
          <p:cNvPr id="4" name="code"/>
          <p:cNvSpPr/>
          <p:nvPr/>
        </p:nvSpPr>
        <p:spPr>
          <a:xfrm>
            <a:off x="365760" y="786384"/>
            <a:ext cx="8412480" cy="78790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os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tempfile</a:t>
            </a:r>
          </a:p>
          <a:p>
            <a:pPr algn="l"/>
            <a:r>
              <a:rPr sz="1050" b="0" i="0">
                <a:solidFill>
                  <a:srgbClr val="8FA3B8"/>
                </a:solidFill>
                <a:latin typeface="Courier New"/>
              </a:rPr>
              <a:t>&gt;&gt;&gt; </a:t>
            </a:r>
            <a:r>
              <a:rPr sz="1050" b="0" i="0">
                <a:solidFill>
                  <a:srgbClr val="E6EDF3"/>
                </a:solidFill>
                <a:latin typeface="Courier New"/>
              </a:rPr>
              <a:t>with</a:t>
            </a:r>
            <a:r>
              <a:rPr sz="1050" b="0" i="0">
                <a:solidFill>
                  <a:srgbClr val="E6EDF3"/>
                </a:solidFill>
                <a:latin typeface="Courier New"/>
              </a:rPr>
              <a:t> </a:t>
            </a:r>
            <a:r>
              <a:rPr sz="1050" b="0" i="0">
                <a:solidFill>
                  <a:srgbClr val="E6EDF3"/>
                </a:solidFill>
                <a:latin typeface="Courier New"/>
              </a:rPr>
              <a:t>tempfile</a:t>
            </a:r>
            <a:r>
              <a:rPr sz="1050" b="0" i="0">
                <a:solidFill>
                  <a:srgbClr val="E6EDF3"/>
                </a:solidFill>
                <a:latin typeface="Courier New"/>
              </a:rPr>
              <a:t>.</a:t>
            </a:r>
            <a:r>
              <a:rPr sz="1050" b="0" i="0">
                <a:solidFill>
                  <a:srgbClr val="E6EDF3"/>
                </a:solidFill>
                <a:latin typeface="Courier New"/>
              </a:rPr>
              <a:t>TemporaryDirectory</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as</a:t>
            </a:r>
            <a:r>
              <a:rPr sz="1050" b="0" i="0">
                <a:solidFill>
                  <a:srgbClr val="E6EDF3"/>
                </a:solidFill>
                <a:latin typeface="Courier New"/>
              </a:rPr>
              <a:t> </a:t>
            </a:r>
            <a:r>
              <a:rPr sz="1050" b="0" i="0">
                <a:solidFill>
                  <a:srgbClr val="E6EDF3"/>
                </a:solidFill>
                <a:latin typeface="Courier New"/>
              </a:rPr>
              <a:t>lab</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name</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'spam.exe'</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'eggs.exe'</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'notes.txt'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open</a:t>
            </a:r>
            <a:r>
              <a:rPr sz="1050" b="0" i="0">
                <a:solidFill>
                  <a:srgbClr val="E6EDF3"/>
                </a:solidFill>
                <a:latin typeface="Courier New"/>
              </a:rPr>
              <a:t>(</a:t>
            </a:r>
            <a:r>
              <a:rPr sz="1050" b="0" i="0">
                <a:solidFill>
                  <a:srgbClr val="E6EDF3"/>
                </a:solidFill>
                <a:latin typeface="Courier New"/>
              </a:rPr>
              <a:t>os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join</a:t>
            </a:r>
            <a:r>
              <a:rPr sz="1050" b="0" i="0">
                <a:solidFill>
                  <a:srgbClr val="E6EDF3"/>
                </a:solidFill>
                <a:latin typeface="Courier New"/>
              </a:rPr>
              <a:t>(</a:t>
            </a:r>
            <a:r>
              <a:rPr sz="1050" b="0" i="0">
                <a:solidFill>
                  <a:srgbClr val="E6EDF3"/>
                </a:solidFill>
                <a:latin typeface="Courier New"/>
              </a:rPr>
              <a:t>lab</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'w'</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close</a:t>
            </a:r>
            <a:r>
              <a:rPr sz="1050" b="0" i="0">
                <a:solidFill>
                  <a:srgbClr val="E6EDF3"/>
                </a:solidFill>
                <a:latin typeface="Courier New"/>
              </a:rPr>
              <a:t>(</a:t>
            </a:r>
            <a:r>
              <a:rPr sz="1050" b="0" i="0">
                <a:solidFill>
                  <a:srgbClr val="E6EDF3"/>
                </a:solidFill>
                <a:latin typeface="Courier New"/>
              </a:rPr>
              <a:t>)</a:t>
            </a:r>
          </a:p>
        </p:txBody>
      </p:sp>
      <p:sp>
        <p:nvSpPr>
          <p:cNvPr id="5" name="explanation"/>
          <p:cNvSpPr txBox="1"/>
          <p:nvPr/>
        </p:nvSpPr>
        <p:spPr>
          <a:xfrm>
            <a:off x="365760" y="1583436"/>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Make three empty files in a throw-away folder: two programs and a note.</a:t>
            </a:r>
          </a:p>
        </p:txBody>
      </p:sp>
      <p:sp>
        <p:nvSpPr>
          <p:cNvPr id="6" name="code"/>
          <p:cNvSpPr/>
          <p:nvPr/>
        </p:nvSpPr>
        <p:spPr>
          <a:xfrm>
            <a:off x="365760" y="1938528"/>
            <a:ext cx="8412480" cy="78790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listing</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sorted</a:t>
            </a:r>
            <a:r>
              <a:rPr sz="1050" b="0" i="0">
                <a:solidFill>
                  <a:srgbClr val="E6EDF3"/>
                </a:solidFill>
                <a:latin typeface="Courier New"/>
              </a:rPr>
              <a:t>(</a:t>
            </a:r>
            <a:r>
              <a:rPr sz="1050" b="0" i="0">
                <a:solidFill>
                  <a:srgbClr val="E6EDF3"/>
                </a:solidFill>
                <a:latin typeface="Courier New"/>
              </a:rPr>
              <a:t>os</a:t>
            </a:r>
            <a:r>
              <a:rPr sz="1050" b="0" i="0">
                <a:solidFill>
                  <a:srgbClr val="E6EDF3"/>
                </a:solidFill>
                <a:latin typeface="Courier New"/>
              </a:rPr>
              <a:t>.</a:t>
            </a:r>
            <a:r>
              <a:rPr sz="1050" b="0" i="0">
                <a:solidFill>
                  <a:srgbClr val="E6EDF3"/>
                </a:solidFill>
                <a:latin typeface="Courier New"/>
              </a:rPr>
              <a:t>listdir</a:t>
            </a:r>
            <a:r>
              <a:rPr sz="1050" b="0" i="0">
                <a:solidFill>
                  <a:srgbClr val="E6EDF3"/>
                </a:solidFill>
                <a:latin typeface="Courier New"/>
              </a:rPr>
              <a:t>(</a:t>
            </a:r>
            <a:r>
              <a:rPr sz="1050" b="0" i="0">
                <a:solidFill>
                  <a:srgbClr val="E6EDF3"/>
                </a:solidFill>
                <a:latin typeface="Courier New"/>
              </a:rPr>
              <a:t>lab</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8FA3B8"/>
                </a:solidFill>
                <a:latin typeface="Courier New"/>
              </a:rPr>
              <a:t># ls</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programs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listing</a:t>
            </a:r>
            <a:r>
              <a:rPr sz="1050" b="0" i="0">
                <a:solidFill>
                  <a:srgbClr val="E6EDF3"/>
                </a:solidFill>
                <a:latin typeface="Courier New"/>
              </a:rPr>
              <a: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endswith</a:t>
            </a:r>
            <a:r>
              <a:rPr sz="1050" b="0" i="0">
                <a:solidFill>
                  <a:srgbClr val="E6EDF3"/>
                </a:solidFill>
                <a:latin typeface="Courier New"/>
              </a:rPr>
              <a:t>(</a:t>
            </a:r>
            <a:r>
              <a:rPr sz="1050" b="0" i="0">
                <a:solidFill>
                  <a:srgbClr val="9BE3A8"/>
                </a:solidFill>
                <a:latin typeface="Courier New"/>
              </a:rPr>
              <a:t>'.exe'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8FA3B8"/>
                </a:solidFill>
                <a:latin typeface="Courier New"/>
              </a:rPr>
              <a:t># dir *.exe</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'ls -&gt;'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listing</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'dir *.exe -&gt;'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programs</a:t>
            </a:r>
            <a:r>
              <a:rPr sz="1050" b="0" i="0">
                <a:solidFill>
                  <a:srgbClr val="E6EDF3"/>
                </a:solidFill>
                <a:latin typeface="Courier New"/>
              </a:rPr>
              <a:t>)</a:t>
            </a:r>
          </a:p>
        </p:txBody>
      </p:sp>
      <p:sp>
        <p:nvSpPr>
          <p:cNvPr id="7" name="explanation"/>
          <p:cNvSpPr txBox="1"/>
          <p:nvPr/>
        </p:nvSpPr>
        <p:spPr>
          <a:xfrm>
            <a:off x="365760" y="2735580"/>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os.listdir lists the names like ls. The filter keeps only the names ending in .exe, like dir *.exe.</a:t>
            </a:r>
          </a:p>
        </p:txBody>
      </p:sp>
      <p:sp>
        <p:nvSpPr>
          <p:cNvPr id="8" name="result label"/>
          <p:cNvSpPr txBox="1"/>
          <p:nvPr/>
        </p:nvSpPr>
        <p:spPr>
          <a:xfrm>
            <a:off x="365760" y="3308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582923"/>
          <a:ext cx="5720486" cy="932688"/>
        </p:xfrm>
        <a:graphic>
          <a:graphicData uri="http://schemas.openxmlformats.org/drawingml/2006/table">
            <a:tbl>
              <a:tblPr firstRow="0" bandRow="0"/>
              <a:tblGrid>
                <a:gridCol w="1014925"/>
                <a:gridCol w="1753052"/>
                <a:gridCol w="2952509"/>
              </a:tblGrid>
              <a:tr h="310896">
                <a:tc>
                  <a:txBody>
                    <a:bodyPr wrap="square"/>
                    <a:lstStyle/>
                    <a:p>
                      <a:r>
                        <a:rPr sz="1050" b="1" i="0">
                          <a:solidFill>
                            <a:srgbClr val="FFFFFF"/>
                          </a:solidFill>
                          <a:latin typeface="Calibri"/>
                        </a:rPr>
                        <a:t>Terminal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Names it showed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os.listdir(lab)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eggs.exe, notes.txt, spam.exe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dir *.exe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names ending in .exe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eggs.exe, spam.exe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TextBox 9"/>
          <p:cNvSpPr txBox="1"/>
          <p:nvPr/>
        </p:nvSpPr>
        <p:spPr>
          <a:xfrm>
            <a:off x="6338620" y="3564635"/>
            <a:ext cx="2439619" cy="201168"/>
          </a:xfrm>
          <a:prstGeom prst="rect">
            <a:avLst/>
          </a:prstGeom>
          <a:noFill/>
        </p:spPr>
        <p:txBody>
          <a:bodyPr wrap="square" lIns="45720" rIns="45720" tIns="27432" bIns="27432" anchor="t">
            <a:spAutoFit/>
          </a:bodyPr>
          <a:lstStyle/>
          <a:p>
            <a:r>
              <a:rPr sz="950" b="0" i="1">
                <a:solidFill>
                  <a:srgbClr val="5B6773"/>
                </a:solidFill>
                <a:latin typeface="Calibri"/>
              </a:rPr>
              <a:t>names each command shows</a:t>
            </a:r>
          </a:p>
        </p:txBody>
      </p:sp>
      <p:graphicFrame>
        <p:nvGraphicFramePr>
          <p:cNvPr id="11" name="chart"/>
          <p:cNvGraphicFramePr>
            <a:graphicFrameLocks noGrp="1"/>
          </p:cNvGraphicFramePr>
          <p:nvPr/>
        </p:nvGraphicFramePr>
        <p:xfrm>
          <a:off x="6338620" y="3765804"/>
          <a:ext cx="2439619" cy="1005840"/>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ls and dir have one twin: os.listdir.</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PATH: a text of folders, searched in order</a:t>
            </a:r>
          </a:p>
        </p:txBody>
      </p:sp>
      <p:sp>
        <p:nvSpPr>
          <p:cNvPr id="4" name="code"/>
          <p:cNvSpPr/>
          <p:nvPr/>
        </p:nvSpPr>
        <p:spPr>
          <a:xfrm>
            <a:off x="365760" y="786384"/>
            <a:ext cx="545287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'/home/al/bin:/usr/local/bin:/usr/bin:/bin'</a:t>
            </a:r>
          </a:p>
          <a:p>
            <a:pPr algn="l"/>
            <a:r>
              <a:rPr sz="1100" b="0" i="0">
                <a:solidFill>
                  <a:srgbClr val="8FA3B8"/>
                </a:solidFill>
                <a:latin typeface="Courier New"/>
              </a:rPr>
              <a:t>&gt;&gt;&gt; </a:t>
            </a:r>
            <a:r>
              <a:rPr sz="1100" b="0" i="0">
                <a:solidFill>
                  <a:srgbClr val="E6EDF3"/>
                </a:solidFill>
                <a:latin typeface="Courier New"/>
              </a:rPr>
              <a:t>folders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split</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p:txBody>
      </p:sp>
      <p:sp>
        <p:nvSpPr>
          <p:cNvPr id="5" name="explanation"/>
          <p:cNvSpPr txBox="1"/>
          <p:nvPr/>
        </p:nvSpPr>
        <p:spPr>
          <a:xfrm>
            <a:off x="5800344" y="786384"/>
            <a:ext cx="2977896" cy="699516"/>
          </a:xfrm>
          <a:prstGeom prst="rect">
            <a:avLst/>
          </a:prstGeom>
          <a:noFill/>
        </p:spPr>
        <p:txBody>
          <a:bodyPr wrap="square" lIns="128016" rIns="128016" tIns="18288" bIns="18288" anchor="ctr">
            <a:spAutoFit/>
          </a:bodyPr>
          <a:lstStyle/>
          <a:p>
            <a:r>
              <a:rPr sz="1200" b="0" i="0">
                <a:solidFill>
                  <a:srgbClr val="1F2933"/>
                </a:solidFill>
                <a:latin typeface="Calibri"/>
              </a:rPr>
              <a:t>PATH is one text of folders, separated by colons. split turns it into a list in search order.</a:t>
            </a:r>
          </a:p>
        </p:txBody>
      </p:sp>
      <p:sp>
        <p:nvSpPr>
          <p:cNvPr id="6" name="code"/>
          <p:cNvSpPr/>
          <p:nvPr/>
        </p:nvSpPr>
        <p:spPr>
          <a:xfrm>
            <a:off x="365760" y="1531620"/>
            <a:ext cx="545287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folders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'folders'</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'/usr/bin is number'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folders</a:t>
            </a:r>
            <a:r>
              <a:rPr sz="1100" b="0" i="0">
                <a:solidFill>
                  <a:srgbClr val="E6EDF3"/>
                </a:solidFill>
                <a:latin typeface="Courier New"/>
              </a:rPr>
              <a:t>.</a:t>
            </a:r>
            <a:r>
              <a:rPr sz="1100" b="0" i="0">
                <a:solidFill>
                  <a:srgbClr val="E6EDF3"/>
                </a:solidFill>
                <a:latin typeface="Courier New"/>
              </a:rPr>
              <a:t>index</a:t>
            </a:r>
            <a:r>
              <a:rPr sz="1100" b="0" i="0">
                <a:solidFill>
                  <a:srgbClr val="E6EDF3"/>
                </a:solidFill>
                <a:latin typeface="Courier New"/>
              </a:rPr>
              <a:t>(</a:t>
            </a:r>
            <a:r>
              <a:rPr sz="1100" b="0" i="0">
                <a:solidFill>
                  <a:srgbClr val="9BE3A8"/>
                </a:solidFill>
                <a:latin typeface="Courier New"/>
              </a:rPr>
              <a:t>'/usr/bin'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join</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'/home/al/Scripts'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folders</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800344" y="1531620"/>
            <a:ext cx="2977896" cy="890016"/>
          </a:xfrm>
          <a:prstGeom prst="rect">
            <a:avLst/>
          </a:prstGeom>
          <a:noFill/>
        </p:spPr>
        <p:txBody>
          <a:bodyPr wrap="square" lIns="128016" rIns="128016" tIns="18288" bIns="18288" anchor="ctr">
            <a:spAutoFit/>
          </a:bodyPr>
          <a:lstStyle/>
          <a:p>
            <a:r>
              <a:rPr sz="1200" b="0" i="0">
                <a:solidFill>
                  <a:srgbClr val="1F2933"/>
                </a:solidFill>
                <a:latin typeface="Calibri"/>
              </a:rPr>
              <a:t>The terminal tries the folders from left to right. A folder put first, like /home/al/Scripts, wins.</a:t>
            </a:r>
          </a:p>
        </p:txBody>
      </p:sp>
      <p:sp>
        <p:nvSpPr>
          <p:cNvPr id="8" name="result label"/>
          <p:cNvSpPr txBox="1"/>
          <p:nvPr/>
        </p:nvSpPr>
        <p:spPr>
          <a:xfrm>
            <a:off x="365760" y="24947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769108"/>
            <a:ext cx="5029200" cy="201168"/>
          </a:xfrm>
          <a:prstGeom prst="rect">
            <a:avLst/>
          </a:prstGeom>
          <a:noFill/>
        </p:spPr>
        <p:txBody>
          <a:bodyPr wrap="square" lIns="45720" rIns="45720" tIns="27432" bIns="27432" anchor="t">
            <a:spAutoFit/>
          </a:bodyPr>
          <a:lstStyle/>
          <a:p>
            <a:r>
              <a:rPr sz="1000" b="1" i="0">
                <a:solidFill>
                  <a:srgbClr val="0E7C86"/>
                </a:solidFill>
                <a:latin typeface="Calibri"/>
              </a:rPr>
              <a:t>PATH as it is  (searched from the left)</a:t>
            </a:r>
          </a:p>
        </p:txBody>
      </p:sp>
      <p:sp>
        <p:nvSpPr>
          <p:cNvPr id="10" name="Rounded Rectangle 9"/>
          <p:cNvSpPr/>
          <p:nvPr/>
        </p:nvSpPr>
        <p:spPr>
          <a:xfrm>
            <a:off x="365760" y="3006852"/>
            <a:ext cx="1828799"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1  /home/al/bin</a:t>
            </a:r>
          </a:p>
        </p:txBody>
      </p:sp>
      <p:cxnSp>
        <p:nvCxnSpPr>
          <p:cNvPr id="11" name="arrow"/>
          <p:cNvCxnSpPr/>
          <p:nvPr/>
        </p:nvCxnSpPr>
        <p:spPr>
          <a:xfrm>
            <a:off x="2199131" y="3144011"/>
            <a:ext cx="82296"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285999" y="3006852"/>
            <a:ext cx="1828799"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2  /usr/local/bin</a:t>
            </a:r>
          </a:p>
        </p:txBody>
      </p:sp>
      <p:cxnSp>
        <p:nvCxnSpPr>
          <p:cNvPr id="13" name="arrow"/>
          <p:cNvCxnSpPr/>
          <p:nvPr/>
        </p:nvCxnSpPr>
        <p:spPr>
          <a:xfrm>
            <a:off x="4119371" y="3144011"/>
            <a:ext cx="82296"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06240" y="3006852"/>
            <a:ext cx="1828799"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3  /usr/bin</a:t>
            </a:r>
          </a:p>
        </p:txBody>
      </p:sp>
      <p:cxnSp>
        <p:nvCxnSpPr>
          <p:cNvPr id="15" name="arrow"/>
          <p:cNvCxnSpPr/>
          <p:nvPr/>
        </p:nvCxnSpPr>
        <p:spPr>
          <a:xfrm>
            <a:off x="6039612" y="3144011"/>
            <a:ext cx="82295"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26479" y="3006852"/>
            <a:ext cx="1828799"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4  /bin</a:t>
            </a:r>
          </a:p>
        </p:txBody>
      </p:sp>
      <p:sp>
        <p:nvSpPr>
          <p:cNvPr id="17" name="TextBox 16"/>
          <p:cNvSpPr txBox="1"/>
          <p:nvPr/>
        </p:nvSpPr>
        <p:spPr>
          <a:xfrm>
            <a:off x="365760" y="3363468"/>
            <a:ext cx="5029200" cy="201168"/>
          </a:xfrm>
          <a:prstGeom prst="rect">
            <a:avLst/>
          </a:prstGeom>
          <a:noFill/>
        </p:spPr>
        <p:txBody>
          <a:bodyPr wrap="square" lIns="45720" rIns="45720" tIns="27432" bIns="27432" anchor="t">
            <a:spAutoFit/>
          </a:bodyPr>
          <a:lstStyle/>
          <a:p>
            <a:r>
              <a:rPr sz="1000" b="1" i="0">
                <a:solidFill>
                  <a:srgbClr val="0E7C86"/>
                </a:solidFill>
                <a:latin typeface="Calibri"/>
              </a:rPr>
              <a:t>with /home/al/Scripts put first  (searched from the left)</a:t>
            </a:r>
          </a:p>
        </p:txBody>
      </p:sp>
      <p:sp>
        <p:nvSpPr>
          <p:cNvPr id="18" name="Rounded Rectangle 17"/>
          <p:cNvSpPr/>
          <p:nvPr/>
        </p:nvSpPr>
        <p:spPr>
          <a:xfrm>
            <a:off x="365760" y="3601212"/>
            <a:ext cx="1828799"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1  /home/al/Scripts</a:t>
            </a:r>
          </a:p>
        </p:txBody>
      </p:sp>
      <p:cxnSp>
        <p:nvCxnSpPr>
          <p:cNvPr id="19" name="arrow"/>
          <p:cNvCxnSpPr/>
          <p:nvPr/>
        </p:nvCxnSpPr>
        <p:spPr>
          <a:xfrm>
            <a:off x="2199131" y="3738372"/>
            <a:ext cx="82296"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285999" y="3601212"/>
            <a:ext cx="1828799"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2  /home/al/bin</a:t>
            </a:r>
          </a:p>
        </p:txBody>
      </p:sp>
      <p:cxnSp>
        <p:nvCxnSpPr>
          <p:cNvPr id="21" name="arrow"/>
          <p:cNvCxnSpPr/>
          <p:nvPr/>
        </p:nvCxnSpPr>
        <p:spPr>
          <a:xfrm>
            <a:off x="4119371" y="3738372"/>
            <a:ext cx="82296"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06240" y="3601212"/>
            <a:ext cx="1828799"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3  /usr/local/bin</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PATH is text; the first folder with the name wins.</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which: the first folder that holds the program</a:t>
            </a:r>
          </a:p>
        </p:txBody>
      </p:sp>
      <p:sp>
        <p:nvSpPr>
          <p:cNvPr id="4" name="code"/>
          <p:cNvSpPr/>
          <p:nvPr/>
        </p:nvSpPr>
        <p:spPr>
          <a:xfrm>
            <a:off x="365760" y="786384"/>
            <a:ext cx="5513831"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TemporaryDirectory</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lab</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d</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mkdir</a:t>
            </a:r>
            <a:r>
              <a:rPr sz="1000" b="0" i="0">
                <a:solidFill>
                  <a:srgbClr val="E6EDF3"/>
                </a:solidFill>
                <a:latin typeface="Courier New"/>
              </a:rPr>
              <a:t>(</a:t>
            </a:r>
            <a:r>
              <a:rPr sz="1000" b="0" i="0">
                <a:solidFill>
                  <a:srgbClr val="E6EDF3"/>
                </a:solidFill>
                <a:latin typeface="Courier New"/>
              </a:rPr>
              <a:t>lab</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a:t>
            </a:r>
            <a:r>
              <a:rPr sz="1000" b="0" i="0">
                <a:solidFill>
                  <a:srgbClr val="E6EDF3"/>
                </a:solidFill>
                <a:latin typeface="Courier New"/>
              </a:rPr>
              <a:t>)</a:t>
            </a:r>
          </a:p>
        </p:txBody>
      </p:sp>
      <p:sp>
        <p:nvSpPr>
          <p:cNvPr id="5" name="explanation"/>
          <p:cNvSpPr txBox="1"/>
          <p:nvPr/>
        </p:nvSpPr>
        <p:spPr>
          <a:xfrm>
            <a:off x="5861304" y="786384"/>
            <a:ext cx="2916936" cy="756920"/>
          </a:xfrm>
          <a:prstGeom prst="rect">
            <a:avLst/>
          </a:prstGeom>
          <a:noFill/>
        </p:spPr>
        <p:txBody>
          <a:bodyPr wrap="square" lIns="128016" rIns="128016" tIns="18288" bIns="18288" anchor="ctr">
            <a:spAutoFit/>
          </a:bodyPr>
          <a:lstStyle/>
          <a:p>
            <a:r>
              <a:rPr sz="1100" b="0" i="0">
                <a:solidFill>
                  <a:srgbClr val="1F2933"/>
                </a:solidFill>
                <a:latin typeface="Calibri"/>
              </a:rPr>
              <a:t>Make two folders, a and b, inside a throw-away folder.</a:t>
            </a:r>
          </a:p>
        </p:txBody>
      </p:sp>
      <p:sp>
        <p:nvSpPr>
          <p:cNvPr id="6" name="code"/>
          <p:cNvSpPr/>
          <p:nvPr/>
        </p:nvSpPr>
        <p:spPr>
          <a:xfrm>
            <a:off x="365760" y="1589023"/>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prog</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lab</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'/spam'</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E6EDF3"/>
                </a:solidFill>
                <a:latin typeface="Courier New"/>
              </a:rPr>
              <a:t>prog</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close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chmod</a:t>
            </a:r>
            <a:r>
              <a:rPr sz="1000" b="0" i="0">
                <a:solidFill>
                  <a:srgbClr val="E6EDF3"/>
                </a:solidFill>
                <a:latin typeface="Courier New"/>
              </a:rPr>
              <a:t>(</a:t>
            </a:r>
            <a:r>
              <a:rPr sz="1000" b="0" i="0">
                <a:solidFill>
                  <a:srgbClr val="E6EDF3"/>
                </a:solidFill>
                <a:latin typeface="Courier New"/>
              </a:rPr>
              <a:t>prog</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0o744</a:t>
            </a:r>
            <a:r>
              <a:rPr sz="1000" b="0" i="0">
                <a:solidFill>
                  <a:srgbClr val="E6EDF3"/>
                </a:solidFill>
                <a:latin typeface="Courier New"/>
              </a:rPr>
              <a:t>)</a:t>
            </a:r>
          </a:p>
        </p:txBody>
      </p:sp>
      <p:sp>
        <p:nvSpPr>
          <p:cNvPr id="7" name="explanation"/>
          <p:cNvSpPr txBox="1"/>
          <p:nvPr/>
        </p:nvSpPr>
        <p:spPr>
          <a:xfrm>
            <a:off x="5861304" y="1589023"/>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Each folder gets a program called spam. chmod gives the owner the right to run it.</a:t>
            </a:r>
          </a:p>
        </p:txBody>
      </p:sp>
      <p:sp>
        <p:nvSpPr>
          <p:cNvPr id="8" name="code"/>
          <p:cNvSpPr/>
          <p:nvPr/>
        </p:nvSpPr>
        <p:spPr>
          <a:xfrm>
            <a:off x="365760" y="2286634"/>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lab</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lab</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where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relpath</a:t>
            </a:r>
            <a:r>
              <a:rPr sz="1000" b="0" i="0">
                <a:solidFill>
                  <a:srgbClr val="E6EDF3"/>
                </a:solidFill>
                <a:latin typeface="Courier New"/>
              </a:rPr>
              <a:t>(</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which</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lab</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'first spam is in'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where</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'eggs found:'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which</a:t>
            </a:r>
            <a:r>
              <a:rPr sz="1000" b="0" i="0">
                <a:solidFill>
                  <a:srgbClr val="E6EDF3"/>
                </a:solidFill>
                <a:latin typeface="Courier New"/>
              </a:rPr>
              <a:t>(</a:t>
            </a:r>
            <a:r>
              <a:rPr sz="1000" b="0" i="0">
                <a:solidFill>
                  <a:srgbClr val="9BE3A8"/>
                </a:solidFill>
                <a:latin typeface="Courier New"/>
              </a:rPr>
              <a:t>'eggs'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861304" y="2286634"/>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shutil.which does what the which command does: it walks the folders in order and returns the first match, or None.</a:t>
            </a:r>
          </a:p>
        </p:txBody>
      </p:sp>
      <p:sp>
        <p:nvSpPr>
          <p:cNvPr id="10" name="result label"/>
          <p:cNvSpPr txBox="1"/>
          <p:nvPr/>
        </p:nvSpPr>
        <p:spPr>
          <a:xfrm>
            <a:off x="365760" y="318630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TextBox 10"/>
          <p:cNvSpPr txBox="1"/>
          <p:nvPr/>
        </p:nvSpPr>
        <p:spPr>
          <a:xfrm>
            <a:off x="365760" y="3460622"/>
            <a:ext cx="5486400" cy="201168"/>
          </a:xfrm>
          <a:prstGeom prst="rect">
            <a:avLst/>
          </a:prstGeom>
          <a:noFill/>
        </p:spPr>
        <p:txBody>
          <a:bodyPr wrap="square" lIns="45720" rIns="45720" tIns="27432" bIns="27432" anchor="t">
            <a:spAutoFit/>
          </a:bodyPr>
          <a:lstStyle/>
          <a:p>
            <a:r>
              <a:rPr sz="1000" b="1" i="0">
                <a:solidFill>
                  <a:srgbClr val="0E7C86"/>
                </a:solidFill>
                <a:latin typeface="Calibri"/>
              </a:rPr>
              <a:t>shutil.which('spam', path='a:b') over the two lab folders</a:t>
            </a:r>
          </a:p>
        </p:txBody>
      </p:sp>
      <p:sp>
        <p:nvSpPr>
          <p:cNvPr id="12" name="Rounded Rectangle 11"/>
          <p:cNvSpPr/>
          <p:nvPr/>
        </p:nvSpPr>
        <p:spPr>
          <a:xfrm>
            <a:off x="365760" y="3734942"/>
            <a:ext cx="228600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  holds spam  (first)</a:t>
            </a:r>
          </a:p>
        </p:txBody>
      </p:sp>
      <p:cxnSp>
        <p:nvCxnSpPr>
          <p:cNvPr id="13" name="arrow"/>
          <p:cNvCxnSpPr/>
          <p:nvPr/>
        </p:nvCxnSpPr>
        <p:spPr>
          <a:xfrm>
            <a:off x="2697479" y="3881246"/>
            <a:ext cx="365761" cy="0"/>
          </a:xfrm>
          <a:prstGeom prst="line">
            <a:avLst/>
          </a:prstGeom>
          <a:ln w="1905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08960" y="3734942"/>
            <a:ext cx="237744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found: a/spam</a:t>
            </a:r>
          </a:p>
        </p:txBody>
      </p:sp>
      <p:sp>
        <p:nvSpPr>
          <p:cNvPr id="15" name="Rounded Rectangle 14"/>
          <p:cNvSpPr/>
          <p:nvPr/>
        </p:nvSpPr>
        <p:spPr>
          <a:xfrm>
            <a:off x="365760" y="4118990"/>
            <a:ext cx="228600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b  holds spam  (never reached)</a:t>
            </a:r>
          </a:p>
        </p:txBody>
      </p:sp>
      <p:sp>
        <p:nvSpPr>
          <p:cNvPr id="16" name="Rounded Rectangle 15"/>
          <p:cNvSpPr/>
          <p:nvPr/>
        </p:nvSpPr>
        <p:spPr>
          <a:xfrm>
            <a:off x="5760720" y="3734942"/>
            <a:ext cx="292608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which('eggs') -&gt; None</a:t>
            </a:r>
          </a:p>
        </p:txBody>
      </p:sp>
      <p:sp>
        <p:nvSpPr>
          <p:cNvPr id="17" name="TextBox 16"/>
          <p:cNvSpPr txBox="1"/>
          <p:nvPr/>
        </p:nvSpPr>
        <p:spPr>
          <a:xfrm>
            <a:off x="5760720" y="4118990"/>
            <a:ext cx="2926080" cy="457200"/>
          </a:xfrm>
          <a:prstGeom prst="rect">
            <a:avLst/>
          </a:prstGeom>
          <a:noFill/>
        </p:spPr>
        <p:txBody>
          <a:bodyPr wrap="square" lIns="45720" rIns="45720" tIns="27432" bIns="27432" anchor="t">
            <a:spAutoFit/>
          </a:bodyPr>
          <a:lstStyle/>
          <a:p>
            <a:r>
              <a:rPr sz="950" b="0" i="1">
                <a:solidFill>
                  <a:srgbClr val="5B6773"/>
                </a:solidFill>
                <a:latin typeface="Calibri"/>
              </a:rPr>
              <a:t>None means: no folder of the path holds it</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shutil.which walks PATH like the terminal.</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Isolating a program</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virtual environment keeps one project's packages apart; pip fills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Virtual environment</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folder that keeps one project's packages apart.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activate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Puts the environment's folder first on PATH.</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pip</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Installs packages into exactly the Python you name.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Version pin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Two equals signs fix the version that is installed.</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environments and pa...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Virtual environments: a folder and a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activate puts the environment first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pip: pin a version, find a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pip began as pyinstall, Septemb...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environments and packages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virtual environment is a lunch box with its own compartments: what you pack stays apart from the shared kitchen.</a:t>
            </a:r>
          </a:p>
        </p:txBody>
      </p:sp>
      <p:graphicFrame>
        <p:nvGraphicFramePr>
          <p:cNvPr id="6" name="table"/>
          <p:cNvGraphicFramePr>
            <a:graphicFrameLocks noGrp="1"/>
          </p:cNvGraphicFramePr>
          <p:nvPr/>
        </p:nvGraphicFramePr>
        <p:xfrm>
          <a:off x="365760" y="1417320"/>
          <a:ext cx="8412480" cy="1371600"/>
        </p:xfrm>
        <a:graphic>
          <a:graphicData uri="http://schemas.openxmlformats.org/drawingml/2006/table">
            <a:tbl>
              <a:tblPr firstRow="0" bandRow="0"/>
              <a:tblGrid>
                <a:gridCol w="3291840"/>
                <a:gridCol w="512064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Virtual Environments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lunch box: your own compartments, so the shared kitchen stays untouched.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Installing Python Packages with pip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An order form at the library: name the book and its edition, and it arrives on your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Virtual environments: a folder and a settings file</a:t>
            </a:r>
          </a:p>
        </p:txBody>
      </p:sp>
      <p:sp>
        <p:nvSpPr>
          <p:cNvPr id="4" name="code"/>
          <p:cNvSpPr/>
          <p:nvPr/>
        </p:nvSpPr>
        <p:spPr>
          <a:xfrm>
            <a:off x="365760" y="786384"/>
            <a:ext cx="8412480" cy="78790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cfg</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'home = /usr/bin\ninclude-system-site-packages = false'</a:t>
            </a:r>
          </a:p>
          <a:p>
            <a:pPr algn="l"/>
            <a:r>
              <a:rPr sz="1400" b="0" i="0">
                <a:solidFill>
                  <a:srgbClr val="8FA3B8"/>
                </a:solidFill>
                <a:latin typeface="Courier New"/>
              </a:rPr>
              <a:t>&gt;&gt;&gt; </a:t>
            </a:r>
            <a:r>
              <a:rPr sz="1400" b="0" i="0">
                <a:solidFill>
                  <a:srgbClr val="E6EDF3"/>
                </a:solidFill>
                <a:latin typeface="Courier New"/>
              </a:rPr>
              <a:t>settings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dict</a:t>
            </a:r>
            <a:r>
              <a:rPr sz="1400" b="0" i="0">
                <a:solidFill>
                  <a:srgbClr val="E6EDF3"/>
                </a:solidFill>
                <a:latin typeface="Courier New"/>
              </a:rPr>
              <a:t>(</a:t>
            </a:r>
            <a:r>
              <a:rPr sz="1400" b="0" i="0">
                <a:solidFill>
                  <a:srgbClr val="E6EDF3"/>
                </a:solidFill>
                <a:latin typeface="Courier New"/>
              </a:rPr>
              <a:t>line</a:t>
            </a:r>
            <a:r>
              <a:rPr sz="1400" b="0" i="0">
                <a:solidFill>
                  <a:srgbClr val="E6EDF3"/>
                </a:solidFill>
                <a:latin typeface="Courier New"/>
              </a:rPr>
              <a:t>.</a:t>
            </a:r>
            <a:r>
              <a:rPr sz="1400" b="0" i="0">
                <a:solidFill>
                  <a:srgbClr val="E6EDF3"/>
                </a:solidFill>
                <a:latin typeface="Courier New"/>
              </a:rPr>
              <a:t>split</a:t>
            </a:r>
            <a:r>
              <a:rPr sz="1400" b="0" i="0">
                <a:solidFill>
                  <a:srgbClr val="E6EDF3"/>
                </a:solidFill>
                <a:latin typeface="Courier New"/>
              </a:rPr>
              <a:t>(</a:t>
            </a:r>
            <a:r>
              <a:rPr sz="1400" b="0" i="0">
                <a:solidFill>
                  <a:srgbClr val="9BE3A8"/>
                </a:solidFill>
                <a:latin typeface="Courier New"/>
              </a:rPr>
              <a:t>' = '</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line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cfg</a:t>
            </a:r>
            <a:r>
              <a:rPr sz="1400" b="0" i="0">
                <a:solidFill>
                  <a:srgbClr val="E6EDF3"/>
                </a:solidFill>
                <a:latin typeface="Courier New"/>
              </a:rPr>
              <a:t>.</a:t>
            </a:r>
            <a:r>
              <a:rPr sz="1400" b="0" i="0">
                <a:solidFill>
                  <a:srgbClr val="E6EDF3"/>
                </a:solidFill>
                <a:latin typeface="Courier New"/>
              </a:rPr>
              <a:t>splitlines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settings</a:t>
            </a:r>
            <a:r>
              <a:rPr sz="1400" b="0" i="0">
                <a:solidFill>
                  <a:srgbClr val="E6EDF3"/>
                </a:solidFill>
                <a:latin typeface="Courier New"/>
              </a:rPr>
              <a:t>)</a:t>
            </a:r>
          </a:p>
        </p:txBody>
      </p:sp>
      <p:sp>
        <p:nvSpPr>
          <p:cNvPr id="5" name="explanation"/>
          <p:cNvSpPr txBox="1"/>
          <p:nvPr/>
        </p:nvSpPr>
        <p:spPr>
          <a:xfrm>
            <a:off x="365760" y="1583436"/>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A virtual environment is a folder with a small pyvenv.cfg file. Every line is one setting, so a dictionary can hold it.</a:t>
            </a:r>
          </a:p>
        </p:txBody>
      </p:sp>
      <p:sp>
        <p:nvSpPr>
          <p:cNvPr id="6" name="result label"/>
          <p:cNvSpPr txBox="1"/>
          <p:nvPr/>
        </p:nvSpPr>
        <p:spPr>
          <a:xfrm>
            <a:off x="365760" y="217233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7" name="table"/>
          <p:cNvGraphicFramePr>
            <a:graphicFrameLocks noGrp="1"/>
          </p:cNvGraphicFramePr>
          <p:nvPr/>
        </p:nvGraphicFramePr>
        <p:xfrm>
          <a:off x="365760" y="2446655"/>
          <a:ext cx="4626863" cy="932688"/>
        </p:xfrm>
        <a:graphic>
          <a:graphicData uri="http://schemas.openxmlformats.org/drawingml/2006/table">
            <a:tbl>
              <a:tblPr firstRow="0" bandRow="0"/>
              <a:tblGrid>
                <a:gridCol w="3287508"/>
                <a:gridCol w="1339355"/>
              </a:tblGrid>
              <a:tr h="310896">
                <a:tc>
                  <a:txBody>
                    <a:bodyPr wrap="square"/>
                    <a:lstStyle/>
                    <a:p>
                      <a:r>
                        <a:rPr sz="1050" b="1" i="0">
                          <a:solidFill>
                            <a:srgbClr val="FFFFFF"/>
                          </a:solidFill>
                          <a:latin typeface="Calibri"/>
                        </a:rPr>
                        <a:t>pyvenv.cfg setting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home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/usr/bin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include-system-site-packages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8" name="Rounded Rectangle 7"/>
          <p:cNvSpPr/>
          <p:nvPr/>
        </p:nvSpPr>
        <p:spPr>
          <a:xfrm>
            <a:off x="5413248" y="2446655"/>
            <a:ext cx="3364991" cy="329184"/>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.venv  (a folder)</a:t>
            </a:r>
          </a:p>
        </p:txBody>
      </p:sp>
      <p:sp>
        <p:nvSpPr>
          <p:cNvPr id="9" name="Rounded Rectangle 8"/>
          <p:cNvSpPr/>
          <p:nvPr/>
        </p:nvSpPr>
        <p:spPr>
          <a:xfrm>
            <a:off x="5641848" y="2858135"/>
            <a:ext cx="3136391"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bin/  (activate, python, pip)</a:t>
            </a:r>
          </a:p>
        </p:txBody>
      </p:sp>
      <p:cxnSp>
        <p:nvCxnSpPr>
          <p:cNvPr id="10" name="Connector 9"/>
          <p:cNvCxnSpPr/>
          <p:nvPr/>
        </p:nvCxnSpPr>
        <p:spPr>
          <a:xfrm>
            <a:off x="5504688" y="2775839"/>
            <a:ext cx="0" cy="210312"/>
          </a:xfrm>
          <a:prstGeom prst="line">
            <a:avLst/>
          </a:prstGeom>
          <a:ln w="12700">
            <a:solidFill>
              <a:srgbClr val="D9D2C3"/>
            </a:solidFill>
          </a:ln>
        </p:spPr>
        <p:style>
          <a:lnRef idx="2">
            <a:schemeClr val="accent1"/>
          </a:lnRef>
          <a:fillRef idx="0">
            <a:schemeClr val="accent1"/>
          </a:fillRef>
          <a:effectRef idx="1">
            <a:schemeClr val="accent1"/>
          </a:effectRef>
          <a:fontRef idx="minor">
            <a:schemeClr val="tx1"/>
          </a:fontRef>
        </p:style>
      </p:cxnSp>
      <p:cxnSp>
        <p:nvCxnSpPr>
          <p:cNvPr id="11" name="arrow"/>
          <p:cNvCxnSpPr/>
          <p:nvPr/>
        </p:nvCxnSpPr>
        <p:spPr>
          <a:xfrm>
            <a:off x="5504688" y="2986151"/>
            <a:ext cx="128016"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641848" y="3169031"/>
            <a:ext cx="3136391"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pyvenv.cfg  (the settings)</a:t>
            </a:r>
          </a:p>
        </p:txBody>
      </p:sp>
      <p:cxnSp>
        <p:nvCxnSpPr>
          <p:cNvPr id="13" name="Connector 12"/>
          <p:cNvCxnSpPr/>
          <p:nvPr/>
        </p:nvCxnSpPr>
        <p:spPr>
          <a:xfrm>
            <a:off x="5504688" y="2775839"/>
            <a:ext cx="0" cy="521207"/>
          </a:xfrm>
          <a:prstGeom prst="line">
            <a:avLst/>
          </a:prstGeom>
          <a:ln w="12700">
            <a:solidFill>
              <a:srgbClr val="D9D2C3"/>
            </a:solidFill>
          </a:ln>
        </p:spPr>
        <p:style>
          <a:lnRef idx="2">
            <a:schemeClr val="accent1"/>
          </a:lnRef>
          <a:fillRef idx="0">
            <a:schemeClr val="accent1"/>
          </a:fillRef>
          <a:effectRef idx="1">
            <a:schemeClr val="accent1"/>
          </a:effectRef>
          <a:fontRef idx="minor">
            <a:schemeClr val="tx1"/>
          </a:fontRef>
        </p:style>
      </p:cxnSp>
      <p:cxnSp>
        <p:nvCxnSpPr>
          <p:cNvPr id="14" name="arrow"/>
          <p:cNvCxnSpPr/>
          <p:nvPr/>
        </p:nvCxnSpPr>
        <p:spPr>
          <a:xfrm>
            <a:off x="5504688" y="3297046"/>
            <a:ext cx="128016"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641848" y="3479927"/>
            <a:ext cx="3136391"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lib/  (the packages)</a:t>
            </a:r>
          </a:p>
        </p:txBody>
      </p:sp>
      <p:cxnSp>
        <p:nvCxnSpPr>
          <p:cNvPr id="16" name="Connector 15"/>
          <p:cNvCxnSpPr/>
          <p:nvPr/>
        </p:nvCxnSpPr>
        <p:spPr>
          <a:xfrm>
            <a:off x="5504688" y="2775839"/>
            <a:ext cx="0" cy="832104"/>
          </a:xfrm>
          <a:prstGeom prst="line">
            <a:avLst/>
          </a:prstGeom>
          <a:ln w="12700">
            <a:solidFill>
              <a:srgbClr val="D9D2C3"/>
            </a:solidFill>
          </a:ln>
        </p:spPr>
        <p:style>
          <a:lnRef idx="2">
            <a:schemeClr val="accent1"/>
          </a:lnRef>
          <a:fillRef idx="0">
            <a:schemeClr val="accent1"/>
          </a:fillRef>
          <a:effectRef idx="1">
            <a:schemeClr val="accent1"/>
          </a:effectRef>
          <a:fontRef idx="minor">
            <a:schemeClr val="tx1"/>
          </a:fontRef>
        </p:style>
      </p:cxnSp>
      <p:cxnSp>
        <p:nvCxnSpPr>
          <p:cNvPr id="17" name="arrow"/>
          <p:cNvCxnSpPr/>
          <p:nvPr/>
        </p:nvCxnSpPr>
        <p:spPr>
          <a:xfrm>
            <a:off x="5504688" y="3607943"/>
            <a:ext cx="128016"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venv is a folder and a settings file.</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activate puts the environment first on PATH</a:t>
            </a:r>
          </a:p>
        </p:txBody>
      </p:sp>
      <p:sp>
        <p:nvSpPr>
          <p:cNvPr id="4" name="code"/>
          <p:cNvSpPr/>
          <p:nvPr/>
        </p:nvSpPr>
        <p:spPr>
          <a:xfrm>
            <a:off x="365760" y="786384"/>
            <a:ext cx="8412480" cy="9428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sys</a:t>
            </a:r>
          </a:p>
          <a:p>
            <a:pPr algn="l"/>
            <a:r>
              <a:rPr sz="1300" b="0" i="0">
                <a:solidFill>
                  <a:srgbClr val="8FA3B8"/>
                </a:solidFill>
                <a:latin typeface="Courier New"/>
              </a:rPr>
              <a:t>&gt;&gt;&gt; </a:t>
            </a:r>
            <a:r>
              <a:rPr sz="1300" b="0" i="0">
                <a:solidFill>
                  <a:srgbClr val="E6EDF3"/>
                </a:solidFill>
                <a:latin typeface="Courier New"/>
              </a:rPr>
              <a:t>bin_dir</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'/home/al/Scripts/.venv/bin'</a:t>
            </a:r>
          </a:p>
          <a:p>
            <a:pPr algn="l"/>
            <a:r>
              <a:rPr sz="1300" b="0" i="0">
                <a:solidFill>
                  <a:srgbClr val="8FA3B8"/>
                </a:solidFill>
                <a:latin typeface="Courier New"/>
              </a:rPr>
              <a:t>&gt;&gt;&gt; </a:t>
            </a:r>
            <a:r>
              <a:rPr sz="1300" b="0" i="0">
                <a:solidFill>
                  <a:srgbClr val="E6EDF3"/>
                </a:solidFill>
                <a:latin typeface="Courier New"/>
              </a:rPr>
              <a:t>PATH</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'/usr/local/bin:/usr/bin:/bin'</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'after activate:'</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bin_dir</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PATH</a:t>
            </a:r>
            <a:r>
              <a:rPr sz="1300" b="0" i="0">
                <a:solidFill>
                  <a:srgbClr val="E6EDF3"/>
                </a:solidFill>
                <a:latin typeface="Courier New"/>
              </a:rPr>
              <a:t>)</a:t>
            </a:r>
          </a:p>
        </p:txBody>
      </p:sp>
      <p:sp>
        <p:nvSpPr>
          <p:cNvPr id="5" name="explanation"/>
          <p:cNvSpPr txBox="1"/>
          <p:nvPr/>
        </p:nvSpPr>
        <p:spPr>
          <a:xfrm>
            <a:off x="365760" y="1738375"/>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activate puts the environment's bin folder first on PATH. Its python and pip are now found before the system ones.</a:t>
            </a:r>
          </a:p>
        </p:txBody>
      </p:sp>
      <p:sp>
        <p:nvSpPr>
          <p:cNvPr id="6" name="code"/>
          <p:cNvSpPr/>
          <p:nvPr/>
        </p:nvSpPr>
        <p:spPr>
          <a:xfrm>
            <a:off x="365760" y="2299843"/>
            <a:ext cx="8412480" cy="33858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'inside a virtual environment:'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sys</a:t>
            </a:r>
            <a:r>
              <a:rPr sz="1300" b="0" i="0">
                <a:solidFill>
                  <a:srgbClr val="E6EDF3"/>
                </a:solidFill>
                <a:latin typeface="Courier New"/>
              </a:rPr>
              <a:t>.</a:t>
            </a:r>
            <a:r>
              <a:rPr sz="1300" b="0" i="0">
                <a:solidFill>
                  <a:srgbClr val="E6EDF3"/>
                </a:solidFill>
                <a:latin typeface="Courier New"/>
              </a:rPr>
              <a:t>prefix</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sys</a:t>
            </a:r>
            <a:r>
              <a:rPr sz="1300" b="0" i="0">
                <a:solidFill>
                  <a:srgbClr val="E6EDF3"/>
                </a:solidFill>
                <a:latin typeface="Courier New"/>
              </a:rPr>
              <a:t>.</a:t>
            </a:r>
            <a:r>
              <a:rPr sz="1300" b="0" i="0">
                <a:solidFill>
                  <a:srgbClr val="E6EDF3"/>
                </a:solidFill>
                <a:latin typeface="Courier New"/>
              </a:rPr>
              <a:t>base_prefix</a:t>
            </a:r>
            <a:r>
              <a:rPr sz="1300" b="0" i="0">
                <a:solidFill>
                  <a:srgbClr val="E6EDF3"/>
                </a:solidFill>
                <a:latin typeface="Courier New"/>
              </a:rPr>
              <a:t>)</a:t>
            </a:r>
          </a:p>
        </p:txBody>
      </p:sp>
      <p:sp>
        <p:nvSpPr>
          <p:cNvPr id="7" name="explanation"/>
          <p:cNvSpPr txBox="1"/>
          <p:nvPr/>
        </p:nvSpPr>
        <p:spPr>
          <a:xfrm>
            <a:off x="365760" y="2647569"/>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Outside an environment prefix and base_prefix are equal, so this test prints False. Inside one it prints True.</a:t>
            </a:r>
          </a:p>
        </p:txBody>
      </p:sp>
      <p:sp>
        <p:nvSpPr>
          <p:cNvPr id="8" name="result label"/>
          <p:cNvSpPr txBox="1"/>
          <p:nvPr/>
        </p:nvSpPr>
        <p:spPr>
          <a:xfrm>
            <a:off x="365760" y="323646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3510787"/>
            <a:ext cx="3657600" cy="201168"/>
          </a:xfrm>
          <a:prstGeom prst="rect">
            <a:avLst/>
          </a:prstGeom>
          <a:noFill/>
        </p:spPr>
        <p:txBody>
          <a:bodyPr wrap="square" lIns="45720" rIns="45720" tIns="27432" bIns="27432" anchor="t">
            <a:spAutoFit/>
          </a:bodyPr>
          <a:lstStyle/>
          <a:p>
            <a:r>
              <a:rPr sz="1000" b="1" i="0">
                <a:solidFill>
                  <a:srgbClr val="0E7C86"/>
                </a:solidFill>
                <a:latin typeface="Calibri"/>
              </a:rPr>
              <a:t>PATH before activate</a:t>
            </a:r>
          </a:p>
        </p:txBody>
      </p:sp>
      <p:sp>
        <p:nvSpPr>
          <p:cNvPr id="10" name="Rounded Rectangle 9"/>
          <p:cNvSpPr/>
          <p:nvPr/>
        </p:nvSpPr>
        <p:spPr>
          <a:xfrm>
            <a:off x="365760" y="3739388"/>
            <a:ext cx="1399031"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/usr/local/bin</a:t>
            </a:r>
          </a:p>
        </p:txBody>
      </p:sp>
      <p:cxnSp>
        <p:nvCxnSpPr>
          <p:cNvPr id="11" name="arrow"/>
          <p:cNvCxnSpPr/>
          <p:nvPr/>
        </p:nvCxnSpPr>
        <p:spPr>
          <a:xfrm>
            <a:off x="1769363" y="3876548"/>
            <a:ext cx="64009"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837943" y="3739388"/>
            <a:ext cx="1399031"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/usr/bin</a:t>
            </a:r>
          </a:p>
        </p:txBody>
      </p:sp>
      <p:cxnSp>
        <p:nvCxnSpPr>
          <p:cNvPr id="13" name="arrow"/>
          <p:cNvCxnSpPr/>
          <p:nvPr/>
        </p:nvCxnSpPr>
        <p:spPr>
          <a:xfrm>
            <a:off x="3241547" y="3876548"/>
            <a:ext cx="64009"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10127" y="3739388"/>
            <a:ext cx="1399031"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/bin</a:t>
            </a:r>
          </a:p>
        </p:txBody>
      </p:sp>
      <p:sp>
        <p:nvSpPr>
          <p:cNvPr id="15" name="TextBox 14"/>
          <p:cNvSpPr txBox="1"/>
          <p:nvPr/>
        </p:nvSpPr>
        <p:spPr>
          <a:xfrm>
            <a:off x="365760" y="4077715"/>
            <a:ext cx="3657600" cy="201168"/>
          </a:xfrm>
          <a:prstGeom prst="rect">
            <a:avLst/>
          </a:prstGeom>
          <a:noFill/>
        </p:spPr>
        <p:txBody>
          <a:bodyPr wrap="square" lIns="45720" rIns="45720" tIns="27432" bIns="27432" anchor="t">
            <a:spAutoFit/>
          </a:bodyPr>
          <a:lstStyle/>
          <a:p>
            <a:r>
              <a:rPr sz="1000" b="1" i="0">
                <a:solidFill>
                  <a:srgbClr val="0E7C86"/>
                </a:solidFill>
                <a:latin typeface="Calibri"/>
              </a:rPr>
              <a:t>PATH after activate</a:t>
            </a:r>
          </a:p>
        </p:txBody>
      </p:sp>
      <p:sp>
        <p:nvSpPr>
          <p:cNvPr id="16" name="Rounded Rectangle 15"/>
          <p:cNvSpPr/>
          <p:nvPr/>
        </p:nvSpPr>
        <p:spPr>
          <a:xfrm>
            <a:off x="365760" y="4306315"/>
            <a:ext cx="1399031"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.venv/bin</a:t>
            </a:r>
          </a:p>
        </p:txBody>
      </p:sp>
      <p:cxnSp>
        <p:nvCxnSpPr>
          <p:cNvPr id="17" name="arrow"/>
          <p:cNvCxnSpPr/>
          <p:nvPr/>
        </p:nvCxnSpPr>
        <p:spPr>
          <a:xfrm>
            <a:off x="1769363" y="4443475"/>
            <a:ext cx="64009"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837943" y="4306315"/>
            <a:ext cx="1399031"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/usr/local/bin</a:t>
            </a:r>
          </a:p>
        </p:txBody>
      </p:sp>
      <p:cxnSp>
        <p:nvCxnSpPr>
          <p:cNvPr id="19" name="arrow"/>
          <p:cNvCxnSpPr/>
          <p:nvPr/>
        </p:nvCxnSpPr>
        <p:spPr>
          <a:xfrm>
            <a:off x="3241547" y="4443475"/>
            <a:ext cx="64009"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0127" y="4306315"/>
            <a:ext cx="1399031"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/usr/bin</a:t>
            </a:r>
          </a:p>
        </p:txBody>
      </p:sp>
      <p:cxnSp>
        <p:nvCxnSpPr>
          <p:cNvPr id="21" name="arrow"/>
          <p:cNvCxnSpPr/>
          <p:nvPr/>
        </p:nvCxnSpPr>
        <p:spPr>
          <a:xfrm>
            <a:off x="4713731" y="4443475"/>
            <a:ext cx="64009" cy="0"/>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782312" y="4306315"/>
            <a:ext cx="1399031"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/bin</a:t>
            </a:r>
          </a:p>
        </p:txBody>
      </p:sp>
      <p:sp>
        <p:nvSpPr>
          <p:cNvPr id="23" name="Rounded Rectangle 22"/>
          <p:cNvSpPr/>
          <p:nvPr/>
        </p:nvSpPr>
        <p:spPr>
          <a:xfrm>
            <a:off x="6590995" y="3739388"/>
            <a:ext cx="2187244" cy="45720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inside a venv: False</a:t>
            </a:r>
          </a:p>
        </p:txBody>
      </p:sp>
      <p:cxnSp>
        <p:nvCxnSpPr>
          <p:cNvPr id="24" name="arrow"/>
          <p:cNvCxnSpPr/>
          <p:nvPr/>
        </p:nvCxnSpPr>
        <p:spPr>
          <a:xfrm>
            <a:off x="6422745" y="3876547"/>
            <a:ext cx="0" cy="365761"/>
          </a:xfrm>
          <a:prstGeom prst="line">
            <a:avLst/>
          </a:prstGeom>
          <a:ln w="1778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activate edits PATH for one terminal.</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pip: pin a version, find a module</a:t>
            </a:r>
          </a:p>
        </p:txBody>
      </p:sp>
      <p:sp>
        <p:nvSpPr>
          <p:cNvPr id="4" name="code"/>
          <p:cNvSpPr/>
          <p:nvPr/>
        </p:nvSpPr>
        <p:spPr>
          <a:xfrm>
            <a:off x="365760" y="786384"/>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requirement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'package_name==1.17.4'</a:t>
            </a:r>
          </a:p>
          <a:p>
            <a:pPr algn="l"/>
            <a:r>
              <a:rPr sz="1100" b="0" i="0">
                <a:solidFill>
                  <a:srgbClr val="8FA3B8"/>
                </a:solidFill>
                <a:latin typeface="Courier New"/>
              </a:rPr>
              <a:t>&gt;&gt;&gt; </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sep</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version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requirement</a:t>
            </a:r>
            <a:r>
              <a:rPr sz="1100" b="0" i="0">
                <a:solidFill>
                  <a:srgbClr val="E6EDF3"/>
                </a:solidFill>
                <a:latin typeface="Courier New"/>
              </a:rPr>
              <a:t>.</a:t>
            </a:r>
            <a:r>
              <a:rPr sz="1100" b="0" i="0">
                <a:solidFill>
                  <a:srgbClr val="E6EDF3"/>
                </a:solidFill>
                <a:latin typeface="Courier New"/>
              </a:rPr>
              <a:t>partition</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sep</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version</a:t>
            </a:r>
            <a:r>
              <a:rPr sz="1100" b="0" i="0">
                <a:solidFill>
                  <a:srgbClr val="E6EDF3"/>
                </a:solidFill>
                <a:latin typeface="Courier New"/>
              </a:rPr>
              <a:t>)</a:t>
            </a:r>
          </a:p>
        </p:txBody>
      </p:sp>
      <p:sp>
        <p:nvSpPr>
          <p:cNvPr id="5" name="explanation"/>
          <p:cNvSpPr txBox="1"/>
          <p:nvPr/>
        </p:nvSpPr>
        <p:spPr>
          <a:xfrm>
            <a:off x="365760" y="1443990"/>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pip pins a version with two equals signs. partition cuts the text into name, separator and version.</a:t>
            </a:r>
          </a:p>
        </p:txBody>
      </p:sp>
      <p:sp>
        <p:nvSpPr>
          <p:cNvPr id="6" name="code"/>
          <p:cNvSpPr/>
          <p:nvPr/>
        </p:nvSpPr>
        <p:spPr>
          <a:xfrm>
            <a:off x="365760" y="1989582"/>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importlib</a:t>
            </a:r>
            <a:r>
              <a:rPr sz="1100" b="0" i="0">
                <a:solidFill>
                  <a:srgbClr val="E6EDF3"/>
                </a:solidFill>
                <a:latin typeface="Courier New"/>
              </a:rPr>
              <a:t>.</a:t>
            </a:r>
            <a:r>
              <a:rPr sz="1100" b="0" i="0">
                <a:solidFill>
                  <a:srgbClr val="E6EDF3"/>
                </a:solidFill>
                <a:latin typeface="Courier New"/>
              </a:rPr>
              <a:t>util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json</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json</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'pyperclip missing:'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importlib</a:t>
            </a:r>
            <a:r>
              <a:rPr sz="1100" b="0" i="0">
                <a:solidFill>
                  <a:srgbClr val="E6EDF3"/>
                </a:solidFill>
                <a:latin typeface="Courier New"/>
              </a:rPr>
              <a:t>.</a:t>
            </a:r>
            <a:r>
              <a:rPr sz="1100" b="0" i="0">
                <a:solidFill>
                  <a:srgbClr val="E6EDF3"/>
                </a:solidFill>
                <a:latin typeface="Courier New"/>
              </a:rPr>
              <a:t>util</a:t>
            </a:r>
            <a:r>
              <a:rPr sz="1100" b="0" i="0">
                <a:solidFill>
                  <a:srgbClr val="E6EDF3"/>
                </a:solidFill>
                <a:latin typeface="Courier New"/>
              </a:rPr>
              <a:t>.</a:t>
            </a:r>
            <a:r>
              <a:rPr sz="1100" b="0" i="0">
                <a:solidFill>
                  <a:srgbClr val="E6EDF3"/>
                </a:solidFill>
                <a:latin typeface="Courier New"/>
              </a:rPr>
              <a:t>find_spec</a:t>
            </a:r>
            <a:r>
              <a:rPr sz="1100" b="0" i="0">
                <a:solidFill>
                  <a:srgbClr val="E6EDF3"/>
                </a:solidFill>
                <a:latin typeface="Courier New"/>
              </a:rPr>
              <a:t>(</a:t>
            </a:r>
            <a:r>
              <a:rPr sz="1100" b="0" i="0">
                <a:solidFill>
                  <a:srgbClr val="9BE3A8"/>
                </a:solidFill>
                <a:latin typeface="Courier New"/>
              </a:rPr>
              <a:t>'pyperclip'</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is</a:t>
            </a:r>
            <a:r>
              <a:rPr sz="1100" b="0" i="0">
                <a:solidFill>
                  <a:srgbClr val="E6EDF3"/>
                </a:solidFill>
                <a:latin typeface="Courier New"/>
              </a:rPr>
              <a:t> </a:t>
            </a:r>
            <a:r>
              <a:rPr sz="1100" b="0" i="0">
                <a:solidFill>
                  <a:srgbClr val="E6EDF3"/>
                </a:solidFill>
                <a:latin typeface="Courier New"/>
              </a:rPr>
              <a:t>None</a:t>
            </a:r>
            <a:r>
              <a:rPr sz="1100" b="0" i="0">
                <a:solidFill>
                  <a:srgbClr val="E6EDF3"/>
                </a:solidFill>
                <a:latin typeface="Courier New"/>
              </a:rPr>
              <a:t>)</a:t>
            </a:r>
          </a:p>
        </p:txBody>
      </p:sp>
      <p:sp>
        <p:nvSpPr>
          <p:cNvPr id="7" name="explanation"/>
          <p:cNvSpPr txBox="1"/>
          <p:nvPr/>
        </p:nvSpPr>
        <p:spPr>
          <a:xfrm>
            <a:off x="365760" y="2647187"/>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A package is a module you import. find_spec asks whether Python can find one before the import fails.</a:t>
            </a:r>
          </a:p>
        </p:txBody>
      </p:sp>
      <p:sp>
        <p:nvSpPr>
          <p:cNvPr id="8" name="result label"/>
          <p:cNvSpPr txBox="1"/>
          <p:nvPr/>
        </p:nvSpPr>
        <p:spPr>
          <a:xfrm>
            <a:off x="365760" y="322021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3476243"/>
            <a:ext cx="4114800" cy="201168"/>
          </a:xfrm>
          <a:prstGeom prst="rect">
            <a:avLst/>
          </a:prstGeom>
          <a:noFill/>
        </p:spPr>
        <p:txBody>
          <a:bodyPr wrap="square" lIns="45720" rIns="45720" tIns="27432" bIns="27432" anchor="t">
            <a:spAutoFit/>
          </a:bodyPr>
          <a:lstStyle/>
          <a:p>
            <a:r>
              <a:rPr sz="1000" b="1" i="0">
                <a:solidFill>
                  <a:srgbClr val="0E7C86"/>
                </a:solidFill>
                <a:latin typeface="Courier New"/>
              </a:rPr>
              <a:t>requirement.partition('==')</a:t>
            </a:r>
          </a:p>
        </p:txBody>
      </p:sp>
      <p:sp>
        <p:nvSpPr>
          <p:cNvPr id="10" name="Rounded Rectangle 9"/>
          <p:cNvSpPr/>
          <p:nvPr/>
        </p:nvSpPr>
        <p:spPr>
          <a:xfrm>
            <a:off x="365760" y="3723131"/>
            <a:ext cx="201168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'package_name'</a:t>
            </a:r>
          </a:p>
        </p:txBody>
      </p:sp>
      <p:sp>
        <p:nvSpPr>
          <p:cNvPr id="11" name="Rounded Rectangle 10"/>
          <p:cNvSpPr/>
          <p:nvPr/>
        </p:nvSpPr>
        <p:spPr>
          <a:xfrm>
            <a:off x="2468879" y="3723131"/>
            <a:ext cx="73152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5B6773"/>
                </a:solidFill>
                <a:latin typeface="Courier New"/>
              </a:rPr>
              <a:t>'=='</a:t>
            </a:r>
          </a:p>
        </p:txBody>
      </p:sp>
      <p:sp>
        <p:nvSpPr>
          <p:cNvPr id="12" name="Rounded Rectangle 11"/>
          <p:cNvSpPr/>
          <p:nvPr/>
        </p:nvSpPr>
        <p:spPr>
          <a:xfrm>
            <a:off x="3291840" y="3723131"/>
            <a:ext cx="118872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'1.17.4'</a:t>
            </a:r>
          </a:p>
        </p:txBody>
      </p:sp>
      <p:cxnSp>
        <p:nvCxnSpPr>
          <p:cNvPr id="13" name="arrow"/>
          <p:cNvCxnSpPr/>
          <p:nvPr/>
        </p:nvCxnSpPr>
        <p:spPr>
          <a:xfrm flipV="1">
            <a:off x="1371600" y="4034027"/>
            <a:ext cx="0" cy="19202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226051"/>
            <a:ext cx="1280160" cy="201168"/>
          </a:xfrm>
          <a:prstGeom prst="rect">
            <a:avLst/>
          </a:prstGeom>
          <a:noFill/>
        </p:spPr>
        <p:txBody>
          <a:bodyPr wrap="square" lIns="45720" rIns="45720" tIns="27432" bIns="27432" anchor="t">
            <a:spAutoFit/>
          </a:bodyPr>
          <a:lstStyle/>
          <a:p>
            <a:pPr algn="ctr"/>
            <a:r>
              <a:rPr sz="900" b="0" i="0">
                <a:solidFill>
                  <a:srgbClr val="5B6773"/>
                </a:solidFill>
                <a:latin typeface="Calibri"/>
              </a:rPr>
              <a:t>package name</a:t>
            </a:r>
          </a:p>
        </p:txBody>
      </p:sp>
      <p:cxnSp>
        <p:nvCxnSpPr>
          <p:cNvPr id="15" name="arrow"/>
          <p:cNvCxnSpPr/>
          <p:nvPr/>
        </p:nvCxnSpPr>
        <p:spPr>
          <a:xfrm flipV="1">
            <a:off x="2834640" y="4034027"/>
            <a:ext cx="0" cy="19202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194560" y="4226051"/>
            <a:ext cx="1280160" cy="201168"/>
          </a:xfrm>
          <a:prstGeom prst="rect">
            <a:avLst/>
          </a:prstGeom>
          <a:noFill/>
        </p:spPr>
        <p:txBody>
          <a:bodyPr wrap="square" lIns="45720" rIns="45720" tIns="27432" bIns="27432" anchor="t">
            <a:spAutoFit/>
          </a:bodyPr>
          <a:lstStyle/>
          <a:p>
            <a:pPr algn="ctr"/>
            <a:r>
              <a:rPr sz="900" b="0" i="0">
                <a:solidFill>
                  <a:srgbClr val="5B6773"/>
                </a:solidFill>
                <a:latin typeface="Calibri"/>
              </a:rPr>
              <a:t>separator</a:t>
            </a:r>
          </a:p>
        </p:txBody>
      </p:sp>
      <p:cxnSp>
        <p:nvCxnSpPr>
          <p:cNvPr id="17" name="arrow"/>
          <p:cNvCxnSpPr/>
          <p:nvPr/>
        </p:nvCxnSpPr>
        <p:spPr>
          <a:xfrm flipV="1">
            <a:off x="3886200" y="4034027"/>
            <a:ext cx="0" cy="19202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46120" y="4226051"/>
            <a:ext cx="1280160" cy="201168"/>
          </a:xfrm>
          <a:prstGeom prst="rect">
            <a:avLst/>
          </a:prstGeom>
          <a:noFill/>
        </p:spPr>
        <p:txBody>
          <a:bodyPr wrap="square" lIns="45720" rIns="45720" tIns="27432" bIns="27432" anchor="t">
            <a:spAutoFit/>
          </a:bodyPr>
          <a:lstStyle/>
          <a:p>
            <a:pPr algn="ctr"/>
            <a:r>
              <a:rPr sz="900" b="0" i="0">
                <a:solidFill>
                  <a:srgbClr val="5B6773"/>
                </a:solidFill>
                <a:latin typeface="Calibri"/>
              </a:rPr>
              <a:t>version</a:t>
            </a:r>
          </a:p>
        </p:txBody>
      </p:sp>
      <p:graphicFrame>
        <p:nvGraphicFramePr>
          <p:cNvPr id="19" name="table"/>
          <p:cNvGraphicFramePr>
            <a:graphicFrameLocks noGrp="1"/>
          </p:cNvGraphicFramePr>
          <p:nvPr/>
        </p:nvGraphicFramePr>
        <p:xfrm>
          <a:off x="4572000" y="3494531"/>
          <a:ext cx="4206238" cy="1114040"/>
        </p:xfrm>
        <a:graphic>
          <a:graphicData uri="http://schemas.openxmlformats.org/drawingml/2006/table">
            <a:tbl>
              <a:tblPr firstRow="0" bandRow="0"/>
              <a:tblGrid>
                <a:gridCol w="3271519"/>
                <a:gridCol w="934719"/>
              </a:tblGrid>
              <a:tr h="222808">
                <a:tc>
                  <a:txBody>
                    <a:bodyPr wrap="square"/>
                    <a:lstStyle/>
                    <a:p>
                      <a:r>
                        <a:rPr sz="850" b="1" i="0">
                          <a:solidFill>
                            <a:srgbClr val="FFFFFF"/>
                          </a:solidFill>
                          <a:latin typeface="Calibri"/>
                        </a:rPr>
                        <a:t>Command in the terminal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850" b="1" i="0">
                          <a:solidFill>
                            <a:srgbClr val="FFFFFF"/>
                          </a:solidFill>
                          <a:latin typeface="Calibri"/>
                        </a:rPr>
                        <a:t>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2808">
                <a:tc>
                  <a:txBody>
                    <a:bodyPr wrap="square"/>
                    <a:lstStyle/>
                    <a:p>
                      <a:r>
                        <a:rPr sz="850" b="0" i="0">
                          <a:solidFill>
                            <a:srgbClr val="1F2933"/>
                          </a:solidFill>
                          <a:latin typeface="Courier New"/>
                        </a:rPr>
                        <a:t>python -m pip install package_name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alibri"/>
                        </a:rPr>
                        <a:t>newest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2808">
                <a:tc>
                  <a:txBody>
                    <a:bodyPr wrap="square"/>
                    <a:lstStyle/>
                    <a:p>
                      <a:r>
                        <a:rPr sz="850" b="0" i="0">
                          <a:solidFill>
                            <a:srgbClr val="1F2933"/>
                          </a:solidFill>
                          <a:latin typeface="Courier New"/>
                        </a:rPr>
                        <a:t>python -m pip install package_name==1.17.4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alibri"/>
                        </a:rPr>
                        <a:t>this version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2808">
                <a:tc>
                  <a:txBody>
                    <a:bodyPr wrap="square"/>
                    <a:lstStyle/>
                    <a:p>
                      <a:r>
                        <a:rPr sz="850" b="0" i="0">
                          <a:solidFill>
                            <a:srgbClr val="1F2933"/>
                          </a:solidFill>
                          <a:latin typeface="Courier New"/>
                        </a:rPr>
                        <a:t>python -m pip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alibri"/>
                        </a:rPr>
                        <a:t>lists 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2808">
                <a:tc>
                  <a:txBody>
                    <a:bodyPr wrap="square"/>
                    <a:lstStyle/>
                    <a:p>
                      <a:r>
                        <a:rPr sz="850" b="0" i="0">
                          <a:solidFill>
                            <a:srgbClr val="1F2933"/>
                          </a:solidFill>
                          <a:latin typeface="Courier New"/>
                        </a:rPr>
                        <a:t>python -m pip uninstall package_name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alibri"/>
                        </a:rPr>
                        <a:t>removes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Pin with ==; ask find_spec before you import.</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pip began as pyinstall, September 2008</a:t>
            </a:r>
          </a:p>
        </p:txBody>
      </p:sp>
      <p:pic>
        <p:nvPicPr>
          <p:cNvPr id="4" name="photo pip" descr="Picture for the story: pip began as pyinstall, September 2008"/>
          <p:cNvPicPr>
            <a:picLocks noChangeAspect="1"/>
          </p:cNvPicPr>
          <p:nvPr/>
        </p:nvPicPr>
        <p:blipFill>
          <a:blip r:embed="rId3"/>
          <a:stretch>
            <a:fillRect/>
          </a:stretch>
        </p:blipFill>
        <p:spPr>
          <a:xfrm>
            <a:off x="365760" y="869287"/>
            <a:ext cx="2651760" cy="2924864"/>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pip in a terminal, screenshot. Image: Cedar101, CC BY-SA 3.0,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Ian Bicking, the author of virtualenv; later Carl Meyer wrote PEP 405.</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An installer called pyinstall, renamed pip, and then venv in the standard library.</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Announced 24 September 2008, renamed pip on 28 October 2008; PEP 405 created 13 June 2011.</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Ian Bicking's blog, then the Python Enhancement Proposals on python.org.</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He wanted a better installer than easy_install, and isolated environments for every project.</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PEP 405 credits virtualenv and put isolated environments into Python 3.3 as the venv module.</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pip (package manager)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Programs that look around</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program asks about its system and reads the words it was given</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os.name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Tells which family of operating system runs the program.</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sys.version_info</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Lets the program refuse a Python that is too old.</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sys.argv</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words typed after the name of the program.</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argparse</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Declares the arguments once and checks them.</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programs that know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Self-aware programs: system, version,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Missing modules and sys.exit with a 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Command line arguments: sys.argv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argparse: declare the arguments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argparse: a wrong word is 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programs that know themselves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self-aware program is a traveller who checks the weather and the passport before acting.</a:t>
            </a:r>
          </a:p>
        </p:txBody>
      </p:sp>
      <p:graphicFrame>
        <p:nvGraphicFramePr>
          <p:cNvPr id="6" name="table"/>
          <p:cNvGraphicFramePr>
            <a:graphicFrameLocks noGrp="1"/>
          </p:cNvGraphicFramePr>
          <p:nvPr/>
        </p:nvGraphicFramePr>
        <p:xfrm>
          <a:off x="365760" y="1417320"/>
          <a:ext cx="8412480" cy="2286000"/>
        </p:xfrm>
        <a:graphic>
          <a:graphicData uri="http://schemas.openxmlformats.org/drawingml/2006/table">
            <a:tbl>
              <a:tblPr firstRow="0" bandRow="0"/>
              <a:tblGrid>
                <a:gridCol w="3291840"/>
                <a:gridCol w="512064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Self-Aware Python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traveller who reads the weather, the language and the passport before packing.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sys.argv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order slip: the words you wrote on it, in the order you wrote them.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argparse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form with labelled boxes: it fills in the blanks and refuses a wrong entry politely.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sys.exit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note on the door that says why the shop is closed, instead of a locked door and silence.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Self-aware programs: system, version, file</a:t>
            </a:r>
          </a:p>
        </p:txBody>
      </p:sp>
      <p:sp>
        <p:nvSpPr>
          <p:cNvPr id="4" name="code"/>
          <p:cNvSpPr/>
          <p:nvPr/>
        </p:nvSpPr>
        <p:spPr>
          <a:xfrm>
            <a:off x="365760" y="786384"/>
            <a:ext cx="53690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E6EDF3"/>
                </a:solidFill>
                <a:latin typeface="Courier New"/>
              </a:rPr>
              <a:t>KINDS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'nt'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'Windows'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'posix'</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'macOS or Linux'</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'os.name is'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KINDS</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716524" y="786384"/>
            <a:ext cx="3061715" cy="699516"/>
          </a:xfrm>
          <a:prstGeom prst="rect">
            <a:avLst/>
          </a:prstGeom>
          <a:noFill/>
        </p:spPr>
        <p:txBody>
          <a:bodyPr wrap="square" lIns="128016" rIns="128016" tIns="18288" bIns="18288" anchor="ctr">
            <a:spAutoFit/>
          </a:bodyPr>
          <a:lstStyle/>
          <a:p>
            <a:r>
              <a:rPr sz="1200" b="0" i="0">
                <a:solidFill>
                  <a:srgbClr val="1F2933"/>
                </a:solidFill>
                <a:latin typeface="Calibri"/>
              </a:rPr>
              <a:t>os.name tells the family of the operating system. sys.platform is finer: win32, darwin or linux.</a:t>
            </a:r>
          </a:p>
        </p:txBody>
      </p:sp>
      <p:sp>
        <p:nvSpPr>
          <p:cNvPr id="6" name="code"/>
          <p:cNvSpPr/>
          <p:nvPr/>
        </p:nvSpPr>
        <p:spPr>
          <a:xfrm>
            <a:off x="365760" y="1531620"/>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'Python 3.9 or newer:'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 </a:t>
            </a:r>
            <a:r>
              <a:rPr sz="1100" b="0" i="0">
                <a:solidFill>
                  <a:srgbClr val="E6EDF3"/>
                </a:solidFill>
                <a:latin typeface="Courier New"/>
              </a:rPr>
              <a:t>&gt;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9</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'version fields:'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'started from a file:'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'__file__'</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globals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716524" y="1531620"/>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sys.version_info compares like a tuple. A script started from a file has __file__; this listing has none, so it prints False.</a:t>
            </a:r>
          </a:p>
        </p:txBody>
      </p:sp>
      <p:sp>
        <p:nvSpPr>
          <p:cNvPr id="8" name="result label"/>
          <p:cNvSpPr txBox="1"/>
          <p:nvPr/>
        </p:nvSpPr>
        <p:spPr>
          <a:xfrm>
            <a:off x="365760" y="24947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69108"/>
          <a:ext cx="8412478" cy="1371600"/>
        </p:xfrm>
        <a:graphic>
          <a:graphicData uri="http://schemas.openxmlformats.org/drawingml/2006/table">
            <a:tbl>
              <a:tblPr firstRow="0" bandRow="0"/>
              <a:tblGrid>
                <a:gridCol w="2223988"/>
                <a:gridCol w="2514074"/>
                <a:gridCol w="1160342"/>
                <a:gridCol w="2514074"/>
              </a:tblGrid>
              <a:tr h="274320">
                <a:tc>
                  <a:txBody>
                    <a:bodyPr wrap="square"/>
                    <a:lstStyle/>
                    <a:p>
                      <a:r>
                        <a:rPr sz="1000" b="1" i="0">
                          <a:solidFill>
                            <a:srgbClr val="FFFFFF"/>
                          </a:solidFill>
                          <a:latin typeface="Calibri"/>
                        </a:rPr>
                        <a:t>The program asks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Python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It can then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Which kind of system?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os.name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'posix'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run macOS or Linux 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A new enough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sys.version_info &gt;= (3,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refuse an old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alibri"/>
                        </a:rPr>
                        <a:t>How detailed is the version?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len(sys.version_info)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compare it like a 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Started from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'__file__' in globals()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find files beside itself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program can ask where and on what it runs.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Missing modules and sys.exit with a message</a:t>
            </a:r>
          </a:p>
        </p:txBody>
      </p:sp>
      <p:sp>
        <p:nvSpPr>
          <p:cNvPr id="4" name="code"/>
          <p:cNvSpPr/>
          <p:nvPr/>
        </p:nvSpPr>
        <p:spPr>
          <a:xfrm>
            <a:off x="365760" y="786384"/>
            <a:ext cx="5369052" cy="98932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nonexistentModule</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ModuleNotFoundError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'Result: no module called'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p>
        </p:txBody>
      </p:sp>
      <p:sp>
        <p:nvSpPr>
          <p:cNvPr id="5" name="explanation"/>
          <p:cNvSpPr txBox="1"/>
          <p:nvPr/>
        </p:nvSpPr>
        <p:spPr>
          <a:xfrm>
            <a:off x="5716524" y="786384"/>
            <a:ext cx="3061715" cy="989329"/>
          </a:xfrm>
          <a:prstGeom prst="rect">
            <a:avLst/>
          </a:prstGeom>
          <a:noFill/>
        </p:spPr>
        <p:txBody>
          <a:bodyPr wrap="square" lIns="128016" rIns="128016" tIns="18288" bIns="18288" anchor="ctr">
            <a:spAutoFit/>
          </a:bodyPr>
          <a:lstStyle/>
          <a:p>
            <a:r>
              <a:rPr sz="1200" b="0" i="0">
                <a:solidFill>
                  <a:srgbClr val="1F2933"/>
                </a:solidFill>
                <a:latin typeface="Calibri"/>
              </a:rPr>
              <a:t>Catch ModuleNotFoundError to say in your own words what is missing, instead of showing a traceback.</a:t>
            </a:r>
          </a:p>
        </p:txBody>
      </p:sp>
      <p:sp>
        <p:nvSpPr>
          <p:cNvPr id="6" name="code"/>
          <p:cNvSpPr/>
          <p:nvPr/>
        </p:nvSpPr>
        <p:spPr>
          <a:xfrm>
            <a:off x="365760" y="1821434"/>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exit</a:t>
            </a:r>
            <a:r>
              <a:rPr sz="1100" b="0" i="0">
                <a:solidFill>
                  <a:srgbClr val="E6EDF3"/>
                </a:solidFill>
                <a:latin typeface="Courier New"/>
              </a:rPr>
              <a:t>(</a:t>
            </a:r>
            <a:r>
              <a:rPr sz="1100" b="0" i="0">
                <a:solidFill>
                  <a:srgbClr val="9BE3A8"/>
                </a:solidFill>
                <a:latin typeface="Courier New"/>
              </a:rPr>
              <a:t>'This program needs nonexistentModule.'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SystemExit</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stop</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'exit message:'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stop</a:t>
            </a:r>
            <a:r>
              <a:rPr sz="1100" b="0" i="0">
                <a:solidFill>
                  <a:srgbClr val="E6EDF3"/>
                </a:solidFill>
                <a:latin typeface="Courier New"/>
              </a:rPr>
              <a:t>.</a:t>
            </a:r>
            <a:r>
              <a:rPr sz="1100" b="0" i="0">
                <a:solidFill>
                  <a:srgbClr val="E6EDF3"/>
                </a:solidFill>
                <a:latin typeface="Courier New"/>
              </a:rPr>
              <a:t>code</a:t>
            </a:r>
            <a:r>
              <a:rPr sz="1100" b="0" i="0">
                <a:solidFill>
                  <a:srgbClr val="E6EDF3"/>
                </a:solidFill>
                <a:latin typeface="Courier New"/>
              </a:rPr>
              <a:t>)</a:t>
            </a:r>
          </a:p>
        </p:txBody>
      </p:sp>
      <p:sp>
        <p:nvSpPr>
          <p:cNvPr id="7" name="explanation"/>
          <p:cNvSpPr txBox="1"/>
          <p:nvPr/>
        </p:nvSpPr>
        <p:spPr>
          <a:xfrm>
            <a:off x="5716524" y="1821434"/>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sys.exit with a text raises SystemExit. In a real run Python prints the text to standard error and ends with exit code 1.</a:t>
            </a:r>
          </a:p>
        </p:txBody>
      </p:sp>
      <p:sp>
        <p:nvSpPr>
          <p:cNvPr id="8" name="result label"/>
          <p:cNvSpPr txBox="1"/>
          <p:nvPr/>
        </p:nvSpPr>
        <p:spPr>
          <a:xfrm>
            <a:off x="365760" y="278460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04641"/>
            <a:ext cx="1863089"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import nonexistentModule</a:t>
            </a:r>
          </a:p>
        </p:txBody>
      </p:sp>
      <p:cxnSp>
        <p:nvCxnSpPr>
          <p:cNvPr id="10" name="arrow"/>
          <p:cNvCxnSpPr/>
          <p:nvPr/>
        </p:nvCxnSpPr>
        <p:spPr>
          <a:xfrm>
            <a:off x="2247137" y="3388105"/>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48889" y="3104641"/>
            <a:ext cx="1863089" cy="566928"/>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ModuleNotFoundError</a:t>
            </a:r>
          </a:p>
          <a:p>
            <a:pPr algn="ctr"/>
            <a:r>
              <a:rPr sz="950" b="0" i="0">
                <a:solidFill>
                  <a:srgbClr val="1F2933"/>
                </a:solidFill>
                <a:latin typeface="Calibri"/>
              </a:rPr>
              <a:t>name = 'nonexistentModule'</a:t>
            </a:r>
          </a:p>
        </p:txBody>
      </p:sp>
      <p:cxnSp>
        <p:nvCxnSpPr>
          <p:cNvPr id="12" name="arrow"/>
          <p:cNvCxnSpPr/>
          <p:nvPr/>
        </p:nvCxnSpPr>
        <p:spPr>
          <a:xfrm>
            <a:off x="4430267" y="3388105"/>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32020" y="3104641"/>
            <a:ext cx="1863089"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sys.exit(message)</a:t>
            </a:r>
          </a:p>
        </p:txBody>
      </p:sp>
      <p:cxnSp>
        <p:nvCxnSpPr>
          <p:cNvPr id="14" name="arrow"/>
          <p:cNvCxnSpPr/>
          <p:nvPr/>
        </p:nvCxnSpPr>
        <p:spPr>
          <a:xfrm>
            <a:off x="6613397" y="3388105"/>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15150" y="3104641"/>
            <a:ext cx="1863089" cy="56692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SystemExit</a:t>
            </a:r>
          </a:p>
          <a:p>
            <a:pPr algn="ctr"/>
            <a:r>
              <a:rPr sz="950" b="0" i="0">
                <a:solidFill>
                  <a:srgbClr val="1F2933"/>
                </a:solidFill>
                <a:latin typeface="Calibri"/>
              </a:rPr>
              <a:t>code = 'This program needs no...'</a:t>
            </a:r>
          </a:p>
        </p:txBody>
      </p:sp>
      <p:sp>
        <p:nvSpPr>
          <p:cNvPr id="16" name="TextBox 15"/>
          <p:cNvSpPr txBox="1"/>
          <p:nvPr/>
        </p:nvSpPr>
        <p:spPr>
          <a:xfrm>
            <a:off x="365760" y="3772153"/>
            <a:ext cx="8412480" cy="365760"/>
          </a:xfrm>
          <a:prstGeom prst="rect">
            <a:avLst/>
          </a:prstGeom>
          <a:noFill/>
        </p:spPr>
        <p:txBody>
          <a:bodyPr wrap="square" lIns="45720" rIns="45720" tIns="27432" bIns="27432" anchor="t">
            <a:spAutoFit/>
          </a:bodyPr>
          <a:lstStyle/>
          <a:p>
            <a:r>
              <a:rPr sz="1050" b="0" i="1">
                <a:solidFill>
                  <a:srgbClr val="5B6773"/>
                </a:solidFill>
                <a:latin typeface="Calibri"/>
              </a:rPr>
              <a:t>A real run prints the message to standard error and ends the program with exit code 1.</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Say what is missing; leave with a message.</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Command line arguments: sys.argv</a:t>
            </a:r>
          </a:p>
        </p:txBody>
      </p:sp>
      <p:sp>
        <p:nvSpPr>
          <p:cNvPr id="4" name="code"/>
          <p:cNvSpPr/>
          <p:nvPr/>
        </p:nvSpPr>
        <p:spPr>
          <a:xfrm>
            <a:off x="365760" y="786384"/>
            <a:ext cx="5308091" cy="9428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shlex</a:t>
            </a:r>
          </a:p>
          <a:p>
            <a:pPr algn="l"/>
            <a:r>
              <a:rPr sz="1300" b="0" i="0">
                <a:solidFill>
                  <a:srgbClr val="8FA3B8"/>
                </a:solidFill>
                <a:latin typeface="Courier New"/>
              </a:rPr>
              <a:t>&gt;&gt;&gt; </a:t>
            </a:r>
            <a:r>
              <a:rPr sz="1300" b="0" i="0">
                <a:solidFill>
                  <a:srgbClr val="E6EDF3"/>
                </a:solidFill>
                <a:latin typeface="Courier New"/>
              </a:rPr>
              <a:t>typed</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9BE3A8"/>
                </a:solidFill>
                <a:latin typeface="Courier New"/>
              </a:rPr>
              <a:t>'python3 yourScript.py hello world'</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9BE3A8"/>
                </a:solidFill>
                <a:latin typeface="Courier New"/>
              </a:rPr>
              <a:t>'python3 yourScript.py "hello world"'</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9BE3A8"/>
                </a:solidFill>
                <a:latin typeface="Courier New"/>
              </a:rPr>
              <a:t>'python3 yourScript.py'</a:t>
            </a:r>
            <a:r>
              <a:rPr sz="1300" b="0" i="0">
                <a:solidFill>
                  <a:srgbClr val="E6EDF3"/>
                </a:solidFill>
                <a:latin typeface="Courier New"/>
              </a:rPr>
              <a:t>]</a:t>
            </a:r>
          </a:p>
        </p:txBody>
      </p:sp>
      <p:sp>
        <p:nvSpPr>
          <p:cNvPr id="5" name="explanation"/>
          <p:cNvSpPr txBox="1"/>
          <p:nvPr/>
        </p:nvSpPr>
        <p:spPr>
          <a:xfrm>
            <a:off x="5655564" y="786384"/>
            <a:ext cx="3122676" cy="942848"/>
          </a:xfrm>
          <a:prstGeom prst="rect">
            <a:avLst/>
          </a:prstGeom>
          <a:noFill/>
        </p:spPr>
        <p:txBody>
          <a:bodyPr wrap="square" lIns="128016" rIns="128016" tIns="18288" bIns="18288" anchor="ctr">
            <a:spAutoFit/>
          </a:bodyPr>
          <a:lstStyle/>
          <a:p>
            <a:r>
              <a:rPr sz="1250" b="0" i="0">
                <a:solidFill>
                  <a:srgbClr val="1F2933"/>
                </a:solidFill>
                <a:latin typeface="Calibri"/>
              </a:rPr>
              <a:t>Three ways to start the same script. The shell cuts each typed line into words before Python sees it.</a:t>
            </a:r>
          </a:p>
        </p:txBody>
      </p:sp>
      <p:sp>
        <p:nvSpPr>
          <p:cNvPr id="6" name="code"/>
          <p:cNvSpPr/>
          <p:nvPr/>
        </p:nvSpPr>
        <p:spPr>
          <a:xfrm>
            <a:off x="365760" y="1774952"/>
            <a:ext cx="530809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line</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typed</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argv</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shlex</a:t>
            </a:r>
            <a:r>
              <a:rPr sz="1300" b="0" i="0">
                <a:solidFill>
                  <a:srgbClr val="E6EDF3"/>
                </a:solidFill>
                <a:latin typeface="Courier New"/>
              </a:rPr>
              <a:t>.</a:t>
            </a:r>
            <a:r>
              <a:rPr sz="1300" b="0" i="0">
                <a:solidFill>
                  <a:srgbClr val="E6EDF3"/>
                </a:solidFill>
                <a:latin typeface="Courier New"/>
              </a:rPr>
              <a:t>split</a:t>
            </a:r>
            <a:r>
              <a:rPr sz="1300" b="0" i="0">
                <a:solidFill>
                  <a:srgbClr val="E6EDF3"/>
                </a:solidFill>
                <a:latin typeface="Courier New"/>
              </a:rPr>
              <a:t>(</a:t>
            </a:r>
            <a:r>
              <a:rPr sz="1300" b="0" i="0">
                <a:solidFill>
                  <a:srgbClr val="E6EDF3"/>
                </a:solidFill>
                <a:latin typeface="Courier New"/>
              </a:rPr>
              <a:t>line</a:t>
            </a:r>
            <a:r>
              <a:rPr sz="1300" b="0" i="0">
                <a:solidFill>
                  <a:srgbClr val="E6EDF3"/>
                </a:solidFill>
                <a:latin typeface="Courier New"/>
              </a:rPr>
              <a:t>)</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argv</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argv</a:t>
            </a:r>
            <a:r>
              <a:rPr sz="1300" b="0" i="0">
                <a:solidFill>
                  <a:srgbClr val="E6EDF3"/>
                </a:solidFill>
                <a:latin typeface="Courier New"/>
              </a:rPr>
              <a:t>)</a:t>
            </a:r>
          </a:p>
        </p:txBody>
      </p:sp>
      <p:sp>
        <p:nvSpPr>
          <p:cNvPr id="7" name="explanation"/>
          <p:cNvSpPr txBox="1"/>
          <p:nvPr/>
        </p:nvSpPr>
        <p:spPr>
          <a:xfrm>
            <a:off x="5655564" y="1774952"/>
            <a:ext cx="3122676" cy="921765"/>
          </a:xfrm>
          <a:prstGeom prst="rect">
            <a:avLst/>
          </a:prstGeom>
          <a:noFill/>
        </p:spPr>
        <p:txBody>
          <a:bodyPr wrap="square" lIns="128016" rIns="128016" tIns="18288" bIns="18288" anchor="ctr">
            <a:spAutoFit/>
          </a:bodyPr>
          <a:lstStyle/>
          <a:p>
            <a:r>
              <a:rPr sz="1250" b="0" i="0">
                <a:solidFill>
                  <a:srgbClr val="1F2933"/>
                </a:solidFill>
                <a:latin typeface="Calibri"/>
              </a:rPr>
              <a:t>shlex.split cuts a line the way a Unix shell does. Quotation marks keep two words together as one argument.</a:t>
            </a:r>
          </a:p>
        </p:txBody>
      </p:sp>
      <p:sp>
        <p:nvSpPr>
          <p:cNvPr id="8" name="result label"/>
          <p:cNvSpPr txBox="1"/>
          <p:nvPr/>
        </p:nvSpPr>
        <p:spPr>
          <a:xfrm>
            <a:off x="365760" y="276986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44189"/>
          <a:ext cx="6225234" cy="1243584"/>
        </p:xfrm>
        <a:graphic>
          <a:graphicData uri="http://schemas.openxmlformats.org/drawingml/2006/table">
            <a:tbl>
              <a:tblPr firstRow="0" bandRow="0"/>
              <a:tblGrid>
                <a:gridCol w="2710989"/>
                <a:gridCol w="2911803"/>
                <a:gridCol w="602442"/>
              </a:tblGrid>
              <a:tr h="310896">
                <a:tc>
                  <a:txBody>
                    <a:bodyPr wrap="square"/>
                    <a:lstStyle/>
                    <a:p>
                      <a:r>
                        <a:rPr sz="900" b="1" i="0">
                          <a:solidFill>
                            <a:srgbClr val="FFFFFF"/>
                          </a:solidFill>
                          <a:latin typeface="Calibri"/>
                        </a:rPr>
                        <a:t>Typed in the terminal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sys.argv inside the 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Items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00" b="0" i="0">
                          <a:solidFill>
                            <a:srgbClr val="1F2933"/>
                          </a:solidFill>
                          <a:latin typeface="Courier New"/>
                        </a:rPr>
                        <a:t>python3 yourScript.py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['yourScript.py',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00" b="0" i="0">
                          <a:solidFill>
                            <a:srgbClr val="1F2933"/>
                          </a:solidFill>
                          <a:latin typeface="Courier New"/>
                        </a:rPr>
                        <a:t>python3 yourScript.py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['yourScript.py',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900" b="0" i="0">
                          <a:solidFill>
                            <a:srgbClr val="1F2933"/>
                          </a:solidFill>
                          <a:latin typeface="Courier New"/>
                        </a:rPr>
                        <a:t>python3 yourScript.py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['yourScript.py']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6843369" y="3044189"/>
          <a:ext cx="1934870" cy="1564386"/>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shell cuts the words; argv keeps them.</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argparse: declare the arguments once</a:t>
            </a:r>
          </a:p>
        </p:txBody>
      </p:sp>
      <p:sp>
        <p:nvSpPr>
          <p:cNvPr id="4" name="code"/>
          <p:cNvSpPr/>
          <p:nvPr/>
        </p:nvSpPr>
        <p:spPr>
          <a:xfrm>
            <a:off x="365760" y="786384"/>
            <a:ext cx="8412480" cy="9428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argparse</a:t>
            </a:r>
          </a:p>
          <a:p>
            <a:pPr algn="l"/>
            <a:r>
              <a:rPr sz="1300" b="0" i="0">
                <a:solidFill>
                  <a:srgbClr val="8FA3B8"/>
                </a:solidFill>
                <a:latin typeface="Courier New"/>
              </a:rPr>
              <a:t>&gt;&gt;&gt; </a:t>
            </a:r>
            <a:r>
              <a:rPr sz="1300" b="0" i="0">
                <a:solidFill>
                  <a:srgbClr val="E6EDF3"/>
                </a:solidFill>
                <a:latin typeface="Courier New"/>
              </a:rPr>
              <a:t>p</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argparse</a:t>
            </a:r>
            <a:r>
              <a:rPr sz="1300" b="0" i="0">
                <a:solidFill>
                  <a:srgbClr val="E6EDF3"/>
                </a:solidFill>
                <a:latin typeface="Courier New"/>
              </a:rPr>
              <a:t>.</a:t>
            </a:r>
            <a:r>
              <a:rPr sz="1300" b="0" i="0">
                <a:solidFill>
                  <a:srgbClr val="E6EDF3"/>
                </a:solidFill>
                <a:latin typeface="Courier New"/>
              </a:rPr>
              <a:t>ArgumentParser</a:t>
            </a:r>
            <a:r>
              <a:rPr sz="1300" b="0" i="0">
                <a:solidFill>
                  <a:srgbClr val="E6EDF3"/>
                </a:solidFill>
                <a:latin typeface="Courier New"/>
              </a:rPr>
              <a:t>(</a:t>
            </a:r>
            <a:r>
              <a:rPr sz="1300" b="0" i="0">
                <a:solidFill>
                  <a:srgbClr val="E6EDF3"/>
                </a:solidFill>
                <a:latin typeface="Courier New"/>
              </a:rPr>
              <a:t>prog</a:t>
            </a:r>
            <a:r>
              <a:rPr sz="1300" b="0" i="0">
                <a:solidFill>
                  <a:srgbClr val="E6EDF3"/>
                </a:solidFill>
                <a:latin typeface="Courier New"/>
              </a:rPr>
              <a:t>=</a:t>
            </a:r>
            <a:r>
              <a:rPr sz="1300" b="0" i="0">
                <a:solidFill>
                  <a:srgbClr val="9BE3A8"/>
                </a:solidFill>
                <a:latin typeface="Courier New"/>
              </a:rPr>
              <a:t>'snowstorm'</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exit_on_error</a:t>
            </a:r>
            <a:r>
              <a:rPr sz="1300" b="0" i="0">
                <a:solidFill>
                  <a:srgbClr val="E6EDF3"/>
                </a:solidFill>
                <a:latin typeface="Courier New"/>
              </a:rPr>
              <a:t>=</a:t>
            </a:r>
            <a:r>
              <a:rPr sz="1300" b="0" i="0">
                <a:solidFill>
                  <a:srgbClr val="E6EDF3"/>
                </a:solidFill>
                <a:latin typeface="Courier New"/>
              </a:rPr>
              <a:t>False</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p</a:t>
            </a:r>
            <a:r>
              <a:rPr sz="1300" b="0" i="0">
                <a:solidFill>
                  <a:srgbClr val="E6EDF3"/>
                </a:solidFill>
                <a:latin typeface="Courier New"/>
              </a:rPr>
              <a:t>.</a:t>
            </a:r>
            <a:r>
              <a:rPr sz="1300" b="0" i="0">
                <a:solidFill>
                  <a:srgbClr val="E6EDF3"/>
                </a:solidFill>
                <a:latin typeface="Courier New"/>
              </a:rPr>
              <a:t>add_argument</a:t>
            </a:r>
            <a:r>
              <a:rPr sz="1300" b="0" i="0">
                <a:solidFill>
                  <a:srgbClr val="E6EDF3"/>
                </a:solidFill>
                <a:latin typeface="Courier New"/>
              </a:rPr>
              <a:t>(</a:t>
            </a:r>
            <a:r>
              <a:rPr sz="1300" b="0" i="0">
                <a:solidFill>
                  <a:srgbClr val="9BE3A8"/>
                </a:solidFill>
                <a:latin typeface="Courier New"/>
              </a:rPr>
              <a:t>'density'</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type</a:t>
            </a:r>
            <a:r>
              <a:rPr sz="1300" b="0" i="0">
                <a:solidFill>
                  <a:srgbClr val="E6EDF3"/>
                </a:solidFill>
                <a:latin typeface="Courier New"/>
              </a:rPr>
              <a:t>=</a:t>
            </a:r>
            <a:r>
              <a:rPr sz="1300" b="0" i="0">
                <a:solidFill>
                  <a:srgbClr val="E6EDF3"/>
                </a:solidFill>
                <a:latin typeface="Courier New"/>
              </a:rPr>
              <a:t>int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nargs</a:t>
            </a:r>
            <a:r>
              <a:rPr sz="1300" b="0" i="0">
                <a:solidFill>
                  <a:srgbClr val="E6EDF3"/>
                </a:solidFill>
                <a:latin typeface="Courier New"/>
              </a:rPr>
              <a:t>=</a:t>
            </a:r>
            <a:r>
              <a:rPr sz="1300" b="0" i="0">
                <a:solidFill>
                  <a:srgbClr val="9BE3A8"/>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default</a:t>
            </a:r>
            <a:r>
              <a:rPr sz="1300" b="0" i="0">
                <a:solidFill>
                  <a:srgbClr val="E6EDF3"/>
                </a:solidFill>
                <a:latin typeface="Courier New"/>
              </a:rPr>
              <a:t>=</a:t>
            </a:r>
            <a:r>
              <a:rPr sz="1300" b="0" i="0">
                <a:solidFill>
                  <a:srgbClr val="7CC4FF"/>
                </a:solidFill>
                <a:latin typeface="Courier New"/>
              </a:rPr>
              <a:t>4</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p</a:t>
            </a:r>
            <a:r>
              <a:rPr sz="1300" b="0" i="0">
                <a:solidFill>
                  <a:srgbClr val="E6EDF3"/>
                </a:solidFill>
                <a:latin typeface="Courier New"/>
              </a:rPr>
              <a:t>.</a:t>
            </a:r>
            <a:r>
              <a:rPr sz="1300" b="0" i="0">
                <a:solidFill>
                  <a:srgbClr val="E6EDF3"/>
                </a:solidFill>
                <a:latin typeface="Courier New"/>
              </a:rPr>
              <a:t>add_argument</a:t>
            </a:r>
            <a:r>
              <a:rPr sz="1300" b="0" i="0">
                <a:solidFill>
                  <a:srgbClr val="E6EDF3"/>
                </a:solidFill>
                <a:latin typeface="Courier New"/>
              </a:rPr>
              <a:t>(</a:t>
            </a:r>
            <a:r>
              <a:rPr sz="1300" b="0" i="0">
                <a:solidFill>
                  <a:srgbClr val="9BE3A8"/>
                </a:solidFill>
                <a:latin typeface="Courier New"/>
              </a:rPr>
              <a:t>'-v'</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'--verbose'</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action</a:t>
            </a:r>
            <a:r>
              <a:rPr sz="1300" b="0" i="0">
                <a:solidFill>
                  <a:srgbClr val="E6EDF3"/>
                </a:solidFill>
                <a:latin typeface="Courier New"/>
              </a:rPr>
              <a:t>=</a:t>
            </a:r>
            <a:r>
              <a:rPr sz="1300" b="0" i="0">
                <a:solidFill>
                  <a:srgbClr val="9BE3A8"/>
                </a:solidFill>
                <a:latin typeface="Courier New"/>
              </a:rPr>
              <a:t>'store_true'</a:t>
            </a:r>
            <a:r>
              <a:rPr sz="1300" b="0" i="0">
                <a:solidFill>
                  <a:srgbClr val="E6EDF3"/>
                </a:solidFill>
                <a:latin typeface="Courier New"/>
              </a:rPr>
              <a:t>)</a:t>
            </a:r>
          </a:p>
        </p:txBody>
      </p:sp>
      <p:sp>
        <p:nvSpPr>
          <p:cNvPr id="5" name="explanation"/>
          <p:cNvSpPr txBox="1"/>
          <p:nvPr/>
        </p:nvSpPr>
        <p:spPr>
          <a:xfrm>
            <a:off x="365760" y="1738375"/>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Declare each argument once: an optional number that defaults to 4, and a -v switch. argparse does the parsing.</a:t>
            </a:r>
          </a:p>
        </p:txBody>
      </p:sp>
      <p:sp>
        <p:nvSpPr>
          <p:cNvPr id="6" name="code"/>
          <p:cNvSpPr/>
          <p:nvPr/>
        </p:nvSpPr>
        <p:spPr>
          <a:xfrm>
            <a:off x="365760" y="2299843"/>
            <a:ext cx="8412480" cy="54000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argv</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9BE3A8"/>
                </a:solidFill>
                <a:latin typeface="Courier New"/>
              </a:rPr>
              <a:t>'20'</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'-v'</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argv</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'-&gt;'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vars</a:t>
            </a:r>
            <a:r>
              <a:rPr sz="1300" b="0" i="0">
                <a:solidFill>
                  <a:srgbClr val="E6EDF3"/>
                </a:solidFill>
                <a:latin typeface="Courier New"/>
              </a:rPr>
              <a:t>(</a:t>
            </a:r>
            <a:r>
              <a:rPr sz="1300" b="0" i="0">
                <a:solidFill>
                  <a:srgbClr val="E6EDF3"/>
                </a:solidFill>
                <a:latin typeface="Courier New"/>
              </a:rPr>
              <a:t>p</a:t>
            </a:r>
            <a:r>
              <a:rPr sz="1300" b="0" i="0">
                <a:solidFill>
                  <a:srgbClr val="E6EDF3"/>
                </a:solidFill>
                <a:latin typeface="Courier New"/>
              </a:rPr>
              <a:t>.</a:t>
            </a:r>
            <a:r>
              <a:rPr sz="1300" b="0" i="0">
                <a:solidFill>
                  <a:srgbClr val="E6EDF3"/>
                </a:solidFill>
                <a:latin typeface="Courier New"/>
              </a:rPr>
              <a:t>parse_args</a:t>
            </a:r>
            <a:r>
              <a:rPr sz="1300" b="0" i="0">
                <a:solidFill>
                  <a:srgbClr val="E6EDF3"/>
                </a:solidFill>
                <a:latin typeface="Courier New"/>
              </a:rPr>
              <a:t>(</a:t>
            </a:r>
            <a:r>
              <a:rPr sz="1300" b="0" i="0">
                <a:solidFill>
                  <a:srgbClr val="E6EDF3"/>
                </a:solidFill>
                <a:latin typeface="Courier New"/>
              </a:rPr>
              <a:t>argv</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365760" y="2848991"/>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parse_args turns the list of words into named values and fills in the defaults.</a:t>
            </a:r>
          </a:p>
        </p:txBody>
      </p:sp>
      <p:sp>
        <p:nvSpPr>
          <p:cNvPr id="8" name="result label"/>
          <p:cNvSpPr txBox="1"/>
          <p:nvPr/>
        </p:nvSpPr>
        <p:spPr>
          <a:xfrm>
            <a:off x="365760" y="323945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513772"/>
          <a:ext cx="5047487" cy="932688"/>
        </p:xfrm>
        <a:graphic>
          <a:graphicData uri="http://schemas.openxmlformats.org/drawingml/2006/table">
            <a:tbl>
              <a:tblPr firstRow="0" bandRow="0"/>
              <a:tblGrid>
                <a:gridCol w="2753175"/>
                <a:gridCol w="1147156"/>
                <a:gridCol w="1147156"/>
              </a:tblGrid>
              <a:tr h="310896">
                <a:tc>
                  <a:txBody>
                    <a:bodyPr wrap="square"/>
                    <a:lstStyle/>
                    <a:p>
                      <a:r>
                        <a:rPr sz="1050" b="1" i="0">
                          <a:solidFill>
                            <a:srgbClr val="FFFFFF"/>
                          </a:solidFill>
                          <a:latin typeface="Calibri"/>
                        </a:rPr>
                        <a:t>Words typed after snowstorm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density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verbose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20 -v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TextBox 9"/>
          <p:cNvSpPr txBox="1"/>
          <p:nvPr/>
        </p:nvSpPr>
        <p:spPr>
          <a:xfrm>
            <a:off x="5749747" y="3495484"/>
            <a:ext cx="3028492" cy="201168"/>
          </a:xfrm>
          <a:prstGeom prst="rect">
            <a:avLst/>
          </a:prstGeom>
          <a:noFill/>
        </p:spPr>
        <p:txBody>
          <a:bodyPr wrap="square" lIns="45720" rIns="45720" tIns="27432" bIns="27432" anchor="t">
            <a:spAutoFit/>
          </a:bodyPr>
          <a:lstStyle/>
          <a:p>
            <a:r>
              <a:rPr sz="950" b="0" i="1">
                <a:solidFill>
                  <a:srgbClr val="5B6773"/>
                </a:solidFill>
                <a:latin typeface="Calibri"/>
              </a:rPr>
              <a:t>density the program receives</a:t>
            </a:r>
          </a:p>
        </p:txBody>
      </p:sp>
      <p:graphicFrame>
        <p:nvGraphicFramePr>
          <p:cNvPr id="11" name="chart"/>
          <p:cNvGraphicFramePr>
            <a:graphicFrameLocks noGrp="1"/>
          </p:cNvGraphicFramePr>
          <p:nvPr/>
        </p:nvGraphicFramePr>
        <p:xfrm>
          <a:off x="5749747" y="3696652"/>
          <a:ext cx="3028492" cy="1005840"/>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Declare once; argparse parses and fills defaults.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argparse: a wrong word is refused</a:t>
            </a:r>
          </a:p>
        </p:txBody>
      </p:sp>
      <p:sp>
        <p:nvSpPr>
          <p:cNvPr id="4" name="code"/>
          <p:cNvSpPr/>
          <p:nvPr/>
        </p:nvSpPr>
        <p:spPr>
          <a:xfrm>
            <a:off x="365760" y="786384"/>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argparse</a:t>
            </a:r>
          </a:p>
          <a:p>
            <a:pPr algn="l"/>
            <a:r>
              <a:rPr sz="1100" b="0" i="0">
                <a:solidFill>
                  <a:srgbClr val="8FA3B8"/>
                </a:solidFill>
                <a:latin typeface="Courier New"/>
              </a:rPr>
              <a:t>&gt;&gt;&gt; </a:t>
            </a:r>
            <a:r>
              <a:rPr sz="1100" b="0" i="0">
                <a:solidFill>
                  <a:srgbClr val="E6EDF3"/>
                </a:solidFill>
                <a:latin typeface="Courier New"/>
              </a:rPr>
              <a:t>p</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argparse</a:t>
            </a:r>
            <a:r>
              <a:rPr sz="1100" b="0" i="0">
                <a:solidFill>
                  <a:srgbClr val="E6EDF3"/>
                </a:solidFill>
                <a:latin typeface="Courier New"/>
              </a:rPr>
              <a:t>.</a:t>
            </a:r>
            <a:r>
              <a:rPr sz="1100" b="0" i="0">
                <a:solidFill>
                  <a:srgbClr val="E6EDF3"/>
                </a:solidFill>
                <a:latin typeface="Courier New"/>
              </a:rPr>
              <a:t>ArgumentParser</a:t>
            </a:r>
            <a:r>
              <a:rPr sz="1100" b="0" i="0">
                <a:solidFill>
                  <a:srgbClr val="E6EDF3"/>
                </a:solidFill>
                <a:latin typeface="Courier New"/>
              </a:rPr>
              <a:t>(</a:t>
            </a:r>
            <a:r>
              <a:rPr sz="1100" b="0" i="0">
                <a:solidFill>
                  <a:srgbClr val="E6EDF3"/>
                </a:solidFill>
                <a:latin typeface="Courier New"/>
              </a:rPr>
              <a:t>prog</a:t>
            </a:r>
            <a:r>
              <a:rPr sz="1100" b="0" i="0">
                <a:solidFill>
                  <a:srgbClr val="E6EDF3"/>
                </a:solidFill>
                <a:latin typeface="Courier New"/>
              </a:rPr>
              <a:t>=</a:t>
            </a:r>
            <a:r>
              <a:rPr sz="1100" b="0" i="0">
                <a:solidFill>
                  <a:srgbClr val="9BE3A8"/>
                </a:solidFill>
                <a:latin typeface="Courier New"/>
              </a:rPr>
              <a:t>'snowstorm'</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exit_on_error</a:t>
            </a:r>
            <a:r>
              <a:rPr sz="1100" b="0" i="0">
                <a:solidFill>
                  <a:srgbClr val="E6EDF3"/>
                </a:solidFill>
                <a:latin typeface="Courier New"/>
              </a:rPr>
              <a:t>=</a:t>
            </a:r>
            <a:r>
              <a:rPr sz="1100" b="0" i="0">
                <a:solidFill>
                  <a:srgbClr val="E6EDF3"/>
                </a:solidFill>
                <a:latin typeface="Courier New"/>
              </a:rPr>
              <a:t>False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a:t>
            </a:r>
            <a:r>
              <a:rPr sz="1100" b="0" i="0">
                <a:solidFill>
                  <a:srgbClr val="E6EDF3"/>
                </a:solidFill>
                <a:latin typeface="Courier New"/>
              </a:rPr>
              <a:t>.</a:t>
            </a:r>
            <a:r>
              <a:rPr sz="1100" b="0" i="0">
                <a:solidFill>
                  <a:srgbClr val="E6EDF3"/>
                </a:solidFill>
                <a:latin typeface="Courier New"/>
              </a:rPr>
              <a:t>add_argument</a:t>
            </a:r>
            <a:r>
              <a:rPr sz="1100" b="0" i="0">
                <a:solidFill>
                  <a:srgbClr val="E6EDF3"/>
                </a:solidFill>
                <a:latin typeface="Courier New"/>
              </a:rPr>
              <a:t>(</a:t>
            </a:r>
            <a:r>
              <a:rPr sz="1100" b="0" i="0">
                <a:solidFill>
                  <a:srgbClr val="9BE3A8"/>
                </a:solidFill>
                <a:latin typeface="Courier New"/>
              </a:rPr>
              <a:t>'density'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int</a:t>
            </a:r>
            <a:r>
              <a:rPr sz="1100" b="0" i="0">
                <a:solidFill>
                  <a:srgbClr val="E6EDF3"/>
                </a:solidFill>
                <a:latin typeface="Courier New"/>
              </a:rPr>
              <a:t>)</a:t>
            </a:r>
          </a:p>
        </p:txBody>
      </p:sp>
      <p:sp>
        <p:nvSpPr>
          <p:cNvPr id="5" name="explanation"/>
          <p:cNvSpPr txBox="1"/>
          <p:nvPr/>
        </p:nvSpPr>
        <p:spPr>
          <a:xfrm>
            <a:off x="365760" y="1443990"/>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The same parser, now with a required number. The declaration says the density must be an int.</a:t>
            </a:r>
          </a:p>
        </p:txBody>
      </p:sp>
      <p:sp>
        <p:nvSpPr>
          <p:cNvPr id="6" name="code"/>
          <p:cNvSpPr/>
          <p:nvPr/>
        </p:nvSpPr>
        <p:spPr>
          <a:xfrm>
            <a:off x="365760" y="1799082"/>
            <a:ext cx="8412480"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p</a:t>
            </a:r>
            <a:r>
              <a:rPr sz="1100" b="0" i="0">
                <a:solidFill>
                  <a:srgbClr val="E6EDF3"/>
                </a:solidFill>
                <a:latin typeface="Courier New"/>
              </a:rPr>
              <a:t>.</a:t>
            </a:r>
            <a:r>
              <a:rPr sz="1100" b="0" i="0">
                <a:solidFill>
                  <a:srgbClr val="E6EDF3"/>
                </a:solidFill>
                <a:latin typeface="Courier New"/>
              </a:rPr>
              <a:t>parse_args</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'lots'</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argparse</a:t>
            </a:r>
            <a:r>
              <a:rPr sz="1100" b="0" i="0">
                <a:solidFill>
                  <a:srgbClr val="E6EDF3"/>
                </a:solidFill>
                <a:latin typeface="Courier New"/>
              </a:rPr>
              <a:t>.</a:t>
            </a:r>
            <a:r>
              <a:rPr sz="1100" b="0" i="0">
                <a:solidFill>
                  <a:srgbClr val="E6EDF3"/>
                </a:solidFill>
                <a:latin typeface="Courier New"/>
              </a:rPr>
              <a:t>ArgumentError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'Result: refused,'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p:txBody>
      </p:sp>
      <p:sp>
        <p:nvSpPr>
          <p:cNvPr id="7" name="explanation"/>
          <p:cNvSpPr txBox="1"/>
          <p:nvPr/>
        </p:nvSpPr>
        <p:spPr>
          <a:xfrm>
            <a:off x="365760" y="2627122"/>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A word that is not a number is refused with a clear message. In a terminal the program would also stop with exit code 2.</a:t>
            </a:r>
          </a:p>
        </p:txBody>
      </p:sp>
      <p:sp>
        <p:nvSpPr>
          <p:cNvPr id="8" name="result label"/>
          <p:cNvSpPr txBox="1"/>
          <p:nvPr/>
        </p:nvSpPr>
        <p:spPr>
          <a:xfrm>
            <a:off x="365760" y="320014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520185"/>
            <a:ext cx="1863089"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snowstorm lots</a:t>
            </a:r>
          </a:p>
        </p:txBody>
      </p:sp>
      <p:cxnSp>
        <p:nvCxnSpPr>
          <p:cNvPr id="10" name="arrow"/>
          <p:cNvCxnSpPr/>
          <p:nvPr/>
        </p:nvCxnSpPr>
        <p:spPr>
          <a:xfrm>
            <a:off x="2247137" y="3803650"/>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48889" y="3520185"/>
            <a:ext cx="1863089" cy="566928"/>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type=int:</a:t>
            </a:r>
          </a:p>
          <a:p>
            <a:pPr algn="ctr"/>
            <a:r>
              <a:rPr sz="950" b="0" i="0">
                <a:solidFill>
                  <a:srgbClr val="1F2933"/>
                </a:solidFill>
                <a:latin typeface="Calibri"/>
              </a:rPr>
              <a:t>int('lots') fails</a:t>
            </a:r>
          </a:p>
        </p:txBody>
      </p:sp>
      <p:cxnSp>
        <p:nvCxnSpPr>
          <p:cNvPr id="12" name="arrow"/>
          <p:cNvCxnSpPr/>
          <p:nvPr/>
        </p:nvCxnSpPr>
        <p:spPr>
          <a:xfrm>
            <a:off x="4430267" y="3803650"/>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32020" y="3520185"/>
            <a:ext cx="1863089"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ArgumentError</a:t>
            </a:r>
          </a:p>
        </p:txBody>
      </p:sp>
      <p:cxnSp>
        <p:nvCxnSpPr>
          <p:cNvPr id="14" name="arrow"/>
          <p:cNvCxnSpPr/>
          <p:nvPr/>
        </p:nvCxnSpPr>
        <p:spPr>
          <a:xfrm>
            <a:off x="6613397" y="3803650"/>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15150" y="3520185"/>
            <a:ext cx="1863089" cy="56692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argument density: invalid int value: 'l...</a:t>
            </a:r>
          </a:p>
        </p:txBody>
      </p:sp>
      <p:sp>
        <p:nvSpPr>
          <p:cNvPr id="16" name="TextBox 15"/>
          <p:cNvSpPr txBox="1"/>
          <p:nvPr/>
        </p:nvSpPr>
        <p:spPr>
          <a:xfrm>
            <a:off x="365760" y="4187698"/>
            <a:ext cx="8412480" cy="365760"/>
          </a:xfrm>
          <a:prstGeom prst="rect">
            <a:avLst/>
          </a:prstGeom>
          <a:noFill/>
        </p:spPr>
        <p:txBody>
          <a:bodyPr wrap="square" lIns="45720" rIns="45720" tIns="27432" bIns="27432" anchor="t">
            <a:spAutoFit/>
          </a:bodyPr>
          <a:lstStyle/>
          <a:p>
            <a:r>
              <a:rPr sz="1050" b="0" i="1">
                <a:solidFill>
                  <a:srgbClr val="5B6773"/>
                </a:solidFill>
                <a:latin typeface="Calibri"/>
              </a:rPr>
              <a:t>argparse writes the usage message and, in a terminal, the program stops with exit code 2.</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wrong word is refused with a clear message.</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Designing the terminal output</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Quiet by default, characters for pictures, escape codes for colour</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Quiet default</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Print little, so that another program can read it.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chr and ord</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Convert between numbers and characters.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Escape codes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Numbered signals that colour the text.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Snowstorm</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flip-book animation drawn with block characters.</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how a program looks...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Text-based design: quiet by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the pipe and the quiet command,...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a text screen that felt like a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Terminal presentation: chr and os.system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Colour in the terminal: what bext.fg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Pop-ups, sound and colour: helpers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Snowstorm: one frame of the animation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how a program looks and sounds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text program is a shop window drawn in chalk: only characters, arranged to attract.</a:t>
            </a:r>
          </a:p>
        </p:txBody>
      </p:sp>
      <p:graphicFrame>
        <p:nvGraphicFramePr>
          <p:cNvPr id="6" name="table"/>
          <p:cNvGraphicFramePr>
            <a:graphicFrameLocks noGrp="1"/>
          </p:cNvGraphicFramePr>
          <p:nvPr/>
        </p:nvGraphicFramePr>
        <p:xfrm>
          <a:off x="365760" y="1417320"/>
          <a:ext cx="8412480" cy="3017510"/>
        </p:xfrm>
        <a:graphic>
          <a:graphicData uri="http://schemas.openxmlformats.org/drawingml/2006/table">
            <a:tbl>
              <a:tblPr firstRow="0" bandRow="0"/>
              <a:tblGrid>
                <a:gridCol w="3291840"/>
                <a:gridCol w="5120640"/>
              </a:tblGrid>
              <a:tr h="301751">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01751">
                <a:tc>
                  <a:txBody>
                    <a:bodyPr wrap="square"/>
                    <a:lstStyle/>
                    <a:p>
                      <a:r>
                        <a:rPr sz="1100" b="1" i="0">
                          <a:solidFill>
                            <a:srgbClr val="1F2933"/>
                          </a:solidFill>
                          <a:latin typeface="Calibri"/>
                        </a:rPr>
                        <a:t>Text-Based Program Design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road sign: short, readable at a glance, silent unless it matters.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751">
                <a:tc>
                  <a:txBody>
                    <a:bodyPr wrap="square"/>
                    <a:lstStyle/>
                    <a:p>
                      <a:r>
                        <a:rPr sz="1100" b="1" i="0">
                          <a:solidFill>
                            <a:srgbClr val="1F2933"/>
                          </a:solidFill>
                          <a:latin typeface="Calibri"/>
                        </a:rPr>
                        <a:t>Terminal presentation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chalk drawing on a pavement: only strokes, but colour and layout carry the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751">
                <a:tc>
                  <a:txBody>
                    <a:bodyPr wrap="square"/>
                    <a:lstStyle/>
                    <a:p>
                      <a:r>
                        <a:rPr sz="1100" b="1" i="0">
                          <a:solidFill>
                            <a:srgbClr val="1F2933"/>
                          </a:solidFill>
                          <a:latin typeface="Calibri"/>
                        </a:rPr>
                        <a:t>A Short Program: Snowstorm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flip book: clear the page, draw one frame, flip, and repeat.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751">
                <a:tc>
                  <a:txBody>
                    <a:bodyPr wrap="square"/>
                    <a:lstStyle/>
                    <a:p>
                      <a:r>
                        <a:rPr sz="1100" b="1" i="0">
                          <a:solidFill>
                            <a:srgbClr val="1F2933"/>
                          </a:solidFill>
                          <a:latin typeface="Calibri"/>
                        </a:rPr>
                        <a:t>os.system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Passing a note through the kitchen hatch: Python writes the order, the shell cooks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751">
                <a:tc>
                  <a:txBody>
                    <a:bodyPr wrap="square"/>
                    <a:lstStyle/>
                    <a:p>
                      <a:r>
                        <a:rPr sz="1100" b="1" i="0">
                          <a:solidFill>
                            <a:srgbClr val="1F2933"/>
                          </a:solidFill>
                          <a:latin typeface="Calibri"/>
                        </a:rPr>
                        <a:t>chr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typewriter key: a number goes in, a character comes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751">
                <a:tc>
                  <a:txBody>
                    <a:bodyPr wrap="square"/>
                    <a:lstStyle/>
                    <a:p>
                      <a:r>
                        <a:rPr sz="1100" b="1" i="0">
                          <a:solidFill>
                            <a:srgbClr val="1F2933"/>
                          </a:solidFill>
                          <a:latin typeface="Calibri"/>
                        </a:rPr>
                        <a:t>bext.fg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coloured pen for the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751">
                <a:tc>
                  <a:txBody>
                    <a:bodyPr wrap="square"/>
                    <a:lstStyle/>
                    <a:p>
                      <a:r>
                        <a:rPr sz="1100" b="1" i="0">
                          <a:solidFill>
                            <a:srgbClr val="1F2933"/>
                          </a:solidFill>
                          <a:latin typeface="Calibri"/>
                        </a:rPr>
                        <a:t>bext.bg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coloured sheet of paper behind the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751">
                <a:tc>
                  <a:txBody>
                    <a:bodyPr wrap="square"/>
                    <a:lstStyle/>
                    <a:p>
                      <a:r>
                        <a:rPr sz="1100" b="1" i="0">
                          <a:solidFill>
                            <a:srgbClr val="1F2933"/>
                          </a:solidFill>
                          <a:latin typeface="Calibri"/>
                        </a:rPr>
                        <a:t>Pop-up Message Boxes with PyMsgBox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doorbell: it interrupts the person, so ring it only for what needs an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751">
                <a:tc>
                  <a:txBody>
                    <a:bodyPr wrap="square"/>
                    <a:lstStyle/>
                    <a:p>
                      <a:r>
                        <a:rPr sz="1100" b="1" i="0">
                          <a:solidFill>
                            <a:srgbClr val="1F2933"/>
                          </a:solidFill>
                          <a:latin typeface="Calibri"/>
                        </a:rPr>
                        <a:t>playsound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kitchen timer: it announces the end with a sound instead of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Text-based design: quiet by default</a:t>
            </a:r>
          </a:p>
        </p:txBody>
      </p:sp>
      <p:sp>
        <p:nvSpPr>
          <p:cNvPr id="4" name="code"/>
          <p:cNvSpPr/>
          <p:nvPr/>
        </p:nvSpPr>
        <p:spPr>
          <a:xfrm>
            <a:off x="365760" y="786384"/>
            <a:ext cx="546811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argparse</a:t>
            </a:r>
          </a:p>
          <a:p>
            <a:pPr algn="l"/>
            <a:r>
              <a:rPr sz="900" b="0" i="0">
                <a:solidFill>
                  <a:srgbClr val="8FA3B8"/>
                </a:solidFill>
                <a:latin typeface="Courier New"/>
              </a:rPr>
              <a:t>&gt;&gt;&gt; </a:t>
            </a:r>
            <a:r>
              <a:rPr sz="900" b="0" i="0">
                <a:solidFill>
                  <a:srgbClr val="E6EDF3"/>
                </a:solidFill>
                <a:latin typeface="Courier New"/>
              </a:rPr>
              <a:t>p</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argparse</a:t>
            </a:r>
            <a:r>
              <a:rPr sz="900" b="0" i="0">
                <a:solidFill>
                  <a:srgbClr val="E6EDF3"/>
                </a:solidFill>
                <a:latin typeface="Courier New"/>
              </a:rPr>
              <a:t>.</a:t>
            </a:r>
            <a:r>
              <a:rPr sz="900" b="0" i="0">
                <a:solidFill>
                  <a:srgbClr val="E6EDF3"/>
                </a:solidFill>
                <a:latin typeface="Courier New"/>
              </a:rPr>
              <a:t>ArgumentParser</a:t>
            </a:r>
            <a:r>
              <a:rPr sz="900" b="0" i="0">
                <a:solidFill>
                  <a:srgbClr val="E6EDF3"/>
                </a:solidFill>
                <a:latin typeface="Courier New"/>
              </a:rPr>
              <a:t>(</a:t>
            </a:r>
            <a:r>
              <a:rPr sz="900" b="0" i="0">
                <a:solidFill>
                  <a:srgbClr val="E6EDF3"/>
                </a:solidFill>
                <a:latin typeface="Courier New"/>
              </a:rPr>
              <a:t>prog</a:t>
            </a:r>
            <a:r>
              <a:rPr sz="900" b="0" i="0">
                <a:solidFill>
                  <a:srgbClr val="E6EDF3"/>
                </a:solidFill>
                <a:latin typeface="Courier New"/>
              </a:rPr>
              <a:t>=</a:t>
            </a:r>
            <a:r>
              <a:rPr sz="900" b="0" i="0">
                <a:solidFill>
                  <a:srgbClr val="9BE3A8"/>
                </a:solidFill>
                <a:latin typeface="Courier New"/>
              </a:rPr>
              <a:t>'backup'</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exit_on_error</a:t>
            </a:r>
            <a:r>
              <a:rPr sz="900" b="0" i="0">
                <a:solidFill>
                  <a:srgbClr val="E6EDF3"/>
                </a:solidFill>
                <a:latin typeface="Courier New"/>
              </a:rPr>
              <a:t>=</a:t>
            </a:r>
            <a:r>
              <a:rPr sz="900" b="0" i="0">
                <a:solidFill>
                  <a:srgbClr val="E6EDF3"/>
                </a:solidFill>
                <a:latin typeface="Courier New"/>
              </a:rPr>
              <a:t>False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add_argument</a:t>
            </a:r>
            <a:r>
              <a:rPr sz="900" b="0" i="0">
                <a:solidFill>
                  <a:srgbClr val="E6EDF3"/>
                </a:solidFill>
                <a:latin typeface="Courier New"/>
              </a:rPr>
              <a:t>(</a:t>
            </a:r>
            <a:r>
              <a:rPr sz="900" b="0" i="0">
                <a:solidFill>
                  <a:srgbClr val="9BE3A8"/>
                </a:solidFill>
                <a:latin typeface="Courier New"/>
              </a:rPr>
              <a:t>'-v'</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'--verbose'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action</a:t>
            </a:r>
            <a:r>
              <a:rPr sz="900" b="0" i="0">
                <a:solidFill>
                  <a:srgbClr val="E6EDF3"/>
                </a:solidFill>
                <a:latin typeface="Courier New"/>
              </a:rPr>
              <a:t>=</a:t>
            </a:r>
            <a:r>
              <a:rPr sz="900" b="0" i="0">
                <a:solidFill>
                  <a:srgbClr val="9BE3A8"/>
                </a:solidFill>
                <a:latin typeface="Courier New"/>
              </a:rPr>
              <a:t>'store_true'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add_argument</a:t>
            </a:r>
            <a:r>
              <a:rPr sz="900" b="0" i="0">
                <a:solidFill>
                  <a:srgbClr val="E6EDF3"/>
                </a:solidFill>
                <a:latin typeface="Courier New"/>
              </a:rPr>
              <a:t>(</a:t>
            </a:r>
            <a:r>
              <a:rPr sz="900" b="0" i="0">
                <a:solidFill>
                  <a:srgbClr val="9BE3A8"/>
                </a:solidFill>
                <a:latin typeface="Courier New"/>
              </a:rPr>
              <a:t>'-q'</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'--quiet'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action</a:t>
            </a:r>
            <a:r>
              <a:rPr sz="900" b="0" i="0">
                <a:solidFill>
                  <a:srgbClr val="E6EDF3"/>
                </a:solidFill>
                <a:latin typeface="Courier New"/>
              </a:rPr>
              <a:t>=</a:t>
            </a:r>
            <a:r>
              <a:rPr sz="900" b="0" i="0">
                <a:solidFill>
                  <a:srgbClr val="9BE3A8"/>
                </a:solidFill>
                <a:latin typeface="Courier New"/>
              </a:rPr>
              <a:t>'store_true'</a:t>
            </a:r>
            <a:r>
              <a:rPr sz="900" b="0" i="0">
                <a:solidFill>
                  <a:srgbClr val="E6EDF3"/>
                </a:solidFill>
                <a:latin typeface="Courier New"/>
              </a:rPr>
              <a:t>)</a:t>
            </a:r>
          </a:p>
        </p:txBody>
      </p:sp>
      <p:sp>
        <p:nvSpPr>
          <p:cNvPr id="5" name="explanation"/>
          <p:cNvSpPr txBox="1"/>
          <p:nvPr/>
        </p:nvSpPr>
        <p:spPr>
          <a:xfrm>
            <a:off x="5815584" y="786384"/>
            <a:ext cx="2962655" cy="694944"/>
          </a:xfrm>
          <a:prstGeom prst="rect">
            <a:avLst/>
          </a:prstGeom>
          <a:noFill/>
        </p:spPr>
        <p:txBody>
          <a:bodyPr wrap="square" lIns="128016" rIns="128016" tIns="18288" bIns="18288" anchor="ctr">
            <a:spAutoFit/>
          </a:bodyPr>
          <a:lstStyle/>
          <a:p>
            <a:r>
              <a:rPr sz="1100" b="0" i="0">
                <a:solidFill>
                  <a:srgbClr val="1F2933"/>
                </a:solidFill>
                <a:latin typeface="Calibri"/>
              </a:rPr>
              <a:t>Two switches: -v asks for more output and -q for none. Without either, the command stays short.</a:t>
            </a:r>
          </a:p>
        </p:txBody>
      </p:sp>
      <p:sp>
        <p:nvSpPr>
          <p:cNvPr id="6" name="code"/>
          <p:cNvSpPr/>
          <p:nvPr/>
        </p:nvSpPr>
        <p:spPr>
          <a:xfrm>
            <a:off x="365760" y="1527048"/>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steps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'reading 3 files'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'zipping'</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'saved backup.zip'</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report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lambda</a:t>
            </a:r>
            <a:r>
              <a:rPr sz="900" b="0" i="0">
                <a:solidFill>
                  <a:srgbClr val="E6EDF3"/>
                </a:solidFill>
                <a:latin typeface="Courier New"/>
              </a:rPr>
              <a:t> </a:t>
            </a:r>
            <a:r>
              <a:rPr sz="900" b="0" i="0">
                <a:solidFill>
                  <a:srgbClr val="E6EDF3"/>
                </a:solidFill>
                <a:latin typeface="Courier New"/>
              </a:rPr>
              <a:t>a</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a</a:t>
            </a:r>
            <a:r>
              <a:rPr sz="900" b="0" i="0">
                <a:solidFill>
                  <a:srgbClr val="E6EDF3"/>
                </a:solidFill>
                <a:latin typeface="Courier New"/>
              </a:rPr>
              <a:t>.</a:t>
            </a:r>
            <a:r>
              <a:rPr sz="900" b="0" i="0">
                <a:solidFill>
                  <a:srgbClr val="E6EDF3"/>
                </a:solidFill>
                <a:latin typeface="Courier New"/>
              </a:rPr>
              <a:t>quiet</a:t>
            </a:r>
            <a:r>
              <a:rPr sz="900" b="0" i="0">
                <a:solidFill>
                  <a:srgbClr val="E6EDF3"/>
                </a:solidFill>
                <a:latin typeface="Courier New"/>
              </a:rPr>
              <a:t> </a:t>
            </a:r>
            <a:r>
              <a:rPr sz="900" b="0" i="0">
                <a:solidFill>
                  <a:srgbClr val="C9A0FF"/>
                </a:solidFill>
                <a:latin typeface="Courier New"/>
              </a:rPr>
              <a:t>else</a:t>
            </a:r>
            <a:r>
              <a:rPr sz="900" b="0" i="0">
                <a:solidFill>
                  <a:srgbClr val="E6EDF3"/>
                </a:solidFill>
                <a:latin typeface="Courier New"/>
              </a:rPr>
              <a:t> </a:t>
            </a:r>
            <a:r>
              <a:rPr sz="900" b="0" i="0">
                <a:solidFill>
                  <a:srgbClr val="E6EDF3"/>
                </a:solidFill>
                <a:latin typeface="Courier New"/>
              </a:rPr>
              <a:t>steps</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a</a:t>
            </a:r>
            <a:r>
              <a:rPr sz="900" b="0" i="0">
                <a:solidFill>
                  <a:srgbClr val="E6EDF3"/>
                </a:solidFill>
                <a:latin typeface="Courier New"/>
              </a:rPr>
              <a:t>.</a:t>
            </a:r>
            <a:r>
              <a:rPr sz="900" b="0" i="0">
                <a:solidFill>
                  <a:srgbClr val="E6EDF3"/>
                </a:solidFill>
                <a:latin typeface="Courier New"/>
              </a:rPr>
              <a:t>verbose</a:t>
            </a:r>
            <a:r>
              <a:rPr sz="900" b="0" i="0">
                <a:solidFill>
                  <a:srgbClr val="E6EDF3"/>
                </a:solidFill>
                <a:latin typeface="Courier New"/>
              </a:rPr>
              <a:t> </a:t>
            </a:r>
            <a:r>
              <a:rPr sz="900" b="0" i="0">
                <a:solidFill>
                  <a:srgbClr val="C9A0FF"/>
                </a:solidFill>
                <a:latin typeface="Courier New"/>
              </a:rPr>
              <a:t>else</a:t>
            </a:r>
            <a:r>
              <a:rPr sz="900" b="0" i="0">
                <a:solidFill>
                  <a:srgbClr val="E6EDF3"/>
                </a:solidFill>
                <a:latin typeface="Courier New"/>
              </a:rPr>
              <a:t> </a:t>
            </a:r>
            <a:r>
              <a:rPr sz="900" b="0" i="0">
                <a:solidFill>
                  <a:srgbClr val="E6EDF3"/>
                </a:solidFill>
                <a:latin typeface="Courier New"/>
              </a:rPr>
              <a:t>steps</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815584" y="1527048"/>
            <a:ext cx="2962655" cy="651891"/>
          </a:xfrm>
          <a:prstGeom prst="rect">
            <a:avLst/>
          </a:prstGeom>
          <a:noFill/>
        </p:spPr>
        <p:txBody>
          <a:bodyPr wrap="square" lIns="128016" rIns="128016" tIns="18288" bIns="18288" anchor="ctr">
            <a:spAutoFit/>
          </a:bodyPr>
          <a:lstStyle/>
          <a:p>
            <a:r>
              <a:rPr sz="1100" b="0" i="0">
                <a:solidFill>
                  <a:srgbClr val="1F2933"/>
                </a:solidFill>
                <a:latin typeface="Calibri"/>
              </a:rPr>
              <a:t>Quiet prints nothing, verbose every step, and the default only the last line, the result.</a:t>
            </a:r>
          </a:p>
        </p:txBody>
      </p:sp>
      <p:sp>
        <p:nvSpPr>
          <p:cNvPr id="8" name="code"/>
          <p:cNvSpPr/>
          <p:nvPr/>
        </p:nvSpPr>
        <p:spPr>
          <a:xfrm>
            <a:off x="365760" y="2224658"/>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argv</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'-v'</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'-q'</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argv</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'-&gt;'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report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parse_args</a:t>
            </a:r>
            <a:r>
              <a:rPr sz="900" b="0" i="0">
                <a:solidFill>
                  <a:srgbClr val="E6EDF3"/>
                </a:solidFill>
                <a:latin typeface="Courier New"/>
              </a:rPr>
              <a:t>(</a:t>
            </a:r>
            <a:r>
              <a:rPr sz="900" b="0" i="0">
                <a:solidFill>
                  <a:srgbClr val="E6EDF3"/>
                </a:solidFill>
                <a:latin typeface="Courier New"/>
              </a:rPr>
              <a:t>argv</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815584" y="2224658"/>
            <a:ext cx="2962655" cy="651891"/>
          </a:xfrm>
          <a:prstGeom prst="rect">
            <a:avLst/>
          </a:prstGeom>
          <a:noFill/>
        </p:spPr>
        <p:txBody>
          <a:bodyPr wrap="square" lIns="128016" rIns="128016" tIns="18288" bIns="18288" anchor="ctr">
            <a:spAutoFit/>
          </a:bodyPr>
          <a:lstStyle/>
          <a:p>
            <a:r>
              <a:rPr sz="1100" b="0" i="0">
                <a:solidFill>
                  <a:srgbClr val="1F2933"/>
                </a:solidFill>
                <a:latin typeface="Calibri"/>
              </a:rPr>
              <a:t>Run it three ways. Short default output is easy for another program to read.</a:t>
            </a:r>
          </a:p>
        </p:txBody>
      </p:sp>
      <p:sp>
        <p:nvSpPr>
          <p:cNvPr id="10" name="result label"/>
          <p:cNvSpPr txBox="1"/>
          <p:nvPr/>
        </p:nvSpPr>
        <p:spPr>
          <a:xfrm>
            <a:off x="365760" y="294970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24021"/>
          <a:ext cx="5552235" cy="1170432"/>
        </p:xfrm>
        <a:graphic>
          <a:graphicData uri="http://schemas.openxmlformats.org/drawingml/2006/table">
            <a:tbl>
              <a:tblPr firstRow="0" bandRow="0"/>
              <a:tblGrid>
                <a:gridCol w="892323"/>
                <a:gridCol w="793176"/>
                <a:gridCol w="3866736"/>
              </a:tblGrid>
              <a:tr h="292608">
                <a:tc>
                  <a:txBody>
                    <a:bodyPr wrap="square"/>
                    <a:lstStyle/>
                    <a:p>
                      <a:r>
                        <a:rPr sz="950" b="1" i="0">
                          <a:solidFill>
                            <a:srgbClr val="FFFFFF"/>
                          </a:solidFill>
                          <a:latin typeface="Calibri"/>
                        </a:rPr>
                        <a:t>Switch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What the user sees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950" b="0" i="0">
                          <a:solidFill>
                            <a:srgbClr val="1F2933"/>
                          </a:solidFill>
                          <a:latin typeface="Courier New"/>
                        </a:rPr>
                        <a:t>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saved backup.zip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950" b="0" i="0">
                          <a:solidFill>
                            <a:srgbClr val="1F2933"/>
                          </a:solidFill>
                          <a:latin typeface="Courier New"/>
                        </a:rPr>
                        <a:t>-v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reading 3 files / zipping / saved backup.zip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950" b="0" i="0">
                          <a:solidFill>
                            <a:srgbClr val="1F2933"/>
                          </a:solidFill>
                          <a:latin typeface="Courier New"/>
                        </a:rPr>
                        <a:t>-q</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TextBox 11"/>
          <p:cNvSpPr txBox="1"/>
          <p:nvPr/>
        </p:nvSpPr>
        <p:spPr>
          <a:xfrm>
            <a:off x="6170371" y="3205733"/>
            <a:ext cx="2607868" cy="201168"/>
          </a:xfrm>
          <a:prstGeom prst="rect">
            <a:avLst/>
          </a:prstGeom>
          <a:noFill/>
        </p:spPr>
        <p:txBody>
          <a:bodyPr wrap="square" lIns="45720" rIns="45720" tIns="27432" bIns="27432" anchor="t">
            <a:spAutoFit/>
          </a:bodyPr>
          <a:lstStyle/>
          <a:p>
            <a:r>
              <a:rPr sz="950" b="0" i="1">
                <a:solidFill>
                  <a:srgbClr val="5B6773"/>
                </a:solidFill>
                <a:latin typeface="Calibri"/>
              </a:rPr>
              <a:t>lines printed per switch</a:t>
            </a:r>
          </a:p>
        </p:txBody>
      </p:sp>
      <p:graphicFrame>
        <p:nvGraphicFramePr>
          <p:cNvPr id="13" name="chart"/>
          <p:cNvGraphicFramePr>
            <a:graphicFrameLocks noGrp="1"/>
          </p:cNvGraphicFramePr>
          <p:nvPr/>
        </p:nvGraphicFramePr>
        <p:xfrm>
          <a:off x="6170371" y="3406902"/>
          <a:ext cx="2607868" cy="1201674"/>
        </p:xfrm>
        <a:graphic>
          <a:graphicData uri="http://schemas.openxmlformats.org/drawingml/2006/chart">
            <c:chart xmlns:c="http://schemas.openxmlformats.org/drawingml/2006/chart" r:id="rId3"/>
          </a:graphicData>
        </a:graphic>
      </p:graphicFrame>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Quiet by default; -v for more, -q for none.</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pipe and the quiet command, 1973</a:t>
            </a:r>
          </a:p>
        </p:txBody>
      </p:sp>
      <p:pic>
        <p:nvPicPr>
          <p:cNvPr id="4" name="photo pipes" descr="Picture for the story: the pipe and the quiet command, 1973"/>
          <p:cNvPicPr>
            <a:picLocks noChangeAspect="1"/>
          </p:cNvPicPr>
          <p:nvPr/>
        </p:nvPicPr>
        <p:blipFill>
          <a:blip r:embed="rId3"/>
          <a:stretch>
            <a:fillRect/>
          </a:stretch>
        </p:blipFill>
        <p:spPr>
          <a:xfrm>
            <a:off x="366084" y="868680"/>
            <a:ext cx="2651111"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Douglas McIlroy. Image: Denise Panyik-Dale, CC BY 2.0,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Doug McIlroy, head of the Computing Techniques Research Department at Bell Labs, and Ken Thompson.</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pipe: the output of one program becomes the input of the next.</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McIlroy proposed it in a 1964 memo; Thompson added pipes to Version 3 Unix in 1973.</a:t>
            </a:r>
          </a:p>
        </p:txBody>
      </p:sp>
      <p:sp>
        <p:nvSpPr>
          <p:cNvPr id="12" name="card"/>
          <p:cNvSpPr/>
          <p:nvPr/>
        </p:nvSpPr>
        <p:spPr>
          <a:xfrm>
            <a:off x="3200400" y="270662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Bell Labs, the birthplace of Unix.</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Each program should do one thing well and feed another, as yet unknown, program.</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The 1978 maxims add: do not clutter output. So a command stays quiet unless --verbose asks.</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Pipeline (Unix)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 text screen that felt like a desktop, 1986</a:t>
            </a:r>
          </a:p>
        </p:txBody>
      </p:sp>
      <p:pic>
        <p:nvPicPr>
          <p:cNvPr id="4" name="photo norton" descr="Picture for the story: a text screen that felt like a desktop, 1986"/>
          <p:cNvPicPr>
            <a:picLocks noChangeAspect="1"/>
          </p:cNvPicPr>
          <p:nvPr/>
        </p:nvPicPr>
        <p:blipFill>
          <a:blip r:embed="rId3"/>
          <a:stretch>
            <a:fillRect/>
          </a:stretch>
        </p:blipFill>
        <p:spPr>
          <a:xfrm>
            <a:off x="365823" y="868680"/>
            <a:ext cx="2651633"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Midnight Commander, screenshot. Image: Creator: Miguel de Icaza
Uploader: Rprpr, GPL,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John Socha wrote it; Peter Norton Computing released it.</a:t>
            </a:r>
          </a:p>
        </p:txBody>
      </p:sp>
      <p:sp>
        <p:nvSpPr>
          <p:cNvPr id="8" name="card"/>
          <p:cNvSpPr/>
          <p:nvPr/>
        </p:nvSpPr>
        <p:spPr>
          <a:xfrm>
            <a:off x="3200400" y="130759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Norton Commander, a file manager with two panels drawn with text characters.</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Begun in 1984 as Visual DOS; released in 1986; last MS-DOS version 5.51 on 1 July 1998.</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On MS-DOS, a plain text screen. The chapter shows it as Figure 12-1.</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text interface can offer panels, menus, a viewer and an editor, and is simpler to program than a graphical one.</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Two file lists side by side, a command bar below, a viewer on F3 and an editor on F4.</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Norton Commander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Terminal presentation: chr and os.system</a:t>
            </a:r>
          </a:p>
        </p:txBody>
      </p:sp>
      <p:sp>
        <p:nvSpPr>
          <p:cNvPr id="4" name="code"/>
          <p:cNvSpPr/>
          <p:nvPr/>
        </p:nvSpPr>
        <p:spPr>
          <a:xfrm>
            <a:off x="365760" y="786384"/>
            <a:ext cx="5468112" cy="11202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os</a:t>
            </a:r>
          </a:p>
          <a:p>
            <a:pPr algn="l"/>
            <a:r>
              <a:rPr sz="1200" b="0" i="0">
                <a:solidFill>
                  <a:srgbClr val="8FA3B8"/>
                </a:solidFill>
                <a:latin typeface="Courier New"/>
              </a:rPr>
              <a:t>&gt;&gt;&gt; </a:t>
            </a:r>
            <a:r>
              <a:rPr sz="1200" b="0" i="0">
                <a:solidFill>
                  <a:srgbClr val="E6EDF3"/>
                </a:solidFill>
                <a:latin typeface="Courier New"/>
              </a:rPr>
              <a:t>clear_command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'cls'</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os</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'nt'</a:t>
            </a:r>
            <a:r>
              <a:rPr sz="1200" b="0" i="0">
                <a:solidFill>
                  <a:srgbClr val="E6EDF3"/>
                </a:solidFill>
                <a:latin typeface="Courier New"/>
              </a:rPr>
              <a:t> </a:t>
            </a:r>
            <a:r>
              <a:rPr sz="1200" b="0" i="0">
                <a:solidFill>
                  <a:srgbClr val="C9A0FF"/>
                </a:solidFill>
                <a:latin typeface="Courier New"/>
              </a:rPr>
              <a:t>else</a:t>
            </a:r>
            <a:r>
              <a:rPr sz="1200" b="0" i="0">
                <a:solidFill>
                  <a:srgbClr val="E6EDF3"/>
                </a:solidFill>
                <a:latin typeface="Courier New"/>
              </a:rPr>
              <a:t> </a:t>
            </a:r>
            <a:r>
              <a:rPr sz="1200" b="0" i="0">
                <a:solidFill>
                  <a:srgbClr val="9BE3A8"/>
                </a:solidFill>
                <a:latin typeface="Courier New"/>
              </a:rPr>
              <a:t>'clear'</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'os.system would run:'</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clear_command</a:t>
            </a:r>
            <a:r>
              <a:rPr sz="1200" b="0" i="0">
                <a:solidFill>
                  <a:srgbClr val="E6EDF3"/>
                </a:solidFill>
                <a:latin typeface="Courier New"/>
              </a:rPr>
              <a:t>)</a:t>
            </a:r>
          </a:p>
        </p:txBody>
      </p:sp>
      <p:sp>
        <p:nvSpPr>
          <p:cNvPr id="5" name="explanation"/>
          <p:cNvSpPr txBox="1"/>
          <p:nvPr/>
        </p:nvSpPr>
        <p:spPr>
          <a:xfrm>
            <a:off x="5815584" y="786384"/>
            <a:ext cx="2962656" cy="1120203"/>
          </a:xfrm>
          <a:prstGeom prst="rect">
            <a:avLst/>
          </a:prstGeom>
          <a:noFill/>
        </p:spPr>
        <p:txBody>
          <a:bodyPr wrap="square" lIns="128016" rIns="128016" tIns="18288" bIns="18288" anchor="ctr">
            <a:spAutoFit/>
          </a:bodyPr>
          <a:lstStyle/>
          <a:p>
            <a:r>
              <a:rPr sz="1250" b="0" i="0">
                <a:solidFill>
                  <a:srgbClr val="1F2933"/>
                </a:solidFill>
                <a:latin typeface="Calibri"/>
              </a:rPr>
              <a:t>os.system hands a text to the shell. Programs use it to clear the screen: cls on Windows, clear elsewhere. Here only the text is built.</a:t>
            </a:r>
          </a:p>
        </p:txBody>
      </p:sp>
      <p:sp>
        <p:nvSpPr>
          <p:cNvPr id="6" name="code"/>
          <p:cNvSpPr/>
          <p:nvPr/>
        </p:nvSpPr>
        <p:spPr>
          <a:xfrm>
            <a:off x="365760" y="1952307"/>
            <a:ext cx="546811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TOP</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BOTTOM</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FULL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chr</a:t>
            </a:r>
            <a:r>
              <a:rPr sz="1200" b="0" i="0">
                <a:solidFill>
                  <a:srgbClr val="E6EDF3"/>
                </a:solidFill>
                <a:latin typeface="Courier New"/>
              </a:rPr>
              <a:t>(</a:t>
            </a:r>
            <a:r>
              <a:rPr sz="1200" b="0" i="0">
                <a:solidFill>
                  <a:srgbClr val="7CC4FF"/>
                </a:solidFill>
                <a:latin typeface="Courier New"/>
              </a:rPr>
              <a:t>9600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chr</a:t>
            </a:r>
            <a:r>
              <a:rPr sz="1200" b="0" i="0">
                <a:solidFill>
                  <a:srgbClr val="E6EDF3"/>
                </a:solidFill>
                <a:latin typeface="Courier New"/>
              </a:rPr>
              <a:t>(</a:t>
            </a:r>
            <a:r>
              <a:rPr sz="1200" b="0" i="0">
                <a:solidFill>
                  <a:srgbClr val="7CC4FF"/>
                </a:solidFill>
                <a:latin typeface="Courier New"/>
              </a:rPr>
              <a:t>9604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chr</a:t>
            </a:r>
            <a:r>
              <a:rPr sz="1200" b="0" i="0">
                <a:solidFill>
                  <a:srgbClr val="E6EDF3"/>
                </a:solidFill>
                <a:latin typeface="Courier New"/>
              </a:rPr>
              <a:t>(</a:t>
            </a:r>
            <a:r>
              <a:rPr sz="1200" b="0" i="0">
                <a:solidFill>
                  <a:srgbClr val="7CC4FF"/>
                </a:solidFill>
                <a:latin typeface="Courier New"/>
              </a:rPr>
              <a:t>9608</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ord</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TOP</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BOTTOM</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FULL</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TOP</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BOTTOM</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FULL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a:t>
            </a:r>
            <a:r>
              <a:rPr sz="1200" b="0" i="0">
                <a:solidFill>
                  <a:srgbClr val="E6EDF3"/>
                </a:solidFill>
                <a:latin typeface="Courier New"/>
              </a:rPr>
              <a:t>)</a:t>
            </a:r>
          </a:p>
        </p:txBody>
      </p:sp>
      <p:sp>
        <p:nvSpPr>
          <p:cNvPr id="7" name="explanation"/>
          <p:cNvSpPr txBox="1"/>
          <p:nvPr/>
        </p:nvSpPr>
        <p:spPr>
          <a:xfrm>
            <a:off x="5815584" y="1952307"/>
            <a:ext cx="2962656" cy="921765"/>
          </a:xfrm>
          <a:prstGeom prst="rect">
            <a:avLst/>
          </a:prstGeom>
          <a:noFill/>
        </p:spPr>
        <p:txBody>
          <a:bodyPr wrap="square" lIns="128016" rIns="128016" tIns="18288" bIns="18288" anchor="ctr">
            <a:spAutoFit/>
          </a:bodyPr>
          <a:lstStyle/>
          <a:p>
            <a:r>
              <a:rPr sz="1250" b="0" i="0">
                <a:solidFill>
                  <a:srgbClr val="1F2933"/>
                </a:solidFill>
                <a:latin typeface="Calibri"/>
              </a:rPr>
              <a:t>chr turns a number into a character and ord turns it back. Three block characters draw the snow and the ground.</a:t>
            </a:r>
          </a:p>
        </p:txBody>
      </p:sp>
      <p:sp>
        <p:nvSpPr>
          <p:cNvPr id="8" name="result label"/>
          <p:cNvSpPr txBox="1"/>
          <p:nvPr/>
        </p:nvSpPr>
        <p:spPr>
          <a:xfrm>
            <a:off x="365760" y="294722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21545"/>
          <a:ext cx="6056983" cy="1170432"/>
        </p:xfrm>
        <a:graphic>
          <a:graphicData uri="http://schemas.openxmlformats.org/drawingml/2006/table">
            <a:tbl>
              <a:tblPr firstRow="0" bandRow="0"/>
              <a:tblGrid>
                <a:gridCol w="890733"/>
                <a:gridCol w="1068879"/>
                <a:gridCol w="890733"/>
                <a:gridCol w="801659"/>
                <a:gridCol w="2404979"/>
              </a:tblGrid>
              <a:tr h="292608">
                <a:tc>
                  <a:txBody>
                    <a:bodyPr wrap="square"/>
                    <a:lstStyle/>
                    <a:p>
                      <a:r>
                        <a:rPr sz="1000" b="1" i="0">
                          <a:solidFill>
                            <a:srgbClr val="FFFFFF"/>
                          </a:solidFill>
                          <a:latin typeface="Calibri"/>
                        </a:rPr>
                        <a:t>Constant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chr(...)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Character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Unicode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00" b="0" i="0">
                          <a:solidFill>
                            <a:srgbClr val="1F2933"/>
                          </a:solidFill>
                          <a:latin typeface="Courier New"/>
                        </a:rPr>
                        <a:t>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chr(9600)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9600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upper half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00" b="0" i="0">
                          <a:solidFill>
                            <a:srgbClr val="1F2933"/>
                          </a:solidFill>
                          <a:latin typeface="Courier New"/>
                        </a:rPr>
                        <a:t>BOTTOM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chr(9604)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9604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lower half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00" b="0" i="0">
                          <a:solidFill>
                            <a:srgbClr val="1F2933"/>
                          </a:solidFill>
                          <a:latin typeface="Courier New"/>
                        </a:rPr>
                        <a:t>FULL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chr(9608)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9608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full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6675120" y="3221545"/>
            <a:ext cx="210312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os.system('clear')</a:t>
            </a:r>
          </a:p>
        </p:txBody>
      </p:sp>
      <p:sp>
        <p:nvSpPr>
          <p:cNvPr id="11" name="TextBox 10"/>
          <p:cNvSpPr txBox="1"/>
          <p:nvPr/>
        </p:nvSpPr>
        <p:spPr>
          <a:xfrm>
            <a:off x="6675120" y="3587305"/>
            <a:ext cx="2103120" cy="457200"/>
          </a:xfrm>
          <a:prstGeom prst="rect">
            <a:avLst/>
          </a:prstGeom>
          <a:noFill/>
        </p:spPr>
        <p:txBody>
          <a:bodyPr wrap="square" lIns="45720" rIns="45720" tIns="27432" bIns="27432" anchor="t">
            <a:spAutoFit/>
          </a:bodyPr>
          <a:lstStyle/>
          <a:p>
            <a:r>
              <a:rPr sz="900" b="0" i="1">
                <a:solidFill>
                  <a:srgbClr val="5B6773"/>
                </a:solidFill>
                <a:latin typeface="Calibri"/>
              </a:rPr>
              <a:t>the text handed to the shell on this system</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chr: number to character; os.system: text to the shell.</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Colour in the terminal: what bext.fg and bext.bg send</a:t>
            </a:r>
          </a:p>
        </p:txBody>
      </p:sp>
      <p:sp>
        <p:nvSpPr>
          <p:cNvPr id="4" name="code"/>
          <p:cNvSpPr/>
          <p:nvPr/>
        </p:nvSpPr>
        <p:spPr>
          <a:xfrm>
            <a:off x="365760" y="786384"/>
            <a:ext cx="528523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COLORS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'black'</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'red'</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'green'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'yellow'</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'blue'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'purple'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'cyan'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'white'</a:t>
            </a:r>
            <a:r>
              <a:rPr sz="1100" b="0" i="0">
                <a:solidFill>
                  <a:srgbClr val="E6EDF3"/>
                </a:solidFill>
                <a:latin typeface="Courier New"/>
              </a:rPr>
              <a:t>]</a:t>
            </a:r>
          </a:p>
        </p:txBody>
      </p:sp>
      <p:sp>
        <p:nvSpPr>
          <p:cNvPr id="5" name="explanation"/>
          <p:cNvSpPr txBox="1"/>
          <p:nvPr/>
        </p:nvSpPr>
        <p:spPr>
          <a:xfrm>
            <a:off x="5632704" y="786384"/>
            <a:ext cx="3145536" cy="509016"/>
          </a:xfrm>
          <a:prstGeom prst="rect">
            <a:avLst/>
          </a:prstGeom>
          <a:noFill/>
        </p:spPr>
        <p:txBody>
          <a:bodyPr wrap="square" lIns="128016" rIns="128016" tIns="18288" bIns="18288" anchor="ctr">
            <a:spAutoFit/>
          </a:bodyPr>
          <a:lstStyle/>
          <a:p>
            <a:r>
              <a:rPr sz="1200" b="0" i="0">
                <a:solidFill>
                  <a:srgbClr val="1F2933"/>
                </a:solidFill>
                <a:latin typeface="Calibri"/>
              </a:rPr>
              <a:t>The eight colour names of Bext, in the order of the numbers 0 to 7.</a:t>
            </a:r>
          </a:p>
        </p:txBody>
      </p:sp>
      <p:sp>
        <p:nvSpPr>
          <p:cNvPr id="6" name="code"/>
          <p:cNvSpPr/>
          <p:nvPr/>
        </p:nvSpPr>
        <p:spPr>
          <a:xfrm>
            <a:off x="365760" y="1341120"/>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fg</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lambda</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'\x1b[%dm'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30</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COLORS</a:t>
            </a:r>
            <a:r>
              <a:rPr sz="1100" b="0" i="0">
                <a:solidFill>
                  <a:srgbClr val="E6EDF3"/>
                </a:solidFill>
                <a:latin typeface="Courier New"/>
              </a:rPr>
              <a:t>.</a:t>
            </a:r>
            <a:r>
              <a:rPr sz="1100" b="0" i="0">
                <a:solidFill>
                  <a:srgbClr val="E6EDF3"/>
                </a:solidFill>
                <a:latin typeface="Courier New"/>
              </a:rPr>
              <a:t>index</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bg</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lambda</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'\x1b[%dm'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40</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COLORS</a:t>
            </a:r>
            <a:r>
              <a:rPr sz="1100" b="0" i="0">
                <a:solidFill>
                  <a:srgbClr val="E6EDF3"/>
                </a:solidFill>
                <a:latin typeface="Courier New"/>
              </a:rPr>
              <a:t>.</a:t>
            </a:r>
            <a:r>
              <a:rPr sz="1100" b="0" i="0">
                <a:solidFill>
                  <a:srgbClr val="E6EDF3"/>
                </a:solidFill>
                <a:latin typeface="Courier New"/>
              </a:rPr>
              <a:t>index</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632704" y="1341120"/>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bext.fg and bext.bg pick a colour by name. Underneath, the terminal receives numbered escape codes: 30 to 37 and 40 to 47.</a:t>
            </a:r>
          </a:p>
        </p:txBody>
      </p:sp>
      <p:sp>
        <p:nvSpPr>
          <p:cNvPr id="8" name="code"/>
          <p:cNvSpPr/>
          <p:nvPr/>
        </p:nvSpPr>
        <p:spPr>
          <a:xfrm>
            <a:off x="365760" y="2276856"/>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repr</a:t>
            </a:r>
            <a:r>
              <a:rPr sz="1100" b="0" i="0">
                <a:solidFill>
                  <a:srgbClr val="E6EDF3"/>
                </a:solidFill>
                <a:latin typeface="Courier New"/>
              </a:rPr>
              <a:t>(</a:t>
            </a:r>
            <a:r>
              <a:rPr sz="1100" b="0" i="0">
                <a:solidFill>
                  <a:srgbClr val="E6EDF3"/>
                </a:solidFill>
                <a:latin typeface="Courier New"/>
              </a:rPr>
              <a:t>fg</a:t>
            </a:r>
            <a:r>
              <a:rPr sz="1100" b="0" i="0">
                <a:solidFill>
                  <a:srgbClr val="E6EDF3"/>
                </a:solidFill>
                <a:latin typeface="Courier New"/>
              </a:rPr>
              <a:t>(</a:t>
            </a:r>
            <a:r>
              <a:rPr sz="1100" b="0" i="0">
                <a:solidFill>
                  <a:srgbClr val="9BE3A8"/>
                </a:solidFill>
                <a:latin typeface="Courier New"/>
              </a:rPr>
              <a:t>'red'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bg</a:t>
            </a:r>
            <a:r>
              <a:rPr sz="1100" b="0" i="0">
                <a:solidFill>
                  <a:srgbClr val="E6EDF3"/>
                </a:solidFill>
                <a:latin typeface="Courier New"/>
              </a:rPr>
              <a:t>(</a:t>
            </a:r>
            <a:r>
              <a:rPr sz="1100" b="0" i="0">
                <a:solidFill>
                  <a:srgbClr val="9BE3A8"/>
                </a:solidFill>
                <a:latin typeface="Courier New"/>
              </a:rPr>
              <a:t>'blue'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'hi'</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'\x1b[0m'</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fg</a:t>
            </a:r>
            <a:r>
              <a:rPr sz="1100" b="0" i="0">
                <a:solidFill>
                  <a:srgbClr val="E6EDF3"/>
                </a:solidFill>
                <a:latin typeface="Courier New"/>
              </a:rPr>
              <a:t>(</a:t>
            </a:r>
            <a:r>
              <a:rPr sz="1100" b="0" i="0">
                <a:solidFill>
                  <a:srgbClr val="E6EDF3"/>
                </a:solidFill>
                <a:latin typeface="Courier New"/>
              </a:rPr>
              <a:t>c</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COLORS</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5632704" y="2276856"/>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The terminal reads the code and switches colour; the reset code 0 switches back. This is a stand-in; the real Bext is not installed here.</a:t>
            </a:r>
          </a:p>
        </p:txBody>
      </p:sp>
      <p:sp>
        <p:nvSpPr>
          <p:cNvPr id="10" name="result label"/>
          <p:cNvSpPr txBox="1"/>
          <p:nvPr/>
        </p:nvSpPr>
        <p:spPr>
          <a:xfrm>
            <a:off x="365760" y="324002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514344"/>
          <a:ext cx="4160517" cy="1094230"/>
        </p:xfrm>
        <a:graphic>
          <a:graphicData uri="http://schemas.openxmlformats.org/drawingml/2006/table">
            <a:tbl>
              <a:tblPr firstRow="0" bandRow="0"/>
              <a:tblGrid>
                <a:gridCol w="1012018"/>
                <a:gridCol w="1124464"/>
                <a:gridCol w="1124464"/>
                <a:gridCol w="899571"/>
              </a:tblGrid>
              <a:tr h="218846">
                <a:tc>
                  <a:txBody>
                    <a:bodyPr wrap="square"/>
                    <a:lstStyle/>
                    <a:p>
                      <a:r>
                        <a:rPr sz="9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fg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bg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Looks 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8846">
                <a:tc>
                  <a:txBody>
                    <a:bodyPr wrap="square"/>
                    <a:lstStyle/>
                    <a:p>
                      <a:r>
                        <a:rPr sz="90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'\x1b[30m'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'\x1b[40m'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1F2933"/>
                    </a:solidFill>
                  </a:tcPr>
                </a:tc>
              </a:tr>
              <a:tr h="218846">
                <a:tc>
                  <a:txBody>
                    <a:bodyPr wrap="square"/>
                    <a:lstStyle/>
                    <a:p>
                      <a:r>
                        <a:rPr sz="900" b="0" i="0">
                          <a:solidFill>
                            <a:srgbClr val="1F2933"/>
                          </a:solidFill>
                          <a:latin typeface="Courier New"/>
                        </a:rPr>
                        <a:t>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'\x1b[31m'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'\x1b[41m'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9534F"/>
                    </a:solidFill>
                  </a:tcPr>
                </a:tc>
              </a:tr>
              <a:tr h="218846">
                <a:tc>
                  <a:txBody>
                    <a:bodyPr wrap="square"/>
                    <a:lstStyle/>
                    <a:p>
                      <a:r>
                        <a:rPr sz="900" b="0" i="0">
                          <a:solidFill>
                            <a:srgbClr val="1F2933"/>
                          </a:solidFill>
                          <a:latin typeface="Courier New"/>
                        </a:rPr>
                        <a:t>green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'\x1b[32m'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'\x1b[42m'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48A868"/>
                    </a:solidFill>
                  </a:tcPr>
                </a:tc>
              </a:tr>
              <a:tr h="218846">
                <a:tc>
                  <a:txBody>
                    <a:bodyPr wrap="square"/>
                    <a:lstStyle/>
                    <a:p>
                      <a:r>
                        <a:rPr sz="900" b="0" i="0">
                          <a:solidFill>
                            <a:srgbClr val="1F2933"/>
                          </a:solidFill>
                          <a:latin typeface="Courier New"/>
                        </a:rPr>
                        <a:t>yellow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'\x1b[33m'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'\x1b[43m'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8C547"/>
                    </a:solidFill>
                  </a:tcPr>
                </a:tc>
              </a:tr>
            </a:tbl>
          </a:graphicData>
        </a:graphic>
      </p:graphicFrame>
      <p:graphicFrame>
        <p:nvGraphicFramePr>
          <p:cNvPr id="12" name="table"/>
          <p:cNvGraphicFramePr>
            <a:graphicFrameLocks noGrp="1"/>
          </p:cNvGraphicFramePr>
          <p:nvPr/>
        </p:nvGraphicFramePr>
        <p:xfrm>
          <a:off x="4617720" y="3514344"/>
          <a:ext cx="4160517" cy="1094230"/>
        </p:xfrm>
        <a:graphic>
          <a:graphicData uri="http://schemas.openxmlformats.org/drawingml/2006/table">
            <a:tbl>
              <a:tblPr firstRow="0" bandRow="0"/>
              <a:tblGrid>
                <a:gridCol w="1012018"/>
                <a:gridCol w="1124464"/>
                <a:gridCol w="1124464"/>
                <a:gridCol w="899571"/>
              </a:tblGrid>
              <a:tr h="218846">
                <a:tc>
                  <a:txBody>
                    <a:bodyPr wrap="square"/>
                    <a:lstStyle/>
                    <a:p>
                      <a:r>
                        <a:rPr sz="9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fg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bg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Looks 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8846">
                <a:tc>
                  <a:txBody>
                    <a:bodyPr wrap="square"/>
                    <a:lstStyle/>
                    <a:p>
                      <a:r>
                        <a:rPr sz="900" b="0" i="0">
                          <a:solidFill>
                            <a:srgbClr val="1F2933"/>
                          </a:solidFill>
                          <a:latin typeface="Courier New"/>
                        </a:rPr>
                        <a:t>blue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'\x1b[34m'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'\x1b[44m'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4A7CC0"/>
                    </a:solidFill>
                  </a:tcPr>
                </a:tc>
              </a:tr>
              <a:tr h="218846">
                <a:tc>
                  <a:txBody>
                    <a:bodyPr wrap="square"/>
                    <a:lstStyle/>
                    <a:p>
                      <a:r>
                        <a:rPr sz="900" b="0" i="0">
                          <a:solidFill>
                            <a:srgbClr val="1F2933"/>
                          </a:solidFill>
                          <a:latin typeface="Courier New"/>
                        </a:rPr>
                        <a:t>purple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'\x1b[35m'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'\x1b[45m'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9B6BC8"/>
                    </a:solidFill>
                  </a:tcPr>
                </a:tc>
              </a:tr>
              <a:tr h="218846">
                <a:tc>
                  <a:txBody>
                    <a:bodyPr wrap="square"/>
                    <a:lstStyle/>
                    <a:p>
                      <a:r>
                        <a:rPr sz="900" b="0" i="0">
                          <a:solidFill>
                            <a:srgbClr val="1F2933"/>
                          </a:solidFill>
                          <a:latin typeface="Courier New"/>
                        </a:rPr>
                        <a:t>cyan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'\x1b[36m'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'\x1b[46m'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3FB6C4"/>
                    </a:solidFill>
                  </a:tcPr>
                </a:tc>
              </a:tr>
              <a:tr h="218846">
                <a:tc>
                  <a:txBody>
                    <a:bodyPr wrap="square"/>
                    <a:lstStyle/>
                    <a:p>
                      <a:r>
                        <a:rPr sz="900" b="0" i="0">
                          <a:solidFill>
                            <a:srgbClr val="1F2933"/>
                          </a:solidFill>
                          <a:latin typeface="Courier New"/>
                        </a:rPr>
                        <a:t>white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'\x1b[37m'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'\x1b[47m'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4F1EA"/>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colour name becomes an escape code.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Pop-ups, sound and colour: the helpers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Most are third-party packages; the page does not run them</a:t>
            </a:r>
          </a:p>
        </p:txBody>
      </p:sp>
      <p:graphicFrame>
        <p:nvGraphicFramePr>
          <p:cNvPr id="5" name="table"/>
          <p:cNvGraphicFramePr>
            <a:graphicFrameLocks noGrp="1"/>
          </p:cNvGraphicFramePr>
          <p:nvPr/>
        </p:nvGraphicFramePr>
        <p:xfrm>
          <a:off x="457200" y="1143000"/>
          <a:ext cx="8229600" cy="2743200"/>
        </p:xfrm>
        <a:graphic>
          <a:graphicData uri="http://schemas.openxmlformats.org/drawingml/2006/table">
            <a:tbl>
              <a:tblPr firstRow="0" bandRow="0"/>
              <a:tblGrid>
                <a:gridCol w="2377440"/>
                <a:gridCol w="3657600"/>
                <a:gridCol w="2194560"/>
              </a:tblGrid>
              <a:tr h="457200">
                <a:tc>
                  <a:txBody>
                    <a:bodyPr wrap="square"/>
                    <a:lstStyle/>
                    <a:p>
                      <a:r>
                        <a:rPr sz="1200" b="1" i="0">
                          <a:solidFill>
                            <a:srgbClr val="FFFFFF"/>
                          </a:solidFill>
                          <a:latin typeface="Calibri"/>
                        </a:rPr>
                        <a:t>Helper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What it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Comes with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ourier New"/>
                        </a:rPr>
                        <a:t>os.system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Hands a text to the shell, such as clear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Yes: the os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ourier New"/>
                        </a:rPr>
                        <a:t>chr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Turns a number into a character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Yes: a built-in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ourier New"/>
                        </a:rPr>
                        <a:t>bext.fg and bext.bg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Set the text and the background colour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No: pip install bext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ourier New"/>
                        </a:rPr>
                        <a:t>Pop-up Message Boxes with PyMsgBox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alert, confirm, prompt and password dialogs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No: needs Tkinter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ourier New"/>
                        </a:rPr>
                        <a:t>playsound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Plays an MP3 or WAV file and waits for the 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No: playsound3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note"/>
          <p:cNvSpPr txBox="1"/>
          <p:nvPr/>
        </p:nvSpPr>
        <p:spPr>
          <a:xfrm>
            <a:off x="457200" y="4114800"/>
            <a:ext cx="8229600" cy="457200"/>
          </a:xfrm>
          <a:prstGeom prst="rect">
            <a:avLst/>
          </a:prstGeom>
          <a:noFill/>
        </p:spPr>
        <p:txBody>
          <a:bodyPr wrap="square" lIns="45720" rIns="45720" tIns="27432" bIns="27432" anchor="t">
            <a:spAutoFit/>
          </a:bodyPr>
          <a:lstStyle/>
          <a:p>
            <a:r>
              <a:rPr sz="1200" b="0" i="1">
                <a:solidFill>
                  <a:srgbClr val="5B6773"/>
                </a:solidFill>
                <a:latin typeface="Calibri"/>
              </a:rPr>
              <a:t>PyMsgBox offers alert, confirm, prompt and password. Bext offers fg, bg, clear, goto and get_key.</a:t>
            </a:r>
          </a:p>
        </p:txBody>
      </p:sp>
      <p:sp>
        <p:nvSpPr>
          <p:cNvPr id="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Check the package name before you install: the chapter and PyPI differ.</a:t>
            </a:r>
          </a:p>
        </p:txBody>
      </p:sp>
      <p:sp>
        <p:nvSpPr>
          <p:cNvPr id="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Snowstorm: one frame of the animation</a:t>
            </a:r>
          </a:p>
        </p:txBody>
      </p:sp>
      <p:sp>
        <p:nvSpPr>
          <p:cNvPr id="4" name="code"/>
          <p:cNvSpPr/>
          <p:nvPr/>
        </p:nvSpPr>
        <p:spPr>
          <a:xfrm>
            <a:off x="365760" y="786384"/>
            <a:ext cx="53614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random</a:t>
            </a:r>
          </a:p>
          <a:p>
            <a:pPr algn="l"/>
            <a:r>
              <a:rPr sz="1000" b="0" i="0">
                <a:solidFill>
                  <a:srgbClr val="8FA3B8"/>
                </a:solidFill>
                <a:latin typeface="Courier New"/>
              </a:rPr>
              <a:t>&gt;&gt;&gt; </a:t>
            </a:r>
            <a:r>
              <a:rPr sz="1000" b="0" i="0">
                <a:solidFill>
                  <a:srgbClr val="E6EDF3"/>
                </a:solidFill>
                <a:latin typeface="Courier New"/>
              </a:rPr>
              <a:t>TOP</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BOTTOM</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chr</a:t>
            </a:r>
            <a:r>
              <a:rPr sz="1000" b="0" i="0">
                <a:solidFill>
                  <a:srgbClr val="E6EDF3"/>
                </a:solidFill>
                <a:latin typeface="Courier New"/>
              </a:rPr>
              <a:t>(</a:t>
            </a:r>
            <a:r>
              <a:rPr sz="1000" b="0" i="0">
                <a:solidFill>
                  <a:srgbClr val="7CC4FF"/>
                </a:solidFill>
                <a:latin typeface="Courier New"/>
              </a:rPr>
              <a:t>9600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chr</a:t>
            </a:r>
            <a:r>
              <a:rPr sz="1000" b="0" i="0">
                <a:solidFill>
                  <a:srgbClr val="E6EDF3"/>
                </a:solidFill>
                <a:latin typeface="Courier New"/>
              </a:rPr>
              <a:t>(</a:t>
            </a:r>
            <a:r>
              <a:rPr sz="1000" b="0" i="0">
                <a:solidFill>
                  <a:srgbClr val="7CC4FF"/>
                </a:solidFill>
                <a:latin typeface="Courier New"/>
              </a:rPr>
              <a:t>9604</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argv</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'snowstorm.py'</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'20'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DENSITY</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int</a:t>
            </a:r>
            <a:r>
              <a:rPr sz="1000" b="0" i="0">
                <a:solidFill>
                  <a:srgbClr val="E6EDF3"/>
                </a:solidFill>
                <a:latin typeface="Courier New"/>
              </a:rPr>
              <a:t>(</a:t>
            </a:r>
            <a:r>
              <a:rPr sz="1000" b="0" i="0">
                <a:solidFill>
                  <a:srgbClr val="E6EDF3"/>
                </a:solidFill>
                <a:latin typeface="Courier New"/>
              </a:rPr>
              <a:t>argv</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argv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&gt;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 </a:t>
            </a:r>
            <a:r>
              <a:rPr sz="1000" b="0" i="0">
                <a:solidFill>
                  <a:srgbClr val="7CC4FF"/>
                </a:solidFill>
                <a:latin typeface="Courier New"/>
              </a:rPr>
              <a:t>4</a:t>
            </a:r>
          </a:p>
          <a:p>
            <a:pPr algn="l"/>
            <a:r>
              <a:rPr sz="1000" b="0" i="0">
                <a:solidFill>
                  <a:srgbClr val="8FA3B8"/>
                </a:solidFill>
                <a:latin typeface="Courier New"/>
              </a:rPr>
              <a:t>&gt;&gt;&gt; </a:t>
            </a:r>
            <a:r>
              <a:rPr sz="1000" b="0" i="0">
                <a:solidFill>
                  <a:srgbClr val="E6EDF3"/>
                </a:solidFill>
                <a:latin typeface="Courier New"/>
              </a:rPr>
              <a:t>random</a:t>
            </a:r>
            <a:r>
              <a:rPr sz="1000" b="0" i="0">
                <a:solidFill>
                  <a:srgbClr val="E6EDF3"/>
                </a:solidFill>
                <a:latin typeface="Courier New"/>
              </a:rPr>
              <a:t>.</a:t>
            </a:r>
            <a:r>
              <a:rPr sz="1000" b="0" i="0">
                <a:solidFill>
                  <a:srgbClr val="E6EDF3"/>
                </a:solidFill>
                <a:latin typeface="Courier New"/>
              </a:rPr>
              <a:t>seed</a:t>
            </a:r>
            <a:r>
              <a:rPr sz="1000" b="0" i="0">
                <a:solidFill>
                  <a:srgbClr val="E6EDF3"/>
                </a:solidFill>
                <a:latin typeface="Courier New"/>
              </a:rPr>
              <a:t>(</a:t>
            </a:r>
            <a:r>
              <a:rPr sz="1000" b="0" i="0">
                <a:solidFill>
                  <a:srgbClr val="7CC4FF"/>
                </a:solidFill>
                <a:latin typeface="Courier New"/>
              </a:rPr>
              <a:t>12</a:t>
            </a:r>
            <a:r>
              <a:rPr sz="1000" b="0" i="0">
                <a:solidFill>
                  <a:srgbClr val="E6EDF3"/>
                </a:solidFill>
                <a:latin typeface="Courier New"/>
              </a:rPr>
              <a:t>)</a:t>
            </a:r>
          </a:p>
        </p:txBody>
      </p:sp>
      <p:sp>
        <p:nvSpPr>
          <p:cNvPr id="5" name="explanation"/>
          <p:cNvSpPr txBox="1"/>
          <p:nvPr/>
        </p:nvSpPr>
        <p:spPr>
          <a:xfrm>
            <a:off x="5708904" y="786384"/>
            <a:ext cx="3069336" cy="911859"/>
          </a:xfrm>
          <a:prstGeom prst="rect">
            <a:avLst/>
          </a:prstGeom>
          <a:noFill/>
        </p:spPr>
        <p:txBody>
          <a:bodyPr wrap="square" lIns="128016" rIns="128016" tIns="18288" bIns="18288" anchor="ctr">
            <a:spAutoFit/>
          </a:bodyPr>
          <a:lstStyle/>
          <a:p>
            <a:r>
              <a:rPr sz="1100" b="0" i="0">
                <a:solidFill>
                  <a:srgbClr val="1F2933"/>
                </a:solidFill>
                <a:latin typeface="Calibri"/>
              </a:rPr>
              <a:t>The argument, as in python snowstorm.py 20, sets the density: the percent of cells that hold snow. The default is 4. The seed fixes one frame.</a:t>
            </a:r>
          </a:p>
        </p:txBody>
      </p:sp>
      <p:sp>
        <p:nvSpPr>
          <p:cNvPr id="6" name="code"/>
          <p:cNvSpPr/>
          <p:nvPr/>
        </p:nvSpPr>
        <p:spPr>
          <a:xfrm>
            <a:off x="365760" y="1743963"/>
            <a:ext cx="5361431"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cell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snow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random</a:t>
            </a:r>
            <a:r>
              <a:rPr sz="1000" b="0" i="0">
                <a:solidFill>
                  <a:srgbClr val="E6EDF3"/>
                </a:solidFill>
                <a:latin typeface="Courier New"/>
              </a:rPr>
              <a:t>.</a:t>
            </a:r>
            <a:r>
              <a:rPr sz="1000" b="0" i="0">
                <a:solidFill>
                  <a:srgbClr val="E6EDF3"/>
                </a:solidFill>
                <a:latin typeface="Courier New"/>
              </a:rPr>
              <a:t>randint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99</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&lt;</a:t>
            </a:r>
            <a:r>
              <a:rPr sz="1000" b="0" i="0">
                <a:solidFill>
                  <a:srgbClr val="E6EDF3"/>
                </a:solidFill>
                <a:latin typeface="Courier New"/>
              </a:rPr>
              <a:t> </a:t>
            </a:r>
            <a:r>
              <a:rPr sz="1000" b="0" i="0">
                <a:solidFill>
                  <a:srgbClr val="E6EDF3"/>
                </a:solidFill>
                <a:latin typeface="Courier New"/>
              </a:rPr>
              <a:t>DENSITY</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random</a:t>
            </a:r>
            <a:r>
              <a:rPr sz="1000" b="0" i="0">
                <a:solidFill>
                  <a:srgbClr val="E6EDF3"/>
                </a:solidFill>
                <a:latin typeface="Courier New"/>
              </a:rPr>
              <a:t>.</a:t>
            </a:r>
            <a:r>
              <a:rPr sz="1000" b="0" i="0">
                <a:solidFill>
                  <a:srgbClr val="E6EDF3"/>
                </a:solidFill>
                <a:latin typeface="Courier New"/>
              </a:rPr>
              <a:t>choice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TOP</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BOTTOM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snow</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 </a:t>
            </a:r>
            <a:r>
              <a:rPr sz="1000" b="0" i="0">
                <a:solidFill>
                  <a:srgbClr val="9BE3A8"/>
                </a:solidFill>
                <a:latin typeface="Courier New"/>
              </a:rPr>
              <a:t>' '</a:t>
            </a:r>
          </a:p>
        </p:txBody>
      </p:sp>
      <p:sp>
        <p:nvSpPr>
          <p:cNvPr id="7" name="explanation"/>
          <p:cNvSpPr txBox="1"/>
          <p:nvPr/>
        </p:nvSpPr>
        <p:spPr>
          <a:xfrm>
            <a:off x="5708904" y="1743963"/>
            <a:ext cx="3069336" cy="601980"/>
          </a:xfrm>
          <a:prstGeom prst="rect">
            <a:avLst/>
          </a:prstGeom>
          <a:noFill/>
        </p:spPr>
        <p:txBody>
          <a:bodyPr wrap="square" lIns="128016" rIns="128016" tIns="18288" bIns="18288" anchor="ctr">
            <a:spAutoFit/>
          </a:bodyPr>
          <a:lstStyle/>
          <a:p>
            <a:r>
              <a:rPr sz="1100" b="0" i="0">
                <a:solidFill>
                  <a:srgbClr val="1F2933"/>
                </a:solidFill>
                <a:latin typeface="Calibri"/>
              </a:rPr>
              <a:t>A cell holds snow when a random number from 0 to 99 is below the density.</a:t>
            </a:r>
          </a:p>
        </p:txBody>
      </p:sp>
      <p:sp>
        <p:nvSpPr>
          <p:cNvPr id="8" name="code"/>
          <p:cNvSpPr/>
          <p:nvPr/>
        </p:nvSpPr>
        <p:spPr>
          <a:xfrm>
            <a:off x="365760" y="2391664"/>
            <a:ext cx="5361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cell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x</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7CC4FF"/>
                </a:solidFill>
                <a:latin typeface="Courier New"/>
              </a:rPr>
              <a:t>40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y</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'flakes per row:'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a:t>
            </a:r>
            <a:r>
              <a:rPr sz="1000" b="0" i="0">
                <a:solidFill>
                  <a:srgbClr val="E6EDF3"/>
                </a:solidFill>
                <a:latin typeface="Courier New"/>
              </a:rPr>
              <a:t>count</a:t>
            </a:r>
            <a:r>
              <a:rPr sz="1000" b="0" i="0">
                <a:solidFill>
                  <a:srgbClr val="E6EDF3"/>
                </a:solidFill>
                <a:latin typeface="Courier New"/>
              </a:rPr>
              <a:t>(</a:t>
            </a:r>
            <a:r>
              <a:rPr sz="1000" b="0" i="0">
                <a:solidFill>
                  <a:srgbClr val="9BE3A8"/>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08904" y="2391664"/>
            <a:ext cx="3069336" cy="651891"/>
          </a:xfrm>
          <a:prstGeom prst="rect">
            <a:avLst/>
          </a:prstGeom>
          <a:noFill/>
        </p:spPr>
        <p:txBody>
          <a:bodyPr wrap="square" lIns="128016" rIns="128016" tIns="18288" bIns="18288" anchor="ctr">
            <a:spAutoFit/>
          </a:bodyPr>
          <a:lstStyle/>
          <a:p>
            <a:r>
              <a:rPr sz="1100" b="0" i="0">
                <a:solidFill>
                  <a:srgbClr val="1F2933"/>
                </a:solidFill>
                <a:latin typeface="Calibri"/>
              </a:rPr>
              <a:t>Five rows of 40 cells. The book clears the screen and repeats the frame forever.</a:t>
            </a:r>
          </a:p>
        </p:txBody>
      </p:sp>
      <p:sp>
        <p:nvSpPr>
          <p:cNvPr id="10" name="result label"/>
          <p:cNvSpPr txBox="1"/>
          <p:nvPr/>
        </p:nvSpPr>
        <p:spPr>
          <a:xfrm>
            <a:off x="365760" y="311670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TextBox 10"/>
          <p:cNvSpPr txBox="1"/>
          <p:nvPr/>
        </p:nvSpPr>
        <p:spPr>
          <a:xfrm>
            <a:off x="365760" y="3372738"/>
            <a:ext cx="5047488" cy="201168"/>
          </a:xfrm>
          <a:prstGeom prst="rect">
            <a:avLst/>
          </a:prstGeom>
          <a:noFill/>
        </p:spPr>
        <p:txBody>
          <a:bodyPr wrap="square" lIns="45720" rIns="45720" tIns="27432" bIns="27432" anchor="t">
            <a:spAutoFit/>
          </a:bodyPr>
          <a:lstStyle/>
          <a:p>
            <a:r>
              <a:rPr sz="950" b="0" i="1">
                <a:solidFill>
                  <a:srgbClr val="5B6773"/>
                </a:solidFill>
                <a:latin typeface="Calibri"/>
              </a:rPr>
              <a:t>snowflakes in each of the 5 rows (40 cells)</a:t>
            </a:r>
          </a:p>
        </p:txBody>
      </p:sp>
      <p:graphicFrame>
        <p:nvGraphicFramePr>
          <p:cNvPr id="12" name="chart"/>
          <p:cNvGraphicFramePr>
            <a:graphicFrameLocks noGrp="1"/>
          </p:cNvGraphicFramePr>
          <p:nvPr/>
        </p:nvGraphicFramePr>
        <p:xfrm>
          <a:off x="365760" y="3573907"/>
          <a:ext cx="5047488" cy="1034669"/>
        </p:xfrm>
        <a:graphic>
          <a:graphicData uri="http://schemas.openxmlformats.org/drawingml/2006/chart">
            <c:chart xmlns:c="http://schemas.openxmlformats.org/drawingml/2006/chart" r:id="rId3"/>
          </a:graphicData>
        </a:graphic>
      </p:graphicFrame>
      <p:sp>
        <p:nvSpPr>
          <p:cNvPr id="13" name="Rounded Rectangle 12"/>
          <p:cNvSpPr/>
          <p:nvPr/>
        </p:nvSpPr>
        <p:spPr>
          <a:xfrm>
            <a:off x="5749747" y="3482467"/>
            <a:ext cx="3028492"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density 20 percent</a:t>
            </a:r>
          </a:p>
        </p:txBody>
      </p:sp>
      <p:sp>
        <p:nvSpPr>
          <p:cNvPr id="14" name="Rounded Rectangle 13"/>
          <p:cNvSpPr/>
          <p:nvPr/>
        </p:nvSpPr>
        <p:spPr>
          <a:xfrm>
            <a:off x="5749747" y="3848226"/>
            <a:ext cx="3028492"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expected 8 of 40 per row</a:t>
            </a:r>
          </a:p>
        </p:txBody>
      </p:sp>
      <p:sp>
        <p:nvSpPr>
          <p:cNvPr id="15" name="Rounded Rectangle 14"/>
          <p:cNvSpPr/>
          <p:nvPr/>
        </p:nvSpPr>
        <p:spPr>
          <a:xfrm>
            <a:off x="5749747" y="4213987"/>
            <a:ext cx="3028492"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drawn: 38 in 200 cells</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Cell by cell: snow or space.</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Deploying a program</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launcher in a PATH folder, two small system programs, and a bundle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Launcher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script in a PATH folder that starts the program.</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chmod u+x</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Gives the owner the right to run the file.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ccwd, recorder</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Two small programs that touch the system.</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PyInstaller</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Packs the interpreter and the script into one file.</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2667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6700">
                <a:tc>
                  <a:txBody>
                    <a:bodyPr wrap="square"/>
                    <a:lstStyle/>
                    <a:p>
                      <a:r>
                        <a:rPr sz="105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deploying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Launcher files on three systems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Deploying on Ubuntu: the launcher 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Deploying on Ubuntu: chmod u+x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the #! line, announced by email...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Deploying on Ubuntu: the .desktop entry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ccwd: copying the current working dire...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Clipboard Recorder: print what changed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PyInstaller: one file, a whole interpr...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5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PyInstaller: what the file costs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5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make your programs 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deploying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Deploying is hanging a key on the hook by the door: anyone can reach the program by its name.</a:t>
            </a:r>
          </a:p>
        </p:txBody>
      </p:sp>
      <p:graphicFrame>
        <p:nvGraphicFramePr>
          <p:cNvPr id="6" name="table"/>
          <p:cNvGraphicFramePr>
            <a:graphicFrameLocks noGrp="1"/>
          </p:cNvGraphicFramePr>
          <p:nvPr/>
        </p:nvGraphicFramePr>
        <p:xfrm>
          <a:off x="365760" y="1417320"/>
          <a:ext cx="8412480" cy="3017518"/>
        </p:xfrm>
        <a:graphic>
          <a:graphicData uri="http://schemas.openxmlformats.org/drawingml/2006/table">
            <a:tbl>
              <a:tblPr firstRow="0" bandRow="0"/>
              <a:tblGrid>
                <a:gridCol w="3291840"/>
                <a:gridCol w="5120640"/>
              </a:tblGrid>
              <a:tr h="431074">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31074">
                <a:tc>
                  <a:txBody>
                    <a:bodyPr wrap="square"/>
                    <a:lstStyle/>
                    <a:p>
                      <a:r>
                        <a:rPr sz="1300" b="1" i="0">
                          <a:solidFill>
                            <a:srgbClr val="1F2933"/>
                          </a:solidFill>
                          <a:latin typeface="Calibri"/>
                        </a:rPr>
                        <a:t>Deploying Python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key on a hook by the door: found by name, used with one 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31074">
                <a:tc>
                  <a:txBody>
                    <a:bodyPr wrap="square"/>
                    <a:lstStyle/>
                    <a:p>
                      <a:r>
                        <a:rPr sz="1300" b="1" i="0">
                          <a:solidFill>
                            <a:srgbClr val="1F2933"/>
                          </a:solidFill>
                          <a:latin typeface="Calibri"/>
                        </a:rPr>
                        <a:t>Deployment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Moving a recipe into a food truck: the same dish, ready to serve at one tap.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31074">
                <a:tc>
                  <a:txBody>
                    <a:bodyPr wrap="square"/>
                    <a:lstStyle/>
                    <a:p>
                      <a:r>
                        <a:rPr sz="1300" b="1" i="0">
                          <a:solidFill>
                            <a:srgbClr val="1F2933"/>
                          </a:solidFill>
                          <a:latin typeface="Calibri"/>
                        </a:rPr>
                        <a:t>A Short Program: Copying the Current Working Directory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courier who copies the address on the envelope: he moves, the sender stays at home.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31074">
                <a:tc>
                  <a:txBody>
                    <a:bodyPr wrap="square"/>
                    <a:lstStyle/>
                    <a:p>
                      <a:r>
                        <a:rPr sz="1300" b="1" i="0">
                          <a:solidFill>
                            <a:srgbClr val="1F2933"/>
                          </a:solidFill>
                          <a:latin typeface="Calibri"/>
                        </a:rPr>
                        <a:t>A Short Program: Clipboard Recorder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security camera that logs a picture only when the scene changes.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31074">
                <a:tc>
                  <a:txBody>
                    <a:bodyPr wrap="square"/>
                    <a:lstStyle/>
                    <a:p>
                      <a:r>
                        <a:rPr sz="1300" b="1" i="0">
                          <a:solidFill>
                            <a:srgbClr val="1F2933"/>
                          </a:solidFill>
                          <a:latin typeface="Calibri"/>
                        </a:rPr>
                        <a:t>Compiling Python Programs with PyInstaller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camping set that packs the stove with the food: heavier, but it needs nothing from the host.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31074">
                <a:tc>
                  <a:txBody>
                    <a:bodyPr wrap="square"/>
                    <a:lstStyle/>
                    <a:p>
                      <a:r>
                        <a:rPr sz="1300" b="1" i="0">
                          <a:solidFill>
                            <a:srgbClr val="1F2933"/>
                          </a:solidFill>
                          <a:latin typeface="Calibri"/>
                        </a:rPr>
                        <a:t>Practice Program: Make Your Programs Deployable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tool belt: each tool you made earlier gets a loop, so you can grab it anywhere.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Launcher files on three systems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One idea in three spellings</a:t>
            </a:r>
          </a:p>
        </p:txBody>
      </p:sp>
      <p:sp>
        <p:nvSpPr>
          <p:cNvPr id="5" name="card"/>
          <p:cNvSpPr/>
          <p:nvPr/>
        </p:nvSpPr>
        <p:spPr>
          <a:xfrm>
            <a:off x="365760" y="100584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101498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launcher is a taxi dispatcher: you say where, it activates the environment and drives the program there.</a:t>
            </a:r>
          </a:p>
        </p:txBody>
      </p:sp>
      <p:graphicFrame>
        <p:nvGraphicFramePr>
          <p:cNvPr id="7" name="table"/>
          <p:cNvGraphicFramePr>
            <a:graphicFrameLocks noGrp="1"/>
          </p:cNvGraphicFramePr>
          <p:nvPr/>
        </p:nvGraphicFramePr>
        <p:xfrm>
          <a:off x="457200" y="1691640"/>
          <a:ext cx="8229600" cy="2267712"/>
        </p:xfrm>
        <a:graphic>
          <a:graphicData uri="http://schemas.openxmlformats.org/drawingml/2006/table">
            <a:tbl>
              <a:tblPr firstRow="0" bandRow="0"/>
              <a:tblGrid>
                <a:gridCol w="1097280"/>
                <a:gridCol w="5120640"/>
                <a:gridCol w="2011680"/>
              </a:tblGrid>
              <a:tr h="566928">
                <a:tc>
                  <a:txBody>
                    <a:bodyPr wrap="square"/>
                    <a:lstStyle/>
                    <a:p>
                      <a:r>
                        <a:rPr sz="1200" b="1" i="0">
                          <a:solidFill>
                            <a:srgbClr val="FFFFFF"/>
                          </a:solidFill>
                          <a:latin typeface="Calibri"/>
                        </a:rPr>
                        <a:t>System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Launcher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Forwards the arguments 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200" b="1" i="0">
                          <a:solidFill>
                            <a:srgbClr val="1F2933"/>
                          </a:solidFill>
                          <a:latin typeface="Calibri"/>
                        </a:rPr>
                        <a:t>Windows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yourScript.bat in a PATH folder: @call activate.bat, @python script, @pause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200" b="1" i="0">
                          <a:solidFill>
                            <a:srgbClr val="1F2933"/>
                          </a:solidFill>
                          <a:latin typeface="Calibri"/>
                        </a:rPr>
                        <a:t>macOS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yourScript.command: a shell script, made executable with chmod u+x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200" b="1" i="0">
                          <a:solidFill>
                            <a:srgbClr val="1F2933"/>
                          </a:solidFill>
                          <a:latin typeface="Calibri"/>
                        </a:rPr>
                        <a:t>Ubuntu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yourScript: a shell script with #!/usr/bin/env bash, plus a .desktop entry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Forward the arguments, or the script never receives them.</a:t>
            </a:r>
          </a:p>
        </p:txBody>
      </p:sp>
      <p:sp>
        <p:nvSpPr>
          <p:cNvPr id="1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Deploying on Ubuntu: the launcher script</a:t>
            </a:r>
          </a:p>
        </p:txBody>
      </p:sp>
      <p:sp>
        <p:nvSpPr>
          <p:cNvPr id="4" name="code"/>
          <p:cNvSpPr/>
          <p:nvPr/>
        </p:nvSpPr>
        <p:spPr>
          <a:xfrm>
            <a:off x="365760" y="786384"/>
            <a:ext cx="8412480" cy="5709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launcher</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'#!/usr/bin/env bash\nsource ~/Scripts/.venv/bin/activate\n'</a:t>
            </a:r>
          </a:p>
          <a:p>
            <a:pPr algn="l"/>
            <a:r>
              <a:rPr sz="1400" b="0" i="0">
                <a:solidFill>
                  <a:srgbClr val="8FA3B8"/>
                </a:solidFill>
                <a:latin typeface="Courier New"/>
              </a:rPr>
              <a:t>&gt;&gt;&gt; </a:t>
            </a:r>
            <a:r>
              <a:rPr sz="1400" b="0" i="0">
                <a:solidFill>
                  <a:srgbClr val="E6EDF3"/>
                </a:solidFill>
                <a:latin typeface="Courier New"/>
              </a:rPr>
              <a:t>launcher</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'python3 ~/Scripts/yourScript.py "$@"\n'</a:t>
            </a:r>
          </a:p>
        </p:txBody>
      </p:sp>
      <p:sp>
        <p:nvSpPr>
          <p:cNvPr id="5" name="explanation"/>
          <p:cNvSpPr txBox="1"/>
          <p:nvPr/>
        </p:nvSpPr>
        <p:spPr>
          <a:xfrm>
            <a:off x="365760" y="1366519"/>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The launcher is a three-line shell script. Its first line names the interpreter; "$@" passes the arguments on.</a:t>
            </a:r>
          </a:p>
        </p:txBody>
      </p:sp>
      <p:sp>
        <p:nvSpPr>
          <p:cNvPr id="6" name="code"/>
          <p:cNvSpPr/>
          <p:nvPr/>
        </p:nvSpPr>
        <p:spPr>
          <a:xfrm>
            <a:off x="365760" y="1927987"/>
            <a:ext cx="8412480" cy="78790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number</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line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enumerate</a:t>
            </a:r>
            <a:r>
              <a:rPr sz="1400" b="0" i="0">
                <a:solidFill>
                  <a:srgbClr val="E6EDF3"/>
                </a:solidFill>
                <a:latin typeface="Courier New"/>
              </a:rPr>
              <a:t>(</a:t>
            </a:r>
            <a:r>
              <a:rPr sz="1400" b="0" i="0">
                <a:solidFill>
                  <a:srgbClr val="E6EDF3"/>
                </a:solidFill>
                <a:latin typeface="Courier New"/>
              </a:rPr>
              <a:t>launcher</a:t>
            </a:r>
            <a:r>
              <a:rPr sz="1400" b="0" i="0">
                <a:solidFill>
                  <a:srgbClr val="E6EDF3"/>
                </a:solidFill>
                <a:latin typeface="Courier New"/>
              </a:rPr>
              <a:t>.</a:t>
            </a:r>
            <a:r>
              <a:rPr sz="1400" b="0" i="0">
                <a:solidFill>
                  <a:srgbClr val="E6EDF3"/>
                </a:solidFill>
                <a:latin typeface="Courier New"/>
              </a:rPr>
              <a:t>splitlines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number</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line</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'interpreter:'</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launcher</a:t>
            </a:r>
            <a:r>
              <a:rPr sz="1400" b="0" i="0">
                <a:solidFill>
                  <a:srgbClr val="E6EDF3"/>
                </a:solidFill>
                <a:latin typeface="Courier New"/>
              </a:rPr>
              <a:t>.</a:t>
            </a:r>
            <a:r>
              <a:rPr sz="1400" b="0" i="0">
                <a:solidFill>
                  <a:srgbClr val="E6EDF3"/>
                </a:solidFill>
                <a:latin typeface="Courier New"/>
              </a:rPr>
              <a:t>splitlines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0</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split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5760" y="2725039"/>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Number the lines. Line 1 starts #!, which tells the system which program runs the file; env then finds bash on PATH.</a:t>
            </a:r>
          </a:p>
        </p:txBody>
      </p:sp>
      <p:sp>
        <p:nvSpPr>
          <p:cNvPr id="8" name="result label"/>
          <p:cNvSpPr txBox="1"/>
          <p:nvPr/>
        </p:nvSpPr>
        <p:spPr>
          <a:xfrm>
            <a:off x="365760" y="331393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588257"/>
            <a:ext cx="365760" cy="292608"/>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FFFFF"/>
                </a:solidFill>
                <a:latin typeface="Calibri"/>
              </a:rPr>
              <a:t>1</a:t>
            </a:r>
          </a:p>
        </p:txBody>
      </p:sp>
      <p:sp>
        <p:nvSpPr>
          <p:cNvPr id="10" name="Rounded Rectangle 9"/>
          <p:cNvSpPr/>
          <p:nvPr/>
        </p:nvSpPr>
        <p:spPr>
          <a:xfrm>
            <a:off x="822960" y="3588257"/>
            <a:ext cx="4297680"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#!/usr/bin/env bash</a:t>
            </a:r>
          </a:p>
        </p:txBody>
      </p:sp>
      <p:cxnSp>
        <p:nvCxnSpPr>
          <p:cNvPr id="11" name="arrow"/>
          <p:cNvCxnSpPr/>
          <p:nvPr/>
        </p:nvCxnSpPr>
        <p:spPr>
          <a:xfrm>
            <a:off x="5166360" y="3734561"/>
            <a:ext cx="36576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577840" y="3588257"/>
            <a:ext cx="3108960" cy="292608"/>
          </a:xfrm>
          <a:prstGeom prst="rect">
            <a:avLst/>
          </a:prstGeom>
          <a:noFill/>
        </p:spPr>
        <p:txBody>
          <a:bodyPr wrap="square" lIns="45720" rIns="45720" tIns="27432" bIns="27432" anchor="ctr">
            <a:spAutoFit/>
          </a:bodyPr>
          <a:lstStyle/>
          <a:p>
            <a:r>
              <a:rPr sz="1050" b="0" i="0">
                <a:solidFill>
                  <a:srgbClr val="1F2933"/>
                </a:solidFill>
                <a:latin typeface="Calibri"/>
              </a:rPr>
              <a:t>names the interpreter</a:t>
            </a:r>
          </a:p>
        </p:txBody>
      </p:sp>
      <p:sp>
        <p:nvSpPr>
          <p:cNvPr id="13" name="Rounded Rectangle 12"/>
          <p:cNvSpPr/>
          <p:nvPr/>
        </p:nvSpPr>
        <p:spPr>
          <a:xfrm>
            <a:off x="365760" y="3954017"/>
            <a:ext cx="365760" cy="292608"/>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FFFFF"/>
                </a:solidFill>
                <a:latin typeface="Calibri"/>
              </a:rPr>
              <a:t>2</a:t>
            </a:r>
          </a:p>
        </p:txBody>
      </p:sp>
      <p:sp>
        <p:nvSpPr>
          <p:cNvPr id="14" name="Rounded Rectangle 13"/>
          <p:cNvSpPr/>
          <p:nvPr/>
        </p:nvSpPr>
        <p:spPr>
          <a:xfrm>
            <a:off x="822960" y="3954017"/>
            <a:ext cx="4297680"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source ~/Scripts/.venv/bin/activate</a:t>
            </a:r>
          </a:p>
        </p:txBody>
      </p:sp>
      <p:cxnSp>
        <p:nvCxnSpPr>
          <p:cNvPr id="15" name="arrow"/>
          <p:cNvCxnSpPr/>
          <p:nvPr/>
        </p:nvCxnSpPr>
        <p:spPr>
          <a:xfrm>
            <a:off x="5166360" y="4100321"/>
            <a:ext cx="36576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577840" y="3954017"/>
            <a:ext cx="3108960" cy="292608"/>
          </a:xfrm>
          <a:prstGeom prst="rect">
            <a:avLst/>
          </a:prstGeom>
          <a:noFill/>
        </p:spPr>
        <p:txBody>
          <a:bodyPr wrap="square" lIns="45720" rIns="45720" tIns="27432" bIns="27432" anchor="ctr">
            <a:spAutoFit/>
          </a:bodyPr>
          <a:lstStyle/>
          <a:p>
            <a:r>
              <a:rPr sz="1050" b="0" i="0">
                <a:solidFill>
                  <a:srgbClr val="1F2933"/>
                </a:solidFill>
                <a:latin typeface="Calibri"/>
              </a:rPr>
              <a:t>enters the environment</a:t>
            </a:r>
          </a:p>
        </p:txBody>
      </p:sp>
      <p:sp>
        <p:nvSpPr>
          <p:cNvPr id="17" name="Rounded Rectangle 16"/>
          <p:cNvSpPr/>
          <p:nvPr/>
        </p:nvSpPr>
        <p:spPr>
          <a:xfrm>
            <a:off x="365760" y="4319778"/>
            <a:ext cx="365760" cy="292608"/>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i="0">
                <a:solidFill>
                  <a:srgbClr val="FFFFFF"/>
                </a:solidFill>
                <a:latin typeface="Calibri"/>
              </a:rPr>
              <a:t>3</a:t>
            </a:r>
          </a:p>
        </p:txBody>
      </p:sp>
      <p:sp>
        <p:nvSpPr>
          <p:cNvPr id="18" name="Rounded Rectangle 17"/>
          <p:cNvSpPr/>
          <p:nvPr/>
        </p:nvSpPr>
        <p:spPr>
          <a:xfrm>
            <a:off x="822960" y="4319778"/>
            <a:ext cx="4297680"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python3 ~/Scripts/yourScript.py "$@"</a:t>
            </a:r>
          </a:p>
        </p:txBody>
      </p:sp>
      <p:cxnSp>
        <p:nvCxnSpPr>
          <p:cNvPr id="19" name="arrow"/>
          <p:cNvCxnSpPr/>
          <p:nvPr/>
        </p:nvCxnSpPr>
        <p:spPr>
          <a:xfrm>
            <a:off x="5166360" y="4466082"/>
            <a:ext cx="36576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577840" y="4319778"/>
            <a:ext cx="3108960" cy="292608"/>
          </a:xfrm>
          <a:prstGeom prst="rect">
            <a:avLst/>
          </a:prstGeom>
          <a:noFill/>
        </p:spPr>
        <p:txBody>
          <a:bodyPr wrap="square" lIns="45720" rIns="45720" tIns="27432" bIns="27432" anchor="ctr">
            <a:spAutoFit/>
          </a:bodyPr>
          <a:lstStyle/>
          <a:p>
            <a:r>
              <a:rPr sz="1050" b="0" i="0">
                <a:solidFill>
                  <a:srgbClr val="1F2933"/>
                </a:solidFill>
                <a:latin typeface="Calibri"/>
              </a:rPr>
              <a:t>runs the script, forwards the arguments</a:t>
            </a:r>
          </a:p>
        </p:txBody>
      </p:sp>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Three lines: interpreter, environment, program.</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Deploying on Ubuntu: chmod u+x</a:t>
            </a:r>
          </a:p>
        </p:txBody>
      </p:sp>
      <p:sp>
        <p:nvSpPr>
          <p:cNvPr id="4" name="code"/>
          <p:cNvSpPr/>
          <p:nvPr/>
        </p:nvSpPr>
        <p:spPr>
          <a:xfrm>
            <a:off x="365760" y="786384"/>
            <a:ext cx="56662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from</a:t>
            </a:r>
            <a:r>
              <a:rPr sz="1000" b="0" i="0">
                <a:solidFill>
                  <a:srgbClr val="E6EDF3"/>
                </a:solidFill>
                <a:latin typeface="Courier New"/>
              </a:rPr>
              <a:t> </a:t>
            </a:r>
            <a:r>
              <a:rPr sz="1000" b="0" i="0">
                <a:solidFill>
                  <a:srgbClr val="E6EDF3"/>
                </a:solidFill>
                <a:latin typeface="Courier New"/>
              </a:rPr>
              <a:t>pathlib</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Path</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TemporaryDirectory</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scripts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scripts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'yourScript'</a:t>
            </a:r>
            <a:r>
              <a:rPr sz="1000" b="0" i="0">
                <a:solidFill>
                  <a:srgbClr val="E6EDF3"/>
                </a:solidFill>
                <a:latin typeface="Courier New"/>
              </a:rPr>
              <a:t>)</a:t>
            </a:r>
          </a:p>
        </p:txBody>
      </p:sp>
      <p:sp>
        <p:nvSpPr>
          <p:cNvPr id="5" name="explanation"/>
          <p:cNvSpPr txBox="1"/>
          <p:nvPr/>
        </p:nvSpPr>
        <p:spPr>
          <a:xfrm>
            <a:off x="6013704" y="786384"/>
            <a:ext cx="2764535" cy="756920"/>
          </a:xfrm>
          <a:prstGeom prst="rect">
            <a:avLst/>
          </a:prstGeom>
          <a:noFill/>
        </p:spPr>
        <p:txBody>
          <a:bodyPr wrap="square" lIns="128016" rIns="128016" tIns="18288" bIns="18288" anchor="ctr">
            <a:spAutoFit/>
          </a:bodyPr>
          <a:lstStyle/>
          <a:p>
            <a:r>
              <a:rPr sz="1100" b="0" i="0">
                <a:solidFill>
                  <a:srgbClr val="1F2933"/>
                </a:solidFill>
                <a:latin typeface="Calibri"/>
              </a:rPr>
              <a:t>A throw-away Scripts folder holds the launcher file.</a:t>
            </a:r>
          </a:p>
        </p:txBody>
      </p:sp>
      <p:sp>
        <p:nvSpPr>
          <p:cNvPr id="6" name="code"/>
          <p:cNvSpPr/>
          <p:nvPr/>
        </p:nvSpPr>
        <p:spPr>
          <a:xfrm>
            <a:off x="365760" y="1589023"/>
            <a:ext cx="5666232"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'#!/usr/bin/env bash\n'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chmod</a:t>
            </a:r>
            <a:r>
              <a:rPr sz="1000" b="0" i="0">
                <a:solidFill>
                  <a:srgbClr val="E6EDF3"/>
                </a:solidFill>
                <a:latin typeface="Courier New"/>
              </a:rPr>
              <a:t>(</a:t>
            </a:r>
            <a:r>
              <a:rPr sz="1000" b="0" i="0">
                <a:solidFill>
                  <a:srgbClr val="7CC4FF"/>
                </a:solidFill>
                <a:latin typeface="Courier New"/>
              </a:rPr>
              <a:t>0o644</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before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filemode</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st_mode</a:t>
            </a:r>
            <a:r>
              <a:rPr sz="1000" b="0" i="0">
                <a:solidFill>
                  <a:srgbClr val="E6EDF3"/>
                </a:solidFill>
                <a:latin typeface="Courier New"/>
              </a:rPr>
              <a:t>)</a:t>
            </a:r>
          </a:p>
        </p:txBody>
      </p:sp>
      <p:sp>
        <p:nvSpPr>
          <p:cNvPr id="7" name="explanation"/>
          <p:cNvSpPr txBox="1"/>
          <p:nvPr/>
        </p:nvSpPr>
        <p:spPr>
          <a:xfrm>
            <a:off x="6013704" y="1589023"/>
            <a:ext cx="2764535" cy="601980"/>
          </a:xfrm>
          <a:prstGeom prst="rect">
            <a:avLst/>
          </a:prstGeom>
          <a:noFill/>
        </p:spPr>
        <p:txBody>
          <a:bodyPr wrap="square" lIns="128016" rIns="128016" tIns="18288" bIns="18288" anchor="ctr">
            <a:spAutoFit/>
          </a:bodyPr>
          <a:lstStyle/>
          <a:p>
            <a:r>
              <a:rPr sz="1100" b="0" i="0">
                <a:solidFill>
                  <a:srgbClr val="1F2933"/>
                </a:solidFill>
                <a:latin typeface="Calibri"/>
              </a:rPr>
              <a:t>Write the launcher. A new file can be read but not run.</a:t>
            </a:r>
          </a:p>
        </p:txBody>
      </p:sp>
      <p:sp>
        <p:nvSpPr>
          <p:cNvPr id="8" name="code"/>
          <p:cNvSpPr/>
          <p:nvPr/>
        </p:nvSpPr>
        <p:spPr>
          <a:xfrm>
            <a:off x="365760" y="2236724"/>
            <a:ext cx="56662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chmod</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st_mode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S_IXUSR</a:t>
            </a:r>
            <a:r>
              <a:rPr sz="1000" b="0" i="0">
                <a:solidFill>
                  <a:srgbClr val="E6EDF3"/>
                </a:solidFill>
                <a:latin typeface="Courier New"/>
              </a:rPr>
              <a:t>)</a:t>
            </a:r>
            <a:r>
              <a:rPr sz="1000" b="0" i="0">
                <a:solidFill>
                  <a:srgbClr val="E6EDF3"/>
                </a:solidFill>
                <a:latin typeface="Courier New"/>
              </a:rPr>
              <a:t>  </a:t>
            </a:r>
            <a:r>
              <a:rPr sz="1000" b="0" i="0">
                <a:solidFill>
                  <a:srgbClr val="8FA3B8"/>
                </a:solidFill>
                <a:latin typeface="Courier New"/>
              </a:rPr>
              <a:t># chmod u+x</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after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filemode</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st_mode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on_path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which</a:t>
            </a:r>
            <a:r>
              <a:rPr sz="1000" b="0" i="0">
                <a:solidFill>
                  <a:srgbClr val="E6EDF3"/>
                </a:solidFill>
                <a:latin typeface="Courier New"/>
              </a:rPr>
              <a:t>(</a:t>
            </a:r>
            <a:r>
              <a:rPr sz="1000" b="0" i="0">
                <a:solidFill>
                  <a:srgbClr val="9BE3A8"/>
                </a:solidFill>
                <a:latin typeface="Courier New"/>
              </a:rPr>
              <a:t>'yourScript'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scripts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str</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before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after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 found on PATH:'</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on_path</a:t>
            </a:r>
            <a:r>
              <a:rPr sz="1000" b="0" i="0">
                <a:solidFill>
                  <a:srgbClr val="E6EDF3"/>
                </a:solidFill>
                <a:latin typeface="Courier New"/>
              </a:rPr>
              <a:t>)</a:t>
            </a:r>
          </a:p>
        </p:txBody>
      </p:sp>
      <p:sp>
        <p:nvSpPr>
          <p:cNvPr id="9" name="explanation"/>
          <p:cNvSpPr txBox="1"/>
          <p:nvPr/>
        </p:nvSpPr>
        <p:spPr>
          <a:xfrm>
            <a:off x="6013704" y="2236724"/>
            <a:ext cx="2764535" cy="826516"/>
          </a:xfrm>
          <a:prstGeom prst="rect">
            <a:avLst/>
          </a:prstGeom>
          <a:noFill/>
        </p:spPr>
        <p:txBody>
          <a:bodyPr wrap="square" lIns="128016" rIns="128016" tIns="18288" bIns="18288" anchor="ctr">
            <a:spAutoFit/>
          </a:bodyPr>
          <a:lstStyle/>
          <a:p>
            <a:r>
              <a:rPr sz="1100" b="0" i="0">
                <a:solidFill>
                  <a:srgbClr val="1F2933"/>
                </a:solidFill>
                <a:latin typeface="Calibri"/>
              </a:rPr>
              <a:t>chmod u+x gives the owner the right to run it. Then which finds the launcher by its bare name on PATH.</a:t>
            </a:r>
          </a:p>
        </p:txBody>
      </p:sp>
      <p:sp>
        <p:nvSpPr>
          <p:cNvPr id="10" name="result label"/>
          <p:cNvSpPr txBox="1"/>
          <p:nvPr/>
        </p:nvSpPr>
        <p:spPr>
          <a:xfrm>
            <a:off x="365760" y="313639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TextBox 10"/>
          <p:cNvSpPr txBox="1"/>
          <p:nvPr/>
        </p:nvSpPr>
        <p:spPr>
          <a:xfrm>
            <a:off x="365760" y="3428999"/>
            <a:ext cx="1737360" cy="274320"/>
          </a:xfrm>
          <a:prstGeom prst="rect">
            <a:avLst/>
          </a:prstGeom>
          <a:noFill/>
        </p:spPr>
        <p:txBody>
          <a:bodyPr wrap="square" lIns="45720" rIns="45720" tIns="27432" bIns="27432" anchor="ctr">
            <a:spAutoFit/>
          </a:bodyPr>
          <a:lstStyle/>
          <a:p>
            <a:r>
              <a:rPr sz="1000" b="1" i="0">
                <a:solidFill>
                  <a:srgbClr val="0E7C86"/>
                </a:solidFill>
                <a:latin typeface="Calibri"/>
              </a:rPr>
              <a:t>before chmod u+x</a:t>
            </a:r>
          </a:p>
        </p:txBody>
      </p:sp>
      <p:sp>
        <p:nvSpPr>
          <p:cNvPr id="12" name="Rounded Rectangle 11"/>
          <p:cNvSpPr/>
          <p:nvPr/>
        </p:nvSpPr>
        <p:spPr>
          <a:xfrm>
            <a:off x="2194560" y="341071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13" name="Rounded Rectangle 12"/>
          <p:cNvSpPr/>
          <p:nvPr/>
        </p:nvSpPr>
        <p:spPr>
          <a:xfrm>
            <a:off x="2560320" y="341071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a:t>
            </a:r>
          </a:p>
        </p:txBody>
      </p:sp>
      <p:sp>
        <p:nvSpPr>
          <p:cNvPr id="14" name="Rounded Rectangle 13"/>
          <p:cNvSpPr/>
          <p:nvPr/>
        </p:nvSpPr>
        <p:spPr>
          <a:xfrm>
            <a:off x="2926080" y="341071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w</a:t>
            </a:r>
          </a:p>
        </p:txBody>
      </p:sp>
      <p:sp>
        <p:nvSpPr>
          <p:cNvPr id="15" name="Rounded Rectangle 14"/>
          <p:cNvSpPr/>
          <p:nvPr/>
        </p:nvSpPr>
        <p:spPr>
          <a:xfrm>
            <a:off x="3291840" y="341071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16" name="Rounded Rectangle 15"/>
          <p:cNvSpPr/>
          <p:nvPr/>
        </p:nvSpPr>
        <p:spPr>
          <a:xfrm>
            <a:off x="3657600" y="341071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a:t>
            </a:r>
          </a:p>
        </p:txBody>
      </p:sp>
      <p:sp>
        <p:nvSpPr>
          <p:cNvPr id="17" name="Rounded Rectangle 16"/>
          <p:cNvSpPr/>
          <p:nvPr/>
        </p:nvSpPr>
        <p:spPr>
          <a:xfrm>
            <a:off x="4023360" y="341071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18" name="Rounded Rectangle 17"/>
          <p:cNvSpPr/>
          <p:nvPr/>
        </p:nvSpPr>
        <p:spPr>
          <a:xfrm>
            <a:off x="4389120" y="341071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19" name="Rounded Rectangle 18"/>
          <p:cNvSpPr/>
          <p:nvPr/>
        </p:nvSpPr>
        <p:spPr>
          <a:xfrm>
            <a:off x="4754880" y="341071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a:t>
            </a:r>
          </a:p>
        </p:txBody>
      </p:sp>
      <p:sp>
        <p:nvSpPr>
          <p:cNvPr id="20" name="Rounded Rectangle 19"/>
          <p:cNvSpPr/>
          <p:nvPr/>
        </p:nvSpPr>
        <p:spPr>
          <a:xfrm>
            <a:off x="5120640" y="341071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21" name="Rounded Rectangle 20"/>
          <p:cNvSpPr/>
          <p:nvPr/>
        </p:nvSpPr>
        <p:spPr>
          <a:xfrm>
            <a:off x="5486400" y="341071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22" name="TextBox 21"/>
          <p:cNvSpPr txBox="1"/>
          <p:nvPr/>
        </p:nvSpPr>
        <p:spPr>
          <a:xfrm>
            <a:off x="365760" y="3977639"/>
            <a:ext cx="1737360" cy="274320"/>
          </a:xfrm>
          <a:prstGeom prst="rect">
            <a:avLst/>
          </a:prstGeom>
          <a:noFill/>
        </p:spPr>
        <p:txBody>
          <a:bodyPr wrap="square" lIns="45720" rIns="45720" tIns="27432" bIns="27432" anchor="ctr">
            <a:spAutoFit/>
          </a:bodyPr>
          <a:lstStyle/>
          <a:p>
            <a:r>
              <a:rPr sz="1000" b="1" i="0">
                <a:solidFill>
                  <a:srgbClr val="0E7C86"/>
                </a:solidFill>
                <a:latin typeface="Calibri"/>
              </a:rPr>
              <a:t>after chmod u+x</a:t>
            </a:r>
          </a:p>
        </p:txBody>
      </p:sp>
      <p:sp>
        <p:nvSpPr>
          <p:cNvPr id="23" name="Rounded Rectangle 22"/>
          <p:cNvSpPr/>
          <p:nvPr/>
        </p:nvSpPr>
        <p:spPr>
          <a:xfrm>
            <a:off x="2194560" y="395935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24" name="Rounded Rectangle 23"/>
          <p:cNvSpPr/>
          <p:nvPr/>
        </p:nvSpPr>
        <p:spPr>
          <a:xfrm>
            <a:off x="2560320" y="395935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a:t>
            </a:r>
          </a:p>
        </p:txBody>
      </p:sp>
      <p:sp>
        <p:nvSpPr>
          <p:cNvPr id="25" name="Rounded Rectangle 24"/>
          <p:cNvSpPr/>
          <p:nvPr/>
        </p:nvSpPr>
        <p:spPr>
          <a:xfrm>
            <a:off x="2926080" y="395935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w</a:t>
            </a:r>
          </a:p>
        </p:txBody>
      </p:sp>
      <p:sp>
        <p:nvSpPr>
          <p:cNvPr id="26" name="Rounded Rectangle 25"/>
          <p:cNvSpPr/>
          <p:nvPr/>
        </p:nvSpPr>
        <p:spPr>
          <a:xfrm>
            <a:off x="3291840" y="3959351"/>
            <a:ext cx="329184"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x</a:t>
            </a:r>
          </a:p>
        </p:txBody>
      </p:sp>
      <p:sp>
        <p:nvSpPr>
          <p:cNvPr id="27" name="Rounded Rectangle 26"/>
          <p:cNvSpPr/>
          <p:nvPr/>
        </p:nvSpPr>
        <p:spPr>
          <a:xfrm>
            <a:off x="3657600" y="395935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a:t>
            </a:r>
          </a:p>
        </p:txBody>
      </p:sp>
      <p:sp>
        <p:nvSpPr>
          <p:cNvPr id="28" name="Rounded Rectangle 27"/>
          <p:cNvSpPr/>
          <p:nvPr/>
        </p:nvSpPr>
        <p:spPr>
          <a:xfrm>
            <a:off x="4023360" y="395935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29" name="Rounded Rectangle 28"/>
          <p:cNvSpPr/>
          <p:nvPr/>
        </p:nvSpPr>
        <p:spPr>
          <a:xfrm>
            <a:off x="4389120" y="395935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30" name="Rounded Rectangle 29"/>
          <p:cNvSpPr/>
          <p:nvPr/>
        </p:nvSpPr>
        <p:spPr>
          <a:xfrm>
            <a:off x="4754880" y="3959351"/>
            <a:ext cx="329184"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a:t>
            </a:r>
          </a:p>
        </p:txBody>
      </p:sp>
      <p:sp>
        <p:nvSpPr>
          <p:cNvPr id="31" name="Rounded Rectangle 30"/>
          <p:cNvSpPr/>
          <p:nvPr/>
        </p:nvSpPr>
        <p:spPr>
          <a:xfrm>
            <a:off x="5120640" y="395935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sp>
        <p:nvSpPr>
          <p:cNvPr id="32" name="Rounded Rectangle 31"/>
          <p:cNvSpPr/>
          <p:nvPr/>
        </p:nvSpPr>
        <p:spPr>
          <a:xfrm>
            <a:off x="5486400" y="3959351"/>
            <a:ext cx="329184" cy="310896"/>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a:t>
            </a:r>
          </a:p>
        </p:txBody>
      </p:sp>
      <p:cxnSp>
        <p:nvCxnSpPr>
          <p:cNvPr id="33" name="arrow"/>
          <p:cNvCxnSpPr/>
          <p:nvPr/>
        </p:nvCxnSpPr>
        <p:spPr>
          <a:xfrm>
            <a:off x="1280160" y="3721607"/>
            <a:ext cx="0" cy="237744"/>
          </a:xfrm>
          <a:prstGeom prst="line">
            <a:avLst/>
          </a:prstGeom>
          <a:ln w="1778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194560" y="4325112"/>
            <a:ext cx="329184" cy="182880"/>
          </a:xfrm>
          <a:prstGeom prst="rect">
            <a:avLst/>
          </a:prstGeom>
          <a:noFill/>
        </p:spPr>
        <p:txBody>
          <a:bodyPr wrap="square" lIns="0" rIns="0" tIns="0" bIns="0" anchor="t">
            <a:spAutoFit/>
          </a:bodyPr>
          <a:lstStyle/>
          <a:p>
            <a:pPr algn="ctr"/>
            <a:r>
              <a:rPr sz="850" b="0" i="1">
                <a:solidFill>
                  <a:srgbClr val="5B6773"/>
                </a:solidFill>
                <a:latin typeface="Calibri"/>
              </a:rPr>
              <a:t>type</a:t>
            </a:r>
          </a:p>
        </p:txBody>
      </p:sp>
      <p:sp>
        <p:nvSpPr>
          <p:cNvPr id="35" name="TextBox 34"/>
          <p:cNvSpPr txBox="1"/>
          <p:nvPr/>
        </p:nvSpPr>
        <p:spPr>
          <a:xfrm>
            <a:off x="2560320" y="4325112"/>
            <a:ext cx="1060704" cy="182880"/>
          </a:xfrm>
          <a:prstGeom prst="rect">
            <a:avLst/>
          </a:prstGeom>
          <a:noFill/>
        </p:spPr>
        <p:txBody>
          <a:bodyPr wrap="square" lIns="0" rIns="0" tIns="0" bIns="0" anchor="t">
            <a:spAutoFit/>
          </a:bodyPr>
          <a:lstStyle/>
          <a:p>
            <a:pPr algn="ctr"/>
            <a:r>
              <a:rPr sz="850" b="0" i="1">
                <a:solidFill>
                  <a:srgbClr val="5B6773"/>
                </a:solidFill>
                <a:latin typeface="Calibri"/>
              </a:rPr>
              <a:t>owner</a:t>
            </a:r>
          </a:p>
        </p:txBody>
      </p:sp>
      <p:sp>
        <p:nvSpPr>
          <p:cNvPr id="36" name="TextBox 35"/>
          <p:cNvSpPr txBox="1"/>
          <p:nvPr/>
        </p:nvSpPr>
        <p:spPr>
          <a:xfrm>
            <a:off x="3657600" y="4325112"/>
            <a:ext cx="1060704" cy="182880"/>
          </a:xfrm>
          <a:prstGeom prst="rect">
            <a:avLst/>
          </a:prstGeom>
          <a:noFill/>
        </p:spPr>
        <p:txBody>
          <a:bodyPr wrap="square" lIns="0" rIns="0" tIns="0" bIns="0" anchor="t">
            <a:spAutoFit/>
          </a:bodyPr>
          <a:lstStyle/>
          <a:p>
            <a:pPr algn="ctr"/>
            <a:r>
              <a:rPr sz="850" b="0" i="1">
                <a:solidFill>
                  <a:srgbClr val="5B6773"/>
                </a:solidFill>
                <a:latin typeface="Calibri"/>
              </a:rPr>
              <a:t>group</a:t>
            </a:r>
          </a:p>
        </p:txBody>
      </p:sp>
      <p:sp>
        <p:nvSpPr>
          <p:cNvPr id="37" name="TextBox 36"/>
          <p:cNvSpPr txBox="1"/>
          <p:nvPr/>
        </p:nvSpPr>
        <p:spPr>
          <a:xfrm>
            <a:off x="4754880" y="4325112"/>
            <a:ext cx="1060704" cy="182880"/>
          </a:xfrm>
          <a:prstGeom prst="rect">
            <a:avLst/>
          </a:prstGeom>
          <a:noFill/>
        </p:spPr>
        <p:txBody>
          <a:bodyPr wrap="square" lIns="0" rIns="0" tIns="0" bIns="0" anchor="t">
            <a:spAutoFit/>
          </a:bodyPr>
          <a:lstStyle/>
          <a:p>
            <a:pPr algn="ctr"/>
            <a:r>
              <a:rPr sz="850" b="0" i="1">
                <a:solidFill>
                  <a:srgbClr val="5B6773"/>
                </a:solidFill>
                <a:latin typeface="Calibri"/>
              </a:rPr>
              <a:t>other</a:t>
            </a:r>
          </a:p>
        </p:txBody>
      </p:sp>
      <p:sp>
        <p:nvSpPr>
          <p:cNvPr id="38" name="Rounded Rectangle 37"/>
          <p:cNvSpPr/>
          <p:nvPr/>
        </p:nvSpPr>
        <p:spPr>
          <a:xfrm>
            <a:off x="6126480" y="3685031"/>
            <a:ext cx="256032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found by name on PATH: True</a:t>
            </a:r>
          </a:p>
        </p:txBody>
      </p:sp>
      <p:sp>
        <p:nvSpPr>
          <p:cNvPr id="3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chmod u+x turns a file into a command.</a:t>
            </a:r>
          </a:p>
        </p:txBody>
      </p:sp>
      <p:sp>
        <p:nvSpPr>
          <p:cNvPr id="4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 line, announced by email, 1980</a:t>
            </a:r>
          </a:p>
        </p:txBody>
      </p:sp>
      <p:pic>
        <p:nvPicPr>
          <p:cNvPr id="4" name="photo shebang" descr="Picture for the story: the #! line, announced by email, 1980"/>
          <p:cNvPicPr>
            <a:picLocks noChangeAspect="1"/>
          </p:cNvPicPr>
          <p:nvPr/>
        </p:nvPicPr>
        <p:blipFill>
          <a:blip r:embed="rId3"/>
          <a:stretch>
            <a:fillRect/>
          </a:stretch>
        </p:blipFill>
        <p:spPr>
          <a:xfrm>
            <a:off x="365760" y="869172"/>
            <a:ext cx="2651760" cy="2925095"/>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Dennis Ritchie, 2011. Image: Denise Panyik-Dale, CC BY 2.0,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Dennis Ritchie of Bell Laboratories.</a:t>
            </a:r>
          </a:p>
        </p:txBody>
      </p:sp>
      <p:sp>
        <p:nvSpPr>
          <p:cNvPr id="8" name="card"/>
          <p:cNvSpPr/>
          <p:nvPr/>
        </p:nvSpPr>
        <p:spPr>
          <a:xfrm>
            <a:off x="3200400" y="130759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 line: if a file starts with these two characters, the rest of the line names the interpreter.</a:t>
            </a:r>
          </a:p>
        </p:txBody>
      </p:sp>
      <p:sp>
        <p:nvSpPr>
          <p:cNvPr id="10" name="card"/>
          <p:cNvSpPr/>
          <p:nvPr/>
        </p:nvSpPr>
        <p:spPr>
          <a:xfrm>
            <a:off x="3200400" y="192938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In an email dated Thursday, 10 January 1980.</a:t>
            </a:r>
          </a:p>
        </p:txBody>
      </p:sp>
      <p:sp>
        <p:nvSpPr>
          <p:cNvPr id="12" name="card"/>
          <p:cNvSpPr/>
          <p:nvPr/>
        </p:nvSpPr>
        <p:spPr>
          <a:xfrm>
            <a:off x="3200400" y="239572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39572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Bell Laboratories, between Edition 7 and Edition 8 Unix; it reached users through Berkeley BSD.</a:t>
            </a:r>
          </a:p>
        </p:txBody>
      </p:sp>
      <p:sp>
        <p:nvSpPr>
          <p:cNvPr id="14" name="card"/>
          <p:cNvSpPr/>
          <p:nvPr/>
        </p:nvSpPr>
        <p:spPr>
          <a:xfrm>
            <a:off x="3200400" y="301752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1752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Scripts could then be run by name, like any program. His advice: put #! /bin/sh first.</a:t>
            </a:r>
          </a:p>
        </p:txBody>
      </p:sp>
      <p:sp>
        <p:nvSpPr>
          <p:cNvPr id="16" name="card"/>
          <p:cNvSpPr/>
          <p:nvPr/>
        </p:nvSpPr>
        <p:spPr>
          <a:xfrm>
            <a:off x="3200400" y="3639311"/>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39311"/>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The kernel reads the line and starts the named program. The launcher's #!/usr/bin/env bash adds a PATH search.</a:t>
            </a:r>
          </a:p>
        </p:txBody>
      </p:sp>
      <p:sp>
        <p:nvSpPr>
          <p:cNvPr id="18" name="read"/>
          <p:cNvSpPr txBox="1"/>
          <p:nvPr/>
        </p:nvSpPr>
        <p:spPr>
          <a:xfrm>
            <a:off x="3200400" y="4279391"/>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Shebang (Unix)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Deploying on Ubuntu: the .desktop entry</a:t>
            </a:r>
          </a:p>
        </p:txBody>
      </p:sp>
      <p:sp>
        <p:nvSpPr>
          <p:cNvPr id="4" name="code"/>
          <p:cNvSpPr/>
          <p:nvPr/>
        </p:nvSpPr>
        <p:spPr>
          <a:xfrm>
            <a:off x="365760" y="786384"/>
            <a:ext cx="8412480" cy="98932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configparser</a:t>
            </a:r>
          </a:p>
          <a:p>
            <a:pPr algn="l"/>
            <a:r>
              <a:rPr sz="1100" b="0" i="0">
                <a:solidFill>
                  <a:srgbClr val="8FA3B8"/>
                </a:solidFill>
                <a:latin typeface="Courier New"/>
              </a:rPr>
              <a:t>&gt;&gt;&gt; </a:t>
            </a:r>
            <a:r>
              <a:rPr sz="1100" b="0" i="0">
                <a:solidFill>
                  <a:srgbClr val="E6EDF3"/>
                </a:solidFill>
                <a:latin typeface="Courier New"/>
              </a:rPr>
              <a:t>entry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'[Desktop Entry]\n'</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'Name=yourScript\n'</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'Exec=gnome-terminal -- /home/al/Scripts/yourScript\n'</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'Type=Application\n'</a:t>
            </a:r>
            <a:r>
              <a:rPr sz="1100" b="0" i="0">
                <a:solidFill>
                  <a:srgbClr val="E6EDF3"/>
                </a:solidFill>
                <a:latin typeface="Courier New"/>
              </a:rPr>
              <a:t>)</a:t>
            </a:r>
          </a:p>
        </p:txBody>
      </p:sp>
      <p:sp>
        <p:nvSpPr>
          <p:cNvPr id="5" name="explanation"/>
          <p:cNvSpPr txBox="1"/>
          <p:nvPr/>
        </p:nvSpPr>
        <p:spPr>
          <a:xfrm>
            <a:off x="365760" y="1784857"/>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A .desktop file is a small settings file that puts a program in the Ubuntu menu. Its Exec line says what to run.</a:t>
            </a:r>
          </a:p>
        </p:txBody>
      </p:sp>
      <p:sp>
        <p:nvSpPr>
          <p:cNvPr id="6" name="code"/>
          <p:cNvSpPr/>
          <p:nvPr/>
        </p:nvSpPr>
        <p:spPr>
          <a:xfrm>
            <a:off x="365760" y="2330450"/>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configparser</a:t>
            </a:r>
            <a:r>
              <a:rPr sz="1100" b="0" i="0">
                <a:solidFill>
                  <a:srgbClr val="E6EDF3"/>
                </a:solidFill>
                <a:latin typeface="Courier New"/>
              </a:rPr>
              <a:t>.</a:t>
            </a:r>
            <a:r>
              <a:rPr sz="1100" b="0" i="0">
                <a:solidFill>
                  <a:srgbClr val="E6EDF3"/>
                </a:solidFill>
                <a:latin typeface="Courier New"/>
              </a:rPr>
              <a:t>ConfigParser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c</a:t>
            </a:r>
            <a:r>
              <a:rPr sz="1100" b="0" i="0">
                <a:solidFill>
                  <a:srgbClr val="E6EDF3"/>
                </a:solidFill>
                <a:latin typeface="Courier New"/>
              </a:rPr>
              <a:t>.</a:t>
            </a:r>
            <a:r>
              <a:rPr sz="1100" b="0" i="0">
                <a:solidFill>
                  <a:srgbClr val="E6EDF3"/>
                </a:solidFill>
                <a:latin typeface="Courier New"/>
              </a:rPr>
              <a:t>read_string</a:t>
            </a:r>
            <a:r>
              <a:rPr sz="1100" b="0" i="0">
                <a:solidFill>
                  <a:srgbClr val="E6EDF3"/>
                </a:solidFill>
                <a:latin typeface="Courier New"/>
              </a:rPr>
              <a:t>(</a:t>
            </a:r>
            <a:r>
              <a:rPr sz="1100" b="0" i="0">
                <a:solidFill>
                  <a:srgbClr val="E6EDF3"/>
                </a:solidFill>
                <a:latin typeface="Courier New"/>
              </a:rPr>
              <a:t>entry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dict</a:t>
            </a:r>
            <a:r>
              <a:rPr sz="1100" b="0" i="0">
                <a:solidFill>
                  <a:srgbClr val="E6EDF3"/>
                </a:solidFill>
                <a:latin typeface="Courier New"/>
              </a:rPr>
              <a:t>(</a:t>
            </a:r>
            <a:r>
              <a:rPr sz="1100" b="0" i="0">
                <a:solidFill>
                  <a:srgbClr val="E6EDF3"/>
                </a:solidFill>
                <a:latin typeface="Courier New"/>
              </a:rPr>
              <a:t>c</a:t>
            </a:r>
            <a:r>
              <a:rPr sz="1100" b="0" i="0">
                <a:solidFill>
                  <a:srgbClr val="E6EDF3"/>
                </a:solidFill>
                <a:latin typeface="Courier New"/>
              </a:rPr>
              <a:t>[</a:t>
            </a:r>
            <a:r>
              <a:rPr sz="1100" b="0" i="0">
                <a:solidFill>
                  <a:srgbClr val="9BE3A8"/>
                </a:solidFill>
                <a:latin typeface="Courier New"/>
              </a:rPr>
              <a:t>'Desktop Entry'</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988055"/>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configparser reads this kind of file. Every key becomes an item of a dictionary.</a:t>
            </a:r>
          </a:p>
        </p:txBody>
      </p:sp>
      <p:sp>
        <p:nvSpPr>
          <p:cNvPr id="8" name="result label"/>
          <p:cNvSpPr txBox="1"/>
          <p:nvPr/>
        </p:nvSpPr>
        <p:spPr>
          <a:xfrm>
            <a:off x="365760" y="337058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644899"/>
          <a:ext cx="8412478" cy="963676"/>
        </p:xfrm>
        <a:graphic>
          <a:graphicData uri="http://schemas.openxmlformats.org/drawingml/2006/table">
            <a:tbl>
              <a:tblPr firstRow="0" bandRow="0"/>
              <a:tblGrid>
                <a:gridCol w="870256"/>
                <a:gridCol w="4447977"/>
                <a:gridCol w="3094245"/>
              </a:tblGrid>
              <a:tr h="240919">
                <a:tc>
                  <a:txBody>
                    <a:bodyPr wrap="square"/>
                    <a:lstStyle/>
                    <a:p>
                      <a:r>
                        <a:rPr sz="1000" b="1" i="0">
                          <a:solidFill>
                            <a:srgbClr val="FFFFFF"/>
                          </a:solidFill>
                          <a:latin typeface="Calibri"/>
                        </a:rPr>
                        <a:t>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0919">
                <a:tc>
                  <a:txBody>
                    <a:bodyPr wrap="square"/>
                    <a:lstStyle/>
                    <a:p>
                      <a:r>
                        <a:rPr sz="100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yourScript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label in the menu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0919">
                <a:tc>
                  <a:txBody>
                    <a:bodyPr wrap="square"/>
                    <a:lstStyle/>
                    <a:p>
                      <a:r>
                        <a:rPr sz="1000" b="0" i="0">
                          <a:solidFill>
                            <a:srgbClr val="1F2933"/>
                          </a:solidFill>
                          <a:latin typeface="Courier New"/>
                        </a:rPr>
                        <a:t>Exec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gnome-terminal -- /home/al/Scripts/yourScript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what a click runs, in a terminal window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0919">
                <a:tc>
                  <a:txBody>
                    <a:bodyPr wrap="square"/>
                    <a:lstStyle/>
                    <a:p>
                      <a:r>
                        <a:rPr sz="1000" b="0" i="0">
                          <a:solidFill>
                            <a:srgbClr val="1F2933"/>
                          </a:solidFill>
                          <a:latin typeface="Courier New"/>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Application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an entry that starts a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.desktop file puts the launcher in the menu.</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ccwd: copying the current working directory</a:t>
            </a:r>
          </a:p>
        </p:txBody>
      </p:sp>
      <p:sp>
        <p:nvSpPr>
          <p:cNvPr id="4" name="code"/>
          <p:cNvSpPr/>
          <p:nvPr/>
        </p:nvSpPr>
        <p:spPr>
          <a:xfrm>
            <a:off x="365760" y="786384"/>
            <a:ext cx="5369052" cy="115976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p>
          <a:p>
            <a:pPr algn="l"/>
            <a:r>
              <a:rPr sz="1100" b="0" i="0">
                <a:solidFill>
                  <a:srgbClr val="8FA3B8"/>
                </a:solidFill>
                <a:latin typeface="Courier New"/>
              </a:rPr>
              <a:t>&gt;&gt;&gt; </a:t>
            </a:r>
            <a:r>
              <a:rPr sz="1100" b="0" i="0">
                <a:solidFill>
                  <a:srgbClr val="E6EDF3"/>
                </a:solidFill>
                <a:latin typeface="Courier New"/>
              </a:rPr>
              <a:t>clipboard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ccwd</a:t>
            </a:r>
            <a:r>
              <a:rPr sz="1100" b="0" i="0">
                <a:solidFill>
                  <a:srgbClr val="E6EDF3"/>
                </a:solidFill>
                <a:latin typeface="Courier New"/>
              </a:rPr>
              <a:t>(</a:t>
            </a:r>
            <a:r>
              <a:rPr sz="1100" b="0" i="0">
                <a:solidFill>
                  <a:srgbClr val="E6EDF3"/>
                </a:solidFill>
                <a:latin typeface="Courier New"/>
              </a:rPr>
              <a:t>argv</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argv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&gt;</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argv</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clipboard</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getcwd</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716524" y="786384"/>
            <a:ext cx="3061715" cy="1159763"/>
          </a:xfrm>
          <a:prstGeom prst="rect">
            <a:avLst/>
          </a:prstGeom>
          <a:noFill/>
        </p:spPr>
        <p:txBody>
          <a:bodyPr wrap="square" lIns="128016" rIns="128016" tIns="18288" bIns="18288" anchor="ctr">
            <a:spAutoFit/>
          </a:bodyPr>
          <a:lstStyle/>
          <a:p>
            <a:r>
              <a:rPr sz="1200" b="0" i="0">
                <a:solidFill>
                  <a:srgbClr val="1F2933"/>
                </a:solidFill>
                <a:latin typeface="Calibri"/>
              </a:rPr>
              <a:t>ccwd changes folder when it gets an argument, then copies the working directory. A list stands in for the clipboard.</a:t>
            </a:r>
          </a:p>
        </p:txBody>
      </p:sp>
      <p:sp>
        <p:nvSpPr>
          <p:cNvPr id="6" name="code"/>
          <p:cNvSpPr/>
          <p:nvPr/>
        </p:nvSpPr>
        <p:spPr>
          <a:xfrm>
            <a:off x="365760" y="1991868"/>
            <a:ext cx="5369052" cy="115976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start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getcwd</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9BE3A8"/>
                </a:solidFill>
                <a:latin typeface="Courier New"/>
              </a:rPr>
              <a:t>'/tmp'</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terminal</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getcwd</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8FA3B8"/>
                </a:solidFill>
                <a:latin typeface="Courier New"/>
              </a:rPr>
              <a:t># where the terminal stands</a:t>
            </a:r>
          </a:p>
          <a:p>
            <a:pPr algn="l"/>
            <a:r>
              <a:rPr sz="1100" b="0" i="0">
                <a:solidFill>
                  <a:srgbClr val="8FA3B8"/>
                </a:solidFill>
                <a:latin typeface="Courier New"/>
              </a:rPr>
              <a:t>&gt;&gt;&gt; </a:t>
            </a:r>
            <a:r>
              <a:rPr sz="1100" b="0" i="0">
                <a:solidFill>
                  <a:srgbClr val="E6EDF3"/>
                </a:solidFill>
                <a:latin typeface="Courier New"/>
              </a:rPr>
              <a:t>ccwd</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'ccwd.py'</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'clipboard'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clipboard</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 terminal'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terminal</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start</a:t>
            </a:r>
            <a:r>
              <a:rPr sz="1100" b="0" i="0">
                <a:solidFill>
                  <a:srgbClr val="E6EDF3"/>
                </a:solidFill>
                <a:latin typeface="Courier New"/>
              </a:rPr>
              <a:t>)</a:t>
            </a:r>
          </a:p>
        </p:txBody>
      </p:sp>
      <p:sp>
        <p:nvSpPr>
          <p:cNvPr id="7" name="explanation"/>
          <p:cNvSpPr txBox="1"/>
          <p:nvPr/>
        </p:nvSpPr>
        <p:spPr>
          <a:xfrm>
            <a:off x="5716524" y="1991868"/>
            <a:ext cx="3061715" cy="1159763"/>
          </a:xfrm>
          <a:prstGeom prst="rect">
            <a:avLst/>
          </a:prstGeom>
          <a:noFill/>
        </p:spPr>
        <p:txBody>
          <a:bodyPr wrap="square" lIns="128016" rIns="128016" tIns="18288" bIns="18288" anchor="ctr">
            <a:spAutoFit/>
          </a:bodyPr>
          <a:lstStyle/>
          <a:p>
            <a:r>
              <a:rPr sz="1200" b="0" i="0">
                <a:solidFill>
                  <a:srgbClr val="1F2933"/>
                </a:solidFill>
                <a:latin typeface="Calibri"/>
              </a:rPr>
              <a:t>os.chdir moves only the running program. After ccwd .. the terminal itself has not moved.</a:t>
            </a:r>
          </a:p>
        </p:txBody>
      </p:sp>
      <p:sp>
        <p:nvSpPr>
          <p:cNvPr id="8" name="result label"/>
          <p:cNvSpPr txBox="1"/>
          <p:nvPr/>
        </p:nvSpPr>
        <p:spPr>
          <a:xfrm>
            <a:off x="365760" y="322478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544823"/>
            <a:ext cx="2286000" cy="64008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terminal</a:t>
            </a:r>
          </a:p>
          <a:p>
            <a:pPr algn="ctr"/>
            <a:r>
              <a:rPr sz="1000" b="0" i="0">
                <a:solidFill>
                  <a:srgbClr val="1F2933"/>
                </a:solidFill>
                <a:latin typeface="Calibri"/>
              </a:rPr>
              <a:t>working directory /tmp</a:t>
            </a:r>
          </a:p>
        </p:txBody>
      </p:sp>
      <p:sp>
        <p:nvSpPr>
          <p:cNvPr id="10" name="Rounded Rectangle 9"/>
          <p:cNvSpPr/>
          <p:nvPr/>
        </p:nvSpPr>
        <p:spPr>
          <a:xfrm>
            <a:off x="3383279" y="3544823"/>
            <a:ext cx="2286000" cy="64008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ccwd .. (a running program)</a:t>
            </a:r>
          </a:p>
          <a:p>
            <a:pPr algn="ctr"/>
            <a:r>
              <a:rPr sz="1000" b="0" i="0">
                <a:solidFill>
                  <a:srgbClr val="1F2933"/>
                </a:solidFill>
                <a:latin typeface="Calibri"/>
              </a:rPr>
              <a:t>working directory /</a:t>
            </a:r>
          </a:p>
        </p:txBody>
      </p:sp>
      <p:sp>
        <p:nvSpPr>
          <p:cNvPr id="11" name="Rounded Rectangle 10"/>
          <p:cNvSpPr/>
          <p:nvPr/>
        </p:nvSpPr>
        <p:spPr>
          <a:xfrm>
            <a:off x="6400800" y="3544823"/>
            <a:ext cx="2286000" cy="64008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clipboard</a:t>
            </a:r>
          </a:p>
          <a:p>
            <a:pPr algn="ctr"/>
            <a:r>
              <a:rPr sz="1000" b="0" i="0">
                <a:solidFill>
                  <a:srgbClr val="1F2933"/>
                </a:solidFill>
                <a:latin typeface="Calibri"/>
              </a:rPr>
              <a:t>/</a:t>
            </a:r>
          </a:p>
        </p:txBody>
      </p:sp>
      <p:cxnSp>
        <p:nvCxnSpPr>
          <p:cNvPr id="12" name="arrow"/>
          <p:cNvCxnSpPr/>
          <p:nvPr/>
        </p:nvCxnSpPr>
        <p:spPr>
          <a:xfrm>
            <a:off x="2670048" y="3864863"/>
            <a:ext cx="694943"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97479" y="3590543"/>
            <a:ext cx="731520" cy="237744"/>
          </a:xfrm>
          <a:prstGeom prst="rect">
            <a:avLst/>
          </a:prstGeom>
          <a:noFill/>
        </p:spPr>
        <p:txBody>
          <a:bodyPr wrap="square" lIns="45720" rIns="45720" tIns="27432" bIns="27432" anchor="t">
            <a:spAutoFit/>
          </a:bodyPr>
          <a:lstStyle/>
          <a:p>
            <a:r>
              <a:rPr sz="950" b="0" i="1">
                <a:solidFill>
                  <a:srgbClr val="5B6773"/>
                </a:solidFill>
                <a:latin typeface="Calibri"/>
              </a:rPr>
              <a:t>starts</a:t>
            </a:r>
          </a:p>
        </p:txBody>
      </p:sp>
      <p:cxnSp>
        <p:nvCxnSpPr>
          <p:cNvPr id="14" name="arrow"/>
          <p:cNvCxnSpPr/>
          <p:nvPr/>
        </p:nvCxnSpPr>
        <p:spPr>
          <a:xfrm>
            <a:off x="5687567" y="3864863"/>
            <a:ext cx="6949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14999" y="3590543"/>
            <a:ext cx="731520" cy="237744"/>
          </a:xfrm>
          <a:prstGeom prst="rect">
            <a:avLst/>
          </a:prstGeom>
          <a:noFill/>
        </p:spPr>
        <p:txBody>
          <a:bodyPr wrap="square" lIns="45720" rIns="45720" tIns="27432" bIns="27432" anchor="t">
            <a:spAutoFit/>
          </a:bodyPr>
          <a:lstStyle/>
          <a:p>
            <a:r>
              <a:rPr sz="950" b="0" i="1">
                <a:solidFill>
                  <a:srgbClr val="5B6773"/>
                </a:solidFill>
                <a:latin typeface="Calibri"/>
              </a:rPr>
              <a:t>copies</a:t>
            </a:r>
          </a:p>
        </p:txBody>
      </p:sp>
      <p:sp>
        <p:nvSpPr>
          <p:cNvPr id="16" name="TextBox 15"/>
          <p:cNvSpPr txBox="1"/>
          <p:nvPr/>
        </p:nvSpPr>
        <p:spPr>
          <a:xfrm>
            <a:off x="365760" y="4322063"/>
            <a:ext cx="8412480" cy="274320"/>
          </a:xfrm>
          <a:prstGeom prst="rect">
            <a:avLst/>
          </a:prstGeom>
          <a:noFill/>
        </p:spPr>
        <p:txBody>
          <a:bodyPr wrap="square" lIns="45720" rIns="45720" tIns="27432" bIns="27432" anchor="t">
            <a:spAutoFit/>
          </a:bodyPr>
          <a:lstStyle/>
          <a:p>
            <a:r>
              <a:rPr sz="1050" b="0" i="0">
                <a:solidFill>
                  <a:srgbClr val="1F2933"/>
                </a:solidFill>
                <a:latin typeface="Calibri"/>
              </a:rPr>
              <a:t>After the program has changed folder, the terminal has not: it still stands in /tmp.</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os.chdir moves only the program.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Clipboard Recorder: print what changed</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texts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'ch11'</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'ch11'</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'ch12'</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'ch12'</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'ch13'</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previous_content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recorded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content</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texts</a:t>
            </a:r>
            <a:r>
              <a:rPr sz="1000" b="0" i="0">
                <a:solidFill>
                  <a:srgbClr val="E6EDF3"/>
                </a:solidFill>
                <a:latin typeface="Courier New"/>
              </a:rPr>
              <a:t>:</a:t>
            </a:r>
            <a:r>
              <a:rPr sz="1000" b="0" i="0">
                <a:solidFill>
                  <a:srgbClr val="E6EDF3"/>
                </a:solidFill>
                <a:latin typeface="Courier New"/>
              </a:rPr>
              <a:t>  </a:t>
            </a:r>
            <a:r>
              <a:rPr sz="1000" b="0" i="0">
                <a:solidFill>
                  <a:srgbClr val="8FA3B8"/>
                </a:solidFill>
                <a:latin typeface="Courier New"/>
              </a:rPr>
              <a:t># the book calls paste()</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The real program calls pyperclip.paste again and again. Here a list of copied texts plays the clipboard.</a:t>
            </a:r>
          </a:p>
        </p:txBody>
      </p:sp>
      <p:sp>
        <p:nvSpPr>
          <p:cNvPr id="6" name="code"/>
          <p:cNvSpPr/>
          <p:nvPr/>
        </p:nvSpPr>
        <p:spPr>
          <a:xfrm>
            <a:off x="365760" y="1589023"/>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content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previous_content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content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recorded</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content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previous_content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content</a:t>
            </a:r>
          </a:p>
        </p:txBody>
      </p:sp>
      <p:sp>
        <p:nvSpPr>
          <p:cNvPr id="7" name="explanation"/>
          <p:cNvSpPr txBox="1"/>
          <p:nvPr/>
        </p:nvSpPr>
        <p:spPr>
          <a:xfrm>
            <a:off x="5785104" y="1589023"/>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It prints a text only when it is new, and remembers the last one.</a:t>
            </a:r>
          </a:p>
        </p:txBody>
      </p:sp>
      <p:sp>
        <p:nvSpPr>
          <p:cNvPr id="8" name="code"/>
          <p:cNvSpPr/>
          <p:nvPr/>
        </p:nvSpPr>
        <p:spPr>
          <a:xfrm>
            <a:off x="365760" y="2391664"/>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raise</a:t>
            </a:r>
            <a:r>
              <a:rPr sz="1000" b="0" i="0">
                <a:solidFill>
                  <a:srgbClr val="E6EDF3"/>
                </a:solidFill>
                <a:latin typeface="Courier New"/>
              </a:rPr>
              <a:t> </a:t>
            </a:r>
            <a:r>
              <a:rPr sz="1000" b="0" i="0">
                <a:solidFill>
                  <a:srgbClr val="E6EDF3"/>
                </a:solidFill>
                <a:latin typeface="Courier New"/>
              </a:rPr>
              <a:t>KeyboardInterrupt</a:t>
            </a:r>
            <a:r>
              <a:rPr sz="1000" b="0" i="0">
                <a:solidFill>
                  <a:srgbClr val="E6EDF3"/>
                </a:solidFill>
                <a:latin typeface="Courier New"/>
              </a:rPr>
              <a:t>  </a:t>
            </a:r>
            <a:r>
              <a:rPr sz="1000" b="0" i="0">
                <a:solidFill>
                  <a:srgbClr val="8FA3B8"/>
                </a:solidFill>
                <a:latin typeface="Courier New"/>
              </a:rPr>
              <a:t># the user presses CTRL-C</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KeyboardInterrupt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'Result: stopped quietly;'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recorded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'recorded'</a:t>
            </a:r>
            <a:r>
              <a:rPr sz="1000" b="0" i="0">
                <a:solidFill>
                  <a:srgbClr val="E6EDF3"/>
                </a:solidFill>
                <a:latin typeface="Courier New"/>
              </a:rPr>
              <a:t>)</a:t>
            </a:r>
          </a:p>
        </p:txBody>
      </p:sp>
      <p:sp>
        <p:nvSpPr>
          <p:cNvPr id="9" name="explanation"/>
          <p:cNvSpPr txBox="1"/>
          <p:nvPr/>
        </p:nvSpPr>
        <p:spPr>
          <a:xfrm>
            <a:off x="5785104" y="2391664"/>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CTRL-C raises KeyboardInterrupt. The except clause catches it, so the program ends quietly.</a:t>
            </a:r>
          </a:p>
        </p:txBody>
      </p:sp>
      <p:sp>
        <p:nvSpPr>
          <p:cNvPr id="10" name="result label"/>
          <p:cNvSpPr txBox="1"/>
          <p:nvPr/>
        </p:nvSpPr>
        <p:spPr>
          <a:xfrm>
            <a:off x="365760" y="311670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91026"/>
          <a:ext cx="5215736" cy="1217544"/>
        </p:xfrm>
        <a:graphic>
          <a:graphicData uri="http://schemas.openxmlformats.org/drawingml/2006/table">
            <a:tbl>
              <a:tblPr firstRow="0" bandRow="0"/>
              <a:tblGrid>
                <a:gridCol w="869289"/>
                <a:gridCol w="2318105"/>
                <a:gridCol w="2028342"/>
              </a:tblGrid>
              <a:tr h="202924">
                <a:tc>
                  <a:txBody>
                    <a:bodyPr wrap="square"/>
                    <a:lstStyle/>
                    <a:p>
                      <a:r>
                        <a:rPr sz="900" b="1" i="0">
                          <a:solidFill>
                            <a:srgbClr val="FFFFFF"/>
                          </a:solidFill>
                          <a:latin typeface="Calibri"/>
                        </a:rPr>
                        <a:t>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Clipboard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New?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02924">
                <a:tc>
                  <a:txBody>
                    <a:bodyPr wrap="square"/>
                    <a:lstStyle/>
                    <a:p>
                      <a:r>
                        <a:rPr sz="9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ch11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2F855A"/>
                          </a:solidFill>
                          <a:latin typeface="Calibri"/>
                        </a:rPr>
                        <a:t>yes: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2924">
                <a:tc>
                  <a:txBody>
                    <a:bodyPr wrap="square"/>
                    <a:lstStyle/>
                    <a:p>
                      <a:r>
                        <a:rPr sz="9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ch11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8A8F98"/>
                          </a:solidFill>
                          <a:latin typeface="Calibri"/>
                        </a:rPr>
                        <a:t>no: skipped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2924">
                <a:tc>
                  <a:txBody>
                    <a:bodyPr wrap="square"/>
                    <a:lstStyle/>
                    <a:p>
                      <a:r>
                        <a:rPr sz="9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ch12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2F855A"/>
                          </a:solidFill>
                          <a:latin typeface="Calibri"/>
                        </a:rPr>
                        <a:t>yes: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2924">
                <a:tc>
                  <a:txBody>
                    <a:bodyPr wrap="square"/>
                    <a:lstStyle/>
                    <a:p>
                      <a:r>
                        <a:rPr sz="9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ch12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8A8F98"/>
                          </a:solidFill>
                          <a:latin typeface="Calibri"/>
                        </a:rPr>
                        <a:t>no: skipped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2924">
                <a:tc>
                  <a:txBody>
                    <a:bodyPr wrap="square"/>
                    <a:lstStyle/>
                    <a:p>
                      <a:r>
                        <a:rPr sz="9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ch13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2F855A"/>
                          </a:solidFill>
                          <a:latin typeface="Calibri"/>
                        </a:rPr>
                        <a:t>yes: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TextBox 11"/>
          <p:cNvSpPr txBox="1"/>
          <p:nvPr/>
        </p:nvSpPr>
        <p:spPr>
          <a:xfrm>
            <a:off x="5917996" y="3372738"/>
            <a:ext cx="2860243" cy="201168"/>
          </a:xfrm>
          <a:prstGeom prst="rect">
            <a:avLst/>
          </a:prstGeom>
          <a:noFill/>
        </p:spPr>
        <p:txBody>
          <a:bodyPr wrap="square" lIns="45720" rIns="45720" tIns="27432" bIns="27432" anchor="t">
            <a:spAutoFit/>
          </a:bodyPr>
          <a:lstStyle/>
          <a:p>
            <a:r>
              <a:rPr sz="950" b="0" i="1">
                <a:solidFill>
                  <a:srgbClr val="5B6773"/>
                </a:solidFill>
                <a:latin typeface="Calibri"/>
              </a:rPr>
              <a:t>reads against texts recorded</a:t>
            </a:r>
          </a:p>
        </p:txBody>
      </p:sp>
      <p:graphicFrame>
        <p:nvGraphicFramePr>
          <p:cNvPr id="13" name="chart"/>
          <p:cNvGraphicFramePr>
            <a:graphicFrameLocks noGrp="1"/>
          </p:cNvGraphicFramePr>
          <p:nvPr/>
        </p:nvGraphicFramePr>
        <p:xfrm>
          <a:off x="5917996" y="3573907"/>
          <a:ext cx="2860243" cy="1034669"/>
        </p:xfrm>
        <a:graphic>
          <a:graphicData uri="http://schemas.openxmlformats.org/drawingml/2006/chart">
            <c:chart xmlns:c="http://schemas.openxmlformats.org/drawingml/2006/chart" r:id="rId3"/>
          </a:graphicData>
        </a:graphic>
      </p:graphicFrame>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Poll, print what changed, stop on CTRL-C.</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PyInstaller: one file, a whole interpreter</a:t>
            </a:r>
          </a:p>
        </p:txBody>
      </p:sp>
      <p:sp>
        <p:nvSpPr>
          <p:cNvPr id="4" name="code"/>
          <p:cNvSpPr/>
          <p:nvPr/>
        </p:nvSpPr>
        <p:spPr>
          <a:xfrm>
            <a:off x="365760" y="786384"/>
            <a:ext cx="56662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shlex</a:t>
            </a:r>
          </a:p>
          <a:p>
            <a:pPr algn="l"/>
            <a:r>
              <a:rPr sz="1000" b="0" i="0">
                <a:solidFill>
                  <a:srgbClr val="8FA3B8"/>
                </a:solidFill>
                <a:latin typeface="Courier New"/>
              </a:rPr>
              <a:t>&gt;&gt;&gt; </a:t>
            </a:r>
            <a:r>
              <a:rPr sz="1000" b="0" i="0">
                <a:solidFill>
                  <a:srgbClr val="E6EDF3"/>
                </a:solidFill>
                <a:latin typeface="Courier New"/>
              </a:rPr>
              <a:t>command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'python -m PyInstaller --onefile yourScript.py'</a:t>
            </a:r>
          </a:p>
          <a:p>
            <a:pPr algn="l"/>
            <a:r>
              <a:rPr sz="1000" b="0" i="0">
                <a:solidFill>
                  <a:srgbClr val="8FA3B8"/>
                </a:solidFill>
                <a:latin typeface="Courier New"/>
              </a:rPr>
              <a:t>&gt;&gt;&gt; </a:t>
            </a:r>
            <a:r>
              <a:rPr sz="1000" b="0" i="0">
                <a:solidFill>
                  <a:srgbClr val="E6EDF3"/>
                </a:solidFill>
                <a:latin typeface="Courier New"/>
              </a:rPr>
              <a:t>words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shlex</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E6EDF3"/>
                </a:solidFill>
                <a:latin typeface="Courier New"/>
              </a:rPr>
              <a:t>command</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words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'words:'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words</a:t>
            </a:r>
            <a:r>
              <a:rPr sz="1000" b="0" i="0">
                <a:solidFill>
                  <a:srgbClr val="E6EDF3"/>
                </a:solidFill>
                <a:latin typeface="Courier New"/>
              </a:rPr>
              <a:t>)</a:t>
            </a:r>
          </a:p>
        </p:txBody>
      </p:sp>
      <p:sp>
        <p:nvSpPr>
          <p:cNvPr id="5" name="explanation"/>
          <p:cNvSpPr txBox="1"/>
          <p:nvPr/>
        </p:nvSpPr>
        <p:spPr>
          <a:xfrm>
            <a:off x="6013704" y="786384"/>
            <a:ext cx="2764535" cy="826516"/>
          </a:xfrm>
          <a:prstGeom prst="rect">
            <a:avLst/>
          </a:prstGeom>
          <a:noFill/>
        </p:spPr>
        <p:txBody>
          <a:bodyPr wrap="square" lIns="128016" rIns="128016" tIns="18288" bIns="18288" anchor="ctr">
            <a:spAutoFit/>
          </a:bodyPr>
          <a:lstStyle/>
          <a:p>
            <a:r>
              <a:rPr sz="1100" b="0" i="0">
                <a:solidFill>
                  <a:srgbClr val="1F2933"/>
                </a:solidFill>
                <a:latin typeface="Calibri"/>
              </a:rPr>
              <a:t>The module name needs its two capital letters and --onefile its two dashes. shlex.split shows the words PyInstaller receives.</a:t>
            </a:r>
          </a:p>
        </p:txBody>
      </p:sp>
      <p:sp>
        <p:nvSpPr>
          <p:cNvPr id="6" name="code"/>
          <p:cNvSpPr/>
          <p:nvPr/>
        </p:nvSpPr>
        <p:spPr>
          <a:xfrm>
            <a:off x="365760" y="1658620"/>
            <a:ext cx="56662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roles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'-m'</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'run a module'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'--onefile'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'bundle into one file'</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roles</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words</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roles</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6013704" y="1658620"/>
            <a:ext cx="2764535" cy="651891"/>
          </a:xfrm>
          <a:prstGeom prst="rect">
            <a:avLst/>
          </a:prstGeom>
          <a:noFill/>
        </p:spPr>
        <p:txBody>
          <a:bodyPr wrap="square" lIns="128016" rIns="128016" tIns="18288" bIns="18288" anchor="ctr">
            <a:spAutoFit/>
          </a:bodyPr>
          <a:lstStyle/>
          <a:p>
            <a:r>
              <a:rPr sz="1100" b="0" i="0">
                <a:solidFill>
                  <a:srgbClr val="1F2933"/>
                </a:solidFill>
                <a:latin typeface="Calibri"/>
              </a:rPr>
              <a:t>-m runs PyInstaller as a module and --onefile asks for one executable.</a:t>
            </a:r>
          </a:p>
        </p:txBody>
      </p:sp>
      <p:sp>
        <p:nvSpPr>
          <p:cNvPr id="8" name="code"/>
          <p:cNvSpPr/>
          <p:nvPr/>
        </p:nvSpPr>
        <p:spPr>
          <a:xfrm>
            <a:off x="365760" y="2356231"/>
            <a:ext cx="5666232"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left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'build/'</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'dist/'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'yourScript.spec'</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'the build leaves:'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left</a:t>
            </a:r>
            <a:r>
              <a:rPr sz="1000" b="0" i="0">
                <a:solidFill>
                  <a:srgbClr val="E6EDF3"/>
                </a:solidFill>
                <a:latin typeface="Courier New"/>
              </a:rPr>
              <a:t>)</a:t>
            </a:r>
          </a:p>
        </p:txBody>
      </p:sp>
      <p:sp>
        <p:nvSpPr>
          <p:cNvPr id="9" name="explanation"/>
          <p:cNvSpPr txBox="1"/>
          <p:nvPr/>
        </p:nvSpPr>
        <p:spPr>
          <a:xfrm>
            <a:off x="6013704" y="2356231"/>
            <a:ext cx="2764535" cy="477266"/>
          </a:xfrm>
          <a:prstGeom prst="rect">
            <a:avLst/>
          </a:prstGeom>
          <a:noFill/>
        </p:spPr>
        <p:txBody>
          <a:bodyPr wrap="square" lIns="128016" rIns="128016" tIns="18288" bIns="18288" anchor="ctr">
            <a:spAutoFit/>
          </a:bodyPr>
          <a:lstStyle/>
          <a:p>
            <a:r>
              <a:rPr sz="1100" b="0" i="0">
                <a:solidFill>
                  <a:srgbClr val="1F2933"/>
                </a:solidFill>
                <a:latin typeface="Calibri"/>
              </a:rPr>
              <a:t>The build leaves a build folder, a dist folder and a spec file.</a:t>
            </a:r>
          </a:p>
        </p:txBody>
      </p:sp>
      <p:sp>
        <p:nvSpPr>
          <p:cNvPr id="10" name="result label"/>
          <p:cNvSpPr txBox="1"/>
          <p:nvPr/>
        </p:nvSpPr>
        <p:spPr>
          <a:xfrm>
            <a:off x="365760" y="290664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180969"/>
            <a:ext cx="1609343"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python</a:t>
            </a:r>
          </a:p>
        </p:txBody>
      </p:sp>
      <p:cxnSp>
        <p:nvCxnSpPr>
          <p:cNvPr id="12" name="arrow"/>
          <p:cNvCxnSpPr/>
          <p:nvPr/>
        </p:nvCxnSpPr>
        <p:spPr>
          <a:xfrm flipV="1">
            <a:off x="1170431" y="3501009"/>
            <a:ext cx="0" cy="28346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 y="3793616"/>
            <a:ext cx="1609343" cy="274320"/>
          </a:xfrm>
          <a:prstGeom prst="rect">
            <a:avLst/>
          </a:prstGeom>
          <a:noFill/>
        </p:spPr>
        <p:txBody>
          <a:bodyPr wrap="square" lIns="45720" rIns="45720" tIns="27432" bIns="27432" anchor="t">
            <a:spAutoFit/>
          </a:bodyPr>
          <a:lstStyle/>
          <a:p>
            <a:pPr algn="ctr"/>
            <a:r>
              <a:rPr sz="950" b="0" i="0">
                <a:solidFill>
                  <a:srgbClr val="5B6773"/>
                </a:solidFill>
                <a:latin typeface="Calibri"/>
              </a:rPr>
              <a:t>starts the interpreter</a:t>
            </a:r>
          </a:p>
        </p:txBody>
      </p:sp>
      <p:sp>
        <p:nvSpPr>
          <p:cNvPr id="14" name="Rounded Rectangle 13"/>
          <p:cNvSpPr/>
          <p:nvPr/>
        </p:nvSpPr>
        <p:spPr>
          <a:xfrm>
            <a:off x="2066543" y="3180969"/>
            <a:ext cx="1609343"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-m</a:t>
            </a:r>
          </a:p>
        </p:txBody>
      </p:sp>
      <p:cxnSp>
        <p:nvCxnSpPr>
          <p:cNvPr id="15" name="arrow"/>
          <p:cNvCxnSpPr/>
          <p:nvPr/>
        </p:nvCxnSpPr>
        <p:spPr>
          <a:xfrm flipV="1">
            <a:off x="2871215" y="3501009"/>
            <a:ext cx="0" cy="28346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66543" y="3793616"/>
            <a:ext cx="1609343" cy="274320"/>
          </a:xfrm>
          <a:prstGeom prst="rect">
            <a:avLst/>
          </a:prstGeom>
          <a:noFill/>
        </p:spPr>
        <p:txBody>
          <a:bodyPr wrap="square" lIns="45720" rIns="45720" tIns="27432" bIns="27432" anchor="t">
            <a:spAutoFit/>
          </a:bodyPr>
          <a:lstStyle/>
          <a:p>
            <a:pPr algn="ctr"/>
            <a:r>
              <a:rPr sz="950" b="0" i="0">
                <a:solidFill>
                  <a:srgbClr val="5B6773"/>
                </a:solidFill>
                <a:latin typeface="Calibri"/>
              </a:rPr>
              <a:t>run a module</a:t>
            </a:r>
          </a:p>
        </p:txBody>
      </p:sp>
      <p:sp>
        <p:nvSpPr>
          <p:cNvPr id="17" name="Rounded Rectangle 16"/>
          <p:cNvSpPr/>
          <p:nvPr/>
        </p:nvSpPr>
        <p:spPr>
          <a:xfrm>
            <a:off x="3767328" y="3180969"/>
            <a:ext cx="1609343"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PyInstaller</a:t>
            </a:r>
          </a:p>
        </p:txBody>
      </p:sp>
      <p:cxnSp>
        <p:nvCxnSpPr>
          <p:cNvPr id="18" name="arrow"/>
          <p:cNvCxnSpPr/>
          <p:nvPr/>
        </p:nvCxnSpPr>
        <p:spPr>
          <a:xfrm flipV="1">
            <a:off x="4572000" y="3501009"/>
            <a:ext cx="0" cy="28346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67328" y="3793616"/>
            <a:ext cx="1609343" cy="274320"/>
          </a:xfrm>
          <a:prstGeom prst="rect">
            <a:avLst/>
          </a:prstGeom>
          <a:noFill/>
        </p:spPr>
        <p:txBody>
          <a:bodyPr wrap="square" lIns="45720" rIns="45720" tIns="27432" bIns="27432" anchor="t">
            <a:spAutoFit/>
          </a:bodyPr>
          <a:lstStyle/>
          <a:p>
            <a:pPr algn="ctr"/>
            <a:r>
              <a:rPr sz="950" b="0" i="0">
                <a:solidFill>
                  <a:srgbClr val="5B6773"/>
                </a:solidFill>
                <a:latin typeface="Calibri"/>
              </a:rPr>
              <a:t>the module to run</a:t>
            </a:r>
          </a:p>
        </p:txBody>
      </p:sp>
      <p:sp>
        <p:nvSpPr>
          <p:cNvPr id="20" name="Rounded Rectangle 19"/>
          <p:cNvSpPr/>
          <p:nvPr/>
        </p:nvSpPr>
        <p:spPr>
          <a:xfrm>
            <a:off x="5468112" y="3180969"/>
            <a:ext cx="1609343"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--onefile</a:t>
            </a:r>
          </a:p>
        </p:txBody>
      </p:sp>
      <p:cxnSp>
        <p:nvCxnSpPr>
          <p:cNvPr id="21" name="arrow"/>
          <p:cNvCxnSpPr/>
          <p:nvPr/>
        </p:nvCxnSpPr>
        <p:spPr>
          <a:xfrm flipV="1">
            <a:off x="6272784" y="3501009"/>
            <a:ext cx="0" cy="28346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68112" y="3793616"/>
            <a:ext cx="1609343" cy="274320"/>
          </a:xfrm>
          <a:prstGeom prst="rect">
            <a:avLst/>
          </a:prstGeom>
          <a:noFill/>
        </p:spPr>
        <p:txBody>
          <a:bodyPr wrap="square" lIns="45720" rIns="45720" tIns="27432" bIns="27432" anchor="t">
            <a:spAutoFit/>
          </a:bodyPr>
          <a:lstStyle/>
          <a:p>
            <a:pPr algn="ctr"/>
            <a:r>
              <a:rPr sz="950" b="0" i="0">
                <a:solidFill>
                  <a:srgbClr val="5B6773"/>
                </a:solidFill>
                <a:latin typeface="Calibri"/>
              </a:rPr>
              <a:t>bundle into one file</a:t>
            </a:r>
          </a:p>
        </p:txBody>
      </p:sp>
      <p:sp>
        <p:nvSpPr>
          <p:cNvPr id="23" name="Rounded Rectangle 22"/>
          <p:cNvSpPr/>
          <p:nvPr/>
        </p:nvSpPr>
        <p:spPr>
          <a:xfrm>
            <a:off x="7168896" y="3180969"/>
            <a:ext cx="1609343"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yourScript.py</a:t>
            </a:r>
          </a:p>
        </p:txBody>
      </p:sp>
      <p:cxnSp>
        <p:nvCxnSpPr>
          <p:cNvPr id="24" name="arrow"/>
          <p:cNvCxnSpPr/>
          <p:nvPr/>
        </p:nvCxnSpPr>
        <p:spPr>
          <a:xfrm flipV="1">
            <a:off x="7973567" y="3501009"/>
            <a:ext cx="0" cy="28346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168896" y="3793616"/>
            <a:ext cx="1609343" cy="274320"/>
          </a:xfrm>
          <a:prstGeom prst="rect">
            <a:avLst/>
          </a:prstGeom>
          <a:noFill/>
        </p:spPr>
        <p:txBody>
          <a:bodyPr wrap="square" lIns="45720" rIns="45720" tIns="27432" bIns="27432" anchor="t">
            <a:spAutoFit/>
          </a:bodyPr>
          <a:lstStyle/>
          <a:p>
            <a:pPr algn="ctr"/>
            <a:r>
              <a:rPr sz="950" b="0" i="0">
                <a:solidFill>
                  <a:srgbClr val="5B6773"/>
                </a:solidFill>
                <a:latin typeface="Calibri"/>
              </a:rPr>
              <a:t>the script to pack</a:t>
            </a:r>
          </a:p>
        </p:txBody>
      </p:sp>
      <p:sp>
        <p:nvSpPr>
          <p:cNvPr id="26" name="TextBox 25"/>
          <p:cNvSpPr txBox="1"/>
          <p:nvPr/>
        </p:nvSpPr>
        <p:spPr>
          <a:xfrm>
            <a:off x="365760" y="4141088"/>
            <a:ext cx="1463040" cy="237744"/>
          </a:xfrm>
          <a:prstGeom prst="rect">
            <a:avLst/>
          </a:prstGeom>
          <a:noFill/>
        </p:spPr>
        <p:txBody>
          <a:bodyPr wrap="square" lIns="45720" rIns="45720" tIns="27432" bIns="27432" anchor="t">
            <a:spAutoFit/>
          </a:bodyPr>
          <a:lstStyle/>
          <a:p>
            <a:r>
              <a:rPr sz="1000" b="1" i="0">
                <a:solidFill>
                  <a:srgbClr val="0E7C86"/>
                </a:solidFill>
                <a:latin typeface="Calibri"/>
              </a:rPr>
              <a:t>the build leaves</a:t>
            </a:r>
          </a:p>
        </p:txBody>
      </p:sp>
      <p:sp>
        <p:nvSpPr>
          <p:cNvPr id="27" name="Rounded Rectangle 26"/>
          <p:cNvSpPr/>
          <p:nvPr/>
        </p:nvSpPr>
        <p:spPr>
          <a:xfrm>
            <a:off x="1828800" y="4122801"/>
            <a:ext cx="1371600" cy="25603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build/</a:t>
            </a:r>
          </a:p>
        </p:txBody>
      </p:sp>
      <p:sp>
        <p:nvSpPr>
          <p:cNvPr id="28" name="Rounded Rectangle 27"/>
          <p:cNvSpPr/>
          <p:nvPr/>
        </p:nvSpPr>
        <p:spPr>
          <a:xfrm>
            <a:off x="3291840" y="4122801"/>
            <a:ext cx="1371600" cy="25603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dist/</a:t>
            </a:r>
          </a:p>
        </p:txBody>
      </p:sp>
      <p:sp>
        <p:nvSpPr>
          <p:cNvPr id="29" name="Rounded Rectangle 28"/>
          <p:cNvSpPr/>
          <p:nvPr/>
        </p:nvSpPr>
        <p:spPr>
          <a:xfrm>
            <a:off x="4754880" y="4122801"/>
            <a:ext cx="1371600" cy="25603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yourScript.spec</a:t>
            </a:r>
          </a:p>
        </p:txBody>
      </p:sp>
      <p:sp>
        <p:nvSpPr>
          <p:cNvPr id="3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-m and --onefile; the build leaves three things.</a:t>
            </a:r>
          </a:p>
        </p:txBody>
      </p:sp>
      <p:sp>
        <p:nvSpPr>
          <p:cNvPr id="3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PyInstaller: what the one file costs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Measured in the chapter research with PyInstaller 6.22.3 and Python 3.14.6</a:t>
            </a:r>
          </a:p>
        </p:txBody>
      </p:sp>
      <p:sp>
        <p:nvSpPr>
          <p:cNvPr id="5" name="chart label"/>
          <p:cNvSpPr txBox="1"/>
          <p:nvPr/>
        </p:nvSpPr>
        <p:spPr>
          <a:xfrm>
            <a:off x="457200" y="1051560"/>
            <a:ext cx="4572000" cy="274320"/>
          </a:xfrm>
          <a:prstGeom prst="rect">
            <a:avLst/>
          </a:prstGeom>
          <a:noFill/>
        </p:spPr>
        <p:txBody>
          <a:bodyPr wrap="square" lIns="45720" rIns="45720" tIns="27432" bIns="27432" anchor="t">
            <a:spAutoFit/>
          </a:bodyPr>
          <a:lstStyle/>
          <a:p>
            <a:r>
              <a:rPr sz="1100" b="1" i="0">
                <a:solidFill>
                  <a:srgbClr val="0E7C86"/>
                </a:solidFill>
                <a:latin typeface="Calibri"/>
              </a:rPr>
              <a:t>size of the Hello, world executable, in megabytes</a:t>
            </a:r>
          </a:p>
        </p:txBody>
      </p:sp>
      <p:graphicFrame>
        <p:nvGraphicFramePr>
          <p:cNvPr id="6" name="chart"/>
          <p:cNvGraphicFramePr>
            <a:graphicFrameLocks noGrp="1"/>
          </p:cNvGraphicFramePr>
          <p:nvPr/>
        </p:nvGraphicFramePr>
        <p:xfrm>
          <a:off x="365760" y="1371600"/>
          <a:ext cx="4937760" cy="2743200"/>
        </p:xfrm>
        <a:graphic>
          <a:graphicData uri="http://schemas.openxmlformats.org/drawingml/2006/chart">
            <c:chart xmlns:c="http://schemas.openxmlformats.org/drawingml/2006/chart" r:id="rId3"/>
          </a:graphicData>
        </a:graphic>
      </p:graphicFrame>
      <p:graphicFrame>
        <p:nvGraphicFramePr>
          <p:cNvPr id="7" name="table"/>
          <p:cNvGraphicFramePr>
            <a:graphicFrameLocks noGrp="1"/>
          </p:cNvGraphicFramePr>
          <p:nvPr/>
        </p:nvGraphicFramePr>
        <p:xfrm>
          <a:off x="5486400" y="1371600"/>
          <a:ext cx="3291840" cy="2468880"/>
        </p:xfrm>
        <a:graphic>
          <a:graphicData uri="http://schemas.openxmlformats.org/drawingml/2006/table">
            <a:tbl>
              <a:tblPr firstRow="0" bandRow="0"/>
              <a:tblGrid>
                <a:gridCol w="1463040"/>
                <a:gridCol w="1828800"/>
              </a:tblGrid>
              <a:tr h="411480">
                <a:tc>
                  <a:txBody>
                    <a:bodyPr wrap="square"/>
                    <a:lstStyle/>
                    <a:p>
                      <a:r>
                        <a:rPr sz="1100" b="1" i="0">
                          <a:solidFill>
                            <a:srgbClr val="FFFFFF"/>
                          </a:solidFill>
                          <a:latin typeface="Calibri"/>
                        </a:rPr>
                        <a:t>Fact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11480">
                <a:tc>
                  <a:txBody>
                    <a:bodyPr wrap="square"/>
                    <a:lstStyle/>
                    <a:p>
                      <a:r>
                        <a:rPr sz="1100" b="1" i="0">
                          <a:solidFill>
                            <a:srgbClr val="1F2933"/>
                          </a:solidFill>
                          <a:latin typeface="Calibri"/>
                        </a:rPr>
                        <a:t>Source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23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11480">
                <a:tc>
                  <a:txBody>
                    <a:bodyPr wrap="square"/>
                    <a:lstStyle/>
                    <a:p>
                      <a:r>
                        <a:rPr sz="1100" b="1" i="0">
                          <a:solidFill>
                            <a:srgbClr val="1F2933"/>
                          </a:solidFill>
                          <a:latin typeface="Calibri"/>
                        </a:rPr>
                        <a:t>Executable (Ubuntu)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12,950,120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11480">
                <a:tc>
                  <a:txBody>
                    <a:bodyPr wrap="square"/>
                    <a:lstStyle/>
                    <a:p>
                      <a:r>
                        <a:rPr sz="1100" b="1" i="0">
                          <a:solidFill>
                            <a:srgbClr val="1F2933"/>
                          </a:solidFill>
                          <a:latin typeface="Calibri"/>
                        </a:rPr>
                        <a:t>Build time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about 15 seconds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11480">
                <a:tc>
                  <a:txBody>
                    <a:bodyPr wrap="square"/>
                    <a:lstStyle/>
                    <a:p>
                      <a:r>
                        <a:rPr sz="1100" b="1" i="0">
                          <a:solidFill>
                            <a:srgbClr val="1F2933"/>
                          </a:solidFill>
                          <a:latin typeface="Calibri"/>
                        </a:rPr>
                        <a:t>Leaves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build, dist, a spec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11480">
                <a:tc>
                  <a:txBody>
                    <a:bodyPr wrap="square"/>
                    <a:lstStyle/>
                    <a:p>
                      <a:r>
                        <a:rPr sz="1100" b="1" i="0">
                          <a:solidFill>
                            <a:srgbClr val="1F2933"/>
                          </a:solidFill>
                          <a:latin typeface="Calibri"/>
                        </a:rPr>
                        <a:t>Works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one system, one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PyInstaller packs a copy of the interpreter with your script.</a:t>
            </a:r>
          </a:p>
        </p:txBody>
      </p:sp>
      <p:sp>
        <p:nvSpPr>
          <p:cNvPr id="1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make your programs deployable</a:t>
            </a:r>
          </a:p>
        </p:txBody>
      </p:sp>
      <p:sp>
        <p:nvSpPr>
          <p:cNvPr id="4" name="code"/>
          <p:cNvSpPr/>
          <p:nvPr/>
        </p:nvSpPr>
        <p:spPr>
          <a:xfrm>
            <a:off x="365760" y="786384"/>
            <a:ext cx="8412480"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LINE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'python3 ~/Scripts/{name}.py "$@"'</a:t>
            </a:r>
            <a:r>
              <a:rPr sz="1200" b="0" i="0">
                <a:solidFill>
                  <a:srgbClr val="E6EDF3"/>
                </a:solidFill>
                <a:latin typeface="Courier New"/>
              </a:rPr>
              <a:t>  </a:t>
            </a:r>
            <a:r>
              <a:rPr sz="1200" b="0" i="0">
                <a:solidFill>
                  <a:srgbClr val="8FA3B8"/>
                </a:solidFill>
                <a:latin typeface="Courier New"/>
              </a:rPr>
              <a:t># third line of a launcher</a:t>
            </a:r>
          </a:p>
          <a:p>
            <a:pPr algn="l"/>
            <a:r>
              <a:rPr sz="1200" b="0" i="0">
                <a:solidFill>
                  <a:srgbClr val="8FA3B8"/>
                </a:solidFill>
                <a:latin typeface="Courier New"/>
              </a:rPr>
              <a:t>&gt;&gt;&gt; </a:t>
            </a:r>
            <a:r>
              <a:rPr sz="1200" b="0" i="0">
                <a:solidFill>
                  <a:srgbClr val="E6EDF3"/>
                </a:solidFill>
                <a:latin typeface="Courier New"/>
              </a:rPr>
              <a:t>projects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'zipBackup'</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11</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'extractContacts'</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9</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'wikiBullets'</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8</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'chessboard'</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7</a:t>
            </a:r>
            <a:r>
              <a:rPr sz="1200" b="0" i="0">
                <a:solidFill>
                  <a:srgbClr val="E6EDF3"/>
                </a:solidFill>
                <a:latin typeface="Courier New"/>
              </a:rPr>
              <a:t>}</a:t>
            </a:r>
          </a:p>
        </p:txBody>
      </p:sp>
      <p:sp>
        <p:nvSpPr>
          <p:cNvPr id="5" name="explanation"/>
          <p:cNvSpPr txBox="1"/>
          <p:nvPr/>
        </p:nvSpPr>
        <p:spPr>
          <a:xfrm>
            <a:off x="365760" y="1304543"/>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The practice program asks for four earlier projects to become commands. One template line serves them all.</a:t>
            </a:r>
          </a:p>
        </p:txBody>
      </p:sp>
      <p:sp>
        <p:nvSpPr>
          <p:cNvPr id="6" name="code"/>
          <p:cNvSpPr/>
          <p:nvPr/>
        </p:nvSpPr>
        <p:spPr>
          <a:xfrm>
            <a:off x="365760" y="1866011"/>
            <a:ext cx="8412480"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chapter</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projects</a:t>
            </a:r>
            <a:r>
              <a:rPr sz="1200" b="0" i="0">
                <a:solidFill>
                  <a:srgbClr val="E6EDF3"/>
                </a:solidFill>
                <a:latin typeface="Courier New"/>
              </a:rPr>
              <a:t>.</a:t>
            </a:r>
            <a:r>
              <a:rPr sz="1200" b="0" i="0">
                <a:solidFill>
                  <a:srgbClr val="E6EDF3"/>
                </a:solidFill>
                <a:latin typeface="Courier New"/>
              </a:rPr>
              <a:t>items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ljust</a:t>
            </a:r>
            <a:r>
              <a:rPr sz="1200" b="0" i="0">
                <a:solidFill>
                  <a:srgbClr val="E6EDF3"/>
                </a:solidFill>
                <a:latin typeface="Courier New"/>
              </a:rPr>
              <a:t>(</a:t>
            </a:r>
            <a:r>
              <a:rPr sz="1200" b="0" i="0">
                <a:solidFill>
                  <a:srgbClr val="7CC4FF"/>
                </a:solidFill>
                <a:latin typeface="Courier New"/>
              </a:rPr>
              <a:t>16</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'chapter'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chapter</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LINE</a:t>
            </a:r>
            <a:r>
              <a:rPr sz="1200" b="0" i="0">
                <a:solidFill>
                  <a:srgbClr val="E6EDF3"/>
                </a:solidFill>
                <a:latin typeface="Courier New"/>
              </a:rPr>
              <a:t>.</a:t>
            </a:r>
            <a:r>
              <a:rPr sz="1200" b="0" i="0">
                <a:solidFill>
                  <a:srgbClr val="E6EDF3"/>
                </a:solidFill>
                <a:latin typeface="Courier New"/>
              </a:rPr>
              <a:t>format</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365760" y="2384171"/>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format fills the project name into the line. Each project then runs from any folder.</a:t>
            </a:r>
          </a:p>
        </p:txBody>
      </p:sp>
      <p:sp>
        <p:nvSpPr>
          <p:cNvPr id="8" name="result label"/>
          <p:cNvSpPr txBox="1"/>
          <p:nvPr/>
        </p:nvSpPr>
        <p:spPr>
          <a:xfrm>
            <a:off x="365760" y="277463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48952"/>
          <a:ext cx="8412478" cy="1371600"/>
        </p:xfrm>
        <a:graphic>
          <a:graphicData uri="http://schemas.openxmlformats.org/drawingml/2006/table">
            <a:tbl>
              <a:tblPr firstRow="0" bandRow="0"/>
              <a:tblGrid>
                <a:gridCol w="1846641"/>
                <a:gridCol w="1231094"/>
                <a:gridCol w="5334743"/>
              </a:tblGrid>
              <a:tr h="274320">
                <a:tc>
                  <a:txBody>
                    <a:bodyPr wrap="square"/>
                    <a:lstStyle/>
                    <a:p>
                      <a:r>
                        <a:rPr sz="1000" b="1" i="0">
                          <a:solidFill>
                            <a:srgbClr val="FFFFFF"/>
                          </a:solidFill>
                          <a:latin typeface="Calibri"/>
                        </a:rPr>
                        <a:t>Project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From chapter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Third line of its launcher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zipBackup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python3 ~/Scripts/zipBackup.py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extractContacts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python3 ~/Scripts/extractContacts.py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wikiBullets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python3 ~/Scripts/wikiBullets.py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chessboard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python3 ~/Scripts/chessboard.py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template, four commands.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and systems change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What differs from the book, from the chapter research</a:t>
            </a:r>
          </a:p>
        </p:txBody>
      </p:sp>
      <p:graphicFrame>
        <p:nvGraphicFramePr>
          <p:cNvPr id="5" name="table"/>
          <p:cNvGraphicFramePr>
            <a:graphicFrameLocks noGrp="1"/>
          </p:cNvGraphicFramePr>
          <p:nvPr/>
        </p:nvGraphicFramePr>
        <p:xfrm>
          <a:off x="457200" y="1051560"/>
          <a:ext cx="8229600" cy="3364992"/>
        </p:xfrm>
        <a:graphic>
          <a:graphicData uri="http://schemas.openxmlformats.org/drawingml/2006/table">
            <a:tbl>
              <a:tblPr firstRow="0" bandRow="0"/>
              <a:tblGrid>
                <a:gridCol w="3931920"/>
                <a:gridCol w="1188720"/>
                <a:gridCol w="3108960"/>
              </a:tblGrid>
              <a:tr h="420624">
                <a:tc>
                  <a:txBody>
                    <a:bodyPr wrap="square"/>
                    <a:lstStyle/>
                    <a:p>
                      <a:r>
                        <a:rPr sz="1100" b="1" i="0">
                          <a:solidFill>
                            <a:srgbClr val="FFFFFF"/>
                          </a:solidFill>
                          <a:latin typeface="Calibri"/>
                        </a:rPr>
                        <a:t>What changed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it means for the chapter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20624">
                <a:tc>
                  <a:txBody>
                    <a:bodyPr wrap="square"/>
                    <a:lstStyle/>
                    <a:p>
                      <a:r>
                        <a:rPr sz="1100" b="1" i="0">
                          <a:solidFill>
                            <a:srgbClr val="1F2933"/>
                          </a:solidFill>
                          <a:latin typeface="Calibri"/>
                        </a:rPr>
                        <a:t>__file__ of a script is an absolute path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Path(__file__).parent finds files beside the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20624">
                <a:tc>
                  <a:txBody>
                    <a:bodyPr wrap="square"/>
                    <a:lstStyle/>
                    <a:p>
                      <a:r>
                        <a:rPr sz="1100" b="1" i="0">
                          <a:solidFill>
                            <a:srgbClr val="1F2933"/>
                          </a:solidFill>
                          <a:latin typeface="Calibri"/>
                        </a:rPr>
                        <a:t>setuptools is no longer pre-installed in a venv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pip list shows only pip in a fresh environment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20624">
                <a:tc>
                  <a:txBody>
                    <a:bodyPr wrap="square"/>
                    <a:lstStyle/>
                    <a:p>
                      <a:r>
                        <a:rPr sz="1100" b="1" i="0">
                          <a:solidFill>
                            <a:srgbClr val="1F2933"/>
                          </a:solidFill>
                          <a:latin typeface="Calibri"/>
                        </a:rPr>
                        <a:t>A new venv holds a .gitignore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environment folder is not committed by mistake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20624">
                <a:tc>
                  <a:txBody>
                    <a:bodyPr wrap="square"/>
                    <a:lstStyle/>
                    <a:p>
                      <a:r>
                        <a:rPr sz="1100" b="1" i="0">
                          <a:solidFill>
                            <a:srgbClr val="1F2933"/>
                          </a:solidFill>
                          <a:latin typeface="Calibri"/>
                        </a:rPr>
                        <a:t>argparse colours its help text and can suggest a choice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Usage messages are easier to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20624">
                <a:tc>
                  <a:txBody>
                    <a:bodyPr wrap="square"/>
                    <a:lstStyle/>
                    <a:p>
                      <a:r>
                        <a:rPr sz="1100" b="1" i="0">
                          <a:solidFill>
                            <a:srgbClr val="1F2933"/>
                          </a:solidFill>
                          <a:latin typeface="Calibri"/>
                        </a:rPr>
                        <a:t>System Python is marked externally managed (PEP 668)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Ubuntu 24.04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pip install there stops with an error: use a venv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20624">
                <a:tc>
                  <a:txBody>
                    <a:bodyPr wrap="square"/>
                    <a:lstStyle/>
                    <a:p>
                      <a:r>
                        <a:rPr sz="1100" b="1" i="0">
                          <a:solidFill>
                            <a:srgbClr val="1F2933"/>
                          </a:solidFill>
                          <a:latin typeface="Calibri"/>
                        </a:rPr>
                        <a:t>Bext hides the cursor with hide_cursor and show_cursor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Bext 0.1.1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chapter lists hide and show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20624">
                <a:tc>
                  <a:txBody>
                    <a:bodyPr wrap="square"/>
                    <a:lstStyle/>
                    <a:p>
                      <a:r>
                        <a:rPr sz="1100" b="1" i="0">
                          <a:solidFill>
                            <a:srgbClr val="1F2933"/>
                          </a:solidFill>
                          <a:latin typeface="Calibri"/>
                        </a:rPr>
                        <a:t>automateboringstuff3 requires playsound 1.3.0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2024.10.1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chapter's prose names playsound3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program is started by a terminal that searches PATH.</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virtual environment keeps the packages of one project apart.</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The program reads sys.argv; argparse parses it for you.</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Text design: quiet by default, colour by escape code.</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launcher in a PATH folder, or PyInstaller, deploys it.</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terminal searches PATH; the program reads its arguments.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0020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2821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3677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Add /home/al/Scripts to the front of PATH. Which folder does shutil.which search first?</a:t>
            </a:r>
          </a:p>
        </p:txBody>
      </p:sp>
      <p:sp>
        <p:nvSpPr>
          <p:cNvPr id="10" name="card"/>
          <p:cNvSpPr/>
          <p:nvPr/>
        </p:nvSpPr>
        <p:spPr>
          <a:xfrm>
            <a:off x="365760" y="23317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4597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3682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shlex.split give for 'python3 snow.py "big storm" 20'? How long is argv?</a:t>
            </a:r>
          </a:p>
        </p:txBody>
      </p:sp>
      <p:sp>
        <p:nvSpPr>
          <p:cNvPr id="13" name="card"/>
          <p:cNvSpPr/>
          <p:nvPr/>
        </p:nvSpPr>
        <p:spPr>
          <a:xfrm>
            <a:off x="365760" y="30632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1912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0998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Add a --density option to the argparse example with a default of 4 and a type of int.</a:t>
            </a:r>
          </a:p>
        </p:txBody>
      </p:sp>
      <p:sp>
        <p:nvSpPr>
          <p:cNvPr id="16" name="card"/>
          <p:cNvSpPr/>
          <p:nvPr/>
        </p:nvSpPr>
        <p:spPr>
          <a:xfrm>
            <a:off x="365760" y="37947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227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313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Write the launcher line that forwards arguments, and say why the chapter's own line forwards none.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12</a:t>
            </a:r>
          </a:p>
          <a:p>
            <a:r>
              <a:rPr sz="900" b="0" i="0">
                <a:solidFill>
                  <a:srgbClr val="0E7C86"/>
                </a:solidFill>
                <a:latin typeface="Calibri"/>
                <a:hlinkClick r:id="rId3"/>
              </a:rPr>
              <a:t>https://automatetheboringstuff.com/3e/chapter12.html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sys, system-specific parameters</a:t>
            </a:r>
          </a:p>
          <a:p>
            <a:r>
              <a:rPr sz="900" b="0" i="0">
                <a:solidFill>
                  <a:srgbClr val="0E7C86"/>
                </a:solidFill>
                <a:latin typeface="Calibri"/>
                <a:hlinkClick r:id="rId4"/>
              </a:rPr>
              <a:t>https://docs.python.org/3/library/sys.html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os, operating system interfaces</a:t>
            </a:r>
          </a:p>
          <a:p>
            <a:r>
              <a:rPr sz="900" b="0" i="0">
                <a:solidFill>
                  <a:srgbClr val="0E7C86"/>
                </a:solidFill>
                <a:latin typeface="Calibri"/>
                <a:hlinkClick r:id="rId5"/>
              </a:rPr>
              <a:t>https://docs.python.org/3/library/os.html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argparse</a:t>
            </a:r>
          </a:p>
          <a:p>
            <a:r>
              <a:rPr sz="900" b="0" i="0">
                <a:solidFill>
                  <a:srgbClr val="0E7C86"/>
                </a:solidFill>
                <a:latin typeface="Calibri"/>
                <a:hlinkClick r:id="rId6"/>
              </a:rPr>
              <a:t>https://docs.python.org/3/library/argparse.html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venv</a:t>
            </a:r>
          </a:p>
          <a:p>
            <a:r>
              <a:rPr sz="900" b="0" i="0">
                <a:solidFill>
                  <a:srgbClr val="0E7C86"/>
                </a:solidFill>
                <a:latin typeface="Calibri"/>
                <a:hlinkClick r:id="rId7"/>
              </a:rPr>
              <a:t>https://docs.python.org/3/library/venv.html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shutil.which and shlex.split</a:t>
            </a:r>
          </a:p>
          <a:p>
            <a:r>
              <a:rPr sz="900" b="0" i="0">
                <a:solidFill>
                  <a:srgbClr val="0E7C86"/>
                </a:solidFill>
                <a:latin typeface="Calibri"/>
                <a:hlinkClick r:id="rId8"/>
              </a:rPr>
              <a:t>https://docs.python.org/3/library/shutil.html</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405: Python Virtual Environments</a:t>
            </a:r>
          </a:p>
          <a:p>
            <a:r>
              <a:rPr sz="900" b="0" i="0">
                <a:solidFill>
                  <a:srgbClr val="0E7C86"/>
                </a:solidFill>
                <a:latin typeface="Calibri"/>
                <a:hlinkClick r:id="rId9"/>
              </a:rPr>
              <a:t>https://peps.python.org/pep-0405/</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668: externally managed environments</a:t>
            </a:r>
          </a:p>
          <a:p>
            <a:r>
              <a:rPr sz="900" b="0" i="0">
                <a:solidFill>
                  <a:srgbClr val="0E7C86"/>
                </a:solidFill>
                <a:latin typeface="Calibri"/>
                <a:hlinkClick r:id="rId10"/>
              </a:rPr>
              <a:t>https://peps.python.org/pep-0668/</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pip user guide: running pip as python -m pip</a:t>
            </a:r>
          </a:p>
          <a:p>
            <a:r>
              <a:rPr sz="900" b="0" i="0">
                <a:solidFill>
                  <a:srgbClr val="0E7C86"/>
                </a:solidFill>
                <a:latin typeface="Calibri"/>
                <a:hlinkClick r:id="rId11"/>
              </a:rPr>
              <a:t>https://pip.pypa.io/en/stable/user_guide/</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PyInstaller manual: using PyInstaller</a:t>
            </a:r>
          </a:p>
          <a:p>
            <a:r>
              <a:rPr sz="900" b="0" i="0">
                <a:solidFill>
                  <a:srgbClr val="0E7C86"/>
                </a:solidFill>
                <a:latin typeface="Calibri"/>
                <a:hlinkClick r:id="rId12"/>
              </a:rPr>
              <a:t>https://pyinstaller.org/en/stable/usage.html</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Bext on the Python Package Index</a:t>
            </a:r>
          </a:p>
          <a:p>
            <a:r>
              <a:rPr sz="900" b="0" i="0">
                <a:solidFill>
                  <a:srgbClr val="0E7C86"/>
                </a:solidFill>
                <a:latin typeface="Calibri"/>
                <a:hlinkClick r:id="rId13"/>
              </a:rPr>
              <a:t>https://pypi.org/project/Bext/</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PyMsgBox on the Python Package Index</a:t>
            </a:r>
          </a:p>
          <a:p>
            <a:r>
              <a:rPr sz="900" b="0" i="0">
                <a:solidFill>
                  <a:srgbClr val="0E7C86"/>
                </a:solidFill>
                <a:latin typeface="Calibri"/>
                <a:hlinkClick r:id="rId14"/>
              </a:rPr>
              <a:t>https://pypi.org/project/PyMsgBox/</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AT&amp;T Archives, The UNIX Operating System (1982)</a:t>
            </a:r>
          </a:p>
          <a:p>
            <a:r>
              <a:rPr sz="900" b="0" i="0">
                <a:solidFill>
                  <a:srgbClr val="0E7C86"/>
                </a:solidFill>
                <a:latin typeface="Calibri"/>
                <a:hlinkClick r:id="rId15"/>
              </a:rPr>
              <a:t>https://www.youtube.com/watch?v=tc4ROCJYbm0</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Pipeline (Unix) on Wikipedia</a:t>
            </a:r>
          </a:p>
          <a:p>
            <a:r>
              <a:rPr sz="900" b="0" i="0">
                <a:solidFill>
                  <a:srgbClr val="0E7C86"/>
                </a:solidFill>
                <a:latin typeface="Calibri"/>
                <a:hlinkClick r:id="rId16"/>
              </a:rPr>
              <a:t>https://en.wikipedia.org/wiki/Pipeline_(Unix)</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12: Command Line Programs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