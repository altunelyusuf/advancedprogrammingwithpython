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book's own claim for this chapter: the two kinds of loop open up the full power of automation, because they can run lines of code millions of times per second (Sweigart, 2025). Say that chapter 2 taught a program to choose and this one teaches it to repeat, and that almost every useful program in the rest of the course is built around at least one loop. Every result in this deck was produced by running the code under Python 3.14.4, and every claim beyond the book comes from the chapter's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chapter objectives and say the session is built to reach them in order. Then be straight about the last card: the course's approved outcomes are advanced, and the chapter objectives for loops are not claimed to serve one - that is what the chapter's own objectives file records, and inventing a link would be worse than admitting there is none. Say what is true instead: the import statement in the fourth branch is the first step of every library the course later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long enough for the class to copy it. Say that the first branch and the third are the book's own chapter, that the second is the supply of values a for loop needs and goes well beyond the book, that the fourth is the import statement the book introduces in passing and the course depends on, and that the fifth is what current Python adds. Promise to show the map again at each branch so nobody loses their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connecting to chapter 2: that chapter showed how a program chooses between blocks, so that some lines run and others are skipped. This chapter adds the loop, which sends execution back to the start of a block so that the same few lines can serve five items or five million. Then give the organising question of the whole branch, which is the one students get wrong: what decides when the loop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is the chapter's own arithmetic example in miniature: a loop over a hundred and one numbers, the count of them, and the shortcut the book quotes from the story of the young Gauss. Say that the two sections that follow use the book's own comparison of an if statement with a while statement, because the only difference between the two is whether execution jumps back to the start of the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programs on this slide differ in one word, and that word changes one line of output into five. Read them side by side and say what happens at the end of each block: after an if clause execution continues past the statement, and after a while clause it jumps back to the condition. Then point at the line that increases the counter and ask what happens without it - a loop that never ends, which the chapter corpus confirms by running it under a time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has a condition that can never be true, so the loop makes no iterations and the line after it runs at once. Ask the class how many times the block ran before you show the output; zero is a legitimate answer for a loop and students rarely expect it. Then read the watch-out, because confusing the count of iterations with the last value of the counter is the commonest off-by-one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book's first while loop. Point out the line before the loop that gives the variable its first value, because without it the condition could not be evaluated at all and the program would stop with a NameError. Then follow the transcript: three answers, two of them wrong, and the loop ends the first time the condition is false. Ask how many iterations there were, and insist on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book's second version of the same program, and it is worth comparing with the one on the group slide: this one asks first and tests afterwards, using a loop whose condition is always true and a break in the middle. The outputs are the same for the same answers, which the chapter corpus checks by comparing them directly. Ask the class which of the two they find easier to read; both answers are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 in this program rises until the break fires on the third pass, which is the standard shape of a deliberate infinite loop. Say that the ways out all have their own slides in the third branch, and name them now so the class knows they are coming. Then tell them the practical fact they will need within the hour: Control-C stops a runaway program, and the book says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book's first for loop. Read the output against the source and name the three parts of the statement: the variable, the word in, and the call that supplies the values. Point out that the variable takes a different value on each pass without any line of the program assigning to it. Then set up the next slide by asking what the same program would look like without a for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while loop that does the same work, which is the next concept arriving early; put the two programs side by side mentally and count the extra lines. Say that the book calls for loops more concise than the equivalent while loops, and that concise here means three fewer places for a mistake - the starting value, the test and the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two versions against each other - the chapter corpus compares their output line by line and finds them identical. Then make the watch-out concrete, because it is the reason to prefer the for statement: in the while version the author is responsible for the increase, and a continue that jumps over it produces a loop that cannot end. In the for version the statement takes the next item by itself, so the same continue is harmless.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class the book's explanation of why the answer is what it is: there are fifty pairs of numbers that add up to a hundred and one, and fifty times a hundred and one is the total on the slide. Then read the watch-out and promise them the proof, because the next thing you show is the same program with one line moved inside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of the second game, with two answers typed: one the input loop refuses and then the quit command. Use it to show that the inner loop has exactly one job, which is refusing to let an invalid move reach the rest of the round. The listing itself is three slides on. The two numbers worth keeping in mind are the cost of nesting: an outer loop of four around an inner loop of three runs the inner block twelve times, and a loop of a thousand inside another of a thousand runs it a million times. Say that this is the one thing to keep in mind when loops are put inside loops, and that the three slides which follow take the nested loop first, because the second of the chapter's two programs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has two lines where students often expect six, so ask for a prediction first. Then explain it: the inner loop breaks on its second value every time, so only the first value of the inner loop is ever printed, and the outer loop still runs to its end. Say that this is exactly how the input loop of the second game works - the break leaves the inner loop and the game loop carries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 once that the secret has been fixed at sixteen on this slide, in place of the book's random draw, so that the run shown can be repeated exactly. Then follow the transcript: three wrong guesses, each with its hint, and the break on the fourth. Point out that the two variables the final message uses are still available after the loop, which is a property of the for statement that has its own slide in the third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program, printed small on purpose: nobody reads a listing of this length from a projector, and the point of showing it is that every line the slide before discusses is here. Walk it with a pointer rather than reading it, naming the parts the class has already met - the imports, the variables set before the loop, the loop itself and the lines that decide when it ends. The same file is in the course repository, where it can be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transcript is a real run with two answers typed: one the input loop rejects, and then the quit command. Use it to show that the inner loop is doing exactly one job, which is refusing to let an invalid move through to the rest of the round. Then use the structure beside it to name the three ways this program can move: break out of the inner loop, carry on round the outer one, or leave the program altogether.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program, printed small on purpose: nobody reads a listing of this length from a projector, and the point of showing it is that every line the slide before discusses is here. Walk it with a pointer rather than reading it, naming the parts the class has already met - the imports, the variables set before the loop, the loop itself and the lines that decide when it ends. The same file is in the course repository, where it can be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why this branch is larger than the book's own treatment: the loops of the book walk through a range of integers, and the loops of real programs walk through lists of records, lines of text or the keys of a dictionary. Knowing the available supplies, and how each behaves when it is walked through, is what lets a student choose the right one. Warn them that not everything a loop can walk through is a sequence, which the last group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on the card are the three supplies this branch covers: a range, a string and a dictionary, each turned into a list so that what a loop would see is visible. Say that the first four slides take the forms of the call and the last three take the properties of the result, and that the half-open convention in the middle is the one with real consequences for off-by-one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how many values the first line produces and what the last one is, which separates the people who have met the convention from the people who have not. Then read the second reason the convention is right: the values are the legal positions of a sequence of that length, so one expression serves both for counting and for indexing. The last line is the error they will meet the first time a range limit is computed by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Guess the Number program on the previous branch counts its attempts with this form, so that the variable holding the number of guesses starts at one, which is the number a player would say. Point that out, because it is a real reason to choose the two-argument form rather than a style preference. Then show the last line and say why an empty range is harder to debug than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and third lines together make the counting rule concrete: four values, because the next one would pass the end point. Ask the class to predict the length before you show it. The last line is a genuine error rather than a curiosity, because a step computed from data can easily turn out to be zero, and the message says exactly which argument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is the book's own example, and the stop value is the part students get wrong, so say it twice: one beyond the last number you want. The third line shows what happens when the negative step is forgotten - nothing, silently. The last line is the alternative worth knowing, because reversing an existing range reads better than working out the three arguments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is the surprise - the shell shows the call, not the numbers - and it is the right moment to say why: a loop over a million values must not need space for a million integers. The chapter corpus checks that a range of ten and a range of a million occupy the same space. Then read the last line, which shows that the functions taking an iterable work on a range directly, with no conversion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book's own example of a day: the half-open range from midnight to midnight is much easier to work with than the closed range ending at 23:59:59.999. The last line on the card is the clearest proof of the second reason - two neighbouring ranges, joined, are exactly the whole. Mention that slices follow the same convention, which the third line shows, and that this is why they are consistent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card is the documentation's own example, re-executed. Take the membership test first and say why it is instant: the range knows its start, its stop and its step, so belonging is arithmetic rather than searching. Then point at the last line, where slicing a range gives another range, so the result is as lazy as the original. That is the behaviour students should expect from well-designed lazy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two-line program is the whole argument for the first helper: a loop that needs both the position and the item, written without an index and without a call to len. Ask the class how they would have written it with what they knew an hour ago, and let them count the extra pieces. Then say that each item arrives as a pair, and that the two names in the loop header are how the pair is taken apart - which is the third slide of this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is the library documentation's own example and shows the shape of what a loop receives. The second is the repair for the commonest complaint about it, which is that human lists begin at one. The third line shows that the result is an iterator rather than a list, which matters for the reason the iterator slide gives: it can be walked through only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lines as a story: the first drops a value and says nothing, the second asks for the mismatch to be reported and finds nothing wrong, and the third asks and is told. The message even names which argument was short. Say that the library documentation recommends the strict form wherever the iterables are assumed to have equal length, which in practice is almost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tutorial calls collecting values into a tuple packing and the reverse unpacking, and says that unpacking needs as many variables on the left as there are elements on the right. The last line of the card is that rule being enforced, and the message is specific enough to fix the line without thinking. Mention that the items method of a dictionary gives key and value pairs for exactly this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drives by hand what a for loop does for you: ask for the next item, then the next, and then be told there are no more. The signal at the end is not a fault; it is how the data says it has run out, and a for statement catches it and stops the loop quietly. Say that this is the whole protocol, and that the two slides that follow name the two halves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lines are the useful facts: walking a string visits its characters, and walking a dictionary visits its keys, not its values. Both surprise someone every year. The third line is the error message that explains a whole class of beginner mistakes, and it is worth reading aloud because it names the type, which is the clue to the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three calls in order and say what the object is remembering between them. Then show the fourth line, which is the polite way of asking for a value that may not be there. The watch-out is the practical consequence students meet with enumerate and zip: store the result, loop over it twice, and the second loop is silent. That silence is why the rule is worth stating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group brisk: the class needs the words and the behaviour under a loop, not the full type. This program shows the two operations the chapter actually uses on a dictionary, removing a pair and asking how many are left. Say that the four slides after it give, for each collection, what it is, how its members are reached, and what a loop over it produces - and nothing more than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Positions start at nought, and a negative position counts from the end - the first three lines make both facts concrete on three different types, which is the point of the slide. The fourth line is the boundary: asking a dictionary for position nought is a key lookup, and it fails unless nought happens to be a key. That distinction between a sequence and a mapping is worth a sentence now and a chapter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down the card as a sequence of changes to one object: two items, then three, then the first one replaced. Say that nothing here creates a new list, which is exactly what mutable means and exactly why the last branch of this chapter has a hazard about it. The last line is the one operation that does build a new list, and it is worth pointing out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on this slide is the whole definition made visible: a tuple refuses item assignment and says so in one line. Compare it with the list slide, where exactly the same operation worked. Then give the watch-out, because the missing comma is a quiet error - nothing is raised, the value is simply not a tuple, and the program misbehaves somewhere else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is the one to emphasise, because it is the behaviour under a loop: walking a dictionary gives the keys, in the order they were inserted, and not the values. Students who expect the values write a loop that silently processes the wrong things. The third line is the error, and the message quotes the missing key back, which is the most useful thing it could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real programs rarely fit the pure pattern: a search should stop as soon as the item has been found, a prompt should ignore one kind of input and react to another, and a program started by mistake should be stoppable. Then give the warning that organises the branch: a loop of ten lines can have three exits, and a fault is often an exit that was forgotten. A reader has to see all of them to know when a loop really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has both of the statements this branch is about: a continue that sends the wrong name back to the question, and a break that ends the loop once the password is right. Follow the transcript with the class: the first name is refused without ever reaching the password prompt, and the second gets through. Say that the two statements are the subject of this group and the next, and that everything else here is a way of leaving that reaches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messages differ in wording for the two statements, which is a small reminder that the exact text of a message is not something to memorise. Say what break leaves behind, because the loop-completion group depends on it: the loop variable keeps its value, the condition may still be true, and the loop's else clause does not run. Each of those has caught somebody.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is deliberately surprising: a call that is supposed to end the program is caught, its status is printed, and the program carries on. Use it to make the point that the call does not stop the interpreter directly, it raises, and stopping is only what happens when nobody catches it. Add the detail that makes this safe in practice: the exception is deliberately placed outside the family that a handler for ordinary errors would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raises the interrupt on purpose and catches it, which is how a slide can show the behaviour without anybody touching the keyboard. Say that the exception belongs to the same small family as the exit call, outside the ordinary error family, so a handler for ordinary errors does not swallow it. Then give the practical fact once more, because it is the answer to the chapter's first practice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on this slide is called twice: once with a list that contains an even number, where the loop is left at the third item, and once with a list that does not, where the loop runs to its end and the line after it decides the answer. That pair is the whole pattern. Say that the chapter on functions will give the full treatment, and that today the only point is how far a return reaches.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statements on the card are refused outside a loop, and the message for continue is worded differently from the one for break, which tells you that the parser checks them in different ways. Say that this group has one section, and that the thing to take from it is not the syntax but the destination: a continue in a while loop goes back to the test, and in a for loop it goes to the next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prompts in the transcript with the class: the question is asked three times and the password only twice, which is exactly what the continue is for. Then read the watch-out and connect it to the equivalent-while-loop slide from the first branch, where the same trap appeared from the other direction. This is the clearest reason to prefer a for statement when the number of passes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tiny program prints two things: the value the counter had when the loop was left, and whether the loop's own condition is still true. It is still true, because the loop ended by a break and not by its test failing. Say that this is the assumption the group exists to break - after a while loop, the condition need not be false - and that the three slides give the three ways of knowing which ending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tutorial's own prime-number example. Walk one number through it: the inner loop looks for a factor, a factor found means break and a line printed, and no factor found means the inner loop falls through to its else clause. Make sure the class sees that the else belongs to the for and not to the if - the indentation says so, and nothing else does. The feature is not in the book, and it is worth the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sets a name to a piece of text, runs a loop that uses the same name, and then prints it: the text is gone. Ask the class whether they expected a loop to be able to do that. Many languages give a loop variable its own scope and Python does not, which is a real difference worth stating. Then say the useful half, because the guessing game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columns beside each other and say that the line between them is exactly the rule for the else clause. Then make it practical: a program that needs to know why a loop stopped should record the reason rather than reconstruct it from the state of the variables, because the state does not distinguish the endings. That habit prevents a whole family of faults that only appear with unusual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lines are ordinary errors, and the last three are the fact that makes the exit call and the interrupt behave as they do: both of their exceptions sit outside the family that a handler for ordinary errors catches. Say that this is deliberate, so that a program catching everything it expects to go wrong does not accidentally refuse to stop when it is asked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four-line program is the smallest complete handler: a conversion that cannot work, and a block that says so instead of letting the program stop. Say that the full treatment of handling belongs to the chapter on debugging and that today it is here only because the loop-control statements are built on the same mechanism. Point at the output: the program ran to its end, which is what not unconditionally fatal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of this program has two lines where many readers expect one: the clause runs on the ordinary pass and again on the way out of the loop. That second one is the whole point - leaving a loop from inside a try statement does not skip the clean-up. Then read the watch-out, because it is the hazard the last branch of the chapter ends on, and Python 3.14 now warns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on this slide runs to its end and prints its line, and the message beside it went to the error stream while it compiled. Say that Python 3.12 is silent for exactly the same file, which the chapter corpus checks under both interpreters, so a program that must run on several versions has to expect the warning on some of them. Then say where a warning like this is actually seen: in a build, not by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this branch buys: mathematics, random numbers, the operating system and the interpreter itself, without every program carrying that code, and with the names of each part kept apart from the names of the others. Then give the warning that runs through the whole branch: most trouble with modules is trouble with names - an import that brings in more than the author expected, a file that hides a real module, or a prefix that was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on the card are the whole reason the branch exists. A built-in function is available at once; a module function is not, and the message says so in the plainest possible terms; and after the module has been imported the same call works. Say that every form on the next four slides is a different answer to the question of what name the function ends up 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on this slide seeds the generator before it draws, which is why the five numbers are the same every time it is run - the chapter corpus checks that they are the same under two different interpreters. Say that this is what seeding is for, and that it is how a program with randomness in it can still be tested. Then read the watch-out: the two failures have different error types, and the type tells you which mistake you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prints the name each module knows itself by, which is the simplest proof that four separate module objects were bound. Then give the style guide's reason rather than just its ruling: separate lines make it easier to add or remove a module and to see the change as a single line in a version-control difference. That reason is the kind students accept; the ruling alone is the kind they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explain the two different answers before you do. The call did not change; the name it refers to did. Say that the reader of such a program has no way to see which names arrived, which is the reason both the book and the style guide advise against the form. The guide calls it a wildcard import and names one defensible use, republishing an internal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renames the module as it imports it, and then shows that the module still knows its own name: the new name is a local label, not a change to the module. Say that the style guide accepts the from form for several names from one module and recommends the absolute form, and that the shorter names are worth having only when the reader can still see where they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asks whether a module has been loaded, imports it, and asks again. Use it to introduce the cache the import system consults before it searches anywhere: a module already loaded is used at once, which is why importing twice does not run the file twice. Say that the five slides that follow go from the object itself to the two ways its name can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show the type and then two modules reporting the names they know themselves by. Say that the random module of the standard library is a file called random.py, because the warning two slides from now depends on that fact. Then give the practical consequence of the watch-out, which every student meets in a notebook: editing a module and re-importing it does not reload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is the distinction in three lines: a built-in function answers at once, a module function does not exist until the module is imported, and after the import it does. Then read the watch-out as a list of names to avoid, because the next slide but two is about exactly this mistake made with a file name rather than a variable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lines of the card are the diagnostic pair worth memorising: two different mistakes give two different error types, so the type alone tells you which one you made. Say that the second line, listing the names of a module, is a genuinely useful thing to do in the shell when you cannot remember what a module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shows the cache doing its work: the name is absent, the import happens, and the name is present. Then say the sentence the next slide depends on: the directory of the running script comes first, ahead of the standard library, so a file of your own is found before a module of the same name. The chapter corpus checks that ordering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situation before showing the message: two files in one folder, one of them innocently named after its topic, and a program that fails with a message about a module it never touched. Then show the message and say where it came from, because this is the one error in the chapter that cannot be produced by a single line and needs a folder built for it. Students lose hours to this exact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draws five numbers, seeds the generator again with the same value, draws five more and compares them: they are identical. Use it to explain what pseudo-random means - produced by a deterministic algorithm, so the same seed gives the same sequence - and why that matters for teaching and for testing. Then say that the library documentation names the generator and warns that it is not suitable for every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draws two hundred numbers from each of the two calls and prints the distinct values it saw: three from one and two from the other, with the same two arguments. That is the inclusive end point made visible, and it is more convincing than the sentence in the documentation. Ask the class which of the two they would want for choosing an item from a list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book's own exit example: a loop with no break at all, whose only way out is the call. Follow the transcript - one ordinary answer, then the word that ends it - and point out that nothing is printed after the exit, because the program is gone. Then say that this call will reappear in the game of the first branch as the quit command, which is the same pattern in a larger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a programmer who learns only the book's forms writes code that works but reads as dated, and one who has not seen the hazards writes loops that fail only on some data. Then set the tone for the hazards: both of them need one line less than the safe form and work on the first test, which is exactly why they survive into real programs. A reader who knows them sees at once why the safe form is written the way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older form of the loop the next slide rewrites: a loop whose condition is always true, a read, a test, a break, and only then the work. Count the lines with the class, and ask which of them is the actual job. Three of them are bookkeeping, and the next slide removes all three. That is the whole case for the operator, and it is more convincing when the longer version has been read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and the one on the group slide print exactly the same three lines, which the chapter corpus checks by comparing their output directly. Say what makes the loop end: the read returns the empty string at the end of the data, and an empty string counts as false, which is chapter 2 doing its work here. Then give the rule - use the form where it shortens and clarifies, and not where it crams a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each column costs and buys rather than reading the rules. With one import to a line, adding or removing a dependency is a one-line change in a version-control difference; with imports at the top, a reader sees what the file depends on without scrolling. Then separate the merely conventional from the consequential, which the watch-out does, so the class knows which rule to defend and which to agree on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quiet case, so do not reveal the output immediately. The program removes every occurrence of one value from a list while looping over the same list, and the list it prints still contains one of them. Ask the class to work out why before you explain: removing an item moves the later items forward, into positions the loop has already passed. Nothing is raised, and nothing is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dictionary case fails loudly, which the slide shows, and the list case on the group slide fails silently. Say that the loud one is the lucky one, because the message names the cause exactly. Then give the two safe forms the tutorial recommends, both of which the chapter corpus runs: looping over a copy of the collection, and building a new collection from a test. Either costs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on this slide raises an error on every pass and prints its closing line anyway, with no sign that anything went wrong - the break threw the exception away. The warning beside it is what Python 3.14 says while compiling, and Python 3.12 says nothing at all, which the chapter corpus checks under both. End the session here: this is the clearest example in three chapters of code that works, passes its test, and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spoken summary rather than reading it: take each branch in turn and ask the class for the sentence before you reveal it. A branch that produces silence is the one to revisit at the start of the next session. Tell students these five sentences are the minimum they should be able to reproduce without notes, and that the interactive page for chapter 3 asks them the same things in question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on this slide is taken, word for word, from the chapter's own question bank in 08-tooling/ch03-page/question_bank_v1_1_0.json, which is also what the interactive page asks. Give the class a minute on each, take an answer from the room before you give one, and keep a shell open so that an answer can be settled by running it rather than by authority. The label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on this slide is taken, word for word, from the chapter's own question bank in 08-tooling/ch03-page/question_bank_v1_1_0.json, which is also what the interactive page asks. Give the class a minute on each, take an answer from the room before you give one, and keep a shell open so that an answer can be settled by running it rather than by authority. The label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on this slide is taken, word for word, from the chapter's own question bank in 08-tooling/ch03-page/question_bank_v1_1_0.json, which is also what the interactive page asks. Give the class a minute on each, take an answer from the room before you give one, and keep a shell open so that an answer can be settled by running it rather than by authority. The label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on this slide is taken, word for word, from the chapter's own question bank in 08-tooling/ch03-page/question_bank_v1_1_0.json, which is also what the interactive page asks. Give the class a minute on each, take an answer from the room before you give one, and keep a shell open so that an answer can be settled by running it rather than by authority. The label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on this slide is taken, word for word, from the chapter's own question bank in 08-tooling/ch03-page/question_bank_v1_1_0.json, which is also what the interactive page asks. Give the class a minute on each, take an answer from the room before you give one, and keep a shell open so that an answer can be settled by running it rather than by authority. The label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out. Say only that the chapter has one primary source, the book, and 18 secondary sources, every one of which was fetched and recorded as verified in the chapter's research record before anything on these slides was written. Tell students where the record lives, because the point of showing it is that they can check a claim themselves, and invite them to do exactly that when something on a slide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homework precisely: the interactive page for chapter 3, the guessing game written from memory, which is the smallest complete program that uses everything in the first branch, and one loop in their own code that changes the collection it is walking through. That last one is worth asking for, because the hazard the session ended on is the kind students only believe once they have found it in something they wrote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96012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96012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1874520"/>
            <a:ext cx="80467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3: Loops and Modules</a:t>
            </a:r>
            <a:endParaRPr lang="en-US" sz="3800" dirty="0"/>
          </a:p>
        </p:txBody>
      </p:sp>
      <p:sp>
        <p:nvSpPr>
          <p:cNvPr id="5" name="Text 3"/>
          <p:cNvSpPr txBox="1"/>
          <p:nvPr/>
        </p:nvSpPr>
        <p:spPr>
          <a:xfrm>
            <a:off x="548640" y="2651760"/>
            <a:ext cx="8046720" cy="640080"/>
          </a:xfrm>
          <a:prstGeom prst="rect">
            <a:avLst/>
          </a:prstGeom>
          <a:noFill/>
          <a:ln/>
        </p:spPr>
        <p:txBody>
          <a:bodyPr wrap="square" lIns="0" tIns="0" rIns="0" bIns="0" rtlCol="0" anchor="t"/>
          <a:lstStyle/>
          <a:p>
            <a:pPr indent="0" marL="0">
              <a:buNone/>
            </a:pPr>
            <a:r>
              <a:rPr lang="en-US" sz="1600" i="1" dirty="0">
                <a:solidFill>
                  <a:srgbClr val="FFD43B"/>
                </a:solidFill>
                <a:latin typeface="Calibri" pitchFamily="34" charset="0"/>
                <a:ea typeface="Calibri" pitchFamily="34" charset="-122"/>
                <a:cs typeface="Calibri" pitchFamily="34" charset="-120"/>
              </a:rPr>
              <a:t>while and for, what a loop walks through, break, continue and the loop else, and the import statement</a:t>
            </a:r>
            <a:endParaRPr lang="en-US" sz="1600" dirty="0"/>
          </a:p>
        </p:txBody>
      </p:sp>
      <p:sp>
        <p:nvSpPr>
          <p:cNvPr id="6" name="Text 4"/>
          <p:cNvSpPr txBox="1"/>
          <p:nvPr/>
        </p:nvSpPr>
        <p:spPr>
          <a:xfrm>
            <a:off x="548640" y="3977640"/>
            <a:ext cx="8046720" cy="310896"/>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
        <p:nvSpPr>
          <p:cNvPr id="7" name="Text 5"/>
          <p:cNvSpPr txBox="1"/>
          <p:nvPr/>
        </p:nvSpPr>
        <p:spPr>
          <a:xfrm>
            <a:off x="548640" y="4315968"/>
            <a:ext cx="8046720" cy="310896"/>
          </a:xfrm>
          <a:prstGeom prst="rect">
            <a:avLst/>
          </a:prstGeom>
          <a:noFill/>
          <a:ln/>
        </p:spPr>
        <p:txBody>
          <a:bodyPr wrap="square" lIns="0" tIns="0" rIns="0" bIns="0" rtlCol="0" anchor="ctr"/>
          <a:lstStyle/>
          <a:p>
            <a:pPr indent="0" marL="0">
              <a:buNone/>
            </a:pPr>
            <a:r>
              <a:rPr lang="en-US" sz="1100" i="1" dirty="0">
                <a:solidFill>
                  <a:srgbClr val="8FA3B8"/>
                </a:solidFill>
                <a:latin typeface="Calibri" pitchFamily="34" charset="0"/>
                <a:ea typeface="Calibri" pitchFamily="34" charset="-122"/>
                <a:cs typeface="Calibri" pitchFamily="34" charset="-120"/>
              </a:rPr>
              <a:t>Automate the Boring Stuff with Python, 3rd edition, chapter 3 (Sweigart, 2025), renewed for an advanced course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What this session covers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four objectives, and where they sit in the course</a:t>
            </a:r>
            <a:endParaRPr lang="en-US" sz="1300" dirty="0"/>
          </a:p>
        </p:txBody>
      </p:sp>
      <p:sp>
        <p:nvSpPr>
          <p:cNvPr id="6" name="Shape 4"/>
          <p:cNvSpPr/>
          <p:nvPr/>
        </p:nvSpPr>
        <p:spPr>
          <a:xfrm>
            <a:off x="411480" y="1188720"/>
            <a:ext cx="731520" cy="493776"/>
          </a:xfrm>
          <a:prstGeom prst="roundRect">
            <a:avLst>
              <a:gd name="adj" fmla="val 12963"/>
            </a:avLst>
          </a:prstGeom>
          <a:solidFill>
            <a:srgbClr val="306998"/>
          </a:solidFill>
          <a:ln w="12700">
            <a:solidFill>
              <a:srgbClr val="306998"/>
            </a:solidFill>
            <a:prstDash val="solid"/>
          </a:ln>
        </p:spPr>
      </p:sp>
      <p:sp>
        <p:nvSpPr>
          <p:cNvPr id="7" name="Text 5"/>
          <p:cNvSpPr txBox="1"/>
          <p:nvPr/>
        </p:nvSpPr>
        <p:spPr>
          <a:xfrm>
            <a:off x="411480" y="1188720"/>
            <a:ext cx="73152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CO-1</a:t>
            </a:r>
            <a:endParaRPr lang="en-US" sz="1300" dirty="0"/>
          </a:p>
        </p:txBody>
      </p:sp>
      <p:sp>
        <p:nvSpPr>
          <p:cNvPr id="8" name="Text 6"/>
          <p:cNvSpPr txBox="1"/>
          <p:nvPr/>
        </p:nvSpPr>
        <p:spPr>
          <a:xfrm>
            <a:off x="1261872" y="1188720"/>
            <a:ext cx="630936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Trace a while or for loop pass by pass, including break, continue and the loop else</a:t>
            </a:r>
            <a:endParaRPr lang="en-US" sz="1200" dirty="0"/>
          </a:p>
        </p:txBody>
      </p:sp>
      <p:sp>
        <p:nvSpPr>
          <p:cNvPr id="9" name="Shape 7"/>
          <p:cNvSpPr/>
          <p:nvPr/>
        </p:nvSpPr>
        <p:spPr>
          <a:xfrm>
            <a:off x="7726680" y="1271016"/>
            <a:ext cx="1005840" cy="329184"/>
          </a:xfrm>
          <a:prstGeom prst="roundRect">
            <a:avLst>
              <a:gd name="adj" fmla="val 16667"/>
            </a:avLst>
          </a:prstGeom>
          <a:solidFill>
            <a:srgbClr val="F1F4F8"/>
          </a:solidFill>
          <a:ln w="12700">
            <a:solidFill>
              <a:srgbClr val="F1F4F8"/>
            </a:solidFill>
            <a:prstDash val="solid"/>
          </a:ln>
        </p:spPr>
      </p:sp>
      <p:sp>
        <p:nvSpPr>
          <p:cNvPr id="10" name="Text 8"/>
          <p:cNvSpPr txBox="1"/>
          <p:nvPr/>
        </p:nvSpPr>
        <p:spPr>
          <a:xfrm>
            <a:off x="7726680" y="1271016"/>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Apply</a:t>
            </a:r>
            <a:endParaRPr lang="en-US" sz="1100" dirty="0"/>
          </a:p>
        </p:txBody>
      </p:sp>
      <p:sp>
        <p:nvSpPr>
          <p:cNvPr id="11" name="Shape 9"/>
          <p:cNvSpPr/>
          <p:nvPr/>
        </p:nvSpPr>
        <p:spPr>
          <a:xfrm>
            <a:off x="411480" y="1792224"/>
            <a:ext cx="731520" cy="493776"/>
          </a:xfrm>
          <a:prstGeom prst="roundRect">
            <a:avLst>
              <a:gd name="adj" fmla="val 12963"/>
            </a:avLst>
          </a:prstGeom>
          <a:solidFill>
            <a:srgbClr val="306998"/>
          </a:solidFill>
          <a:ln w="12700">
            <a:solidFill>
              <a:srgbClr val="306998"/>
            </a:solidFill>
            <a:prstDash val="solid"/>
          </a:ln>
        </p:spPr>
      </p:sp>
      <p:sp>
        <p:nvSpPr>
          <p:cNvPr id="12" name="Text 10"/>
          <p:cNvSpPr txBox="1"/>
          <p:nvPr/>
        </p:nvSpPr>
        <p:spPr>
          <a:xfrm>
            <a:off x="411480" y="1792224"/>
            <a:ext cx="73152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CO-2</a:t>
            </a:r>
            <a:endParaRPr lang="en-US" sz="1300" dirty="0"/>
          </a:p>
        </p:txBody>
      </p:sp>
      <p:sp>
        <p:nvSpPr>
          <p:cNvPr id="13" name="Text 11"/>
          <p:cNvSpPr txBox="1"/>
          <p:nvPr/>
        </p:nvSpPr>
        <p:spPr>
          <a:xfrm>
            <a:off x="1261872" y="1792224"/>
            <a:ext cx="630936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Choose between while and for, and between range, enumerate and zip, for a given repetition</a:t>
            </a:r>
            <a:endParaRPr lang="en-US" sz="1200" dirty="0"/>
          </a:p>
        </p:txBody>
      </p:sp>
      <p:sp>
        <p:nvSpPr>
          <p:cNvPr id="14" name="Shape 12"/>
          <p:cNvSpPr/>
          <p:nvPr/>
        </p:nvSpPr>
        <p:spPr>
          <a:xfrm>
            <a:off x="7726680" y="1874520"/>
            <a:ext cx="1005840" cy="329184"/>
          </a:xfrm>
          <a:prstGeom prst="roundRect">
            <a:avLst>
              <a:gd name="adj" fmla="val 16667"/>
            </a:avLst>
          </a:prstGeom>
          <a:solidFill>
            <a:srgbClr val="F1F4F8"/>
          </a:solidFill>
          <a:ln w="12700">
            <a:solidFill>
              <a:srgbClr val="F1F4F8"/>
            </a:solidFill>
            <a:prstDash val="solid"/>
          </a:ln>
        </p:spPr>
      </p:sp>
      <p:sp>
        <p:nvSpPr>
          <p:cNvPr id="15" name="Text 13"/>
          <p:cNvSpPr txBox="1"/>
          <p:nvPr/>
        </p:nvSpPr>
        <p:spPr>
          <a:xfrm>
            <a:off x="7726680" y="1874520"/>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Analyze</a:t>
            </a:r>
            <a:endParaRPr lang="en-US" sz="1100" dirty="0"/>
          </a:p>
        </p:txBody>
      </p:sp>
      <p:sp>
        <p:nvSpPr>
          <p:cNvPr id="16" name="Shape 14"/>
          <p:cNvSpPr/>
          <p:nvPr/>
        </p:nvSpPr>
        <p:spPr>
          <a:xfrm>
            <a:off x="411480" y="2395728"/>
            <a:ext cx="731520" cy="493776"/>
          </a:xfrm>
          <a:prstGeom prst="roundRect">
            <a:avLst>
              <a:gd name="adj" fmla="val 12963"/>
            </a:avLst>
          </a:prstGeom>
          <a:solidFill>
            <a:srgbClr val="306998"/>
          </a:solidFill>
          <a:ln w="12700">
            <a:solidFill>
              <a:srgbClr val="306998"/>
            </a:solidFill>
            <a:prstDash val="solid"/>
          </a:ln>
        </p:spPr>
      </p:sp>
      <p:sp>
        <p:nvSpPr>
          <p:cNvPr id="17" name="Text 15"/>
          <p:cNvSpPr txBox="1"/>
          <p:nvPr/>
        </p:nvSpPr>
        <p:spPr>
          <a:xfrm>
            <a:off x="411480" y="2395728"/>
            <a:ext cx="73152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CO-3</a:t>
            </a:r>
            <a:endParaRPr lang="en-US" sz="1300" dirty="0"/>
          </a:p>
        </p:txBody>
      </p:sp>
      <p:sp>
        <p:nvSpPr>
          <p:cNvPr id="18" name="Text 16"/>
          <p:cNvSpPr txBox="1"/>
          <p:nvPr/>
        </p:nvSpPr>
        <p:spPr>
          <a:xfrm>
            <a:off x="1261872" y="2395728"/>
            <a:ext cx="630936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Predict the values range() makes from one, two and three arguments, and explain why a range is not a list</a:t>
            </a:r>
            <a:endParaRPr lang="en-US" sz="1200" dirty="0"/>
          </a:p>
        </p:txBody>
      </p:sp>
      <p:sp>
        <p:nvSpPr>
          <p:cNvPr id="19" name="Shape 17"/>
          <p:cNvSpPr/>
          <p:nvPr/>
        </p:nvSpPr>
        <p:spPr>
          <a:xfrm>
            <a:off x="7726680" y="2478024"/>
            <a:ext cx="1005840" cy="329184"/>
          </a:xfrm>
          <a:prstGeom prst="roundRect">
            <a:avLst>
              <a:gd name="adj" fmla="val 16667"/>
            </a:avLst>
          </a:prstGeom>
          <a:solidFill>
            <a:srgbClr val="F1F4F8"/>
          </a:solidFill>
          <a:ln w="12700">
            <a:solidFill>
              <a:srgbClr val="F1F4F8"/>
            </a:solidFill>
            <a:prstDash val="solid"/>
          </a:ln>
        </p:spPr>
      </p:sp>
      <p:sp>
        <p:nvSpPr>
          <p:cNvPr id="20" name="Text 18"/>
          <p:cNvSpPr txBox="1"/>
          <p:nvPr/>
        </p:nvSpPr>
        <p:spPr>
          <a:xfrm>
            <a:off x="7726680" y="2478024"/>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Understand</a:t>
            </a:r>
            <a:endParaRPr lang="en-US" sz="1100" dirty="0"/>
          </a:p>
        </p:txBody>
      </p:sp>
      <p:sp>
        <p:nvSpPr>
          <p:cNvPr id="21" name="Shape 19"/>
          <p:cNvSpPr/>
          <p:nvPr/>
        </p:nvSpPr>
        <p:spPr>
          <a:xfrm>
            <a:off x="411480" y="2999232"/>
            <a:ext cx="731520" cy="493776"/>
          </a:xfrm>
          <a:prstGeom prst="roundRect">
            <a:avLst>
              <a:gd name="adj" fmla="val 12963"/>
            </a:avLst>
          </a:prstGeom>
          <a:solidFill>
            <a:srgbClr val="306998"/>
          </a:solidFill>
          <a:ln w="12700">
            <a:solidFill>
              <a:srgbClr val="306998"/>
            </a:solidFill>
            <a:prstDash val="solid"/>
          </a:ln>
        </p:spPr>
      </p:sp>
      <p:sp>
        <p:nvSpPr>
          <p:cNvPr id="22" name="Text 20"/>
          <p:cNvSpPr txBox="1"/>
          <p:nvPr/>
        </p:nvSpPr>
        <p:spPr>
          <a:xfrm>
            <a:off x="411480" y="2999232"/>
            <a:ext cx="73152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CO-4</a:t>
            </a:r>
            <a:endParaRPr lang="en-US" sz="1300" dirty="0"/>
          </a:p>
        </p:txBody>
      </p:sp>
      <p:sp>
        <p:nvSpPr>
          <p:cNvPr id="23" name="Text 21"/>
          <p:cNvSpPr txBox="1"/>
          <p:nvPr/>
        </p:nvSpPr>
        <p:spPr>
          <a:xfrm>
            <a:off x="1261872" y="2999232"/>
            <a:ext cx="630936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Use the import forms and sys.exit() correctly, and justify the import style PEP 8 recommends</a:t>
            </a:r>
            <a:endParaRPr lang="en-US" sz="1200" dirty="0"/>
          </a:p>
        </p:txBody>
      </p:sp>
      <p:sp>
        <p:nvSpPr>
          <p:cNvPr id="24" name="Shape 22"/>
          <p:cNvSpPr/>
          <p:nvPr/>
        </p:nvSpPr>
        <p:spPr>
          <a:xfrm>
            <a:off x="7726680" y="3081528"/>
            <a:ext cx="1005840" cy="329184"/>
          </a:xfrm>
          <a:prstGeom prst="roundRect">
            <a:avLst>
              <a:gd name="adj" fmla="val 16667"/>
            </a:avLst>
          </a:prstGeom>
          <a:solidFill>
            <a:srgbClr val="F1F4F8"/>
          </a:solidFill>
          <a:ln w="12700">
            <a:solidFill>
              <a:srgbClr val="F1F4F8"/>
            </a:solidFill>
            <a:prstDash val="solid"/>
          </a:ln>
        </p:spPr>
      </p:sp>
      <p:sp>
        <p:nvSpPr>
          <p:cNvPr id="25" name="Text 23"/>
          <p:cNvSpPr txBox="1"/>
          <p:nvPr/>
        </p:nvSpPr>
        <p:spPr>
          <a:xfrm>
            <a:off x="7726680" y="3081528"/>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Apply</a:t>
            </a:r>
            <a:endParaRPr lang="en-US" sz="1100" dirty="0"/>
          </a:p>
        </p:txBody>
      </p:sp>
      <p:sp>
        <p:nvSpPr>
          <p:cNvPr id="26" name="Shape 24"/>
          <p:cNvSpPr/>
          <p:nvPr/>
        </p:nvSpPr>
        <p:spPr>
          <a:xfrm>
            <a:off x="411480" y="3694176"/>
            <a:ext cx="8321040" cy="1213612"/>
          </a:xfrm>
          <a:prstGeom prst="roundRect">
            <a:avLst>
              <a:gd name="adj" fmla="val 7535"/>
            </a:avLst>
          </a:prstGeom>
          <a:solidFill>
            <a:srgbClr val="F1F4F8"/>
          </a:solidFill>
          <a:ln w="12700">
            <a:solidFill>
              <a:srgbClr val="F1F4F8"/>
            </a:solidFill>
            <a:prstDash val="solid"/>
          </a:ln>
        </p:spPr>
      </p:sp>
      <p:sp>
        <p:nvSpPr>
          <p:cNvPr id="27" name="Text 25"/>
          <p:cNvSpPr txBox="1"/>
          <p:nvPr/>
        </p:nvSpPr>
        <p:spPr>
          <a:xfrm>
            <a:off x="594360" y="3822192"/>
            <a:ext cx="7955280" cy="216916"/>
          </a:xfrm>
          <a:prstGeom prst="rect">
            <a:avLst/>
          </a:prstGeom>
          <a:noFill/>
          <a:ln/>
        </p:spPr>
        <p:txBody>
          <a:bodyPr wrap="square" lIns="0" tIns="0" rIns="0" bIns="0" rtlCol="0" anchor="ctr"/>
          <a:lstStyle/>
          <a:p>
            <a:pPr indent="0" marL="0">
              <a:buNone/>
            </a:pPr>
            <a:r>
              <a:rPr lang="en-US" sz="1400" b="1" dirty="0">
                <a:solidFill>
                  <a:srgbClr val="306998"/>
                </a:solidFill>
                <a:latin typeface="Cambria" pitchFamily="34" charset="0"/>
                <a:ea typeface="Cambria" pitchFamily="34" charset="-122"/>
                <a:cs typeface="Cambria" pitchFamily="34" charset="-120"/>
              </a:rPr>
              <a:t>Which course outcomes this chapter serves</a:t>
            </a:r>
            <a:endParaRPr lang="en-US" sz="1400" dirty="0"/>
          </a:p>
        </p:txBody>
      </p:sp>
      <p:sp>
        <p:nvSpPr>
          <p:cNvPr id="28" name="Text 26"/>
          <p:cNvSpPr txBox="1"/>
          <p:nvPr/>
        </p:nvSpPr>
        <p:spPr>
          <a:xfrm>
            <a:off x="594360" y="4112260"/>
            <a:ext cx="7955280" cy="66751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Chapter 3 is language groundwork. The course's approved outcomes are advanced, and none is specific to loops, so these chapter objectives are not claimed to serve one. The import statement taught in the fourth branch is nevertheless the door to every library the course later uses.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chapter as a map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5 branches, 17 groups, 52 concepts — and the order we take them in</a:t>
            </a:r>
            <a:endParaRPr lang="en-US" sz="1300" dirty="0"/>
          </a:p>
        </p:txBody>
      </p:sp>
      <p:sp>
        <p:nvSpPr>
          <p:cNvPr id="6" name="Shape 4"/>
          <p:cNvSpPr/>
          <p:nvPr/>
        </p:nvSpPr>
        <p:spPr>
          <a:xfrm>
            <a:off x="384048" y="1152144"/>
            <a:ext cx="1554480" cy="566928"/>
          </a:xfrm>
          <a:prstGeom prst="roundRect">
            <a:avLst>
              <a:gd name="adj" fmla="val 12903"/>
            </a:avLst>
          </a:prstGeom>
          <a:solidFill>
            <a:srgbClr val="1E2A3A"/>
          </a:solidFill>
          <a:ln w="12700">
            <a:solidFill>
              <a:srgbClr val="1E2A3A"/>
            </a:solidFill>
            <a:prstDash val="solid"/>
          </a:ln>
        </p:spPr>
      </p:sp>
      <p:sp>
        <p:nvSpPr>
          <p:cNvPr id="7" name="Text 5"/>
          <p:cNvSpPr txBox="1"/>
          <p:nvPr/>
        </p:nvSpPr>
        <p:spPr>
          <a:xfrm>
            <a:off x="429768" y="1152144"/>
            <a:ext cx="14630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I.  Repetition</a:t>
            </a:r>
            <a:endParaRPr lang="en-US" sz="1000" dirty="0"/>
          </a:p>
        </p:txBody>
      </p:sp>
      <p:sp>
        <p:nvSpPr>
          <p:cNvPr id="8" name="Shape 6"/>
          <p:cNvSpPr/>
          <p:nvPr/>
        </p:nvSpPr>
        <p:spPr>
          <a:xfrm>
            <a:off x="384048" y="1828800"/>
            <a:ext cx="1554480" cy="585216"/>
          </a:xfrm>
          <a:prstGeom prst="roundRect">
            <a:avLst>
              <a:gd name="adj" fmla="val 9375"/>
            </a:avLst>
          </a:prstGeom>
          <a:solidFill>
            <a:srgbClr val="F1F4F8"/>
          </a:solidFill>
          <a:ln w="12700">
            <a:solidFill>
              <a:srgbClr val="D0D7DE"/>
            </a:solidFill>
            <a:prstDash val="solid"/>
          </a:ln>
        </p:spPr>
      </p:sp>
      <p:sp>
        <p:nvSpPr>
          <p:cNvPr id="9" name="Text 7"/>
          <p:cNvSpPr txBox="1"/>
          <p:nvPr/>
        </p:nvSpPr>
        <p:spPr>
          <a:xfrm>
            <a:off x="438912" y="1828800"/>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What a loop is</a:t>
            </a:r>
            <a:endParaRPr lang="en-US" sz="850" dirty="0"/>
          </a:p>
        </p:txBody>
      </p:sp>
      <p:sp>
        <p:nvSpPr>
          <p:cNvPr id="10" name="Text 8"/>
          <p:cNvSpPr txBox="1"/>
          <p:nvPr/>
        </p:nvSpPr>
        <p:spPr>
          <a:xfrm>
            <a:off x="1682496" y="185623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2</a:t>
            </a:r>
            <a:endParaRPr lang="en-US" sz="750" dirty="0"/>
          </a:p>
        </p:txBody>
      </p:sp>
      <p:sp>
        <p:nvSpPr>
          <p:cNvPr id="11" name="Shape 9"/>
          <p:cNvSpPr/>
          <p:nvPr/>
        </p:nvSpPr>
        <p:spPr>
          <a:xfrm>
            <a:off x="384048" y="2505456"/>
            <a:ext cx="1554480" cy="585216"/>
          </a:xfrm>
          <a:prstGeom prst="roundRect">
            <a:avLst>
              <a:gd name="adj" fmla="val 9375"/>
            </a:avLst>
          </a:prstGeom>
          <a:solidFill>
            <a:srgbClr val="F1F4F8"/>
          </a:solidFill>
          <a:ln w="12700">
            <a:solidFill>
              <a:srgbClr val="D0D7DE"/>
            </a:solidFill>
            <a:prstDash val="solid"/>
          </a:ln>
        </p:spPr>
      </p:sp>
      <p:sp>
        <p:nvSpPr>
          <p:cNvPr id="12" name="Text 10"/>
          <p:cNvSpPr txBox="1"/>
          <p:nvPr/>
        </p:nvSpPr>
        <p:spPr>
          <a:xfrm>
            <a:off x="438912" y="2505456"/>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condition loop</a:t>
            </a:r>
            <a:endParaRPr lang="en-US" sz="850" dirty="0"/>
          </a:p>
        </p:txBody>
      </p:sp>
      <p:sp>
        <p:nvSpPr>
          <p:cNvPr id="13" name="Text 11"/>
          <p:cNvSpPr txBox="1"/>
          <p:nvPr/>
        </p:nvSpPr>
        <p:spPr>
          <a:xfrm>
            <a:off x="1682496" y="2532888"/>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2</a:t>
            </a:r>
            <a:endParaRPr lang="en-US" sz="750" dirty="0"/>
          </a:p>
        </p:txBody>
      </p:sp>
      <p:sp>
        <p:nvSpPr>
          <p:cNvPr id="14" name="Shape 12"/>
          <p:cNvSpPr/>
          <p:nvPr/>
        </p:nvSpPr>
        <p:spPr>
          <a:xfrm>
            <a:off x="384048" y="3182112"/>
            <a:ext cx="1554480" cy="585216"/>
          </a:xfrm>
          <a:prstGeom prst="roundRect">
            <a:avLst>
              <a:gd name="adj" fmla="val 9375"/>
            </a:avLst>
          </a:prstGeom>
          <a:solidFill>
            <a:srgbClr val="F1F4F8"/>
          </a:solidFill>
          <a:ln w="12700">
            <a:solidFill>
              <a:srgbClr val="D0D7DE"/>
            </a:solidFill>
            <a:prstDash val="solid"/>
          </a:ln>
        </p:spPr>
      </p:sp>
      <p:sp>
        <p:nvSpPr>
          <p:cNvPr id="15" name="Text 13"/>
          <p:cNvSpPr txBox="1"/>
          <p:nvPr/>
        </p:nvSpPr>
        <p:spPr>
          <a:xfrm>
            <a:off x="438912" y="3182112"/>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counted loop</a:t>
            </a:r>
            <a:endParaRPr lang="en-US" sz="850" dirty="0"/>
          </a:p>
        </p:txBody>
      </p:sp>
      <p:sp>
        <p:nvSpPr>
          <p:cNvPr id="16" name="Text 14"/>
          <p:cNvSpPr txBox="1"/>
          <p:nvPr/>
        </p:nvSpPr>
        <p:spPr>
          <a:xfrm>
            <a:off x="1682496" y="3209544"/>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3</a:t>
            </a:r>
            <a:endParaRPr lang="en-US" sz="750" dirty="0"/>
          </a:p>
        </p:txBody>
      </p:sp>
      <p:sp>
        <p:nvSpPr>
          <p:cNvPr id="17" name="Shape 15"/>
          <p:cNvSpPr/>
          <p:nvPr/>
        </p:nvSpPr>
        <p:spPr>
          <a:xfrm>
            <a:off x="384048" y="3858768"/>
            <a:ext cx="1554480" cy="585216"/>
          </a:xfrm>
          <a:prstGeom prst="roundRect">
            <a:avLst>
              <a:gd name="adj" fmla="val 9375"/>
            </a:avLst>
          </a:prstGeom>
          <a:solidFill>
            <a:srgbClr val="F1F4F8"/>
          </a:solidFill>
          <a:ln w="12700">
            <a:solidFill>
              <a:srgbClr val="D0D7DE"/>
            </a:solidFill>
            <a:prstDash val="solid"/>
          </a:ln>
        </p:spPr>
      </p:sp>
      <p:sp>
        <p:nvSpPr>
          <p:cNvPr id="18" name="Text 16"/>
          <p:cNvSpPr txBox="1"/>
          <p:nvPr/>
        </p:nvSpPr>
        <p:spPr>
          <a:xfrm>
            <a:off x="438912" y="3858768"/>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Loops in whole programs</a:t>
            </a:r>
            <a:endParaRPr lang="en-US" sz="850" dirty="0"/>
          </a:p>
        </p:txBody>
      </p:sp>
      <p:sp>
        <p:nvSpPr>
          <p:cNvPr id="19" name="Text 17"/>
          <p:cNvSpPr txBox="1"/>
          <p:nvPr/>
        </p:nvSpPr>
        <p:spPr>
          <a:xfrm>
            <a:off x="1682496" y="3886200"/>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3</a:t>
            </a:r>
            <a:endParaRPr lang="en-US" sz="750" dirty="0"/>
          </a:p>
        </p:txBody>
      </p:sp>
      <p:sp>
        <p:nvSpPr>
          <p:cNvPr id="20" name="Shape 18"/>
          <p:cNvSpPr/>
          <p:nvPr/>
        </p:nvSpPr>
        <p:spPr>
          <a:xfrm>
            <a:off x="2084832" y="1152144"/>
            <a:ext cx="1554480" cy="566928"/>
          </a:xfrm>
          <a:prstGeom prst="roundRect">
            <a:avLst>
              <a:gd name="adj" fmla="val 12903"/>
            </a:avLst>
          </a:prstGeom>
          <a:solidFill>
            <a:srgbClr val="1E2A3A"/>
          </a:solidFill>
          <a:ln w="12700">
            <a:solidFill>
              <a:srgbClr val="1E2A3A"/>
            </a:solidFill>
            <a:prstDash val="solid"/>
          </a:ln>
        </p:spPr>
      </p:sp>
      <p:sp>
        <p:nvSpPr>
          <p:cNvPr id="21" name="Text 19"/>
          <p:cNvSpPr txBox="1"/>
          <p:nvPr/>
        </p:nvSpPr>
        <p:spPr>
          <a:xfrm>
            <a:off x="2130552" y="1152144"/>
            <a:ext cx="14630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II.  What a loop walks through</a:t>
            </a:r>
            <a:endParaRPr lang="en-US" sz="1000" dirty="0"/>
          </a:p>
        </p:txBody>
      </p:sp>
      <p:sp>
        <p:nvSpPr>
          <p:cNvPr id="22" name="Shape 20"/>
          <p:cNvSpPr/>
          <p:nvPr/>
        </p:nvSpPr>
        <p:spPr>
          <a:xfrm>
            <a:off x="2084832" y="1828800"/>
            <a:ext cx="1554480" cy="585216"/>
          </a:xfrm>
          <a:prstGeom prst="roundRect">
            <a:avLst>
              <a:gd name="adj" fmla="val 9375"/>
            </a:avLst>
          </a:prstGeom>
          <a:solidFill>
            <a:srgbClr val="F1F4F8"/>
          </a:solidFill>
          <a:ln w="12700">
            <a:solidFill>
              <a:srgbClr val="D0D7DE"/>
            </a:solidFill>
            <a:prstDash val="solid"/>
          </a:ln>
        </p:spPr>
      </p:sp>
      <p:sp>
        <p:nvSpPr>
          <p:cNvPr id="23" name="Text 21"/>
          <p:cNvSpPr txBox="1"/>
          <p:nvPr/>
        </p:nvSpPr>
        <p:spPr>
          <a:xfrm>
            <a:off x="2139696" y="1828800"/>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range</a:t>
            </a:r>
            <a:endParaRPr lang="en-US" sz="850" dirty="0"/>
          </a:p>
        </p:txBody>
      </p:sp>
      <p:sp>
        <p:nvSpPr>
          <p:cNvPr id="24" name="Text 22"/>
          <p:cNvSpPr txBox="1"/>
          <p:nvPr/>
        </p:nvSpPr>
        <p:spPr>
          <a:xfrm>
            <a:off x="3383280" y="185623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7</a:t>
            </a:r>
            <a:endParaRPr lang="en-US" sz="750" dirty="0"/>
          </a:p>
        </p:txBody>
      </p:sp>
      <p:sp>
        <p:nvSpPr>
          <p:cNvPr id="25" name="Shape 23"/>
          <p:cNvSpPr/>
          <p:nvPr/>
        </p:nvSpPr>
        <p:spPr>
          <a:xfrm>
            <a:off x="2084832" y="2505456"/>
            <a:ext cx="1554480" cy="585216"/>
          </a:xfrm>
          <a:prstGeom prst="roundRect">
            <a:avLst>
              <a:gd name="adj" fmla="val 9375"/>
            </a:avLst>
          </a:prstGeom>
          <a:solidFill>
            <a:srgbClr val="F1F4F8"/>
          </a:solidFill>
          <a:ln w="12700">
            <a:solidFill>
              <a:srgbClr val="D0D7DE"/>
            </a:solidFill>
            <a:prstDash val="solid"/>
          </a:ln>
        </p:spPr>
      </p:sp>
      <p:sp>
        <p:nvSpPr>
          <p:cNvPr id="26" name="Text 24"/>
          <p:cNvSpPr txBox="1"/>
          <p:nvPr/>
        </p:nvSpPr>
        <p:spPr>
          <a:xfrm>
            <a:off x="2139696" y="2505456"/>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iteration helpers</a:t>
            </a:r>
            <a:endParaRPr lang="en-US" sz="850" dirty="0"/>
          </a:p>
        </p:txBody>
      </p:sp>
      <p:sp>
        <p:nvSpPr>
          <p:cNvPr id="27" name="Text 25"/>
          <p:cNvSpPr txBox="1"/>
          <p:nvPr/>
        </p:nvSpPr>
        <p:spPr>
          <a:xfrm>
            <a:off x="3383280" y="2532888"/>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3</a:t>
            </a:r>
            <a:endParaRPr lang="en-US" sz="750" dirty="0"/>
          </a:p>
        </p:txBody>
      </p:sp>
      <p:sp>
        <p:nvSpPr>
          <p:cNvPr id="28" name="Shape 26"/>
          <p:cNvSpPr/>
          <p:nvPr/>
        </p:nvSpPr>
        <p:spPr>
          <a:xfrm>
            <a:off x="2084832" y="3182112"/>
            <a:ext cx="1554480" cy="585216"/>
          </a:xfrm>
          <a:prstGeom prst="roundRect">
            <a:avLst>
              <a:gd name="adj" fmla="val 9375"/>
            </a:avLst>
          </a:prstGeom>
          <a:solidFill>
            <a:srgbClr val="F1F4F8"/>
          </a:solidFill>
          <a:ln w="12700">
            <a:solidFill>
              <a:srgbClr val="D0D7DE"/>
            </a:solidFill>
            <a:prstDash val="solid"/>
          </a:ln>
        </p:spPr>
      </p:sp>
      <p:sp>
        <p:nvSpPr>
          <p:cNvPr id="29" name="Text 27"/>
          <p:cNvSpPr txBox="1"/>
          <p:nvPr/>
        </p:nvSpPr>
        <p:spPr>
          <a:xfrm>
            <a:off x="2139696" y="3182112"/>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iteration protocol</a:t>
            </a:r>
            <a:endParaRPr lang="en-US" sz="850" dirty="0"/>
          </a:p>
        </p:txBody>
      </p:sp>
      <p:sp>
        <p:nvSpPr>
          <p:cNvPr id="30" name="Text 28"/>
          <p:cNvSpPr txBox="1"/>
          <p:nvPr/>
        </p:nvSpPr>
        <p:spPr>
          <a:xfrm>
            <a:off x="3383280" y="3209544"/>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2</a:t>
            </a:r>
            <a:endParaRPr lang="en-US" sz="750" dirty="0"/>
          </a:p>
        </p:txBody>
      </p:sp>
      <p:sp>
        <p:nvSpPr>
          <p:cNvPr id="31" name="Shape 29"/>
          <p:cNvSpPr/>
          <p:nvPr/>
        </p:nvSpPr>
        <p:spPr>
          <a:xfrm>
            <a:off x="2084832" y="3858768"/>
            <a:ext cx="1554480" cy="585216"/>
          </a:xfrm>
          <a:prstGeom prst="roundRect">
            <a:avLst>
              <a:gd name="adj" fmla="val 9375"/>
            </a:avLst>
          </a:prstGeom>
          <a:solidFill>
            <a:srgbClr val="F1F4F8"/>
          </a:solidFill>
          <a:ln w="12700">
            <a:solidFill>
              <a:srgbClr val="D0D7DE"/>
            </a:solidFill>
            <a:prstDash val="solid"/>
          </a:ln>
        </p:spPr>
      </p:sp>
      <p:sp>
        <p:nvSpPr>
          <p:cNvPr id="32" name="Text 30"/>
          <p:cNvSpPr txBox="1"/>
          <p:nvPr/>
        </p:nvSpPr>
        <p:spPr>
          <a:xfrm>
            <a:off x="2139696" y="3858768"/>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collections a loop traverses</a:t>
            </a:r>
            <a:endParaRPr lang="en-US" sz="850" dirty="0"/>
          </a:p>
        </p:txBody>
      </p:sp>
      <p:sp>
        <p:nvSpPr>
          <p:cNvPr id="33" name="Text 31"/>
          <p:cNvSpPr txBox="1"/>
          <p:nvPr/>
        </p:nvSpPr>
        <p:spPr>
          <a:xfrm>
            <a:off x="3383280" y="3886200"/>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4</a:t>
            </a:r>
            <a:endParaRPr lang="en-US" sz="750" dirty="0"/>
          </a:p>
        </p:txBody>
      </p:sp>
      <p:sp>
        <p:nvSpPr>
          <p:cNvPr id="34" name="Shape 32"/>
          <p:cNvSpPr/>
          <p:nvPr/>
        </p:nvSpPr>
        <p:spPr>
          <a:xfrm>
            <a:off x="3785616" y="1152144"/>
            <a:ext cx="1554480" cy="566928"/>
          </a:xfrm>
          <a:prstGeom prst="roundRect">
            <a:avLst>
              <a:gd name="adj" fmla="val 12903"/>
            </a:avLst>
          </a:prstGeom>
          <a:solidFill>
            <a:srgbClr val="1E2A3A"/>
          </a:solidFill>
          <a:ln w="12700">
            <a:solidFill>
              <a:srgbClr val="1E2A3A"/>
            </a:solidFill>
            <a:prstDash val="solid"/>
          </a:ln>
        </p:spPr>
      </p:sp>
      <p:sp>
        <p:nvSpPr>
          <p:cNvPr id="35" name="Text 33"/>
          <p:cNvSpPr txBox="1"/>
          <p:nvPr/>
        </p:nvSpPr>
        <p:spPr>
          <a:xfrm>
            <a:off x="3831336" y="1152144"/>
            <a:ext cx="14630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III.  Controlling a loop from inside</a:t>
            </a:r>
            <a:endParaRPr lang="en-US" sz="1000" dirty="0"/>
          </a:p>
        </p:txBody>
      </p:sp>
      <p:sp>
        <p:nvSpPr>
          <p:cNvPr id="36" name="Shape 34"/>
          <p:cNvSpPr/>
          <p:nvPr/>
        </p:nvSpPr>
        <p:spPr>
          <a:xfrm>
            <a:off x="3785616" y="1828800"/>
            <a:ext cx="1554480" cy="585216"/>
          </a:xfrm>
          <a:prstGeom prst="roundRect">
            <a:avLst>
              <a:gd name="adj" fmla="val 9375"/>
            </a:avLst>
          </a:prstGeom>
          <a:solidFill>
            <a:srgbClr val="F1F4F8"/>
          </a:solidFill>
          <a:ln w="12700">
            <a:solidFill>
              <a:srgbClr val="D0D7DE"/>
            </a:solidFill>
            <a:prstDash val="solid"/>
          </a:ln>
        </p:spPr>
      </p:sp>
      <p:sp>
        <p:nvSpPr>
          <p:cNvPr id="37" name="Text 35"/>
          <p:cNvSpPr txBox="1"/>
          <p:nvPr/>
        </p:nvSpPr>
        <p:spPr>
          <a:xfrm>
            <a:off x="3840480" y="1828800"/>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Leaving a loop early</a:t>
            </a:r>
            <a:endParaRPr lang="en-US" sz="850" dirty="0"/>
          </a:p>
        </p:txBody>
      </p:sp>
      <p:sp>
        <p:nvSpPr>
          <p:cNvPr id="38" name="Text 36"/>
          <p:cNvSpPr txBox="1"/>
          <p:nvPr/>
        </p:nvSpPr>
        <p:spPr>
          <a:xfrm>
            <a:off x="5084064" y="185623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4</a:t>
            </a:r>
            <a:endParaRPr lang="en-US" sz="750" dirty="0"/>
          </a:p>
        </p:txBody>
      </p:sp>
      <p:sp>
        <p:nvSpPr>
          <p:cNvPr id="39" name="Shape 37"/>
          <p:cNvSpPr/>
          <p:nvPr/>
        </p:nvSpPr>
        <p:spPr>
          <a:xfrm>
            <a:off x="3785616" y="2505456"/>
            <a:ext cx="1554480" cy="585216"/>
          </a:xfrm>
          <a:prstGeom prst="roundRect">
            <a:avLst>
              <a:gd name="adj" fmla="val 9375"/>
            </a:avLst>
          </a:prstGeom>
          <a:solidFill>
            <a:srgbClr val="F1F4F8"/>
          </a:solidFill>
          <a:ln w="12700">
            <a:solidFill>
              <a:srgbClr val="D0D7DE"/>
            </a:solidFill>
            <a:prstDash val="solid"/>
          </a:ln>
        </p:spPr>
      </p:sp>
      <p:sp>
        <p:nvSpPr>
          <p:cNvPr id="40" name="Text 38"/>
          <p:cNvSpPr txBox="1"/>
          <p:nvPr/>
        </p:nvSpPr>
        <p:spPr>
          <a:xfrm>
            <a:off x="3840480" y="2505456"/>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Skipping one pass</a:t>
            </a:r>
            <a:endParaRPr lang="en-US" sz="850" dirty="0"/>
          </a:p>
        </p:txBody>
      </p:sp>
      <p:sp>
        <p:nvSpPr>
          <p:cNvPr id="41" name="Text 39"/>
          <p:cNvSpPr txBox="1"/>
          <p:nvPr/>
        </p:nvSpPr>
        <p:spPr>
          <a:xfrm>
            <a:off x="5084064" y="2532888"/>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1</a:t>
            </a:r>
            <a:endParaRPr lang="en-US" sz="750" dirty="0"/>
          </a:p>
        </p:txBody>
      </p:sp>
      <p:sp>
        <p:nvSpPr>
          <p:cNvPr id="42" name="Shape 40"/>
          <p:cNvSpPr/>
          <p:nvPr/>
        </p:nvSpPr>
        <p:spPr>
          <a:xfrm>
            <a:off x="3785616" y="3182112"/>
            <a:ext cx="1554480" cy="585216"/>
          </a:xfrm>
          <a:prstGeom prst="roundRect">
            <a:avLst>
              <a:gd name="adj" fmla="val 9375"/>
            </a:avLst>
          </a:prstGeom>
          <a:solidFill>
            <a:srgbClr val="F1F4F8"/>
          </a:solidFill>
          <a:ln w="12700">
            <a:solidFill>
              <a:srgbClr val="D0D7DE"/>
            </a:solidFill>
            <a:prstDash val="solid"/>
          </a:ln>
        </p:spPr>
      </p:sp>
      <p:sp>
        <p:nvSpPr>
          <p:cNvPr id="43" name="Text 41"/>
          <p:cNvSpPr txBox="1"/>
          <p:nvPr/>
        </p:nvSpPr>
        <p:spPr>
          <a:xfrm>
            <a:off x="3840480" y="3182112"/>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After the loop</a:t>
            </a:r>
            <a:endParaRPr lang="en-US" sz="850" dirty="0"/>
          </a:p>
        </p:txBody>
      </p:sp>
      <p:sp>
        <p:nvSpPr>
          <p:cNvPr id="44" name="Text 42"/>
          <p:cNvSpPr txBox="1"/>
          <p:nvPr/>
        </p:nvSpPr>
        <p:spPr>
          <a:xfrm>
            <a:off x="5084064" y="3209544"/>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3</a:t>
            </a:r>
            <a:endParaRPr lang="en-US" sz="750" dirty="0"/>
          </a:p>
        </p:txBody>
      </p:sp>
      <p:sp>
        <p:nvSpPr>
          <p:cNvPr id="45" name="Shape 43"/>
          <p:cNvSpPr/>
          <p:nvPr/>
        </p:nvSpPr>
        <p:spPr>
          <a:xfrm>
            <a:off x="3785616" y="3858768"/>
            <a:ext cx="1554480" cy="585216"/>
          </a:xfrm>
          <a:prstGeom prst="roundRect">
            <a:avLst>
              <a:gd name="adj" fmla="val 9375"/>
            </a:avLst>
          </a:prstGeom>
          <a:solidFill>
            <a:srgbClr val="F1F4F8"/>
          </a:solidFill>
          <a:ln w="12700">
            <a:solidFill>
              <a:srgbClr val="D0D7DE"/>
            </a:solidFill>
            <a:prstDash val="solid"/>
          </a:ln>
        </p:spPr>
      </p:sp>
      <p:sp>
        <p:nvSpPr>
          <p:cNvPr id="46" name="Text 44"/>
          <p:cNvSpPr txBox="1"/>
          <p:nvPr/>
        </p:nvSpPr>
        <p:spPr>
          <a:xfrm>
            <a:off x="3840480" y="3858768"/>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Exceptions and warnings</a:t>
            </a:r>
            <a:endParaRPr lang="en-US" sz="850" dirty="0"/>
          </a:p>
        </p:txBody>
      </p:sp>
      <p:sp>
        <p:nvSpPr>
          <p:cNvPr id="47" name="Text 45"/>
          <p:cNvSpPr txBox="1"/>
          <p:nvPr/>
        </p:nvSpPr>
        <p:spPr>
          <a:xfrm>
            <a:off x="5084064" y="3886200"/>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3</a:t>
            </a:r>
            <a:endParaRPr lang="en-US" sz="750" dirty="0"/>
          </a:p>
        </p:txBody>
      </p:sp>
      <p:sp>
        <p:nvSpPr>
          <p:cNvPr id="48" name="Shape 46"/>
          <p:cNvSpPr/>
          <p:nvPr/>
        </p:nvSpPr>
        <p:spPr>
          <a:xfrm>
            <a:off x="5486400" y="1152144"/>
            <a:ext cx="1554480" cy="566928"/>
          </a:xfrm>
          <a:prstGeom prst="roundRect">
            <a:avLst>
              <a:gd name="adj" fmla="val 12903"/>
            </a:avLst>
          </a:prstGeom>
          <a:solidFill>
            <a:srgbClr val="1E2A3A"/>
          </a:solidFill>
          <a:ln w="12700">
            <a:solidFill>
              <a:srgbClr val="1E2A3A"/>
            </a:solidFill>
            <a:prstDash val="solid"/>
          </a:ln>
        </p:spPr>
      </p:sp>
      <p:sp>
        <p:nvSpPr>
          <p:cNvPr id="49" name="Text 47"/>
          <p:cNvSpPr txBox="1"/>
          <p:nvPr/>
        </p:nvSpPr>
        <p:spPr>
          <a:xfrm>
            <a:off x="5532120" y="1152144"/>
            <a:ext cx="14630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IV.  Modules and the import statement</a:t>
            </a:r>
            <a:endParaRPr lang="en-US" sz="1000" dirty="0"/>
          </a:p>
        </p:txBody>
      </p:sp>
      <p:sp>
        <p:nvSpPr>
          <p:cNvPr id="50" name="Shape 48"/>
          <p:cNvSpPr/>
          <p:nvPr/>
        </p:nvSpPr>
        <p:spPr>
          <a:xfrm>
            <a:off x="5486400" y="1828800"/>
            <a:ext cx="1554480" cy="585216"/>
          </a:xfrm>
          <a:prstGeom prst="roundRect">
            <a:avLst>
              <a:gd name="adj" fmla="val 9375"/>
            </a:avLst>
          </a:prstGeom>
          <a:solidFill>
            <a:srgbClr val="F1F4F8"/>
          </a:solidFill>
          <a:ln w="12700">
            <a:solidFill>
              <a:srgbClr val="D0D7DE"/>
            </a:solidFill>
            <a:prstDash val="solid"/>
          </a:ln>
        </p:spPr>
      </p:sp>
      <p:sp>
        <p:nvSpPr>
          <p:cNvPr id="51" name="Text 49"/>
          <p:cNvSpPr txBox="1"/>
          <p:nvPr/>
        </p:nvSpPr>
        <p:spPr>
          <a:xfrm>
            <a:off x="5541264" y="1828800"/>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forms of the import statement</a:t>
            </a:r>
            <a:endParaRPr lang="en-US" sz="850" dirty="0"/>
          </a:p>
        </p:txBody>
      </p:sp>
      <p:sp>
        <p:nvSpPr>
          <p:cNvPr id="52" name="Text 50"/>
          <p:cNvSpPr txBox="1"/>
          <p:nvPr/>
        </p:nvSpPr>
        <p:spPr>
          <a:xfrm>
            <a:off x="6784848" y="185623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4</a:t>
            </a:r>
            <a:endParaRPr lang="en-US" sz="750" dirty="0"/>
          </a:p>
        </p:txBody>
      </p:sp>
      <p:sp>
        <p:nvSpPr>
          <p:cNvPr id="53" name="Shape 51"/>
          <p:cNvSpPr/>
          <p:nvPr/>
        </p:nvSpPr>
        <p:spPr>
          <a:xfrm>
            <a:off x="5486400" y="2505456"/>
            <a:ext cx="1554480" cy="585216"/>
          </a:xfrm>
          <a:prstGeom prst="roundRect">
            <a:avLst>
              <a:gd name="adj" fmla="val 9375"/>
            </a:avLst>
          </a:prstGeom>
          <a:solidFill>
            <a:srgbClr val="F1F4F8"/>
          </a:solidFill>
          <a:ln w="12700">
            <a:solidFill>
              <a:srgbClr val="D0D7DE"/>
            </a:solidFill>
            <a:prstDash val="solid"/>
          </a:ln>
        </p:spPr>
      </p:sp>
      <p:sp>
        <p:nvSpPr>
          <p:cNvPr id="54" name="Text 52"/>
          <p:cNvSpPr txBox="1"/>
          <p:nvPr/>
        </p:nvSpPr>
        <p:spPr>
          <a:xfrm>
            <a:off x="5541264" y="2505456"/>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What a module is</a:t>
            </a:r>
            <a:endParaRPr lang="en-US" sz="850" dirty="0"/>
          </a:p>
        </p:txBody>
      </p:sp>
      <p:sp>
        <p:nvSpPr>
          <p:cNvPr id="55" name="Text 53"/>
          <p:cNvSpPr txBox="1"/>
          <p:nvPr/>
        </p:nvSpPr>
        <p:spPr>
          <a:xfrm>
            <a:off x="6784848" y="2532888"/>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5</a:t>
            </a:r>
            <a:endParaRPr lang="en-US" sz="750" dirty="0"/>
          </a:p>
        </p:txBody>
      </p:sp>
      <p:sp>
        <p:nvSpPr>
          <p:cNvPr id="56" name="Shape 54"/>
          <p:cNvSpPr/>
          <p:nvPr/>
        </p:nvSpPr>
        <p:spPr>
          <a:xfrm>
            <a:off x="5486400" y="3182112"/>
            <a:ext cx="1554480" cy="585216"/>
          </a:xfrm>
          <a:prstGeom prst="roundRect">
            <a:avLst>
              <a:gd name="adj" fmla="val 9375"/>
            </a:avLst>
          </a:prstGeom>
          <a:solidFill>
            <a:srgbClr val="F1F4F8"/>
          </a:solidFill>
          <a:ln w="12700">
            <a:solidFill>
              <a:srgbClr val="D0D7DE"/>
            </a:solidFill>
            <a:prstDash val="solid"/>
          </a:ln>
        </p:spPr>
      </p:sp>
      <p:sp>
        <p:nvSpPr>
          <p:cNvPr id="57" name="Text 55"/>
          <p:cNvSpPr txBox="1"/>
          <p:nvPr/>
        </p:nvSpPr>
        <p:spPr>
          <a:xfrm>
            <a:off x="5541264" y="3182112"/>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two modules this chapter uses</a:t>
            </a:r>
            <a:endParaRPr lang="en-US" sz="850" dirty="0"/>
          </a:p>
        </p:txBody>
      </p:sp>
      <p:sp>
        <p:nvSpPr>
          <p:cNvPr id="58" name="Text 56"/>
          <p:cNvSpPr txBox="1"/>
          <p:nvPr/>
        </p:nvSpPr>
        <p:spPr>
          <a:xfrm>
            <a:off x="6784848" y="3209544"/>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2</a:t>
            </a:r>
            <a:endParaRPr lang="en-US" sz="750" dirty="0"/>
          </a:p>
        </p:txBody>
      </p:sp>
      <p:sp>
        <p:nvSpPr>
          <p:cNvPr id="59" name="Shape 57"/>
          <p:cNvSpPr/>
          <p:nvPr/>
        </p:nvSpPr>
        <p:spPr>
          <a:xfrm>
            <a:off x="7187184" y="1152144"/>
            <a:ext cx="1554480" cy="566928"/>
          </a:xfrm>
          <a:prstGeom prst="roundRect">
            <a:avLst>
              <a:gd name="adj" fmla="val 12903"/>
            </a:avLst>
          </a:prstGeom>
          <a:solidFill>
            <a:srgbClr val="1E2A3A"/>
          </a:solidFill>
          <a:ln w="12700">
            <a:solidFill>
              <a:srgbClr val="1E2A3A"/>
            </a:solidFill>
            <a:prstDash val="solid"/>
          </a:ln>
        </p:spPr>
      </p:sp>
      <p:sp>
        <p:nvSpPr>
          <p:cNvPr id="60" name="Text 58"/>
          <p:cNvSpPr txBox="1"/>
          <p:nvPr/>
        </p:nvSpPr>
        <p:spPr>
          <a:xfrm>
            <a:off x="7232904" y="1152144"/>
            <a:ext cx="14630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V.  Modern practice</a:t>
            </a:r>
            <a:endParaRPr lang="en-US" sz="1000" dirty="0"/>
          </a:p>
        </p:txBody>
      </p:sp>
      <p:sp>
        <p:nvSpPr>
          <p:cNvPr id="61" name="Shape 59"/>
          <p:cNvSpPr/>
          <p:nvPr/>
        </p:nvSpPr>
        <p:spPr>
          <a:xfrm>
            <a:off x="7187184" y="1828800"/>
            <a:ext cx="1554480" cy="585216"/>
          </a:xfrm>
          <a:prstGeom prst="roundRect">
            <a:avLst>
              <a:gd name="adj" fmla="val 9375"/>
            </a:avLst>
          </a:prstGeom>
          <a:solidFill>
            <a:srgbClr val="F1F4F8"/>
          </a:solidFill>
          <a:ln w="12700">
            <a:solidFill>
              <a:srgbClr val="D0D7DE"/>
            </a:solidFill>
            <a:prstDash val="solid"/>
          </a:ln>
        </p:spPr>
      </p:sp>
      <p:sp>
        <p:nvSpPr>
          <p:cNvPr id="62" name="Text 60"/>
          <p:cNvSpPr txBox="1"/>
          <p:nvPr/>
        </p:nvSpPr>
        <p:spPr>
          <a:xfrm>
            <a:off x="7242048" y="1828800"/>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Expression style</a:t>
            </a:r>
            <a:endParaRPr lang="en-US" sz="850" dirty="0"/>
          </a:p>
        </p:txBody>
      </p:sp>
      <p:sp>
        <p:nvSpPr>
          <p:cNvPr id="63" name="Text 61"/>
          <p:cNvSpPr txBox="1"/>
          <p:nvPr/>
        </p:nvSpPr>
        <p:spPr>
          <a:xfrm>
            <a:off x="8485632" y="185623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2</a:t>
            </a:r>
            <a:endParaRPr lang="en-US" sz="750" dirty="0"/>
          </a:p>
        </p:txBody>
      </p:sp>
      <p:sp>
        <p:nvSpPr>
          <p:cNvPr id="64" name="Shape 62"/>
          <p:cNvSpPr/>
          <p:nvPr/>
        </p:nvSpPr>
        <p:spPr>
          <a:xfrm>
            <a:off x="7187184" y="2505456"/>
            <a:ext cx="1554480" cy="585216"/>
          </a:xfrm>
          <a:prstGeom prst="roundRect">
            <a:avLst>
              <a:gd name="adj" fmla="val 9375"/>
            </a:avLst>
          </a:prstGeom>
          <a:solidFill>
            <a:srgbClr val="F1F4F8"/>
          </a:solidFill>
          <a:ln w="12700">
            <a:solidFill>
              <a:srgbClr val="D0D7DE"/>
            </a:solidFill>
            <a:prstDash val="solid"/>
          </a:ln>
        </p:spPr>
      </p:sp>
      <p:sp>
        <p:nvSpPr>
          <p:cNvPr id="65" name="Text 63"/>
          <p:cNvSpPr txBox="1"/>
          <p:nvPr/>
        </p:nvSpPr>
        <p:spPr>
          <a:xfrm>
            <a:off x="7242048" y="2505456"/>
            <a:ext cx="1444752"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Two hazards</a:t>
            </a:r>
            <a:endParaRPr lang="en-US" sz="850" dirty="0"/>
          </a:p>
        </p:txBody>
      </p:sp>
      <p:sp>
        <p:nvSpPr>
          <p:cNvPr id="66" name="Text 64"/>
          <p:cNvSpPr txBox="1"/>
          <p:nvPr/>
        </p:nvSpPr>
        <p:spPr>
          <a:xfrm>
            <a:off x="8485632" y="2532888"/>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2</a:t>
            </a:r>
            <a:endParaRPr lang="en-US" sz="750" dirty="0"/>
          </a:p>
        </p:txBody>
      </p:sp>
      <p:sp>
        <p:nvSpPr>
          <p:cNvPr id="67" name="Text 65"/>
          <p:cNvSpPr txBox="1"/>
          <p:nvPr/>
        </p:nvSpPr>
        <p:spPr>
          <a:xfrm>
            <a:off x="384048" y="4590288"/>
            <a:ext cx="8375904" cy="274320"/>
          </a:xfrm>
          <a:prstGeom prst="rect">
            <a:avLst/>
          </a:prstGeom>
          <a:noFill/>
          <a:ln/>
        </p:spPr>
        <p:txBody>
          <a:bodyPr wrap="square" lIns="0" tIns="0" rIns="0" bIns="0" rtlCol="0" anchor="ctr"/>
          <a:lstStyle/>
          <a:p>
            <a:pPr indent="0" marL="0">
              <a:buNone/>
            </a:pPr>
            <a:r>
              <a:rPr lang="en-US" sz="1150" i="1" dirty="0">
                <a:solidFill>
                  <a:srgbClr val="5B6B7B"/>
                </a:solidFill>
                <a:latin typeface="Calibri" pitchFamily="34" charset="0"/>
                <a:ea typeface="Calibri" pitchFamily="34" charset="-122"/>
                <a:cs typeface="Calibri" pitchFamily="34" charset="-120"/>
              </a:rPr>
              <a:t>The small number on each group is how many concepts it holds. The order on this map is the order of the session.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Repetition</a:t>
            </a:r>
            <a:endParaRPr lang="en-US" sz="32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A loop is a block that Python runs again and again. The book puts it plainly: the two kinds of loop open up the full power of automation, because they can run lines of code millions of times per second.</a:t>
            </a:r>
            <a:endParaRPr lang="en-US" sz="1500" dirty="0"/>
          </a:p>
        </p:txBody>
      </p:sp>
      <p:sp>
        <p:nvSpPr>
          <p:cNvPr id="5" name="Text 3"/>
          <p:cNvSpPr txBox="1"/>
          <p:nvPr/>
        </p:nvSpPr>
        <p:spPr>
          <a:xfrm>
            <a:off x="548640" y="4078224"/>
            <a:ext cx="8046720" cy="512064"/>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What a loop is   ·   The condition loop   ·   The counted loop   ·   Loops in whole programs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What a loop is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loop itself, and the single pass through its block</a:t>
            </a:r>
            <a:endParaRPr lang="en-US" sz="1300" dirty="0"/>
          </a:p>
        </p:txBody>
      </p:sp>
      <p:sp>
        <p:nvSpPr>
          <p:cNvPr id="6" name="Shape 4"/>
          <p:cNvSpPr/>
          <p:nvPr/>
        </p:nvSpPr>
        <p:spPr>
          <a:xfrm>
            <a:off x="5532120" y="1152144"/>
            <a:ext cx="3200400" cy="1502664"/>
          </a:xfrm>
          <a:prstGeom prst="roundRect">
            <a:avLst>
              <a:gd name="adj" fmla="val 6085"/>
            </a:avLst>
          </a:prstGeom>
          <a:solidFill>
            <a:srgbClr val="17202B"/>
          </a:solidFill>
          <a:ln w="12700">
            <a:solidFill>
              <a:srgbClr val="17202B"/>
            </a:solidFill>
            <a:prstDash val="solid"/>
          </a:ln>
        </p:spPr>
      </p:sp>
      <p:sp>
        <p:nvSpPr>
          <p:cNvPr id="7" name="Text 5"/>
          <p:cNvSpPr txBox="1"/>
          <p:nvPr/>
        </p:nvSpPr>
        <p:spPr>
          <a:xfrm>
            <a:off x="5733288" y="1252728"/>
            <a:ext cx="2798064" cy="1301496"/>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sum(range(101))</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5050</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len(range(101))</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101</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50 * 101</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5050</a:t>
            </a:r>
            <a:endParaRPr lang="en-US" sz="1400" dirty="0"/>
          </a:p>
        </p:txBody>
      </p:sp>
      <p:sp>
        <p:nvSpPr>
          <p:cNvPr id="8" name="Text 6"/>
          <p:cNvSpPr txBox="1"/>
          <p:nvPr/>
        </p:nvSpPr>
        <p:spPr>
          <a:xfrm>
            <a:off x="5532120" y="2673096"/>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864608" cy="2361692"/>
          </a:xfrm>
          <a:prstGeom prst="roundRect">
            <a:avLst>
              <a:gd name="adj" fmla="val 3872"/>
            </a:avLst>
          </a:prstGeom>
          <a:solidFill>
            <a:srgbClr val="F1F4F8"/>
          </a:solidFill>
          <a:ln w="12700">
            <a:solidFill>
              <a:srgbClr val="F1F4F8"/>
            </a:solidFill>
            <a:prstDash val="solid"/>
          </a:ln>
        </p:spPr>
      </p:sp>
      <p:sp>
        <p:nvSpPr>
          <p:cNvPr id="10" name="Text 8"/>
          <p:cNvSpPr txBox="1"/>
          <p:nvPr/>
        </p:nvSpPr>
        <p:spPr>
          <a:xfrm>
            <a:off x="594360" y="1280160"/>
            <a:ext cx="449884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loop basics are the two ideas every loop statement rests on: the loop, which is a block Python runs again and again, and the iteration, which is one run of that block. The two words are used constantly in the book and in the documentation, so they are worth defining before the particular statements arrive. Separating them gives a precise way to talk about a program: this loop made five iterations, or a fault appears on the third iteration - and each of those is a claim that can be checked by running the program.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loop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block whose end sends execution back to its beginning</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loop is a statement that makes Python execute a block of code over and over. Python has two kinds, the while loop and the for loop, and each is written as a line ending with a colon followed by an indented block, which the book calls the loop's clause (Sweigart, 2025). Where the if statement of chapter 2 decides whether a block runs, a loop decides how often. Repetition is what turns a short list of instructions into a program that scales: the same lines can ask a question until the answer is usable, or walk through every item of a collection.</a:t>
            </a:r>
            <a:endParaRPr lang="en-US" sz="900" dirty="0"/>
          </a:p>
        </p:txBody>
      </p:sp>
      <p:sp>
        <p:nvSpPr>
          <p:cNvPr id="8" name="Text 6"/>
          <p:cNvSpPr txBox="1"/>
          <p:nvPr/>
        </p:nvSpPr>
        <p:spPr>
          <a:xfrm>
            <a:off x="411480" y="2167128"/>
            <a:ext cx="4096512" cy="219456"/>
          </a:xfrm>
          <a:prstGeom prst="rect">
            <a:avLst/>
          </a:prstGeom>
          <a:noFill/>
          <a:ln/>
        </p:spPr>
        <p:txBody>
          <a:bodyPr wrap="square" lIns="0" tIns="0" rIns="0" bIns="0" rtlCol="0" anchor="ctr"/>
          <a:lstStyle/>
          <a:p>
            <a:pPr indent="0" marL="0">
              <a:buNone/>
            </a:pPr>
            <a:r>
              <a:rPr lang="en-US" sz="1000" b="1" dirty="0">
                <a:solidFill>
                  <a:srgbClr val="306998"/>
                </a:solidFill>
                <a:latin typeface="Calibri" pitchFamily="34" charset="0"/>
                <a:ea typeface="Calibri" pitchFamily="34" charset="-122"/>
                <a:cs typeface="Calibri" pitchFamily="34" charset="-120"/>
              </a:rPr>
              <a:t>if_once_v1_0_0.py</a:t>
            </a:r>
            <a:endParaRPr lang="en-US" sz="1000" dirty="0"/>
          </a:p>
        </p:txBody>
      </p:sp>
      <p:sp>
        <p:nvSpPr>
          <p:cNvPr id="9" name="Shape 7"/>
          <p:cNvSpPr/>
          <p:nvPr/>
        </p:nvSpPr>
        <p:spPr>
          <a:xfrm>
            <a:off x="411480" y="2423160"/>
            <a:ext cx="4096512" cy="635000"/>
          </a:xfrm>
          <a:prstGeom prst="roundRect">
            <a:avLst>
              <a:gd name="adj" fmla="val 14400"/>
            </a:avLst>
          </a:prstGeom>
          <a:solidFill>
            <a:srgbClr val="17202B"/>
          </a:solidFill>
          <a:ln w="12700">
            <a:solidFill>
              <a:srgbClr val="17202B"/>
            </a:solidFill>
            <a:prstDash val="solid"/>
          </a:ln>
        </p:spPr>
      </p:sp>
      <p:sp>
        <p:nvSpPr>
          <p:cNvPr id="10" name="Text 8"/>
          <p:cNvSpPr txBox="1"/>
          <p:nvPr/>
        </p:nvSpPr>
        <p:spPr>
          <a:xfrm>
            <a:off x="612648" y="2523744"/>
            <a:ext cx="3694176" cy="4338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spam = 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if spam &lt; 5:</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print('Hello, world.')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spam = spam + 1</a:t>
            </a:r>
            <a:endParaRPr lang="en-US" sz="700" dirty="0"/>
          </a:p>
        </p:txBody>
      </p:sp>
      <p:sp>
        <p:nvSpPr>
          <p:cNvPr id="11" name="Shape 9"/>
          <p:cNvSpPr/>
          <p:nvPr/>
        </p:nvSpPr>
        <p:spPr>
          <a:xfrm>
            <a:off x="411480" y="3131312"/>
            <a:ext cx="4096512" cy="309626"/>
          </a:xfrm>
          <a:prstGeom prst="roundRect">
            <a:avLst>
              <a:gd name="adj" fmla="val 29532"/>
            </a:avLst>
          </a:prstGeom>
          <a:solidFill>
            <a:srgbClr val="0F1823"/>
          </a:solidFill>
          <a:ln w="12700">
            <a:solidFill>
              <a:srgbClr val="0F1823"/>
            </a:solidFill>
            <a:prstDash val="solid"/>
          </a:ln>
        </p:spPr>
      </p:sp>
      <p:sp>
        <p:nvSpPr>
          <p:cNvPr id="12" name="Text 10"/>
          <p:cNvSpPr txBox="1"/>
          <p:nvPr/>
        </p:nvSpPr>
        <p:spPr>
          <a:xfrm>
            <a:off x="612648" y="3231896"/>
            <a:ext cx="3694176" cy="108458"/>
          </a:xfrm>
          <a:prstGeom prst="rect">
            <a:avLst/>
          </a:prstGeom>
          <a:noFill/>
          <a:ln/>
        </p:spPr>
        <p:txBody>
          <a:bodyPr wrap="square" lIns="0" tIns="0" rIns="0" bIns="0" rtlCol="0" anchor="t"/>
          <a:lstStyle/>
          <a:p>
            <a:pPr indent="0" marL="0">
              <a:buNone/>
            </a:pPr>
            <a:r>
              <a:rPr lang="en-US" sz="700" dirty="0">
                <a:solidFill>
                  <a:srgbClr val="7EE787"/>
                </a:solidFill>
                <a:latin typeface="Courier New" pitchFamily="34" charset="0"/>
                <a:ea typeface="Courier New" pitchFamily="34" charset="-122"/>
                <a:cs typeface="Courier New" pitchFamily="34" charset="-120"/>
              </a:rPr>
              <a:t>Hello, world.</a:t>
            </a:r>
            <a:endParaRPr lang="en-US" sz="700" dirty="0"/>
          </a:p>
        </p:txBody>
      </p:sp>
      <p:sp>
        <p:nvSpPr>
          <p:cNvPr id="13" name="Text 11"/>
          <p:cNvSpPr txBox="1"/>
          <p:nvPr/>
        </p:nvSpPr>
        <p:spPr>
          <a:xfrm>
            <a:off x="4636008" y="2167128"/>
            <a:ext cx="4096512" cy="219456"/>
          </a:xfrm>
          <a:prstGeom prst="rect">
            <a:avLst/>
          </a:prstGeom>
          <a:noFill/>
          <a:ln/>
        </p:spPr>
        <p:txBody>
          <a:bodyPr wrap="square" lIns="0" tIns="0" rIns="0" bIns="0" rtlCol="0" anchor="ctr"/>
          <a:lstStyle/>
          <a:p>
            <a:pPr indent="0" marL="0">
              <a:buNone/>
            </a:pPr>
            <a:r>
              <a:rPr lang="en-US" sz="1000" b="1" dirty="0">
                <a:solidFill>
                  <a:srgbClr val="306998"/>
                </a:solidFill>
                <a:latin typeface="Calibri" pitchFamily="34" charset="0"/>
                <a:ea typeface="Calibri" pitchFamily="34" charset="-122"/>
                <a:cs typeface="Calibri" pitchFamily="34" charset="-120"/>
              </a:rPr>
              <a:t>while_fivetimes_v1_0_0.py</a:t>
            </a:r>
            <a:endParaRPr lang="en-US" sz="1000" dirty="0"/>
          </a:p>
        </p:txBody>
      </p:sp>
      <p:sp>
        <p:nvSpPr>
          <p:cNvPr id="14" name="Shape 12"/>
          <p:cNvSpPr/>
          <p:nvPr/>
        </p:nvSpPr>
        <p:spPr>
          <a:xfrm>
            <a:off x="4636008" y="2423160"/>
            <a:ext cx="4096512" cy="635000"/>
          </a:xfrm>
          <a:prstGeom prst="roundRect">
            <a:avLst>
              <a:gd name="adj" fmla="val 14400"/>
            </a:avLst>
          </a:prstGeom>
          <a:solidFill>
            <a:srgbClr val="17202B"/>
          </a:solidFill>
          <a:ln w="12700">
            <a:solidFill>
              <a:srgbClr val="17202B"/>
            </a:solidFill>
            <a:prstDash val="solid"/>
          </a:ln>
        </p:spPr>
      </p:sp>
      <p:sp>
        <p:nvSpPr>
          <p:cNvPr id="15" name="Text 13"/>
          <p:cNvSpPr txBox="1"/>
          <p:nvPr/>
        </p:nvSpPr>
        <p:spPr>
          <a:xfrm>
            <a:off x="4837176" y="2523744"/>
            <a:ext cx="3694176" cy="4338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spam = 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while spam &lt; 5:</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print('Hello, world.')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spam = spam + 1</a:t>
            </a:r>
            <a:endParaRPr lang="en-US" sz="700" dirty="0"/>
          </a:p>
        </p:txBody>
      </p:sp>
      <p:sp>
        <p:nvSpPr>
          <p:cNvPr id="16" name="Shape 14"/>
          <p:cNvSpPr/>
          <p:nvPr/>
        </p:nvSpPr>
        <p:spPr>
          <a:xfrm>
            <a:off x="4636008" y="3131312"/>
            <a:ext cx="4096512" cy="743458"/>
          </a:xfrm>
          <a:prstGeom prst="roundRect">
            <a:avLst>
              <a:gd name="adj" fmla="val 12299"/>
            </a:avLst>
          </a:prstGeom>
          <a:solidFill>
            <a:srgbClr val="0F1823"/>
          </a:solidFill>
          <a:ln w="12700">
            <a:solidFill>
              <a:srgbClr val="0F1823"/>
            </a:solidFill>
            <a:prstDash val="solid"/>
          </a:ln>
        </p:spPr>
      </p:sp>
      <p:sp>
        <p:nvSpPr>
          <p:cNvPr id="17" name="Text 15"/>
          <p:cNvSpPr txBox="1"/>
          <p:nvPr/>
        </p:nvSpPr>
        <p:spPr>
          <a:xfrm>
            <a:off x="4837176" y="3231896"/>
            <a:ext cx="3694176" cy="542290"/>
          </a:xfrm>
          <a:prstGeom prst="rect">
            <a:avLst/>
          </a:prstGeom>
          <a:noFill/>
          <a:ln/>
        </p:spPr>
        <p:txBody>
          <a:bodyPr wrap="square" lIns="0" tIns="0" rIns="0" bIns="0" rtlCol="0" anchor="t"/>
          <a:lstStyle/>
          <a:p>
            <a:pPr indent="0" marL="0">
              <a:buNone/>
            </a:pPr>
            <a:r>
              <a:rPr lang="en-US" sz="700" dirty="0">
                <a:solidFill>
                  <a:srgbClr val="7EE787"/>
                </a:solidFill>
                <a:latin typeface="Courier New" pitchFamily="34" charset="0"/>
                <a:ea typeface="Courier New" pitchFamily="34" charset="-122"/>
                <a:cs typeface="Courier New" pitchFamily="34" charset="-120"/>
              </a:rPr>
              <a:t>Hello, world.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 world.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 world.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 world.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 world.</a:t>
            </a:r>
            <a:endParaRPr lang="en-US" sz="700" dirty="0"/>
          </a:p>
        </p:txBody>
      </p:sp>
      <p:sp>
        <p:nvSpPr>
          <p:cNvPr id="18" name="Text 16"/>
          <p:cNvSpPr txBox="1"/>
          <p:nvPr/>
        </p:nvSpPr>
        <p:spPr>
          <a:xfrm>
            <a:off x="411480" y="389305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both programs run under Python 3.14.4; each output is the output of the program above it</a:t>
            </a:r>
            <a:endParaRPr lang="en-US" sz="900" dirty="0"/>
          </a:p>
        </p:txBody>
      </p:sp>
      <p:sp>
        <p:nvSpPr>
          <p:cNvPr id="19" name="Shape 17"/>
          <p:cNvSpPr/>
          <p:nvPr/>
        </p:nvSpPr>
        <p:spPr>
          <a:xfrm>
            <a:off x="411480" y="4222242"/>
            <a:ext cx="8321040" cy="578612"/>
          </a:xfrm>
          <a:prstGeom prst="roundRect">
            <a:avLst>
              <a:gd name="adj" fmla="val 12643"/>
            </a:avLst>
          </a:prstGeom>
          <a:solidFill>
            <a:srgbClr val="FFF1F0"/>
          </a:solidFill>
          <a:ln w="12700">
            <a:solidFill>
              <a:srgbClr val="FFD7D5"/>
            </a:solidFill>
            <a:prstDash val="solid"/>
          </a:ln>
        </p:spPr>
      </p:sp>
      <p:sp>
        <p:nvSpPr>
          <p:cNvPr id="20" name="Shape 18"/>
          <p:cNvSpPr/>
          <p:nvPr/>
        </p:nvSpPr>
        <p:spPr>
          <a:xfrm>
            <a:off x="411480" y="4222242"/>
            <a:ext cx="64008" cy="578612"/>
          </a:xfrm>
          <a:prstGeom prst="rect">
            <a:avLst/>
          </a:prstGeom>
          <a:solidFill>
            <a:srgbClr val="FF7B72"/>
          </a:solidFill>
          <a:ln w="12700">
            <a:solidFill>
              <a:srgbClr val="FF7B72"/>
            </a:solidFill>
            <a:prstDash val="solid"/>
          </a:ln>
        </p:spPr>
      </p:sp>
      <p:sp>
        <p:nvSpPr>
          <p:cNvPr id="21" name="Text 19"/>
          <p:cNvSpPr txBox="1"/>
          <p:nvPr/>
        </p:nvSpPr>
        <p:spPr>
          <a:xfrm>
            <a:off x="612648" y="4331970"/>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loop whose block changes nothing its test looks at never ends. In the while program above it is the line that adds one to the counter that finally makes the condition false.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iteration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execution of a loop's block</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iteration is a single execution of a loop's block. A loop that runs its block five times is said to make five iterations, and the book uses the word in exactly this sense when it explains that the condition of a while loop is checked at the start of each iteration (Sweigart, 2025). Counting iterations is how we reason about a loop: how many there will be, what changes from one to the next, and what the state of the program is when the last one finishes. A loop whose condition is false from the start makes no iteration at all.</a:t>
            </a:r>
            <a:endParaRPr lang="en-US" sz="1300" dirty="0"/>
          </a:p>
        </p:txBody>
      </p:sp>
      <p:sp>
        <p:nvSpPr>
          <p:cNvPr id="8" name="Shape 6"/>
          <p:cNvSpPr/>
          <p:nvPr/>
        </p:nvSpPr>
        <p:spPr>
          <a:xfrm>
            <a:off x="411480" y="2817876"/>
            <a:ext cx="4572000" cy="851916"/>
          </a:xfrm>
          <a:prstGeom prst="roundRect">
            <a:avLst>
              <a:gd name="adj" fmla="val 10733"/>
            </a:avLst>
          </a:prstGeom>
          <a:solidFill>
            <a:srgbClr val="17202B"/>
          </a:solidFill>
          <a:ln w="12700">
            <a:solidFill>
              <a:srgbClr val="17202B"/>
            </a:solidFill>
            <a:prstDash val="solid"/>
          </a:ln>
        </p:spPr>
      </p:sp>
      <p:sp>
        <p:nvSpPr>
          <p:cNvPr id="9" name="Text 7"/>
          <p:cNvSpPr txBox="1"/>
          <p:nvPr/>
        </p:nvSpPr>
        <p:spPr>
          <a:xfrm>
            <a:off x="612648" y="2918460"/>
            <a:ext cx="4169664" cy="650748"/>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while False: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print('never')</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print('done')</a:t>
            </a:r>
            <a:endParaRPr lang="en-US" sz="1400" dirty="0"/>
          </a:p>
        </p:txBody>
      </p:sp>
      <p:sp>
        <p:nvSpPr>
          <p:cNvPr id="10" name="Shape 8"/>
          <p:cNvSpPr/>
          <p:nvPr/>
        </p:nvSpPr>
        <p:spPr>
          <a:xfrm>
            <a:off x="5166360" y="2817876"/>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918460"/>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done</a:t>
            </a:r>
            <a:endParaRPr lang="en-US" sz="1400" dirty="0"/>
          </a:p>
        </p:txBody>
      </p:sp>
      <p:sp>
        <p:nvSpPr>
          <p:cNvPr id="12" name="Text 10"/>
          <p:cNvSpPr txBox="1"/>
          <p:nvPr/>
        </p:nvSpPr>
        <p:spPr>
          <a:xfrm>
            <a:off x="411480" y="368808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while_skipped_v1_0_0.py, run under Python 3.14.4</a:t>
            </a:r>
            <a:endParaRPr lang="en-US" sz="900" dirty="0"/>
          </a:p>
        </p:txBody>
      </p:sp>
      <p:sp>
        <p:nvSpPr>
          <p:cNvPr id="13" name="Shape 11"/>
          <p:cNvSpPr/>
          <p:nvPr/>
        </p:nvSpPr>
        <p:spPr>
          <a:xfrm>
            <a:off x="411480" y="4017264"/>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17264"/>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2699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number of iterations is not the same as the last value of a counter. After a loop over the first five whole numbers the variable holds 4, because counting started at 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condition loop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while, and the loop whose test can never fail</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condition loop is a loop whose length is decided by a test instead of by a count. The while statement is the loop of this kind, and the infinite loop is the special case in which the test can never fail (Sweigart, 2025). Many real tasks do not come with a known number of repetitions: a program that asks for a password until the right one arrives, or plays a game until the player quits, cannot say in advance how long it will run, because the answer depends on what the user does. In both sections the condition is evaluated at the start of every iteration.</a:t>
            </a:r>
            <a:endParaRPr lang="en-US" sz="1300" dirty="0"/>
          </a:p>
        </p:txBody>
      </p:sp>
      <p:sp>
        <p:nvSpPr>
          <p:cNvPr id="8" name="Shape 6"/>
          <p:cNvSpPr/>
          <p:nvPr/>
        </p:nvSpPr>
        <p:spPr>
          <a:xfrm>
            <a:off x="411480" y="2817876"/>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918460"/>
            <a:ext cx="4169664" cy="108458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name = ''</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while name != 'your name':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print('Please type your name.')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name = input('&gt;')</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print('Thank you!')</a:t>
            </a:r>
            <a:endParaRPr lang="en-US" sz="1400" dirty="0"/>
          </a:p>
        </p:txBody>
      </p:sp>
      <p:sp>
        <p:nvSpPr>
          <p:cNvPr id="10" name="Shape 8"/>
          <p:cNvSpPr/>
          <p:nvPr/>
        </p:nvSpPr>
        <p:spPr>
          <a:xfrm>
            <a:off x="5166360" y="2817876"/>
            <a:ext cx="3566160" cy="1719580"/>
          </a:xfrm>
          <a:prstGeom prst="roundRect">
            <a:avLst>
              <a:gd name="adj" fmla="val 5318"/>
            </a:avLst>
          </a:prstGeom>
          <a:solidFill>
            <a:srgbClr val="0F1823"/>
          </a:solidFill>
          <a:ln w="12700">
            <a:solidFill>
              <a:srgbClr val="0F1823"/>
            </a:solidFill>
            <a:prstDash val="solid"/>
          </a:ln>
        </p:spPr>
      </p:sp>
      <p:sp>
        <p:nvSpPr>
          <p:cNvPr id="11" name="Text 9"/>
          <p:cNvSpPr txBox="1"/>
          <p:nvPr/>
        </p:nvSpPr>
        <p:spPr>
          <a:xfrm>
            <a:off x="5367528" y="2918460"/>
            <a:ext cx="3163824" cy="151841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Please type your name.</a:t>
            </a:r>
            <a:endParaRPr lang="en-US" sz="1400" dirty="0"/>
          </a:p>
          <a:p>
            <a:pPr indent="0" marL="0">
              <a:buNone/>
            </a:pPr>
            <a:r>
              <a:rPr lang="en-US" sz="1400" dirty="0">
                <a:solidFill>
                  <a:srgbClr val="FFD43B"/>
                </a:solidFill>
                <a:latin typeface="Courier New" pitchFamily="34" charset="0"/>
                <a:ea typeface="Courier New" pitchFamily="34" charset="-122"/>
                <a:cs typeface="Courier New" pitchFamily="34" charset="-120"/>
              </a:rPr>
              <a:t>&gt;Al</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Please type your name.</a:t>
            </a:r>
            <a:endParaRPr lang="en-US" sz="1400" dirty="0"/>
          </a:p>
          <a:p>
            <a:pPr indent="0" marL="0">
              <a:buNone/>
            </a:pPr>
            <a:r>
              <a:rPr lang="en-US" sz="1400" dirty="0">
                <a:solidFill>
                  <a:srgbClr val="FFD43B"/>
                </a:solidFill>
                <a:latin typeface="Courier New" pitchFamily="34" charset="0"/>
                <a:ea typeface="Courier New" pitchFamily="34" charset="-122"/>
                <a:cs typeface="Courier New" pitchFamily="34" charset="-120"/>
              </a:rPr>
              <a:t>&gt;Albert</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Please type your name.</a:t>
            </a:r>
            <a:endParaRPr lang="en-US" sz="1400" dirty="0"/>
          </a:p>
          <a:p>
            <a:pPr indent="0" marL="0">
              <a:buNone/>
            </a:pPr>
            <a:r>
              <a:rPr lang="en-US" sz="1400" dirty="0">
                <a:solidFill>
                  <a:srgbClr val="FFD43B"/>
                </a:solidFill>
                <a:latin typeface="Courier New" pitchFamily="34" charset="0"/>
                <a:ea typeface="Courier New" pitchFamily="34" charset="-122"/>
                <a:cs typeface="Courier New" pitchFamily="34" charset="-120"/>
              </a:rPr>
              <a:t>&gt;your name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Thank you!</a:t>
            </a:r>
            <a:endParaRPr lang="en-US" sz="1400" dirty="0"/>
          </a:p>
        </p:txBody>
      </p:sp>
      <p:sp>
        <p:nvSpPr>
          <p:cNvPr id="12" name="Text 10"/>
          <p:cNvSpPr txBox="1"/>
          <p:nvPr/>
        </p:nvSpPr>
        <p:spPr>
          <a:xfrm>
            <a:off x="411480" y="455574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yourname_v1_0_0.py, run under Python 3.14.4; typed input in yellow</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while statement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Repeat while the condition is true</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while statement repeats its block for as long as its condition is true. It consists of the while keyword, a condition, a colon and an indented block, which the book calls the while clause (Sweigart, 2025). It is the loop for situations in which the data decides when to stop. At the start of every iteration Python evaluates the condition; if it is true the block runs and execution jumps back to the condition, and the first time it is false the clause is skipped. The condition need not be a comparison, because the truthiness rule of chapter 2 applies here too.</a:t>
            </a:r>
            <a:endParaRPr lang="en-US" sz="900" dirty="0"/>
          </a:p>
        </p:txBody>
      </p:sp>
      <p:sp>
        <p:nvSpPr>
          <p:cNvPr id="8" name="Shape 6"/>
          <p:cNvSpPr/>
          <p:nvPr/>
        </p:nvSpPr>
        <p:spPr>
          <a:xfrm>
            <a:off x="411480" y="2306574"/>
            <a:ext cx="4572000"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612648" y="2407158"/>
            <a:ext cx="4169664" cy="1115568"/>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while True: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print('Please type your 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name = input('&gt;')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if name == 'your 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print('Thank you!')</a:t>
            </a:r>
            <a:endParaRPr lang="en-US" sz="1200" dirty="0"/>
          </a:p>
        </p:txBody>
      </p:sp>
      <p:sp>
        <p:nvSpPr>
          <p:cNvPr id="10" name="Shape 8"/>
          <p:cNvSpPr/>
          <p:nvPr/>
        </p:nvSpPr>
        <p:spPr>
          <a:xfrm>
            <a:off x="5166360" y="2306574"/>
            <a:ext cx="3566160" cy="1130808"/>
          </a:xfrm>
          <a:prstGeom prst="roundRect">
            <a:avLst>
              <a:gd name="adj" fmla="val 8086"/>
            </a:avLst>
          </a:prstGeom>
          <a:solidFill>
            <a:srgbClr val="0F1823"/>
          </a:solidFill>
          <a:ln w="12700">
            <a:solidFill>
              <a:srgbClr val="0F1823"/>
            </a:solidFill>
            <a:prstDash val="solid"/>
          </a:ln>
        </p:spPr>
      </p:sp>
      <p:sp>
        <p:nvSpPr>
          <p:cNvPr id="11" name="Text 9"/>
          <p:cNvSpPr txBox="1"/>
          <p:nvPr/>
        </p:nvSpPr>
        <p:spPr>
          <a:xfrm>
            <a:off x="5367528" y="2407158"/>
            <a:ext cx="3163824" cy="929640"/>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Please type your name.</a:t>
            </a:r>
            <a:endParaRPr lang="en-US" sz="1200" dirty="0"/>
          </a:p>
          <a:p>
            <a:pPr indent="0" marL="0">
              <a:buNone/>
            </a:pPr>
            <a:r>
              <a:rPr lang="en-US" sz="1200" dirty="0">
                <a:solidFill>
                  <a:srgbClr val="FFD43B"/>
                </a:solidFill>
                <a:latin typeface="Courier New" pitchFamily="34" charset="0"/>
                <a:ea typeface="Courier New" pitchFamily="34" charset="-122"/>
                <a:cs typeface="Courier New" pitchFamily="34" charset="-120"/>
              </a:rPr>
              <a:t>&gt;Al</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Please type your name.</a:t>
            </a:r>
            <a:endParaRPr lang="en-US" sz="1200" dirty="0"/>
          </a:p>
          <a:p>
            <a:pPr indent="0" marL="0">
              <a:buNone/>
            </a:pPr>
            <a:r>
              <a:rPr lang="en-US" sz="1200" dirty="0">
                <a:solidFill>
                  <a:srgbClr val="FFD43B"/>
                </a:solidFill>
                <a:latin typeface="Courier New" pitchFamily="34" charset="0"/>
                <a:ea typeface="Courier New" pitchFamily="34" charset="-122"/>
                <a:cs typeface="Courier New" pitchFamily="34" charset="-120"/>
              </a:rPr>
              <a:t>&gt;your name</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Thank you!</a:t>
            </a:r>
            <a:endParaRPr lang="en-US" sz="1200" dirty="0"/>
          </a:p>
        </p:txBody>
      </p:sp>
      <p:sp>
        <p:nvSpPr>
          <p:cNvPr id="12" name="Text 10"/>
          <p:cNvSpPr txBox="1"/>
          <p:nvPr/>
        </p:nvSpPr>
        <p:spPr>
          <a:xfrm>
            <a:off x="411480" y="364159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yourname2_v1_0_0.py, run under Python 3.14.4; typed input in yellow</a:t>
            </a:r>
            <a:endParaRPr lang="en-US" sz="900" dirty="0"/>
          </a:p>
        </p:txBody>
      </p:sp>
      <p:sp>
        <p:nvSpPr>
          <p:cNvPr id="13" name="Shape 11"/>
          <p:cNvSpPr/>
          <p:nvPr/>
        </p:nvSpPr>
        <p:spPr>
          <a:xfrm>
            <a:off x="411480" y="3970782"/>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970782"/>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4080510"/>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Three errors are typical: nothing in the block can make the condition false, so the loop never ends; the condition is false the very first time, so the block never runs; or the variable in the condition was never assigned, so Python stops before the first iteration.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infinite loop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condition that can never end the loop</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An infinite loop is a loop whose condition is always true, and the plainest form is while True. The book is careful to say that an infinite loop that never exits is a common programming bug, and it also uses the form on purpose (Sweigart, 2025). A deliberate infinite loop is useful when the natural place to decide about stopping is in the middle of the block rather than at its top. Because the test cannot end the loop, it can only be left from inside the block: by break, by a return, by a call that ends the program, or by an exception nobody handles.</a:t>
            </a:r>
            <a:endParaRPr lang="en-US" sz="900" dirty="0"/>
          </a:p>
        </p:txBody>
      </p:sp>
      <p:sp>
        <p:nvSpPr>
          <p:cNvPr id="8" name="Shape 6"/>
          <p:cNvSpPr/>
          <p:nvPr/>
        </p:nvSpPr>
        <p:spPr>
          <a:xfrm>
            <a:off x="411480" y="2167128"/>
            <a:ext cx="4572000"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612648" y="2267712"/>
            <a:ext cx="4169664" cy="1115568"/>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n = 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while True: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 = n + 1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if n == 3:</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print(n)</a:t>
            </a:r>
            <a:endParaRPr lang="en-US" sz="1200" dirty="0"/>
          </a:p>
        </p:txBody>
      </p:sp>
      <p:sp>
        <p:nvSpPr>
          <p:cNvPr id="10" name="Shape 8"/>
          <p:cNvSpPr/>
          <p:nvPr/>
        </p:nvSpPr>
        <p:spPr>
          <a:xfrm>
            <a:off x="5166360" y="2167128"/>
            <a:ext cx="3566160" cy="387096"/>
          </a:xfrm>
          <a:prstGeom prst="roundRect">
            <a:avLst>
              <a:gd name="adj" fmla="val 23622"/>
            </a:avLst>
          </a:prstGeom>
          <a:solidFill>
            <a:srgbClr val="0F1823"/>
          </a:solidFill>
          <a:ln w="12700">
            <a:solidFill>
              <a:srgbClr val="0F1823"/>
            </a:solidFill>
            <a:prstDash val="solid"/>
          </a:ln>
        </p:spPr>
      </p:sp>
      <p:sp>
        <p:nvSpPr>
          <p:cNvPr id="11" name="Text 9"/>
          <p:cNvSpPr txBox="1"/>
          <p:nvPr/>
        </p:nvSpPr>
        <p:spPr>
          <a:xfrm>
            <a:off x="5367528" y="2267712"/>
            <a:ext cx="3163824" cy="185928"/>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3</a:t>
            </a:r>
            <a:endParaRPr lang="en-US" sz="1200" dirty="0"/>
          </a:p>
        </p:txBody>
      </p:sp>
      <p:sp>
        <p:nvSpPr>
          <p:cNvPr id="12" name="Text 10"/>
          <p:cNvSpPr txBox="1"/>
          <p:nvPr/>
        </p:nvSpPr>
        <p:spPr>
          <a:xfrm>
            <a:off x="411480" y="350215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break3_v1_0_0.py, run under Python 3.14.4</a:t>
            </a:r>
            <a:endParaRPr lang="en-US" sz="900" dirty="0"/>
          </a:p>
        </p:txBody>
      </p:sp>
      <p:sp>
        <p:nvSpPr>
          <p:cNvPr id="13" name="Shape 11"/>
          <p:cNvSpPr/>
          <p:nvPr/>
        </p:nvSpPr>
        <p:spPr>
          <a:xfrm>
            <a:off x="411480" y="3831336"/>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31336"/>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41064"/>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loop that was meant to end but cannot is a bug: the program appears to hang or to print without end. Whenever you write a loop with a condition that is always true, make sure at least one exit is reachable on every path through the block.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counted loop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for, the while loop it replaces, and the accumulator</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counted loop is a loop whose number of iterations is fixed before it starts, because it walks through a sequence of values that already exists. The for statement is the loop of this kind (Sweigart, 2025). When the work is to be done once per item, or a given number of times, a counted loop spares the author the bookkeeping a condition loop needs: no variable has to be set before the loop, tested in a condition and increased at the end of the block. The statement does that itself, and there is one less place for a mistake.</a:t>
            </a:r>
            <a:endParaRPr lang="en-US" sz="1300" dirty="0"/>
          </a:p>
        </p:txBody>
      </p:sp>
      <p:sp>
        <p:nvSpPr>
          <p:cNvPr id="8" name="Shape 6"/>
          <p:cNvSpPr/>
          <p:nvPr/>
        </p:nvSpPr>
        <p:spPr>
          <a:xfrm>
            <a:off x="411480" y="2817876"/>
            <a:ext cx="4572000" cy="820928"/>
          </a:xfrm>
          <a:prstGeom prst="roundRect">
            <a:avLst>
              <a:gd name="adj" fmla="val 11139"/>
            </a:avLst>
          </a:prstGeom>
          <a:solidFill>
            <a:srgbClr val="17202B"/>
          </a:solidFill>
          <a:ln w="12700">
            <a:solidFill>
              <a:srgbClr val="17202B"/>
            </a:solidFill>
            <a:prstDash val="solid"/>
          </a:ln>
        </p:spPr>
      </p:sp>
      <p:sp>
        <p:nvSpPr>
          <p:cNvPr id="9" name="Text 7"/>
          <p:cNvSpPr txBox="1"/>
          <p:nvPr/>
        </p:nvSpPr>
        <p:spPr>
          <a:xfrm>
            <a:off x="612648" y="2918460"/>
            <a:ext cx="4169664" cy="61976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print('Hello!')</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i in range(5):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print('On this iteration, i is set to ' + str(i))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print('Goodbye!')</a:t>
            </a:r>
            <a:endParaRPr lang="en-US" sz="1000" dirty="0"/>
          </a:p>
        </p:txBody>
      </p:sp>
      <p:sp>
        <p:nvSpPr>
          <p:cNvPr id="10" name="Shape 8"/>
          <p:cNvSpPr/>
          <p:nvPr/>
        </p:nvSpPr>
        <p:spPr>
          <a:xfrm>
            <a:off x="5166360" y="2817876"/>
            <a:ext cx="3566160" cy="1285748"/>
          </a:xfrm>
          <a:prstGeom prst="roundRect">
            <a:avLst>
              <a:gd name="adj" fmla="val 7112"/>
            </a:avLst>
          </a:prstGeom>
          <a:solidFill>
            <a:srgbClr val="0F1823"/>
          </a:solidFill>
          <a:ln w="12700">
            <a:solidFill>
              <a:srgbClr val="0F1823"/>
            </a:solidFill>
            <a:prstDash val="solid"/>
          </a:ln>
        </p:spPr>
      </p:sp>
      <p:sp>
        <p:nvSpPr>
          <p:cNvPr id="11" name="Text 9"/>
          <p:cNvSpPr txBox="1"/>
          <p:nvPr/>
        </p:nvSpPr>
        <p:spPr>
          <a:xfrm>
            <a:off x="5367528" y="2918460"/>
            <a:ext cx="3163824" cy="108458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Hello!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Goodbye!</a:t>
            </a:r>
            <a:endParaRPr lang="en-US" sz="1000" dirty="0"/>
          </a:p>
        </p:txBody>
      </p:sp>
      <p:sp>
        <p:nvSpPr>
          <p:cNvPr id="12" name="Text 10"/>
          <p:cNvSpPr txBox="1"/>
          <p:nvPr/>
        </p:nvSpPr>
        <p:spPr>
          <a:xfrm>
            <a:off x="411480" y="412191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fivetimes_for_v1_0_0.py, run under Python 3.14.4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for statement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Once for each item of an iterable</a:t>
            </a:r>
            <a:endParaRPr lang="en-US" sz="1300" dirty="0"/>
          </a:p>
        </p:txBody>
      </p:sp>
      <p:sp>
        <p:nvSpPr>
          <p:cNvPr id="6" name="Shape 4"/>
          <p:cNvSpPr/>
          <p:nvPr/>
        </p:nvSpPr>
        <p:spPr>
          <a:xfrm>
            <a:off x="411480" y="1152144"/>
            <a:ext cx="8321040" cy="1122172"/>
          </a:xfrm>
          <a:prstGeom prst="roundRect">
            <a:avLst>
              <a:gd name="adj" fmla="val 8148"/>
            </a:avLst>
          </a:prstGeom>
          <a:solidFill>
            <a:srgbClr val="F1F4F8"/>
          </a:solidFill>
          <a:ln w="12700">
            <a:solidFill>
              <a:srgbClr val="F1F4F8"/>
            </a:solidFill>
            <a:prstDash val="solid"/>
          </a:ln>
        </p:spPr>
      </p:sp>
      <p:sp>
        <p:nvSpPr>
          <p:cNvPr id="7" name="Text 5"/>
          <p:cNvSpPr txBox="1"/>
          <p:nvPr/>
        </p:nvSpPr>
        <p:spPr>
          <a:xfrm>
            <a:off x="594360" y="1280160"/>
            <a:ext cx="7955280" cy="86614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A for statement runs its block once for each item of an iterable, assigning the item to its loop variable before each run. The book describes the statement as the for keyword, a variable name, the in keyword, a call to range with up to three integers, a colon and an indented block; the language reference generalises it to any iterable object (Python Software Foundation, 2026). The reference also gives the exact order of events: the expression after in is evaluated once, Python creates an iterator for it, each item is assigned to the target and the block is executed, and the loop ends when there are no more items.</a:t>
            </a:r>
            <a:endParaRPr lang="en-US" sz="1000" dirty="0"/>
          </a:p>
        </p:txBody>
      </p:sp>
      <p:sp>
        <p:nvSpPr>
          <p:cNvPr id="8" name="Shape 6"/>
          <p:cNvSpPr/>
          <p:nvPr/>
        </p:nvSpPr>
        <p:spPr>
          <a:xfrm>
            <a:off x="411480" y="2384044"/>
            <a:ext cx="4572000" cy="1130808"/>
          </a:xfrm>
          <a:prstGeom prst="roundRect">
            <a:avLst>
              <a:gd name="adj" fmla="val 8086"/>
            </a:avLst>
          </a:prstGeom>
          <a:solidFill>
            <a:srgbClr val="17202B"/>
          </a:solidFill>
          <a:ln w="12700">
            <a:solidFill>
              <a:srgbClr val="17202B"/>
            </a:solidFill>
            <a:prstDash val="solid"/>
          </a:ln>
        </p:spPr>
      </p:sp>
      <p:sp>
        <p:nvSpPr>
          <p:cNvPr id="9" name="Text 7"/>
          <p:cNvSpPr txBox="1"/>
          <p:nvPr/>
        </p:nvSpPr>
        <p:spPr>
          <a:xfrm>
            <a:off x="612648" y="2484628"/>
            <a:ext cx="4169664" cy="92964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print('Hello!')</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 = 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while i &lt; 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print('On this iteration, i is set to ' + str(i))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 = i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print('Goodbye!')</a:t>
            </a:r>
            <a:endParaRPr lang="en-US" sz="1000" dirty="0"/>
          </a:p>
        </p:txBody>
      </p:sp>
      <p:sp>
        <p:nvSpPr>
          <p:cNvPr id="10" name="Shape 8"/>
          <p:cNvSpPr/>
          <p:nvPr/>
        </p:nvSpPr>
        <p:spPr>
          <a:xfrm>
            <a:off x="5166360" y="2384044"/>
            <a:ext cx="3566160" cy="1285748"/>
          </a:xfrm>
          <a:prstGeom prst="roundRect">
            <a:avLst>
              <a:gd name="adj" fmla="val 7112"/>
            </a:avLst>
          </a:prstGeom>
          <a:solidFill>
            <a:srgbClr val="0F1823"/>
          </a:solidFill>
          <a:ln w="12700">
            <a:solidFill>
              <a:srgbClr val="0F1823"/>
            </a:solidFill>
            <a:prstDash val="solid"/>
          </a:ln>
        </p:spPr>
      </p:sp>
      <p:sp>
        <p:nvSpPr>
          <p:cNvPr id="11" name="Text 9"/>
          <p:cNvSpPr txBox="1"/>
          <p:nvPr/>
        </p:nvSpPr>
        <p:spPr>
          <a:xfrm>
            <a:off x="5367528" y="2484628"/>
            <a:ext cx="3163824" cy="108458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Hello!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Goodbye!</a:t>
            </a:r>
            <a:endParaRPr lang="en-US" sz="1000" dirty="0"/>
          </a:p>
        </p:txBody>
      </p:sp>
      <p:sp>
        <p:nvSpPr>
          <p:cNvPr id="12" name="Text 10"/>
          <p:cNvSpPr txBox="1"/>
          <p:nvPr/>
        </p:nvSpPr>
        <p:spPr>
          <a:xfrm>
            <a:off x="411480" y="368808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fivetimes_while_v1_0_0.py, run under Python 3.14.4</a:t>
            </a:r>
            <a:endParaRPr lang="en-US" sz="900" dirty="0"/>
          </a:p>
        </p:txBody>
      </p:sp>
      <p:sp>
        <p:nvSpPr>
          <p:cNvPr id="13" name="Shape 11"/>
          <p:cNvSpPr/>
          <p:nvPr/>
        </p:nvSpPr>
        <p:spPr>
          <a:xfrm>
            <a:off x="411480" y="4017264"/>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17264"/>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2699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Assigning to the loop variable inside the block does not change the iteration: the next item overwrites it. The sequence must also be iterable, so for i in 5 fails with a TypeError.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equivalent while loop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bookkeeping a for statement does for you</a:t>
            </a:r>
            <a:endParaRPr lang="en-US" sz="1300" dirty="0"/>
          </a:p>
        </p:txBody>
      </p:sp>
      <p:sp>
        <p:nvSpPr>
          <p:cNvPr id="6" name="Shape 4"/>
          <p:cNvSpPr/>
          <p:nvPr/>
        </p:nvSpPr>
        <p:spPr>
          <a:xfrm>
            <a:off x="411480" y="1152144"/>
            <a:ext cx="8321040" cy="1122172"/>
          </a:xfrm>
          <a:prstGeom prst="roundRect">
            <a:avLst>
              <a:gd name="adj" fmla="val 8148"/>
            </a:avLst>
          </a:prstGeom>
          <a:solidFill>
            <a:srgbClr val="F1F4F8"/>
          </a:solidFill>
          <a:ln w="12700">
            <a:solidFill>
              <a:srgbClr val="F1F4F8"/>
            </a:solidFill>
            <a:prstDash val="solid"/>
          </a:ln>
        </p:spPr>
      </p:sp>
      <p:sp>
        <p:nvSpPr>
          <p:cNvPr id="7" name="Text 5"/>
          <p:cNvSpPr txBox="1"/>
          <p:nvPr/>
        </p:nvSpPr>
        <p:spPr>
          <a:xfrm>
            <a:off x="594360" y="1280160"/>
            <a:ext cx="7955280" cy="86614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The equivalent while loop is the rewriting of a for loop over a range as a while loop with an explicit counter: the counter is given its first value before the loop, the condition compares it with the limit, and the last line of the block increases it. The book presents the rewriting to show that for loops are just more concise and that a while loop can do the same thing (Sweigart, 2025). Writing the loop out by hand exposes the three places a counting while loop can go wrong, and so explains the book's advice: for a specific number of times use for, and for as long as a condition holds use while.</a:t>
            </a:r>
            <a:endParaRPr lang="en-US" sz="1000" dirty="0"/>
          </a:p>
        </p:txBody>
      </p:sp>
      <p:sp>
        <p:nvSpPr>
          <p:cNvPr id="8" name="Shape 6"/>
          <p:cNvSpPr/>
          <p:nvPr/>
        </p:nvSpPr>
        <p:spPr>
          <a:xfrm>
            <a:off x="411480" y="2384044"/>
            <a:ext cx="4572000" cy="820928"/>
          </a:xfrm>
          <a:prstGeom prst="roundRect">
            <a:avLst>
              <a:gd name="adj" fmla="val 11139"/>
            </a:avLst>
          </a:prstGeom>
          <a:solidFill>
            <a:srgbClr val="17202B"/>
          </a:solidFill>
          <a:ln w="12700">
            <a:solidFill>
              <a:srgbClr val="17202B"/>
            </a:solidFill>
            <a:prstDash val="solid"/>
          </a:ln>
        </p:spPr>
      </p:sp>
      <p:sp>
        <p:nvSpPr>
          <p:cNvPr id="9" name="Text 7"/>
          <p:cNvSpPr txBox="1"/>
          <p:nvPr/>
        </p:nvSpPr>
        <p:spPr>
          <a:xfrm>
            <a:off x="612648" y="2484628"/>
            <a:ext cx="4169664" cy="61976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print('Hello!')</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i in range(5):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print('On this iteration, i is set to ' + str(i))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print('Goodbye!')</a:t>
            </a:r>
            <a:endParaRPr lang="en-US" sz="1000" dirty="0"/>
          </a:p>
        </p:txBody>
      </p:sp>
      <p:sp>
        <p:nvSpPr>
          <p:cNvPr id="10" name="Shape 8"/>
          <p:cNvSpPr/>
          <p:nvPr/>
        </p:nvSpPr>
        <p:spPr>
          <a:xfrm>
            <a:off x="5166360" y="2384044"/>
            <a:ext cx="3566160" cy="1285748"/>
          </a:xfrm>
          <a:prstGeom prst="roundRect">
            <a:avLst>
              <a:gd name="adj" fmla="val 7112"/>
            </a:avLst>
          </a:prstGeom>
          <a:solidFill>
            <a:srgbClr val="0F1823"/>
          </a:solidFill>
          <a:ln w="12700">
            <a:solidFill>
              <a:srgbClr val="0F1823"/>
            </a:solidFill>
            <a:prstDash val="solid"/>
          </a:ln>
        </p:spPr>
      </p:sp>
      <p:sp>
        <p:nvSpPr>
          <p:cNvPr id="11" name="Text 9"/>
          <p:cNvSpPr txBox="1"/>
          <p:nvPr/>
        </p:nvSpPr>
        <p:spPr>
          <a:xfrm>
            <a:off x="5367528" y="2484628"/>
            <a:ext cx="3163824" cy="108458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Hello!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On this iteration, i is set to 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Goodbye!</a:t>
            </a:r>
            <a:endParaRPr lang="en-US" sz="1000" dirty="0"/>
          </a:p>
        </p:txBody>
      </p:sp>
      <p:sp>
        <p:nvSpPr>
          <p:cNvPr id="12" name="Text 10"/>
          <p:cNvSpPr txBox="1"/>
          <p:nvPr/>
        </p:nvSpPr>
        <p:spPr>
          <a:xfrm>
            <a:off x="411480" y="368808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fivetimes_for_v1_0_0.py, run under Python 3.14.4</a:t>
            </a:r>
            <a:endParaRPr lang="en-US" sz="900" dirty="0"/>
          </a:p>
        </p:txBody>
      </p:sp>
      <p:sp>
        <p:nvSpPr>
          <p:cNvPr id="13" name="Shape 11"/>
          <p:cNvSpPr/>
          <p:nvPr/>
        </p:nvSpPr>
        <p:spPr>
          <a:xfrm>
            <a:off x="411480" y="4017264"/>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17264"/>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2699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rewriting hides a trap the for loop does not have: a continue placed before the line that increases the counter leaves the counter unchanged, and the loop repeats the same iteration without end.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accumulator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variable that remembers across iterations</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An accumulator is a variable that collects a result across the iterations of a loop. It is given a known starting value before the loop, such as zero for a sum, and every iteration updates it with the current item; when the loop ends it holds the combined result. A loop by itself repeats work but forgets what it has done, so a variable outside the loop is needed to remember. The book's example is the story of the young Gauss, told to add the numbers from nought to a hundred, and the built-in function sum returns the same total because it performs the accumulation itself.</a:t>
            </a:r>
            <a:endParaRPr lang="en-US" sz="900" dirty="0"/>
          </a:p>
        </p:txBody>
      </p:sp>
      <p:sp>
        <p:nvSpPr>
          <p:cNvPr id="8" name="Text 6"/>
          <p:cNvSpPr txBox="1"/>
          <p:nvPr/>
        </p:nvSpPr>
        <p:spPr>
          <a:xfrm>
            <a:off x="411480" y="2306574"/>
            <a:ext cx="4096512" cy="219456"/>
          </a:xfrm>
          <a:prstGeom prst="rect">
            <a:avLst/>
          </a:prstGeom>
          <a:noFill/>
          <a:ln/>
        </p:spPr>
        <p:txBody>
          <a:bodyPr wrap="square" lIns="0" tIns="0" rIns="0" bIns="0" rtlCol="0" anchor="ctr"/>
          <a:lstStyle/>
          <a:p>
            <a:pPr indent="0" marL="0">
              <a:buNone/>
            </a:pPr>
            <a:r>
              <a:rPr lang="en-US" sz="1000" b="1" dirty="0">
                <a:solidFill>
                  <a:srgbClr val="306998"/>
                </a:solidFill>
                <a:latin typeface="Calibri" pitchFamily="34" charset="0"/>
                <a:ea typeface="Calibri" pitchFamily="34" charset="-122"/>
                <a:cs typeface="Calibri" pitchFamily="34" charset="-120"/>
              </a:rPr>
              <a:t>gauss_v1_0_0.py</a:t>
            </a:r>
            <a:endParaRPr lang="en-US" sz="1000" dirty="0"/>
          </a:p>
        </p:txBody>
      </p:sp>
      <p:sp>
        <p:nvSpPr>
          <p:cNvPr id="9" name="Shape 7"/>
          <p:cNvSpPr/>
          <p:nvPr/>
        </p:nvSpPr>
        <p:spPr>
          <a:xfrm>
            <a:off x="411480" y="2562606"/>
            <a:ext cx="4096512" cy="696976"/>
          </a:xfrm>
          <a:prstGeom prst="roundRect">
            <a:avLst>
              <a:gd name="adj" fmla="val 13120"/>
            </a:avLst>
          </a:prstGeom>
          <a:solidFill>
            <a:srgbClr val="17202B"/>
          </a:solidFill>
          <a:ln w="12700">
            <a:solidFill>
              <a:srgbClr val="17202B"/>
            </a:solidFill>
            <a:prstDash val="solid"/>
          </a:ln>
        </p:spPr>
      </p:sp>
      <p:sp>
        <p:nvSpPr>
          <p:cNvPr id="10" name="Text 8"/>
          <p:cNvSpPr txBox="1"/>
          <p:nvPr/>
        </p:nvSpPr>
        <p:spPr>
          <a:xfrm>
            <a:off x="612648" y="2663190"/>
            <a:ext cx="3694176" cy="49580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total = 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for num in range(101):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total = total + num</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print(total)</a:t>
            </a:r>
            <a:endParaRPr lang="en-US" sz="800" dirty="0"/>
          </a:p>
        </p:txBody>
      </p:sp>
      <p:sp>
        <p:nvSpPr>
          <p:cNvPr id="11" name="Shape 9"/>
          <p:cNvSpPr/>
          <p:nvPr/>
        </p:nvSpPr>
        <p:spPr>
          <a:xfrm>
            <a:off x="411480" y="3332734"/>
            <a:ext cx="4096512" cy="325120"/>
          </a:xfrm>
          <a:prstGeom prst="roundRect">
            <a:avLst>
              <a:gd name="adj" fmla="val 28125"/>
            </a:avLst>
          </a:prstGeom>
          <a:solidFill>
            <a:srgbClr val="0F1823"/>
          </a:solidFill>
          <a:ln w="12700">
            <a:solidFill>
              <a:srgbClr val="0F1823"/>
            </a:solidFill>
            <a:prstDash val="solid"/>
          </a:ln>
        </p:spPr>
      </p:sp>
      <p:sp>
        <p:nvSpPr>
          <p:cNvPr id="12" name="Text 10"/>
          <p:cNvSpPr txBox="1"/>
          <p:nvPr/>
        </p:nvSpPr>
        <p:spPr>
          <a:xfrm>
            <a:off x="612648" y="3433318"/>
            <a:ext cx="3694176" cy="123952"/>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5050</a:t>
            </a:r>
            <a:endParaRPr lang="en-US" sz="800" dirty="0"/>
          </a:p>
        </p:txBody>
      </p:sp>
      <p:sp>
        <p:nvSpPr>
          <p:cNvPr id="13" name="Text 11"/>
          <p:cNvSpPr txBox="1"/>
          <p:nvPr/>
        </p:nvSpPr>
        <p:spPr>
          <a:xfrm>
            <a:off x="4636008" y="2306574"/>
            <a:ext cx="4096512" cy="219456"/>
          </a:xfrm>
          <a:prstGeom prst="rect">
            <a:avLst/>
          </a:prstGeom>
          <a:noFill/>
          <a:ln/>
        </p:spPr>
        <p:txBody>
          <a:bodyPr wrap="square" lIns="0" tIns="0" rIns="0" bIns="0" rtlCol="0" anchor="ctr"/>
          <a:lstStyle/>
          <a:p>
            <a:pPr indent="0" marL="0">
              <a:buNone/>
            </a:pPr>
            <a:r>
              <a:rPr lang="en-US" sz="1000" b="1" dirty="0">
                <a:solidFill>
                  <a:srgbClr val="306998"/>
                </a:solidFill>
                <a:latin typeface="Calibri" pitchFamily="34" charset="0"/>
                <a:ea typeface="Calibri" pitchFamily="34" charset="-122"/>
                <a:cs typeface="Calibri" pitchFamily="34" charset="-120"/>
              </a:rPr>
              <a:t>gauss_reset_v1_0_0.py</a:t>
            </a:r>
            <a:endParaRPr lang="en-US" sz="1000" dirty="0"/>
          </a:p>
        </p:txBody>
      </p:sp>
      <p:sp>
        <p:nvSpPr>
          <p:cNvPr id="14" name="Shape 12"/>
          <p:cNvSpPr/>
          <p:nvPr/>
        </p:nvSpPr>
        <p:spPr>
          <a:xfrm>
            <a:off x="4636008" y="2562606"/>
            <a:ext cx="4096512" cy="696976"/>
          </a:xfrm>
          <a:prstGeom prst="roundRect">
            <a:avLst>
              <a:gd name="adj" fmla="val 13120"/>
            </a:avLst>
          </a:prstGeom>
          <a:solidFill>
            <a:srgbClr val="17202B"/>
          </a:solidFill>
          <a:ln w="12700">
            <a:solidFill>
              <a:srgbClr val="17202B"/>
            </a:solidFill>
            <a:prstDash val="solid"/>
          </a:ln>
        </p:spPr>
      </p:sp>
      <p:sp>
        <p:nvSpPr>
          <p:cNvPr id="15" name="Text 13"/>
          <p:cNvSpPr txBox="1"/>
          <p:nvPr/>
        </p:nvSpPr>
        <p:spPr>
          <a:xfrm>
            <a:off x="4837176" y="2663190"/>
            <a:ext cx="3694176" cy="49580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for num in range(101):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total = 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total = total + num</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print(total)</a:t>
            </a:r>
            <a:endParaRPr lang="en-US" sz="800" dirty="0"/>
          </a:p>
        </p:txBody>
      </p:sp>
      <p:sp>
        <p:nvSpPr>
          <p:cNvPr id="16" name="Shape 14"/>
          <p:cNvSpPr/>
          <p:nvPr/>
        </p:nvSpPr>
        <p:spPr>
          <a:xfrm>
            <a:off x="4636008" y="3332734"/>
            <a:ext cx="4096512" cy="325120"/>
          </a:xfrm>
          <a:prstGeom prst="roundRect">
            <a:avLst>
              <a:gd name="adj" fmla="val 28125"/>
            </a:avLst>
          </a:prstGeom>
          <a:solidFill>
            <a:srgbClr val="0F1823"/>
          </a:solidFill>
          <a:ln w="12700">
            <a:solidFill>
              <a:srgbClr val="0F1823"/>
            </a:solidFill>
            <a:prstDash val="solid"/>
          </a:ln>
        </p:spPr>
      </p:sp>
      <p:sp>
        <p:nvSpPr>
          <p:cNvPr id="17" name="Text 15"/>
          <p:cNvSpPr txBox="1"/>
          <p:nvPr/>
        </p:nvSpPr>
        <p:spPr>
          <a:xfrm>
            <a:off x="4837176" y="3433318"/>
            <a:ext cx="3694176" cy="123952"/>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100</a:t>
            </a:r>
            <a:endParaRPr lang="en-US" sz="800" dirty="0"/>
          </a:p>
        </p:txBody>
      </p:sp>
      <p:sp>
        <p:nvSpPr>
          <p:cNvPr id="18" name="Text 16"/>
          <p:cNvSpPr txBox="1"/>
          <p:nvPr/>
        </p:nvSpPr>
        <p:spPr>
          <a:xfrm>
            <a:off x="411480" y="367614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both programs run under Python 3.14.4; each output is the output of the program above it</a:t>
            </a:r>
            <a:endParaRPr lang="en-US" sz="900" dirty="0"/>
          </a:p>
        </p:txBody>
      </p:sp>
      <p:sp>
        <p:nvSpPr>
          <p:cNvPr id="19" name="Shape 17"/>
          <p:cNvSpPr/>
          <p:nvPr/>
        </p:nvSpPr>
        <p:spPr>
          <a:xfrm>
            <a:off x="411480" y="4005326"/>
            <a:ext cx="8321040" cy="749046"/>
          </a:xfrm>
          <a:prstGeom prst="roundRect">
            <a:avLst>
              <a:gd name="adj" fmla="val 9766"/>
            </a:avLst>
          </a:prstGeom>
          <a:solidFill>
            <a:srgbClr val="FFF1F0"/>
          </a:solidFill>
          <a:ln w="12700">
            <a:solidFill>
              <a:srgbClr val="FFD7D5"/>
            </a:solidFill>
            <a:prstDash val="solid"/>
          </a:ln>
        </p:spPr>
      </p:sp>
      <p:sp>
        <p:nvSpPr>
          <p:cNvPr id="20" name="Shape 18"/>
          <p:cNvSpPr/>
          <p:nvPr/>
        </p:nvSpPr>
        <p:spPr>
          <a:xfrm>
            <a:off x="411480" y="4005326"/>
            <a:ext cx="64008" cy="749046"/>
          </a:xfrm>
          <a:prstGeom prst="rect">
            <a:avLst/>
          </a:prstGeom>
          <a:solidFill>
            <a:srgbClr val="FF7B72"/>
          </a:solidFill>
          <a:ln w="12700">
            <a:solidFill>
              <a:srgbClr val="FF7B72"/>
            </a:solidFill>
            <a:prstDash val="solid"/>
          </a:ln>
        </p:spPr>
      </p:sp>
      <p:sp>
        <p:nvSpPr>
          <p:cNvPr id="21" name="Text 19"/>
          <p:cNvSpPr txBox="1"/>
          <p:nvPr/>
        </p:nvSpPr>
        <p:spPr>
          <a:xfrm>
            <a:off x="612648" y="4115054"/>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starting value belongs before the loop. Placed inside the block it is reset on every iteration and the loop ends with only the last item, and left out altogether it makes the first update fail with a NameError.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Loops in whole programs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loop inside another, and the chapter's two games</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Loops in programs are the ways loops combine with the other statements of the chapter into working code: a loop placed inside another loop, and the two complete programs of the chapter, Guess the Number and Rock, Paper, Scissors (Sweigart, 2025). Knowing each statement separately is not yet programming, so the book ends the chapter by showing, line by line, how a counted loop with an early exit forms a guessing game and how two nested condition loops form a game that runs until the player quits. The full listing of the second game is below.</a:t>
            </a:r>
            <a:endParaRPr lang="en-US" sz="1300" dirty="0"/>
          </a:p>
        </p:txBody>
      </p:sp>
      <p:sp>
        <p:nvSpPr>
          <p:cNvPr id="8" name="Shape 6"/>
          <p:cNvSpPr/>
          <p:nvPr/>
        </p:nvSpPr>
        <p:spPr>
          <a:xfrm>
            <a:off x="411480" y="2817876"/>
            <a:ext cx="8321040" cy="1502664"/>
          </a:xfrm>
          <a:prstGeom prst="roundRect">
            <a:avLst>
              <a:gd name="adj" fmla="val 6085"/>
            </a:avLst>
          </a:prstGeom>
          <a:solidFill>
            <a:srgbClr val="0F1823"/>
          </a:solidFill>
          <a:ln w="12700">
            <a:solidFill>
              <a:srgbClr val="0F1823"/>
            </a:solidFill>
            <a:prstDash val="solid"/>
          </a:ln>
        </p:spPr>
      </p:sp>
      <p:sp>
        <p:nvSpPr>
          <p:cNvPr id="9" name="Text 7"/>
          <p:cNvSpPr txBox="1"/>
          <p:nvPr/>
        </p:nvSpPr>
        <p:spPr>
          <a:xfrm>
            <a:off x="612648" y="2918460"/>
            <a:ext cx="7918704" cy="1301496"/>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ROCK, PAPER, SCISSORS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0 Wins, 0 Losses, 0 Ties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Enter your move: (r)ock (p)aper (s)cissors or (q)uit</a:t>
            </a:r>
            <a:endParaRPr lang="en-US" sz="1200" dirty="0"/>
          </a:p>
          <a:p>
            <a:pPr indent="0" marL="0">
              <a:buNone/>
            </a:pPr>
            <a:r>
              <a:rPr lang="en-US" sz="1200" dirty="0">
                <a:solidFill>
                  <a:srgbClr val="FFD43B"/>
                </a:solidFill>
                <a:latin typeface="Courier New" pitchFamily="34" charset="0"/>
                <a:ea typeface="Courier New" pitchFamily="34" charset="-122"/>
                <a:cs typeface="Courier New" pitchFamily="34" charset="-120"/>
              </a:rPr>
              <a:t>&gt;x</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Type one of r, p, s, or q.</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Enter your move: (r)ock (p)aper (s)cissors or (q)uit</a:t>
            </a:r>
            <a:endParaRPr lang="en-US" sz="1200" dirty="0"/>
          </a:p>
          <a:p>
            <a:pPr indent="0" marL="0">
              <a:buNone/>
            </a:pPr>
            <a:r>
              <a:rPr lang="en-US" sz="1200" dirty="0">
                <a:solidFill>
                  <a:srgbClr val="FFD43B"/>
                </a:solidFill>
                <a:latin typeface="Courier New" pitchFamily="34" charset="0"/>
                <a:ea typeface="Courier New" pitchFamily="34" charset="-122"/>
                <a:cs typeface="Courier New" pitchFamily="34" charset="-120"/>
              </a:rPr>
              <a:t>&gt;q</a:t>
            </a:r>
            <a:endParaRPr lang="en-US" sz="1200" dirty="0"/>
          </a:p>
        </p:txBody>
      </p:sp>
      <p:sp>
        <p:nvSpPr>
          <p:cNvPr id="10" name="Text 8"/>
          <p:cNvSpPr txBox="1"/>
          <p:nvPr/>
        </p:nvSpPr>
        <p:spPr>
          <a:xfrm>
            <a:off x="411480" y="433882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a real run of rps_v1_0_0.py under Python 3.14.4; typed input in yellow</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nested loop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loop inside the block of another loop</a:t>
            </a:r>
            <a:endParaRPr lang="en-US" sz="1300" dirty="0"/>
          </a:p>
        </p:txBody>
      </p:sp>
      <p:sp>
        <p:nvSpPr>
          <p:cNvPr id="6" name="Shape 4"/>
          <p:cNvSpPr/>
          <p:nvPr/>
        </p:nvSpPr>
        <p:spPr>
          <a:xfrm>
            <a:off x="411480" y="1152144"/>
            <a:ext cx="8321040" cy="1160907"/>
          </a:xfrm>
          <a:prstGeom prst="roundRect">
            <a:avLst>
              <a:gd name="adj" fmla="val 7877"/>
            </a:avLst>
          </a:prstGeom>
          <a:solidFill>
            <a:srgbClr val="F1F4F8"/>
          </a:solidFill>
          <a:ln w="12700">
            <a:solidFill>
              <a:srgbClr val="F1F4F8"/>
            </a:solidFill>
            <a:prstDash val="solid"/>
          </a:ln>
        </p:spPr>
      </p:sp>
      <p:sp>
        <p:nvSpPr>
          <p:cNvPr id="7" name="Text 5"/>
          <p:cNvSpPr txBox="1"/>
          <p:nvPr/>
        </p:nvSpPr>
        <p:spPr>
          <a:xfrm>
            <a:off x="594360" y="1280160"/>
            <a:ext cx="7955280" cy="904875"/>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A nested loop is a loop placed inside the block of another loop. The outer loop starts an iteration, the inner loop then runs from its beginning to its end, and only afterwards does the outer loop continue. Nesting lets a program express two levels of repetition in one structure: games and rounds, rows and columns, items and their parts. The number of times the innermost block runs is the product of the two counts, and a break statement leaves only the innermost loop that contains it, so the outer loop simply goes on to its next value.</a:t>
            </a:r>
            <a:endParaRPr lang="en-US" sz="1050" dirty="0"/>
          </a:p>
        </p:txBody>
      </p:sp>
      <p:sp>
        <p:nvSpPr>
          <p:cNvPr id="8" name="Shape 6"/>
          <p:cNvSpPr/>
          <p:nvPr/>
        </p:nvSpPr>
        <p:spPr>
          <a:xfrm>
            <a:off x="411480" y="2422779"/>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523363"/>
            <a:ext cx="4169664" cy="108458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for i in range(2):</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for j in range(3):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if j == 1:</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break</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print(i, j)</a:t>
            </a:r>
            <a:endParaRPr lang="en-US" sz="1400" dirty="0"/>
          </a:p>
        </p:txBody>
      </p:sp>
      <p:sp>
        <p:nvSpPr>
          <p:cNvPr id="10" name="Shape 8"/>
          <p:cNvSpPr/>
          <p:nvPr/>
        </p:nvSpPr>
        <p:spPr>
          <a:xfrm>
            <a:off x="5166360" y="2422779"/>
            <a:ext cx="3566160" cy="635000"/>
          </a:xfrm>
          <a:prstGeom prst="roundRect">
            <a:avLst>
              <a:gd name="adj" fmla="val 14400"/>
            </a:avLst>
          </a:prstGeom>
          <a:solidFill>
            <a:srgbClr val="0F1823"/>
          </a:solidFill>
          <a:ln w="12700">
            <a:solidFill>
              <a:srgbClr val="0F1823"/>
            </a:solidFill>
            <a:prstDash val="solid"/>
          </a:ln>
        </p:spPr>
      </p:sp>
      <p:sp>
        <p:nvSpPr>
          <p:cNvPr id="11" name="Text 9"/>
          <p:cNvSpPr txBox="1"/>
          <p:nvPr/>
        </p:nvSpPr>
        <p:spPr>
          <a:xfrm>
            <a:off x="5367528" y="2523363"/>
            <a:ext cx="3163824" cy="43383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0 0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1 0</a:t>
            </a:r>
            <a:endParaRPr lang="en-US" sz="1400" dirty="0"/>
          </a:p>
        </p:txBody>
      </p:sp>
      <p:sp>
        <p:nvSpPr>
          <p:cNvPr id="12" name="Text 10"/>
          <p:cNvSpPr txBox="1"/>
          <p:nvPr/>
        </p:nvSpPr>
        <p:spPr>
          <a:xfrm>
            <a:off x="411480" y="3726815"/>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nested_break_v1_0_0.py, run under Python 3.14.4</a:t>
            </a:r>
            <a:endParaRPr lang="en-US" sz="900" dirty="0"/>
          </a:p>
        </p:txBody>
      </p:sp>
      <p:sp>
        <p:nvSpPr>
          <p:cNvPr id="13" name="Shape 11"/>
          <p:cNvSpPr/>
          <p:nvPr/>
        </p:nvSpPr>
        <p:spPr>
          <a:xfrm>
            <a:off x="411480" y="4055999"/>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55999"/>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65727"/>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break does not end the whole structure. The cost of nesting also grows quickly: a loop of a thousand iterations inside another of a thousand runs its block a million times.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Guess the Number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counted loop with an early exit</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Guess the Number is the first complete program of the chapter: the computer picks a secret number between one and twenty and the player has six chances to find it, receiving the hint too low or too high after each wrong guess (Sweigart, 2025). It combines an import statement, a call that draws a random integer, a for loop over a range of attempts, conversions with int and str, a chain of if, elif and else, and a break. The design is worth remembering: a counted loop gives a limit on the attempts, and a break leaves it early when the goal has been reached.</a:t>
            </a:r>
            <a:endParaRPr lang="en-US" sz="1300" dirty="0"/>
          </a:p>
        </p:txBody>
      </p:sp>
      <p:sp>
        <p:nvSpPr>
          <p:cNvPr id="8" name="Shape 6"/>
          <p:cNvSpPr/>
          <p:nvPr/>
        </p:nvSpPr>
        <p:spPr>
          <a:xfrm>
            <a:off x="411480" y="2817876"/>
            <a:ext cx="8321040" cy="749046"/>
          </a:xfrm>
          <a:prstGeom prst="roundRect">
            <a:avLst>
              <a:gd name="adj" fmla="val 9766"/>
            </a:avLst>
          </a:prstGeom>
          <a:solidFill>
            <a:srgbClr val="FFF1F0"/>
          </a:solidFill>
          <a:ln w="12700">
            <a:solidFill>
              <a:srgbClr val="FFD7D5"/>
            </a:solidFill>
            <a:prstDash val="solid"/>
          </a:ln>
        </p:spPr>
      </p:sp>
      <p:sp>
        <p:nvSpPr>
          <p:cNvPr id="9" name="Shape 7"/>
          <p:cNvSpPr/>
          <p:nvPr/>
        </p:nvSpPr>
        <p:spPr>
          <a:xfrm>
            <a:off x="411480" y="2817876"/>
            <a:ext cx="64008" cy="749046"/>
          </a:xfrm>
          <a:prstGeom prst="rect">
            <a:avLst/>
          </a:prstGeom>
          <a:solidFill>
            <a:srgbClr val="FF7B72"/>
          </a:solidFill>
          <a:ln w="12700">
            <a:solidFill>
              <a:srgbClr val="FF7B72"/>
            </a:solidFill>
            <a:prstDash val="solid"/>
          </a:ln>
        </p:spPr>
      </p:sp>
      <p:sp>
        <p:nvSpPr>
          <p:cNvPr id="10" name="Text 8"/>
          <p:cNvSpPr txBox="1"/>
          <p:nvPr/>
        </p:nvSpPr>
        <p:spPr>
          <a:xfrm>
            <a:off x="612648" y="2927604"/>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program trusts the player: text that cannot be converted raises a ValueError and the program stops. The secret must also be drawn before the loop, because a draw inside it would choose a new number for every guess.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Guess the Number: the complete listing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program whose run is on the slide before this one</a:t>
            </a:r>
            <a:endParaRPr lang="en-US" sz="1300" dirty="0"/>
          </a:p>
        </p:txBody>
      </p:sp>
      <p:sp>
        <p:nvSpPr>
          <p:cNvPr id="6" name="Shape 4"/>
          <p:cNvSpPr/>
          <p:nvPr/>
        </p:nvSpPr>
        <p:spPr>
          <a:xfrm>
            <a:off x="411480" y="1152144"/>
            <a:ext cx="4279392" cy="1177290"/>
          </a:xfrm>
          <a:prstGeom prst="roundRect">
            <a:avLst>
              <a:gd name="adj" fmla="val 7767"/>
            </a:avLst>
          </a:prstGeom>
          <a:solidFill>
            <a:srgbClr val="17202B"/>
          </a:solidFill>
          <a:ln w="12700">
            <a:solidFill>
              <a:srgbClr val="17202B"/>
            </a:solidFill>
            <a:prstDash val="solid"/>
          </a:ln>
        </p:spPr>
      </p:sp>
      <p:sp>
        <p:nvSpPr>
          <p:cNvPr id="7" name="Text 5"/>
          <p:cNvSpPr txBox="1"/>
          <p:nvPr/>
        </p:nvSpPr>
        <p:spPr>
          <a:xfrm>
            <a:off x="612648" y="1252728"/>
            <a:ext cx="3877056" cy="976122"/>
          </a:xfrm>
          <a:prstGeom prst="rect">
            <a:avLst/>
          </a:prstGeom>
          <a:noFill/>
          <a:ln/>
        </p:spPr>
        <p:txBody>
          <a:bodyPr wrap="square" lIns="0" tIns="0" rIns="0" bIns="0" rtlCol="0" anchor="t"/>
          <a:lstStyle/>
          <a:p>
            <a:pPr indent="0" marL="0">
              <a:buNone/>
            </a:pPr>
            <a:r>
              <a:rPr lang="en-US" sz="700" dirty="0">
                <a:solidFill>
                  <a:srgbClr val="8B949E"/>
                </a:solidFill>
                <a:latin typeface="Courier New" pitchFamily="34" charset="0"/>
                <a:ea typeface="Courier New" pitchFamily="34" charset="-122"/>
                <a:cs typeface="Courier New" pitchFamily="34" charset="-120"/>
              </a:rPr>
              <a:t># This is a guess the number game.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import random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secret_number = 16</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print('I am thinking of a number between 1 and 20.')</a:t>
            </a:r>
            <a:endParaRPr lang="en-US" sz="700" dirty="0"/>
          </a:p>
          <a:p>
            <a:pPr indent="0" marL="0">
              <a:buNone/>
            </a:pPr>
            <a:r>
              <a:rPr lang="en-US" sz="700" dirty="0">
                <a:solidFill>
                  <a:srgbClr val="8B949E"/>
                </a:solidFill>
                <a:latin typeface="Courier New" pitchFamily="34" charset="0"/>
                <a:ea typeface="Courier New" pitchFamily="34" charset="-122"/>
                <a:cs typeface="Courier New" pitchFamily="34" charset="-120"/>
              </a:rPr>
              <a:t># Ask the player to guess 6 times.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for guesses_taken in range(1, 7):</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print('Take a guess.')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guess = int(input('&gt;'))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if guess &lt; secret_number:</a:t>
            </a:r>
            <a:endParaRPr lang="en-US" sz="700" dirty="0"/>
          </a:p>
        </p:txBody>
      </p:sp>
      <p:sp>
        <p:nvSpPr>
          <p:cNvPr id="8" name="Shape 6"/>
          <p:cNvSpPr/>
          <p:nvPr/>
        </p:nvSpPr>
        <p:spPr>
          <a:xfrm>
            <a:off x="4818888" y="1152144"/>
            <a:ext cx="4279392" cy="1177290"/>
          </a:xfrm>
          <a:prstGeom prst="roundRect">
            <a:avLst>
              <a:gd name="adj" fmla="val 7767"/>
            </a:avLst>
          </a:prstGeom>
          <a:solidFill>
            <a:srgbClr val="17202B"/>
          </a:solidFill>
          <a:ln w="12700">
            <a:solidFill>
              <a:srgbClr val="17202B"/>
            </a:solidFill>
            <a:prstDash val="solid"/>
          </a:ln>
        </p:spPr>
      </p:sp>
      <p:sp>
        <p:nvSpPr>
          <p:cNvPr id="9" name="Text 7"/>
          <p:cNvSpPr txBox="1"/>
          <p:nvPr/>
        </p:nvSpPr>
        <p:spPr>
          <a:xfrm>
            <a:off x="5020056" y="1252728"/>
            <a:ext cx="3877056" cy="97612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        print('Your guess is too low.')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elif guess &gt; secret_number: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print('Your guess is too high.')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else: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break  # This condition is the correct guess!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if guess == secret_number: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print('Good job! You got it in ' + str(guesses_taken) + ' guesses!')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else: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print('Nope. The number was ' + str(secret_number))</a:t>
            </a:r>
            <a:endParaRPr lang="en-US" sz="700" dirty="0"/>
          </a:p>
        </p:txBody>
      </p:sp>
      <p:sp>
        <p:nvSpPr>
          <p:cNvPr id="10" name="Text 8"/>
          <p:cNvSpPr txBox="1"/>
          <p:nvPr/>
        </p:nvSpPr>
        <p:spPr>
          <a:xfrm>
            <a:off x="411480" y="234772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complete listing of guess16_v1_0_0.py, read the left column first</a:t>
            </a:r>
            <a:endParaRPr lang="en-US" sz="900" dirty="0"/>
          </a:p>
        </p:txBody>
      </p:sp>
      <p:sp>
        <p:nvSpPr>
          <p:cNvPr id="11" name="Shape 9"/>
          <p:cNvSpPr/>
          <p:nvPr/>
        </p:nvSpPr>
        <p:spPr>
          <a:xfrm>
            <a:off x="411480" y="2676906"/>
            <a:ext cx="4279392" cy="1394206"/>
          </a:xfrm>
          <a:prstGeom prst="roundRect">
            <a:avLst>
              <a:gd name="adj" fmla="val 6559"/>
            </a:avLst>
          </a:prstGeom>
          <a:solidFill>
            <a:srgbClr val="0F1823"/>
          </a:solidFill>
          <a:ln w="12700">
            <a:solidFill>
              <a:srgbClr val="0F1823"/>
            </a:solidFill>
            <a:prstDash val="solid"/>
          </a:ln>
        </p:spPr>
      </p:sp>
      <p:sp>
        <p:nvSpPr>
          <p:cNvPr id="12" name="Text 10"/>
          <p:cNvSpPr txBox="1"/>
          <p:nvPr/>
        </p:nvSpPr>
        <p:spPr>
          <a:xfrm>
            <a:off x="612648" y="2777490"/>
            <a:ext cx="3877056" cy="1193038"/>
          </a:xfrm>
          <a:prstGeom prst="rect">
            <a:avLst/>
          </a:prstGeom>
          <a:noFill/>
          <a:ln/>
        </p:spPr>
        <p:txBody>
          <a:bodyPr wrap="square" lIns="0" tIns="0" rIns="0" bIns="0" rtlCol="0" anchor="t"/>
          <a:lstStyle/>
          <a:p>
            <a:pPr indent="0" marL="0">
              <a:buNone/>
            </a:pPr>
            <a:r>
              <a:rPr lang="en-US" sz="1100" dirty="0">
                <a:solidFill>
                  <a:srgbClr val="7EE787"/>
                </a:solidFill>
                <a:latin typeface="Courier New" pitchFamily="34" charset="0"/>
                <a:ea typeface="Courier New" pitchFamily="34" charset="-122"/>
                <a:cs typeface="Courier New" pitchFamily="34" charset="-120"/>
              </a:rPr>
              <a:t>I am thinking of a number between 1 and 20.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Take a guess.</a:t>
            </a:r>
            <a:endParaRPr lang="en-US" sz="1100" dirty="0"/>
          </a:p>
          <a:p>
            <a:pPr indent="0" marL="0">
              <a:buNone/>
            </a:pPr>
            <a:r>
              <a:rPr lang="en-US" sz="1100" dirty="0">
                <a:solidFill>
                  <a:srgbClr val="FFD43B"/>
                </a:solidFill>
                <a:latin typeface="Courier New" pitchFamily="34" charset="0"/>
                <a:ea typeface="Courier New" pitchFamily="34" charset="-122"/>
                <a:cs typeface="Courier New" pitchFamily="34" charset="-120"/>
              </a:rPr>
              <a:t>&gt;10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Your guess is too low.</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Take a guess.</a:t>
            </a:r>
            <a:endParaRPr lang="en-US" sz="1100" dirty="0"/>
          </a:p>
          <a:p>
            <a:pPr indent="0" marL="0">
              <a:buNone/>
            </a:pPr>
            <a:r>
              <a:rPr lang="en-US" sz="1100" dirty="0">
                <a:solidFill>
                  <a:srgbClr val="FFD43B"/>
                </a:solidFill>
                <a:latin typeface="Courier New" pitchFamily="34" charset="0"/>
                <a:ea typeface="Courier New" pitchFamily="34" charset="-122"/>
                <a:cs typeface="Courier New" pitchFamily="34" charset="-120"/>
              </a:rPr>
              <a:t>&gt;15</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Your guess is too low.</a:t>
            </a:r>
            <a:endParaRPr lang="en-US" sz="1100" dirty="0"/>
          </a:p>
        </p:txBody>
      </p:sp>
      <p:sp>
        <p:nvSpPr>
          <p:cNvPr id="13" name="Shape 11"/>
          <p:cNvSpPr/>
          <p:nvPr/>
        </p:nvSpPr>
        <p:spPr>
          <a:xfrm>
            <a:off x="4818888" y="2676906"/>
            <a:ext cx="4279392" cy="1223772"/>
          </a:xfrm>
          <a:prstGeom prst="roundRect">
            <a:avLst>
              <a:gd name="adj" fmla="val 7472"/>
            </a:avLst>
          </a:prstGeom>
          <a:solidFill>
            <a:srgbClr val="0F1823"/>
          </a:solidFill>
          <a:ln w="12700">
            <a:solidFill>
              <a:srgbClr val="0F1823"/>
            </a:solidFill>
            <a:prstDash val="solid"/>
          </a:ln>
        </p:spPr>
      </p:sp>
      <p:sp>
        <p:nvSpPr>
          <p:cNvPr id="14" name="Text 12"/>
          <p:cNvSpPr txBox="1"/>
          <p:nvPr/>
        </p:nvSpPr>
        <p:spPr>
          <a:xfrm>
            <a:off x="5020056" y="2777490"/>
            <a:ext cx="3877056" cy="1022604"/>
          </a:xfrm>
          <a:prstGeom prst="rect">
            <a:avLst/>
          </a:prstGeom>
          <a:noFill/>
          <a:ln/>
        </p:spPr>
        <p:txBody>
          <a:bodyPr wrap="square" lIns="0" tIns="0" rIns="0" bIns="0" rtlCol="0" anchor="t"/>
          <a:lstStyle/>
          <a:p>
            <a:pPr indent="0" marL="0">
              <a:buNone/>
            </a:pPr>
            <a:r>
              <a:rPr lang="en-US" sz="1100" dirty="0">
                <a:solidFill>
                  <a:srgbClr val="7EE787"/>
                </a:solidFill>
                <a:latin typeface="Courier New" pitchFamily="34" charset="0"/>
                <a:ea typeface="Courier New" pitchFamily="34" charset="-122"/>
                <a:cs typeface="Courier New" pitchFamily="34" charset="-120"/>
              </a:rPr>
              <a:t>Take a guess.</a:t>
            </a:r>
            <a:endParaRPr lang="en-US" sz="1100" dirty="0"/>
          </a:p>
          <a:p>
            <a:pPr indent="0" marL="0">
              <a:buNone/>
            </a:pPr>
            <a:r>
              <a:rPr lang="en-US" sz="1100" dirty="0">
                <a:solidFill>
                  <a:srgbClr val="FFD43B"/>
                </a:solidFill>
                <a:latin typeface="Courier New" pitchFamily="34" charset="0"/>
                <a:ea typeface="Courier New" pitchFamily="34" charset="-122"/>
                <a:cs typeface="Courier New" pitchFamily="34" charset="-120"/>
              </a:rPr>
              <a:t>&gt;17</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Your guess is too high.</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Take a guess.</a:t>
            </a:r>
            <a:endParaRPr lang="en-US" sz="1100" dirty="0"/>
          </a:p>
          <a:p>
            <a:pPr indent="0" marL="0">
              <a:buNone/>
            </a:pPr>
            <a:r>
              <a:rPr lang="en-US" sz="1100" dirty="0">
                <a:solidFill>
                  <a:srgbClr val="FFD43B"/>
                </a:solidFill>
                <a:latin typeface="Courier New" pitchFamily="34" charset="0"/>
                <a:ea typeface="Courier New" pitchFamily="34" charset="-122"/>
                <a:cs typeface="Courier New" pitchFamily="34" charset="-120"/>
              </a:rPr>
              <a:t>&gt;16</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Good job! You got it in 4 guesses!</a:t>
            </a:r>
            <a:endParaRPr lang="en-US" sz="1100" dirty="0"/>
          </a:p>
        </p:txBody>
      </p:sp>
      <p:sp>
        <p:nvSpPr>
          <p:cNvPr id="15" name="Text 13"/>
          <p:cNvSpPr txBox="1"/>
          <p:nvPr/>
        </p:nvSpPr>
        <p:spPr>
          <a:xfrm>
            <a:off x="411480" y="408940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a real run of guess16_v1_0_0.py under Python 3.14.4; typed input in yellow</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Rock, Paper, Scissors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nested loops, with three ways out</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Rock, Paper, Scissors is the second complete program of the chapter. The player types one letter, the computer chooses a move at random, the program announces who has won, and a running score is printed before every game; typing q ends the program (Sweigart, 2025). It brings together nearly everything in the chapter: an import of two modules, three accumulators, two nested loops whose condition is always true, a break to leave the input loop, a call that leaves the program, and long chains of if and elif. An infinite loop with deliberate exits is the natural shape for a program that waits for a user.</a:t>
            </a:r>
            <a:endParaRPr lang="en-US" sz="900" dirty="0"/>
          </a:p>
        </p:txBody>
      </p:sp>
      <p:sp>
        <p:nvSpPr>
          <p:cNvPr id="8" name="Shape 6"/>
          <p:cNvSpPr/>
          <p:nvPr/>
        </p:nvSpPr>
        <p:spPr>
          <a:xfrm>
            <a:off x="411480" y="2306574"/>
            <a:ext cx="8321040" cy="1798828"/>
          </a:xfrm>
          <a:prstGeom prst="roundRect">
            <a:avLst>
              <a:gd name="adj" fmla="val 5083"/>
            </a:avLst>
          </a:prstGeom>
          <a:solidFill>
            <a:srgbClr val="F1F4F8"/>
          </a:solidFill>
          <a:ln w="12700">
            <a:solidFill>
              <a:srgbClr val="306998"/>
            </a:solidFill>
            <a:prstDash val="solid"/>
          </a:ln>
        </p:spPr>
      </p:sp>
      <p:sp>
        <p:nvSpPr>
          <p:cNvPr id="9" name="Text 7"/>
          <p:cNvSpPr txBox="1"/>
          <p:nvPr/>
        </p:nvSpPr>
        <p:spPr>
          <a:xfrm>
            <a:off x="557784" y="2379726"/>
            <a:ext cx="802843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the main game loop  ·  one game each time round</a:t>
            </a:r>
            <a:endParaRPr lang="en-US" sz="1100" dirty="0"/>
          </a:p>
        </p:txBody>
      </p:sp>
      <p:sp>
        <p:nvSpPr>
          <p:cNvPr id="10" name="Shape 8"/>
          <p:cNvSpPr/>
          <p:nvPr/>
        </p:nvSpPr>
        <p:spPr>
          <a:xfrm>
            <a:off x="685800" y="2672334"/>
            <a:ext cx="7772400" cy="676656"/>
          </a:xfrm>
          <a:prstGeom prst="roundRect">
            <a:avLst>
              <a:gd name="adj" fmla="val 10811"/>
            </a:avLst>
          </a:prstGeom>
          <a:solidFill>
            <a:srgbClr val="FFFFFF"/>
          </a:solidFill>
          <a:ln w="12700">
            <a:solidFill>
              <a:srgbClr val="FFD43B"/>
            </a:solidFill>
            <a:prstDash val="solid"/>
          </a:ln>
        </p:spPr>
      </p:sp>
      <p:sp>
        <p:nvSpPr>
          <p:cNvPr id="11" name="Text 9"/>
          <p:cNvSpPr txBox="1"/>
          <p:nvPr/>
        </p:nvSpPr>
        <p:spPr>
          <a:xfrm>
            <a:off x="832104" y="2708910"/>
            <a:ext cx="7479792" cy="237744"/>
          </a:xfrm>
          <a:prstGeom prst="rect">
            <a:avLst/>
          </a:prstGeom>
          <a:noFill/>
          <a:ln/>
        </p:spPr>
        <p:txBody>
          <a:bodyPr wrap="square" lIns="0" tIns="0" rIns="0" bIns="0" rtlCol="0" anchor="ctr"/>
          <a:lstStyle/>
          <a:p>
            <a:pPr indent="0" marL="0">
              <a:buNone/>
            </a:pPr>
            <a:r>
              <a:rPr lang="en-US" sz="1050" b="1" dirty="0">
                <a:solidFill>
                  <a:srgbClr val="8B6B00"/>
                </a:solidFill>
                <a:latin typeface="Calibri" pitchFamily="34" charset="0"/>
                <a:ea typeface="Calibri" pitchFamily="34" charset="-122"/>
                <a:cs typeface="Calibri" pitchFamily="34" charset="-120"/>
              </a:rPr>
              <a:t>the player input loop  ·  keeps asking until the move is r, p, s or q</a:t>
            </a:r>
            <a:endParaRPr lang="en-US" sz="1050" dirty="0"/>
          </a:p>
        </p:txBody>
      </p:sp>
      <p:sp>
        <p:nvSpPr>
          <p:cNvPr id="12" name="Text 10"/>
          <p:cNvSpPr txBox="1"/>
          <p:nvPr/>
        </p:nvSpPr>
        <p:spPr>
          <a:xfrm>
            <a:off x="832104" y="2964942"/>
            <a:ext cx="7479792" cy="310896"/>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q → sys.exit() leaves the program   ·   r, p, s → break leaves this loop   ·   anything else → ask again</a:t>
            </a:r>
            <a:endParaRPr lang="en-US" sz="1000" dirty="0"/>
          </a:p>
        </p:txBody>
      </p:sp>
      <p:sp>
        <p:nvSpPr>
          <p:cNvPr id="13" name="Text 11"/>
          <p:cNvSpPr txBox="1"/>
          <p:nvPr/>
        </p:nvSpPr>
        <p:spPr>
          <a:xfrm>
            <a:off x="685800" y="3422142"/>
            <a:ext cx="7772400" cy="365760"/>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then: the computer draws a move, the chain of comparisons decides the winner, and one of the three scores is increased</a:t>
            </a:r>
            <a:endParaRPr lang="en-US" sz="1050" dirty="0"/>
          </a:p>
        </p:txBody>
      </p:sp>
      <p:sp>
        <p:nvSpPr>
          <p:cNvPr id="14" name="Text 12"/>
          <p:cNvSpPr txBox="1"/>
          <p:nvPr/>
        </p:nvSpPr>
        <p:spPr>
          <a:xfrm>
            <a:off x="411480" y="388594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structure of the listing shown two slides back (Sweigart, 2025)</a:t>
            </a:r>
            <a:endParaRPr lang="en-US" sz="900" dirty="0"/>
          </a:p>
        </p:txBody>
      </p:sp>
      <p:sp>
        <p:nvSpPr>
          <p:cNvPr id="15" name="Shape 13"/>
          <p:cNvSpPr/>
          <p:nvPr/>
        </p:nvSpPr>
        <p:spPr>
          <a:xfrm>
            <a:off x="411480" y="4215130"/>
            <a:ext cx="8321040" cy="578612"/>
          </a:xfrm>
          <a:prstGeom prst="roundRect">
            <a:avLst>
              <a:gd name="adj" fmla="val 12643"/>
            </a:avLst>
          </a:prstGeom>
          <a:solidFill>
            <a:srgbClr val="FFF1F0"/>
          </a:solidFill>
          <a:ln w="12700">
            <a:solidFill>
              <a:srgbClr val="FFD7D5"/>
            </a:solidFill>
            <a:prstDash val="solid"/>
          </a:ln>
        </p:spPr>
      </p:sp>
      <p:sp>
        <p:nvSpPr>
          <p:cNvPr id="16" name="Shape 14"/>
          <p:cNvSpPr/>
          <p:nvPr/>
        </p:nvSpPr>
        <p:spPr>
          <a:xfrm>
            <a:off x="411480" y="4215130"/>
            <a:ext cx="64008" cy="578612"/>
          </a:xfrm>
          <a:prstGeom prst="rect">
            <a:avLst/>
          </a:prstGeom>
          <a:solidFill>
            <a:srgbClr val="FF7B72"/>
          </a:solidFill>
          <a:ln w="12700">
            <a:solidFill>
              <a:srgbClr val="FF7B72"/>
            </a:solidFill>
            <a:prstDash val="solid"/>
          </a:ln>
        </p:spPr>
      </p:sp>
      <p:sp>
        <p:nvSpPr>
          <p:cNvPr id="17" name="Text 15"/>
          <p:cNvSpPr txBox="1"/>
          <p:nvPr/>
        </p:nvSpPr>
        <p:spPr>
          <a:xfrm>
            <a:off x="612648" y="4324858"/>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nine combinations of moves are written out by hand as an elif chain, and a slip in any one gives a wrong verdict. The program also has no way to leave the main loop other than the quit command.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Rock, Paper, Scissors: the complete listing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program whose run is on the slide before this one</a:t>
            </a:r>
            <a:endParaRPr lang="en-US" sz="1300" dirty="0"/>
          </a:p>
        </p:txBody>
      </p:sp>
      <p:sp>
        <p:nvSpPr>
          <p:cNvPr id="6" name="Shape 4"/>
          <p:cNvSpPr/>
          <p:nvPr/>
        </p:nvSpPr>
        <p:spPr>
          <a:xfrm>
            <a:off x="411480" y="1152144"/>
            <a:ext cx="4279392" cy="2804160"/>
          </a:xfrm>
          <a:prstGeom prst="roundRect">
            <a:avLst>
              <a:gd name="adj" fmla="val 3261"/>
            </a:avLst>
          </a:prstGeom>
          <a:solidFill>
            <a:srgbClr val="17202B"/>
          </a:solidFill>
          <a:ln w="12700">
            <a:solidFill>
              <a:srgbClr val="17202B"/>
            </a:solidFill>
            <a:prstDash val="solid"/>
          </a:ln>
        </p:spPr>
      </p:sp>
      <p:sp>
        <p:nvSpPr>
          <p:cNvPr id="7" name="Text 5"/>
          <p:cNvSpPr txBox="1"/>
          <p:nvPr/>
        </p:nvSpPr>
        <p:spPr>
          <a:xfrm>
            <a:off x="612648" y="1252728"/>
            <a:ext cx="3877056" cy="2602992"/>
          </a:xfrm>
          <a:prstGeom prst="rect">
            <a:avLst/>
          </a:prstGeom>
          <a:noFill/>
          <a:ln/>
        </p:spPr>
        <p:txBody>
          <a:bodyPr wrap="square" lIns="0" tIns="0" rIns="0" bIns="0" rtlCol="0" anchor="t"/>
          <a:lstStyle/>
          <a:p>
            <a:pPr indent="0" marL="0">
              <a:buNone/>
            </a:pPr>
            <a:r>
              <a:rPr lang="en-US" sz="600" dirty="0">
                <a:solidFill>
                  <a:srgbClr val="E6EDF3"/>
                </a:solidFill>
                <a:latin typeface="Courier New" pitchFamily="34" charset="0"/>
                <a:ea typeface="Courier New" pitchFamily="34" charset="-122"/>
                <a:cs typeface="Courier New" pitchFamily="34" charset="-120"/>
              </a:rPr>
              <a:t>import random, sys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print('ROCK, PAPER, SCISSORS')</a:t>
            </a:r>
            <a:endParaRPr lang="en-US" sz="600" dirty="0"/>
          </a:p>
          <a:p>
            <a:pPr indent="0" marL="0">
              <a:buNone/>
            </a:pPr>
            <a:r>
              <a:rPr lang="en-US" sz="600" dirty="0">
                <a:solidFill>
                  <a:srgbClr val="8B949E"/>
                </a:solidFill>
                <a:latin typeface="Courier New" pitchFamily="34" charset="0"/>
                <a:ea typeface="Courier New" pitchFamily="34" charset="-122"/>
                <a:cs typeface="Courier New" pitchFamily="34" charset="-120"/>
              </a:rPr>
              <a:t># These variables keep track of the number of wins, losses, and ties.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wins = 0</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losses = 0</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ties = 0</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while True:  # The main game loop</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print('%s Wins, %s Losses, %s Ties' % (wins, losses, ties))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while True:  # The player input loop</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print('Enter your move: (r)ock (p)aper (s)cissors or (q)uit')</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player_move = input('&gt;')</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if player_move == 'q':</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sys.exit()  # Quit the program.</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if player_move == 'r' or player_move == 'p' or player_move == 's':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break  # Break out of the player input loop.</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print('Type one of r, p, s, or q.')</a:t>
            </a:r>
            <a:endParaRPr lang="en-US" sz="600" dirty="0"/>
          </a:p>
          <a:p>
            <a:pPr indent="0" marL="0">
              <a:buNone/>
            </a:pPr>
            <a:r>
              <a:rPr lang="en-US" sz="600" dirty="0">
                <a:solidFill>
                  <a:srgbClr val="8B949E"/>
                </a:solidFill>
                <a:latin typeface="Courier New" pitchFamily="34" charset="0"/>
                <a:ea typeface="Courier New" pitchFamily="34" charset="-122"/>
                <a:cs typeface="Courier New" pitchFamily="34" charset="-120"/>
              </a:rPr>
              <a:t>    # Display what the player chose: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if player_move == 'r':</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print('ROCK versus...')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elif player_move == 'p':</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print('PAPER versus...')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elif player_move == 's':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print('SCISSORS versus...')</a:t>
            </a:r>
            <a:endParaRPr lang="en-US" sz="600" dirty="0"/>
          </a:p>
          <a:p>
            <a:pPr indent="0" marL="0">
              <a:buNone/>
            </a:pPr>
            <a:r>
              <a:rPr lang="en-US" sz="600" dirty="0">
                <a:solidFill>
                  <a:srgbClr val="8B949E"/>
                </a:solidFill>
                <a:latin typeface="Courier New" pitchFamily="34" charset="0"/>
                <a:ea typeface="Courier New" pitchFamily="34" charset="-122"/>
                <a:cs typeface="Courier New" pitchFamily="34" charset="-120"/>
              </a:rPr>
              <a:t>    # Display what the computer chose: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move_number = random.randint(1, 3)</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if move_number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computer_move = 'r'</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print('ROCK')</a:t>
            </a:r>
            <a:endParaRPr lang="en-US" sz="600" dirty="0"/>
          </a:p>
        </p:txBody>
      </p:sp>
      <p:sp>
        <p:nvSpPr>
          <p:cNvPr id="8" name="Shape 6"/>
          <p:cNvSpPr/>
          <p:nvPr/>
        </p:nvSpPr>
        <p:spPr>
          <a:xfrm>
            <a:off x="4818888" y="1152144"/>
            <a:ext cx="4279392" cy="2804160"/>
          </a:xfrm>
          <a:prstGeom prst="roundRect">
            <a:avLst>
              <a:gd name="adj" fmla="val 3261"/>
            </a:avLst>
          </a:prstGeom>
          <a:solidFill>
            <a:srgbClr val="17202B"/>
          </a:solidFill>
          <a:ln w="12700">
            <a:solidFill>
              <a:srgbClr val="17202B"/>
            </a:solidFill>
            <a:prstDash val="solid"/>
          </a:ln>
        </p:spPr>
      </p:sp>
      <p:sp>
        <p:nvSpPr>
          <p:cNvPr id="9" name="Text 7"/>
          <p:cNvSpPr txBox="1"/>
          <p:nvPr/>
        </p:nvSpPr>
        <p:spPr>
          <a:xfrm>
            <a:off x="5020056" y="1252728"/>
            <a:ext cx="3877056" cy="2602992"/>
          </a:xfrm>
          <a:prstGeom prst="rect">
            <a:avLst/>
          </a:prstGeom>
          <a:noFill/>
          <a:ln/>
        </p:spPr>
        <p:txBody>
          <a:bodyPr wrap="square" lIns="0" tIns="0" rIns="0" bIns="0" rtlCol="0" anchor="t"/>
          <a:lstStyle/>
          <a:p>
            <a:pPr indent="0" marL="0">
              <a:buNone/>
            </a:pPr>
            <a:r>
              <a:rPr lang="en-US" sz="600" dirty="0">
                <a:solidFill>
                  <a:srgbClr val="E6EDF3"/>
                </a:solidFill>
                <a:latin typeface="Courier New" pitchFamily="34" charset="0"/>
                <a:ea typeface="Courier New" pitchFamily="34" charset="-122"/>
                <a:cs typeface="Courier New" pitchFamily="34" charset="-120"/>
              </a:rPr>
              <a:t>    elif move_number == 2:</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computer_move = 'p'</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print('PAPER')</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elif move_number == 3:</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computer_move = 's'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print('SCISSORS')</a:t>
            </a:r>
            <a:endParaRPr lang="en-US" sz="600" dirty="0"/>
          </a:p>
          <a:p>
            <a:pPr indent="0" marL="0">
              <a:buNone/>
            </a:pPr>
            <a:r>
              <a:rPr lang="en-US" sz="600" dirty="0">
                <a:solidFill>
                  <a:srgbClr val="8B949E"/>
                </a:solidFill>
                <a:latin typeface="Courier New" pitchFamily="34" charset="0"/>
                <a:ea typeface="Courier New" pitchFamily="34" charset="-122"/>
                <a:cs typeface="Courier New" pitchFamily="34" charset="-120"/>
              </a:rPr>
              <a:t>    # Display and record the win/loss/tie: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if player_move == computer_move: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print('It is a tie!')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ties = ties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elif player_move == 'r' and computer_move == 's':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print('You win!')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wins = wins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elif player_move == 'p' and computer_move == 'r':</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print('You win!')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wins = wins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elif player_move == 's' and computer_move == 'p':</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print('You win!')</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wins = wins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elif player_move == 'r' and computer_move == 'p':</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print('You lose!')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losses = losses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elif player_move == 'p' and computer_move == 's':</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print('You lose!')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losses = losses + 1</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elif player_move == 's' and computer_move == 'r':</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print('You lose!')</a:t>
            </a:r>
            <a:endParaRPr lang="en-US" sz="600" dirty="0"/>
          </a:p>
          <a:p>
            <a:pPr indent="0" marL="0">
              <a:buNone/>
            </a:pPr>
            <a:r>
              <a:rPr lang="en-US" sz="600" dirty="0">
                <a:solidFill>
                  <a:srgbClr val="E6EDF3"/>
                </a:solidFill>
                <a:latin typeface="Courier New" pitchFamily="34" charset="0"/>
                <a:ea typeface="Courier New" pitchFamily="34" charset="-122"/>
                <a:cs typeface="Courier New" pitchFamily="34" charset="-120"/>
              </a:rPr>
              <a:t>        losses = losses + 1</a:t>
            </a:r>
            <a:endParaRPr lang="en-US" sz="600" dirty="0"/>
          </a:p>
        </p:txBody>
      </p:sp>
      <p:sp>
        <p:nvSpPr>
          <p:cNvPr id="10" name="Text 8"/>
          <p:cNvSpPr txBox="1"/>
          <p:nvPr/>
        </p:nvSpPr>
        <p:spPr>
          <a:xfrm>
            <a:off x="411480" y="397459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complete listing of rps_v1_0_0.py, read the left column first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a loop walks through</a:t>
            </a:r>
            <a:endParaRPr lang="en-US" sz="26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A for statement is only as useful as the values it is given. This branch is the supply: the range, the helpers that add a count or a second sequence, the protocol every for loop obeys, and the collections that real loops traverse.</a:t>
            </a:r>
            <a:endParaRPr lang="en-US" sz="1500" dirty="0"/>
          </a:p>
        </p:txBody>
      </p:sp>
      <p:sp>
        <p:nvSpPr>
          <p:cNvPr id="5" name="Text 3"/>
          <p:cNvSpPr txBox="1"/>
          <p:nvPr/>
        </p:nvSpPr>
        <p:spPr>
          <a:xfrm>
            <a:off x="548640" y="4078224"/>
            <a:ext cx="8046720" cy="512064"/>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The range   ·   The iteration helpers   ·   The iteration protocol   ·   The collections a loop traverses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range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ways to call it, and four things it is</a:t>
            </a:r>
            <a:endParaRPr lang="en-US" sz="1300" dirty="0"/>
          </a:p>
        </p:txBody>
      </p:sp>
      <p:sp>
        <p:nvSpPr>
          <p:cNvPr id="6" name="Shape 4"/>
          <p:cNvSpPr/>
          <p:nvPr/>
        </p:nvSpPr>
        <p:spPr>
          <a:xfrm>
            <a:off x="4892040" y="1152144"/>
            <a:ext cx="3840480" cy="1502664"/>
          </a:xfrm>
          <a:prstGeom prst="roundRect">
            <a:avLst>
              <a:gd name="adj" fmla="val 6085"/>
            </a:avLst>
          </a:prstGeom>
          <a:solidFill>
            <a:srgbClr val="17202B"/>
          </a:solidFill>
          <a:ln w="12700">
            <a:solidFill>
              <a:srgbClr val="17202B"/>
            </a:solidFill>
            <a:prstDash val="solid"/>
          </a:ln>
        </p:spPr>
      </p:sp>
      <p:sp>
        <p:nvSpPr>
          <p:cNvPr id="7" name="Text 5"/>
          <p:cNvSpPr txBox="1"/>
          <p:nvPr/>
        </p:nvSpPr>
        <p:spPr>
          <a:xfrm>
            <a:off x="5093208" y="1252728"/>
            <a:ext cx="3438144" cy="1301496"/>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list(range(5))</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[0, 1, 2, 3, 4]</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list('abc')</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['a', 'b', 'c']</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list({'a': 1, 'b': 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['a', 'b']</a:t>
            </a:r>
            <a:endParaRPr lang="en-US" sz="1400" dirty="0"/>
          </a:p>
        </p:txBody>
      </p:sp>
      <p:sp>
        <p:nvSpPr>
          <p:cNvPr id="8" name="Text 6"/>
          <p:cNvSpPr txBox="1"/>
          <p:nvPr/>
        </p:nvSpPr>
        <p:spPr>
          <a:xfrm>
            <a:off x="4892040" y="2673096"/>
            <a:ext cx="3840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224528" cy="3167380"/>
          </a:xfrm>
          <a:prstGeom prst="roundRect">
            <a:avLst>
              <a:gd name="adj" fmla="val 2887"/>
            </a:avLst>
          </a:prstGeom>
          <a:solidFill>
            <a:srgbClr val="F1F4F8"/>
          </a:solidFill>
          <a:ln w="12700">
            <a:solidFill>
              <a:srgbClr val="F1F4F8"/>
            </a:solidFill>
            <a:prstDash val="solid"/>
          </a:ln>
        </p:spPr>
      </p:sp>
      <p:sp>
        <p:nvSpPr>
          <p:cNvPr id="10" name="Text 8"/>
          <p:cNvSpPr txBox="1"/>
          <p:nvPr/>
        </p:nvSpPr>
        <p:spPr>
          <a:xfrm>
            <a:off x="594360" y="1280160"/>
            <a:ext cx="3858768" cy="291134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range sequence is the arithmetic progression of integers the built-in range produces. The tutorial describes the function as one that generates arithmetic progressions, and the reference adds that range is really an immutable sequence type and not a function at all (Python Software Foundation, 2026). Counting is the commonest reason to loop, and range is Python's way of counting: learning its three forms makes it possible to loop forwards, backwards and in strides without writing a counter by hand, and learning its other properties explains why it can stand for a very long sequence at almost no cost.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range with a stop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nought up to, but not including, the number given</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Called with a single argument, range(stop) stands for the whole numbers from nought up to the number just before stop. The tutorial puts it this way: the given end point is never part of the generated sequence, and range(10) generates ten values, which are the legal indices for a sequence of length ten (Python Software Foundation, 2026). Doing something n times is the commonest kind of loop, and this is the usual way to write it. Starting at nought is not an accident: the values are exactly the positions of the items of a sequence of that length.</a:t>
            </a:r>
            <a:endParaRPr lang="en-US" sz="1300" dirty="0"/>
          </a:p>
        </p:txBody>
      </p:sp>
      <p:sp>
        <p:nvSpPr>
          <p:cNvPr id="8" name="Shape 6"/>
          <p:cNvSpPr/>
          <p:nvPr/>
        </p:nvSpPr>
        <p:spPr>
          <a:xfrm>
            <a:off x="5358384" y="1152144"/>
            <a:ext cx="3374136" cy="1177290"/>
          </a:xfrm>
          <a:prstGeom prst="roundRect">
            <a:avLst>
              <a:gd name="adj" fmla="val 7767"/>
            </a:avLst>
          </a:prstGeom>
          <a:solidFill>
            <a:srgbClr val="17202B"/>
          </a:solidFill>
          <a:ln w="12700">
            <a:solidFill>
              <a:srgbClr val="17202B"/>
            </a:solidFill>
            <a:prstDash val="solid"/>
          </a:ln>
        </p:spPr>
      </p:sp>
      <p:sp>
        <p:nvSpPr>
          <p:cNvPr id="9" name="Text 7"/>
          <p:cNvSpPr txBox="1"/>
          <p:nvPr/>
        </p:nvSpPr>
        <p:spPr>
          <a:xfrm>
            <a:off x="5559552" y="1252728"/>
            <a:ext cx="2971800" cy="976122"/>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list(range(5))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1, 2, 3, 4]</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len(range(5))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5</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list(range(0))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range(2.5)</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TypeError: 'float' object cannot be interpreted as an integer</a:t>
            </a:r>
            <a:endParaRPr lang="en-US" sz="700" dirty="0"/>
          </a:p>
        </p:txBody>
      </p:sp>
      <p:sp>
        <p:nvSpPr>
          <p:cNvPr id="10" name="Text 8"/>
          <p:cNvSpPr txBox="1"/>
          <p:nvPr/>
        </p:nvSpPr>
        <p:spPr>
          <a:xfrm>
            <a:off x="5358384" y="234772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824986"/>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classic mistake is to expect the end point to be included. The arguments must also be integers, as the last line of the card shows.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range with a start and a stop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Beginning somewhere other than nought</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With two arguments, range(start, stop) begins at start and ends just before stop. The book introduces it as the way to follow any sequence of integers, including one that does not start at zero (Sweigart, 2025). Many counts do not begin at nought - the years of a period, the lines of a page, the numbers one to ten for people who count from one - and the two-argument form makes the first value explicit, so the loop says what it covers and the author does not adjust a zero-based counter by adding one. The number of values is the stop minus the start.</a:t>
            </a:r>
            <a:endParaRPr lang="en-US" sz="1300" dirty="0"/>
          </a:p>
        </p:txBody>
      </p:sp>
      <p:sp>
        <p:nvSpPr>
          <p:cNvPr id="8" name="Shape 6"/>
          <p:cNvSpPr/>
          <p:nvPr/>
        </p:nvSpPr>
        <p:spPr>
          <a:xfrm>
            <a:off x="5358384" y="1152144"/>
            <a:ext cx="3374136" cy="1502664"/>
          </a:xfrm>
          <a:prstGeom prst="roundRect">
            <a:avLst>
              <a:gd name="adj" fmla="val 6085"/>
            </a:avLst>
          </a:prstGeom>
          <a:solidFill>
            <a:srgbClr val="17202B"/>
          </a:solidFill>
          <a:ln w="12700">
            <a:solidFill>
              <a:srgbClr val="17202B"/>
            </a:solidFill>
            <a:prstDash val="solid"/>
          </a:ln>
        </p:spPr>
      </p:sp>
      <p:sp>
        <p:nvSpPr>
          <p:cNvPr id="9" name="Text 7"/>
          <p:cNvSpPr txBox="1"/>
          <p:nvPr/>
        </p:nvSpPr>
        <p:spPr>
          <a:xfrm>
            <a:off x="5559552" y="1252728"/>
            <a:ext cx="2971800" cy="1301496"/>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list(range(12, 16))</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[12, 13, 14, 15]</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len(range(12, 16))</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4</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list(range(16, 12))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a:t>
            </a:r>
            <a:endParaRPr lang="en-US" sz="1400" dirty="0"/>
          </a:p>
        </p:txBody>
      </p:sp>
      <p:sp>
        <p:nvSpPr>
          <p:cNvPr id="10" name="Text 8"/>
          <p:cNvSpPr txBox="1"/>
          <p:nvPr/>
        </p:nvSpPr>
        <p:spPr>
          <a:xfrm>
            <a:off x="5358384" y="2673096"/>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824986"/>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order of the arguments matters, and the reversed order does not raise an error: it simply yields nothing, which can look like a loop that was skipped.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range with a step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amount the value rises by</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third argument to range is the step, the amount by which the value is increased after each iteration, and if it is omitted it is one (Python Software Foundation, 2026). Striding through the values lets a loop visit every second item, every tenth year or every multiple of some number without testing each value in the block: the step turns a filter the author would have to write into a property of the sequence itself. The rule for the contents is unchanged - start, start plus one step, start plus two steps - for as long as the values stay below the stop.</a:t>
            </a:r>
            <a:endParaRPr lang="en-US" sz="1300" dirty="0"/>
          </a:p>
        </p:txBody>
      </p:sp>
      <p:sp>
        <p:nvSpPr>
          <p:cNvPr id="8" name="Shape 6"/>
          <p:cNvSpPr/>
          <p:nvPr/>
        </p:nvSpPr>
        <p:spPr>
          <a:xfrm>
            <a:off x="5358384" y="1152144"/>
            <a:ext cx="3374136"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5559552" y="1252728"/>
            <a:ext cx="2971800" cy="1115568"/>
          </a:xfrm>
          <a:prstGeom prst="rect">
            <a:avLst/>
          </a:prstGeom>
          <a:noFill/>
          <a:ln/>
        </p:spPr>
        <p:txBody>
          <a:bodyPr wrap="square" lIns="0" tIns="0" rIns="0" bIns="0" rtlCol="0" anchor="t"/>
          <a:lstStyle/>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list(range(0, 10, 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2, 4, 6, 8]</a:t>
            </a:r>
            <a:endParaRPr lang="en-US" sz="900" dirty="0"/>
          </a:p>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list(range(0, 10, 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3, 6, 9]</a:t>
            </a:r>
            <a:endParaRPr lang="en-US" sz="900" dirty="0"/>
          </a:p>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len(range(0, 10, 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t>
            </a:r>
            <a:endParaRPr lang="en-US" sz="900" dirty="0"/>
          </a:p>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range(0, 10, 0)</a:t>
            </a:r>
            <a:endParaRPr lang="en-US" sz="900" dirty="0"/>
          </a:p>
          <a:p>
            <a:pPr indent="0" marL="0">
              <a:buNone/>
            </a:pPr>
            <a:r>
              <a:rPr lang="en-US" sz="900" dirty="0">
                <a:solidFill>
                  <a:srgbClr val="FF7B72"/>
                </a:solidFill>
                <a:latin typeface="Courier New" pitchFamily="34" charset="0"/>
                <a:ea typeface="Courier New" pitchFamily="34" charset="-122"/>
                <a:cs typeface="Courier New" pitchFamily="34" charset="-120"/>
              </a:rPr>
              <a:t>ValueError: range() arg 3 must not be zero</a:t>
            </a:r>
            <a:endParaRPr lang="en-US" sz="900" dirty="0"/>
          </a:p>
        </p:txBody>
      </p:sp>
      <p:sp>
        <p:nvSpPr>
          <p:cNvPr id="10" name="Text 8"/>
          <p:cNvSpPr txBox="1"/>
          <p:nvPr/>
        </p:nvSpPr>
        <p:spPr>
          <a:xfrm>
            <a:off x="5358384" y="248716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824986"/>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step of zero would never leave the first value, so Python refuses it. The end point stays excluded even when a step would land exactly on it.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Counting down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negative step, and a stop one beyond the end</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negative step makes a range count down. The book's example counts from five down to nought and describes the negative step as the way to make a for loop count down (Sweigart, 2025). The end point is excluded as always, which is why the stop has to be one beyond the last number wanted. Counting down is needed for countdowns, for scanning a sequence from its end towards its beginning and for removing items from the back first. For an existing sequence the tutorial recommends a different tool, the reversed function.</a:t>
            </a:r>
            <a:endParaRPr lang="en-US" sz="1300" dirty="0"/>
          </a:p>
        </p:txBody>
      </p:sp>
      <p:sp>
        <p:nvSpPr>
          <p:cNvPr id="8" name="Shape 6"/>
          <p:cNvSpPr/>
          <p:nvPr/>
        </p:nvSpPr>
        <p:spPr>
          <a:xfrm>
            <a:off x="5358384" y="1152144"/>
            <a:ext cx="3374136" cy="1564640"/>
          </a:xfrm>
          <a:prstGeom prst="roundRect">
            <a:avLst>
              <a:gd name="adj" fmla="val 5844"/>
            </a:avLst>
          </a:prstGeom>
          <a:solidFill>
            <a:srgbClr val="17202B"/>
          </a:solidFill>
          <a:ln w="12700">
            <a:solidFill>
              <a:srgbClr val="17202B"/>
            </a:solidFill>
            <a:prstDash val="solid"/>
          </a:ln>
        </p:spPr>
      </p:sp>
      <p:sp>
        <p:nvSpPr>
          <p:cNvPr id="9" name="Text 7"/>
          <p:cNvSpPr txBox="1"/>
          <p:nvPr/>
        </p:nvSpPr>
        <p:spPr>
          <a:xfrm>
            <a:off x="5559552" y="1252728"/>
            <a:ext cx="2971800" cy="1363472"/>
          </a:xfrm>
          <a:prstGeom prst="rect">
            <a:avLst/>
          </a:prstGeom>
          <a:noFill/>
          <a:ln/>
        </p:spPr>
        <p:txBody>
          <a:bodyPr wrap="square" lIns="0" tIns="0" rIns="0" bIns="0" rtlCol="0" anchor="t"/>
          <a:lstStyle/>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list(range(5, -1,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 4, 3, 2, 1, 0]</a:t>
            </a:r>
            <a:endParaRPr lang="en-US" sz="1100" dirty="0"/>
          </a:p>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list(range(-10, -100, -30))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 -40, -70]</a:t>
            </a:r>
            <a:endParaRPr lang="en-US" sz="1100" dirty="0"/>
          </a:p>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list(range(5, 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t>
            </a:r>
            <a:endParaRPr lang="en-US" sz="1100" dirty="0"/>
          </a:p>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list(reversed(range(1, 10,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[9, 7, 5, 3, 1]</a:t>
            </a:r>
            <a:endParaRPr lang="en-US" sz="1100" dirty="0"/>
          </a:p>
        </p:txBody>
      </p:sp>
      <p:sp>
        <p:nvSpPr>
          <p:cNvPr id="10" name="Text 8"/>
          <p:cNvSpPr txBox="1"/>
          <p:nvPr/>
        </p:nvSpPr>
        <p:spPr>
          <a:xfrm>
            <a:off x="5358384" y="273507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623564"/>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default step is positive, so a range from five to nought is empty: it asks Python to count up from five towards nought, which it cannot do.</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A range is lazy</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It produces its values; it does not store them</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range is lazy: it does not store its values but produces them when they are asked for. The tutorial shows that printing a range displays the call rather than the numbers, and explains that the object behaves in many ways as if it were a list but in fact is not - it returns the successive items when you iterate over it, without really making the list, thus saving space (Python Software Foundation, 2026). A range object always takes the same small amount of memory however large it is, because it stores only the start, the stop and the step.</a:t>
            </a:r>
            <a:endParaRPr lang="en-US" sz="1300" dirty="0"/>
          </a:p>
        </p:txBody>
      </p:sp>
      <p:sp>
        <p:nvSpPr>
          <p:cNvPr id="8" name="Shape 6"/>
          <p:cNvSpPr/>
          <p:nvPr/>
        </p:nvSpPr>
        <p:spPr>
          <a:xfrm>
            <a:off x="5358384" y="1152144"/>
            <a:ext cx="3374136" cy="1688592"/>
          </a:xfrm>
          <a:prstGeom prst="roundRect">
            <a:avLst>
              <a:gd name="adj" fmla="val 5415"/>
            </a:avLst>
          </a:prstGeom>
          <a:solidFill>
            <a:srgbClr val="17202B"/>
          </a:solidFill>
          <a:ln w="12700">
            <a:solidFill>
              <a:srgbClr val="17202B"/>
            </a:solidFill>
            <a:prstDash val="solid"/>
          </a:ln>
        </p:spPr>
      </p:sp>
      <p:sp>
        <p:nvSpPr>
          <p:cNvPr id="9" name="Text 7"/>
          <p:cNvSpPr txBox="1"/>
          <p:nvPr/>
        </p:nvSpPr>
        <p:spPr>
          <a:xfrm>
            <a:off x="5559552" y="1252728"/>
            <a:ext cx="2971800" cy="1487424"/>
          </a:xfrm>
          <a:prstGeom prst="rect">
            <a:avLst/>
          </a:prstGeom>
          <a:noFill/>
          <a:ln/>
        </p:spPr>
        <p:txBody>
          <a:bodyPr wrap="square" lIns="0" tIns="0" rIns="0" bIns="0" rtlCol="0" anchor="t"/>
          <a:lstStyle/>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range(10)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range(0, 10)</a:t>
            </a:r>
            <a:endParaRPr lang="en-US" sz="1200" dirty="0"/>
          </a:p>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range(10) == list(range(10))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False</a:t>
            </a:r>
            <a:endParaRPr lang="en-US" sz="1200" dirty="0"/>
          </a:p>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isinstance(range(3), list)</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False</a:t>
            </a:r>
            <a:endParaRPr lang="en-US" sz="1200" dirty="0"/>
          </a:p>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sum(range(4))</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6</a:t>
            </a:r>
            <a:endParaRPr lang="en-US" sz="1200" dirty="0"/>
          </a:p>
        </p:txBody>
      </p:sp>
      <p:sp>
        <p:nvSpPr>
          <p:cNvPr id="10" name="Text 8"/>
          <p:cNvSpPr txBox="1"/>
          <p:nvPr/>
        </p:nvSpPr>
        <p:spPr>
          <a:xfrm>
            <a:off x="5358384" y="2859024"/>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824986"/>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range is not a list, however similar it looks: it is not equal to a list holding the same values, and it is not an instance of list. If a real list is needed, convert it.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half-open range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start included, the end excluded</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Python writes ranges in the closed-open form: the start is included and the end is excluded. The book explains in a box of its own why the loop goes up to but not including the number given, and says that ranges are often specified this way because it leads to fewer bugs (Sweigart, 2025). The size of the range is the end minus the start, where a closed-closed range needs an addition that is easily written as a subtraction; and the start of the next range is simply the end of the previous one, so neighbouring ranges join without a gap and without an overlap.</a:t>
            </a:r>
            <a:endParaRPr lang="en-US" sz="1250" dirty="0"/>
          </a:p>
        </p:txBody>
      </p:sp>
      <p:sp>
        <p:nvSpPr>
          <p:cNvPr id="8" name="Shape 6"/>
          <p:cNvSpPr/>
          <p:nvPr/>
        </p:nvSpPr>
        <p:spPr>
          <a:xfrm>
            <a:off x="5358384" y="1152144"/>
            <a:ext cx="3374136" cy="1177290"/>
          </a:xfrm>
          <a:prstGeom prst="roundRect">
            <a:avLst>
              <a:gd name="adj" fmla="val 7767"/>
            </a:avLst>
          </a:prstGeom>
          <a:solidFill>
            <a:srgbClr val="17202B"/>
          </a:solidFill>
          <a:ln w="12700">
            <a:solidFill>
              <a:srgbClr val="17202B"/>
            </a:solidFill>
            <a:prstDash val="solid"/>
          </a:ln>
        </p:spPr>
      </p:sp>
      <p:sp>
        <p:nvSpPr>
          <p:cNvPr id="9" name="Text 7"/>
          <p:cNvSpPr txBox="1"/>
          <p:nvPr/>
        </p:nvSpPr>
        <p:spPr>
          <a:xfrm>
            <a:off x="5559552" y="1252728"/>
            <a:ext cx="2971800" cy="976122"/>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len(range(0, 24))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24</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list(range(1, 11))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2, 3, 4, 5, 6, 7, 8, 9, 10]</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'hello'[1:3]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'el'</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list(range(0, 5)) + list(range(5, 10)) == list(range(10))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p:txBody>
      </p:sp>
      <p:sp>
        <p:nvSpPr>
          <p:cNvPr id="10" name="Text 8"/>
          <p:cNvSpPr txBox="1"/>
          <p:nvPr/>
        </p:nvSpPr>
        <p:spPr>
          <a:xfrm>
            <a:off x="5358384" y="234772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739769"/>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convention takes getting used to; the book says it may seem odd at first but becomes second nature. When the last number must be included, the end point has to be one larger.</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What else a range can do</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Length, membership, indexing and slicing</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range is a full sequence and supports most of the operations lists and strings have. The library documentation lists length, membership tests, indexing with positive and negative positions, slicing and index lookup, and says that ranges implement all of the common sequence operations except concatenation and repetition (Python Software Foundation, 2026). These let a program ask questions of a range without looping over it, and membership of an integer is decided by computation rather than by walking the values, so it is answered in constant time however long the range is.</a:t>
            </a:r>
            <a:endParaRPr lang="en-US" sz="1300" dirty="0"/>
          </a:p>
        </p:txBody>
      </p:sp>
      <p:sp>
        <p:nvSpPr>
          <p:cNvPr id="8" name="Shape 6"/>
          <p:cNvSpPr/>
          <p:nvPr/>
        </p:nvSpPr>
        <p:spPr>
          <a:xfrm>
            <a:off x="5358384" y="1152144"/>
            <a:ext cx="3374136" cy="3021076"/>
          </a:xfrm>
          <a:prstGeom prst="roundRect">
            <a:avLst>
              <a:gd name="adj" fmla="val 3027"/>
            </a:avLst>
          </a:prstGeom>
          <a:solidFill>
            <a:srgbClr val="17202B"/>
          </a:solidFill>
          <a:ln w="12700">
            <a:solidFill>
              <a:srgbClr val="17202B"/>
            </a:solidFill>
            <a:prstDash val="solid"/>
          </a:ln>
        </p:spPr>
      </p:sp>
      <p:sp>
        <p:nvSpPr>
          <p:cNvPr id="9" name="Text 7"/>
          <p:cNvSpPr txBox="1"/>
          <p:nvPr/>
        </p:nvSpPr>
        <p:spPr>
          <a:xfrm>
            <a:off x="5559552" y="1252728"/>
            <a:ext cx="2971800" cy="2819908"/>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r = range(0, 20, 2)</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10 in r</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11 in r</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r[5]</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10</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r.index(10)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5</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r[-1]</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18</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r[:5]</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range(0, 10, 2)</a:t>
            </a:r>
            <a:endParaRPr lang="en-US" sz="1400" dirty="0"/>
          </a:p>
        </p:txBody>
      </p:sp>
      <p:sp>
        <p:nvSpPr>
          <p:cNvPr id="10" name="Text 8"/>
          <p:cNvSpPr txBox="1"/>
          <p:nvPr/>
        </p:nvSpPr>
        <p:spPr>
          <a:xfrm>
            <a:off x="5358384" y="419150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824986"/>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operations that would break the pattern of an arithmetic progression are missing: joining two ranges with the plus sign raises a TypeError, and so does repeating one.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iteration helpers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count beside each item, a second sequence alongside, and the names to receive them</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Iteration helpers are built-in functions that wrap an iterable so a loop sees more than its plain items. The chapter has two: enumerate adds a running count to each item, and zip walks through several iterables side by side; the Python tutorial presents both in its section on looping techniques (Python Software Foundation, 2026). Beginners often reach for a range over the length of a list and an index when they need a position or a second sequence, and the resulting code is harder to read and easier to get wrong. The helpers say what is meant directly.</a:t>
            </a:r>
            <a:endParaRPr lang="en-US" sz="1300" dirty="0"/>
          </a:p>
        </p:txBody>
      </p:sp>
      <p:sp>
        <p:nvSpPr>
          <p:cNvPr id="8" name="Shape 6"/>
          <p:cNvSpPr/>
          <p:nvPr/>
        </p:nvSpPr>
        <p:spPr>
          <a:xfrm>
            <a:off x="411480" y="2817876"/>
            <a:ext cx="4572000" cy="573024"/>
          </a:xfrm>
          <a:prstGeom prst="roundRect">
            <a:avLst>
              <a:gd name="adj" fmla="val 15957"/>
            </a:avLst>
          </a:prstGeom>
          <a:solidFill>
            <a:srgbClr val="17202B"/>
          </a:solidFill>
          <a:ln w="12700">
            <a:solidFill>
              <a:srgbClr val="17202B"/>
            </a:solidFill>
            <a:prstDash val="solid"/>
          </a:ln>
        </p:spPr>
      </p:sp>
      <p:sp>
        <p:nvSpPr>
          <p:cNvPr id="9" name="Text 7"/>
          <p:cNvSpPr txBox="1"/>
          <p:nvPr/>
        </p:nvSpPr>
        <p:spPr>
          <a:xfrm>
            <a:off x="612648" y="2918460"/>
            <a:ext cx="4169664" cy="37185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for i, v in enumerate(['tic', 'tac', 'toe']):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print(i, v)</a:t>
            </a:r>
            <a:endParaRPr lang="en-US" sz="1200" dirty="0"/>
          </a:p>
        </p:txBody>
      </p:sp>
      <p:sp>
        <p:nvSpPr>
          <p:cNvPr id="10" name="Shape 8"/>
          <p:cNvSpPr/>
          <p:nvPr/>
        </p:nvSpPr>
        <p:spPr>
          <a:xfrm>
            <a:off x="5166360" y="2817876"/>
            <a:ext cx="3566160" cy="758952"/>
          </a:xfrm>
          <a:prstGeom prst="roundRect">
            <a:avLst>
              <a:gd name="adj" fmla="val 12048"/>
            </a:avLst>
          </a:prstGeom>
          <a:solidFill>
            <a:srgbClr val="0F1823"/>
          </a:solidFill>
          <a:ln w="12700">
            <a:solidFill>
              <a:srgbClr val="0F1823"/>
            </a:solidFill>
            <a:prstDash val="solid"/>
          </a:ln>
        </p:spPr>
      </p:sp>
      <p:sp>
        <p:nvSpPr>
          <p:cNvPr id="11" name="Text 9"/>
          <p:cNvSpPr txBox="1"/>
          <p:nvPr/>
        </p:nvSpPr>
        <p:spPr>
          <a:xfrm>
            <a:off x="5367528" y="2918460"/>
            <a:ext cx="3163824" cy="557784"/>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0 tic</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1 tac</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2 toe</a:t>
            </a:r>
            <a:endParaRPr lang="en-US" sz="1200" dirty="0"/>
          </a:p>
        </p:txBody>
      </p:sp>
      <p:sp>
        <p:nvSpPr>
          <p:cNvPr id="12" name="Text 10"/>
          <p:cNvSpPr txBox="1"/>
          <p:nvPr/>
        </p:nvSpPr>
        <p:spPr>
          <a:xfrm>
            <a:off x="411480" y="359511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for_pairs_v1_0_0.py, run under Python 3.14.4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enumerate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Each item with its running count</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enumerate function takes an iterable and returns an iterator of pairs, each made of a count and the corresponding item; the count begins at start, which defaults to nought (Python Software Foundation, 2026). A loop often needs both the position of an item and the item itself, for numbered output or to compare neighbours. The tutorial first shows how to do this with a range over the length of the list, and then says that in most such cases it is convenient to use enumerate instead. Each pair is a tuple, and the for statement unpacks it into the two variables of the loop.</a:t>
            </a:r>
            <a:endParaRPr lang="en-US" sz="1250" dirty="0"/>
          </a:p>
        </p:txBody>
      </p:sp>
      <p:sp>
        <p:nvSpPr>
          <p:cNvPr id="8" name="Shape 6"/>
          <p:cNvSpPr/>
          <p:nvPr/>
        </p:nvSpPr>
        <p:spPr>
          <a:xfrm>
            <a:off x="5358384" y="1152144"/>
            <a:ext cx="3374136"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5559552" y="1252728"/>
            <a:ext cx="2971800" cy="867664"/>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list(enumerate(['Spring', 'Summer', 'Fall', 'Winter']))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'Spring'), (1, 'Summer'), (2, 'Fall'), (3, 'Winter')]</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list(enumerate(['tic', 'tac', 'toe'], start=1))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'tic'), (2, 'tac'), (3, 'toe')]</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next(enumerate('ab'))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'a')</a:t>
            </a:r>
            <a:endParaRPr lang="en-US" sz="700" dirty="0"/>
          </a:p>
        </p:txBody>
      </p:sp>
      <p:sp>
        <p:nvSpPr>
          <p:cNvPr id="10" name="Text 8"/>
          <p:cNvSpPr txBox="1"/>
          <p:nvPr/>
        </p:nvSpPr>
        <p:spPr>
          <a:xfrm>
            <a:off x="5358384" y="2239264"/>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739769"/>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counting starts at nought by default, which is right for positions and wrong for numbering people read; the start argument fixes that. Printing the enumerate object itself shows only an object description.</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zip, and zip in strict mode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Several iterables walked together</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zip function walks through several iterables in parallel and produces tuples: the first holds the first item of each, the second the second items, and so on (Python Software Foundation, 2026). Since Python 3.10 it takes an optional keyword argument strict, and with strict set the iterables must have the same length. The default behaviour has a weakness PEP 618 describes: when the lengths differ, zip stops at the shortest and silently ignores the rest, so faulty refactoring or logic errors could easily result in silently losing data (Bucher, 2020).</a:t>
            </a:r>
            <a:endParaRPr lang="en-US" sz="1250" dirty="0"/>
          </a:p>
        </p:txBody>
      </p:sp>
      <p:sp>
        <p:nvSpPr>
          <p:cNvPr id="8" name="Shape 6"/>
          <p:cNvSpPr/>
          <p:nvPr/>
        </p:nvSpPr>
        <p:spPr>
          <a:xfrm>
            <a:off x="5358384" y="1152144"/>
            <a:ext cx="3374136" cy="851916"/>
          </a:xfrm>
          <a:prstGeom prst="roundRect">
            <a:avLst>
              <a:gd name="adj" fmla="val 10733"/>
            </a:avLst>
          </a:prstGeom>
          <a:solidFill>
            <a:srgbClr val="17202B"/>
          </a:solidFill>
          <a:ln w="12700">
            <a:solidFill>
              <a:srgbClr val="17202B"/>
            </a:solidFill>
            <a:prstDash val="solid"/>
          </a:ln>
        </p:spPr>
      </p:sp>
      <p:sp>
        <p:nvSpPr>
          <p:cNvPr id="9" name="Text 7"/>
          <p:cNvSpPr txBox="1"/>
          <p:nvPr/>
        </p:nvSpPr>
        <p:spPr>
          <a:xfrm>
            <a:off x="5559552" y="1252728"/>
            <a:ext cx="2971800" cy="650748"/>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list(zip('abc', [1,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1), ('b', 2)]</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list(zip('ab', [1, 2], strict=True))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1), ('b', 2)]</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list(zip('ab', [1], strict=True))</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ValueError: zip() argument 2 is shorter than argument 1</a:t>
            </a:r>
            <a:endParaRPr lang="en-US" sz="700" dirty="0"/>
          </a:p>
        </p:txBody>
      </p:sp>
      <p:sp>
        <p:nvSpPr>
          <p:cNvPr id="10" name="Text 8"/>
          <p:cNvSpPr txBox="1"/>
          <p:nvPr/>
        </p:nvSpPr>
        <p:spPr>
          <a:xfrm>
            <a:off x="5358384" y="202234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error is raised only when the mismatch is reached, after the pairs before it have been produced, so a loop may already have acted on some of them. The keyword was added in Python 3.10.</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Unpacking in a loop header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Several names receiving the parts of one item</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Unpacking is the assignment of the parts of a sequence to several variables at once. In a for statement the variable after the keyword can be a list of names, and each item of the iterable is assigned to that list by the ordinary rules of assignment (Python Software Foundation, 2026). That is what makes a loop over pairs work. Without it, such a loop would have to index each pair, which hides the meaning of the parts; with two named variables the block reads as a sentence about an index and a value, or a key and a value. The counts must agree.</a:t>
            </a:r>
            <a:endParaRPr lang="en-US" sz="1250" dirty="0"/>
          </a:p>
        </p:txBody>
      </p:sp>
      <p:sp>
        <p:nvSpPr>
          <p:cNvPr id="8" name="Shape 6"/>
          <p:cNvSpPr/>
          <p:nvPr/>
        </p:nvSpPr>
        <p:spPr>
          <a:xfrm>
            <a:off x="5358384" y="1152144"/>
            <a:ext cx="3374136"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5559552" y="1252728"/>
            <a:ext cx="2971800" cy="867664"/>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x, y = (1, 2)</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x, y = (1,)</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ValueError: not enough values to unpack (expected 2, got 1)</a:t>
            </a:r>
            <a:endParaRPr lang="en-US" sz="700" dirty="0"/>
          </a:p>
        </p:txBody>
      </p:sp>
      <p:sp>
        <p:nvSpPr>
          <p:cNvPr id="10" name="Text 8"/>
          <p:cNvSpPr txBox="1"/>
          <p:nvPr/>
        </p:nvSpPr>
        <p:spPr>
          <a:xfrm>
            <a:off x="5358384" y="2239264"/>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Too few values, or too many, raise a ValueError that says exactly how many were expected and how many arrived. The names are ordinary variables and keep their last values after the loop.</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iteration protocol</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a for loop actually asks of the thing it walks through</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iteration protocol is the agreement between a for loop and the objects it walks through. An object that can be walked through is an iterable; the loop asks it for an iterator; and the iterator hands out the items one at a time and announces when there are no more (Python Software Foundation, 2026). The protocol explains why one for statement works with a range, a list, a string, a dictionary or an enumerate object alike. It also explains behaviours that otherwise look like quirks, such as an iterator that is empty the second time it is walked through.</a:t>
            </a:r>
            <a:endParaRPr lang="en-US" sz="1300" dirty="0"/>
          </a:p>
        </p:txBody>
      </p:sp>
      <p:sp>
        <p:nvSpPr>
          <p:cNvPr id="8" name="Shape 6"/>
          <p:cNvSpPr/>
          <p:nvPr/>
        </p:nvSpPr>
        <p:spPr>
          <a:xfrm>
            <a:off x="411480" y="2817876"/>
            <a:ext cx="4572000" cy="696976"/>
          </a:xfrm>
          <a:prstGeom prst="roundRect">
            <a:avLst>
              <a:gd name="adj" fmla="val 13120"/>
            </a:avLst>
          </a:prstGeom>
          <a:solidFill>
            <a:srgbClr val="17202B"/>
          </a:solidFill>
          <a:ln w="12700">
            <a:solidFill>
              <a:srgbClr val="17202B"/>
            </a:solidFill>
            <a:prstDash val="solid"/>
          </a:ln>
        </p:spPr>
      </p:sp>
      <p:sp>
        <p:nvSpPr>
          <p:cNvPr id="9" name="Text 7"/>
          <p:cNvSpPr txBox="1"/>
          <p:nvPr/>
        </p:nvSpPr>
        <p:spPr>
          <a:xfrm>
            <a:off x="612648" y="2918460"/>
            <a:ext cx="4169664" cy="49580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it = iter([10, 20])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print(next(it))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print(next(it))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print(next(it))</a:t>
            </a:r>
            <a:endParaRPr lang="en-US" sz="800" dirty="0"/>
          </a:p>
        </p:txBody>
      </p:sp>
      <p:sp>
        <p:nvSpPr>
          <p:cNvPr id="10" name="Shape 8"/>
          <p:cNvSpPr/>
          <p:nvPr/>
        </p:nvSpPr>
        <p:spPr>
          <a:xfrm>
            <a:off x="5166360" y="2817876"/>
            <a:ext cx="3566160" cy="1068832"/>
          </a:xfrm>
          <a:prstGeom prst="roundRect">
            <a:avLst>
              <a:gd name="adj" fmla="val 8555"/>
            </a:avLst>
          </a:prstGeom>
          <a:solidFill>
            <a:srgbClr val="0F1823"/>
          </a:solidFill>
          <a:ln w="12700">
            <a:solidFill>
              <a:srgbClr val="0F1823"/>
            </a:solidFill>
            <a:prstDash val="solid"/>
          </a:ln>
        </p:spPr>
      </p:sp>
      <p:sp>
        <p:nvSpPr>
          <p:cNvPr id="11" name="Text 9"/>
          <p:cNvSpPr txBox="1"/>
          <p:nvPr/>
        </p:nvSpPr>
        <p:spPr>
          <a:xfrm>
            <a:off x="5367528" y="2918460"/>
            <a:ext cx="3163824" cy="867664"/>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10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20</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Traceback (most recent call last):</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  File "iter_next_v1_0_0.py", line 4, in &lt;module&gt;</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    print(next(it))</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StopIteration</a:t>
            </a:r>
            <a:endParaRPr lang="en-US" sz="800" dirty="0"/>
          </a:p>
        </p:txBody>
      </p:sp>
      <p:sp>
        <p:nvSpPr>
          <p:cNvPr id="12" name="Text 10"/>
          <p:cNvSpPr txBox="1"/>
          <p:nvPr/>
        </p:nvSpPr>
        <p:spPr>
          <a:xfrm>
            <a:off x="411480" y="390499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iter_next_v1_0_0.py, run under Python 3.14.4; its error output in red</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iterable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object that can give up its members one at a time</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An iterable is an object capable of returning its members one at a time. The glossary lists the sequence types such as list, str and tuple, and some other types such as dict and file objects, and adds that iterables can be used in a for loop and in many other places where a sequence is needed (Python Software Foundation, 2026). The idea is what lets one statement serve so many sources: the loop does not care whether its values come from a range, a list, a text or a file. Passed to the function iter, an iterable returns an iterator, and the for statement does this automatically.</a:t>
            </a:r>
            <a:endParaRPr lang="en-US" sz="1250" dirty="0"/>
          </a:p>
        </p:txBody>
      </p:sp>
      <p:sp>
        <p:nvSpPr>
          <p:cNvPr id="8" name="Shape 6"/>
          <p:cNvSpPr/>
          <p:nvPr/>
        </p:nvSpPr>
        <p:spPr>
          <a:xfrm>
            <a:off x="5358384" y="1152144"/>
            <a:ext cx="3374136" cy="1037844"/>
          </a:xfrm>
          <a:prstGeom prst="roundRect">
            <a:avLst>
              <a:gd name="adj" fmla="val 8811"/>
            </a:avLst>
          </a:prstGeom>
          <a:solidFill>
            <a:srgbClr val="17202B"/>
          </a:solidFill>
          <a:ln w="12700">
            <a:solidFill>
              <a:srgbClr val="17202B"/>
            </a:solidFill>
            <a:prstDash val="solid"/>
          </a:ln>
        </p:spPr>
      </p:sp>
      <p:sp>
        <p:nvSpPr>
          <p:cNvPr id="9" name="Text 7"/>
          <p:cNvSpPr txBox="1"/>
          <p:nvPr/>
        </p:nvSpPr>
        <p:spPr>
          <a:xfrm>
            <a:off x="5559552" y="1252728"/>
            <a:ext cx="2971800" cy="836676"/>
          </a:xfrm>
          <a:prstGeom prst="rect">
            <a:avLst/>
          </a:prstGeom>
          <a:noFill/>
          <a:ln/>
        </p:spPr>
        <p:txBody>
          <a:bodyPr wrap="square" lIns="0" tIns="0" rIns="0" bIns="0" rtlCol="0" anchor="t"/>
          <a:lstStyle/>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list('abc')</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['a', 'b', 'c']</a:t>
            </a:r>
            <a:endParaRPr lang="en-US" sz="900" dirty="0"/>
          </a:p>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list({'a': 1, 'b': 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['a', 'b']</a:t>
            </a:r>
            <a:endParaRPr lang="en-US" sz="900" dirty="0"/>
          </a:p>
          <a:p>
            <a:pPr indent="0" marL="0">
              <a:buNone/>
            </a:pPr>
            <a:r>
              <a:rPr lang="en-US" sz="900" b="1" dirty="0">
                <a:solidFill>
                  <a:srgbClr val="FFD43B"/>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iter(5)</a:t>
            </a:r>
            <a:endParaRPr lang="en-US" sz="900" dirty="0"/>
          </a:p>
          <a:p>
            <a:pPr indent="0" marL="0">
              <a:buNone/>
            </a:pPr>
            <a:r>
              <a:rPr lang="en-US" sz="900" dirty="0">
                <a:solidFill>
                  <a:srgbClr val="FF7B72"/>
                </a:solidFill>
                <a:latin typeface="Courier New" pitchFamily="34" charset="0"/>
                <a:ea typeface="Courier New" pitchFamily="34" charset="-122"/>
                <a:cs typeface="Courier New" pitchFamily="34" charset="-120"/>
              </a:rPr>
              <a:t>TypeError: 'int' object is not iterable</a:t>
            </a:r>
            <a:endParaRPr lang="en-US" sz="900" dirty="0"/>
          </a:p>
        </p:txBody>
      </p:sp>
      <p:sp>
        <p:nvSpPr>
          <p:cNvPr id="10" name="Text 8"/>
          <p:cNvSpPr txBox="1"/>
          <p:nvPr/>
        </p:nvSpPr>
        <p:spPr>
          <a:xfrm>
            <a:off x="5358384" y="2208276"/>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739769"/>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Not every object is iterable. The last line of the card is what for i in 5 does behind the scenes, and a beginner who writes that meant a range.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iterator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object that remembers where the loop is</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An iterator is an object representing a stream of data. Repeated calls to the built-in function next return successive items of the stream, and when no more data are available a StopIteration exception is raised instead (Python Software Foundation, 2026). At that point the iterator is exhausted. The iterator is the part that remembers where the loop is: it lets a for statement process data that does not exist all at once, and it is why a loop can stop cleanly, because the end of the data is a signal rather than a guess. Giving next a default returns that default instead of raising.</a:t>
            </a:r>
            <a:endParaRPr lang="en-US" sz="1250" dirty="0"/>
          </a:p>
        </p:txBody>
      </p:sp>
      <p:sp>
        <p:nvSpPr>
          <p:cNvPr id="8" name="Shape 6"/>
          <p:cNvSpPr/>
          <p:nvPr/>
        </p:nvSpPr>
        <p:spPr>
          <a:xfrm>
            <a:off x="5358384" y="1152144"/>
            <a:ext cx="3374136"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5559552" y="1252728"/>
            <a:ext cx="2971800" cy="1115568"/>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it = iter([10, 20])</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next(it)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10</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next(it)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20</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next(iter([]), 'done')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'done'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next([1, 2])</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TypeError: 'list' object is not an iterator</a:t>
            </a:r>
            <a:endParaRPr lang="en-US" sz="800" dirty="0"/>
          </a:p>
        </p:txBody>
      </p:sp>
      <p:sp>
        <p:nvSpPr>
          <p:cNvPr id="10" name="Text 8"/>
          <p:cNvSpPr txBox="1"/>
          <p:nvPr/>
        </p:nvSpPr>
        <p:spPr>
          <a:xfrm>
            <a:off x="5358384" y="248716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739769"/>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An iterator can be used only once; after it has been consumed a second pass gives nothing, which makes it look like an empty container. A list is iterable but is not itself an iterator, as the last line shows.</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collections a loop traverses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sequence, the list, the tuple and the dictionary</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collection value is a value that holds other values, and the chapter touches four: the sequence in general, the list, the tuple and the dictionary. Loops are written to process collections, and the book's own loops reach for them as soon as the examples become realistic. The tutorial's advice on changing a collection while looping over it, which the last branch of this chapter takes up, talks of lists and dictionaries, so these have to be understood first. The full treatment of each type belongs to the chapters that follow.</a:t>
            </a:r>
            <a:endParaRPr lang="en-US" sz="1300" dirty="0"/>
          </a:p>
        </p:txBody>
      </p:sp>
      <p:sp>
        <p:nvSpPr>
          <p:cNvPr id="8" name="Shape 6"/>
          <p:cNvSpPr/>
          <p:nvPr/>
        </p:nvSpPr>
        <p:spPr>
          <a:xfrm>
            <a:off x="411480" y="2817876"/>
            <a:ext cx="4572000" cy="758952"/>
          </a:xfrm>
          <a:prstGeom prst="roundRect">
            <a:avLst>
              <a:gd name="adj" fmla="val 12048"/>
            </a:avLst>
          </a:prstGeom>
          <a:solidFill>
            <a:srgbClr val="17202B"/>
          </a:solidFill>
          <a:ln w="12700">
            <a:solidFill>
              <a:srgbClr val="17202B"/>
            </a:solidFill>
            <a:prstDash val="solid"/>
          </a:ln>
        </p:spPr>
      </p:sp>
      <p:sp>
        <p:nvSpPr>
          <p:cNvPr id="9" name="Text 7"/>
          <p:cNvSpPr txBox="1"/>
          <p:nvPr/>
        </p:nvSpPr>
        <p:spPr>
          <a:xfrm>
            <a:off x="612648" y="2918460"/>
            <a:ext cx="4169664" cy="55778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users = {'Ada': 'active', 'Can': 'inactive'}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del users['Can']</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print(users, len(users))</a:t>
            </a:r>
            <a:endParaRPr lang="en-US" sz="1200" dirty="0"/>
          </a:p>
        </p:txBody>
      </p:sp>
      <p:sp>
        <p:nvSpPr>
          <p:cNvPr id="10" name="Shape 8"/>
          <p:cNvSpPr/>
          <p:nvPr/>
        </p:nvSpPr>
        <p:spPr>
          <a:xfrm>
            <a:off x="5166360" y="2817876"/>
            <a:ext cx="3566160" cy="387096"/>
          </a:xfrm>
          <a:prstGeom prst="roundRect">
            <a:avLst>
              <a:gd name="adj" fmla="val 23622"/>
            </a:avLst>
          </a:prstGeom>
          <a:solidFill>
            <a:srgbClr val="0F1823"/>
          </a:solidFill>
          <a:ln w="12700">
            <a:solidFill>
              <a:srgbClr val="0F1823"/>
            </a:solidFill>
            <a:prstDash val="solid"/>
          </a:ln>
        </p:spPr>
      </p:sp>
      <p:sp>
        <p:nvSpPr>
          <p:cNvPr id="11" name="Text 9"/>
          <p:cNvSpPr txBox="1"/>
          <p:nvPr/>
        </p:nvSpPr>
        <p:spPr>
          <a:xfrm>
            <a:off x="5367528" y="2918460"/>
            <a:ext cx="3163824" cy="185928"/>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{'Ada': 'active'} 1</a:t>
            </a:r>
            <a:endParaRPr lang="en-US" sz="1200" dirty="0"/>
          </a:p>
        </p:txBody>
      </p:sp>
      <p:sp>
        <p:nvSpPr>
          <p:cNvPr id="12" name="Text 10"/>
          <p:cNvSpPr txBox="1"/>
          <p:nvPr/>
        </p:nvSpPr>
        <p:spPr>
          <a:xfrm>
            <a:off x="411480" y="359511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dict_ops_v1_0_0.py, run under Python 3.14.4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sequence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Ordered, reached by position, and measurable</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sequence is an ordered collection whose members have positions. The glossary defines it as an iterable that supports efficient element access using integer indices and that has a length, and names list, str, tuple and bytes among the built-in sequence types; the library documentation adds range as a third basic sequence type beside lists and tuples (Python Software Foundation, 2026). Knowing that strings, lists, tuples and ranges are all sequences means that what is learned about one carries over: they can be indexed, measured, sliced and looped over in the same way.</a:t>
            </a:r>
            <a:endParaRPr lang="en-US" sz="1250" dirty="0"/>
          </a:p>
        </p:txBody>
      </p:sp>
      <p:sp>
        <p:nvSpPr>
          <p:cNvPr id="8" name="Shape 6"/>
          <p:cNvSpPr/>
          <p:nvPr/>
        </p:nvSpPr>
        <p:spPr>
          <a:xfrm>
            <a:off x="5358384" y="1152144"/>
            <a:ext cx="3374136" cy="1936496"/>
          </a:xfrm>
          <a:prstGeom prst="roundRect">
            <a:avLst>
              <a:gd name="adj" fmla="val 4722"/>
            </a:avLst>
          </a:prstGeom>
          <a:solidFill>
            <a:srgbClr val="17202B"/>
          </a:solidFill>
          <a:ln w="12700">
            <a:solidFill>
              <a:srgbClr val="17202B"/>
            </a:solidFill>
            <a:prstDash val="solid"/>
          </a:ln>
        </p:spPr>
      </p:sp>
      <p:sp>
        <p:nvSpPr>
          <p:cNvPr id="9" name="Text 7"/>
          <p:cNvSpPr txBox="1"/>
          <p:nvPr/>
        </p:nvSpPr>
        <p:spPr>
          <a:xfrm>
            <a:off x="5559552" y="1252728"/>
            <a:ext cx="2971800" cy="1735328"/>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'hello'[1]</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[10, 20, 30][0]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10</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(10, 20, 30)[-1]</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30</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{'a': 1}[0]</a:t>
            </a:r>
            <a:endParaRPr lang="en-US" sz="1400" dirty="0"/>
          </a:p>
          <a:p>
            <a:pPr indent="0" marL="0">
              <a:buNone/>
            </a:pPr>
            <a:r>
              <a:rPr lang="en-US" sz="1400" dirty="0">
                <a:solidFill>
                  <a:srgbClr val="FF7B72"/>
                </a:solidFill>
                <a:latin typeface="Courier New" pitchFamily="34" charset="0"/>
                <a:ea typeface="Courier New" pitchFamily="34" charset="-122"/>
                <a:cs typeface="Courier New" pitchFamily="34" charset="-120"/>
              </a:rPr>
              <a:t>KeyError: 0</a:t>
            </a:r>
            <a:endParaRPr lang="en-US" sz="1400" dirty="0"/>
          </a:p>
        </p:txBody>
      </p:sp>
      <p:sp>
        <p:nvSpPr>
          <p:cNvPr id="10" name="Text 8"/>
          <p:cNvSpPr txBox="1"/>
          <p:nvPr/>
        </p:nvSpPr>
        <p:spPr>
          <a:xfrm>
            <a:off x="5358384" y="310692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739769"/>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dictionary looks similar, because it also supports lookup with square brackets and has a length, but the glossary classes it as a mapping: its lookups use keys rather than integer positions, as the last line of the card shows.</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list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sequence whose items can be changed</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list is an ordered collection written with its items between square brackets and separated by commas. The reference describes the type as a mutable sequence, and the glossary adds that, despite its name, a list is more akin to an array in other languages than to a linked list, since access to its elements is fast (Python Software Foundation, 2026). Lists hold the data programs process - names, prices, lines, results - and most loops outside of textbooks walk through one. Because a list can change, it is also the collection for which the hazard of editing while looping arises.</a:t>
            </a:r>
            <a:endParaRPr lang="en-US" sz="1250" dirty="0"/>
          </a:p>
        </p:txBody>
      </p:sp>
      <p:sp>
        <p:nvSpPr>
          <p:cNvPr id="8" name="Shape 6"/>
          <p:cNvSpPr/>
          <p:nvPr/>
        </p:nvSpPr>
        <p:spPr>
          <a:xfrm>
            <a:off x="5358384" y="1152144"/>
            <a:ext cx="3374136" cy="2370328"/>
          </a:xfrm>
          <a:prstGeom prst="roundRect">
            <a:avLst>
              <a:gd name="adj" fmla="val 3858"/>
            </a:avLst>
          </a:prstGeom>
          <a:solidFill>
            <a:srgbClr val="17202B"/>
          </a:solidFill>
          <a:ln w="12700">
            <a:solidFill>
              <a:srgbClr val="17202B"/>
            </a:solidFill>
            <a:prstDash val="solid"/>
          </a:ln>
        </p:spPr>
      </p:sp>
      <p:sp>
        <p:nvSpPr>
          <p:cNvPr id="9" name="Text 7"/>
          <p:cNvSpPr txBox="1"/>
          <p:nvPr/>
        </p:nvSpPr>
        <p:spPr>
          <a:xfrm>
            <a:off x="5559552" y="1252728"/>
            <a:ext cx="2971800" cy="216916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a = [1, 2]</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a.append(3)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None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a</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[1, 2, 3]</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a[0] = 99</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a</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[99, 2, 3]</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list(range(3)) + [9]</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[0, 1, 2, 9]</a:t>
            </a:r>
            <a:endParaRPr lang="en-US" sz="1400" dirty="0"/>
          </a:p>
        </p:txBody>
      </p:sp>
      <p:sp>
        <p:nvSpPr>
          <p:cNvPr id="10" name="Text 8"/>
          <p:cNvSpPr txBox="1"/>
          <p:nvPr/>
        </p:nvSpPr>
        <p:spPr>
          <a:xfrm>
            <a:off x="5358384" y="35407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739769"/>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list is mutable, so two names can refer to the same list and a change through one is seen through the other. A string or a tuple does not allow item assignment at all.</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tuple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sequence that cannot be changed</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tuple is a sequence of values separated by commas, shown in parentheses on output. The tutorial describes tuples as immutable and usually containing a heterogeneous sequence of elements accessed by unpacking or indexing (Python Software Foundation, 2026). A tuple is the natural container for a small group of values that belong together, such as a count and an item or a name and a score, and because it cannot change it can be handed around without the risk that someone else alters it. In this chapter tuples appear as the pairs that enumerate and zip produce.</a:t>
            </a:r>
            <a:endParaRPr lang="en-US" sz="1300" dirty="0"/>
          </a:p>
        </p:txBody>
      </p:sp>
      <p:sp>
        <p:nvSpPr>
          <p:cNvPr id="8" name="Shape 6"/>
          <p:cNvSpPr/>
          <p:nvPr/>
        </p:nvSpPr>
        <p:spPr>
          <a:xfrm>
            <a:off x="411480" y="2817876"/>
            <a:ext cx="4572000" cy="418084"/>
          </a:xfrm>
          <a:prstGeom prst="roundRect">
            <a:avLst>
              <a:gd name="adj" fmla="val 21871"/>
            </a:avLst>
          </a:prstGeom>
          <a:solidFill>
            <a:srgbClr val="17202B"/>
          </a:solidFill>
          <a:ln w="12700">
            <a:solidFill>
              <a:srgbClr val="17202B"/>
            </a:solidFill>
            <a:prstDash val="solid"/>
          </a:ln>
        </p:spPr>
      </p:sp>
      <p:sp>
        <p:nvSpPr>
          <p:cNvPr id="9" name="Text 7"/>
          <p:cNvSpPr txBox="1"/>
          <p:nvPr/>
        </p:nvSpPr>
        <p:spPr>
          <a:xfrm>
            <a:off x="612648" y="2918460"/>
            <a:ext cx="4169664" cy="21691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t = (1, 2)</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t[0] = 99</a:t>
            </a:r>
            <a:endParaRPr lang="en-US" sz="700" dirty="0"/>
          </a:p>
        </p:txBody>
      </p:sp>
      <p:sp>
        <p:nvSpPr>
          <p:cNvPr id="10" name="Shape 8"/>
          <p:cNvSpPr/>
          <p:nvPr/>
        </p:nvSpPr>
        <p:spPr>
          <a:xfrm>
            <a:off x="5166360" y="2817876"/>
            <a:ext cx="3566160" cy="743458"/>
          </a:xfrm>
          <a:prstGeom prst="roundRect">
            <a:avLst>
              <a:gd name="adj" fmla="val 12299"/>
            </a:avLst>
          </a:prstGeom>
          <a:solidFill>
            <a:srgbClr val="0F1823"/>
          </a:solidFill>
          <a:ln w="12700">
            <a:solidFill>
              <a:srgbClr val="0F1823"/>
            </a:solidFill>
            <a:prstDash val="solid"/>
          </a:ln>
        </p:spPr>
      </p:sp>
      <p:sp>
        <p:nvSpPr>
          <p:cNvPr id="11" name="Text 9"/>
          <p:cNvSpPr txBox="1"/>
          <p:nvPr/>
        </p:nvSpPr>
        <p:spPr>
          <a:xfrm>
            <a:off x="5367528" y="2918460"/>
            <a:ext cx="3163824" cy="542290"/>
          </a:xfrm>
          <a:prstGeom prst="rect">
            <a:avLst/>
          </a:prstGeom>
          <a:noFill/>
          <a:ln/>
        </p:spPr>
        <p:txBody>
          <a:bodyPr wrap="square" lIns="0" tIns="0" rIns="0" bIns="0" rtlCol="0" anchor="t"/>
          <a:lstStyle/>
          <a:p>
            <a:pPr indent="0" marL="0">
              <a:buNone/>
            </a:pPr>
            <a:r>
              <a:rPr lang="en-US" sz="700" dirty="0">
                <a:solidFill>
                  <a:srgbClr val="FF7B72"/>
                </a:solidFill>
                <a:latin typeface="Courier New" pitchFamily="34" charset="0"/>
                <a:ea typeface="Courier New" pitchFamily="34" charset="-122"/>
                <a:cs typeface="Courier New" pitchFamily="34" charset="-120"/>
              </a:rPr>
              <a:t>Traceback (most recent call last):</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  File "tuple_set_v1_0_0.py", line 2, in &lt;module&gt;</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    t[0] = 99</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    ~^^^</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TypeError: 'tuple' object does not support item assignment</a:t>
            </a:r>
            <a:endParaRPr lang="en-US" sz="700" dirty="0"/>
          </a:p>
        </p:txBody>
      </p:sp>
      <p:sp>
        <p:nvSpPr>
          <p:cNvPr id="12" name="Text 10"/>
          <p:cNvSpPr txBox="1"/>
          <p:nvPr/>
        </p:nvSpPr>
        <p:spPr>
          <a:xfrm>
            <a:off x="411480" y="357962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tuple_set_v1_0_0.py, run under Python 3.14.4; its error output in red</a:t>
            </a:r>
            <a:endParaRPr lang="en-US" sz="900" dirty="0"/>
          </a:p>
        </p:txBody>
      </p:sp>
      <p:sp>
        <p:nvSpPr>
          <p:cNvPr id="13" name="Shape 11"/>
          <p:cNvSpPr/>
          <p:nvPr/>
        </p:nvSpPr>
        <p:spPr>
          <a:xfrm>
            <a:off x="411480" y="3908806"/>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08806"/>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18534"/>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tuple of one item needs a trailing comma, because parentheses alone do not make a tuple: without it the value is just the thing inside, as the chapter corpus checks.</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dictionary</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Values looked up by key rather than by position</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dictionary is a collection of key and value pairs, written between braces. The glossary describes it as an associative array in which arbitrary keys are mapped to values, and the tutorial adds that, unlike sequences, which are indexed by a range of numbers, dictionaries are indexed by keys (Python Software Foundation, 2026). A dictionary answers the question of what belongs to this key. A loop over a dictionary visits its keys, and the items method gives the pairs, so that a loop with two names receives a key and a value in each iteration.</a:t>
            </a:r>
            <a:endParaRPr lang="en-US" sz="1250" dirty="0"/>
          </a:p>
        </p:txBody>
      </p:sp>
      <p:sp>
        <p:nvSpPr>
          <p:cNvPr id="8" name="Shape 6"/>
          <p:cNvSpPr/>
          <p:nvPr/>
        </p:nvSpPr>
        <p:spPr>
          <a:xfrm>
            <a:off x="5358384" y="1152144"/>
            <a:ext cx="3374136" cy="944880"/>
          </a:xfrm>
          <a:prstGeom prst="roundRect">
            <a:avLst>
              <a:gd name="adj" fmla="val 9677"/>
            </a:avLst>
          </a:prstGeom>
          <a:solidFill>
            <a:srgbClr val="17202B"/>
          </a:solidFill>
          <a:ln w="12700">
            <a:solidFill>
              <a:srgbClr val="17202B"/>
            </a:solidFill>
            <a:prstDash val="solid"/>
          </a:ln>
        </p:spPr>
      </p:sp>
      <p:sp>
        <p:nvSpPr>
          <p:cNvPr id="9" name="Text 7"/>
          <p:cNvSpPr txBox="1"/>
          <p:nvPr/>
        </p:nvSpPr>
        <p:spPr>
          <a:xfrm>
            <a:off x="5559552" y="1252728"/>
            <a:ext cx="2971800" cy="743712"/>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{'Ada': 'active', 'Can': 'inactive'}['Can']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'inactive'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list({'Ada': 'active', 'Can': 'inactive'})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['Ada', 'Can']</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{'Ada': 'active'}['Eda']</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KeyError: 'Eda'</a:t>
            </a:r>
            <a:endParaRPr lang="en-US" sz="800" dirty="0"/>
          </a:p>
        </p:txBody>
      </p:sp>
      <p:sp>
        <p:nvSpPr>
          <p:cNvPr id="10" name="Text 8"/>
          <p:cNvSpPr txBox="1"/>
          <p:nvPr/>
        </p:nvSpPr>
        <p:spPr>
          <a:xfrm>
            <a:off x="5358384" y="211531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Asking for a key that does not exist raises a KeyError, and a dictionary must not be resized while it is being looped over, which is the hazard the last branch of this chapter demonstrates.</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III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Controlling a loop from inside</a:t>
            </a:r>
            <a:endParaRPr lang="en-US" sz="26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A loop normally runs until its condition fails or its sequence is used up. A program can also leave it early, skip a single iteration, or react to the way it ended - and each of those changes what is true afterwards.</a:t>
            </a:r>
            <a:endParaRPr lang="en-US" sz="1500" dirty="0"/>
          </a:p>
        </p:txBody>
      </p:sp>
      <p:sp>
        <p:nvSpPr>
          <p:cNvPr id="5" name="Text 3"/>
          <p:cNvSpPr txBox="1"/>
          <p:nvPr/>
        </p:nvSpPr>
        <p:spPr>
          <a:xfrm>
            <a:off x="548640" y="4078224"/>
            <a:ext cx="8046720" cy="512064"/>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Leaving a loop early   ·   Skipping one pass   ·   After the loop   ·   Exceptions and warnings</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Leaving a loop early</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break, the exit call, the interrupt key, and return</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early exit leaves a loop before its condition fails or its sequence is exhausted. The chapter presents the break statement, the call that ends the program, and the interrupt from the keyboard; the return statement, which leaves the function holding the loop, completes the list (Sweigart, 2025). Early exits make loops fit the problem: a guessing game ends when the guess is right, not when the attempts are used up. The four sections are ordered by how far the exit reaches - one loop, one function, the whole program, and from outside the program altogether.</a:t>
            </a:r>
            <a:endParaRPr lang="en-US" sz="1300" dirty="0"/>
          </a:p>
        </p:txBody>
      </p:sp>
      <p:sp>
        <p:nvSpPr>
          <p:cNvPr id="8" name="Shape 6"/>
          <p:cNvSpPr/>
          <p:nvPr/>
        </p:nvSpPr>
        <p:spPr>
          <a:xfrm>
            <a:off x="411480" y="2817876"/>
            <a:ext cx="4572000"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612648" y="2918460"/>
            <a:ext cx="4169664" cy="1239520"/>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while True: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print('Who are you?')</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name = input('&gt;')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if name != 'Joe':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continue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print('Hello, Joe. What is the password? (It is a fish.)')</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password = input('&gt;')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if password == 'swordfish':</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break</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print('Access granted.')</a:t>
            </a:r>
            <a:endParaRPr lang="en-US" sz="800" dirty="0"/>
          </a:p>
        </p:txBody>
      </p:sp>
      <p:sp>
        <p:nvSpPr>
          <p:cNvPr id="10" name="Shape 8"/>
          <p:cNvSpPr/>
          <p:nvPr/>
        </p:nvSpPr>
        <p:spPr>
          <a:xfrm>
            <a:off x="5166360" y="2817876"/>
            <a:ext cx="3566160" cy="1068832"/>
          </a:xfrm>
          <a:prstGeom prst="roundRect">
            <a:avLst>
              <a:gd name="adj" fmla="val 8555"/>
            </a:avLst>
          </a:prstGeom>
          <a:solidFill>
            <a:srgbClr val="0F1823"/>
          </a:solidFill>
          <a:ln w="12700">
            <a:solidFill>
              <a:srgbClr val="0F1823"/>
            </a:solidFill>
            <a:prstDash val="solid"/>
          </a:ln>
        </p:spPr>
      </p:sp>
      <p:sp>
        <p:nvSpPr>
          <p:cNvPr id="11" name="Text 9"/>
          <p:cNvSpPr txBox="1"/>
          <p:nvPr/>
        </p:nvSpPr>
        <p:spPr>
          <a:xfrm>
            <a:off x="5367528" y="2918460"/>
            <a:ext cx="3163824" cy="867664"/>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Who are you?</a:t>
            </a:r>
            <a:endParaRPr lang="en-US" sz="800" dirty="0"/>
          </a:p>
          <a:p>
            <a:pPr indent="0" marL="0">
              <a:buNone/>
            </a:pPr>
            <a:r>
              <a:rPr lang="en-US" sz="800" dirty="0">
                <a:solidFill>
                  <a:srgbClr val="FFD43B"/>
                </a:solidFill>
                <a:latin typeface="Courier New" pitchFamily="34" charset="0"/>
                <a:ea typeface="Courier New" pitchFamily="34" charset="-122"/>
                <a:cs typeface="Courier New" pitchFamily="34" charset="-120"/>
              </a:rPr>
              <a:t>&gt;Ann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Who are you?</a:t>
            </a:r>
            <a:endParaRPr lang="en-US" sz="800" dirty="0"/>
          </a:p>
          <a:p>
            <a:pPr indent="0" marL="0">
              <a:buNone/>
            </a:pPr>
            <a:r>
              <a:rPr lang="en-US" sz="800" dirty="0">
                <a:solidFill>
                  <a:srgbClr val="FFD43B"/>
                </a:solidFill>
                <a:latin typeface="Courier New" pitchFamily="34" charset="0"/>
                <a:ea typeface="Courier New" pitchFamily="34" charset="-122"/>
                <a:cs typeface="Courier New" pitchFamily="34" charset="-120"/>
              </a:rPr>
              <a:t>&gt;Joe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Hello, Joe. What is the password? (It is a fish.)</a:t>
            </a:r>
            <a:endParaRPr lang="en-US" sz="800" dirty="0"/>
          </a:p>
          <a:p>
            <a:pPr indent="0" marL="0">
              <a:buNone/>
            </a:pPr>
            <a:r>
              <a:rPr lang="en-US" sz="800" dirty="0">
                <a:solidFill>
                  <a:srgbClr val="FFD43B"/>
                </a:solidFill>
                <a:latin typeface="Courier New" pitchFamily="34" charset="0"/>
                <a:ea typeface="Courier New" pitchFamily="34" charset="-122"/>
                <a:cs typeface="Courier New" pitchFamily="34" charset="-120"/>
              </a:rPr>
              <a:t>&gt;swordfish</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Access granted.</a:t>
            </a:r>
            <a:endParaRPr lang="en-US" sz="800" dirty="0"/>
          </a:p>
        </p:txBody>
      </p:sp>
      <p:sp>
        <p:nvSpPr>
          <p:cNvPr id="12" name="Text 10"/>
          <p:cNvSpPr txBox="1"/>
          <p:nvPr/>
        </p:nvSpPr>
        <p:spPr>
          <a:xfrm>
            <a:off x="411480" y="427685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swordfish_v1_0_0.py, run under Python 3.14.4; typed input in yellow</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break</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End the innermost loop at once</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break statement ends the loop that contains it. It consists of the single keyword, and when execution reaches it the program leaves the loop immediately; the reference says it terminates the nearest enclosing loop, skipping the optional else clause if the loop has one (Python Software Foundation, 2026). The statement lets a loop run until a condition inside its block is met, which is the pattern of the book's second name program and of the guessing game. The loop variable keeps the value it had, and only the innermost loop is left.</a:t>
            </a:r>
            <a:endParaRPr lang="en-US" sz="1250" dirty="0"/>
          </a:p>
        </p:txBody>
      </p:sp>
      <p:sp>
        <p:nvSpPr>
          <p:cNvPr id="8" name="Shape 6"/>
          <p:cNvSpPr/>
          <p:nvPr/>
        </p:nvSpPr>
        <p:spPr>
          <a:xfrm>
            <a:off x="5358384" y="1152144"/>
            <a:ext cx="3374136" cy="743458"/>
          </a:xfrm>
          <a:prstGeom prst="roundRect">
            <a:avLst>
              <a:gd name="adj" fmla="val 12299"/>
            </a:avLst>
          </a:prstGeom>
          <a:solidFill>
            <a:srgbClr val="17202B"/>
          </a:solidFill>
          <a:ln w="12700">
            <a:solidFill>
              <a:srgbClr val="17202B"/>
            </a:solidFill>
            <a:prstDash val="solid"/>
          </a:ln>
        </p:spPr>
      </p:sp>
      <p:sp>
        <p:nvSpPr>
          <p:cNvPr id="9" name="Text 7"/>
          <p:cNvSpPr txBox="1"/>
          <p:nvPr/>
        </p:nvSpPr>
        <p:spPr>
          <a:xfrm>
            <a:off x="5559552" y="1252728"/>
            <a:ext cx="2971800" cy="542290"/>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break</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SyntaxError: 'break' outside loop (&lt;string&gt;, line 1)</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continue</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SyntaxError: 'continue' not properly in loop (&lt;string&gt;, line 1)</a:t>
            </a:r>
            <a:endParaRPr lang="en-US" sz="700" dirty="0"/>
          </a:p>
        </p:txBody>
      </p:sp>
      <p:sp>
        <p:nvSpPr>
          <p:cNvPr id="10" name="Text 8"/>
          <p:cNvSpPr txBox="1"/>
          <p:nvPr/>
        </p:nvSpPr>
        <p:spPr>
          <a:xfrm>
            <a:off x="5358384" y="191389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statement can be used only inside a for or while loop; written anywhere else it is a SyntaxError, which is what both lines of this card show. A break also does not leave an outer loop.</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Ending the program</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sys.exit, which raises rather than stops</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The function sys.exit ends a program before its last instruction. Programs always terminate when execution reaches the bottom of the instructions, and this call terminates them earlier; because the function lives in a module, the module has to be imported first (Sweigart, 2025). It raises a SystemExit exception, and the interpreter exits when that exception is not intercepted. The optional argument is the exit status: nought means success, another integer means abnormal termination, and any other object is printed to the error stream with the status one.</a:t>
            </a:r>
            <a:endParaRPr lang="en-US" sz="900" dirty="0"/>
          </a:p>
        </p:txBody>
      </p:sp>
      <p:sp>
        <p:nvSpPr>
          <p:cNvPr id="8" name="Shape 6"/>
          <p:cNvSpPr/>
          <p:nvPr/>
        </p:nvSpPr>
        <p:spPr>
          <a:xfrm>
            <a:off x="411480" y="2306574"/>
            <a:ext cx="4572000" cy="1502664"/>
          </a:xfrm>
          <a:prstGeom prst="roundRect">
            <a:avLst>
              <a:gd name="adj" fmla="val 6085"/>
            </a:avLst>
          </a:prstGeom>
          <a:solidFill>
            <a:srgbClr val="17202B"/>
          </a:solidFill>
          <a:ln w="12700">
            <a:solidFill>
              <a:srgbClr val="17202B"/>
            </a:solidFill>
            <a:prstDash val="solid"/>
          </a:ln>
        </p:spPr>
      </p:sp>
      <p:sp>
        <p:nvSpPr>
          <p:cNvPr id="9" name="Text 7"/>
          <p:cNvSpPr txBox="1"/>
          <p:nvPr/>
        </p:nvSpPr>
        <p:spPr>
          <a:xfrm>
            <a:off x="612648" y="2407158"/>
            <a:ext cx="4169664" cy="1301496"/>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import sys</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try:</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sys.exit(3)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except SystemExit as ex:</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print('caught', ex.code)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print('still running')</a:t>
            </a:r>
            <a:endParaRPr lang="en-US" sz="1400" dirty="0"/>
          </a:p>
        </p:txBody>
      </p:sp>
      <p:sp>
        <p:nvSpPr>
          <p:cNvPr id="10" name="Shape 8"/>
          <p:cNvSpPr/>
          <p:nvPr/>
        </p:nvSpPr>
        <p:spPr>
          <a:xfrm>
            <a:off x="5166360" y="2306574"/>
            <a:ext cx="3566160" cy="635000"/>
          </a:xfrm>
          <a:prstGeom prst="roundRect">
            <a:avLst>
              <a:gd name="adj" fmla="val 14400"/>
            </a:avLst>
          </a:prstGeom>
          <a:solidFill>
            <a:srgbClr val="0F1823"/>
          </a:solidFill>
          <a:ln w="12700">
            <a:solidFill>
              <a:srgbClr val="0F1823"/>
            </a:solidFill>
            <a:prstDash val="solid"/>
          </a:ln>
        </p:spPr>
      </p:sp>
      <p:sp>
        <p:nvSpPr>
          <p:cNvPr id="11" name="Text 9"/>
          <p:cNvSpPr txBox="1"/>
          <p:nvPr/>
        </p:nvSpPr>
        <p:spPr>
          <a:xfrm>
            <a:off x="5367528" y="2407158"/>
            <a:ext cx="3163824" cy="43383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caught 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still running</a:t>
            </a:r>
            <a:endParaRPr lang="en-US" sz="1400" dirty="0"/>
          </a:p>
        </p:txBody>
      </p:sp>
      <p:sp>
        <p:nvSpPr>
          <p:cNvPr id="12" name="Text 10"/>
          <p:cNvSpPr txBox="1"/>
          <p:nvPr/>
        </p:nvSpPr>
        <p:spPr>
          <a:xfrm>
            <a:off x="411480" y="382752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exitcatch_v1_0_0.py, run under Python 3.14.4</a:t>
            </a:r>
            <a:endParaRPr lang="en-US" sz="900" dirty="0"/>
          </a:p>
        </p:txBody>
      </p:sp>
      <p:sp>
        <p:nvSpPr>
          <p:cNvPr id="13" name="Shape 11"/>
          <p:cNvSpPr/>
          <p:nvPr/>
        </p:nvSpPr>
        <p:spPr>
          <a:xfrm>
            <a:off x="411480" y="4156710"/>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156710"/>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266438"/>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Because the exit is an exception, the clean-up actions of finally clauses are honoured and an outer part of the program can intercept it - which is exactly what the program on this slide does.</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Interrupting with Control-C</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Stopping a runaway program from outside</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Pressing Control-C stops a program that is running. The book says that if a bug has caused an infinite loop, the key combination sends a KeyboardInterrupt error to the program and causes it to stop immediately (Sweigart, 2025). The documentation names the exception raised when the user hits the interrupt key. While a program runs Python checks regularly whether an interrupt has been requested, and when it has, it raises the exception in the running code; if nothing handles it, the program stops and the report ends with the name of the exception.</a:t>
            </a:r>
            <a:endParaRPr lang="en-US" sz="900" dirty="0"/>
          </a:p>
        </p:txBody>
      </p:sp>
      <p:sp>
        <p:nvSpPr>
          <p:cNvPr id="8" name="Shape 6"/>
          <p:cNvSpPr/>
          <p:nvPr/>
        </p:nvSpPr>
        <p:spPr>
          <a:xfrm>
            <a:off x="411480" y="2167128"/>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267712"/>
            <a:ext cx="4169664" cy="108458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try:</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while True: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raise KeyboardInterrupt</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except KeyboardInterrupt:</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print('stopped')</a:t>
            </a:r>
            <a:endParaRPr lang="en-US" sz="1400" dirty="0"/>
          </a:p>
        </p:txBody>
      </p:sp>
      <p:sp>
        <p:nvSpPr>
          <p:cNvPr id="10" name="Shape 8"/>
          <p:cNvSpPr/>
          <p:nvPr/>
        </p:nvSpPr>
        <p:spPr>
          <a:xfrm>
            <a:off x="5166360" y="2167128"/>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267712"/>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stopped</a:t>
            </a:r>
            <a:endParaRPr lang="en-US" sz="1400" dirty="0"/>
          </a:p>
        </p:txBody>
      </p:sp>
      <p:sp>
        <p:nvSpPr>
          <p:cNvPr id="12" name="Text 10"/>
          <p:cNvSpPr txBox="1"/>
          <p:nvPr/>
        </p:nvSpPr>
        <p:spPr>
          <a:xfrm>
            <a:off x="411480" y="347116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kbint_v1_0_0.py, run under Python 3.14.4</a:t>
            </a:r>
            <a:endParaRPr lang="en-US" sz="900" dirty="0"/>
          </a:p>
        </p:txBody>
      </p:sp>
      <p:sp>
        <p:nvSpPr>
          <p:cNvPr id="13" name="Shape 11"/>
          <p:cNvSpPr/>
          <p:nvPr/>
        </p:nvSpPr>
        <p:spPr>
          <a:xfrm>
            <a:off x="411480" y="3800348"/>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00348"/>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10076"/>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documentation warns that catching this exception needs special consideration: it can be raised at unpredictable points, so it may leave the program in an inconsistent state, and it is generally best to let it end the program quickly.</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return from inside a loop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Leaving the function, and the loop with it</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return statement ends a function and hands a value back to the place that called it, and a loop inside the function ends with it. Chapter 1 showed how to call functions; writing your own is the subject of the next chapter, so this section gives only what is needed to understand the effect on loops (Sweigart, 2025). Returning from inside a loop is the cleanest way to write a search: the function looks at each item and, as soon as one fits, returns it without any flag variable or extra test. The loop's else clause is not run when a return ends the loop.</a:t>
            </a:r>
            <a:endParaRPr lang="en-US" sz="900" dirty="0"/>
          </a:p>
        </p:txBody>
      </p:sp>
      <p:sp>
        <p:nvSpPr>
          <p:cNvPr id="8" name="Shape 6"/>
          <p:cNvSpPr/>
          <p:nvPr/>
        </p:nvSpPr>
        <p:spPr>
          <a:xfrm>
            <a:off x="411480" y="2306574"/>
            <a:ext cx="4572000" cy="1502664"/>
          </a:xfrm>
          <a:prstGeom prst="roundRect">
            <a:avLst>
              <a:gd name="adj" fmla="val 6085"/>
            </a:avLst>
          </a:prstGeom>
          <a:solidFill>
            <a:srgbClr val="17202B"/>
          </a:solidFill>
          <a:ln w="12700">
            <a:solidFill>
              <a:srgbClr val="17202B"/>
            </a:solidFill>
            <a:prstDash val="solid"/>
          </a:ln>
        </p:spPr>
      </p:sp>
      <p:sp>
        <p:nvSpPr>
          <p:cNvPr id="9" name="Text 7"/>
          <p:cNvSpPr txBox="1"/>
          <p:nvPr/>
        </p:nvSpPr>
        <p:spPr>
          <a:xfrm>
            <a:off x="612648" y="2407158"/>
            <a:ext cx="4169664" cy="130149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first_even(items):</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for x in items:</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if x % 2 == 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x</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None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print(first_even([1, 3, 4, 5]))</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print(first_even([1, 3]))</a:t>
            </a:r>
            <a:endParaRPr lang="en-US" sz="1200" dirty="0"/>
          </a:p>
        </p:txBody>
      </p:sp>
      <p:sp>
        <p:nvSpPr>
          <p:cNvPr id="10" name="Shape 8"/>
          <p:cNvSpPr/>
          <p:nvPr/>
        </p:nvSpPr>
        <p:spPr>
          <a:xfrm>
            <a:off x="5166360" y="2306574"/>
            <a:ext cx="3566160" cy="573024"/>
          </a:xfrm>
          <a:prstGeom prst="roundRect">
            <a:avLst>
              <a:gd name="adj" fmla="val 15957"/>
            </a:avLst>
          </a:prstGeom>
          <a:solidFill>
            <a:srgbClr val="0F1823"/>
          </a:solidFill>
          <a:ln w="12700">
            <a:solidFill>
              <a:srgbClr val="0F1823"/>
            </a:solidFill>
            <a:prstDash val="solid"/>
          </a:ln>
        </p:spPr>
      </p:sp>
      <p:sp>
        <p:nvSpPr>
          <p:cNvPr id="11" name="Text 9"/>
          <p:cNvSpPr txBox="1"/>
          <p:nvPr/>
        </p:nvSpPr>
        <p:spPr>
          <a:xfrm>
            <a:off x="5367528" y="2407158"/>
            <a:ext cx="3163824" cy="371856"/>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4</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None</a:t>
            </a:r>
            <a:endParaRPr lang="en-US" sz="1200" dirty="0"/>
          </a:p>
        </p:txBody>
      </p:sp>
      <p:sp>
        <p:nvSpPr>
          <p:cNvPr id="12" name="Text 10"/>
          <p:cNvSpPr txBox="1"/>
          <p:nvPr/>
        </p:nvSpPr>
        <p:spPr>
          <a:xfrm>
            <a:off x="411480" y="382752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return_loop_v1_0_0.py, run under Python 3.14.4</a:t>
            </a:r>
            <a:endParaRPr lang="en-US" sz="900" dirty="0"/>
          </a:p>
        </p:txBody>
      </p:sp>
      <p:sp>
        <p:nvSpPr>
          <p:cNvPr id="13" name="Shape 11"/>
          <p:cNvSpPr/>
          <p:nvPr/>
        </p:nvSpPr>
        <p:spPr>
          <a:xfrm>
            <a:off x="411480" y="4156710"/>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156710"/>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266438"/>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statement is allowed only inside a function; written at the top of a program it is a SyntaxError. A return leaves the whole function, so any statement after the loop in that function is skipped as well.</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Skipping one pass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continue, and where it sends execution</a:t>
            </a:r>
            <a:endParaRPr lang="en-US" sz="1300" dirty="0"/>
          </a:p>
        </p:txBody>
      </p:sp>
      <p:sp>
        <p:nvSpPr>
          <p:cNvPr id="6" name="Shape 4"/>
          <p:cNvSpPr/>
          <p:nvPr/>
        </p:nvSpPr>
        <p:spPr>
          <a:xfrm>
            <a:off x="3977640" y="1152144"/>
            <a:ext cx="4754880" cy="696976"/>
          </a:xfrm>
          <a:prstGeom prst="roundRect">
            <a:avLst>
              <a:gd name="adj" fmla="val 13120"/>
            </a:avLst>
          </a:prstGeom>
          <a:solidFill>
            <a:srgbClr val="17202B"/>
          </a:solidFill>
          <a:ln w="12700">
            <a:solidFill>
              <a:srgbClr val="17202B"/>
            </a:solidFill>
            <a:prstDash val="solid"/>
          </a:ln>
        </p:spPr>
      </p:sp>
      <p:sp>
        <p:nvSpPr>
          <p:cNvPr id="7" name="Text 5"/>
          <p:cNvSpPr txBox="1"/>
          <p:nvPr/>
        </p:nvSpPr>
        <p:spPr>
          <a:xfrm>
            <a:off x="4178808" y="1252728"/>
            <a:ext cx="4352544" cy="495808"/>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break</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SyntaxError: 'break' outside loop (&lt;string&gt;, line 1)</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continue</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SyntaxError: 'continue' not properly in loop (&lt;string&gt;, line 1)</a:t>
            </a:r>
            <a:endParaRPr lang="en-US" sz="800" dirty="0"/>
          </a:p>
        </p:txBody>
      </p:sp>
      <p:sp>
        <p:nvSpPr>
          <p:cNvPr id="8" name="Text 6"/>
          <p:cNvSpPr txBox="1"/>
          <p:nvPr/>
        </p:nvSpPr>
        <p:spPr>
          <a:xfrm>
            <a:off x="3977640" y="1867408"/>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3310128" cy="3252597"/>
          </a:xfrm>
          <a:prstGeom prst="roundRect">
            <a:avLst>
              <a:gd name="adj" fmla="val 2811"/>
            </a:avLst>
          </a:prstGeom>
          <a:solidFill>
            <a:srgbClr val="F1F4F8"/>
          </a:solidFill>
          <a:ln w="12700">
            <a:solidFill>
              <a:srgbClr val="F1F4F8"/>
            </a:solidFill>
            <a:prstDash val="solid"/>
          </a:ln>
        </p:spPr>
      </p:sp>
      <p:sp>
        <p:nvSpPr>
          <p:cNvPr id="10" name="Text 8"/>
          <p:cNvSpPr txBox="1"/>
          <p:nvPr/>
        </p:nvSpPr>
        <p:spPr>
          <a:xfrm>
            <a:off x="594360" y="1280160"/>
            <a:ext cx="2944368" cy="29965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Skipping means giving up one iteration of a loop without giving up the loop. The continue statement is the tool: it ends the current pass through the block and starts the next (Sweigart, 2025). A loop often meets items that need no processing, such as the wrong user name or an invalid entry, and skipping them keeps the main work of the block at one level of indentation instead of burying it inside a long if statement. Its meaning differs a little between the two loops, a difference that matters when a counter is increased by hand.</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continue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Back to the test, or on to the next item</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continue statement jumps back to the start of the loop and re-evaluates the loop's condition. The book describes it as what happens when execution reaches a continue statement, and notes that this is also what happens when execution reaches the end of the loop (Sweigart, 2025); the reference adds that in a for loop it continues with the next item (Python Software Foundation, 2026). The statement lets a loop discard an unwanted case early: the book's password program sends every name except one back to the question, so that the password prompt appears only for the right person.</a:t>
            </a:r>
            <a:endParaRPr lang="en-US" sz="900" dirty="0"/>
          </a:p>
        </p:txBody>
      </p:sp>
      <p:sp>
        <p:nvSpPr>
          <p:cNvPr id="8" name="Shape 6"/>
          <p:cNvSpPr/>
          <p:nvPr/>
        </p:nvSpPr>
        <p:spPr>
          <a:xfrm>
            <a:off x="411480" y="2306574"/>
            <a:ext cx="4572000"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612648" y="2407158"/>
            <a:ext cx="4169664" cy="1239520"/>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while True: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print('Who are you?')</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name = input('&gt;')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if name != 'Joe':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continue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print('Hello, Joe. What is the password? (It is a fish.)')</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password = input('&gt;')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if password == 'swordfish':</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break</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print('Access granted.')</a:t>
            </a:r>
            <a:endParaRPr lang="en-US" sz="800" dirty="0"/>
          </a:p>
        </p:txBody>
      </p:sp>
      <p:sp>
        <p:nvSpPr>
          <p:cNvPr id="10" name="Shape 8"/>
          <p:cNvSpPr/>
          <p:nvPr/>
        </p:nvSpPr>
        <p:spPr>
          <a:xfrm>
            <a:off x="5166360" y="2306574"/>
            <a:ext cx="3566160" cy="1068832"/>
          </a:xfrm>
          <a:prstGeom prst="roundRect">
            <a:avLst>
              <a:gd name="adj" fmla="val 8555"/>
            </a:avLst>
          </a:prstGeom>
          <a:solidFill>
            <a:srgbClr val="0F1823"/>
          </a:solidFill>
          <a:ln w="12700">
            <a:solidFill>
              <a:srgbClr val="0F1823"/>
            </a:solidFill>
            <a:prstDash val="solid"/>
          </a:ln>
        </p:spPr>
      </p:sp>
      <p:sp>
        <p:nvSpPr>
          <p:cNvPr id="11" name="Text 9"/>
          <p:cNvSpPr txBox="1"/>
          <p:nvPr/>
        </p:nvSpPr>
        <p:spPr>
          <a:xfrm>
            <a:off x="5367528" y="2407158"/>
            <a:ext cx="3163824" cy="867664"/>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Who are you?</a:t>
            </a:r>
            <a:endParaRPr lang="en-US" sz="800" dirty="0"/>
          </a:p>
          <a:p>
            <a:pPr indent="0" marL="0">
              <a:buNone/>
            </a:pPr>
            <a:r>
              <a:rPr lang="en-US" sz="800" dirty="0">
                <a:solidFill>
                  <a:srgbClr val="FFD43B"/>
                </a:solidFill>
                <a:latin typeface="Courier New" pitchFamily="34" charset="0"/>
                <a:ea typeface="Courier New" pitchFamily="34" charset="-122"/>
                <a:cs typeface="Courier New" pitchFamily="34" charset="-120"/>
              </a:rPr>
              <a:t>&gt;Ann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Who are you?</a:t>
            </a:r>
            <a:endParaRPr lang="en-US" sz="800" dirty="0"/>
          </a:p>
          <a:p>
            <a:pPr indent="0" marL="0">
              <a:buNone/>
            </a:pPr>
            <a:r>
              <a:rPr lang="en-US" sz="800" dirty="0">
                <a:solidFill>
                  <a:srgbClr val="FFD43B"/>
                </a:solidFill>
                <a:latin typeface="Courier New" pitchFamily="34" charset="0"/>
                <a:ea typeface="Courier New" pitchFamily="34" charset="-122"/>
                <a:cs typeface="Courier New" pitchFamily="34" charset="-120"/>
              </a:rPr>
              <a:t>&gt;Joe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Hello, Joe. What is the password? (It is a fish.)</a:t>
            </a:r>
            <a:endParaRPr lang="en-US" sz="800" dirty="0"/>
          </a:p>
          <a:p>
            <a:pPr indent="0" marL="0">
              <a:buNone/>
            </a:pPr>
            <a:r>
              <a:rPr lang="en-US" sz="800" dirty="0">
                <a:solidFill>
                  <a:srgbClr val="FFD43B"/>
                </a:solidFill>
                <a:latin typeface="Courier New" pitchFamily="34" charset="0"/>
                <a:ea typeface="Courier New" pitchFamily="34" charset="-122"/>
                <a:cs typeface="Courier New" pitchFamily="34" charset="-120"/>
              </a:rPr>
              <a:t>&gt;swordfish</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Access granted.</a:t>
            </a:r>
            <a:endParaRPr lang="en-US" sz="800" dirty="0"/>
          </a:p>
        </p:txBody>
      </p:sp>
      <p:sp>
        <p:nvSpPr>
          <p:cNvPr id="12" name="Text 10"/>
          <p:cNvSpPr txBox="1"/>
          <p:nvPr/>
        </p:nvSpPr>
        <p:spPr>
          <a:xfrm>
            <a:off x="411480" y="376555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swordfish_v1_0_0.py, run under Python 3.14.4; typed input in yellow</a:t>
            </a:r>
            <a:endParaRPr lang="en-US" sz="900" dirty="0"/>
          </a:p>
        </p:txBody>
      </p:sp>
      <p:sp>
        <p:nvSpPr>
          <p:cNvPr id="13" name="Shape 11"/>
          <p:cNvSpPr/>
          <p:nvPr/>
        </p:nvSpPr>
        <p:spPr>
          <a:xfrm>
            <a:off x="411480" y="4094734"/>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94734"/>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20446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In a while loop a continue placed before the line that changes the counter creates an endless loop, because the test sees the same value again; the equivalent for loop continues without trouble.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After the loop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is true once a loop has ended, and which ending it was</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Loop completion is about what is true after a loop has ended: whether it ended by exhausting its supply or by a break, what value the loop variable has, and which of several possible endings occurred. Programs often need to know why a loop stopped - a search wants to say not found if it ran to the end, and the guessing game decides between its two closing messages after the loop. Python offers a dedicated clause for the first purpose and leaves the loop variable in place for the second (Python Software Foundation, 2026).</a:t>
            </a:r>
            <a:endParaRPr lang="en-US" sz="1300" dirty="0"/>
          </a:p>
        </p:txBody>
      </p:sp>
      <p:sp>
        <p:nvSpPr>
          <p:cNvPr id="8" name="Shape 6"/>
          <p:cNvSpPr/>
          <p:nvPr/>
        </p:nvSpPr>
        <p:spPr>
          <a:xfrm>
            <a:off x="411480" y="2817876"/>
            <a:ext cx="4572000" cy="1502664"/>
          </a:xfrm>
          <a:prstGeom prst="roundRect">
            <a:avLst>
              <a:gd name="adj" fmla="val 6085"/>
            </a:avLst>
          </a:prstGeom>
          <a:solidFill>
            <a:srgbClr val="17202B"/>
          </a:solidFill>
          <a:ln w="12700">
            <a:solidFill>
              <a:srgbClr val="17202B"/>
            </a:solidFill>
            <a:prstDash val="solid"/>
          </a:ln>
        </p:spPr>
      </p:sp>
      <p:sp>
        <p:nvSpPr>
          <p:cNvPr id="9" name="Text 7"/>
          <p:cNvSpPr txBox="1"/>
          <p:nvPr/>
        </p:nvSpPr>
        <p:spPr>
          <a:xfrm>
            <a:off x="612648" y="2918460"/>
            <a:ext cx="4169664" cy="1301496"/>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n = 0</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while n &lt; 10:</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n = n + 1</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if n == 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break</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print(n, n &lt; 10)</a:t>
            </a:r>
            <a:endParaRPr lang="en-US" sz="1400" dirty="0"/>
          </a:p>
        </p:txBody>
      </p:sp>
      <p:sp>
        <p:nvSpPr>
          <p:cNvPr id="10" name="Shape 8"/>
          <p:cNvSpPr/>
          <p:nvPr/>
        </p:nvSpPr>
        <p:spPr>
          <a:xfrm>
            <a:off x="5166360" y="2817876"/>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918460"/>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3 True</a:t>
            </a:r>
            <a:endParaRPr lang="en-US" sz="1400" dirty="0"/>
          </a:p>
        </p:txBody>
      </p:sp>
      <p:sp>
        <p:nvSpPr>
          <p:cNvPr id="12" name="Text 10"/>
          <p:cNvSpPr txBox="1"/>
          <p:nvPr/>
        </p:nvSpPr>
        <p:spPr>
          <a:xfrm>
            <a:off x="411480" y="433882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break_cond_v1_0_0.py, run under Python 3.14.4</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loop else clause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Runs when the loop was not left by a break</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loop can have an else clause, which runs when the loop finishes without executing a break. In a for loop the clause runs after the final iteration, and in a while loop after the condition becomes false; in either kind it is skipped if the loop was ended by a break (Python Software Foundation, 2026). The clause expresses a search that can fail, in one place: without it a program needs a flag variable set before the loop, changed at the break and tested afterwards, and with it the failure case is written directly below the loop.</a:t>
            </a:r>
            <a:endParaRPr lang="en-US" sz="900" dirty="0"/>
          </a:p>
        </p:txBody>
      </p:sp>
      <p:sp>
        <p:nvSpPr>
          <p:cNvPr id="8" name="Shape 6"/>
          <p:cNvSpPr/>
          <p:nvPr/>
        </p:nvSpPr>
        <p:spPr>
          <a:xfrm>
            <a:off x="411480" y="2167128"/>
            <a:ext cx="4572000" cy="1177290"/>
          </a:xfrm>
          <a:prstGeom prst="roundRect">
            <a:avLst>
              <a:gd name="adj" fmla="val 7767"/>
            </a:avLst>
          </a:prstGeom>
          <a:solidFill>
            <a:srgbClr val="17202B"/>
          </a:solidFill>
          <a:ln w="12700">
            <a:solidFill>
              <a:srgbClr val="17202B"/>
            </a:solidFill>
            <a:prstDash val="solid"/>
          </a:ln>
        </p:spPr>
      </p:sp>
      <p:sp>
        <p:nvSpPr>
          <p:cNvPr id="9" name="Text 7"/>
          <p:cNvSpPr txBox="1"/>
          <p:nvPr/>
        </p:nvSpPr>
        <p:spPr>
          <a:xfrm>
            <a:off x="612648" y="2267712"/>
            <a:ext cx="4169664" cy="976122"/>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for n in range(2, 10):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for x in range(2, n):</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if n % x == 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print(n, 'equals', x, '*', n//x)</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break</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else: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print(n, 'is a prime number')</a:t>
            </a:r>
            <a:endParaRPr lang="en-US" sz="900" dirty="0"/>
          </a:p>
        </p:txBody>
      </p:sp>
      <p:sp>
        <p:nvSpPr>
          <p:cNvPr id="10" name="Shape 8"/>
          <p:cNvSpPr/>
          <p:nvPr/>
        </p:nvSpPr>
        <p:spPr>
          <a:xfrm>
            <a:off x="5166360" y="2167128"/>
            <a:ext cx="3566160" cy="1316736"/>
          </a:xfrm>
          <a:prstGeom prst="roundRect">
            <a:avLst>
              <a:gd name="adj" fmla="val 6944"/>
            </a:avLst>
          </a:prstGeom>
          <a:solidFill>
            <a:srgbClr val="0F1823"/>
          </a:solidFill>
          <a:ln w="12700">
            <a:solidFill>
              <a:srgbClr val="0F1823"/>
            </a:solidFill>
            <a:prstDash val="solid"/>
          </a:ln>
        </p:spPr>
      </p:sp>
      <p:sp>
        <p:nvSpPr>
          <p:cNvPr id="11" name="Text 9"/>
          <p:cNvSpPr txBox="1"/>
          <p:nvPr/>
        </p:nvSpPr>
        <p:spPr>
          <a:xfrm>
            <a:off x="5367528" y="2267712"/>
            <a:ext cx="3163824" cy="1115568"/>
          </a:xfrm>
          <a:prstGeom prst="rect">
            <a:avLst/>
          </a:prstGeom>
          <a:noFill/>
          <a:ln/>
        </p:spPr>
        <p:txBody>
          <a:bodyPr wrap="square" lIns="0" tIns="0" rIns="0" bIns="0" rtlCol="0" anchor="t"/>
          <a:lstStyle/>
          <a:p>
            <a:pPr indent="0" marL="0">
              <a:buNone/>
            </a:pPr>
            <a:r>
              <a:rPr lang="en-US" sz="900" dirty="0">
                <a:solidFill>
                  <a:srgbClr val="7EE787"/>
                </a:solidFill>
                <a:latin typeface="Courier New" pitchFamily="34" charset="0"/>
                <a:ea typeface="Courier New" pitchFamily="34" charset="-122"/>
                <a:cs typeface="Courier New" pitchFamily="34" charset="-120"/>
              </a:rPr>
              <a:t>2 is a prime number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is a prime number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 equals 2 * 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 is a prime number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 equals 2 * 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7 is a prime number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 equals 2 * 4</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9 equals 3 * 3</a:t>
            </a:r>
            <a:endParaRPr lang="en-US" sz="900" dirty="0"/>
          </a:p>
        </p:txBody>
      </p:sp>
      <p:sp>
        <p:nvSpPr>
          <p:cNvPr id="12" name="Text 10"/>
          <p:cNvSpPr txBox="1"/>
          <p:nvPr/>
        </p:nvSpPr>
        <p:spPr>
          <a:xfrm>
            <a:off x="411480" y="350215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primes_v1_0_0.py, run under Python 3.14.4</a:t>
            </a:r>
            <a:endParaRPr lang="en-US" sz="900" dirty="0"/>
          </a:p>
        </p:txBody>
      </p:sp>
      <p:sp>
        <p:nvSpPr>
          <p:cNvPr id="13" name="Shape 11"/>
          <p:cNvSpPr/>
          <p:nvPr/>
        </p:nvSpPr>
        <p:spPr>
          <a:xfrm>
            <a:off x="411480" y="3831336"/>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31336"/>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41064"/>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name misleads. The tutorial suggests imagining the else paired with the if inside the loop, and notes that it has more in common with the else of a try statement than with the else of an if: the loop's else runs when no break occurred.</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loop variable afterwards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It survives the loop, unless there were no items</a:t>
            </a:r>
            <a:endParaRPr lang="en-US" sz="1300" dirty="0"/>
          </a:p>
        </p:txBody>
      </p:sp>
      <p:sp>
        <p:nvSpPr>
          <p:cNvPr id="6" name="Shape 4"/>
          <p:cNvSpPr/>
          <p:nvPr/>
        </p:nvSpPr>
        <p:spPr>
          <a:xfrm>
            <a:off x="411480" y="1152144"/>
            <a:ext cx="8321040" cy="1238377"/>
          </a:xfrm>
          <a:prstGeom prst="roundRect">
            <a:avLst>
              <a:gd name="adj" fmla="val 7384"/>
            </a:avLst>
          </a:prstGeom>
          <a:solidFill>
            <a:srgbClr val="F1F4F8"/>
          </a:solidFill>
          <a:ln w="12700">
            <a:solidFill>
              <a:srgbClr val="F1F4F8"/>
            </a:solidFill>
            <a:prstDash val="solid"/>
          </a:ln>
        </p:spPr>
      </p:sp>
      <p:sp>
        <p:nvSpPr>
          <p:cNvPr id="7" name="Text 5"/>
          <p:cNvSpPr txBox="1"/>
          <p:nvPr/>
        </p:nvSpPr>
        <p:spPr>
          <a:xfrm>
            <a:off x="594360" y="1280160"/>
            <a:ext cx="7955280" cy="982345"/>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loop variable of a for statement is an ordinary variable and it lives on after the loop. The reference states that the names in the target list are not deleted when the loop is finished, but if the sequence is empty they will not have been assigned to at all (Python Software Foundation, 2026). The fact is useful and dangerous at once: it lets the guessing game read its counter after the loop to compose its final message, and it means that a for loop can silently change a variable the program had been using for something else.</a:t>
            </a:r>
            <a:endParaRPr lang="en-US" sz="1150" dirty="0"/>
          </a:p>
        </p:txBody>
      </p:sp>
      <p:sp>
        <p:nvSpPr>
          <p:cNvPr id="8" name="Shape 6"/>
          <p:cNvSpPr/>
          <p:nvPr/>
        </p:nvSpPr>
        <p:spPr>
          <a:xfrm>
            <a:off x="411480" y="2500249"/>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600833"/>
            <a:ext cx="4169664" cy="86766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i = 'keep'</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for i in range(3):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pass</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print(i)</a:t>
            </a:r>
            <a:endParaRPr lang="en-US" sz="1400" dirty="0"/>
          </a:p>
        </p:txBody>
      </p:sp>
      <p:sp>
        <p:nvSpPr>
          <p:cNvPr id="10" name="Shape 8"/>
          <p:cNvSpPr/>
          <p:nvPr/>
        </p:nvSpPr>
        <p:spPr>
          <a:xfrm>
            <a:off x="5166360" y="2500249"/>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600833"/>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2</a:t>
            </a:r>
            <a:endParaRPr lang="en-US" sz="1400" dirty="0"/>
          </a:p>
        </p:txBody>
      </p:sp>
      <p:sp>
        <p:nvSpPr>
          <p:cNvPr id="12" name="Text 10"/>
          <p:cNvSpPr txBox="1"/>
          <p:nvPr/>
        </p:nvSpPr>
        <p:spPr>
          <a:xfrm>
            <a:off x="411480" y="3587369"/>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clobber_v1_0_0.py, run under Python 3.14.4</a:t>
            </a:r>
            <a:endParaRPr lang="en-US" sz="900" dirty="0"/>
          </a:p>
        </p:txBody>
      </p:sp>
      <p:sp>
        <p:nvSpPr>
          <p:cNvPr id="13" name="Shape 11"/>
          <p:cNvSpPr/>
          <p:nvPr/>
        </p:nvSpPr>
        <p:spPr>
          <a:xfrm>
            <a:off x="411480" y="3916553"/>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16553"/>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26281"/>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There is no separate scope for a loop. A variable the program was using is overwritten by a loop that happens to use the same name, and reading a loop variable after a loop that may be empty raises a NameError.</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ways a loop can end</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Five endings, and which of them run the else clause</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loop can end in several ways, and it matters which one happened. The first is that its condition becomes false, or that its iterator is exhausted. The others are a break, a return that leaves the function, and an exception nobody handles - among which are the one the exit call raises and the one the interrupt key raises (Python Software Foundation, 2026). The distinction decides what the program may assume afterwards: after a normal end the data is used up, after a break the test may still be true, and after an exception the code following the loop is not reached at all.</a:t>
            </a:r>
            <a:endParaRPr lang="en-US" sz="900" dirty="0"/>
          </a:p>
        </p:txBody>
      </p:sp>
      <p:sp>
        <p:nvSpPr>
          <p:cNvPr id="8" name="Shape 6"/>
          <p:cNvSpPr/>
          <p:nvPr/>
        </p:nvSpPr>
        <p:spPr>
          <a:xfrm>
            <a:off x="411480" y="2306574"/>
            <a:ext cx="4023360" cy="1260094"/>
          </a:xfrm>
          <a:prstGeom prst="roundRect">
            <a:avLst>
              <a:gd name="adj" fmla="val 7257"/>
            </a:avLst>
          </a:prstGeom>
          <a:solidFill>
            <a:srgbClr val="F1F4F8"/>
          </a:solidFill>
          <a:ln w="12700">
            <a:solidFill>
              <a:srgbClr val="F1F4F8"/>
            </a:solidFill>
            <a:prstDash val="solid"/>
          </a:ln>
        </p:spPr>
      </p:sp>
      <p:sp>
        <p:nvSpPr>
          <p:cNvPr id="9" name="Text 7"/>
          <p:cNvSpPr txBox="1"/>
          <p:nvPr/>
        </p:nvSpPr>
        <p:spPr>
          <a:xfrm>
            <a:off x="594360" y="2434590"/>
            <a:ext cx="3657600" cy="216916"/>
          </a:xfrm>
          <a:prstGeom prst="rect">
            <a:avLst/>
          </a:prstGeom>
          <a:noFill/>
          <a:ln/>
        </p:spPr>
        <p:txBody>
          <a:bodyPr wrap="square" lIns="0" tIns="0" rIns="0" bIns="0" rtlCol="0" anchor="ctr"/>
          <a:lstStyle/>
          <a:p>
            <a:pPr indent="0" marL="0">
              <a:buNone/>
            </a:pPr>
            <a:r>
              <a:rPr lang="en-US" sz="1400" b="1" dirty="0">
                <a:solidFill>
                  <a:srgbClr val="1A7F37"/>
                </a:solidFill>
                <a:latin typeface="Cambria" pitchFamily="34" charset="0"/>
                <a:ea typeface="Cambria" pitchFamily="34" charset="-122"/>
                <a:cs typeface="Cambria" pitchFamily="34" charset="-120"/>
              </a:rPr>
              <a:t>The else clause runs</a:t>
            </a:r>
            <a:endParaRPr lang="en-US" sz="1400" dirty="0"/>
          </a:p>
        </p:txBody>
      </p:sp>
      <p:sp>
        <p:nvSpPr>
          <p:cNvPr id="10" name="Text 8"/>
          <p:cNvSpPr txBox="1"/>
          <p:nvPr/>
        </p:nvSpPr>
        <p:spPr>
          <a:xfrm>
            <a:off x="594360" y="2724658"/>
            <a:ext cx="3657600" cy="71399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condition became false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iterator was exhausted</a:t>
            </a:r>
            <a:endParaRPr lang="en-US" sz="1300" dirty="0"/>
          </a:p>
        </p:txBody>
      </p:sp>
      <p:sp>
        <p:nvSpPr>
          <p:cNvPr id="11" name="Shape 9"/>
          <p:cNvSpPr/>
          <p:nvPr/>
        </p:nvSpPr>
        <p:spPr>
          <a:xfrm>
            <a:off x="4709160" y="2306574"/>
            <a:ext cx="4023360" cy="1260094"/>
          </a:xfrm>
          <a:prstGeom prst="roundRect">
            <a:avLst>
              <a:gd name="adj" fmla="val 7257"/>
            </a:avLst>
          </a:prstGeom>
          <a:solidFill>
            <a:srgbClr val="FFF1F0"/>
          </a:solidFill>
          <a:ln w="12700">
            <a:solidFill>
              <a:srgbClr val="FFD7D5"/>
            </a:solidFill>
            <a:prstDash val="solid"/>
          </a:ln>
        </p:spPr>
      </p:sp>
      <p:sp>
        <p:nvSpPr>
          <p:cNvPr id="12" name="Text 10"/>
          <p:cNvSpPr txBox="1"/>
          <p:nvPr/>
        </p:nvSpPr>
        <p:spPr>
          <a:xfrm>
            <a:off x="4892040" y="2434590"/>
            <a:ext cx="3657600" cy="216916"/>
          </a:xfrm>
          <a:prstGeom prst="rect">
            <a:avLst/>
          </a:prstGeom>
          <a:noFill/>
          <a:ln/>
        </p:spPr>
        <p:txBody>
          <a:bodyPr wrap="square" lIns="0" tIns="0" rIns="0" bIns="0" rtlCol="0" anchor="ctr"/>
          <a:lstStyle/>
          <a:p>
            <a:pPr indent="0" marL="0">
              <a:buNone/>
            </a:pPr>
            <a:r>
              <a:rPr lang="en-US" sz="1400" b="1" dirty="0">
                <a:solidFill>
                  <a:srgbClr val="FF7B72"/>
                </a:solidFill>
                <a:latin typeface="Cambria" pitchFamily="34" charset="0"/>
                <a:ea typeface="Cambria" pitchFamily="34" charset="-122"/>
                <a:cs typeface="Cambria" pitchFamily="34" charset="-120"/>
              </a:rPr>
              <a:t>The else clause does not run</a:t>
            </a:r>
            <a:endParaRPr lang="en-US" sz="1400" dirty="0"/>
          </a:p>
        </p:txBody>
      </p:sp>
      <p:sp>
        <p:nvSpPr>
          <p:cNvPr id="13" name="Text 11"/>
          <p:cNvSpPr txBox="1"/>
          <p:nvPr/>
        </p:nvSpPr>
        <p:spPr>
          <a:xfrm>
            <a:off x="4892040" y="2724658"/>
            <a:ext cx="3657600" cy="71399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break left the loop</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a return left the function</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an exception was not handled</a:t>
            </a:r>
            <a:endParaRPr lang="en-US" sz="1300" dirty="0"/>
          </a:p>
        </p:txBody>
      </p:sp>
      <p:sp>
        <p:nvSpPr>
          <p:cNvPr id="14" name="Shape 12"/>
          <p:cNvSpPr/>
          <p:nvPr/>
        </p:nvSpPr>
        <p:spPr>
          <a:xfrm>
            <a:off x="411480" y="3676396"/>
            <a:ext cx="8321040" cy="749046"/>
          </a:xfrm>
          <a:prstGeom prst="roundRect">
            <a:avLst>
              <a:gd name="adj" fmla="val 9766"/>
            </a:avLst>
          </a:prstGeom>
          <a:solidFill>
            <a:srgbClr val="FFF1F0"/>
          </a:solidFill>
          <a:ln w="12700">
            <a:solidFill>
              <a:srgbClr val="FFD7D5"/>
            </a:solidFill>
            <a:prstDash val="solid"/>
          </a:ln>
        </p:spPr>
      </p:sp>
      <p:sp>
        <p:nvSpPr>
          <p:cNvPr id="15" name="Shape 13"/>
          <p:cNvSpPr/>
          <p:nvPr/>
        </p:nvSpPr>
        <p:spPr>
          <a:xfrm>
            <a:off x="411480" y="3676396"/>
            <a:ext cx="64008" cy="749046"/>
          </a:xfrm>
          <a:prstGeom prst="rect">
            <a:avLst/>
          </a:prstGeom>
          <a:solidFill>
            <a:srgbClr val="FF7B72"/>
          </a:solidFill>
          <a:ln w="12700">
            <a:solidFill>
              <a:srgbClr val="FF7B72"/>
            </a:solidFill>
            <a:prstDash val="solid"/>
          </a:ln>
        </p:spPr>
      </p:sp>
      <p:sp>
        <p:nvSpPr>
          <p:cNvPr id="16" name="Text 14"/>
          <p:cNvSpPr txBox="1"/>
          <p:nvPr/>
        </p:nvSpPr>
        <p:spPr>
          <a:xfrm>
            <a:off x="612648" y="3786124"/>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frequent assumption is that after a while loop its condition must be false. That holds only for a loop that ended normally. Record the reason with the else clause, a flag or a return value instead of inferring it.</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Exceptions and warnings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signals behind the exits, and the clause that cleans up</a:t>
            </a:r>
            <a:endParaRPr lang="en-US" sz="1300" dirty="0"/>
          </a:p>
        </p:txBody>
      </p:sp>
      <p:sp>
        <p:nvSpPr>
          <p:cNvPr id="6" name="Shape 4"/>
          <p:cNvSpPr/>
          <p:nvPr/>
        </p:nvSpPr>
        <p:spPr>
          <a:xfrm>
            <a:off x="3794760" y="1152144"/>
            <a:ext cx="4937760" cy="1750568"/>
          </a:xfrm>
          <a:prstGeom prst="roundRect">
            <a:avLst>
              <a:gd name="adj" fmla="val 5223"/>
            </a:avLst>
          </a:prstGeom>
          <a:solidFill>
            <a:srgbClr val="17202B"/>
          </a:solidFill>
          <a:ln w="12700">
            <a:solidFill>
              <a:srgbClr val="17202B"/>
            </a:solidFill>
            <a:prstDash val="solid"/>
          </a:ln>
        </p:spPr>
      </p:sp>
      <p:sp>
        <p:nvSpPr>
          <p:cNvPr id="7" name="Text 5"/>
          <p:cNvSpPr txBox="1"/>
          <p:nvPr/>
        </p:nvSpPr>
        <p:spPr>
          <a:xfrm>
            <a:off x="3995928" y="1252728"/>
            <a:ext cx="4535424" cy="1549400"/>
          </a:xfrm>
          <a:prstGeom prst="rect">
            <a:avLst/>
          </a:prstGeom>
          <a:noFill/>
          <a:ln/>
        </p:spPr>
        <p:txBody>
          <a:bodyPr wrap="square" lIns="0" tIns="0" rIns="0" bIns="0" rtlCol="0" anchor="t"/>
          <a:lstStyle/>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10 * (1/0)</a:t>
            </a:r>
            <a:endParaRPr lang="en-US" sz="1000" dirty="0"/>
          </a:p>
          <a:p>
            <a:pPr indent="0" marL="0">
              <a:buNone/>
            </a:pPr>
            <a:r>
              <a:rPr lang="en-US" sz="1000" dirty="0">
                <a:solidFill>
                  <a:srgbClr val="FF7B72"/>
                </a:solidFill>
                <a:latin typeface="Courier New" pitchFamily="34" charset="0"/>
                <a:ea typeface="Courier New" pitchFamily="34" charset="-122"/>
                <a:cs typeface="Courier New" pitchFamily="34" charset="-120"/>
              </a:rPr>
              <a:t>ZeroDivisionError: division by zero</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int('x')</a:t>
            </a:r>
            <a:endParaRPr lang="en-US" sz="1000" dirty="0"/>
          </a:p>
          <a:p>
            <a:pPr indent="0" marL="0">
              <a:buNone/>
            </a:pPr>
            <a:r>
              <a:rPr lang="en-US" sz="1000" dirty="0">
                <a:solidFill>
                  <a:srgbClr val="FF7B72"/>
                </a:solidFill>
                <a:latin typeface="Courier New" pitchFamily="34" charset="0"/>
                <a:ea typeface="Courier New" pitchFamily="34" charset="-122"/>
                <a:cs typeface="Courier New" pitchFamily="34" charset="-120"/>
              </a:rPr>
              <a:t>ValueError: invalid literal for int() with base 10: 'x'</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issubclass(ValueError, Exception)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issubclass(SystemExit, Exception)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issubclass(KeyboardInterrupt, Exception)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p:txBody>
      </p:sp>
      <p:sp>
        <p:nvSpPr>
          <p:cNvPr id="8" name="Text 6"/>
          <p:cNvSpPr txBox="1"/>
          <p:nvPr/>
        </p:nvSpPr>
        <p:spPr>
          <a:xfrm>
            <a:off x="3794760" y="2921000"/>
            <a:ext cx="49377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3127248" cy="3446272"/>
          </a:xfrm>
          <a:prstGeom prst="roundRect">
            <a:avLst>
              <a:gd name="adj" fmla="val 2924"/>
            </a:avLst>
          </a:prstGeom>
          <a:solidFill>
            <a:srgbClr val="F1F4F8"/>
          </a:solidFill>
          <a:ln w="12700">
            <a:solidFill>
              <a:srgbClr val="F1F4F8"/>
            </a:solidFill>
            <a:prstDash val="solid"/>
          </a:ln>
        </p:spPr>
      </p:sp>
      <p:sp>
        <p:nvSpPr>
          <p:cNvPr id="10" name="Text 8"/>
          <p:cNvSpPr txBox="1"/>
          <p:nvPr/>
        </p:nvSpPr>
        <p:spPr>
          <a:xfrm>
            <a:off x="594360" y="1280160"/>
            <a:ext cx="2761488" cy="31902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Exceptions and warnings are the signals through which Python reports that something has gone wrong or looks wrong. An exception interrupts the normal flow of the program; a warning reports a suspicious construct and lets the program go on. Three loop-related features of this chapter use these signals: the call that ends a program, the interrupt key, and the new warning about control flow in a finally block (Python Software Foundation, 2026). Loops are where programs spend their time, so loops are where errors strike.</a:t>
            </a:r>
            <a:endParaRPr lang="en-US" sz="12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exception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error found while the program is running</a:t>
            </a:r>
            <a:endParaRPr lang="en-US" sz="1300" dirty="0"/>
          </a:p>
        </p:txBody>
      </p:sp>
      <p:sp>
        <p:nvSpPr>
          <p:cNvPr id="6" name="Shape 4"/>
          <p:cNvSpPr/>
          <p:nvPr/>
        </p:nvSpPr>
        <p:spPr>
          <a:xfrm>
            <a:off x="411480" y="1152144"/>
            <a:ext cx="8321040" cy="1160907"/>
          </a:xfrm>
          <a:prstGeom prst="roundRect">
            <a:avLst>
              <a:gd name="adj" fmla="val 7877"/>
            </a:avLst>
          </a:prstGeom>
          <a:solidFill>
            <a:srgbClr val="F1F4F8"/>
          </a:solidFill>
          <a:ln w="12700">
            <a:solidFill>
              <a:srgbClr val="F1F4F8"/>
            </a:solidFill>
            <a:prstDash val="solid"/>
          </a:ln>
        </p:spPr>
      </p:sp>
      <p:sp>
        <p:nvSpPr>
          <p:cNvPr id="7" name="Text 5"/>
          <p:cNvSpPr txBox="1"/>
          <p:nvPr/>
        </p:nvSpPr>
        <p:spPr>
          <a:xfrm>
            <a:off x="594360" y="1280160"/>
            <a:ext cx="7955280" cy="904875"/>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An exception is an error detected while a program runs. The tutorial explains that even if a statement or expression is syntactically correct, it may cause an error when an attempt is made to execute it, and that errors detected during execution are called exceptions and are not unconditionally fatal (Python Software Foundation, 2026). Exceptions are the mechanism behind much of this chapter: the error that zip in strict mode raises, the signal that ends a for loop, the exception the exit call raises and the one the interrupt key raises. A handler is written with try and except.</a:t>
            </a:r>
            <a:endParaRPr lang="en-US" sz="1050" dirty="0"/>
          </a:p>
        </p:txBody>
      </p:sp>
      <p:sp>
        <p:nvSpPr>
          <p:cNvPr id="8" name="Shape 6"/>
          <p:cNvSpPr/>
          <p:nvPr/>
        </p:nvSpPr>
        <p:spPr>
          <a:xfrm>
            <a:off x="411480" y="2422779"/>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523363"/>
            <a:ext cx="4169664" cy="86766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try:</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int('x')</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except ValueError:</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print('bad number')</a:t>
            </a:r>
            <a:endParaRPr lang="en-US" sz="1400" dirty="0"/>
          </a:p>
        </p:txBody>
      </p:sp>
      <p:sp>
        <p:nvSpPr>
          <p:cNvPr id="10" name="Shape 8"/>
          <p:cNvSpPr/>
          <p:nvPr/>
        </p:nvSpPr>
        <p:spPr>
          <a:xfrm>
            <a:off x="5166360" y="2422779"/>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523363"/>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bad number</a:t>
            </a:r>
            <a:endParaRPr lang="en-US" sz="1400" dirty="0"/>
          </a:p>
        </p:txBody>
      </p:sp>
      <p:sp>
        <p:nvSpPr>
          <p:cNvPr id="12" name="Text 10"/>
          <p:cNvSpPr txBox="1"/>
          <p:nvPr/>
        </p:nvSpPr>
        <p:spPr>
          <a:xfrm>
            <a:off x="411480" y="3509899"/>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handle_v1_0_0.py, run under Python 3.14.4</a:t>
            </a:r>
            <a:endParaRPr lang="en-US" sz="900" dirty="0"/>
          </a:p>
        </p:txBody>
      </p:sp>
      <p:sp>
        <p:nvSpPr>
          <p:cNvPr id="13" name="Shape 11"/>
          <p:cNvSpPr/>
          <p:nvPr/>
        </p:nvSpPr>
        <p:spPr>
          <a:xfrm>
            <a:off x="411480" y="3839083"/>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39083"/>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48811"/>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Exceptions are organised in a family, and a handler matches the named type and the types derived from it. An unhandled exception inside a loop ends the loop and the program together, and the loop's else clause does not run.</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finally clause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clean-up that runs whatever happened</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finally clause is the part of a try statement intended to define clean-up actions that must be executed under all circumstances. The tutorial states that the clause executes as the last task before the try statement completes, and that it runs whether or not the statement produces an exception (Python Software Foundation, 2026). Clean-up is what a program must do whatever happened - closing a file, releasing a connection - and the clause moves that duty out of the many places a block can be left and into one. If the block reaches a break, a continue or a return, the clause runs just before it takes effect.</a:t>
            </a:r>
            <a:endParaRPr lang="en-US" sz="900" dirty="0"/>
          </a:p>
        </p:txBody>
      </p:sp>
      <p:sp>
        <p:nvSpPr>
          <p:cNvPr id="8" name="Shape 6"/>
          <p:cNvSpPr/>
          <p:nvPr/>
        </p:nvSpPr>
        <p:spPr>
          <a:xfrm>
            <a:off x="411480" y="2306574"/>
            <a:ext cx="4572000" cy="1502664"/>
          </a:xfrm>
          <a:prstGeom prst="roundRect">
            <a:avLst>
              <a:gd name="adj" fmla="val 6085"/>
            </a:avLst>
          </a:prstGeom>
          <a:solidFill>
            <a:srgbClr val="17202B"/>
          </a:solidFill>
          <a:ln w="12700">
            <a:solidFill>
              <a:srgbClr val="17202B"/>
            </a:solidFill>
            <a:prstDash val="solid"/>
          </a:ln>
        </p:spPr>
      </p:sp>
      <p:sp>
        <p:nvSpPr>
          <p:cNvPr id="9" name="Text 7"/>
          <p:cNvSpPr txBox="1"/>
          <p:nvPr/>
        </p:nvSpPr>
        <p:spPr>
          <a:xfrm>
            <a:off x="612648" y="2407158"/>
            <a:ext cx="4169664" cy="1301496"/>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for i in range(3):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try:</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if i == 1:</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break</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finally:</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print('cleanup', i)</a:t>
            </a:r>
            <a:endParaRPr lang="en-US" sz="1400" dirty="0"/>
          </a:p>
        </p:txBody>
      </p:sp>
      <p:sp>
        <p:nvSpPr>
          <p:cNvPr id="10" name="Shape 8"/>
          <p:cNvSpPr/>
          <p:nvPr/>
        </p:nvSpPr>
        <p:spPr>
          <a:xfrm>
            <a:off x="5166360" y="2306574"/>
            <a:ext cx="3566160" cy="635000"/>
          </a:xfrm>
          <a:prstGeom prst="roundRect">
            <a:avLst>
              <a:gd name="adj" fmla="val 14400"/>
            </a:avLst>
          </a:prstGeom>
          <a:solidFill>
            <a:srgbClr val="0F1823"/>
          </a:solidFill>
          <a:ln w="12700">
            <a:solidFill>
              <a:srgbClr val="0F1823"/>
            </a:solidFill>
            <a:prstDash val="solid"/>
          </a:ln>
        </p:spPr>
      </p:sp>
      <p:sp>
        <p:nvSpPr>
          <p:cNvPr id="11" name="Text 9"/>
          <p:cNvSpPr txBox="1"/>
          <p:nvPr/>
        </p:nvSpPr>
        <p:spPr>
          <a:xfrm>
            <a:off x="5367528" y="2407158"/>
            <a:ext cx="3163824" cy="43383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cleanup 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cleanup 1</a:t>
            </a:r>
            <a:endParaRPr lang="en-US" sz="1400" dirty="0"/>
          </a:p>
        </p:txBody>
      </p:sp>
      <p:sp>
        <p:nvSpPr>
          <p:cNvPr id="12" name="Text 10"/>
          <p:cNvSpPr txBox="1"/>
          <p:nvPr/>
        </p:nvSpPr>
        <p:spPr>
          <a:xfrm>
            <a:off x="411480" y="382752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finally_order_v1_0_0.py, run under Python 3.14.4</a:t>
            </a:r>
            <a:endParaRPr lang="en-US" sz="900" dirty="0"/>
          </a:p>
        </p:txBody>
      </p:sp>
      <p:sp>
        <p:nvSpPr>
          <p:cNvPr id="13" name="Shape 11"/>
          <p:cNvSpPr/>
          <p:nvPr/>
        </p:nvSpPr>
        <p:spPr>
          <a:xfrm>
            <a:off x="411480" y="4156710"/>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156710"/>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266438"/>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break, continue or return inside the finally clause itself discards the saved exception and lets the program continue as if nothing had happened; the tutorial calls this confusing and discouraged.</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syntax warning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Legal code the compiler thinks is a mistake</a:t>
            </a:r>
            <a:endParaRPr lang="en-US" sz="1300" dirty="0"/>
          </a:p>
        </p:txBody>
      </p:sp>
      <p:sp>
        <p:nvSpPr>
          <p:cNvPr id="6" name="Shape 4"/>
          <p:cNvSpPr/>
          <p:nvPr/>
        </p:nvSpPr>
        <p:spPr>
          <a:xfrm>
            <a:off x="411480" y="1152144"/>
            <a:ext cx="8321040" cy="1416558"/>
          </a:xfrm>
          <a:prstGeom prst="roundRect">
            <a:avLst>
              <a:gd name="adj" fmla="val 6455"/>
            </a:avLst>
          </a:prstGeom>
          <a:solidFill>
            <a:srgbClr val="F1F4F8"/>
          </a:solidFill>
          <a:ln w="12700">
            <a:solidFill>
              <a:srgbClr val="F1F4F8"/>
            </a:solidFill>
            <a:prstDash val="solid"/>
          </a:ln>
        </p:spPr>
      </p:sp>
      <p:sp>
        <p:nvSpPr>
          <p:cNvPr id="7" name="Text 5"/>
          <p:cNvSpPr txBox="1"/>
          <p:nvPr/>
        </p:nvSpPr>
        <p:spPr>
          <a:xfrm>
            <a:off x="594360" y="1280160"/>
            <a:ext cx="7955280" cy="1160526"/>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 SyntaxWarning is a message the compiler issues for code that is legal but probably a mistake; unlike a SyntaxError it does not prevent the program from running. Python 3.14 uses it for one new case: the compiler now emits this warning when a return, break or continue statement has the effect of leaving a finally block (Python Software Foundation, 2026). A warning lets the language point at a problem without breaking programs that already exist, which PEP 765 gives as its reason - the semantics are surprising, and a swallowed exception is more likely to slip through testing than a wrong return value (Katriel and Coghlan, 2024).</a:t>
            </a:r>
            <a:endParaRPr lang="en-US" sz="1150" dirty="0"/>
          </a:p>
        </p:txBody>
      </p:sp>
      <p:sp>
        <p:nvSpPr>
          <p:cNvPr id="8" name="Shape 6"/>
          <p:cNvSpPr/>
          <p:nvPr/>
        </p:nvSpPr>
        <p:spPr>
          <a:xfrm>
            <a:off x="411480" y="2678430"/>
            <a:ext cx="4572000" cy="1037844"/>
          </a:xfrm>
          <a:prstGeom prst="roundRect">
            <a:avLst>
              <a:gd name="adj" fmla="val 8811"/>
            </a:avLst>
          </a:prstGeom>
          <a:solidFill>
            <a:srgbClr val="17202B"/>
          </a:solidFill>
          <a:ln w="12700">
            <a:solidFill>
              <a:srgbClr val="17202B"/>
            </a:solidFill>
            <a:prstDash val="solid"/>
          </a:ln>
        </p:spPr>
      </p:sp>
      <p:sp>
        <p:nvSpPr>
          <p:cNvPr id="9" name="Text 7"/>
          <p:cNvSpPr txBox="1"/>
          <p:nvPr/>
        </p:nvSpPr>
        <p:spPr>
          <a:xfrm>
            <a:off x="612648" y="2779014"/>
            <a:ext cx="4169664" cy="83667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for i in range(2):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try: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raise ValueError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finally: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break</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print('done')</a:t>
            </a:r>
            <a:endParaRPr lang="en-US" sz="900" dirty="0"/>
          </a:p>
        </p:txBody>
      </p:sp>
      <p:sp>
        <p:nvSpPr>
          <p:cNvPr id="10" name="Shape 8"/>
          <p:cNvSpPr/>
          <p:nvPr/>
        </p:nvSpPr>
        <p:spPr>
          <a:xfrm>
            <a:off x="5166360" y="2678430"/>
            <a:ext cx="3566160" cy="480060"/>
          </a:xfrm>
          <a:prstGeom prst="roundRect">
            <a:avLst>
              <a:gd name="adj" fmla="val 19048"/>
            </a:avLst>
          </a:prstGeom>
          <a:solidFill>
            <a:srgbClr val="0F1823"/>
          </a:solidFill>
          <a:ln w="12700">
            <a:solidFill>
              <a:srgbClr val="0F1823"/>
            </a:solidFill>
            <a:prstDash val="solid"/>
          </a:ln>
        </p:spPr>
      </p:sp>
      <p:sp>
        <p:nvSpPr>
          <p:cNvPr id="11" name="Text 9"/>
          <p:cNvSpPr txBox="1"/>
          <p:nvPr/>
        </p:nvSpPr>
        <p:spPr>
          <a:xfrm>
            <a:off x="5367528" y="2779014"/>
            <a:ext cx="3163824" cy="278892"/>
          </a:xfrm>
          <a:prstGeom prst="rect">
            <a:avLst/>
          </a:prstGeom>
          <a:noFill/>
          <a:ln/>
        </p:spPr>
        <p:txBody>
          <a:bodyPr wrap="square" lIns="0" tIns="0" rIns="0" bIns="0" rtlCol="0" anchor="t"/>
          <a:lstStyle/>
          <a:p>
            <a:pPr indent="0" marL="0">
              <a:buNone/>
            </a:pPr>
            <a:r>
              <a:rPr lang="en-US" sz="900" dirty="0">
                <a:solidFill>
                  <a:srgbClr val="7EE787"/>
                </a:solidFill>
                <a:latin typeface="Courier New" pitchFamily="34" charset="0"/>
                <a:ea typeface="Courier New" pitchFamily="34" charset="-122"/>
                <a:cs typeface="Courier New" pitchFamily="34" charset="-120"/>
              </a:rPr>
              <a:t>done</a:t>
            </a:r>
            <a:endParaRPr lang="en-US" sz="900" dirty="0"/>
          </a:p>
          <a:p>
            <a:pPr indent="0" marL="0">
              <a:buNone/>
            </a:pPr>
            <a:r>
              <a:rPr lang="en-US" sz="900" dirty="0">
                <a:solidFill>
                  <a:srgbClr val="FFD43B"/>
                </a:solidFill>
                <a:latin typeface="Courier New" pitchFamily="34" charset="0"/>
                <a:ea typeface="Courier New" pitchFamily="34" charset="-122"/>
                <a:cs typeface="Courier New" pitchFamily="34" charset="-120"/>
              </a:rPr>
              <a:t>SyntaxWarning: 'break' in a 'finally' block</a:t>
            </a:r>
            <a:endParaRPr lang="en-US" sz="900" dirty="0"/>
          </a:p>
        </p:txBody>
      </p:sp>
      <p:sp>
        <p:nvSpPr>
          <p:cNvPr id="12" name="Text 10"/>
          <p:cNvSpPr txBox="1"/>
          <p:nvPr/>
        </p:nvSpPr>
        <p:spPr>
          <a:xfrm>
            <a:off x="411480" y="373456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finally_break_v1_0_0.py, run under Python 3.14.4; the warning its compilation produced in yellow</a:t>
            </a:r>
            <a:endParaRPr lang="en-US" sz="900" dirty="0"/>
          </a:p>
        </p:txBody>
      </p:sp>
      <p:sp>
        <p:nvSpPr>
          <p:cNvPr id="13" name="Shape 11"/>
          <p:cNvSpPr/>
          <p:nvPr/>
        </p:nvSpPr>
        <p:spPr>
          <a:xfrm>
            <a:off x="411480" y="4063746"/>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63746"/>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73474"/>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word warning invites ignoring it, but this one points at code that really loses exceptions. Code run with the option that turns warnings into errors may stop working once a warning is introduced.</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IV</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Modules and the import statement</a:t>
            </a:r>
            <a:endParaRPr lang="en-US" sz="26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The built-in functions are not enough for real work. A module is a unit of Python code a program can load and use, and the standard library is a collection of them that arrives with the interpreter.</a:t>
            </a:r>
            <a:endParaRPr lang="en-US" sz="1500" dirty="0"/>
          </a:p>
        </p:txBody>
      </p:sp>
      <p:sp>
        <p:nvSpPr>
          <p:cNvPr id="5" name="Text 3"/>
          <p:cNvSpPr txBox="1"/>
          <p:nvPr/>
        </p:nvSpPr>
        <p:spPr>
          <a:xfrm>
            <a:off x="548640" y="4078224"/>
            <a:ext cx="8046720" cy="512064"/>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The forms of the import statement   ·   What a module is   ·   The two modules this chapter uses</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forms of the import statement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module, several, every public name, or just the ones you list</a:t>
            </a:r>
            <a:endParaRPr lang="en-US" sz="1300" dirty="0"/>
          </a:p>
        </p:txBody>
      </p:sp>
      <p:sp>
        <p:nvSpPr>
          <p:cNvPr id="6" name="Shape 4"/>
          <p:cNvSpPr/>
          <p:nvPr/>
        </p:nvSpPr>
        <p:spPr>
          <a:xfrm>
            <a:off x="4526280" y="1152144"/>
            <a:ext cx="4206240" cy="1409700"/>
          </a:xfrm>
          <a:prstGeom prst="roundRect">
            <a:avLst>
              <a:gd name="adj" fmla="val 6486"/>
            </a:avLst>
          </a:prstGeom>
          <a:solidFill>
            <a:srgbClr val="17202B"/>
          </a:solidFill>
          <a:ln w="12700">
            <a:solidFill>
              <a:srgbClr val="17202B"/>
            </a:solidFill>
            <a:prstDash val="solid"/>
          </a:ln>
        </p:spPr>
      </p:sp>
      <p:sp>
        <p:nvSpPr>
          <p:cNvPr id="7" name="Text 5"/>
          <p:cNvSpPr txBox="1"/>
          <p:nvPr/>
        </p:nvSpPr>
        <p:spPr>
          <a:xfrm>
            <a:off x="4727448" y="1252728"/>
            <a:ext cx="3803904" cy="1208532"/>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len('hello')</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5</a:t>
            </a:r>
            <a:endParaRPr lang="en-US" sz="1300" dirty="0"/>
          </a:p>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math.sqrt(16)</a:t>
            </a:r>
            <a:endParaRPr lang="en-US" sz="1300" dirty="0"/>
          </a:p>
          <a:p>
            <a:pPr indent="0" marL="0">
              <a:buNone/>
            </a:pPr>
            <a:r>
              <a:rPr lang="en-US" sz="1300" dirty="0">
                <a:solidFill>
                  <a:srgbClr val="FF7B72"/>
                </a:solidFill>
                <a:latin typeface="Courier New" pitchFamily="34" charset="0"/>
                <a:ea typeface="Courier New" pitchFamily="34" charset="-122"/>
                <a:cs typeface="Courier New" pitchFamily="34" charset="-120"/>
              </a:rPr>
              <a:t>NameError: name 'math' is not defined</a:t>
            </a:r>
            <a:endParaRPr lang="en-US" sz="1300" dirty="0"/>
          </a:p>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__import__('math').sqrt(16)</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4.0</a:t>
            </a:r>
            <a:endParaRPr lang="en-US" sz="1300" dirty="0"/>
          </a:p>
        </p:txBody>
      </p:sp>
      <p:sp>
        <p:nvSpPr>
          <p:cNvPr id="8" name="Text 6"/>
          <p:cNvSpPr txBox="1"/>
          <p:nvPr/>
        </p:nvSpPr>
        <p:spPr>
          <a:xfrm>
            <a:off x="4526280" y="258013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3858768" cy="3167380"/>
          </a:xfrm>
          <a:prstGeom prst="roundRect">
            <a:avLst>
              <a:gd name="adj" fmla="val 2887"/>
            </a:avLst>
          </a:prstGeom>
          <a:solidFill>
            <a:srgbClr val="F1F4F8"/>
          </a:solidFill>
          <a:ln w="12700">
            <a:solidFill>
              <a:srgbClr val="F1F4F8"/>
            </a:solidFill>
            <a:prstDash val="solid"/>
          </a:ln>
        </p:spPr>
      </p:sp>
      <p:sp>
        <p:nvSpPr>
          <p:cNvPr id="10" name="Text 8"/>
          <p:cNvSpPr txBox="1"/>
          <p:nvPr/>
        </p:nvSpPr>
        <p:spPr>
          <a:xfrm>
            <a:off x="594360" y="1280160"/>
            <a:ext cx="3493008" cy="291134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import form is one of the ways of writing an import statement. The chapter shows three: the plain import of one module, the import of several in one statement, and the star import; the from form, which names the wanted names, completes the picture (Sweigart, 2025). The forms differ in where the imported names end up and how much of the module they bring, and the difference decides how readable and how safe the program is. All of them perform the same two steps: the module is found and loaded, and then a name or names are defined, just as an assignment would define them.</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import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module's names stay under the module's name</a:t>
            </a:r>
            <a:endParaRPr lang="en-US" sz="1300" dirty="0"/>
          </a:p>
        </p:txBody>
      </p:sp>
      <p:sp>
        <p:nvSpPr>
          <p:cNvPr id="6" name="Shape 4"/>
          <p:cNvSpPr/>
          <p:nvPr/>
        </p:nvSpPr>
        <p:spPr>
          <a:xfrm>
            <a:off x="411480" y="1152144"/>
            <a:ext cx="8321040" cy="1160907"/>
          </a:xfrm>
          <a:prstGeom prst="roundRect">
            <a:avLst>
              <a:gd name="adj" fmla="val 7877"/>
            </a:avLst>
          </a:prstGeom>
          <a:solidFill>
            <a:srgbClr val="F1F4F8"/>
          </a:solidFill>
          <a:ln w="12700">
            <a:solidFill>
              <a:srgbClr val="F1F4F8"/>
            </a:solidFill>
            <a:prstDash val="solid"/>
          </a:ln>
        </p:spPr>
      </p:sp>
      <p:sp>
        <p:nvSpPr>
          <p:cNvPr id="7" name="Text 5"/>
          <p:cNvSpPr txBox="1"/>
          <p:nvPr/>
        </p:nvSpPr>
        <p:spPr>
          <a:xfrm>
            <a:off x="594360" y="1280160"/>
            <a:ext cx="7955280" cy="904875"/>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The import statement loads a module and makes it available to the program. The book says that before the functions of a module can be used, the module must be imported, and that the statement consists of the keyword, the name of the module and, optionally, more names separated by commas (Sweigart, 2025). The reference divides the work into two steps: find the module, loading and initialising it if necessary, and then bind a name in the current namespace. Each module is loaded only once per interpreter session, the statements that initialise it being executed the first time.</a:t>
            </a:r>
            <a:endParaRPr lang="en-US" sz="1050" dirty="0"/>
          </a:p>
        </p:txBody>
      </p:sp>
      <p:sp>
        <p:nvSpPr>
          <p:cNvPr id="8" name="Shape 6"/>
          <p:cNvSpPr/>
          <p:nvPr/>
        </p:nvSpPr>
        <p:spPr>
          <a:xfrm>
            <a:off x="411480" y="2422779"/>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523363"/>
            <a:ext cx="4169664" cy="86766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import random</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random.seed(3)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for i in range(5):</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print(random.randint(1, 10))</a:t>
            </a:r>
            <a:endParaRPr lang="en-US" sz="1400" dirty="0"/>
          </a:p>
        </p:txBody>
      </p:sp>
      <p:sp>
        <p:nvSpPr>
          <p:cNvPr id="10" name="Shape 8"/>
          <p:cNvSpPr/>
          <p:nvPr/>
        </p:nvSpPr>
        <p:spPr>
          <a:xfrm>
            <a:off x="5166360" y="2422779"/>
            <a:ext cx="3566160" cy="1285748"/>
          </a:xfrm>
          <a:prstGeom prst="roundRect">
            <a:avLst>
              <a:gd name="adj" fmla="val 7112"/>
            </a:avLst>
          </a:prstGeom>
          <a:solidFill>
            <a:srgbClr val="0F1823"/>
          </a:solidFill>
          <a:ln w="12700">
            <a:solidFill>
              <a:srgbClr val="0F1823"/>
            </a:solidFill>
            <a:prstDash val="solid"/>
          </a:ln>
        </p:spPr>
      </p:sp>
      <p:sp>
        <p:nvSpPr>
          <p:cNvPr id="11" name="Text 9"/>
          <p:cNvSpPr txBox="1"/>
          <p:nvPr/>
        </p:nvSpPr>
        <p:spPr>
          <a:xfrm>
            <a:off x="5367528" y="2523363"/>
            <a:ext cx="3163824" cy="1084580"/>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4</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10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9</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6</a:t>
            </a:r>
            <a:endParaRPr lang="en-US" sz="1400" dirty="0"/>
          </a:p>
        </p:txBody>
      </p:sp>
      <p:sp>
        <p:nvSpPr>
          <p:cNvPr id="12" name="Text 10"/>
          <p:cNvSpPr txBox="1"/>
          <p:nvPr/>
        </p:nvSpPr>
        <p:spPr>
          <a:xfrm>
            <a:off x="411480" y="3726815"/>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import5_v1_0_0.py, run under Python 3.14.4</a:t>
            </a:r>
            <a:endParaRPr lang="en-US" sz="900" dirty="0"/>
          </a:p>
        </p:txBody>
      </p:sp>
      <p:sp>
        <p:nvSpPr>
          <p:cNvPr id="13" name="Shape 11"/>
          <p:cNvSpPr/>
          <p:nvPr/>
        </p:nvSpPr>
        <p:spPr>
          <a:xfrm>
            <a:off x="411480" y="4055999"/>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55999"/>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65727"/>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Forgetting the import is the usual error: the call fails with a NameError, because the module's name does not exist. Asking for a module that cannot be found raises a ModuleNotFoundError that quotes the name.</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Several modules in one statement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Legal, and discouraged</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single import statement can name several modules, separated by commas; the book's example imports four at once (Sweigart, 2025). The reference says the two steps are then carried out separately for each clause, just as though they had been written as individual statements, so the form is a matter of style and not of meaning. The book uses it in the first line of its second game, because the program needs two modules. PEP 8 nevertheless asks for imports on separate lines (van Rossum, Warsaw and Coghlan, 2001).</a:t>
            </a:r>
            <a:endParaRPr lang="en-US" sz="1300" dirty="0"/>
          </a:p>
        </p:txBody>
      </p:sp>
      <p:sp>
        <p:nvSpPr>
          <p:cNvPr id="8" name="Shape 6"/>
          <p:cNvSpPr/>
          <p:nvPr/>
        </p:nvSpPr>
        <p:spPr>
          <a:xfrm>
            <a:off x="411480" y="2817876"/>
            <a:ext cx="4572000" cy="449072"/>
          </a:xfrm>
          <a:prstGeom prst="roundRect">
            <a:avLst>
              <a:gd name="adj" fmla="val 20362"/>
            </a:avLst>
          </a:prstGeom>
          <a:solidFill>
            <a:srgbClr val="17202B"/>
          </a:solidFill>
          <a:ln w="12700">
            <a:solidFill>
              <a:srgbClr val="17202B"/>
            </a:solidFill>
            <a:prstDash val="solid"/>
          </a:ln>
        </p:spPr>
      </p:sp>
      <p:sp>
        <p:nvSpPr>
          <p:cNvPr id="9" name="Text 7"/>
          <p:cNvSpPr txBox="1"/>
          <p:nvPr/>
        </p:nvSpPr>
        <p:spPr>
          <a:xfrm>
            <a:off x="612648" y="2918460"/>
            <a:ext cx="4169664" cy="247904"/>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import random, sys, os, math</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print(random.__name__, sys.__name__, os.__name__, math.__name__)</a:t>
            </a:r>
            <a:endParaRPr lang="en-US" sz="800" dirty="0"/>
          </a:p>
        </p:txBody>
      </p:sp>
      <p:sp>
        <p:nvSpPr>
          <p:cNvPr id="10" name="Shape 8"/>
          <p:cNvSpPr/>
          <p:nvPr/>
        </p:nvSpPr>
        <p:spPr>
          <a:xfrm>
            <a:off x="5166360" y="2817876"/>
            <a:ext cx="3566160" cy="325120"/>
          </a:xfrm>
          <a:prstGeom prst="roundRect">
            <a:avLst>
              <a:gd name="adj" fmla="val 28125"/>
            </a:avLst>
          </a:prstGeom>
          <a:solidFill>
            <a:srgbClr val="0F1823"/>
          </a:solidFill>
          <a:ln w="12700">
            <a:solidFill>
              <a:srgbClr val="0F1823"/>
            </a:solidFill>
            <a:prstDash val="solid"/>
          </a:ln>
        </p:spPr>
      </p:sp>
      <p:sp>
        <p:nvSpPr>
          <p:cNvPr id="11" name="Text 9"/>
          <p:cNvSpPr txBox="1"/>
          <p:nvPr/>
        </p:nvSpPr>
        <p:spPr>
          <a:xfrm>
            <a:off x="5367528" y="2918460"/>
            <a:ext cx="3163824" cy="123952"/>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random sys os math</a:t>
            </a:r>
            <a:endParaRPr lang="en-US" sz="800" dirty="0"/>
          </a:p>
        </p:txBody>
      </p:sp>
      <p:sp>
        <p:nvSpPr>
          <p:cNvPr id="12" name="Text 10"/>
          <p:cNvSpPr txBox="1"/>
          <p:nvPr/>
        </p:nvSpPr>
        <p:spPr>
          <a:xfrm>
            <a:off x="411480" y="328523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multi_v1_0_0.py, run under Python 3.14.4</a:t>
            </a:r>
            <a:endParaRPr lang="en-US" sz="900" dirty="0"/>
          </a:p>
        </p:txBody>
      </p:sp>
      <p:sp>
        <p:nvSpPr>
          <p:cNvPr id="13" name="Shape 11"/>
          <p:cNvSpPr/>
          <p:nvPr/>
        </p:nvSpPr>
        <p:spPr>
          <a:xfrm>
            <a:off x="411480" y="3614420"/>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614420"/>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3724148"/>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style guide gives a one-line import of two modules as wrong, while taking several names from one module with the from form is fine.</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star import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public name, with no prefix and no list</a:t>
            </a:r>
            <a:endParaRPr lang="en-US" sz="1300" dirty="0"/>
          </a:p>
        </p:txBody>
      </p:sp>
      <p:sp>
        <p:nvSpPr>
          <p:cNvPr id="6" name="Shape 4"/>
          <p:cNvSpPr/>
          <p:nvPr/>
        </p:nvSpPr>
        <p:spPr>
          <a:xfrm>
            <a:off x="411480" y="1152144"/>
            <a:ext cx="8321040" cy="1509522"/>
          </a:xfrm>
          <a:prstGeom prst="roundRect">
            <a:avLst>
              <a:gd name="adj" fmla="val 6058"/>
            </a:avLst>
          </a:prstGeom>
          <a:solidFill>
            <a:srgbClr val="F1F4F8"/>
          </a:solidFill>
          <a:ln w="12700">
            <a:solidFill>
              <a:srgbClr val="F1F4F8"/>
            </a:solidFill>
            <a:prstDash val="solid"/>
          </a:ln>
        </p:spPr>
      </p:sp>
      <p:sp>
        <p:nvSpPr>
          <p:cNvPr id="7" name="Text 5"/>
          <p:cNvSpPr txBox="1"/>
          <p:nvPr/>
        </p:nvSpPr>
        <p:spPr>
          <a:xfrm>
            <a:off x="594360" y="1280160"/>
            <a:ext cx="7955280" cy="12534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star import brings all the public names of a module into the program, so that they can be used without the module's name in front (Sweigart, 2025). Its attraction is less typing. The tutorial agrees that this is acceptable to save typing in an interactive session but says that in general the practice is frowned upon, since it often causes poorly readable code and introduces an unknown set of names that may hide things already defined (Python Software Foundation, 2026). The public names are the ones the module lists, or every name that does not begin with an underscore.</a:t>
            </a:r>
            <a:endParaRPr lang="en-US" sz="1250" dirty="0"/>
          </a:p>
        </p:txBody>
      </p:sp>
      <p:sp>
        <p:nvSpPr>
          <p:cNvPr id="8" name="Shape 6"/>
          <p:cNvSpPr/>
          <p:nvPr/>
        </p:nvSpPr>
        <p:spPr>
          <a:xfrm>
            <a:off x="411480" y="2771394"/>
            <a:ext cx="4572000" cy="851916"/>
          </a:xfrm>
          <a:prstGeom prst="roundRect">
            <a:avLst>
              <a:gd name="adj" fmla="val 10733"/>
            </a:avLst>
          </a:prstGeom>
          <a:solidFill>
            <a:srgbClr val="17202B"/>
          </a:solidFill>
          <a:ln w="12700">
            <a:solidFill>
              <a:srgbClr val="17202B"/>
            </a:solidFill>
            <a:prstDash val="solid"/>
          </a:ln>
        </p:spPr>
      </p:sp>
      <p:sp>
        <p:nvSpPr>
          <p:cNvPr id="9" name="Text 7"/>
          <p:cNvSpPr txBox="1"/>
          <p:nvPr/>
        </p:nvSpPr>
        <p:spPr>
          <a:xfrm>
            <a:off x="612648" y="2871978"/>
            <a:ext cx="4169664" cy="650748"/>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print(pow(2, 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from math import *</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print(pow(2, 3))</a:t>
            </a:r>
            <a:endParaRPr lang="en-US" sz="1400" dirty="0"/>
          </a:p>
        </p:txBody>
      </p:sp>
      <p:sp>
        <p:nvSpPr>
          <p:cNvPr id="10" name="Shape 8"/>
          <p:cNvSpPr/>
          <p:nvPr/>
        </p:nvSpPr>
        <p:spPr>
          <a:xfrm>
            <a:off x="5166360" y="2771394"/>
            <a:ext cx="3566160" cy="635000"/>
          </a:xfrm>
          <a:prstGeom prst="roundRect">
            <a:avLst>
              <a:gd name="adj" fmla="val 14400"/>
            </a:avLst>
          </a:prstGeom>
          <a:solidFill>
            <a:srgbClr val="0F1823"/>
          </a:solidFill>
          <a:ln w="12700">
            <a:solidFill>
              <a:srgbClr val="0F1823"/>
            </a:solidFill>
            <a:prstDash val="solid"/>
          </a:ln>
        </p:spPr>
      </p:sp>
      <p:sp>
        <p:nvSpPr>
          <p:cNvPr id="11" name="Text 9"/>
          <p:cNvSpPr txBox="1"/>
          <p:nvPr/>
        </p:nvSpPr>
        <p:spPr>
          <a:xfrm>
            <a:off x="5367528" y="2871978"/>
            <a:ext cx="3163824" cy="43383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8</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8.0</a:t>
            </a:r>
            <a:endParaRPr lang="en-US" sz="1400" dirty="0"/>
          </a:p>
        </p:txBody>
      </p:sp>
      <p:sp>
        <p:nvSpPr>
          <p:cNvPr id="12" name="Text 10"/>
          <p:cNvSpPr txBox="1"/>
          <p:nvPr/>
        </p:nvSpPr>
        <p:spPr>
          <a:xfrm>
            <a:off x="411480" y="364159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star_pow_v1_0_0.py, run under Python 3.14.4</a:t>
            </a:r>
            <a:endParaRPr lang="en-US" sz="900" dirty="0"/>
          </a:p>
        </p:txBody>
      </p:sp>
      <p:sp>
        <p:nvSpPr>
          <p:cNvPr id="13" name="Shape 11"/>
          <p:cNvSpPr/>
          <p:nvPr/>
        </p:nvSpPr>
        <p:spPr>
          <a:xfrm>
            <a:off x="411480" y="3970782"/>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70782"/>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80510"/>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danger is silent replacement, which this program shows: the same call gives a different answer after the import, because a name from the module has taken the place of the built-in one, with no message at all.</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from form, and renaming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Only the names you list, under the name you choose</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from form of the import statement imports chosen names of a module directly into the program, so that a function is called without the module prefix; the tutorial notes that this variant does not introduce the module name itself into the local namespace (Python Software Foundation, 2026). A name can also be bound under another name. The form sits between the plain import and the star import: it keeps the names short, as the star form does, but it lists them explicitly, so a reader can see which names come from where and no unknown names arrive.</a:t>
            </a:r>
            <a:endParaRPr lang="en-US" sz="1300" dirty="0"/>
          </a:p>
        </p:txBody>
      </p:sp>
      <p:sp>
        <p:nvSpPr>
          <p:cNvPr id="8" name="Shape 6"/>
          <p:cNvSpPr/>
          <p:nvPr/>
        </p:nvSpPr>
        <p:spPr>
          <a:xfrm>
            <a:off x="411480" y="2817876"/>
            <a:ext cx="4572000" cy="851916"/>
          </a:xfrm>
          <a:prstGeom prst="roundRect">
            <a:avLst>
              <a:gd name="adj" fmla="val 10733"/>
            </a:avLst>
          </a:prstGeom>
          <a:solidFill>
            <a:srgbClr val="17202B"/>
          </a:solidFill>
          <a:ln w="12700">
            <a:solidFill>
              <a:srgbClr val="17202B"/>
            </a:solidFill>
            <a:prstDash val="solid"/>
          </a:ln>
        </p:spPr>
      </p:sp>
      <p:sp>
        <p:nvSpPr>
          <p:cNvPr id="9" name="Text 7"/>
          <p:cNvSpPr txBox="1"/>
          <p:nvPr/>
        </p:nvSpPr>
        <p:spPr>
          <a:xfrm>
            <a:off x="612648" y="2918460"/>
            <a:ext cx="4169664" cy="650748"/>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import math as m</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print(m.sqrt(25))</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print(m.__name__)</a:t>
            </a:r>
            <a:endParaRPr lang="en-US" sz="1400" dirty="0"/>
          </a:p>
        </p:txBody>
      </p:sp>
      <p:sp>
        <p:nvSpPr>
          <p:cNvPr id="10" name="Shape 8"/>
          <p:cNvSpPr/>
          <p:nvPr/>
        </p:nvSpPr>
        <p:spPr>
          <a:xfrm>
            <a:off x="5166360" y="2817876"/>
            <a:ext cx="3566160" cy="635000"/>
          </a:xfrm>
          <a:prstGeom prst="roundRect">
            <a:avLst>
              <a:gd name="adj" fmla="val 14400"/>
            </a:avLst>
          </a:prstGeom>
          <a:solidFill>
            <a:srgbClr val="0F1823"/>
          </a:solidFill>
          <a:ln w="12700">
            <a:solidFill>
              <a:srgbClr val="0F1823"/>
            </a:solidFill>
            <a:prstDash val="solid"/>
          </a:ln>
        </p:spPr>
      </p:sp>
      <p:sp>
        <p:nvSpPr>
          <p:cNvPr id="11" name="Text 9"/>
          <p:cNvSpPr txBox="1"/>
          <p:nvPr/>
        </p:nvSpPr>
        <p:spPr>
          <a:xfrm>
            <a:off x="5367528" y="2918460"/>
            <a:ext cx="3163824" cy="43383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5.0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math</a:t>
            </a:r>
            <a:endParaRPr lang="en-US" sz="1400" dirty="0"/>
          </a:p>
        </p:txBody>
      </p:sp>
      <p:sp>
        <p:nvSpPr>
          <p:cNvPr id="12" name="Text 10"/>
          <p:cNvSpPr txBox="1"/>
          <p:nvPr/>
        </p:nvSpPr>
        <p:spPr>
          <a:xfrm>
            <a:off x="411480" y="368808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as_math_v1_0_0.py, run under Python 3.14.4</a:t>
            </a:r>
            <a:endParaRPr lang="en-US" sz="900" dirty="0"/>
          </a:p>
        </p:txBody>
      </p:sp>
      <p:sp>
        <p:nvSpPr>
          <p:cNvPr id="13" name="Shape 11"/>
          <p:cNvSpPr/>
          <p:nvPr/>
        </p:nvSpPr>
        <p:spPr>
          <a:xfrm>
            <a:off x="411480" y="4017264"/>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17264"/>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2699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If the module has no attribute of the requested name, Python raises an ImportError that quotes the name and the module. A name imported this way can also replace a name the program already had.</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What a module is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file, a namespace, a search path, and a name that can be stolen</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module basics are the facts every import relies on: that a module is a file with its own namespace, that Python comes with a standard library of ready-made modules, that names inside a module are reached with a dotted name, that Python searches a list of places to find a module, and that a file with the wrong name can hide a real one. A learner who knows these can predict what an import will do and can diagnose its failures, and the same facts are needed for every later chapter, because every library the course uses arrives as a module.</a:t>
            </a:r>
            <a:endParaRPr lang="en-US" sz="1300" dirty="0"/>
          </a:p>
        </p:txBody>
      </p:sp>
      <p:sp>
        <p:nvSpPr>
          <p:cNvPr id="8" name="Shape 6"/>
          <p:cNvSpPr/>
          <p:nvPr/>
        </p:nvSpPr>
        <p:spPr>
          <a:xfrm>
            <a:off x="411480" y="2817876"/>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918460"/>
            <a:ext cx="4169664" cy="86766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import sys</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print('math' in sys.modules)</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import math</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print('math' in sys.modules)</a:t>
            </a:r>
            <a:endParaRPr lang="en-US" sz="1400" dirty="0"/>
          </a:p>
        </p:txBody>
      </p:sp>
      <p:sp>
        <p:nvSpPr>
          <p:cNvPr id="10" name="Shape 8"/>
          <p:cNvSpPr/>
          <p:nvPr/>
        </p:nvSpPr>
        <p:spPr>
          <a:xfrm>
            <a:off x="5166360" y="2817876"/>
            <a:ext cx="3566160" cy="635000"/>
          </a:xfrm>
          <a:prstGeom prst="roundRect">
            <a:avLst>
              <a:gd name="adj" fmla="val 14400"/>
            </a:avLst>
          </a:prstGeom>
          <a:solidFill>
            <a:srgbClr val="0F1823"/>
          </a:solidFill>
          <a:ln w="12700">
            <a:solidFill>
              <a:srgbClr val="0F1823"/>
            </a:solidFill>
            <a:prstDash val="solid"/>
          </a:ln>
        </p:spPr>
      </p:sp>
      <p:sp>
        <p:nvSpPr>
          <p:cNvPr id="11" name="Text 9"/>
          <p:cNvSpPr txBox="1"/>
          <p:nvPr/>
        </p:nvSpPr>
        <p:spPr>
          <a:xfrm>
            <a:off x="5367528" y="2918460"/>
            <a:ext cx="3163824" cy="43383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2" name="Text 10"/>
          <p:cNvSpPr txBox="1"/>
          <p:nvPr/>
        </p:nvSpPr>
        <p:spPr>
          <a:xfrm>
            <a:off x="411480" y="390499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modules_cache_v1_0_0.py, run under Python 3.14.4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module file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file of definitions, loaded into an object</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module is a file that contains Python definitions and statements. The tutorial states that the file name is the module name with the suffix .py appended, and that within a module its own name is available as the value of a global variable (Python Software Foundation, 2026). Importing a module creates a module object: its type is module, its name is the name it was imported under, and its attributes are the names defined in the file. A module may contain executable statements, and these initialise it and run only the first time it is imported.</a:t>
            </a:r>
            <a:endParaRPr lang="en-US" sz="1250" dirty="0"/>
          </a:p>
        </p:txBody>
      </p:sp>
      <p:sp>
        <p:nvSpPr>
          <p:cNvPr id="8" name="Shape 6"/>
          <p:cNvSpPr/>
          <p:nvPr/>
        </p:nvSpPr>
        <p:spPr>
          <a:xfrm>
            <a:off x="5358384" y="1152144"/>
            <a:ext cx="3374136" cy="1130808"/>
          </a:xfrm>
          <a:prstGeom prst="roundRect">
            <a:avLst>
              <a:gd name="adj" fmla="val 8086"/>
            </a:avLst>
          </a:prstGeom>
          <a:solidFill>
            <a:srgbClr val="17202B"/>
          </a:solidFill>
          <a:ln w="12700">
            <a:solidFill>
              <a:srgbClr val="17202B"/>
            </a:solidFill>
            <a:prstDash val="solid"/>
          </a:ln>
        </p:spPr>
      </p:sp>
      <p:sp>
        <p:nvSpPr>
          <p:cNvPr id="9" name="Text 7"/>
          <p:cNvSpPr txBox="1"/>
          <p:nvPr/>
        </p:nvSpPr>
        <p:spPr>
          <a:xfrm>
            <a:off x="5559552" y="1252728"/>
            <a:ext cx="2971800" cy="929640"/>
          </a:xfrm>
          <a:prstGeom prst="rect">
            <a:avLst/>
          </a:prstGeom>
          <a:noFill/>
          <a:ln/>
        </p:spPr>
        <p:txBody>
          <a:bodyPr wrap="square" lIns="0" tIns="0" rIns="0" bIns="0" rtlCol="0" anchor="t"/>
          <a:lstStyle/>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type(__import__('math')).__name__</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'module'</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__import__('math').__name__</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'math'</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__import__('random').__name__</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'random'</a:t>
            </a:r>
            <a:endParaRPr lang="en-US" sz="1000" dirty="0"/>
          </a:p>
        </p:txBody>
      </p:sp>
      <p:sp>
        <p:nvSpPr>
          <p:cNvPr id="10" name="Text 8"/>
          <p:cNvSpPr txBox="1"/>
          <p:nvPr/>
        </p:nvSpPr>
        <p:spPr>
          <a:xfrm>
            <a:off x="5358384" y="230124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module is an object in the running program, not merely a file on disk, so importing it twice does not run it twice, and changing the file while the interpreter is running does not change the module already loaded.</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standard library</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modules that arrive with the interpreter</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standard library is the set of modules Python comes with. The book distinguishes it from the built-in functions: all Python programs can call a basic set of built-in functions, while the modules of the standard library each have to be imported (Sweigart, 2025). The library saves the effort of writing common code, and because it is installed with Python a program that uses it works on every machine that has the interpreter. The book names four of its modules, two of which this chapter uses.</a:t>
            </a:r>
            <a:endParaRPr lang="en-US" sz="1300" dirty="0"/>
          </a:p>
        </p:txBody>
      </p:sp>
      <p:sp>
        <p:nvSpPr>
          <p:cNvPr id="8" name="Shape 6"/>
          <p:cNvSpPr/>
          <p:nvPr/>
        </p:nvSpPr>
        <p:spPr>
          <a:xfrm>
            <a:off x="5358384" y="1152144"/>
            <a:ext cx="3374136" cy="1130808"/>
          </a:xfrm>
          <a:prstGeom prst="roundRect">
            <a:avLst>
              <a:gd name="adj" fmla="val 8086"/>
            </a:avLst>
          </a:prstGeom>
          <a:solidFill>
            <a:srgbClr val="17202B"/>
          </a:solidFill>
          <a:ln w="12700">
            <a:solidFill>
              <a:srgbClr val="17202B"/>
            </a:solidFill>
            <a:prstDash val="solid"/>
          </a:ln>
        </p:spPr>
      </p:sp>
      <p:sp>
        <p:nvSpPr>
          <p:cNvPr id="9" name="Text 7"/>
          <p:cNvSpPr txBox="1"/>
          <p:nvPr/>
        </p:nvSpPr>
        <p:spPr>
          <a:xfrm>
            <a:off x="5559552" y="1252728"/>
            <a:ext cx="2971800" cy="929640"/>
          </a:xfrm>
          <a:prstGeom prst="rect">
            <a:avLst/>
          </a:prstGeom>
          <a:noFill/>
          <a:ln/>
        </p:spPr>
        <p:txBody>
          <a:bodyPr wrap="square" lIns="0" tIns="0" rIns="0" bIns="0" rtlCol="0" anchor="t"/>
          <a:lstStyle/>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len('hello')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math.sqrt(16)</a:t>
            </a:r>
            <a:endParaRPr lang="en-US" sz="1000" dirty="0"/>
          </a:p>
          <a:p>
            <a:pPr indent="0" marL="0">
              <a:buNone/>
            </a:pPr>
            <a:r>
              <a:rPr lang="en-US" sz="1000" dirty="0">
                <a:solidFill>
                  <a:srgbClr val="FF7B72"/>
                </a:solidFill>
                <a:latin typeface="Courier New" pitchFamily="34" charset="0"/>
                <a:ea typeface="Courier New" pitchFamily="34" charset="-122"/>
                <a:cs typeface="Courier New" pitchFamily="34" charset="-120"/>
              </a:rPr>
              <a:t>NameError: name 'math' is not defined</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__import__('math').sqrt(16)</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4.0</a:t>
            </a:r>
            <a:endParaRPr lang="en-US" sz="1000" dirty="0"/>
          </a:p>
        </p:txBody>
      </p:sp>
      <p:sp>
        <p:nvSpPr>
          <p:cNvPr id="10" name="Text 8"/>
          <p:cNvSpPr txBox="1"/>
          <p:nvPr/>
        </p:nvSpPr>
        <p:spPr>
          <a:xfrm>
            <a:off x="5358384" y="230124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Built-in names are not protected. The book lists the names people often take for their own variables and files - among them all, any, list, max, min, open, set, str, sum and type - and advises against it.</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module namespace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Why the dotted name is there</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namespace is the place where a variable is stored, and every module has its own. The glossary says that namespaces support modularity by preventing naming conflicts, and that they aid readability by making it clear which module implements a function (Python Software Foundation, 2026). Separate namespaces let two modules use the same name for different things without harm, and for the reader of a program the dotted name is documentation: it says where the function comes from. The part after the dot is an attribute of the module object.</a:t>
            </a:r>
            <a:endParaRPr lang="en-US" sz="1250" dirty="0"/>
          </a:p>
        </p:txBody>
      </p:sp>
      <p:sp>
        <p:nvSpPr>
          <p:cNvPr id="8" name="Shape 6"/>
          <p:cNvSpPr/>
          <p:nvPr/>
        </p:nvSpPr>
        <p:spPr>
          <a:xfrm>
            <a:off x="5358384" y="1152144"/>
            <a:ext cx="3374136" cy="851916"/>
          </a:xfrm>
          <a:prstGeom prst="roundRect">
            <a:avLst>
              <a:gd name="adj" fmla="val 10733"/>
            </a:avLst>
          </a:prstGeom>
          <a:solidFill>
            <a:srgbClr val="17202B"/>
          </a:solidFill>
          <a:ln w="12700">
            <a:solidFill>
              <a:srgbClr val="17202B"/>
            </a:solidFill>
            <a:prstDash val="solid"/>
          </a:ln>
        </p:spPr>
      </p:sp>
      <p:sp>
        <p:nvSpPr>
          <p:cNvPr id="9" name="Text 7"/>
          <p:cNvSpPr txBox="1"/>
          <p:nvPr/>
        </p:nvSpPr>
        <p:spPr>
          <a:xfrm>
            <a:off x="5559552" y="1252728"/>
            <a:ext cx="2971800" cy="650748"/>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__import__('math').sqrt(16)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4.0</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'sqrt' in dir(__import__('math'))</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__import__('math').nope</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AttributeError: module 'math' has no attribute 'nope'</a:t>
            </a:r>
            <a:endParaRPr lang="en-US" sz="700" dirty="0"/>
          </a:p>
        </p:txBody>
      </p:sp>
      <p:sp>
        <p:nvSpPr>
          <p:cNvPr id="10" name="Text 8"/>
          <p:cNvSpPr txBox="1"/>
          <p:nvPr/>
        </p:nvSpPr>
        <p:spPr>
          <a:xfrm>
            <a:off x="5358384" y="202234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name the module does not have raises an AttributeError, and the message names both the module and the attribute. A mistyped function name gives this error, whereas a forgotten prefix gives a NameError.</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module search path</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Where Python looks, and in what order</a:t>
            </a:r>
            <a:endParaRPr lang="en-US" sz="1300" dirty="0"/>
          </a:p>
        </p:txBody>
      </p:sp>
      <p:sp>
        <p:nvSpPr>
          <p:cNvPr id="6" name="Shape 4"/>
          <p:cNvSpPr/>
          <p:nvPr/>
        </p:nvSpPr>
        <p:spPr>
          <a:xfrm>
            <a:off x="411480" y="1152144"/>
            <a:ext cx="8321040" cy="1199642"/>
          </a:xfrm>
          <a:prstGeom prst="roundRect">
            <a:avLst>
              <a:gd name="adj" fmla="val 7622"/>
            </a:avLst>
          </a:prstGeom>
          <a:solidFill>
            <a:srgbClr val="F1F4F8"/>
          </a:solidFill>
          <a:ln w="12700">
            <a:solidFill>
              <a:srgbClr val="F1F4F8"/>
            </a:solidFill>
            <a:prstDash val="solid"/>
          </a:ln>
        </p:spPr>
      </p:sp>
      <p:sp>
        <p:nvSpPr>
          <p:cNvPr id="7" name="Text 5"/>
          <p:cNvSpPr txBox="1"/>
          <p:nvPr/>
        </p:nvSpPr>
        <p:spPr>
          <a:xfrm>
            <a:off x="594360" y="1280160"/>
            <a:ext cx="7955280" cy="94361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The module search path is the list of places Python looks for an imported module. The tutorial explains that for a module of a given name the interpreter first searches for a built-in module with that name, and if none is found it searches for a file of that name in the directories given by a list the sys module holds (Python Software Foundation, 2026). Before it searches at all, the import system looks in a cache of modules already imported. The directory of the running script is placed at the beginning of the path, ahead of the standard library.</a:t>
            </a:r>
            <a:endParaRPr lang="en-US" sz="1100" dirty="0"/>
          </a:p>
        </p:txBody>
      </p:sp>
      <p:sp>
        <p:nvSpPr>
          <p:cNvPr id="8" name="Shape 6"/>
          <p:cNvSpPr/>
          <p:nvPr/>
        </p:nvSpPr>
        <p:spPr>
          <a:xfrm>
            <a:off x="411480" y="2461514"/>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562098"/>
            <a:ext cx="4169664" cy="86766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import sys</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print('math' in sys.modules)</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import math</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print('math' in sys.modules)</a:t>
            </a:r>
            <a:endParaRPr lang="en-US" sz="1400" dirty="0"/>
          </a:p>
        </p:txBody>
      </p:sp>
      <p:sp>
        <p:nvSpPr>
          <p:cNvPr id="10" name="Shape 8"/>
          <p:cNvSpPr/>
          <p:nvPr/>
        </p:nvSpPr>
        <p:spPr>
          <a:xfrm>
            <a:off x="5166360" y="2461514"/>
            <a:ext cx="3566160" cy="635000"/>
          </a:xfrm>
          <a:prstGeom prst="roundRect">
            <a:avLst>
              <a:gd name="adj" fmla="val 14400"/>
            </a:avLst>
          </a:prstGeom>
          <a:solidFill>
            <a:srgbClr val="0F1823"/>
          </a:solidFill>
          <a:ln w="12700">
            <a:solidFill>
              <a:srgbClr val="0F1823"/>
            </a:solidFill>
            <a:prstDash val="solid"/>
          </a:ln>
        </p:spPr>
      </p:sp>
      <p:sp>
        <p:nvSpPr>
          <p:cNvPr id="11" name="Text 9"/>
          <p:cNvSpPr txBox="1"/>
          <p:nvPr/>
        </p:nvSpPr>
        <p:spPr>
          <a:xfrm>
            <a:off x="5367528" y="2562098"/>
            <a:ext cx="3163824" cy="43383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2" name="Text 10"/>
          <p:cNvSpPr txBox="1"/>
          <p:nvPr/>
        </p:nvSpPr>
        <p:spPr>
          <a:xfrm>
            <a:off x="411480" y="354863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modules_cache_v1_0_0.py, run under Python 3.14.4</a:t>
            </a:r>
            <a:endParaRPr lang="en-US" sz="900" dirty="0"/>
          </a:p>
        </p:txBody>
      </p:sp>
      <p:sp>
        <p:nvSpPr>
          <p:cNvPr id="13" name="Shape 11"/>
          <p:cNvSpPr/>
          <p:nvPr/>
        </p:nvSpPr>
        <p:spPr>
          <a:xfrm>
            <a:off x="411480" y="3877818"/>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77818"/>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87546"/>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Because each module is imported only once per session, a change in a module's file is not noticed until the interpreter is restarted. The documentation also warns that the entry added at start-up is a potentially unsafe path.</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Overwriting a module name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file of your own that hides a real module</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file that has the name of a module hides that module. The book gives the warning in a box of its own: when you save your Python scripts, take care not to give them a name that is used by one of Python's modules, such as random.py or sys.py (Sweigart, 2025). The mistake is hard to find because the code looks correct: a program that imports and calls correctly fails only because a file of that name sits next to it. The reason is the search path, where the script's own directory comes first.</a:t>
            </a:r>
            <a:endParaRPr lang="en-US" sz="1300" dirty="0"/>
          </a:p>
        </p:txBody>
      </p:sp>
      <p:sp>
        <p:nvSpPr>
          <p:cNvPr id="8" name="Shape 6"/>
          <p:cNvSpPr/>
          <p:nvPr/>
        </p:nvSpPr>
        <p:spPr>
          <a:xfrm>
            <a:off x="411480" y="2817876"/>
            <a:ext cx="8321040" cy="387096"/>
          </a:xfrm>
          <a:prstGeom prst="roundRect">
            <a:avLst>
              <a:gd name="adj" fmla="val 23622"/>
            </a:avLst>
          </a:prstGeom>
          <a:solidFill>
            <a:srgbClr val="0F1823"/>
          </a:solidFill>
          <a:ln w="12700">
            <a:solidFill>
              <a:srgbClr val="0F1823"/>
            </a:solidFill>
            <a:prstDash val="solid"/>
          </a:ln>
        </p:spPr>
      </p:sp>
      <p:sp>
        <p:nvSpPr>
          <p:cNvPr id="9" name="Text 7"/>
          <p:cNvSpPr txBox="1"/>
          <p:nvPr/>
        </p:nvSpPr>
        <p:spPr>
          <a:xfrm>
            <a:off x="612648" y="2918460"/>
            <a:ext cx="7918704" cy="185928"/>
          </a:xfrm>
          <a:prstGeom prst="rect">
            <a:avLst/>
          </a:prstGeom>
          <a:noFill/>
          <a:ln/>
        </p:spPr>
        <p:txBody>
          <a:bodyPr wrap="square" lIns="0" tIns="0" rIns="0" bIns="0" rtlCol="0" anchor="t"/>
          <a:lstStyle/>
          <a:p>
            <a:pPr indent="0" marL="0">
              <a:buNone/>
            </a:pPr>
            <a:r>
              <a:rPr lang="en-US" sz="1200" dirty="0">
                <a:solidFill>
                  <a:srgbClr val="FF7B72"/>
                </a:solidFill>
                <a:latin typeface="Courier New" pitchFamily="34" charset="0"/>
                <a:ea typeface="Courier New" pitchFamily="34" charset="-122"/>
                <a:cs typeface="Courier New" pitchFamily="34" charset="-120"/>
              </a:rPr>
              <a:t>AttributeError: module 'random' has no attribute 'randint'</a:t>
            </a:r>
            <a:endParaRPr lang="en-US" sz="1200" dirty="0"/>
          </a:p>
        </p:txBody>
      </p:sp>
      <p:sp>
        <p:nvSpPr>
          <p:cNvPr id="10" name="Text 8"/>
          <p:cNvSpPr txBox="1"/>
          <p:nvPr/>
        </p:nvSpPr>
        <p:spPr>
          <a:xfrm>
            <a:off x="411480" y="3241548"/>
            <a:ext cx="8321040" cy="420624"/>
          </a:xfrm>
          <a:prstGeom prst="rect">
            <a:avLst/>
          </a:prstGeom>
          <a:noFill/>
          <a:ln/>
        </p:spPr>
        <p:txBody>
          <a:bodyPr wrap="square" lIns="0" tIns="0" rIns="0" bIns="0" rtlCol="0" anchor="t"/>
          <a:lstStyle/>
          <a:p>
            <a:pPr indent="0" marL="0">
              <a:buNone/>
            </a:pPr>
            <a:r>
              <a:rPr lang="en-US" sz="950" i="1" dirty="0">
                <a:solidFill>
                  <a:srgbClr val="5B6B7B"/>
                </a:solidFill>
                <a:latin typeface="Calibri" pitchFamily="34" charset="0"/>
                <a:ea typeface="Calibri" pitchFamily="34" charset="-122"/>
                <a:cs typeface="Calibri" pitchFamily="34" charset="-120"/>
              </a:rPr>
              <a:t>produced by the chapter corpus, which builds a folder holding a file named random.py and a program that imports random and calls randint, and runs it; Python 3.14 adds a hint suggesting the file be renamed</a:t>
            </a:r>
            <a:endParaRPr lang="en-US" sz="950" dirty="0"/>
          </a:p>
        </p:txBody>
      </p:sp>
      <p:sp>
        <p:nvSpPr>
          <p:cNvPr id="11" name="Shape 9"/>
          <p:cNvSpPr/>
          <p:nvPr/>
        </p:nvSpPr>
        <p:spPr>
          <a:xfrm>
            <a:off x="411480" y="3790188"/>
            <a:ext cx="8321040" cy="578612"/>
          </a:xfrm>
          <a:prstGeom prst="roundRect">
            <a:avLst>
              <a:gd name="adj" fmla="val 12643"/>
            </a:avLst>
          </a:prstGeom>
          <a:solidFill>
            <a:srgbClr val="FFF1F0"/>
          </a:solidFill>
          <a:ln w="12700">
            <a:solidFill>
              <a:srgbClr val="FFD7D5"/>
            </a:solidFill>
            <a:prstDash val="solid"/>
          </a:ln>
        </p:spPr>
      </p:sp>
      <p:sp>
        <p:nvSpPr>
          <p:cNvPr id="12" name="Shape 10"/>
          <p:cNvSpPr/>
          <p:nvPr/>
        </p:nvSpPr>
        <p:spPr>
          <a:xfrm>
            <a:off x="411480" y="3790188"/>
            <a:ext cx="64008" cy="578612"/>
          </a:xfrm>
          <a:prstGeom prst="rect">
            <a:avLst/>
          </a:prstGeom>
          <a:solidFill>
            <a:srgbClr val="FF7B72"/>
          </a:solidFill>
          <a:ln w="12700">
            <a:solidFill>
              <a:srgbClr val="FF7B72"/>
            </a:solidFill>
            <a:prstDash val="solid"/>
          </a:ln>
        </p:spPr>
      </p:sp>
      <p:sp>
        <p:nvSpPr>
          <p:cNvPr id="13" name="Text 11"/>
          <p:cNvSpPr txBox="1"/>
          <p:nvPr/>
        </p:nvSpPr>
        <p:spPr>
          <a:xfrm>
            <a:off x="612648" y="3899916"/>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fix is to rename the file. The book gives a list of names to avoid, including all, any, date, email, file, format, hash, id, input, list, min, max, object, open, random, set, str, sum, test and type.</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two modules this chapter uses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random for chance, sys for the interpreter</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two standard modules of the chapter are random, which supplies the chance in both games, and sys, which supplies the call that ends a program and gives access to the interpreter (Sweigart, 2025). They show what a module is for: one answers the question of how a program can behave unpredictably, and the other the question of how a program can talk to the interpreter that runs it. Both are imported with an ordinary import statement and used through dotted names, and both return in later chapters.</a:t>
            </a:r>
            <a:endParaRPr lang="en-US" sz="1300" dirty="0"/>
          </a:p>
        </p:txBody>
      </p:sp>
      <p:sp>
        <p:nvSpPr>
          <p:cNvPr id="8" name="Shape 6"/>
          <p:cNvSpPr/>
          <p:nvPr/>
        </p:nvSpPr>
        <p:spPr>
          <a:xfrm>
            <a:off x="411480" y="2817876"/>
            <a:ext cx="4572000" cy="1130808"/>
          </a:xfrm>
          <a:prstGeom prst="roundRect">
            <a:avLst>
              <a:gd name="adj" fmla="val 8086"/>
            </a:avLst>
          </a:prstGeom>
          <a:solidFill>
            <a:srgbClr val="17202B"/>
          </a:solidFill>
          <a:ln w="12700">
            <a:solidFill>
              <a:srgbClr val="17202B"/>
            </a:solidFill>
            <a:prstDash val="solid"/>
          </a:ln>
        </p:spPr>
      </p:sp>
      <p:sp>
        <p:nvSpPr>
          <p:cNvPr id="9" name="Text 7"/>
          <p:cNvSpPr txBox="1"/>
          <p:nvPr/>
        </p:nvSpPr>
        <p:spPr>
          <a:xfrm>
            <a:off x="612648" y="2918460"/>
            <a:ext cx="4169664" cy="92964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random</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random.seed(7)</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first = [random.randint(1, 20) for _ in range(5)]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random.seed(7)</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second = [random.randint(1, 20) for _ in range(5)]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print(first == second)</a:t>
            </a:r>
            <a:endParaRPr lang="en-US" sz="1000" dirty="0"/>
          </a:p>
        </p:txBody>
      </p:sp>
      <p:sp>
        <p:nvSpPr>
          <p:cNvPr id="10" name="Shape 8"/>
          <p:cNvSpPr/>
          <p:nvPr/>
        </p:nvSpPr>
        <p:spPr>
          <a:xfrm>
            <a:off x="5166360" y="2817876"/>
            <a:ext cx="3566160" cy="356108"/>
          </a:xfrm>
          <a:prstGeom prst="roundRect">
            <a:avLst>
              <a:gd name="adj" fmla="val 25678"/>
            </a:avLst>
          </a:prstGeom>
          <a:solidFill>
            <a:srgbClr val="0F1823"/>
          </a:solidFill>
          <a:ln w="12700">
            <a:solidFill>
              <a:srgbClr val="0F1823"/>
            </a:solidFill>
            <a:prstDash val="solid"/>
          </a:ln>
        </p:spPr>
      </p:sp>
      <p:sp>
        <p:nvSpPr>
          <p:cNvPr id="11" name="Text 9"/>
          <p:cNvSpPr txBox="1"/>
          <p:nvPr/>
        </p:nvSpPr>
        <p:spPr>
          <a:xfrm>
            <a:off x="5367528" y="2918460"/>
            <a:ext cx="3163824" cy="15494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p:txBody>
      </p:sp>
      <p:sp>
        <p:nvSpPr>
          <p:cNvPr id="12" name="Text 10"/>
          <p:cNvSpPr txBox="1"/>
          <p:nvPr/>
        </p:nvSpPr>
        <p:spPr>
          <a:xfrm>
            <a:off x="411480" y="396697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seed_v1_0_0.py, run under Python 3.14.4</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random module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randint includes both of its end points</a:t>
            </a:r>
            <a:endParaRPr lang="en-US" sz="1300" dirty="0"/>
          </a:p>
        </p:txBody>
      </p:sp>
      <p:sp>
        <p:nvSpPr>
          <p:cNvPr id="6" name="Shape 4"/>
          <p:cNvSpPr/>
          <p:nvPr/>
        </p:nvSpPr>
        <p:spPr>
          <a:xfrm>
            <a:off x="411480" y="1152144"/>
            <a:ext cx="8321040" cy="1509522"/>
          </a:xfrm>
          <a:prstGeom prst="roundRect">
            <a:avLst>
              <a:gd name="adj" fmla="val 6058"/>
            </a:avLst>
          </a:prstGeom>
          <a:solidFill>
            <a:srgbClr val="F1F4F8"/>
          </a:solidFill>
          <a:ln w="12700">
            <a:solidFill>
              <a:srgbClr val="F1F4F8"/>
            </a:solidFill>
            <a:prstDash val="solid"/>
          </a:ln>
        </p:spPr>
      </p:sp>
      <p:sp>
        <p:nvSpPr>
          <p:cNvPr id="7" name="Text 5"/>
          <p:cNvSpPr txBox="1"/>
          <p:nvPr/>
        </p:nvSpPr>
        <p:spPr>
          <a:xfrm>
            <a:off x="594360" y="1280160"/>
            <a:ext cx="7955280" cy="12534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random module provides functions that generate pseudo-random numbers, and the chapter uses one of them. The library documentation defines it: randint(a, b) returns a random integer N such that a is less than or equal to N and N is less than or equal to b, and it is an alias for a call to randrange with one added to the upper bound (Python Software Foundation, 2026). Both ends are included, which is the opposite of range. The numbers are produced by a deterministic algorithm, so seeding with the same value gives the same sequence again.</a:t>
            </a:r>
            <a:endParaRPr lang="en-US" sz="1250" dirty="0"/>
          </a:p>
        </p:txBody>
      </p:sp>
      <p:sp>
        <p:nvSpPr>
          <p:cNvPr id="8" name="Shape 6"/>
          <p:cNvSpPr/>
          <p:nvPr/>
        </p:nvSpPr>
        <p:spPr>
          <a:xfrm>
            <a:off x="411480" y="2771394"/>
            <a:ext cx="4572000" cy="758952"/>
          </a:xfrm>
          <a:prstGeom prst="roundRect">
            <a:avLst>
              <a:gd name="adj" fmla="val 12048"/>
            </a:avLst>
          </a:prstGeom>
          <a:solidFill>
            <a:srgbClr val="17202B"/>
          </a:solidFill>
          <a:ln w="12700">
            <a:solidFill>
              <a:srgbClr val="17202B"/>
            </a:solidFill>
            <a:prstDash val="solid"/>
          </a:ln>
        </p:spPr>
      </p:sp>
      <p:sp>
        <p:nvSpPr>
          <p:cNvPr id="9" name="Text 7"/>
          <p:cNvSpPr txBox="1"/>
          <p:nvPr/>
        </p:nvSpPr>
        <p:spPr>
          <a:xfrm>
            <a:off x="612648" y="2871978"/>
            <a:ext cx="4169664" cy="557784"/>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import random</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random.seed(1)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print(sorted({random.randint(1, 3) for _ in range(200)}))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print(sorted({random.randrange(1, 3) for _ in range(200)}))</a:t>
            </a:r>
            <a:endParaRPr lang="en-US" sz="900" dirty="0"/>
          </a:p>
        </p:txBody>
      </p:sp>
      <p:sp>
        <p:nvSpPr>
          <p:cNvPr id="10" name="Shape 8"/>
          <p:cNvSpPr/>
          <p:nvPr/>
        </p:nvSpPr>
        <p:spPr>
          <a:xfrm>
            <a:off x="5166360" y="2771394"/>
            <a:ext cx="3566160" cy="480060"/>
          </a:xfrm>
          <a:prstGeom prst="roundRect">
            <a:avLst>
              <a:gd name="adj" fmla="val 19048"/>
            </a:avLst>
          </a:prstGeom>
          <a:solidFill>
            <a:srgbClr val="0F1823"/>
          </a:solidFill>
          <a:ln w="12700">
            <a:solidFill>
              <a:srgbClr val="0F1823"/>
            </a:solidFill>
            <a:prstDash val="solid"/>
          </a:ln>
        </p:spPr>
      </p:sp>
      <p:sp>
        <p:nvSpPr>
          <p:cNvPr id="11" name="Text 9"/>
          <p:cNvSpPr txBox="1"/>
          <p:nvPr/>
        </p:nvSpPr>
        <p:spPr>
          <a:xfrm>
            <a:off x="5367528" y="2871978"/>
            <a:ext cx="3163824" cy="278892"/>
          </a:xfrm>
          <a:prstGeom prst="rect">
            <a:avLst/>
          </a:prstGeom>
          <a:noFill/>
          <a:ln/>
        </p:spPr>
        <p:txBody>
          <a:bodyPr wrap="square" lIns="0" tIns="0" rIns="0" bIns="0" rtlCol="0" anchor="t"/>
          <a:lstStyle/>
          <a:p>
            <a:pPr indent="0" marL="0">
              <a:buNone/>
            </a:pPr>
            <a:r>
              <a:rPr lang="en-US" sz="900" dirty="0">
                <a:solidFill>
                  <a:srgbClr val="7EE787"/>
                </a:solidFill>
                <a:latin typeface="Courier New" pitchFamily="34" charset="0"/>
                <a:ea typeface="Courier New" pitchFamily="34" charset="-122"/>
                <a:cs typeface="Courier New" pitchFamily="34" charset="-120"/>
              </a:rPr>
              <a:t>[1, 2, 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 2]</a:t>
            </a:r>
            <a:endParaRPr lang="en-US" sz="900" dirty="0"/>
          </a:p>
        </p:txBody>
      </p:sp>
      <p:sp>
        <p:nvSpPr>
          <p:cNvPr id="12" name="Text 10"/>
          <p:cNvSpPr txBox="1"/>
          <p:nvPr/>
        </p:nvSpPr>
        <p:spPr>
          <a:xfrm>
            <a:off x="411480" y="354863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randint_ends_v1_0_0.py, run under Python 3.14.4</a:t>
            </a:r>
            <a:endParaRPr lang="en-US" sz="900" dirty="0"/>
          </a:p>
        </p:txBody>
      </p:sp>
      <p:sp>
        <p:nvSpPr>
          <p:cNvPr id="13" name="Shape 11"/>
          <p:cNvSpPr/>
          <p:nvPr/>
        </p:nvSpPr>
        <p:spPr>
          <a:xfrm>
            <a:off x="411480" y="3877818"/>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77818"/>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87546"/>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documentation warns that the generators of this module should not be used for security purposes. The off-by-one against range is the second caution: an index drawn from a range never reaches the top, and this call does.</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sys module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Access to the interpreter that is running the program</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The sys module gives a program access to the interpreter that runs it. The tutorial singles it out as one particular module that deserves attention and states that it is built into every Python interpreter (Python Software Foundation, 2026). Three of its names matter in this chapter: the call that ends the program with a status, the list of directories searched for modules, and the mapping of modules already loaded. A program has to import it before it uses it, and the documentation describes the search path as a list a program is free to modify for its own purposes.</a:t>
            </a:r>
            <a:endParaRPr lang="en-US" sz="900" dirty="0"/>
          </a:p>
        </p:txBody>
      </p:sp>
      <p:sp>
        <p:nvSpPr>
          <p:cNvPr id="8" name="Shape 6"/>
          <p:cNvSpPr/>
          <p:nvPr/>
        </p:nvSpPr>
        <p:spPr>
          <a:xfrm>
            <a:off x="411480" y="2306574"/>
            <a:ext cx="4572000" cy="1502664"/>
          </a:xfrm>
          <a:prstGeom prst="roundRect">
            <a:avLst>
              <a:gd name="adj" fmla="val 6085"/>
            </a:avLst>
          </a:prstGeom>
          <a:solidFill>
            <a:srgbClr val="17202B"/>
          </a:solidFill>
          <a:ln w="12700">
            <a:solidFill>
              <a:srgbClr val="17202B"/>
            </a:solidFill>
            <a:prstDash val="solid"/>
          </a:ln>
        </p:spPr>
      </p:sp>
      <p:sp>
        <p:nvSpPr>
          <p:cNvPr id="9" name="Text 7"/>
          <p:cNvSpPr txBox="1"/>
          <p:nvPr/>
        </p:nvSpPr>
        <p:spPr>
          <a:xfrm>
            <a:off x="612648" y="2407158"/>
            <a:ext cx="4169664" cy="1301496"/>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import sys</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while True: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print('Type exit to exit.')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response = input('&gt;')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if response == 'exit':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sys.exit()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print('You typed ' + response + '.')</a:t>
            </a:r>
            <a:endParaRPr lang="en-US" sz="1200" dirty="0"/>
          </a:p>
        </p:txBody>
      </p:sp>
      <p:sp>
        <p:nvSpPr>
          <p:cNvPr id="10" name="Shape 8"/>
          <p:cNvSpPr/>
          <p:nvPr/>
        </p:nvSpPr>
        <p:spPr>
          <a:xfrm>
            <a:off x="5166360" y="2306574"/>
            <a:ext cx="3566160" cy="1130808"/>
          </a:xfrm>
          <a:prstGeom prst="roundRect">
            <a:avLst>
              <a:gd name="adj" fmla="val 8086"/>
            </a:avLst>
          </a:prstGeom>
          <a:solidFill>
            <a:srgbClr val="0F1823"/>
          </a:solidFill>
          <a:ln w="12700">
            <a:solidFill>
              <a:srgbClr val="0F1823"/>
            </a:solidFill>
            <a:prstDash val="solid"/>
          </a:ln>
        </p:spPr>
      </p:sp>
      <p:sp>
        <p:nvSpPr>
          <p:cNvPr id="11" name="Text 9"/>
          <p:cNvSpPr txBox="1"/>
          <p:nvPr/>
        </p:nvSpPr>
        <p:spPr>
          <a:xfrm>
            <a:off x="5367528" y="2407158"/>
            <a:ext cx="3163824" cy="929640"/>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Type exit to exit.</a:t>
            </a:r>
            <a:endParaRPr lang="en-US" sz="1200" dirty="0"/>
          </a:p>
          <a:p>
            <a:pPr indent="0" marL="0">
              <a:buNone/>
            </a:pPr>
            <a:r>
              <a:rPr lang="en-US" sz="1200" dirty="0">
                <a:solidFill>
                  <a:srgbClr val="FFD43B"/>
                </a:solidFill>
                <a:latin typeface="Courier New" pitchFamily="34" charset="0"/>
                <a:ea typeface="Courier New" pitchFamily="34" charset="-122"/>
                <a:cs typeface="Courier New" pitchFamily="34" charset="-120"/>
              </a:rPr>
              <a:t>&gt;hi</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You typed hi.</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Type exit to exit.</a:t>
            </a:r>
            <a:endParaRPr lang="en-US" sz="1200" dirty="0"/>
          </a:p>
          <a:p>
            <a:pPr indent="0" marL="0">
              <a:buNone/>
            </a:pPr>
            <a:r>
              <a:rPr lang="en-US" sz="1200" dirty="0">
                <a:solidFill>
                  <a:srgbClr val="FFD43B"/>
                </a:solidFill>
                <a:latin typeface="Courier New" pitchFamily="34" charset="0"/>
                <a:ea typeface="Courier New" pitchFamily="34" charset="-122"/>
                <a:cs typeface="Courier New" pitchFamily="34" charset="-120"/>
              </a:rPr>
              <a:t>&gt;exit</a:t>
            </a:r>
            <a:endParaRPr lang="en-US" sz="1200" dirty="0"/>
          </a:p>
        </p:txBody>
      </p:sp>
      <p:sp>
        <p:nvSpPr>
          <p:cNvPr id="12" name="Text 10"/>
          <p:cNvSpPr txBox="1"/>
          <p:nvPr/>
        </p:nvSpPr>
        <p:spPr>
          <a:xfrm>
            <a:off x="411480" y="382752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exitexample_v1_0_0.py, run under Python 3.14.4; typed input in yellow</a:t>
            </a:r>
            <a:endParaRPr lang="en-US" sz="900" dirty="0"/>
          </a:p>
        </p:txBody>
      </p:sp>
      <p:sp>
        <p:nvSpPr>
          <p:cNvPr id="13" name="Shape 11"/>
          <p:cNvSpPr/>
          <p:nvPr/>
        </p:nvSpPr>
        <p:spPr>
          <a:xfrm>
            <a:off x="411480" y="4156710"/>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156710"/>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266438"/>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Modifying the search path or the loaded-module mapping changes how Python itself behaves, and the documentation notes that deleting essential items from the mapping may cause Python to fail.</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V</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Modern practice</a:t>
            </a:r>
            <a:endParaRPr lang="en-US" sz="32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What current Python and its community add to the chapter: an operator that lets a loop read and test in one line, the import habits the style guide asks for, and two constructs that look harmless and are not.</a:t>
            </a:r>
            <a:endParaRPr lang="en-US" sz="1500" dirty="0"/>
          </a:p>
        </p:txBody>
      </p:sp>
      <p:sp>
        <p:nvSpPr>
          <p:cNvPr id="5" name="Text 3"/>
          <p:cNvSpPr txBox="1"/>
          <p:nvPr/>
        </p:nvSpPr>
        <p:spPr>
          <a:xfrm>
            <a:off x="548640" y="4078224"/>
            <a:ext cx="8046720" cy="512064"/>
          </a:xfrm>
          <a:prstGeom prst="rect">
            <a:avLst/>
          </a:prstGeom>
          <a:noFill/>
          <a:ln/>
        </p:spPr>
        <p:txBody>
          <a:bodyPr wrap="square" lIns="0" tIns="0" rIns="0" bIns="0" rtlCol="0" anchor="t"/>
          <a:lstStyle/>
          <a:p>
            <a:pPr indent="0" marL="0">
              <a:buNone/>
            </a:pPr>
            <a:r>
              <a:rPr lang="en-US" sz="1150" i="1" dirty="0">
                <a:solidFill>
                  <a:srgbClr val="FFD43B"/>
                </a:solidFill>
                <a:latin typeface="Calibri" pitchFamily="34" charset="0"/>
                <a:ea typeface="Calibri" pitchFamily="34" charset="-122"/>
                <a:cs typeface="Calibri" pitchFamily="34" charset="-120"/>
              </a:rPr>
              <a:t>Expression style   ·   Two hazards</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Expression style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Reading and testing in one line, and where imports belong</a:t>
            </a:r>
            <a:endParaRPr lang="en-US" sz="1300" dirty="0"/>
          </a:p>
        </p:txBody>
      </p:sp>
      <p:sp>
        <p:nvSpPr>
          <p:cNvPr id="6" name="Shape 4"/>
          <p:cNvSpPr/>
          <p:nvPr/>
        </p:nvSpPr>
        <p:spPr>
          <a:xfrm>
            <a:off x="411480" y="1152144"/>
            <a:ext cx="8321040" cy="1509522"/>
          </a:xfrm>
          <a:prstGeom prst="roundRect">
            <a:avLst>
              <a:gd name="adj" fmla="val 6058"/>
            </a:avLst>
          </a:prstGeom>
          <a:solidFill>
            <a:srgbClr val="F1F4F8"/>
          </a:solidFill>
          <a:ln w="12700">
            <a:solidFill>
              <a:srgbClr val="F1F4F8"/>
            </a:solidFill>
            <a:prstDash val="solid"/>
          </a:ln>
        </p:spPr>
      </p:sp>
      <p:sp>
        <p:nvSpPr>
          <p:cNvPr id="7" name="Text 5"/>
          <p:cNvSpPr txBox="1"/>
          <p:nvPr/>
        </p:nvSpPr>
        <p:spPr>
          <a:xfrm>
            <a:off x="594360" y="1280160"/>
            <a:ext cx="7955280" cy="12534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Expression style is the way the same behaviour can be written more clearly. Two points belong to it in this chapter: the assignment expression, which lets a loop read a value and test it in a single line, and the import conventions of PEP 8, which fix where and how imports are written (Angelico, Peters and van Rossum, 2018) (van Rossum, Warsaw and Coghlan, 2001). Clear code is read many more times than it is written: the assignment expression removes a repeated line from a common loop pattern, and the import conventions make the dependencies of a file visible at a glance.</a:t>
            </a:r>
            <a:endParaRPr lang="en-US" sz="1250" dirty="0"/>
          </a:p>
        </p:txBody>
      </p:sp>
      <p:sp>
        <p:nvSpPr>
          <p:cNvPr id="8" name="Shape 6"/>
          <p:cNvSpPr/>
          <p:nvPr/>
        </p:nvSpPr>
        <p:spPr>
          <a:xfrm>
            <a:off x="411480" y="2771394"/>
            <a:ext cx="4572000" cy="1719580"/>
          </a:xfrm>
          <a:prstGeom prst="roundRect">
            <a:avLst>
              <a:gd name="adj" fmla="val 5318"/>
            </a:avLst>
          </a:prstGeom>
          <a:solidFill>
            <a:srgbClr val="17202B"/>
          </a:solidFill>
          <a:ln w="12700">
            <a:solidFill>
              <a:srgbClr val="17202B"/>
            </a:solidFill>
            <a:prstDash val="solid"/>
          </a:ln>
        </p:spPr>
      </p:sp>
      <p:sp>
        <p:nvSpPr>
          <p:cNvPr id="9" name="Text 7"/>
          <p:cNvSpPr txBox="1"/>
          <p:nvPr/>
        </p:nvSpPr>
        <p:spPr>
          <a:xfrm>
            <a:off x="612648" y="2871978"/>
            <a:ext cx="4169664" cy="1518412"/>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import io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file = io.StringIO('abcdefgh')</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while True: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chunk = file.read(3)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if not chunk:</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break</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print(chunk)</a:t>
            </a:r>
            <a:endParaRPr lang="en-US" sz="1400" dirty="0"/>
          </a:p>
        </p:txBody>
      </p:sp>
      <p:sp>
        <p:nvSpPr>
          <p:cNvPr id="10" name="Shape 8"/>
          <p:cNvSpPr/>
          <p:nvPr/>
        </p:nvSpPr>
        <p:spPr>
          <a:xfrm>
            <a:off x="5166360" y="2771394"/>
            <a:ext cx="3566160" cy="851916"/>
          </a:xfrm>
          <a:prstGeom prst="roundRect">
            <a:avLst>
              <a:gd name="adj" fmla="val 10733"/>
            </a:avLst>
          </a:prstGeom>
          <a:solidFill>
            <a:srgbClr val="0F1823"/>
          </a:solidFill>
          <a:ln w="12700">
            <a:solidFill>
              <a:srgbClr val="0F1823"/>
            </a:solidFill>
            <a:prstDash val="solid"/>
          </a:ln>
        </p:spPr>
      </p:sp>
      <p:sp>
        <p:nvSpPr>
          <p:cNvPr id="11" name="Text 9"/>
          <p:cNvSpPr txBox="1"/>
          <p:nvPr/>
        </p:nvSpPr>
        <p:spPr>
          <a:xfrm>
            <a:off x="5367528" y="2871978"/>
            <a:ext cx="3163824" cy="650748"/>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abc</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def</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gh</a:t>
            </a:r>
            <a:endParaRPr lang="en-US" sz="1400" dirty="0"/>
          </a:p>
        </p:txBody>
      </p:sp>
      <p:sp>
        <p:nvSpPr>
          <p:cNvPr id="12" name="Text 10"/>
          <p:cNvSpPr txBox="1"/>
          <p:nvPr/>
        </p:nvSpPr>
        <p:spPr>
          <a:xfrm>
            <a:off x="411480" y="450926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walrus_old_v1_0_0.py, run under Python 3.14.4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assignment expression in a loop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Name a value inside the condition that tests it</a:t>
            </a:r>
            <a:endParaRPr lang="en-US" sz="1300" dirty="0"/>
          </a:p>
        </p:txBody>
      </p:sp>
      <p:sp>
        <p:nvSpPr>
          <p:cNvPr id="6" name="Shape 4"/>
          <p:cNvSpPr/>
          <p:nvPr/>
        </p:nvSpPr>
        <p:spPr>
          <a:xfrm>
            <a:off x="411480" y="1152144"/>
            <a:ext cx="8321040" cy="1370076"/>
          </a:xfrm>
          <a:prstGeom prst="roundRect">
            <a:avLst>
              <a:gd name="adj" fmla="val 6674"/>
            </a:avLst>
          </a:prstGeom>
          <a:solidFill>
            <a:srgbClr val="F1F4F8"/>
          </a:solidFill>
          <a:ln w="12700">
            <a:solidFill>
              <a:srgbClr val="F1F4F8"/>
            </a:solidFill>
            <a:prstDash val="solid"/>
          </a:ln>
        </p:spPr>
      </p:sp>
      <p:sp>
        <p:nvSpPr>
          <p:cNvPr id="7" name="Text 5"/>
          <p:cNvSpPr txBox="1"/>
          <p:nvPr/>
        </p:nvSpPr>
        <p:spPr>
          <a:xfrm>
            <a:off x="594360" y="1280160"/>
            <a:ext cx="7955280" cy="111404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An assignment expression gives a name to a value inside an expression. PEP 572 defines it: the value of the expression is the same as the value of the incorporated expression, with the additional side effect that the target is assigned that value (Angelico, Peters and van Rossum, 2018). The rationale is that naming the result of an expression is an important part of programming, and that until then it was possible only in statement form. In a loop the difference is concrete: without it the value must be read once before the loop and again at the end of the block, or the loop must be written with a test and a break.</a:t>
            </a:r>
            <a:endParaRPr lang="en-US" sz="1100" dirty="0"/>
          </a:p>
        </p:txBody>
      </p:sp>
      <p:sp>
        <p:nvSpPr>
          <p:cNvPr id="8" name="Shape 6"/>
          <p:cNvSpPr/>
          <p:nvPr/>
        </p:nvSpPr>
        <p:spPr>
          <a:xfrm>
            <a:off x="411480" y="2631948"/>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732532"/>
            <a:ext cx="4169664" cy="86766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import io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file = io.StringIO('abcdefgh')</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while chunk := file.read(3):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print(chunk)</a:t>
            </a:r>
            <a:endParaRPr lang="en-US" sz="1400" dirty="0"/>
          </a:p>
        </p:txBody>
      </p:sp>
      <p:sp>
        <p:nvSpPr>
          <p:cNvPr id="10" name="Shape 8"/>
          <p:cNvSpPr/>
          <p:nvPr/>
        </p:nvSpPr>
        <p:spPr>
          <a:xfrm>
            <a:off x="5166360" y="2631948"/>
            <a:ext cx="3566160" cy="851916"/>
          </a:xfrm>
          <a:prstGeom prst="roundRect">
            <a:avLst>
              <a:gd name="adj" fmla="val 10733"/>
            </a:avLst>
          </a:prstGeom>
          <a:solidFill>
            <a:srgbClr val="0F1823"/>
          </a:solidFill>
          <a:ln w="12700">
            <a:solidFill>
              <a:srgbClr val="0F1823"/>
            </a:solidFill>
            <a:prstDash val="solid"/>
          </a:ln>
        </p:spPr>
      </p:sp>
      <p:sp>
        <p:nvSpPr>
          <p:cNvPr id="11" name="Text 9"/>
          <p:cNvSpPr txBox="1"/>
          <p:nvPr/>
        </p:nvSpPr>
        <p:spPr>
          <a:xfrm>
            <a:off x="5367528" y="2732532"/>
            <a:ext cx="3163824" cy="650748"/>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abc</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def</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gh</a:t>
            </a:r>
            <a:endParaRPr lang="en-US" sz="1400" dirty="0"/>
          </a:p>
        </p:txBody>
      </p:sp>
      <p:sp>
        <p:nvSpPr>
          <p:cNvPr id="12" name="Text 10"/>
          <p:cNvSpPr txBox="1"/>
          <p:nvPr/>
        </p:nvSpPr>
        <p:spPr>
          <a:xfrm>
            <a:off x="411480" y="371906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walrus_v1_0_0.py, run under Python 3.14.4</a:t>
            </a:r>
            <a:endParaRPr lang="en-US" sz="900" dirty="0"/>
          </a:p>
        </p:txBody>
      </p:sp>
      <p:sp>
        <p:nvSpPr>
          <p:cNvPr id="13" name="Shape 11"/>
          <p:cNvSpPr/>
          <p:nvPr/>
        </p:nvSpPr>
        <p:spPr>
          <a:xfrm>
            <a:off x="411480" y="4048252"/>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48252"/>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57980"/>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form is prohibited at the top level of an expression statement, so an assignment expression on a line of its own is a SyntaxError. It was added in Python 3.8, so it does not run on older interpreters.</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Import style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import to a line, at the top, with no stars</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PEP 8 has a section on imports. It says that imports should usually be on separate lines, that they are always put at the top of the file just after any module comments and documentation string and before module globals and constants, and that wildcard imports should be avoided (van Rossum, Warsaw and Coghlan, 2001). It asks for three groups in order - standard library, related third party, and local application - with a blank line between them, and recommends the absolute form as more readable. Habits of this kind make programs predictable.</a:t>
            </a:r>
            <a:endParaRPr lang="en-US" sz="900" dirty="0"/>
          </a:p>
        </p:txBody>
      </p:sp>
      <p:sp>
        <p:nvSpPr>
          <p:cNvPr id="8" name="Shape 6"/>
          <p:cNvSpPr/>
          <p:nvPr/>
        </p:nvSpPr>
        <p:spPr>
          <a:xfrm>
            <a:off x="411480" y="2167128"/>
            <a:ext cx="4023360" cy="1461516"/>
          </a:xfrm>
          <a:prstGeom prst="roundRect">
            <a:avLst>
              <a:gd name="adj" fmla="val 6257"/>
            </a:avLst>
          </a:prstGeom>
          <a:solidFill>
            <a:srgbClr val="F1F4F8"/>
          </a:solidFill>
          <a:ln w="12700">
            <a:solidFill>
              <a:srgbClr val="F1F4F8"/>
            </a:solidFill>
            <a:prstDash val="solid"/>
          </a:ln>
        </p:spPr>
      </p:sp>
      <p:sp>
        <p:nvSpPr>
          <p:cNvPr id="9" name="Text 7"/>
          <p:cNvSpPr txBox="1"/>
          <p:nvPr/>
        </p:nvSpPr>
        <p:spPr>
          <a:xfrm>
            <a:off x="594360" y="2295144"/>
            <a:ext cx="3657600" cy="216916"/>
          </a:xfrm>
          <a:prstGeom prst="rect">
            <a:avLst/>
          </a:prstGeom>
          <a:noFill/>
          <a:ln/>
        </p:spPr>
        <p:txBody>
          <a:bodyPr wrap="square" lIns="0" tIns="0" rIns="0" bIns="0" rtlCol="0" anchor="ctr"/>
          <a:lstStyle/>
          <a:p>
            <a:pPr indent="0" marL="0">
              <a:buNone/>
            </a:pPr>
            <a:r>
              <a:rPr lang="en-US" sz="1400" b="1" dirty="0">
                <a:solidFill>
                  <a:srgbClr val="1A7F37"/>
                </a:solidFill>
                <a:latin typeface="Cambria" pitchFamily="34" charset="0"/>
                <a:ea typeface="Cambria" pitchFamily="34" charset="-122"/>
                <a:cs typeface="Cambria" pitchFamily="34" charset="-120"/>
              </a:rPr>
              <a:t>PEP 8 asks for</a:t>
            </a:r>
            <a:endParaRPr lang="en-US" sz="1400" dirty="0"/>
          </a:p>
        </p:txBody>
      </p:sp>
      <p:sp>
        <p:nvSpPr>
          <p:cNvPr id="10" name="Text 8"/>
          <p:cNvSpPr txBox="1"/>
          <p:nvPr/>
        </p:nvSpPr>
        <p:spPr>
          <a:xfrm>
            <a:off x="594360" y="2585212"/>
            <a:ext cx="3657600" cy="91541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import os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import sys</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from subprocess import Popen, PIPE</a:t>
            </a:r>
            <a:endParaRPr lang="en-US" sz="1300" dirty="0"/>
          </a:p>
        </p:txBody>
      </p:sp>
      <p:sp>
        <p:nvSpPr>
          <p:cNvPr id="11" name="Shape 9"/>
          <p:cNvSpPr/>
          <p:nvPr/>
        </p:nvSpPr>
        <p:spPr>
          <a:xfrm>
            <a:off x="4709160" y="2167128"/>
            <a:ext cx="4023360" cy="1461516"/>
          </a:xfrm>
          <a:prstGeom prst="roundRect">
            <a:avLst>
              <a:gd name="adj" fmla="val 6257"/>
            </a:avLst>
          </a:prstGeom>
          <a:solidFill>
            <a:srgbClr val="FFF1F0"/>
          </a:solidFill>
          <a:ln w="12700">
            <a:solidFill>
              <a:srgbClr val="FFD7D5"/>
            </a:solidFill>
            <a:prstDash val="solid"/>
          </a:ln>
        </p:spPr>
      </p:sp>
      <p:sp>
        <p:nvSpPr>
          <p:cNvPr id="12" name="Text 10"/>
          <p:cNvSpPr txBox="1"/>
          <p:nvPr/>
        </p:nvSpPr>
        <p:spPr>
          <a:xfrm>
            <a:off x="4892040" y="2295144"/>
            <a:ext cx="3657600" cy="216916"/>
          </a:xfrm>
          <a:prstGeom prst="rect">
            <a:avLst/>
          </a:prstGeom>
          <a:noFill/>
          <a:ln/>
        </p:spPr>
        <p:txBody>
          <a:bodyPr wrap="square" lIns="0" tIns="0" rIns="0" bIns="0" rtlCol="0" anchor="ctr"/>
          <a:lstStyle/>
          <a:p>
            <a:pPr indent="0" marL="0">
              <a:buNone/>
            </a:pPr>
            <a:r>
              <a:rPr lang="en-US" sz="1400" b="1" dirty="0">
                <a:solidFill>
                  <a:srgbClr val="FF7B72"/>
                </a:solidFill>
                <a:latin typeface="Cambria" pitchFamily="34" charset="0"/>
                <a:ea typeface="Cambria" pitchFamily="34" charset="-122"/>
                <a:cs typeface="Cambria" pitchFamily="34" charset="-120"/>
              </a:rPr>
              <a:t>PEP 8 calls wrong</a:t>
            </a:r>
            <a:endParaRPr lang="en-US" sz="1400" dirty="0"/>
          </a:p>
        </p:txBody>
      </p:sp>
      <p:sp>
        <p:nvSpPr>
          <p:cNvPr id="13" name="Text 11"/>
          <p:cNvSpPr txBox="1"/>
          <p:nvPr/>
        </p:nvSpPr>
        <p:spPr>
          <a:xfrm>
            <a:off x="4892040" y="2585212"/>
            <a:ext cx="3657600" cy="91541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import sys, os</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from random import *</a:t>
            </a:r>
            <a:endParaRPr lang="en-US" sz="1300" dirty="0"/>
          </a:p>
        </p:txBody>
      </p:sp>
      <p:sp>
        <p:nvSpPr>
          <p:cNvPr id="14" name="Shape 12"/>
          <p:cNvSpPr/>
          <p:nvPr/>
        </p:nvSpPr>
        <p:spPr>
          <a:xfrm>
            <a:off x="411480" y="3738372"/>
            <a:ext cx="8321040" cy="749046"/>
          </a:xfrm>
          <a:prstGeom prst="roundRect">
            <a:avLst>
              <a:gd name="adj" fmla="val 9766"/>
            </a:avLst>
          </a:prstGeom>
          <a:solidFill>
            <a:srgbClr val="FFF1F0"/>
          </a:solidFill>
          <a:ln w="12700">
            <a:solidFill>
              <a:srgbClr val="FFD7D5"/>
            </a:solidFill>
            <a:prstDash val="solid"/>
          </a:ln>
        </p:spPr>
      </p:sp>
      <p:sp>
        <p:nvSpPr>
          <p:cNvPr id="15" name="Shape 13"/>
          <p:cNvSpPr/>
          <p:nvPr/>
        </p:nvSpPr>
        <p:spPr>
          <a:xfrm>
            <a:off x="411480" y="3738372"/>
            <a:ext cx="64008" cy="749046"/>
          </a:xfrm>
          <a:prstGeom prst="rect">
            <a:avLst/>
          </a:prstGeom>
          <a:solidFill>
            <a:srgbClr val="FF7B72"/>
          </a:solidFill>
          <a:ln w="12700">
            <a:solidFill>
              <a:srgbClr val="FF7B72"/>
            </a:solidFill>
            <a:prstDash val="solid"/>
          </a:ln>
        </p:spPr>
      </p:sp>
      <p:sp>
        <p:nvSpPr>
          <p:cNvPr id="16" name="Text 14"/>
          <p:cNvSpPr txBox="1"/>
          <p:nvPr/>
        </p:nvSpPr>
        <p:spPr>
          <a:xfrm>
            <a:off x="612648" y="3848100"/>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These are rules of style and not of the language: the book's one-line import works. The rule against the star import is the one with a practical consequence, since the form can hide the origin of names and replace existing ones.</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Two hazards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Constructs that look harmless and are not</a:t>
            </a:r>
            <a:endParaRPr lang="en-US" sz="1300" dirty="0"/>
          </a:p>
        </p:txBody>
      </p:sp>
      <p:sp>
        <p:nvSpPr>
          <p:cNvPr id="6" name="Shape 4"/>
          <p:cNvSpPr/>
          <p:nvPr/>
        </p:nvSpPr>
        <p:spPr>
          <a:xfrm>
            <a:off x="411480" y="1152144"/>
            <a:ext cx="8321040" cy="1199642"/>
          </a:xfrm>
          <a:prstGeom prst="roundRect">
            <a:avLst>
              <a:gd name="adj" fmla="val 7622"/>
            </a:avLst>
          </a:prstGeom>
          <a:solidFill>
            <a:srgbClr val="F1F4F8"/>
          </a:solidFill>
          <a:ln w="12700">
            <a:solidFill>
              <a:srgbClr val="F1F4F8"/>
            </a:solidFill>
            <a:prstDash val="solid"/>
          </a:ln>
        </p:spPr>
      </p:sp>
      <p:sp>
        <p:nvSpPr>
          <p:cNvPr id="7" name="Text 5"/>
          <p:cNvSpPr txBox="1"/>
          <p:nvPr/>
        </p:nvSpPr>
        <p:spPr>
          <a:xfrm>
            <a:off x="594360" y="1280160"/>
            <a:ext cx="7955280" cy="94361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hazard is a construct that looks harmless but makes a program behave wrongly, often without any error message. Two loop-related hazards are documented in the official sources this chapter draws on: changing a collection while looping over it, and leaving a finally block with a control-flow statement (Python Software Foundation, 2026). Hazards are costly because their effects are quiet: a loop that skips items, or a program that swallows an exception, can pass its first tests and fail later with real data, and the cause is far from the symptom.</a:t>
            </a:r>
            <a:endParaRPr lang="en-US" sz="1100" dirty="0"/>
          </a:p>
        </p:txBody>
      </p:sp>
      <p:sp>
        <p:nvSpPr>
          <p:cNvPr id="8" name="Text 6"/>
          <p:cNvSpPr txBox="1"/>
          <p:nvPr/>
        </p:nvSpPr>
        <p:spPr>
          <a:xfrm>
            <a:off x="411480" y="2461514"/>
            <a:ext cx="4096512" cy="219456"/>
          </a:xfrm>
          <a:prstGeom prst="rect">
            <a:avLst/>
          </a:prstGeom>
          <a:noFill/>
          <a:ln/>
        </p:spPr>
        <p:txBody>
          <a:bodyPr wrap="square" lIns="0" tIns="0" rIns="0" bIns="0" rtlCol="0" anchor="ctr"/>
          <a:lstStyle/>
          <a:p>
            <a:pPr indent="0" marL="0">
              <a:buNone/>
            </a:pPr>
            <a:r>
              <a:rPr lang="en-US" sz="1000" b="1" dirty="0">
                <a:solidFill>
                  <a:srgbClr val="306998"/>
                </a:solidFill>
                <a:latin typeface="Calibri" pitchFamily="34" charset="0"/>
                <a:ea typeface="Calibri" pitchFamily="34" charset="-122"/>
                <a:cs typeface="Calibri" pitchFamily="34" charset="-120"/>
              </a:rPr>
              <a:t>mutate_list_v1_0_0.py</a:t>
            </a:r>
            <a:endParaRPr lang="en-US" sz="1000" dirty="0"/>
          </a:p>
        </p:txBody>
      </p:sp>
      <p:sp>
        <p:nvSpPr>
          <p:cNvPr id="9" name="Shape 7"/>
          <p:cNvSpPr/>
          <p:nvPr/>
        </p:nvSpPr>
        <p:spPr>
          <a:xfrm>
            <a:off x="411480" y="2717546"/>
            <a:ext cx="4096512" cy="1130808"/>
          </a:xfrm>
          <a:prstGeom prst="roundRect">
            <a:avLst>
              <a:gd name="adj" fmla="val 8086"/>
            </a:avLst>
          </a:prstGeom>
          <a:solidFill>
            <a:srgbClr val="17202B"/>
          </a:solidFill>
          <a:ln w="12700">
            <a:solidFill>
              <a:srgbClr val="17202B"/>
            </a:solidFill>
            <a:prstDash val="solid"/>
          </a:ln>
        </p:spPr>
      </p:sp>
      <p:sp>
        <p:nvSpPr>
          <p:cNvPr id="10" name="Text 8"/>
          <p:cNvSpPr txBox="1"/>
          <p:nvPr/>
        </p:nvSpPr>
        <p:spPr>
          <a:xfrm>
            <a:off x="612648" y="2818130"/>
            <a:ext cx="3694176" cy="929640"/>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a = [1, 2, 2, 3]</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for x in a:</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if x == 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a.remove(x)</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print(a)</a:t>
            </a:r>
            <a:endParaRPr lang="en-US" sz="1200" dirty="0"/>
          </a:p>
        </p:txBody>
      </p:sp>
      <p:sp>
        <p:nvSpPr>
          <p:cNvPr id="11" name="Shape 9"/>
          <p:cNvSpPr/>
          <p:nvPr/>
        </p:nvSpPr>
        <p:spPr>
          <a:xfrm>
            <a:off x="411480" y="3921506"/>
            <a:ext cx="4096512" cy="387096"/>
          </a:xfrm>
          <a:prstGeom prst="roundRect">
            <a:avLst>
              <a:gd name="adj" fmla="val 23622"/>
            </a:avLst>
          </a:prstGeom>
          <a:solidFill>
            <a:srgbClr val="0F1823"/>
          </a:solidFill>
          <a:ln w="12700">
            <a:solidFill>
              <a:srgbClr val="0F1823"/>
            </a:solidFill>
            <a:prstDash val="solid"/>
          </a:ln>
        </p:spPr>
      </p:sp>
      <p:sp>
        <p:nvSpPr>
          <p:cNvPr id="12" name="Text 10"/>
          <p:cNvSpPr txBox="1"/>
          <p:nvPr/>
        </p:nvSpPr>
        <p:spPr>
          <a:xfrm>
            <a:off x="612648" y="4022090"/>
            <a:ext cx="3694176" cy="185928"/>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[1, 2, 3]</a:t>
            </a:r>
            <a:endParaRPr lang="en-US" sz="1200" dirty="0"/>
          </a:p>
        </p:txBody>
      </p:sp>
      <p:sp>
        <p:nvSpPr>
          <p:cNvPr id="13" name="Text 11"/>
          <p:cNvSpPr txBox="1"/>
          <p:nvPr/>
        </p:nvSpPr>
        <p:spPr>
          <a:xfrm>
            <a:off x="4636008" y="2461514"/>
            <a:ext cx="4096512" cy="219456"/>
          </a:xfrm>
          <a:prstGeom prst="rect">
            <a:avLst/>
          </a:prstGeom>
          <a:noFill/>
          <a:ln/>
        </p:spPr>
        <p:txBody>
          <a:bodyPr wrap="square" lIns="0" tIns="0" rIns="0" bIns="0" rtlCol="0" anchor="ctr"/>
          <a:lstStyle/>
          <a:p>
            <a:pPr indent="0" marL="0">
              <a:buNone/>
            </a:pPr>
            <a:r>
              <a:rPr lang="en-US" sz="1000" b="1" dirty="0">
                <a:solidFill>
                  <a:srgbClr val="306998"/>
                </a:solidFill>
                <a:latin typeface="Calibri" pitchFamily="34" charset="0"/>
                <a:ea typeface="Calibri" pitchFamily="34" charset="-122"/>
                <a:cs typeface="Calibri" pitchFamily="34" charset="-120"/>
              </a:rPr>
              <a:t>mutate_list_new_v1_0_0.py</a:t>
            </a:r>
            <a:endParaRPr lang="en-US" sz="1000" dirty="0"/>
          </a:p>
        </p:txBody>
      </p:sp>
      <p:sp>
        <p:nvSpPr>
          <p:cNvPr id="14" name="Shape 12"/>
          <p:cNvSpPr/>
          <p:nvPr/>
        </p:nvSpPr>
        <p:spPr>
          <a:xfrm>
            <a:off x="4636008" y="2717546"/>
            <a:ext cx="4096512" cy="1316736"/>
          </a:xfrm>
          <a:prstGeom prst="roundRect">
            <a:avLst>
              <a:gd name="adj" fmla="val 6944"/>
            </a:avLst>
          </a:prstGeom>
          <a:solidFill>
            <a:srgbClr val="17202B"/>
          </a:solidFill>
          <a:ln w="12700">
            <a:solidFill>
              <a:srgbClr val="17202B"/>
            </a:solidFill>
            <a:prstDash val="solid"/>
          </a:ln>
        </p:spPr>
      </p:sp>
      <p:sp>
        <p:nvSpPr>
          <p:cNvPr id="15" name="Text 13"/>
          <p:cNvSpPr txBox="1"/>
          <p:nvPr/>
        </p:nvSpPr>
        <p:spPr>
          <a:xfrm>
            <a:off x="4837176" y="2818130"/>
            <a:ext cx="3694176" cy="1115568"/>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a = [1, 2, 2, 3]</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b = []</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for x in a:</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if x != 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b.append(x)</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print(b)</a:t>
            </a:r>
            <a:endParaRPr lang="en-US" sz="1200" dirty="0"/>
          </a:p>
        </p:txBody>
      </p:sp>
      <p:sp>
        <p:nvSpPr>
          <p:cNvPr id="16" name="Shape 14"/>
          <p:cNvSpPr/>
          <p:nvPr/>
        </p:nvSpPr>
        <p:spPr>
          <a:xfrm>
            <a:off x="4636008" y="4107434"/>
            <a:ext cx="4096512" cy="387096"/>
          </a:xfrm>
          <a:prstGeom prst="roundRect">
            <a:avLst>
              <a:gd name="adj" fmla="val 23622"/>
            </a:avLst>
          </a:prstGeom>
          <a:solidFill>
            <a:srgbClr val="0F1823"/>
          </a:solidFill>
          <a:ln w="12700">
            <a:solidFill>
              <a:srgbClr val="0F1823"/>
            </a:solidFill>
            <a:prstDash val="solid"/>
          </a:ln>
        </p:spPr>
      </p:sp>
      <p:sp>
        <p:nvSpPr>
          <p:cNvPr id="17" name="Text 15"/>
          <p:cNvSpPr txBox="1"/>
          <p:nvPr/>
        </p:nvSpPr>
        <p:spPr>
          <a:xfrm>
            <a:off x="4837176" y="4208018"/>
            <a:ext cx="3694176" cy="185928"/>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[1, 3]</a:t>
            </a:r>
            <a:endParaRPr lang="en-US" sz="1200" dirty="0"/>
          </a:p>
        </p:txBody>
      </p:sp>
      <p:sp>
        <p:nvSpPr>
          <p:cNvPr id="18" name="Text 16"/>
          <p:cNvSpPr txBox="1"/>
          <p:nvPr/>
        </p:nvSpPr>
        <p:spPr>
          <a:xfrm>
            <a:off x="411480" y="451281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both programs run under Python 3.14.4; each output is the output of the program above it</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Changing a collection while looping over it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Loop over a copy, or build a new one</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Changing a collection while a loop is walking through it is tricky to get right. The tutorial says so in its section on the for statement: code that modifies a collection while iterating over that same collection can be tricky, and it is usually more straightforward to loop over a copy of the collection or to create a new collection (Python Software Foundation, 2026). The danger is that the loop and the change disturb each other, because the iterator keeps a position and an item added or removed moves the positions of the others, so the loop may skip items or stop with an error.</a:t>
            </a:r>
            <a:endParaRPr lang="en-US" sz="900" dirty="0"/>
          </a:p>
        </p:txBody>
      </p:sp>
      <p:sp>
        <p:nvSpPr>
          <p:cNvPr id="8" name="Text 6"/>
          <p:cNvSpPr txBox="1"/>
          <p:nvPr/>
        </p:nvSpPr>
        <p:spPr>
          <a:xfrm>
            <a:off x="411480" y="2306574"/>
            <a:ext cx="4096512" cy="219456"/>
          </a:xfrm>
          <a:prstGeom prst="rect">
            <a:avLst/>
          </a:prstGeom>
          <a:noFill/>
          <a:ln/>
        </p:spPr>
        <p:txBody>
          <a:bodyPr wrap="square" lIns="0" tIns="0" rIns="0" bIns="0" rtlCol="0" anchor="ctr"/>
          <a:lstStyle/>
          <a:p>
            <a:pPr indent="0" marL="0">
              <a:buNone/>
            </a:pPr>
            <a:r>
              <a:rPr lang="en-US" sz="1000" b="1" dirty="0">
                <a:solidFill>
                  <a:srgbClr val="306998"/>
                </a:solidFill>
                <a:latin typeface="Calibri" pitchFamily="34" charset="0"/>
                <a:ea typeface="Calibri" pitchFamily="34" charset="-122"/>
                <a:cs typeface="Calibri" pitchFamily="34" charset="-120"/>
              </a:rPr>
              <a:t>mutate_dict_v1_0_0.py</a:t>
            </a:r>
            <a:endParaRPr lang="en-US" sz="1000" dirty="0"/>
          </a:p>
        </p:txBody>
      </p:sp>
      <p:sp>
        <p:nvSpPr>
          <p:cNvPr id="9" name="Shape 7"/>
          <p:cNvSpPr/>
          <p:nvPr/>
        </p:nvSpPr>
        <p:spPr>
          <a:xfrm>
            <a:off x="411480" y="2562606"/>
            <a:ext cx="4096512" cy="526542"/>
          </a:xfrm>
          <a:prstGeom prst="roundRect">
            <a:avLst>
              <a:gd name="adj" fmla="val 17366"/>
            </a:avLst>
          </a:prstGeom>
          <a:solidFill>
            <a:srgbClr val="17202B"/>
          </a:solidFill>
          <a:ln w="12700">
            <a:solidFill>
              <a:srgbClr val="17202B"/>
            </a:solidFill>
            <a:prstDash val="solid"/>
          </a:ln>
        </p:spPr>
      </p:sp>
      <p:sp>
        <p:nvSpPr>
          <p:cNvPr id="10" name="Text 8"/>
          <p:cNvSpPr txBox="1"/>
          <p:nvPr/>
        </p:nvSpPr>
        <p:spPr>
          <a:xfrm>
            <a:off x="612648" y="2663190"/>
            <a:ext cx="3694176" cy="32537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users = {'Ada': 'active', 'Can': 'inactive'}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for u in users: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del users[u]</a:t>
            </a:r>
            <a:endParaRPr lang="en-US" sz="700" dirty="0"/>
          </a:p>
        </p:txBody>
      </p:sp>
      <p:sp>
        <p:nvSpPr>
          <p:cNvPr id="11" name="Shape 9"/>
          <p:cNvSpPr/>
          <p:nvPr/>
        </p:nvSpPr>
        <p:spPr>
          <a:xfrm>
            <a:off x="411480" y="3162300"/>
            <a:ext cx="4096512" cy="743458"/>
          </a:xfrm>
          <a:prstGeom prst="roundRect">
            <a:avLst>
              <a:gd name="adj" fmla="val 12299"/>
            </a:avLst>
          </a:prstGeom>
          <a:solidFill>
            <a:srgbClr val="0F1823"/>
          </a:solidFill>
          <a:ln w="12700">
            <a:solidFill>
              <a:srgbClr val="0F1823"/>
            </a:solidFill>
            <a:prstDash val="solid"/>
          </a:ln>
        </p:spPr>
      </p:sp>
      <p:sp>
        <p:nvSpPr>
          <p:cNvPr id="12" name="Text 10"/>
          <p:cNvSpPr txBox="1"/>
          <p:nvPr/>
        </p:nvSpPr>
        <p:spPr>
          <a:xfrm>
            <a:off x="612648" y="3262884"/>
            <a:ext cx="3694176" cy="542290"/>
          </a:xfrm>
          <a:prstGeom prst="rect">
            <a:avLst/>
          </a:prstGeom>
          <a:noFill/>
          <a:ln/>
        </p:spPr>
        <p:txBody>
          <a:bodyPr wrap="square" lIns="0" tIns="0" rIns="0" bIns="0" rtlCol="0" anchor="t"/>
          <a:lstStyle/>
          <a:p>
            <a:pPr indent="0" marL="0">
              <a:buNone/>
            </a:pPr>
            <a:r>
              <a:rPr lang="en-US" sz="700" dirty="0">
                <a:solidFill>
                  <a:srgbClr val="FF7B72"/>
                </a:solidFill>
                <a:latin typeface="Courier New" pitchFamily="34" charset="0"/>
                <a:ea typeface="Courier New" pitchFamily="34" charset="-122"/>
                <a:cs typeface="Courier New" pitchFamily="34" charset="-120"/>
              </a:rPr>
              <a:t>Traceback (most recent call last):</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  File "mutate_dict_v1_0_0.py", line 2, in &lt;module&gt;</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    for u in users:</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             ^^^^^</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RuntimeError: dictionary changed size during iteration</a:t>
            </a:r>
            <a:endParaRPr lang="en-US" sz="700" dirty="0"/>
          </a:p>
        </p:txBody>
      </p:sp>
      <p:sp>
        <p:nvSpPr>
          <p:cNvPr id="13" name="Text 11"/>
          <p:cNvSpPr txBox="1"/>
          <p:nvPr/>
        </p:nvSpPr>
        <p:spPr>
          <a:xfrm>
            <a:off x="4636008" y="2306574"/>
            <a:ext cx="4096512" cy="219456"/>
          </a:xfrm>
          <a:prstGeom prst="rect">
            <a:avLst/>
          </a:prstGeom>
          <a:noFill/>
          <a:ln/>
        </p:spPr>
        <p:txBody>
          <a:bodyPr wrap="square" lIns="0" tIns="0" rIns="0" bIns="0" rtlCol="0" anchor="ctr"/>
          <a:lstStyle/>
          <a:p>
            <a:pPr indent="0" marL="0">
              <a:buNone/>
            </a:pPr>
            <a:r>
              <a:rPr lang="en-US" sz="1000" b="1" dirty="0">
                <a:solidFill>
                  <a:srgbClr val="306998"/>
                </a:solidFill>
                <a:latin typeface="Calibri" pitchFamily="34" charset="0"/>
                <a:ea typeface="Calibri" pitchFamily="34" charset="-122"/>
                <a:cs typeface="Calibri" pitchFamily="34" charset="-120"/>
              </a:rPr>
              <a:t>mutate_dict_copy_v1_0_0.py</a:t>
            </a:r>
            <a:endParaRPr lang="en-US" sz="1000" dirty="0"/>
          </a:p>
        </p:txBody>
      </p:sp>
      <p:sp>
        <p:nvSpPr>
          <p:cNvPr id="14" name="Shape 12"/>
          <p:cNvSpPr/>
          <p:nvPr/>
        </p:nvSpPr>
        <p:spPr>
          <a:xfrm>
            <a:off x="4636008" y="2562606"/>
            <a:ext cx="4096512" cy="743458"/>
          </a:xfrm>
          <a:prstGeom prst="roundRect">
            <a:avLst>
              <a:gd name="adj" fmla="val 12299"/>
            </a:avLst>
          </a:prstGeom>
          <a:solidFill>
            <a:srgbClr val="17202B"/>
          </a:solidFill>
          <a:ln w="12700">
            <a:solidFill>
              <a:srgbClr val="17202B"/>
            </a:solidFill>
            <a:prstDash val="solid"/>
          </a:ln>
        </p:spPr>
      </p:sp>
      <p:sp>
        <p:nvSpPr>
          <p:cNvPr id="15" name="Text 13"/>
          <p:cNvSpPr txBox="1"/>
          <p:nvPr/>
        </p:nvSpPr>
        <p:spPr>
          <a:xfrm>
            <a:off x="4837176" y="2663190"/>
            <a:ext cx="3694176" cy="54229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users = {'Ada': 'active', 'Can': 'inactive', 'Eda': 'inactive'}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for name, status in users.copy().items():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if status == 'inactive':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del users[name]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print(users)</a:t>
            </a:r>
            <a:endParaRPr lang="en-US" sz="700" dirty="0"/>
          </a:p>
        </p:txBody>
      </p:sp>
      <p:sp>
        <p:nvSpPr>
          <p:cNvPr id="16" name="Shape 14"/>
          <p:cNvSpPr/>
          <p:nvPr/>
        </p:nvSpPr>
        <p:spPr>
          <a:xfrm>
            <a:off x="4636008" y="3379216"/>
            <a:ext cx="4096512" cy="309626"/>
          </a:xfrm>
          <a:prstGeom prst="roundRect">
            <a:avLst>
              <a:gd name="adj" fmla="val 29532"/>
            </a:avLst>
          </a:prstGeom>
          <a:solidFill>
            <a:srgbClr val="0F1823"/>
          </a:solidFill>
          <a:ln w="12700">
            <a:solidFill>
              <a:srgbClr val="0F1823"/>
            </a:solidFill>
            <a:prstDash val="solid"/>
          </a:ln>
        </p:spPr>
      </p:sp>
      <p:sp>
        <p:nvSpPr>
          <p:cNvPr id="17" name="Text 15"/>
          <p:cNvSpPr txBox="1"/>
          <p:nvPr/>
        </p:nvSpPr>
        <p:spPr>
          <a:xfrm>
            <a:off x="4837176" y="3479800"/>
            <a:ext cx="3694176" cy="108458"/>
          </a:xfrm>
          <a:prstGeom prst="rect">
            <a:avLst/>
          </a:prstGeom>
          <a:noFill/>
          <a:ln/>
        </p:spPr>
        <p:txBody>
          <a:bodyPr wrap="square" lIns="0" tIns="0" rIns="0" bIns="0" rtlCol="0" anchor="t"/>
          <a:lstStyle/>
          <a:p>
            <a:pPr indent="0" marL="0">
              <a:buNone/>
            </a:pPr>
            <a:r>
              <a:rPr lang="en-US" sz="700" dirty="0">
                <a:solidFill>
                  <a:srgbClr val="7EE787"/>
                </a:solidFill>
                <a:latin typeface="Courier New" pitchFamily="34" charset="0"/>
                <a:ea typeface="Courier New" pitchFamily="34" charset="-122"/>
                <a:cs typeface="Courier New" pitchFamily="34" charset="-120"/>
              </a:rPr>
              <a:t>{'Ada': 'active'}</a:t>
            </a:r>
            <a:endParaRPr lang="en-US" sz="700" dirty="0"/>
          </a:p>
        </p:txBody>
      </p:sp>
      <p:sp>
        <p:nvSpPr>
          <p:cNvPr id="18" name="Text 16"/>
          <p:cNvSpPr txBox="1"/>
          <p:nvPr/>
        </p:nvSpPr>
        <p:spPr>
          <a:xfrm>
            <a:off x="411480" y="392404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both programs run under Python 3.14.4; each output is the output of the program above it</a:t>
            </a:r>
            <a:endParaRPr lang="en-US" sz="900" dirty="0"/>
          </a:p>
        </p:txBody>
      </p:sp>
      <p:sp>
        <p:nvSpPr>
          <p:cNvPr id="19" name="Shape 17"/>
          <p:cNvSpPr/>
          <p:nvPr/>
        </p:nvSpPr>
        <p:spPr>
          <a:xfrm>
            <a:off x="411480" y="4253230"/>
            <a:ext cx="8321040" cy="749046"/>
          </a:xfrm>
          <a:prstGeom prst="roundRect">
            <a:avLst>
              <a:gd name="adj" fmla="val 9766"/>
            </a:avLst>
          </a:prstGeom>
          <a:solidFill>
            <a:srgbClr val="FFF1F0"/>
          </a:solidFill>
          <a:ln w="12700">
            <a:solidFill>
              <a:srgbClr val="FFD7D5"/>
            </a:solidFill>
            <a:prstDash val="solid"/>
          </a:ln>
        </p:spPr>
      </p:sp>
      <p:sp>
        <p:nvSpPr>
          <p:cNvPr id="20" name="Shape 18"/>
          <p:cNvSpPr/>
          <p:nvPr/>
        </p:nvSpPr>
        <p:spPr>
          <a:xfrm>
            <a:off x="411480" y="4253230"/>
            <a:ext cx="64008" cy="749046"/>
          </a:xfrm>
          <a:prstGeom prst="rect">
            <a:avLst/>
          </a:prstGeom>
          <a:solidFill>
            <a:srgbClr val="FF7B72"/>
          </a:solidFill>
          <a:ln w="12700">
            <a:solidFill>
              <a:srgbClr val="FF7B72"/>
            </a:solidFill>
            <a:prstDash val="solid"/>
          </a:ln>
        </p:spPr>
      </p:sp>
      <p:sp>
        <p:nvSpPr>
          <p:cNvPr id="21" name="Text 19"/>
          <p:cNvSpPr txBox="1"/>
          <p:nvPr/>
        </p:nvSpPr>
        <p:spPr>
          <a:xfrm>
            <a:off x="612648" y="4362958"/>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silent case is the dangerous one. The rule is simple: whatever you loop over, do not add or remove items of it in the block; either collect what you want in a new collection, or loop over a copy and change the original.</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Leaving a finally block</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jump that throws the exception away</a:t>
            </a:r>
            <a:endParaRPr lang="en-US" sz="1300" dirty="0"/>
          </a:p>
        </p:txBody>
      </p:sp>
      <p:sp>
        <p:nvSpPr>
          <p:cNvPr id="6" name="Shape 4"/>
          <p:cNvSpPr/>
          <p:nvPr/>
        </p:nvSpPr>
        <p:spPr>
          <a:xfrm>
            <a:off x="411480" y="1152144"/>
            <a:ext cx="8321040" cy="1416558"/>
          </a:xfrm>
          <a:prstGeom prst="roundRect">
            <a:avLst>
              <a:gd name="adj" fmla="val 6455"/>
            </a:avLst>
          </a:prstGeom>
          <a:solidFill>
            <a:srgbClr val="F1F4F8"/>
          </a:solidFill>
          <a:ln w="12700">
            <a:solidFill>
              <a:srgbClr val="F1F4F8"/>
            </a:solidFill>
            <a:prstDash val="solid"/>
          </a:ln>
        </p:spPr>
      </p:sp>
      <p:sp>
        <p:nvSpPr>
          <p:cNvPr id="7" name="Text 5"/>
          <p:cNvSpPr txBox="1"/>
          <p:nvPr/>
        </p:nvSpPr>
        <p:spPr>
          <a:xfrm>
            <a:off x="594360" y="1280160"/>
            <a:ext cx="7955280" cy="1160526"/>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Leaving a finally block with a return, break or continue statement discards the exception that was on its way. The reference states that if the finally clause executes one of these statements, the saved exception is discarded (Python Software Foundation, 2026). PEP 765 explains why this is a problem: the semantics are surprising for many developers, and a swallowed exception is more likely to slip through testing than an incorrect return value; its survey of real code found the pattern rare and most of its uses incorrect (Katriel and Coghlan, 2024). Python 3.14 now warns about it.</a:t>
            </a:r>
            <a:endParaRPr lang="en-US" sz="1150" dirty="0"/>
          </a:p>
        </p:txBody>
      </p:sp>
      <p:sp>
        <p:nvSpPr>
          <p:cNvPr id="8" name="Shape 6"/>
          <p:cNvSpPr/>
          <p:nvPr/>
        </p:nvSpPr>
        <p:spPr>
          <a:xfrm>
            <a:off x="411480" y="2678430"/>
            <a:ext cx="4572000" cy="1037844"/>
          </a:xfrm>
          <a:prstGeom prst="roundRect">
            <a:avLst>
              <a:gd name="adj" fmla="val 8811"/>
            </a:avLst>
          </a:prstGeom>
          <a:solidFill>
            <a:srgbClr val="17202B"/>
          </a:solidFill>
          <a:ln w="12700">
            <a:solidFill>
              <a:srgbClr val="17202B"/>
            </a:solidFill>
            <a:prstDash val="solid"/>
          </a:ln>
        </p:spPr>
      </p:sp>
      <p:sp>
        <p:nvSpPr>
          <p:cNvPr id="9" name="Text 7"/>
          <p:cNvSpPr txBox="1"/>
          <p:nvPr/>
        </p:nvSpPr>
        <p:spPr>
          <a:xfrm>
            <a:off x="612648" y="2779014"/>
            <a:ext cx="4169664" cy="83667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for i in range(2):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try: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raise ValueError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finally: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break</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print('done')</a:t>
            </a:r>
            <a:endParaRPr lang="en-US" sz="900" dirty="0"/>
          </a:p>
        </p:txBody>
      </p:sp>
      <p:sp>
        <p:nvSpPr>
          <p:cNvPr id="10" name="Shape 8"/>
          <p:cNvSpPr/>
          <p:nvPr/>
        </p:nvSpPr>
        <p:spPr>
          <a:xfrm>
            <a:off x="5166360" y="2678430"/>
            <a:ext cx="3566160" cy="480060"/>
          </a:xfrm>
          <a:prstGeom prst="roundRect">
            <a:avLst>
              <a:gd name="adj" fmla="val 19048"/>
            </a:avLst>
          </a:prstGeom>
          <a:solidFill>
            <a:srgbClr val="0F1823"/>
          </a:solidFill>
          <a:ln w="12700">
            <a:solidFill>
              <a:srgbClr val="0F1823"/>
            </a:solidFill>
            <a:prstDash val="solid"/>
          </a:ln>
        </p:spPr>
      </p:sp>
      <p:sp>
        <p:nvSpPr>
          <p:cNvPr id="11" name="Text 9"/>
          <p:cNvSpPr txBox="1"/>
          <p:nvPr/>
        </p:nvSpPr>
        <p:spPr>
          <a:xfrm>
            <a:off x="5367528" y="2779014"/>
            <a:ext cx="3163824" cy="278892"/>
          </a:xfrm>
          <a:prstGeom prst="rect">
            <a:avLst/>
          </a:prstGeom>
          <a:noFill/>
          <a:ln/>
        </p:spPr>
        <p:txBody>
          <a:bodyPr wrap="square" lIns="0" tIns="0" rIns="0" bIns="0" rtlCol="0" anchor="t"/>
          <a:lstStyle/>
          <a:p>
            <a:pPr indent="0" marL="0">
              <a:buNone/>
            </a:pPr>
            <a:r>
              <a:rPr lang="en-US" sz="900" dirty="0">
                <a:solidFill>
                  <a:srgbClr val="7EE787"/>
                </a:solidFill>
                <a:latin typeface="Courier New" pitchFamily="34" charset="0"/>
                <a:ea typeface="Courier New" pitchFamily="34" charset="-122"/>
                <a:cs typeface="Courier New" pitchFamily="34" charset="-120"/>
              </a:rPr>
              <a:t>done</a:t>
            </a:r>
            <a:endParaRPr lang="en-US" sz="900" dirty="0"/>
          </a:p>
          <a:p>
            <a:pPr indent="0" marL="0">
              <a:buNone/>
            </a:pPr>
            <a:r>
              <a:rPr lang="en-US" sz="900" dirty="0">
                <a:solidFill>
                  <a:srgbClr val="FFD43B"/>
                </a:solidFill>
                <a:latin typeface="Courier New" pitchFamily="34" charset="0"/>
                <a:ea typeface="Courier New" pitchFamily="34" charset="-122"/>
                <a:cs typeface="Courier New" pitchFamily="34" charset="-120"/>
              </a:rPr>
              <a:t>SyntaxWarning: 'break' in a 'finally' block</a:t>
            </a:r>
            <a:endParaRPr lang="en-US" sz="900" dirty="0"/>
          </a:p>
        </p:txBody>
      </p:sp>
      <p:sp>
        <p:nvSpPr>
          <p:cNvPr id="12" name="Text 10"/>
          <p:cNvSpPr txBox="1"/>
          <p:nvPr/>
        </p:nvSpPr>
        <p:spPr>
          <a:xfrm>
            <a:off x="411480" y="373456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finally_break_v1_0_0.py, run under Python 3.14.4; the warning its compilation produced in yellow</a:t>
            </a:r>
            <a:endParaRPr lang="en-US" sz="900" dirty="0"/>
          </a:p>
        </p:txBody>
      </p:sp>
      <p:sp>
        <p:nvSpPr>
          <p:cNvPr id="13" name="Shape 11"/>
          <p:cNvSpPr/>
          <p:nvPr/>
        </p:nvSpPr>
        <p:spPr>
          <a:xfrm>
            <a:off x="411480" y="4063746"/>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63746"/>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73474"/>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behaviour is unchanged; only the warning is new, and it is a warning and not an error. The remedy is to restructure: let the exception propagate, or put the break or the return after the whole try statement.</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What to take away</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sentence for each branch of the chapter</a:t>
            </a:r>
            <a:endParaRPr lang="en-US" sz="1300" dirty="0"/>
          </a:p>
        </p:txBody>
      </p:sp>
      <p:sp>
        <p:nvSpPr>
          <p:cNvPr id="6" name="Shape 4"/>
          <p:cNvSpPr/>
          <p:nvPr/>
        </p:nvSpPr>
        <p:spPr>
          <a:xfrm>
            <a:off x="411480" y="1152144"/>
            <a:ext cx="2057400" cy="640080"/>
          </a:xfrm>
          <a:prstGeom prst="roundRect">
            <a:avLst>
              <a:gd name="adj" fmla="val 10000"/>
            </a:avLst>
          </a:prstGeom>
          <a:solidFill>
            <a:srgbClr val="1E2A3A"/>
          </a:solidFill>
          <a:ln w="12700">
            <a:solidFill>
              <a:srgbClr val="1E2A3A"/>
            </a:solidFill>
            <a:prstDash val="solid"/>
          </a:ln>
        </p:spPr>
      </p:sp>
      <p:sp>
        <p:nvSpPr>
          <p:cNvPr id="7" name="Text 5"/>
          <p:cNvSpPr txBox="1"/>
          <p:nvPr/>
        </p:nvSpPr>
        <p:spPr>
          <a:xfrm>
            <a:off x="484632" y="1152144"/>
            <a:ext cx="1911096" cy="64008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I · Repetition</a:t>
            </a:r>
            <a:endParaRPr lang="en-US" sz="1050" dirty="0"/>
          </a:p>
        </p:txBody>
      </p:sp>
      <p:sp>
        <p:nvSpPr>
          <p:cNvPr id="8" name="Text 6"/>
          <p:cNvSpPr txBox="1"/>
          <p:nvPr/>
        </p:nvSpPr>
        <p:spPr>
          <a:xfrm>
            <a:off x="2578608" y="1152144"/>
            <a:ext cx="6153912"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A while loop tests its condition at the start of every pass and stops the first time it is false; a for loop runs once for each item of an iterable and needs no counter of its own.</a:t>
            </a:r>
            <a:endParaRPr lang="en-US" sz="1100" dirty="0"/>
          </a:p>
        </p:txBody>
      </p:sp>
      <p:sp>
        <p:nvSpPr>
          <p:cNvPr id="9" name="Shape 7"/>
          <p:cNvSpPr/>
          <p:nvPr/>
        </p:nvSpPr>
        <p:spPr>
          <a:xfrm>
            <a:off x="411480" y="1883664"/>
            <a:ext cx="2057400" cy="640080"/>
          </a:xfrm>
          <a:prstGeom prst="roundRect">
            <a:avLst>
              <a:gd name="adj" fmla="val 10000"/>
            </a:avLst>
          </a:prstGeom>
          <a:solidFill>
            <a:srgbClr val="1E2A3A"/>
          </a:solidFill>
          <a:ln w="12700">
            <a:solidFill>
              <a:srgbClr val="1E2A3A"/>
            </a:solidFill>
            <a:prstDash val="solid"/>
          </a:ln>
        </p:spPr>
      </p:sp>
      <p:sp>
        <p:nvSpPr>
          <p:cNvPr id="10" name="Text 8"/>
          <p:cNvSpPr txBox="1"/>
          <p:nvPr/>
        </p:nvSpPr>
        <p:spPr>
          <a:xfrm>
            <a:off x="484632" y="1883664"/>
            <a:ext cx="1911096" cy="64008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II · What a loop walks through</a:t>
            </a:r>
            <a:endParaRPr lang="en-US" sz="1050" dirty="0"/>
          </a:p>
        </p:txBody>
      </p:sp>
      <p:sp>
        <p:nvSpPr>
          <p:cNvPr id="11" name="Text 9"/>
          <p:cNvSpPr txBox="1"/>
          <p:nvPr/>
        </p:nvSpPr>
        <p:spPr>
          <a:xfrm>
            <a:off x="2578608" y="1883664"/>
            <a:ext cx="6153912"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A range is a lazy sequence with the start included and the end excluded; enumerate adds a count, zip pairs two sequences, and every for loop asks its iterable for an iterator.</a:t>
            </a:r>
            <a:endParaRPr lang="en-US" sz="1100" dirty="0"/>
          </a:p>
        </p:txBody>
      </p:sp>
      <p:sp>
        <p:nvSpPr>
          <p:cNvPr id="12" name="Shape 10"/>
          <p:cNvSpPr/>
          <p:nvPr/>
        </p:nvSpPr>
        <p:spPr>
          <a:xfrm>
            <a:off x="411480" y="2615184"/>
            <a:ext cx="2057400" cy="640080"/>
          </a:xfrm>
          <a:prstGeom prst="roundRect">
            <a:avLst>
              <a:gd name="adj" fmla="val 10000"/>
            </a:avLst>
          </a:prstGeom>
          <a:solidFill>
            <a:srgbClr val="1E2A3A"/>
          </a:solidFill>
          <a:ln w="12700">
            <a:solidFill>
              <a:srgbClr val="1E2A3A"/>
            </a:solidFill>
            <a:prstDash val="solid"/>
          </a:ln>
        </p:spPr>
      </p:sp>
      <p:sp>
        <p:nvSpPr>
          <p:cNvPr id="13" name="Text 11"/>
          <p:cNvSpPr txBox="1"/>
          <p:nvPr/>
        </p:nvSpPr>
        <p:spPr>
          <a:xfrm>
            <a:off x="484632" y="2615184"/>
            <a:ext cx="1911096" cy="64008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III · Loop control</a:t>
            </a:r>
            <a:endParaRPr lang="en-US" sz="1050" dirty="0"/>
          </a:p>
        </p:txBody>
      </p:sp>
      <p:sp>
        <p:nvSpPr>
          <p:cNvPr id="14" name="Text 12"/>
          <p:cNvSpPr txBox="1"/>
          <p:nvPr/>
        </p:nvSpPr>
        <p:spPr>
          <a:xfrm>
            <a:off x="2578608" y="2615184"/>
            <a:ext cx="6153912"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break leaves the innermost loop, continue gives up one pass, return leaves the function and sys.exit the program - and only a loop that ran out runs its else clause.</a:t>
            </a:r>
            <a:endParaRPr lang="en-US" sz="1100" dirty="0"/>
          </a:p>
        </p:txBody>
      </p:sp>
      <p:sp>
        <p:nvSpPr>
          <p:cNvPr id="15" name="Shape 13"/>
          <p:cNvSpPr/>
          <p:nvPr/>
        </p:nvSpPr>
        <p:spPr>
          <a:xfrm>
            <a:off x="411480" y="3346704"/>
            <a:ext cx="2057400" cy="640080"/>
          </a:xfrm>
          <a:prstGeom prst="roundRect">
            <a:avLst>
              <a:gd name="adj" fmla="val 10000"/>
            </a:avLst>
          </a:prstGeom>
          <a:solidFill>
            <a:srgbClr val="1E2A3A"/>
          </a:solidFill>
          <a:ln w="12700">
            <a:solidFill>
              <a:srgbClr val="1E2A3A"/>
            </a:solidFill>
            <a:prstDash val="solid"/>
          </a:ln>
        </p:spPr>
      </p:sp>
      <p:sp>
        <p:nvSpPr>
          <p:cNvPr id="16" name="Text 14"/>
          <p:cNvSpPr txBox="1"/>
          <p:nvPr/>
        </p:nvSpPr>
        <p:spPr>
          <a:xfrm>
            <a:off x="484632" y="3346704"/>
            <a:ext cx="1911096" cy="64008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IV · Modules</a:t>
            </a:r>
            <a:endParaRPr lang="en-US" sz="1050" dirty="0"/>
          </a:p>
        </p:txBody>
      </p:sp>
      <p:sp>
        <p:nvSpPr>
          <p:cNvPr id="17" name="Text 15"/>
          <p:cNvSpPr txBox="1"/>
          <p:nvPr/>
        </p:nvSpPr>
        <p:spPr>
          <a:xfrm>
            <a:off x="2578608" y="3346704"/>
            <a:ext cx="6153912"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import binds the module under its own name; the from form binds the names you list; the star form binds names you cannot see, and a file named after a module hides it.</a:t>
            </a:r>
            <a:endParaRPr lang="en-US" sz="1100" dirty="0"/>
          </a:p>
        </p:txBody>
      </p:sp>
      <p:sp>
        <p:nvSpPr>
          <p:cNvPr id="18" name="Shape 16"/>
          <p:cNvSpPr/>
          <p:nvPr/>
        </p:nvSpPr>
        <p:spPr>
          <a:xfrm>
            <a:off x="411480" y="4078224"/>
            <a:ext cx="2057400" cy="640080"/>
          </a:xfrm>
          <a:prstGeom prst="roundRect">
            <a:avLst>
              <a:gd name="adj" fmla="val 10000"/>
            </a:avLst>
          </a:prstGeom>
          <a:solidFill>
            <a:srgbClr val="1E2A3A"/>
          </a:solidFill>
          <a:ln w="12700">
            <a:solidFill>
              <a:srgbClr val="1E2A3A"/>
            </a:solidFill>
            <a:prstDash val="solid"/>
          </a:ln>
        </p:spPr>
      </p:sp>
      <p:sp>
        <p:nvSpPr>
          <p:cNvPr id="19" name="Text 17"/>
          <p:cNvSpPr txBox="1"/>
          <p:nvPr/>
        </p:nvSpPr>
        <p:spPr>
          <a:xfrm>
            <a:off x="484632" y="4078224"/>
            <a:ext cx="1911096" cy="64008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V · Modern practice</a:t>
            </a:r>
            <a:endParaRPr lang="en-US" sz="1050" dirty="0"/>
          </a:p>
        </p:txBody>
      </p:sp>
      <p:sp>
        <p:nvSpPr>
          <p:cNvPr id="20" name="Text 18"/>
          <p:cNvSpPr txBox="1"/>
          <p:nvPr/>
        </p:nvSpPr>
        <p:spPr>
          <a:xfrm>
            <a:off x="2578608" y="4078224"/>
            <a:ext cx="6153912"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An assignment expression lets a loop read and test in one line. Do not change a collection while looping over it, and do not leave a finally block with a jump.</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settle it in the shell  ·  1 of 5</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the book call the indented block that follows the line of a loop statement?</a:t>
            </a:r>
            <a:endParaRPr lang="en-US" sz="120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Loop</a:t>
            </a:r>
            <a:endParaRPr lang="en-US" sz="90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is one iteration of a loop?</a:t>
            </a:r>
            <a:endParaRPr lang="en-US" sz="120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Iteration</a:t>
            </a:r>
            <a:endParaRPr lang="en-US" sz="90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How does a while statement differ from an if statement with the same condition?</a:t>
            </a:r>
            <a:endParaRPr lang="en-US" sz="120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WhileStatement</a:t>
            </a:r>
            <a:endParaRPr lang="en-US" sz="90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4</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Which of these can end a deliberate while True: loop?</a:t>
            </a:r>
            <a:endParaRPr lang="en-US" sz="120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InfiniteLoop</a:t>
            </a:r>
            <a:endParaRPr lang="en-US" sz="90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5</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a for statement do with the iterable it is given?</a:t>
            </a:r>
            <a:endParaRPr lang="en-US" sz="120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ForStatement</a:t>
            </a:r>
            <a:endParaRPr lang="en-US" sz="90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6</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must an accumulator get its starting value before the loop?</a:t>
            </a:r>
            <a:endParaRPr lang="en-US" sz="120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Accumulator</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settle it in the shell  ·  2 of 5</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7</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break do when it runs inside the inner one of two nested loops?</a:t>
            </a:r>
            <a:endParaRPr lang="en-US" sz="120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NestedLoop</a:t>
            </a:r>
            <a:endParaRPr lang="en-US" sz="90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8</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does list(range(5)) not contain 5?</a:t>
            </a:r>
            <a:endParaRPr lang="en-US" sz="120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RangeStop</a:t>
            </a:r>
            <a:endParaRPr lang="en-US" sz="90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9</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the third argument of range() do?</a:t>
            </a:r>
            <a:endParaRPr lang="en-US" sz="120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RangeStep</a:t>
            </a:r>
            <a:endParaRPr lang="en-US" sz="90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10</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does list(range(5, -1, -1)) end with 0 rather than -1?</a:t>
            </a:r>
            <a:endParaRPr lang="en-US" sz="120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RangeDescending</a:t>
            </a:r>
            <a:endParaRPr lang="en-US" sz="90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11</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does range(1000000) not use much memory?</a:t>
            </a:r>
            <a:endParaRPr lang="en-US" sz="120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LazyRange</a:t>
            </a:r>
            <a:endParaRPr lang="en-US" sz="90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12</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is a half-open range convenient for ranges that follow each other?</a:t>
            </a:r>
            <a:endParaRPr lang="en-US" sz="120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HalfOpenRange</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settle it in the shell  ·  3 of 5</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13</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is enumerate preferred to range(len(a)) when both the position and the item are needed?</a:t>
            </a:r>
            <a:endParaRPr lang="en-US" sz="120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EnumerateFunction</a:t>
            </a:r>
            <a:endParaRPr lang="en-US" sz="90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14</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zip do with sequences of different lengths, and what changes with strict=True?</a:t>
            </a:r>
            <a:endParaRPr lang="en-US" sz="120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ZipStrict</a:t>
            </a:r>
            <a:endParaRPr lang="en-US" sz="90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15</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does for i in 5 fail?</a:t>
            </a:r>
            <a:endParaRPr lang="en-US" sz="120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IterableObject</a:t>
            </a:r>
            <a:endParaRPr lang="en-US" sz="90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16</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How does an iterator differ from the iterable it was made from?</a:t>
            </a:r>
            <a:endParaRPr lang="en-US" sz="120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IteratorObject</a:t>
            </a:r>
            <a:endParaRPr lang="en-US" sz="90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17</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When loops are nested, which loop does break end?</a:t>
            </a:r>
            <a:endParaRPr lang="en-US" sz="120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BreakStatement</a:t>
            </a:r>
            <a:endParaRPr lang="en-US" sz="90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18</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In a while loop, where does execution go after continue?</a:t>
            </a:r>
            <a:endParaRPr lang="en-US" sz="120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ContinueStatement</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settle it in the shell  ·  4 of 5</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19</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Which exception does sys.exit() raise?</a:t>
            </a:r>
            <a:endParaRPr lang="en-US" sz="120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ExitFunction</a:t>
            </a:r>
            <a:endParaRPr lang="en-US" sz="90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20</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Which task fits the else clause of a for loop best?</a:t>
            </a:r>
            <a:endParaRPr lang="en-US" sz="120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LoopElseClause</a:t>
            </a:r>
            <a:endParaRPr lang="en-US" sz="90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21</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After a for loop over a non-empty list ends, what does its loop variable hold?</a:t>
            </a:r>
            <a:endParaRPr lang="en-US" sz="120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LoopVariableScope</a:t>
            </a:r>
            <a:endParaRPr lang="en-US" sz="90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22</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After import random, how does a program call the function randint?</a:t>
            </a:r>
            <a:endParaRPr lang="en-US" sz="120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ImportStatement</a:t>
            </a:r>
            <a:endParaRPr lang="en-US" sz="90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23</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do the chapter and PEP 8 discourage from random import *?</a:t>
            </a:r>
            <a:endParaRPr lang="en-US" sz="120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StarImport</a:t>
            </a:r>
            <a:endParaRPr lang="en-US" sz="90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24</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 program saved as random.py is in the same folder as a second program that runs import random. What happens?</a:t>
            </a:r>
            <a:endParaRPr lang="en-US" sz="120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ModuleNameClash</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settle it in the shell  ·  5 of 5</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25</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Which values can random.randint(1, 3) return?</a:t>
            </a:r>
            <a:endParaRPr lang="en-US" sz="120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RandomModule</a:t>
            </a:r>
            <a:endParaRPr lang="en-US" sz="90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26</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is the tutorial's remedy for changing a collection while looping over it?</a:t>
            </a:r>
            <a:endParaRPr lang="en-US" sz="120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MutationWhileIterating</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Sources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comes from the chapter's research record</a:t>
            </a:r>
            <a:endParaRPr lang="en-US" sz="1300" dirty="0"/>
          </a:p>
        </p:txBody>
      </p:sp>
      <p:sp>
        <p:nvSpPr>
          <p:cNvPr id="6" name="Shape 4"/>
          <p:cNvSpPr/>
          <p:nvPr/>
        </p:nvSpPr>
        <p:spPr>
          <a:xfrm>
            <a:off x="411480" y="1152144"/>
            <a:ext cx="8321040" cy="1012190"/>
          </a:xfrm>
          <a:prstGeom prst="roundRect">
            <a:avLst>
              <a:gd name="adj" fmla="val 9034"/>
            </a:avLst>
          </a:prstGeom>
          <a:solidFill>
            <a:srgbClr val="F1F4F8"/>
          </a:solidFill>
          <a:ln w="12700">
            <a:solidFill>
              <a:srgbClr val="F1F4F8"/>
            </a:solidFill>
            <a:prstDash val="solid"/>
          </a:ln>
        </p:spPr>
      </p:sp>
      <p:sp>
        <p:nvSpPr>
          <p:cNvPr id="7" name="Text 5"/>
          <p:cNvSpPr txBox="1"/>
          <p:nvPr/>
        </p:nvSpPr>
        <p:spPr>
          <a:xfrm>
            <a:off x="594360" y="1280160"/>
            <a:ext cx="7955280" cy="216916"/>
          </a:xfrm>
          <a:prstGeom prst="rect">
            <a:avLst/>
          </a:prstGeom>
          <a:noFill/>
          <a:ln/>
        </p:spPr>
        <p:txBody>
          <a:bodyPr wrap="square" lIns="0" tIns="0" rIns="0" bIns="0" rtlCol="0" anchor="ctr"/>
          <a:lstStyle/>
          <a:p>
            <a:pPr indent="0" marL="0">
              <a:buNone/>
            </a:pPr>
            <a:r>
              <a:rPr lang="en-US" sz="1400" b="1" dirty="0">
                <a:solidFill>
                  <a:srgbClr val="306998"/>
                </a:solidFill>
                <a:latin typeface="Cambria" pitchFamily="34" charset="0"/>
                <a:ea typeface="Cambria" pitchFamily="34" charset="-122"/>
                <a:cs typeface="Cambria" pitchFamily="34" charset="-120"/>
              </a:rPr>
              <a:t>Primary source</a:t>
            </a:r>
            <a:endParaRPr lang="en-US" sz="1400" dirty="0"/>
          </a:p>
        </p:txBody>
      </p:sp>
      <p:sp>
        <p:nvSpPr>
          <p:cNvPr id="8" name="Text 6"/>
          <p:cNvSpPr txBox="1"/>
          <p:nvPr/>
        </p:nvSpPr>
        <p:spPr>
          <a:xfrm>
            <a:off x="594360" y="1570228"/>
            <a:ext cx="7955280" cy="46609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Automate the Boring Stuff with Python, 3rd edition - Chapter 3, Loops (Sweigart, 2025) — https://automatetheboringstuff.com/3e/chapter3.html</a:t>
            </a:r>
            <a:endParaRPr lang="en-US" sz="1150" dirty="0"/>
          </a:p>
        </p:txBody>
      </p:sp>
      <p:sp>
        <p:nvSpPr>
          <p:cNvPr id="9" name="Text 7"/>
          <p:cNvSpPr txBox="1"/>
          <p:nvPr/>
        </p:nvSpPr>
        <p:spPr>
          <a:xfrm>
            <a:off x="411480" y="2066544"/>
            <a:ext cx="4160520" cy="2194560"/>
          </a:xfrm>
          <a:prstGeom prst="rect">
            <a:avLst/>
          </a:prstGeom>
          <a:noFill/>
          <a:ln/>
        </p:spPr>
        <p:txBody>
          <a:bodyPr wrap="square" lIns="0" tIns="0" rIns="0" bIns="0" rtlCol="0" anchor="t"/>
          <a:lstStyle/>
          <a:p>
            <a:pPr indent="0" marL="0">
              <a:buNone/>
            </a:pPr>
            <a:r>
              <a:rPr lang="en-US" sz="750" dirty="0">
                <a:solidFill>
                  <a:srgbClr val="1F2933"/>
                </a:solidFill>
                <a:latin typeface="Calibri" pitchFamily="34" charset="0"/>
                <a:ea typeface="Calibri" pitchFamily="34" charset="-122"/>
                <a:cs typeface="Calibri" pitchFamily="34" charset="-120"/>
              </a:rPr>
              <a:t>· The Python Tutorial, 4. More Control Flow Tools - for, range(), break and continue, else clauses on loops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Language Reference, 8. Compound statements - the while and for statements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Standard Library, Built-in Functions - range, enumerate and zip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Standard Library, sys - sys.exit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Standard Library, Built-in Exceptions - KeyboardInterrupt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Tutorial, 5. Data Structures - Looping Techniques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PEP 572 - Assignment Expressions (Angelico, Peters and van Rossum, 2018; Python 3.8)</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PEP 618 - Add Optional Length-Checking To zip (Bucher, 2020; Python 3.10)</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PEP 765 - Disallow return/break/continue that exit a finally block (Katriel and Coghlan, 2024; Python 3.14)</a:t>
            </a:r>
            <a:endParaRPr lang="en-US" sz="750" dirty="0"/>
          </a:p>
        </p:txBody>
      </p:sp>
      <p:sp>
        <p:nvSpPr>
          <p:cNvPr id="10" name="Text 8"/>
          <p:cNvSpPr txBox="1"/>
          <p:nvPr/>
        </p:nvSpPr>
        <p:spPr>
          <a:xfrm>
            <a:off x="4663440" y="2066544"/>
            <a:ext cx="4069080" cy="2194560"/>
          </a:xfrm>
          <a:prstGeom prst="rect">
            <a:avLst/>
          </a:prstGeom>
          <a:noFill/>
          <a:ln/>
        </p:spPr>
        <p:txBody>
          <a:bodyPr wrap="square" lIns="0" tIns="0" rIns="0" bIns="0" rtlCol="0" anchor="t"/>
          <a:lstStyle/>
          <a:p>
            <a:pPr indent="0" marL="0">
              <a:buNone/>
            </a:pPr>
            <a:r>
              <a:rPr lang="en-US" sz="750" dirty="0">
                <a:solidFill>
                  <a:srgbClr val="1F2933"/>
                </a:solidFill>
                <a:latin typeface="Calibri" pitchFamily="34" charset="0"/>
                <a:ea typeface="Calibri" pitchFamily="34" charset="-122"/>
                <a:cs typeface="Calibri" pitchFamily="34" charset="-120"/>
              </a:rPr>
              <a:t>· What's New In Python 3.14 - PEP 765: Control flow in finally blocks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PEP 8 - Style Guide for Python Code (van Rossum, Warsaw and Coghlan, 2001)</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Tutorial, 6. Modules - import forms, the module search path, __name__ and dir()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Tutorial, 8. Errors and Exceptions - handling exceptions, try and finally, raising SystemExit and KeyboardInterrupt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Language Reference, 7. Simple statements - break, continue, return and import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Language Reference, 5. The import system - sys.modules and the module search path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Standard Library, random - Generate pseudo-random numbers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The Python Standard Library, Built-in Types - sequence types, ranges, tuples, lists and dictionaries (Python Software Foundation, 2026)</a:t>
            </a:r>
            <a:endParaRPr lang="en-US" sz="750" dirty="0"/>
          </a:p>
          <a:p>
            <a:pPr indent="0" marL="0">
              <a:buNone/>
            </a:pPr>
            <a:r>
              <a:rPr lang="en-US" sz="750" dirty="0">
                <a:solidFill>
                  <a:srgbClr val="1F2933"/>
                </a:solidFill>
                <a:latin typeface="Calibri" pitchFamily="34" charset="0"/>
                <a:ea typeface="Calibri" pitchFamily="34" charset="-122"/>
                <a:cs typeface="Calibri" pitchFamily="34" charset="-120"/>
              </a:rPr>
              <a:t>· Glossary - iterable, iterator, sequence, module, namespace, attribute, hashable, mapping and related terms (Python Software Foundation, 2026)</a:t>
            </a:r>
            <a:endParaRPr lang="en-US" sz="750" dirty="0"/>
          </a:p>
        </p:txBody>
      </p:sp>
      <p:sp>
        <p:nvSpPr>
          <p:cNvPr id="11" name="Text 9"/>
          <p:cNvSpPr txBox="1"/>
          <p:nvPr/>
        </p:nvSpPr>
        <p:spPr>
          <a:xfrm>
            <a:off x="411480" y="4297680"/>
            <a:ext cx="8321040" cy="621792"/>
          </a:xfrm>
          <a:prstGeom prst="rect">
            <a:avLst/>
          </a:prstGeom>
          <a:noFill/>
          <a:ln/>
        </p:spPr>
        <p:txBody>
          <a:bodyPr wrap="square" lIns="0" tIns="0" rIns="0" bIns="0" rtlCol="0" anchor="t"/>
          <a:lstStyle/>
          <a:p>
            <a:pPr indent="0" marL="0">
              <a:buNone/>
            </a:pPr>
            <a:r>
              <a:rPr lang="en-US" sz="950" i="1" dirty="0">
                <a:solidFill>
                  <a:srgbClr val="5B6B7B"/>
                </a:solidFill>
                <a:latin typeface="Calibri" pitchFamily="34" charset="0"/>
                <a:ea typeface="Calibri" pitchFamily="34" charset="-122"/>
                <a:cs typeface="Calibri" pitchFamily="34" charset="-120"/>
              </a:rPr>
              <a:t>18 secondary sources, all recorded as verified in sen0414_ch03_research_v1_1_0.ttl. The chapter's own author-year citations are (Bucher, 2020), (Katriel and Coghlan, 2024), (Python Software Foundation, 2026), (Sweigart, 2025). Slides adapt Automate the Boring Stuff with Python (CC BY-NC-SA); see NOTICE_v1_2.md.</a:t>
            </a:r>
            <a:endParaRPr lang="en-US" sz="9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234440"/>
            <a:ext cx="804672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Chapter 4 — Functions</a:t>
            </a:r>
            <a:endParaRPr lang="en-US" sz="3000" dirty="0"/>
          </a:p>
        </p:txBody>
      </p:sp>
      <p:sp>
        <p:nvSpPr>
          <p:cNvPr id="3" name="Text 1"/>
          <p:cNvSpPr txBox="1"/>
          <p:nvPr/>
        </p:nvSpPr>
        <p:spPr>
          <a:xfrm>
            <a:off x="548640" y="2057400"/>
            <a:ext cx="8046720" cy="640080"/>
          </a:xfrm>
          <a:prstGeom prst="rect">
            <a:avLst/>
          </a:prstGeom>
          <a:noFill/>
          <a:ln/>
        </p:spPr>
        <p:txBody>
          <a:bodyPr wrap="square" lIns="0" tIns="0" rIns="0" bIns="0" rtlCol="0" anchor="t"/>
          <a:lstStyle/>
          <a:p>
            <a:pPr indent="0" marL="0">
              <a:buNone/>
            </a:pPr>
            <a:r>
              <a:rPr lang="en-US" sz="1600" dirty="0">
                <a:solidFill>
                  <a:srgbClr val="FFD43B"/>
                </a:solidFill>
                <a:latin typeface="Calibri" pitchFamily="34" charset="0"/>
                <a:ea typeface="Calibri" pitchFamily="34" charset="-122"/>
                <a:cs typeface="Calibri" pitchFamily="34" charset="-120"/>
              </a:rPr>
              <a:t>Writing your own functions: parameters and arguments, return values, scope, and the exception handling this chapter only touched.</a:t>
            </a:r>
            <a:endParaRPr lang="en-US" sz="1600" dirty="0"/>
          </a:p>
        </p:txBody>
      </p:sp>
      <p:sp>
        <p:nvSpPr>
          <p:cNvPr id="4" name="Text 2"/>
          <p:cNvSpPr txBox="1"/>
          <p:nvPr/>
        </p:nvSpPr>
        <p:spPr>
          <a:xfrm>
            <a:off x="548640" y="2971800"/>
            <a:ext cx="8046720" cy="731520"/>
          </a:xfrm>
          <a:prstGeom prst="rect">
            <a:avLst/>
          </a:prstGeom>
          <a:noFill/>
          <a:ln/>
        </p:spPr>
        <p:txBody>
          <a:bodyPr wrap="square" lIns="0" tIns="0" rIns="0" bIns="0" rtlCol="0" anchor="t"/>
          <a:lstStyle/>
          <a:p>
            <a:pPr indent="0" marL="0">
              <a:buNone/>
            </a:pPr>
            <a:r>
              <a:rPr lang="en-US" sz="1400" dirty="0">
                <a:solidFill>
                  <a:srgbClr val="C9D4E0"/>
                </a:solidFill>
                <a:latin typeface="Calibri" pitchFamily="34" charset="0"/>
                <a:ea typeface="Calibri" pitchFamily="34" charset="-122"/>
                <a:cs typeface="Calibri" pitchFamily="34" charset="-120"/>
              </a:rPr>
              <a:t>Before then: work through the interactive page for chapter 3, write the guessing game from memory, and find one loop in your own code that changes what it is looping over.</a:t>
            </a:r>
            <a:endParaRPr lang="en-US" sz="1400" dirty="0"/>
          </a:p>
        </p:txBody>
      </p:sp>
      <p:sp>
        <p:nvSpPr>
          <p:cNvPr id="5" name="Text 3"/>
          <p:cNvSpPr txBox="1"/>
          <p:nvPr/>
        </p:nvSpPr>
        <p:spPr>
          <a:xfrm>
            <a:off x="548640" y="4069080"/>
            <a:ext cx="8046720" cy="457200"/>
          </a:xfrm>
          <a:prstGeom prst="rect">
            <a:avLst/>
          </a:prstGeom>
          <a:noFill/>
          <a:ln/>
        </p:spPr>
        <p:txBody>
          <a:bodyPr wrap="square" lIns="0" tIns="0" rIns="0" bIns="0" rtlCol="0" anchor="ctr"/>
          <a:lstStyle/>
          <a:p>
            <a:pPr indent="0" marL="0">
              <a:buNone/>
            </a:pPr>
            <a:r>
              <a:rPr lang="en-US" sz="2400" i="1" dirty="0">
                <a:solidFill>
                  <a:srgbClr val="8FA3B8"/>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3 - Loops and Modules</dc:title>
  <dc:subject>Lecture deck built from the chapter 3 corpus and its executed examples</dc:subject>
  <dc:creator>Yusuf Altunel</dc:creator>
  <cp:lastModifiedBy>Yusuf Altunel</cp:lastModifiedBy>
  <cp:revision>1</cp:revision>
  <dcterms:created xsi:type="dcterms:W3CDTF">2026-10-04T19:06:37Z</dcterms:created>
  <dcterms:modified xsi:type="dcterms:W3CDTF">2026-10-04T19:06:37Z</dcterms:modified>
  <cp:version>3.0.0</cp:version>
</cp:coreProperties>
</file>