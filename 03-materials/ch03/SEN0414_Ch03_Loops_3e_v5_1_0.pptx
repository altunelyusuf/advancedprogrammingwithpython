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spam at the test</c:v>
                </c:pt>
              </c:strCache>
            </c:strRef>
          </c:tx>
          <c:spPr>
            <a:solidFill>
              <a:srgbClr val="0E7C86"/>
            </a:solidFill>
          </c:spPr>
          <c:cat>
            <c:strRef>
              <c:f>Sheet1!$A$2:$A$7</c:f>
              <c:strCache>
                <c:ptCount val="6"/>
                <c:pt idx="0">
                  <c:v>t1</c:v>
                </c:pt>
                <c:pt idx="1">
                  <c:v>t2</c:v>
                </c:pt>
                <c:pt idx="2">
                  <c:v>t3</c:v>
                </c:pt>
                <c:pt idx="3">
                  <c:v>t4</c:v>
                </c:pt>
                <c:pt idx="4">
                  <c:v>t5</c:v>
                </c:pt>
                <c:pt idx="5">
                  <c:v>t6</c:v>
                </c:pt>
              </c:strCache>
            </c:strRef>
          </c:cat>
          <c:val>
            <c:numRef>
              <c:f>Sheet1!$B$2:$B$7</c:f>
              <c:numCache>
                <c:formatCode>General</c:formatCode>
                <c:ptCount val="6"/>
                <c:pt idx="0">
                  <c:v>0</c:v>
                </c:pt>
                <c:pt idx="1">
                  <c:v>1</c:v>
                </c:pt>
                <c:pt idx="2">
                  <c:v>2</c:v>
                </c:pt>
                <c:pt idx="3">
                  <c:v>3</c:v>
                </c:pt>
                <c:pt idx="4">
                  <c:v>4</c:v>
                </c:pt>
                <c:pt idx="5">
                  <c:v>5</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running total</c:v>
                </c:pt>
              </c:strCache>
            </c:strRef>
          </c:tx>
          <c:spPr>
            <a:solidFill>
              <a:srgbClr val="0E7C86"/>
            </a:solidFill>
          </c:spPr>
          <c:cat>
            <c:strRef>
              <c:f>Sheet1!$A$2:$A$6</c:f>
              <c:strCache>
                <c:ptCount val="5"/>
                <c:pt idx="0">
                  <c:v>n=20</c:v>
                </c:pt>
                <c:pt idx="1">
                  <c:v>n=40</c:v>
                </c:pt>
                <c:pt idx="2">
                  <c:v>n=60</c:v>
                </c:pt>
                <c:pt idx="3">
                  <c:v>n=80</c:v>
                </c:pt>
                <c:pt idx="4">
                  <c:v>n=100</c:v>
                </c:pt>
              </c:strCache>
            </c:strRef>
          </c:cat>
          <c:val>
            <c:numRef>
              <c:f>Sheet1!$B$2:$B$6</c:f>
              <c:numCache>
                <c:formatCode>General</c:formatCode>
                <c:ptCount val="5"/>
                <c:pt idx="0">
                  <c:v>210</c:v>
                </c:pt>
                <c:pt idx="1">
                  <c:v>820</c:v>
                </c:pt>
                <c:pt idx="2">
                  <c:v>1830</c:v>
                </c:pt>
                <c:pt idx="3">
                  <c:v>3240</c:v>
                </c:pt>
                <c:pt idx="4">
                  <c:v>5050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0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0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characters read</c:v>
                </c:pt>
              </c:strCache>
            </c:strRef>
          </c:tx>
          <c:spPr>
            <a:solidFill>
              <a:srgbClr val="0E7C86"/>
            </a:solidFill>
          </c:spPr>
          <c:cat>
            <c:strRef>
              <c:f>Sheet1!$A$2:$A$6</c:f>
              <c:strCache>
                <c:ptCount val="5"/>
                <c:pt idx="0">
                  <c:v>#1</c:v>
                </c:pt>
                <c:pt idx="1">
                  <c:v>#2</c:v>
                </c:pt>
                <c:pt idx="2">
                  <c:v>#3</c:v>
                </c:pt>
                <c:pt idx="3">
                  <c:v>#4</c:v>
                </c:pt>
                <c:pt idx="4">
                  <c:v>#5</c:v>
                </c:pt>
              </c:strCache>
            </c:strRef>
          </c:cat>
          <c:val>
            <c:numRef>
              <c:f>Sheet1!$B$2:$B$6</c:f>
              <c:numCache>
                <c:formatCode>General</c:formatCode>
                <c:ptCount val="5"/>
                <c:pt idx="0">
                  <c:v>5</c:v>
                </c:pt>
                <c:pt idx="1">
                  <c:v>5</c:v>
                </c:pt>
                <c:pt idx="2">
                  <c:v>5</c:v>
                </c:pt>
                <c:pt idx="3">
                  <c:v>3</c:v>
                </c:pt>
                <c:pt idx="4">
                  <c:v>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after the pass</c:v>
                </c:pt>
              </c:strCache>
            </c:strRef>
          </c:tx>
          <c:spPr>
            <a:solidFill>
              <a:srgbClr val="0E7C86"/>
            </a:solidFill>
          </c:spPr>
          <c:cat>
            <c:strRef>
              <c:f>Sheet1!$A$2:$A$6</c:f>
              <c:strCache>
                <c:ptCount val="5"/>
                <c:pt idx="0">
                  <c:v>i=0</c:v>
                </c:pt>
                <c:pt idx="1">
                  <c:v>i=1</c:v>
                </c:pt>
                <c:pt idx="2">
                  <c:v>i=2</c:v>
                </c:pt>
                <c:pt idx="3">
                  <c:v>i=3</c:v>
                </c:pt>
                <c:pt idx="4">
                  <c:v>i=4</c:v>
                </c:pt>
              </c:strCache>
            </c:strRef>
          </c:cat>
          <c:val>
            <c:numRef>
              <c:f>Sheet1!$B$2:$B$6</c:f>
              <c:numCache>
                <c:formatCode>General</c:formatCode>
                <c:ptCount val="5"/>
                <c:pt idx="0">
                  <c:v>0</c:v>
                </c:pt>
                <c:pt idx="1">
                  <c:v>1</c:v>
                </c:pt>
                <c:pt idx="2">
                  <c:v>3</c:v>
                </c:pt>
                <c:pt idx="3">
                  <c:v>6</c:v>
                </c:pt>
                <c:pt idx="4">
                  <c:v>10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12.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4.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letters in the name</c:v>
                </c:pt>
              </c:strCache>
            </c:strRef>
          </c:tx>
          <c:spPr>
            <a:solidFill>
              <a:srgbClr val="0E7C86"/>
            </a:solidFill>
          </c:spPr>
          <c:cat>
            <c:strRef>
              <c:f>Sheet1!$A$2:$A$4</c:f>
              <c:strCache>
                <c:ptCount val="3"/>
                <c:pt idx="0">
                  <c:v>cat</c:v>
                </c:pt>
                <c:pt idx="1">
                  <c:v>tiger</c:v>
                </c:pt>
                <c:pt idx="2">
                  <c:v>owl</c:v>
                </c:pt>
              </c:strCache>
            </c:strRef>
          </c:cat>
          <c:val>
            <c:numRef>
              <c:f>Sheet1!$B$2:$B$4</c:f>
              <c:numCache>
                <c:formatCode>General</c:formatCode>
                <c:ptCount val="3"/>
                <c:pt idx="0">
                  <c:v>3</c:v>
                </c:pt>
                <c:pt idx="1">
                  <c:v>5</c:v>
                </c:pt>
                <c:pt idx="2">
                  <c:v>3</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age</c:v>
                </c:pt>
              </c:strCache>
            </c:strRef>
          </c:tx>
          <c:spPr>
            <a:solidFill>
              <a:srgbClr val="0E7C86"/>
            </a:solidFill>
          </c:spPr>
          <c:cat>
            <c:strRef>
              <c:f>Sheet1!$A$2:$A$4</c:f>
              <c:strCache>
                <c:ptCount val="3"/>
                <c:pt idx="0">
                  <c:v>owl</c:v>
                </c:pt>
                <c:pt idx="1">
                  <c:v>dog</c:v>
                </c:pt>
                <c:pt idx="2">
                  <c:v>cat</c:v>
                </c:pt>
              </c:strCache>
            </c:strRef>
          </c:cat>
          <c:val>
            <c:numRef>
              <c:f>Sheet1!$B$2:$B$4</c:f>
              <c:numCache>
                <c:formatCode>General</c:formatCode>
                <c:ptCount val="3"/>
                <c:pt idx="0">
                  <c:v>2</c:v>
                </c:pt>
                <c:pt idx="1">
                  <c:v>7</c:v>
                </c:pt>
                <c:pt idx="2">
                  <c:v>4</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9.0"/>
          <c:min val="0.0"/>
        </c:scaling>
        <c:delete val="0"/>
        <c:axPos val="b"/>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3.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score</c:v>
                </c:pt>
              </c:strCache>
            </c:strRef>
          </c:tx>
          <c:spPr>
            <a:solidFill>
              <a:srgbClr val="0E7C86"/>
            </a:solidFill>
          </c:spPr>
          <c:cat>
            <c:strRef>
              <c:f>Sheet1!$A$2:$A$4</c:f>
              <c:strCache>
                <c:ptCount val="3"/>
                <c:pt idx="0">
                  <c:v>ann</c:v>
                </c:pt>
                <c:pt idx="1">
                  <c:v>bo</c:v>
                </c:pt>
                <c:pt idx="2">
                  <c:v>cy</c:v>
                </c:pt>
              </c:strCache>
            </c:strRef>
          </c:cat>
          <c:val>
            <c:numRef>
              <c:f>Sheet1!$B$2:$B$4</c:f>
              <c:numCache>
                <c:formatCode>General</c:formatCode>
                <c:ptCount val="3"/>
                <c:pt idx="0">
                  <c:v>90</c:v>
                </c:pt>
                <c:pt idx="1">
                  <c:v>75</c:v>
                </c:pt>
                <c:pt idx="2">
                  <c:v>82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10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5.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times rolled</c:v>
                </c:pt>
              </c:strCache>
            </c:strRef>
          </c:tx>
          <c:spPr>
            <a:solidFill>
              <a:srgbClr val="0E7C86"/>
            </a:solidFill>
          </c:spPr>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2</c:v>
                </c:pt>
                <c:pt idx="1">
                  <c:v>1</c:v>
                </c:pt>
                <c:pt idx="2">
                  <c:v>1</c:v>
                </c:pt>
                <c:pt idx="3">
                  <c:v>0</c:v>
                </c:pt>
                <c:pt idx="4">
                  <c:v>0</c:v>
                </c:pt>
                <c:pt idx="5">
                  <c:v>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guess</c:v>
                </c:pt>
              </c:strCache>
            </c:strRef>
          </c:tx>
          <c:spPr>
            <a:solidFill>
              <a:srgbClr val="0E7C86"/>
            </a:solidFill>
          </c:spPr>
          <c:cat>
            <c:strRef>
              <c:f>Sheet1!$A$2:$A$5</c:f>
              <c:strCache>
                <c:ptCount val="4"/>
                <c:pt idx="0">
                  <c:v>pass 1</c:v>
                </c:pt>
                <c:pt idx="1">
                  <c:v>pass 2</c:v>
                </c:pt>
                <c:pt idx="2">
                  <c:v>pass 3</c:v>
                </c:pt>
                <c:pt idx="3">
                  <c:v>pass 4</c:v>
                </c:pt>
              </c:strCache>
            </c:strRef>
          </c:cat>
          <c:val>
            <c:numRef>
              <c:f>Sheet1!$B$2:$B$5</c:f>
              <c:numCache>
                <c:formatCode>General</c:formatCode>
                <c:ptCount val="4"/>
                <c:pt idx="0">
                  <c:v>10</c:v>
                </c:pt>
                <c:pt idx="1">
                  <c:v>15</c:v>
                </c:pt>
                <c:pt idx="2">
                  <c:v>12</c:v>
                </c:pt>
                <c:pt idx="3">
                  <c:v>11</c:v>
                </c:pt>
              </c:numCache>
            </c:numRef>
          </c:val>
        </c:ser>
        <c:ser>
          <c:idx val="1"/>
          <c:order val="1"/>
          <c:tx>
            <c:strRef>
              <c:f>Sheet1!$C$1</c:f>
              <c:strCache>
                <c:ptCount val="1"/>
                <c:pt idx="0">
                  <c:v>secret</c:v>
                </c:pt>
              </c:strCache>
            </c:strRef>
          </c:tx>
          <c:spPr>
            <a:solidFill>
              <a:srgbClr val="B7791F"/>
            </a:solidFill>
          </c:spPr>
          <c:cat>
            <c:strRef>
              <c:f>Sheet1!$A$2:$A$5</c:f>
              <c:strCache>
                <c:ptCount val="4"/>
                <c:pt idx="0">
                  <c:v>pass 1</c:v>
                </c:pt>
                <c:pt idx="1">
                  <c:v>pass 2</c:v>
                </c:pt>
                <c:pt idx="2">
                  <c:v>pass 3</c:v>
                </c:pt>
                <c:pt idx="3">
                  <c:v>pass 4</c:v>
                </c:pt>
              </c:strCache>
            </c:strRef>
          </c:cat>
          <c:val>
            <c:numRef>
              <c:f>Sheet1!$C$2:$C$5</c:f>
              <c:numCache>
                <c:formatCode>General</c:formatCode>
                <c:ptCount val="4"/>
                <c:pt idx="0">
                  <c:v>11</c:v>
                </c:pt>
                <c:pt idx="1">
                  <c:v>11</c:v>
                </c:pt>
                <c:pt idx="2">
                  <c:v>11</c:v>
                </c:pt>
                <c:pt idx="3">
                  <c:v>11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2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5.0"/>
      </c:valAx>
    </c:plotArea>
    <c:legend>
      <c:legendPos val="t"/>
      <c:overlay val="0"/>
      <c:txPr>
        <a:bodyPr/>
        <a:lstStyle/>
        <a:p>
          <a:pPr>
            <a:defRPr sz="900"/>
          </a:pPr>
        </a:p>
      </c:txPr>
    </c:legend>
    <c:dispBlanksAs val="gap"/>
  </c:chart>
  <c:txPr>
    <a:bodyPr/>
    <a:lstStyle/>
    <a:p>
      <a:pPr>
        <a:defRPr sz="900">
          <a:solidFill>
            <a:srgbClr val="1F2933"/>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guesses used</c:v>
                </c:pt>
              </c:strCache>
            </c:strRef>
          </c:tx>
          <c:spPr>
            <a:solidFill>
              <a:srgbClr val="0E7C86"/>
            </a:solidFill>
          </c:spPr>
          <c:cat>
            <c:strRef>
              <c:f>Sheet1!$A$2:$A$3</c:f>
              <c:strCache>
                <c:ptCount val="2"/>
                <c:pt idx="0">
                  <c:v>game 1</c:v>
                </c:pt>
                <c:pt idx="1">
                  <c:v>game 2</c:v>
                </c:pt>
              </c:strCache>
            </c:strRef>
          </c:cat>
          <c:val>
            <c:numRef>
              <c:f>Sheet1!$B$2:$B$3</c:f>
              <c:numCache>
                <c:formatCode>General</c:formatCode>
                <c:ptCount val="2"/>
                <c:pt idx="0">
                  <c:v>4</c:v>
                </c:pt>
                <c:pt idx="1">
                  <c:v>6</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rounds</c:v>
                </c:pt>
              </c:strCache>
            </c:strRef>
          </c:tx>
          <c:spPr>
            <a:solidFill>
              <a:srgbClr val="0E7C86"/>
            </a:solidFill>
          </c:spPr>
          <c:cat>
            <c:strRef>
              <c:f>Sheet1!$A$2:$A$4</c:f>
              <c:strCache>
                <c:ptCount val="3"/>
                <c:pt idx="0">
                  <c:v>win</c:v>
                </c:pt>
                <c:pt idx="1">
                  <c:v>lose</c:v>
                </c:pt>
                <c:pt idx="2">
                  <c:v>tie</c:v>
                </c:pt>
              </c:strCache>
            </c:strRef>
          </c:cat>
          <c:val>
            <c:numRef>
              <c:f>Sheet1!$B$2:$B$4</c:f>
              <c:numCache>
                <c:formatCode>General</c:formatCode>
                <c:ptCount val="3"/>
                <c:pt idx="0">
                  <c:v>2</c:v>
                </c:pt>
                <c:pt idx="1">
                  <c:v>2</c:v>
                </c:pt>
                <c:pt idx="2">
                  <c:v>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Sheet1!$A$2:$A$6</c:f>
              <c:strCache>
                <c:ptCount val="5"/>
                <c:pt idx="0">
                  <c:v>Part 1</c:v>
                </c:pt>
                <c:pt idx="1">
                  <c:v>Part 2</c:v>
                </c:pt>
                <c:pt idx="2">
                  <c:v>Part 3</c:v>
                </c:pt>
                <c:pt idx="3">
                  <c:v>Part 4</c:v>
                </c:pt>
                <c:pt idx="4">
                  <c:v>Part 5</c:v>
                </c:pt>
              </c:strCache>
            </c:strRef>
          </c:cat>
          <c:val>
            <c:numRef>
              <c:f>Sheet1!$B$2:$B$6</c:f>
              <c:numCache>
                <c:formatCode>General</c:formatCode>
                <c:ptCount val="5"/>
                <c:pt idx="0">
                  <c:v>5</c:v>
                </c:pt>
                <c:pt idx="1">
                  <c:v>3</c:v>
                </c:pt>
                <c:pt idx="2">
                  <c:v>6</c:v>
                </c:pt>
                <c:pt idx="3">
                  <c:v>4</c:v>
                </c:pt>
                <c:pt idx="4">
                  <c:v>4</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teaches repetition: while, for and range, the containers a loop visits, modules and leaving a program early. Every code slide shows the code, a plain explanation and the run as a table, chart or drawing. The same examples run on the chapter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while loops, for and range, what a for loop visits, modules and leaving early, and two short programs. Each code slide has its place in the chapter-code tab of the page, in this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What decides when a loop repeats and when it stops? And which parts of the book differ in current Python? The answers come back in the summary.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while loop tests first, then runs its block. Watch the test turn False. Break and continue change the flow, and the walrus names a value inside the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washing machine repeats a cycle until the programme ends. A guard decides at every round whether to walk another one. Ask students to add one more everyday loop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comes first. Run the block, come back, test again. Predict how many passes there will be before you read the table. The last test is False, so the block is skipped.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accumulator starts at zero and collects. The chart shows the running total at every twentieth number. Gauss's formula gives the same 5050 without a loop.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Gauss tale has a paper trail back to an 1856 memorial, so call it a legend. The loop and the formula both give 5050. Ask students which one they would trust for a million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True never stops by itself, so break is its exit. The iterator replaces a typing person, so the example runs without a keyboard. Count the passes.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 does not leave the loop; it returns to the test. Even numbers skip the append. Compare the two lists with the picture of the numbers 1 to 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walrus reads and names in one expression, which is what the PEP's own file-reading loop needs. The empty string at the end is False, so the loop stops.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PEP 572 was created in February 2018 and shipped in Python 3.8. Guido stepped down as BDFL on 12 July 2018. Ask students when naming a value inside a test helps readability, and when it hurts.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For takes the items of a sequence one by one. Range describes numbers without storing them, and it stops before the stop value.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postman has a list and visits each house. Range is the list of house numbers, printed on demand. A school year shows why a half-open interval has no overlaps.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needs no counter. The chart shows the total after each pass. After the loop, i still holds 4, because the loop variable is never deleted.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is included, stop is not. Length is stop minus start. A negative step counts down. Two neighbouring ranges leave no gap and no overlap.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Dijkstra's memo EWD831 is dated 11 August 1982. Half-open ranges give lengths as stop minus start and let neighbours meet. Ask: how many items has range(10, 25)?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 stores three numbers and computes the rest on demand. That is why a range of a billion costs nothing. Slicing gives another range.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 loop can visit lists, tuples, dictionaries and strings. Enumerate and zip remove index arithmetic. Under every for sit iter and next.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list changes, a tuple does not, a dictionary looks up by key. Unpacking puts each part of a pair into its own name. The walrus names a value and uses it in one move.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containers are visited in order. The chart shows the length of each pet name. The tuple cannot be changed; the list can.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Items gives pairs, and the loop unpacks each into two names. Values gives the values only. The chart shows the three ages.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Enumerate gives counter and item. Zip gives pairs from two lists. Both remove range(len(...)). The chart shows the scores.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strict, zip drops the extra item silently. With strict it raises a ValueError. This check arrived in Python 3.10. Ask when silent dropping is a bug.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 loop asks for an iterator, then calls next until StopIteration. The diagram shows the two steps. An iterator returns itself; a list does not.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else of a loop runs when no break happened. The first list has an even number, so break fires and else is skipped. The second list has none.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Import opens a module and keeps its names in a namespace. Sys.exit ends a program by raising an exception that carries the exit status.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module is a toolbox with a label. A namespace keeps its names apart from yours. If no shop on the search path has the toolbox, Python says so.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seed fixes the sequence, so everyone sees the same six rolls. The chart counts how often each face came up. A module is an object with a name.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in. Import math keeps the module name; from-import copies one name. The diagram shows the two namespaces. Sqrt alone is not defined.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search path is just a list of folders; the first line shows it. Python visits each folder in turn. Nothing is found, so ModuleNotFoundError names the module.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Sys.exit is the stop button; the exit status tells the caller why. An exception interrupts normal flow. The warning sign is the new Python 3.14 check on finally.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Sys.exit raises SystemExit, so except and finally both see it. The exit status is 3 here; zero means success. The line after sys.exit never runs.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Two short programs from the book, with scripted input so they run on the page. Predict the output, then check it against the run.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programs are small games with a loop of turns. The summary and the practice questions close the chapter. Ask which game students would extend first.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secret is 11. The scripted guesses walk toward it: 10 is low, 15 is high, 12 is high, 11 is right. Break leaves the loop; taken keeps the count.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else on the inner loop is the lose branch. It runs only if break never happened. The chart shows how many guesses each game used.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outcomes, one chain of tests. The diagram shows the two moves and the result. Paper covers rock, so the player wins.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rounds, one accumulator for each outcome. The table lists the rounds. The chart is the final score: two wins, two losses, two ties.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The walrus came in 3.8, strict zip in 3.10. Python 3.14 warns about return, break or continue that leave a finally block. Control-C stops an endless loop.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counts the loop statements and tools of this chapter by what they do.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them on the chapter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then the Python tutorial and reference. The stories link to first-hand sources.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hyperlink" Target="https://en.wikipedia.org/wiki/Carl_Friedrich_Gaus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hyperlink" Target="https://peps.python.org/pep-0572/"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hyperlink" Target="https://en.wikipedia.org/wiki/Edsger_W._Dijkstra"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chart" Target="../charts/char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chart" Target="../charts/char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chart" Target="../charts/char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chart" Target="../charts/char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automatetheboringstuff.com/3e/chapter3.html" TargetMode="External"/><Relationship Id="rId4" Type="http://schemas.openxmlformats.org/officeDocument/2006/relationships/hyperlink" Target="https://docs.python.org/3/tutorial/controlflow.html" TargetMode="External"/><Relationship Id="rId5" Type="http://schemas.openxmlformats.org/officeDocument/2006/relationships/hyperlink" Target="https://docs.python.org/3/reference/compound_stmts.html" TargetMode="External"/><Relationship Id="rId6" Type="http://schemas.openxmlformats.org/officeDocument/2006/relationships/hyperlink" Target="https://docs.python.org/3/library/functions.html" TargetMode="External"/><Relationship Id="rId7" Type="http://schemas.openxmlformats.org/officeDocument/2006/relationships/hyperlink" Target="https://docs.python.org/3/library/sys.html" TargetMode="External"/><Relationship Id="rId8" Type="http://schemas.openxmlformats.org/officeDocument/2006/relationships/hyperlink" Target="https://docs.python.org/3/library/exceptions.html" TargetMode="External"/><Relationship Id="rId9" Type="http://schemas.openxmlformats.org/officeDocument/2006/relationships/hyperlink" Target="https://docs.python.org/3/tutorial/modules.html" TargetMode="External"/><Relationship Id="rId10" Type="http://schemas.openxmlformats.org/officeDocument/2006/relationships/hyperlink" Target="https://docs.python.org/3/glossary.html" TargetMode="External"/><Relationship Id="rId11" Type="http://schemas.openxmlformats.org/officeDocument/2006/relationships/hyperlink" Target="https://peps.python.org/pep-0572/" TargetMode="External"/><Relationship Id="rId12" Type="http://schemas.openxmlformats.org/officeDocument/2006/relationships/hyperlink" Target="https://peps.python.org/pep-0618/" TargetMode="External"/><Relationship Id="rId13" Type="http://schemas.openxmlformats.org/officeDocument/2006/relationships/hyperlink" Target="https://docs.python.org/3/whatsnew/3.14.html" TargetMode="External"/><Relationship Id="rId14" Type="http://schemas.openxmlformats.org/officeDocument/2006/relationships/hyperlink" Target="https://www.cs.utexas.edu/users/EWD/transcriptions/EWD08xx/EWD831.html" TargetMode="External"/><Relationship Id="rId15" Type="http://schemas.openxmlformats.org/officeDocument/2006/relationships/hyperlink" Target="https://pythontutor.com/" TargetMode="External"/><Relationship Id="rId16" Type="http://schemas.openxmlformats.org/officeDocument/2006/relationships/hyperlink" Target="https://www.youtube.com/watch?v=6iF8Xb7Z3wQ"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Loops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3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22</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34</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43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683565"/>
                <a:gridCol w="983973"/>
                <a:gridCol w="1162878"/>
                <a:gridCol w="3399182"/>
              </a:tblGrid>
              <a:tr h="502920">
                <a:tc>
                  <a:txBody>
                    <a:bodyPr wrap="square"/>
                    <a:lstStyle/>
                    <a:p>
                      <a:r>
                        <a:rPr sz="130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00" b="1" i="0">
                          <a:solidFill>
                            <a:srgbClr val="1F2933"/>
                          </a:solidFill>
                          <a:latin typeface="Calibri"/>
                        </a:rPr>
                        <a:t>Repeating with while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4 - 12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while, accumulator, break, continue,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Counting with for and range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13 - 18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for, range, half-open ranges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What a for loop visits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19 - 26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lists, dictionaries, enumerate, zip, iter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Modules and leaving early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27 - 33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import, namespaces, sys.exit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Two short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34 - 39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Guess the Number, Rock, Paper, Scissors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40 - 43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what current Python adds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22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43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What decides when a loop repeats and when it stops, and which statements leave or skip a pass?</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41: the test, break, continue, and else on a loop.</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parts of the book's chapter differ in current Python, and on what source?</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40: the walrus, strict zip and the new warning.</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loop is a test, a block and a way out.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43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Repeating with while</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test is checked before every pass; break and continue change the flow</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while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Repeats a block as long as its test is true.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Accumulator</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variable that collects a total pass by pass.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break and continue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Leave the loop, or jump back to its test.</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Walrus :=</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Names a value inside the test of a loop.</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5560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55600">
                <a:tc>
                  <a:txBody>
                    <a:bodyPr wrap="square"/>
                    <a:lstStyle/>
                    <a:p>
                      <a:r>
                        <a:rPr sz="10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repeating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while: repeat as long as the test is 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An accumulator adds up 1 to 100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Gauss added 1 to 100 without a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while True runs until break leaves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continue skips the rest of one 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assignment expression in a loop test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the walrus operator and PEP 572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43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repeating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loop is a washing-machine cycle: the same steps again and again until the programme ends.</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2926080"/>
                <a:gridCol w="5486400"/>
              </a:tblGrid>
              <a:tr h="310896">
                <a:tc>
                  <a:txBody>
                    <a:bodyPr wrap="square"/>
                    <a:lstStyle/>
                    <a:p>
                      <a:r>
                        <a:rPr sz="115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5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150" b="1" i="0">
                          <a:solidFill>
                            <a:srgbClr val="1F2933"/>
                          </a:solidFill>
                          <a:latin typeface="Calibri"/>
                        </a:rPr>
                        <a:t>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A washing-machine cycle: the same steps again and again until the programme 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150" b="1" i="0">
                          <a:solidFill>
                            <a:srgbClr val="1F2933"/>
                          </a:solidFill>
                          <a:latin typeface="Calibri"/>
                        </a:rPr>
                        <a:t>while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A guard who asks at every round: is the door still open? If yes, walk another round.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150" b="1" i="0">
                          <a:solidFill>
                            <a:srgbClr val="1F2933"/>
                          </a:solidFill>
                          <a:latin typeface="Calibri"/>
                        </a:rPr>
                        <a:t>while Loop Statements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The guard's written rule: keep patrolling as long as the condition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150" b="1" i="0">
                          <a:solidFill>
                            <a:srgbClr val="1F2933"/>
                          </a:solidFill>
                          <a:latin typeface="Calibri"/>
                        </a:rPr>
                        <a:t>Iteration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One lap on a running track; the loop is the whole race.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150" b="1" i="0">
                          <a:solidFill>
                            <a:srgbClr val="1F2933"/>
                          </a:solidFill>
                          <a:latin typeface="Calibri"/>
                        </a:rPr>
                        <a:t>Loop variable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The lap counter on the stadium board: it changes every lap and keeps the last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150" b="1" i="0">
                          <a:solidFill>
                            <a:srgbClr val="1F2933"/>
                          </a:solidFill>
                          <a:latin typeface="Calibri"/>
                        </a:rPr>
                        <a:t>Accumulator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A piggy bank: every pass drops one more coin into the same jar.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150" b="1" i="0">
                          <a:solidFill>
                            <a:srgbClr val="1F2933"/>
                          </a:solidFill>
                          <a:latin typeface="Calibri"/>
                        </a:rPr>
                        <a:t>Early 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A fire exit: you may leave the hall before the show is over.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150" b="1" i="0">
                          <a:solidFill>
                            <a:srgbClr val="1F2933"/>
                          </a:solidFill>
                          <a:latin typeface="Calibri"/>
                        </a:rPr>
                        <a:t>break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The emergency brake of a train: everything stops 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150" b="1" i="0">
                          <a:solidFill>
                            <a:srgbClr val="1F2933"/>
                          </a:solidFill>
                          <a:latin typeface="Calibri"/>
                        </a:rPr>
                        <a:t>continue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Skipping a song: the playlist goes on with the next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while: repeat as long as the test is true</a:t>
            </a:r>
          </a:p>
        </p:txBody>
      </p:sp>
      <p:sp>
        <p:nvSpPr>
          <p:cNvPr id="4" name="code"/>
          <p:cNvSpPr/>
          <p:nvPr/>
        </p:nvSpPr>
        <p:spPr>
          <a:xfrm>
            <a:off x="365760" y="841248"/>
            <a:ext cx="513664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0</a:t>
            </a:r>
          </a:p>
          <a:p>
            <a:pPr algn="l"/>
            <a:r>
              <a:rPr sz="1050" b="0" i="0">
                <a:solidFill>
                  <a:srgbClr val="8FA3B8"/>
                </a:solidFill>
                <a:latin typeface="Courier New"/>
              </a:rPr>
              <a:t>&gt;&gt;&gt; </a:t>
            </a:r>
            <a:r>
              <a:rPr sz="1050" b="0" i="0">
                <a:solidFill>
                  <a:srgbClr val="C9A0FF"/>
                </a:solidFill>
                <a:latin typeface="Courier New"/>
              </a:rPr>
              <a:t>while</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&lt;</a:t>
            </a:r>
            <a:r>
              <a:rPr sz="1050" b="0" i="0">
                <a:solidFill>
                  <a:srgbClr val="E6EDF3"/>
                </a:solidFill>
                <a:latin typeface="Courier New"/>
              </a:rPr>
              <a:t> </a:t>
            </a:r>
            <a:r>
              <a:rPr sz="1050" b="0" i="0">
                <a:solidFill>
                  <a:srgbClr val="7CC4FF"/>
                </a:solidFill>
                <a:latin typeface="Courier New"/>
              </a:rPr>
              <a:t>5</a:t>
            </a:r>
            <a:r>
              <a:rPr sz="1050" b="0" i="0">
                <a:solidFill>
                  <a:srgbClr val="E6EDF3"/>
                </a:solidFill>
                <a:latin typeface="Courier New"/>
              </a:rPr>
              <a:t>:</a:t>
            </a:r>
          </a:p>
        </p:txBody>
      </p:sp>
      <p:sp>
        <p:nvSpPr>
          <p:cNvPr id="5" name="explanation"/>
          <p:cNvSpPr txBox="1"/>
          <p:nvPr/>
        </p:nvSpPr>
        <p:spPr>
          <a:xfrm>
            <a:off x="5484114" y="841248"/>
            <a:ext cx="3294125" cy="699516"/>
          </a:xfrm>
          <a:prstGeom prst="rect">
            <a:avLst/>
          </a:prstGeom>
          <a:noFill/>
        </p:spPr>
        <p:txBody>
          <a:bodyPr wrap="square" lIns="128016" rIns="128016" tIns="18288" bIns="18288" anchor="ctr">
            <a:spAutoFit/>
          </a:bodyPr>
          <a:lstStyle/>
          <a:p>
            <a:r>
              <a:rPr sz="1200" b="0" i="0">
                <a:solidFill>
                  <a:srgbClr val="1F2933"/>
                </a:solidFill>
                <a:latin typeface="Calibri"/>
              </a:rPr>
              <a:t>spam starts at 0. The while statement tests spam &lt; 5 before every pass through its block.</a:t>
            </a:r>
          </a:p>
        </p:txBody>
      </p:sp>
      <p:sp>
        <p:nvSpPr>
          <p:cNvPr id="6" name="code"/>
          <p:cNvSpPr/>
          <p:nvPr/>
        </p:nvSpPr>
        <p:spPr>
          <a:xfrm>
            <a:off x="365760" y="1595628"/>
            <a:ext cx="513664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'pass'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'spam &lt; 5 is'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&lt;</a:t>
            </a:r>
            <a:r>
              <a:rPr sz="1050" b="0" i="0">
                <a:solidFill>
                  <a:srgbClr val="E6EDF3"/>
                </a:solidFill>
                <a:latin typeface="Courier New"/>
              </a:rPr>
              <a:t> </a:t>
            </a:r>
            <a:r>
              <a:rPr sz="1050" b="0" i="0">
                <a:solidFill>
                  <a:srgbClr val="7CC4FF"/>
                </a:solidFill>
                <a:latin typeface="Courier New"/>
              </a:rPr>
              <a:t>5</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a:t>
            </a:r>
          </a:p>
        </p:txBody>
      </p:sp>
      <p:sp>
        <p:nvSpPr>
          <p:cNvPr id="7" name="explanation"/>
          <p:cNvSpPr txBox="1"/>
          <p:nvPr/>
        </p:nvSpPr>
        <p:spPr>
          <a:xfrm>
            <a:off x="5484114" y="1595628"/>
            <a:ext cx="3294125" cy="699516"/>
          </a:xfrm>
          <a:prstGeom prst="rect">
            <a:avLst/>
          </a:prstGeom>
          <a:noFill/>
        </p:spPr>
        <p:txBody>
          <a:bodyPr wrap="square" lIns="128016" rIns="128016" tIns="18288" bIns="18288" anchor="ctr">
            <a:spAutoFit/>
          </a:bodyPr>
          <a:lstStyle/>
          <a:p>
            <a:r>
              <a:rPr sz="1200" b="0" i="0">
                <a:solidFill>
                  <a:srgbClr val="1F2933"/>
                </a:solidFill>
                <a:latin typeface="Calibri"/>
              </a:rPr>
              <a:t>The indented lines are the block. It prints the pass and adds 1; without the second line the loop never stops.</a:t>
            </a:r>
          </a:p>
        </p:txBody>
      </p:sp>
      <p:sp>
        <p:nvSpPr>
          <p:cNvPr id="8" name="code"/>
          <p:cNvSpPr/>
          <p:nvPr/>
        </p:nvSpPr>
        <p:spPr>
          <a:xfrm>
            <a:off x="365760" y="2350008"/>
            <a:ext cx="513664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'stop: spam is'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'and spam &lt; 5 is'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&lt;</a:t>
            </a:r>
            <a:r>
              <a:rPr sz="1050" b="0" i="0">
                <a:solidFill>
                  <a:srgbClr val="E6EDF3"/>
                </a:solidFill>
                <a:latin typeface="Courier New"/>
              </a:rPr>
              <a:t> </a:t>
            </a:r>
            <a:r>
              <a:rPr sz="1050" b="0" i="0">
                <a:solidFill>
                  <a:srgbClr val="7CC4FF"/>
                </a:solidFill>
                <a:latin typeface="Courier New"/>
              </a:rPr>
              <a:t>5</a:t>
            </a:r>
            <a:r>
              <a:rPr sz="1050" b="0" i="0">
                <a:solidFill>
                  <a:srgbClr val="E6EDF3"/>
                </a:solidFill>
                <a:latin typeface="Courier New"/>
              </a:rPr>
              <a:t>)</a:t>
            </a:r>
          </a:p>
        </p:txBody>
      </p:sp>
      <p:sp>
        <p:nvSpPr>
          <p:cNvPr id="9" name="explanation"/>
          <p:cNvSpPr txBox="1"/>
          <p:nvPr/>
        </p:nvSpPr>
        <p:spPr>
          <a:xfrm>
            <a:off x="5484114" y="2350008"/>
            <a:ext cx="3294125" cy="509016"/>
          </a:xfrm>
          <a:prstGeom prst="rect">
            <a:avLst/>
          </a:prstGeom>
          <a:noFill/>
        </p:spPr>
        <p:txBody>
          <a:bodyPr wrap="square" lIns="128016" rIns="128016" tIns="18288" bIns="18288" anchor="ctr">
            <a:spAutoFit/>
          </a:bodyPr>
          <a:lstStyle/>
          <a:p>
            <a:r>
              <a:rPr sz="1200" b="0" i="0">
                <a:solidFill>
                  <a:srgbClr val="1F2933"/>
                </a:solidFill>
                <a:latin typeface="Calibri"/>
              </a:rPr>
              <a:t>When the test turns False, Python skips the block and goes on below it.</a:t>
            </a:r>
          </a:p>
        </p:txBody>
      </p:sp>
      <p:sp>
        <p:nvSpPr>
          <p:cNvPr id="10" name="result label"/>
          <p:cNvSpPr txBox="1"/>
          <p:nvPr/>
        </p:nvSpPr>
        <p:spPr>
          <a:xfrm>
            <a:off x="365760" y="29321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06496"/>
          <a:ext cx="5047486" cy="1402079"/>
        </p:xfrm>
        <a:graphic>
          <a:graphicData uri="http://schemas.openxmlformats.org/drawingml/2006/table">
            <a:tbl>
              <a:tblPr firstRow="0" bandRow="0"/>
              <a:tblGrid>
                <a:gridCol w="841247"/>
                <a:gridCol w="841247"/>
                <a:gridCol w="1261872"/>
                <a:gridCol w="2103120"/>
              </a:tblGrid>
              <a:tr h="200297">
                <a:tc>
                  <a:txBody>
                    <a:bodyPr wrap="square"/>
                    <a:lstStyle/>
                    <a:p>
                      <a:pPr algn="ctr"/>
                      <a:r>
                        <a:rPr sz="1000" b="1" i="0">
                          <a:solidFill>
                            <a:srgbClr val="FFFFFF"/>
                          </a:solidFill>
                          <a:latin typeface="Calibri"/>
                        </a:rPr>
                        <a:t>Test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spam &lt; 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Block runs?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00297">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00297">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00297">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00297">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00297">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00297">
                <a:tc>
                  <a:txBody>
                    <a:bodyPr wrap="square"/>
                    <a:lstStyle/>
                    <a:p>
                      <a:pPr algn="ctr"/>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 the loop 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2" name="chart"/>
          <p:cNvGraphicFramePr>
            <a:graphicFrameLocks noGrp="1"/>
          </p:cNvGraphicFramePr>
          <p:nvPr/>
        </p:nvGraphicFramePr>
        <p:xfrm>
          <a:off x="5749747" y="3206496"/>
          <a:ext cx="3028492" cy="1402080"/>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test comes first; the block runs while it is True.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An accumulator adds up 1 to 100</a:t>
            </a:r>
          </a:p>
        </p:txBody>
      </p:sp>
      <p:sp>
        <p:nvSpPr>
          <p:cNvPr id="4" name="code"/>
          <p:cNvSpPr/>
          <p:nvPr/>
        </p:nvSpPr>
        <p:spPr>
          <a:xfrm>
            <a:off x="365760" y="841248"/>
            <a:ext cx="3822191" cy="5547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total</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steps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while</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&lt;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100</a:t>
            </a:r>
            <a:r>
              <a:rPr sz="1200" b="0" i="0">
                <a:solidFill>
                  <a:srgbClr val="E6EDF3"/>
                </a:solidFill>
                <a:latin typeface="Courier New"/>
              </a:rPr>
              <a:t>:</a:t>
            </a:r>
          </a:p>
        </p:txBody>
      </p:sp>
      <p:sp>
        <p:nvSpPr>
          <p:cNvPr id="5" name="explanation"/>
          <p:cNvSpPr txBox="1"/>
          <p:nvPr/>
        </p:nvSpPr>
        <p:spPr>
          <a:xfrm>
            <a:off x="4169663" y="841248"/>
            <a:ext cx="4608576" cy="554736"/>
          </a:xfrm>
          <a:prstGeom prst="rect">
            <a:avLst/>
          </a:prstGeom>
          <a:noFill/>
        </p:spPr>
        <p:txBody>
          <a:bodyPr wrap="square" lIns="128016" rIns="128016" tIns="18288" bIns="18288" anchor="ctr">
            <a:spAutoFit/>
          </a:bodyPr>
          <a:lstStyle/>
          <a:p>
            <a:r>
              <a:rPr sz="1250" b="0" i="0">
                <a:solidFill>
                  <a:srgbClr val="1F2933"/>
                </a:solidFill>
                <a:latin typeface="Calibri"/>
              </a:rPr>
              <a:t>total is the accumulator: it starts at 0 and collects a little at every pass. n counts from 1 to 100.</a:t>
            </a:r>
          </a:p>
        </p:txBody>
      </p:sp>
      <p:sp>
        <p:nvSpPr>
          <p:cNvPr id="6" name="code"/>
          <p:cNvSpPr/>
          <p:nvPr/>
        </p:nvSpPr>
        <p:spPr>
          <a:xfrm>
            <a:off x="365760" y="1450848"/>
            <a:ext cx="3822191" cy="92659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total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total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20</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0</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steps</a:t>
            </a:r>
            <a:r>
              <a:rPr sz="1200" b="0" i="0">
                <a:solidFill>
                  <a:srgbClr val="E6EDF3"/>
                </a:solidFill>
                <a:latin typeface="Courier New"/>
              </a:rPr>
              <a:t>.</a:t>
            </a:r>
            <a:r>
              <a:rPr sz="1200" b="0" i="0">
                <a:solidFill>
                  <a:srgbClr val="E6EDF3"/>
                </a:solidFill>
                <a:latin typeface="Courier New"/>
              </a:rPr>
              <a:t>append</a:t>
            </a:r>
            <a:r>
              <a:rPr sz="1200" b="0" i="0">
                <a:solidFill>
                  <a:srgbClr val="E6EDF3"/>
                </a:solidFill>
                <a:latin typeface="Courier New"/>
              </a:rPr>
              <a:t>(</a:t>
            </a:r>
            <a:r>
              <a:rPr sz="1200" b="0" i="0">
                <a:solidFill>
                  <a:srgbClr val="E6EDF3"/>
                </a:solidFill>
                <a:latin typeface="Courier New"/>
              </a:rPr>
              <a:t>total</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p>
        </p:txBody>
      </p:sp>
      <p:sp>
        <p:nvSpPr>
          <p:cNvPr id="7" name="explanation"/>
          <p:cNvSpPr txBox="1"/>
          <p:nvPr/>
        </p:nvSpPr>
        <p:spPr>
          <a:xfrm>
            <a:off x="4169663" y="1450848"/>
            <a:ext cx="4608576" cy="926592"/>
          </a:xfrm>
          <a:prstGeom prst="rect">
            <a:avLst/>
          </a:prstGeom>
          <a:noFill/>
        </p:spPr>
        <p:txBody>
          <a:bodyPr wrap="square" lIns="128016" rIns="128016" tIns="18288" bIns="18288" anchor="ctr">
            <a:spAutoFit/>
          </a:bodyPr>
          <a:lstStyle/>
          <a:p>
            <a:r>
              <a:rPr sz="1250" b="0" i="0">
                <a:solidFill>
                  <a:srgbClr val="1F2933"/>
                </a:solidFill>
                <a:latin typeface="Calibri"/>
              </a:rPr>
              <a:t>Every pass adds n to total. After every twentieth number the program keeps a snapshot of the running total.</a:t>
            </a:r>
          </a:p>
        </p:txBody>
      </p:sp>
      <p:sp>
        <p:nvSpPr>
          <p:cNvPr id="8" name="code"/>
          <p:cNvSpPr/>
          <p:nvPr/>
        </p:nvSpPr>
        <p:spPr>
          <a:xfrm>
            <a:off x="365760" y="2432304"/>
            <a:ext cx="3822191"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total</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100</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101</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steps</a:t>
            </a:r>
            <a:r>
              <a:rPr sz="1200" b="0" i="0">
                <a:solidFill>
                  <a:srgbClr val="E6EDF3"/>
                </a:solidFill>
                <a:latin typeface="Courier New"/>
              </a:rPr>
              <a:t>)</a:t>
            </a:r>
          </a:p>
        </p:txBody>
      </p:sp>
      <p:sp>
        <p:nvSpPr>
          <p:cNvPr id="9" name="explanation"/>
          <p:cNvSpPr txBox="1"/>
          <p:nvPr/>
        </p:nvSpPr>
        <p:spPr>
          <a:xfrm>
            <a:off x="4169663" y="2432304"/>
            <a:ext cx="4608576" cy="524891"/>
          </a:xfrm>
          <a:prstGeom prst="rect">
            <a:avLst/>
          </a:prstGeom>
          <a:noFill/>
        </p:spPr>
        <p:txBody>
          <a:bodyPr wrap="square" lIns="128016" rIns="128016" tIns="18288" bIns="18288" anchor="ctr">
            <a:spAutoFit/>
          </a:bodyPr>
          <a:lstStyle/>
          <a:p>
            <a:r>
              <a:rPr sz="1250" b="0" i="0">
                <a:solidFill>
                  <a:srgbClr val="1F2933"/>
                </a:solidFill>
                <a:latin typeface="Calibri"/>
              </a:rPr>
              <a:t>The second number is Gauss's formula n(n+1)/2. The loop and the formula agree.</a:t>
            </a:r>
          </a:p>
        </p:txBody>
      </p:sp>
      <p:sp>
        <p:nvSpPr>
          <p:cNvPr id="10" name="result label"/>
          <p:cNvSpPr txBox="1"/>
          <p:nvPr/>
        </p:nvSpPr>
        <p:spPr>
          <a:xfrm>
            <a:off x="365760" y="303034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04667"/>
          <a:ext cx="4879236" cy="1303908"/>
        </p:xfrm>
        <a:graphic>
          <a:graphicData uri="http://schemas.openxmlformats.org/drawingml/2006/table">
            <a:tbl>
              <a:tblPr firstRow="0" bandRow="0"/>
              <a:tblGrid>
                <a:gridCol w="1171017"/>
                <a:gridCol w="1463771"/>
                <a:gridCol w="1268601"/>
                <a:gridCol w="975847"/>
              </a:tblGrid>
              <a:tr h="217318">
                <a:tc>
                  <a:txBody>
                    <a:bodyPr wrap="square"/>
                    <a:lstStyle/>
                    <a:p>
                      <a:pPr algn="ctr"/>
                      <a:r>
                        <a:rPr sz="1000" b="1" i="0">
                          <a:solidFill>
                            <a:srgbClr val="FFFFFF"/>
                          </a:solidFill>
                          <a:latin typeface="Calibri"/>
                        </a:rPr>
                        <a:t>After n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Running total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n(n+1)/2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Equal?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7318">
                <a:tc>
                  <a:txBody>
                    <a:bodyPr wrap="square"/>
                    <a:lstStyle/>
                    <a:p>
                      <a:pPr algn="ctr"/>
                      <a:r>
                        <a:rPr sz="1000" b="0" i="0">
                          <a:solidFill>
                            <a:srgbClr val="1F2933"/>
                          </a:solidFill>
                          <a:latin typeface="Courier New"/>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210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210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7318">
                <a:tc>
                  <a:txBody>
                    <a:bodyPr wrap="square"/>
                    <a:lstStyle/>
                    <a:p>
                      <a:pPr algn="ctr"/>
                      <a:r>
                        <a:rPr sz="1000" b="0" i="0">
                          <a:solidFill>
                            <a:srgbClr val="1F2933"/>
                          </a:solidFill>
                          <a:latin typeface="Courier New"/>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820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820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7318">
                <a:tc>
                  <a:txBody>
                    <a:bodyPr wrap="square"/>
                    <a:lstStyle/>
                    <a:p>
                      <a:pPr algn="ctr"/>
                      <a:r>
                        <a:rPr sz="1000" b="0" i="0">
                          <a:solidFill>
                            <a:srgbClr val="1F2933"/>
                          </a:solidFill>
                          <a:latin typeface="Courier New"/>
                        </a:rPr>
                        <a:t>60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1830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1830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7318">
                <a:tc>
                  <a:txBody>
                    <a:bodyPr wrap="square"/>
                    <a:lstStyle/>
                    <a:p>
                      <a:pPr algn="ctr"/>
                      <a:r>
                        <a:rPr sz="1000" b="0" i="0">
                          <a:solidFill>
                            <a:srgbClr val="1F2933"/>
                          </a:solidFill>
                          <a:latin typeface="Courier New"/>
                        </a:rPr>
                        <a:t>80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3240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3240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7318">
                <a:tc>
                  <a:txBody>
                    <a:bodyPr wrap="square"/>
                    <a:lstStyle/>
                    <a:p>
                      <a:pPr algn="ctr"/>
                      <a:r>
                        <a:rPr sz="1000" b="0" i="0">
                          <a:solidFill>
                            <a:srgbClr val="1F2933"/>
                          </a:solidFill>
                          <a:latin typeface="Courier New"/>
                        </a:rPr>
                        <a:t>100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5050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5050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2" name="chart"/>
          <p:cNvGraphicFramePr>
            <a:graphicFrameLocks noGrp="1"/>
          </p:cNvGraphicFramePr>
          <p:nvPr/>
        </p:nvGraphicFramePr>
        <p:xfrm>
          <a:off x="5581497" y="3304667"/>
          <a:ext cx="3196742" cy="1303909"/>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Start at zero, add at every pass, read the total at the end.</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Gauss added 1 to 100 without a loop</a:t>
            </a:r>
          </a:p>
        </p:txBody>
      </p:sp>
      <p:pic>
        <p:nvPicPr>
          <p:cNvPr id="4" name="photo gauss" descr="Picture for the story: Gauss added 1 to 100 without a loop"/>
          <p:cNvPicPr>
            <a:picLocks noChangeAspect="1"/>
          </p:cNvPicPr>
          <p:nvPr/>
        </p:nvPicPr>
        <p:blipFill>
          <a:blip r:embed="rId3"/>
          <a:stretch>
            <a:fillRect/>
          </a:stretch>
        </p:blipFill>
        <p:spPr>
          <a:xfrm>
            <a:off x="543219" y="868679"/>
            <a:ext cx="2296841"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Carl Friedrich Gauss, portrait by Christian Albrecht Jensen, 1840. Public domain, Wikimedia Commons.</a:t>
            </a:r>
          </a:p>
        </p:txBody>
      </p:sp>
      <p:sp>
        <p:nvSpPr>
          <p:cNvPr id="6" name="card"/>
          <p:cNvSpPr/>
          <p:nvPr/>
        </p:nvSpPr>
        <p:spPr>
          <a:xfrm>
            <a:off x="3200400" y="841248"/>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Carl Friedrich Gauss, a schoolboy in Brunswick, Germany, as the legend tells it.</a:t>
            </a:r>
          </a:p>
        </p:txBody>
      </p:sp>
      <p:sp>
        <p:nvSpPr>
          <p:cNvPr id="8" name="card"/>
          <p:cNvSpPr/>
          <p:nvPr/>
        </p:nvSpPr>
        <p:spPr>
          <a:xfrm>
            <a:off x="3200400" y="1417319"/>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17319"/>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He added 1 to 100 as fifty pairs of 101 and answered 5050 at once, without counting.</a:t>
            </a:r>
          </a:p>
        </p:txBody>
      </p:sp>
      <p:sp>
        <p:nvSpPr>
          <p:cNvPr id="10" name="card"/>
          <p:cNvSpPr/>
          <p:nvPr/>
        </p:nvSpPr>
        <p:spPr>
          <a:xfrm>
            <a:off x="3200400" y="1993391"/>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93391"/>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The tale is set in the 1780s; its oldest print is a memorial of 1856, so it is a traced legend.</a:t>
            </a:r>
          </a:p>
        </p:txBody>
      </p:sp>
      <p:sp>
        <p:nvSpPr>
          <p:cNvPr id="12" name="card"/>
          <p:cNvSpPr/>
          <p:nvPr/>
        </p:nvSpPr>
        <p:spPr>
          <a:xfrm>
            <a:off x="3200400" y="2569463"/>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69463"/>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 school in Brunswick; the trail of printed versions was collected by Brian Hayes, American Scientist, 2006.</a:t>
            </a:r>
          </a:p>
        </p:txBody>
      </p:sp>
      <p:sp>
        <p:nvSpPr>
          <p:cNvPr id="14" name="card"/>
          <p:cNvSpPr/>
          <p:nvPr/>
        </p:nvSpPr>
        <p:spPr>
          <a:xfrm>
            <a:off x="3200400" y="3145535"/>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45535"/>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It shows what an accumulator loop does, and that a formula can sometimes replace it.</a:t>
            </a:r>
          </a:p>
        </p:txBody>
      </p:sp>
      <p:sp>
        <p:nvSpPr>
          <p:cNvPr id="16" name="card"/>
          <p:cNvSpPr/>
          <p:nvPr/>
        </p:nvSpPr>
        <p:spPr>
          <a:xfrm>
            <a:off x="3200400" y="3721607"/>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21607"/>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Pair 1 with 100, 2 with 99, and so on: 50 pairs of 101. The slide before prints 100 * 101 // 2.</a:t>
            </a:r>
          </a:p>
        </p:txBody>
      </p:sp>
      <p:sp>
        <p:nvSpPr>
          <p:cNvPr id="18" name="read"/>
          <p:cNvSpPr txBox="1"/>
          <p:nvPr/>
        </p:nvSpPr>
        <p:spPr>
          <a:xfrm>
            <a:off x="3200400" y="4315967"/>
            <a:ext cx="5577840" cy="329184"/>
          </a:xfrm>
          <a:prstGeom prst="rect">
            <a:avLst/>
          </a:prstGeom>
          <a:noFill/>
        </p:spPr>
        <p:txBody>
          <a:bodyPr wrap="square" lIns="45720" rIns="45720" tIns="27432" bIns="27432" anchor="t">
            <a:spAutoFit/>
          </a:bodyPr>
          <a:lstStyle/>
          <a:p>
            <a:r>
              <a:rPr sz="1200" b="1" i="0">
                <a:solidFill>
                  <a:srgbClr val="B7791F"/>
                </a:solidFill>
                <a:latin typeface="Calibri"/>
              </a:rPr>
              <a:t>READ  </a:t>
            </a:r>
            <a:r>
              <a:rPr sz="1200" b="0" i="0">
                <a:solidFill>
                  <a:srgbClr val="0E7C86"/>
                </a:solidFill>
                <a:latin typeface="Calibri"/>
                <a:hlinkClick r:id="rId4"/>
              </a:rPr>
              <a:t>Carl Friedrich Gauss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43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while True runs until break leaves it</a:t>
            </a:r>
          </a:p>
        </p:txBody>
      </p:sp>
      <p:sp>
        <p:nvSpPr>
          <p:cNvPr id="4" name="code"/>
          <p:cNvSpPr/>
          <p:nvPr/>
        </p:nvSpPr>
        <p:spPr>
          <a:xfrm>
            <a:off x="365760" y="841248"/>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answers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iter</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'Al'</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'Alice'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while</a:t>
            </a:r>
            <a:r>
              <a:rPr sz="1000" b="0" i="0">
                <a:solidFill>
                  <a:srgbClr val="E6EDF3"/>
                </a:solidFill>
                <a:latin typeface="Courier New"/>
              </a:rPr>
              <a:t> </a:t>
            </a:r>
            <a:r>
              <a:rPr sz="1000" b="0" i="0">
                <a:solidFill>
                  <a:srgbClr val="C9A0FF"/>
                </a:solidFill>
                <a:latin typeface="Courier New"/>
              </a:rPr>
              <a:t>True</a:t>
            </a:r>
            <a:r>
              <a:rPr sz="1000" b="0" i="0">
                <a:solidFill>
                  <a:srgbClr val="E6EDF3"/>
                </a:solidFill>
                <a:latin typeface="Courier New"/>
              </a:rPr>
              <a:t>:</a:t>
            </a:r>
          </a:p>
        </p:txBody>
      </p:sp>
      <p:sp>
        <p:nvSpPr>
          <p:cNvPr id="5" name="explanation"/>
          <p:cNvSpPr txBox="1"/>
          <p:nvPr/>
        </p:nvSpPr>
        <p:spPr>
          <a:xfrm>
            <a:off x="5861304" y="841248"/>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iter() stands in for a typing person: each next(answers) is one typed answer.</a:t>
            </a:r>
          </a:p>
        </p:txBody>
      </p:sp>
      <p:sp>
        <p:nvSpPr>
          <p:cNvPr id="6" name="code"/>
          <p:cNvSpPr/>
          <p:nvPr/>
        </p:nvSpPr>
        <p:spPr>
          <a:xfrm>
            <a:off x="365760" y="1548003"/>
            <a:ext cx="5513831" cy="4927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next</a:t>
            </a:r>
            <a:r>
              <a:rPr sz="1000" b="0" i="0">
                <a:solidFill>
                  <a:srgbClr val="E6EDF3"/>
                </a:solidFill>
                <a:latin typeface="Courier New"/>
              </a:rPr>
              <a:t>(</a:t>
            </a:r>
            <a:r>
              <a:rPr sz="1000" b="0" i="0">
                <a:solidFill>
                  <a:srgbClr val="E6EDF3"/>
                </a:solidFill>
                <a:latin typeface="Courier New"/>
              </a:rPr>
              <a:t>answers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'typed'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repr</a:t>
            </a:r>
            <a:r>
              <a:rPr sz="1000" b="0" i="0">
                <a:solidFill>
                  <a:srgbClr val="E6EDF3"/>
                </a:solidFill>
                <a:latin typeface="Courier New"/>
              </a:rPr>
              <a:t>(</a:t>
            </a:r>
            <a:r>
              <a:rPr sz="1000" b="0" i="0">
                <a:solidFill>
                  <a:srgbClr val="E6EDF3"/>
                </a:solidFill>
                <a:latin typeface="Courier New"/>
              </a:rPr>
              <a:t>name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 is it Alice?'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'Alice'</a:t>
            </a:r>
            <a:r>
              <a:rPr sz="1000" b="0" i="0">
                <a:solidFill>
                  <a:srgbClr val="E6EDF3"/>
                </a:solidFill>
                <a:latin typeface="Courier New"/>
              </a:rPr>
              <a:t>)</a:t>
            </a:r>
          </a:p>
        </p:txBody>
      </p:sp>
      <p:sp>
        <p:nvSpPr>
          <p:cNvPr id="7" name="explanation"/>
          <p:cNvSpPr txBox="1"/>
          <p:nvPr/>
        </p:nvSpPr>
        <p:spPr>
          <a:xfrm>
            <a:off x="5861304" y="1548003"/>
            <a:ext cx="2916936" cy="492760"/>
          </a:xfrm>
          <a:prstGeom prst="rect">
            <a:avLst/>
          </a:prstGeom>
          <a:noFill/>
        </p:spPr>
        <p:txBody>
          <a:bodyPr wrap="square" lIns="128016" rIns="128016" tIns="18288" bIns="18288" anchor="ctr">
            <a:spAutoFit/>
          </a:bodyPr>
          <a:lstStyle/>
          <a:p>
            <a:r>
              <a:rPr sz="1100" b="0" i="0">
                <a:solidFill>
                  <a:srgbClr val="1F2933"/>
                </a:solidFill>
                <a:latin typeface="Calibri"/>
              </a:rPr>
              <a:t>Each pass reads one answer and prints whether it is the right one.</a:t>
            </a:r>
          </a:p>
        </p:txBody>
      </p:sp>
      <p:sp>
        <p:nvSpPr>
          <p:cNvPr id="8" name="code"/>
          <p:cNvSpPr/>
          <p:nvPr/>
        </p:nvSpPr>
        <p:spPr>
          <a:xfrm>
            <a:off x="365760" y="2095627"/>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'Alice'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break</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'Welcome,'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a:t>
            </a:r>
          </a:p>
        </p:txBody>
      </p:sp>
      <p:sp>
        <p:nvSpPr>
          <p:cNvPr id="9" name="explanation"/>
          <p:cNvSpPr txBox="1"/>
          <p:nvPr/>
        </p:nvSpPr>
        <p:spPr>
          <a:xfrm>
            <a:off x="5861304" y="2095627"/>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break leaves the loop at once, although the test is still True. The program goes on after the block.</a:t>
            </a:r>
          </a:p>
        </p:txBody>
      </p:sp>
      <p:sp>
        <p:nvSpPr>
          <p:cNvPr id="10" name="result label"/>
          <p:cNvSpPr txBox="1"/>
          <p:nvPr/>
        </p:nvSpPr>
        <p:spPr>
          <a:xfrm>
            <a:off x="365760" y="282067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094989"/>
          <a:ext cx="6056984" cy="1097280"/>
        </p:xfrm>
        <a:graphic>
          <a:graphicData uri="http://schemas.openxmlformats.org/drawingml/2006/table">
            <a:tbl>
              <a:tblPr firstRow="0" bandRow="0"/>
              <a:tblGrid>
                <a:gridCol w="757123"/>
                <a:gridCol w="1189765"/>
                <a:gridCol w="1514246"/>
                <a:gridCol w="2595850"/>
              </a:tblGrid>
              <a:tr h="274320">
                <a:tc>
                  <a:txBody>
                    <a:bodyPr wrap="square"/>
                    <a:lstStyle/>
                    <a:p>
                      <a:pPr algn="ctr"/>
                      <a:r>
                        <a:rPr sz="1050" b="1" i="0">
                          <a:solidFill>
                            <a:srgbClr val="FFFFFF"/>
                          </a:solidFill>
                          <a:latin typeface="Calibri"/>
                        </a:rPr>
                        <a:t>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Is it 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the loop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pPr algn="ctr"/>
                      <a:r>
                        <a:rPr sz="10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go round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pPr algn="ctr"/>
                      <a:r>
                        <a:rPr sz="10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go round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pPr algn="ctr"/>
                      <a:r>
                        <a:rPr sz="10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break: leave the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Rounded Rectangle 11"/>
          <p:cNvSpPr/>
          <p:nvPr/>
        </p:nvSpPr>
        <p:spPr>
          <a:xfrm>
            <a:off x="6675120" y="3094989"/>
            <a:ext cx="2103120" cy="310896"/>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Welcome, Alice</a:t>
            </a:r>
          </a:p>
        </p:txBody>
      </p:sp>
      <p:sp>
        <p:nvSpPr>
          <p:cNvPr id="13" name="TextBox 12"/>
          <p:cNvSpPr txBox="1"/>
          <p:nvPr/>
        </p:nvSpPr>
        <p:spPr>
          <a:xfrm>
            <a:off x="6675120" y="3479037"/>
            <a:ext cx="2103120" cy="548640"/>
          </a:xfrm>
          <a:prstGeom prst="rect">
            <a:avLst/>
          </a:prstGeom>
          <a:noFill/>
        </p:spPr>
        <p:txBody>
          <a:bodyPr wrap="square" lIns="45720" rIns="45720" tIns="27432" bIns="27432" anchor="t">
            <a:spAutoFit/>
          </a:bodyPr>
          <a:lstStyle/>
          <a:p>
            <a:r>
              <a:rPr sz="950" b="0" i="1">
                <a:solidFill>
                  <a:srgbClr val="5B6773"/>
                </a:solidFill>
                <a:latin typeface="Calibri"/>
              </a:rPr>
              <a:t>printed after the loop, once break has left it</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while True needs a break to end.</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43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continue skips the rest of one pass</a:t>
            </a:r>
          </a:p>
        </p:txBody>
      </p:sp>
      <p:sp>
        <p:nvSpPr>
          <p:cNvPr id="4" name="code"/>
          <p:cNvSpPr/>
          <p:nvPr/>
        </p:nvSpPr>
        <p:spPr>
          <a:xfrm>
            <a:off x="365760" y="841248"/>
            <a:ext cx="3856481" cy="6709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shown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skipped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0</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while</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 </a:t>
            </a:r>
            <a:r>
              <a:rPr sz="1050" b="0" i="0">
                <a:solidFill>
                  <a:srgbClr val="E6EDF3"/>
                </a:solidFill>
                <a:latin typeface="Courier New"/>
              </a:rPr>
              <a:t>&lt;</a:t>
            </a:r>
            <a:r>
              <a:rPr sz="1050" b="0" i="0">
                <a:solidFill>
                  <a:srgbClr val="E6EDF3"/>
                </a:solidFill>
                <a:latin typeface="Courier New"/>
              </a:rPr>
              <a:t> </a:t>
            </a:r>
            <a:r>
              <a:rPr sz="1050" b="0" i="0">
                <a:solidFill>
                  <a:srgbClr val="7CC4FF"/>
                </a:solidFill>
                <a:latin typeface="Courier New"/>
              </a:rPr>
              <a:t>8</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a:t>
            </a:r>
          </a:p>
        </p:txBody>
      </p:sp>
      <p:sp>
        <p:nvSpPr>
          <p:cNvPr id="5" name="explanation"/>
          <p:cNvSpPr txBox="1"/>
          <p:nvPr/>
        </p:nvSpPr>
        <p:spPr>
          <a:xfrm>
            <a:off x="4203954" y="841248"/>
            <a:ext cx="4574286" cy="670940"/>
          </a:xfrm>
          <a:prstGeom prst="rect">
            <a:avLst/>
          </a:prstGeom>
          <a:noFill/>
        </p:spPr>
        <p:txBody>
          <a:bodyPr wrap="square" lIns="128016" rIns="128016" tIns="18288" bIns="18288" anchor="ctr">
            <a:spAutoFit/>
          </a:bodyPr>
          <a:lstStyle/>
          <a:p>
            <a:r>
              <a:rPr sz="1200" b="0" i="0">
                <a:solidFill>
                  <a:srgbClr val="1F2933"/>
                </a:solidFill>
                <a:latin typeface="Calibri"/>
              </a:rPr>
              <a:t>n counts from 1 to 8. The lists shown and skipped remember what happened to each number.</a:t>
            </a:r>
          </a:p>
        </p:txBody>
      </p:sp>
      <p:sp>
        <p:nvSpPr>
          <p:cNvPr id="6" name="code"/>
          <p:cNvSpPr/>
          <p:nvPr/>
        </p:nvSpPr>
        <p:spPr>
          <a:xfrm>
            <a:off x="365760" y="1567053"/>
            <a:ext cx="385648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if</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2</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0</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skipped</a:t>
            </a:r>
            <a:r>
              <a:rPr sz="1050" b="0" i="0">
                <a:solidFill>
                  <a:srgbClr val="E6EDF3"/>
                </a:solidFill>
                <a:latin typeface="Courier New"/>
              </a:rPr>
              <a:t>.</a:t>
            </a:r>
            <a:r>
              <a:rPr sz="1050" b="0" i="0">
                <a:solidFill>
                  <a:srgbClr val="E6EDF3"/>
                </a:solidFill>
                <a:latin typeface="Courier New"/>
              </a:rPr>
              <a:t>append</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continue</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shown</a:t>
            </a:r>
            <a:r>
              <a:rPr sz="1050" b="0" i="0">
                <a:solidFill>
                  <a:srgbClr val="E6EDF3"/>
                </a:solidFill>
                <a:latin typeface="Courier New"/>
              </a:rPr>
              <a:t>.</a:t>
            </a:r>
            <a:r>
              <a:rPr sz="1050" b="0" i="0">
                <a:solidFill>
                  <a:srgbClr val="E6EDF3"/>
                </a:solidFill>
                <a:latin typeface="Courier New"/>
              </a:rPr>
              <a:t>append</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a:t>
            </a:r>
          </a:p>
        </p:txBody>
      </p:sp>
      <p:sp>
        <p:nvSpPr>
          <p:cNvPr id="7" name="explanation"/>
          <p:cNvSpPr txBox="1"/>
          <p:nvPr/>
        </p:nvSpPr>
        <p:spPr>
          <a:xfrm>
            <a:off x="4203954" y="1567053"/>
            <a:ext cx="4574286" cy="833628"/>
          </a:xfrm>
          <a:prstGeom prst="rect">
            <a:avLst/>
          </a:prstGeom>
          <a:noFill/>
        </p:spPr>
        <p:txBody>
          <a:bodyPr wrap="square" lIns="128016" rIns="128016" tIns="18288" bIns="18288" anchor="ctr">
            <a:spAutoFit/>
          </a:bodyPr>
          <a:lstStyle/>
          <a:p>
            <a:r>
              <a:rPr sz="1200" b="0" i="0">
                <a:solidFill>
                  <a:srgbClr val="1F2933"/>
                </a:solidFill>
                <a:latin typeface="Calibri"/>
              </a:rPr>
              <a:t>For an even n, continue jumps straight back to the while test. The line after it is skipped in that pass.</a:t>
            </a:r>
          </a:p>
        </p:txBody>
      </p:sp>
      <p:sp>
        <p:nvSpPr>
          <p:cNvPr id="8" name="code"/>
          <p:cNvSpPr/>
          <p:nvPr/>
        </p:nvSpPr>
        <p:spPr>
          <a:xfrm>
            <a:off x="365760" y="2455545"/>
            <a:ext cx="385648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'shown'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shown</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'skipped'</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skipped</a:t>
            </a:r>
            <a:r>
              <a:rPr sz="1050" b="0" i="0">
                <a:solidFill>
                  <a:srgbClr val="E6EDF3"/>
                </a:solidFill>
                <a:latin typeface="Courier New"/>
              </a:rPr>
              <a:t>)</a:t>
            </a:r>
          </a:p>
        </p:txBody>
      </p:sp>
      <p:sp>
        <p:nvSpPr>
          <p:cNvPr id="9" name="explanation"/>
          <p:cNvSpPr txBox="1"/>
          <p:nvPr/>
        </p:nvSpPr>
        <p:spPr>
          <a:xfrm>
            <a:off x="4203954" y="2455545"/>
            <a:ext cx="4574286" cy="509016"/>
          </a:xfrm>
          <a:prstGeom prst="rect">
            <a:avLst/>
          </a:prstGeom>
          <a:noFill/>
        </p:spPr>
        <p:txBody>
          <a:bodyPr wrap="square" lIns="128016" rIns="128016" tIns="18288" bIns="18288" anchor="ctr">
            <a:spAutoFit/>
          </a:bodyPr>
          <a:lstStyle/>
          <a:p>
            <a:r>
              <a:rPr sz="1200" b="0" i="0">
                <a:solidFill>
                  <a:srgbClr val="1F2933"/>
                </a:solidFill>
                <a:latin typeface="Calibri"/>
              </a:rPr>
              <a:t>Odd numbers reach the end of the block; even numbers never do.</a:t>
            </a:r>
          </a:p>
        </p:txBody>
      </p:sp>
      <p:sp>
        <p:nvSpPr>
          <p:cNvPr id="10" name="result label"/>
          <p:cNvSpPr txBox="1"/>
          <p:nvPr/>
        </p:nvSpPr>
        <p:spPr>
          <a:xfrm>
            <a:off x="365760" y="303771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57753"/>
            <a:ext cx="43434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1</a:t>
            </a:r>
          </a:p>
        </p:txBody>
      </p:sp>
      <p:sp>
        <p:nvSpPr>
          <p:cNvPr id="12" name="Rounded Rectangle 11"/>
          <p:cNvSpPr/>
          <p:nvPr/>
        </p:nvSpPr>
        <p:spPr>
          <a:xfrm>
            <a:off x="822960" y="3357753"/>
            <a:ext cx="434340"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2</a:t>
            </a:r>
          </a:p>
        </p:txBody>
      </p:sp>
      <p:sp>
        <p:nvSpPr>
          <p:cNvPr id="13" name="Rounded Rectangle 12"/>
          <p:cNvSpPr/>
          <p:nvPr/>
        </p:nvSpPr>
        <p:spPr>
          <a:xfrm>
            <a:off x="1280160" y="3357753"/>
            <a:ext cx="43434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3</a:t>
            </a:r>
          </a:p>
        </p:txBody>
      </p:sp>
      <p:sp>
        <p:nvSpPr>
          <p:cNvPr id="14" name="Rounded Rectangle 13"/>
          <p:cNvSpPr/>
          <p:nvPr/>
        </p:nvSpPr>
        <p:spPr>
          <a:xfrm>
            <a:off x="1737360" y="3357753"/>
            <a:ext cx="434340"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4</a:t>
            </a:r>
          </a:p>
        </p:txBody>
      </p:sp>
      <p:sp>
        <p:nvSpPr>
          <p:cNvPr id="15" name="Rounded Rectangle 14"/>
          <p:cNvSpPr/>
          <p:nvPr/>
        </p:nvSpPr>
        <p:spPr>
          <a:xfrm>
            <a:off x="2194560" y="3357753"/>
            <a:ext cx="43434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5</a:t>
            </a:r>
          </a:p>
        </p:txBody>
      </p:sp>
      <p:sp>
        <p:nvSpPr>
          <p:cNvPr id="16" name="Rounded Rectangle 15"/>
          <p:cNvSpPr/>
          <p:nvPr/>
        </p:nvSpPr>
        <p:spPr>
          <a:xfrm>
            <a:off x="2651760" y="3357753"/>
            <a:ext cx="434340"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6</a:t>
            </a:r>
          </a:p>
        </p:txBody>
      </p:sp>
      <p:sp>
        <p:nvSpPr>
          <p:cNvPr id="17" name="Rounded Rectangle 16"/>
          <p:cNvSpPr/>
          <p:nvPr/>
        </p:nvSpPr>
        <p:spPr>
          <a:xfrm>
            <a:off x="3108960" y="3357753"/>
            <a:ext cx="43434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7</a:t>
            </a:r>
          </a:p>
        </p:txBody>
      </p:sp>
      <p:sp>
        <p:nvSpPr>
          <p:cNvPr id="18" name="Rounded Rectangle 17"/>
          <p:cNvSpPr/>
          <p:nvPr/>
        </p:nvSpPr>
        <p:spPr>
          <a:xfrm>
            <a:off x="3566160" y="3357753"/>
            <a:ext cx="434340"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8</a:t>
            </a:r>
          </a:p>
        </p:txBody>
      </p:sp>
      <p:cxnSp>
        <p:nvCxnSpPr>
          <p:cNvPr id="19" name="arrow"/>
          <p:cNvCxnSpPr/>
          <p:nvPr/>
        </p:nvCxnSpPr>
        <p:spPr>
          <a:xfrm>
            <a:off x="1042415" y="3787521"/>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arrow"/>
          <p:cNvCxnSpPr/>
          <p:nvPr/>
        </p:nvCxnSpPr>
        <p:spPr>
          <a:xfrm>
            <a:off x="1956816" y="3787521"/>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arrow"/>
          <p:cNvCxnSpPr/>
          <p:nvPr/>
        </p:nvCxnSpPr>
        <p:spPr>
          <a:xfrm>
            <a:off x="2871216" y="3787521"/>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arrow"/>
          <p:cNvCxnSpPr/>
          <p:nvPr/>
        </p:nvCxnSpPr>
        <p:spPr>
          <a:xfrm>
            <a:off x="3785616" y="3787521"/>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65760" y="4153281"/>
            <a:ext cx="39319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amber: continue sent the loop back to the test</a:t>
            </a:r>
          </a:p>
        </p:txBody>
      </p:sp>
      <p:sp>
        <p:nvSpPr>
          <p:cNvPr id="24" name="Rounded Rectangle 23"/>
          <p:cNvSpPr/>
          <p:nvPr/>
        </p:nvSpPr>
        <p:spPr>
          <a:xfrm>
            <a:off x="365760" y="4473321"/>
            <a:ext cx="393192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teal: the number reached shown.append</a:t>
            </a:r>
          </a:p>
        </p:txBody>
      </p:sp>
      <p:graphicFrame>
        <p:nvGraphicFramePr>
          <p:cNvPr id="25" name="table"/>
          <p:cNvGraphicFramePr>
            <a:graphicFrameLocks noGrp="1"/>
          </p:cNvGraphicFramePr>
          <p:nvPr/>
        </p:nvGraphicFramePr>
        <p:xfrm>
          <a:off x="4480560" y="3312033"/>
          <a:ext cx="4297679" cy="932688"/>
        </p:xfrm>
        <a:graphic>
          <a:graphicData uri="http://schemas.openxmlformats.org/drawingml/2006/table">
            <a:tbl>
              <a:tblPr firstRow="0" bandRow="0"/>
              <a:tblGrid>
                <a:gridCol w="1048214"/>
                <a:gridCol w="2306072"/>
                <a:gridCol w="943393"/>
              </a:tblGrid>
              <a:tr h="310896">
                <a:tc>
                  <a:txBody>
                    <a:bodyPr wrap="square"/>
                    <a:lstStyle/>
                    <a:p>
                      <a:r>
                        <a:rPr sz="1000" b="1" i="0">
                          <a:solidFill>
                            <a:srgbClr val="FFFFFF"/>
                          </a:solidFill>
                          <a:latin typeface="Calibri"/>
                        </a:rPr>
                        <a:t>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Numbers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How many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00" b="0" i="0">
                          <a:solidFill>
                            <a:srgbClr val="1F2933"/>
                          </a:solidFill>
                          <a:latin typeface="Courier New"/>
                        </a:rPr>
                        <a:t>shown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 3, 5, 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00" b="0" i="0">
                          <a:solidFill>
                            <a:srgbClr val="1F2933"/>
                          </a:solidFill>
                          <a:latin typeface="Courier New"/>
                        </a:rPr>
                        <a:t>skipped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[2, 4, 6, 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continue returns to the test; break leaves the loop.</a:t>
            </a:r>
          </a:p>
        </p:txBody>
      </p:sp>
      <p:sp>
        <p:nvSpPr>
          <p:cNvPr id="2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43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assignment expression in a loop test</a:t>
            </a:r>
          </a:p>
        </p:txBody>
      </p:sp>
      <p:sp>
        <p:nvSpPr>
          <p:cNvPr id="4" name="code"/>
          <p:cNvSpPr/>
          <p:nvPr/>
        </p:nvSpPr>
        <p:spPr>
          <a:xfrm>
            <a:off x="365760" y="841248"/>
            <a:ext cx="462991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import</a:t>
            </a:r>
            <a:r>
              <a:rPr sz="1400" b="0" i="0">
                <a:solidFill>
                  <a:srgbClr val="E6EDF3"/>
                </a:solidFill>
                <a:latin typeface="Courier New"/>
              </a:rPr>
              <a:t> </a:t>
            </a:r>
            <a:r>
              <a:rPr sz="1400" b="0" i="0">
                <a:solidFill>
                  <a:srgbClr val="E6EDF3"/>
                </a:solidFill>
                <a:latin typeface="Courier New"/>
              </a:rPr>
              <a:t>io</a:t>
            </a:r>
          </a:p>
          <a:p>
            <a:pPr algn="l"/>
            <a:r>
              <a:rPr sz="1400" b="0" i="0">
                <a:solidFill>
                  <a:srgbClr val="8FA3B8"/>
                </a:solidFill>
                <a:latin typeface="Courier New"/>
              </a:rPr>
              <a:t>&gt;&gt;&gt; </a:t>
            </a:r>
            <a:r>
              <a:rPr sz="1400" b="0" i="0">
                <a:solidFill>
                  <a:srgbClr val="E6EDF3"/>
                </a:solidFill>
                <a:latin typeface="Courier New"/>
              </a:rPr>
              <a:t>f</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io</a:t>
            </a:r>
            <a:r>
              <a:rPr sz="1400" b="0" i="0">
                <a:solidFill>
                  <a:srgbClr val="E6EDF3"/>
                </a:solidFill>
                <a:latin typeface="Courier New"/>
              </a:rPr>
              <a:t>.</a:t>
            </a:r>
            <a:r>
              <a:rPr sz="1400" b="0" i="0">
                <a:solidFill>
                  <a:srgbClr val="E6EDF3"/>
                </a:solidFill>
                <a:latin typeface="Courier New"/>
              </a:rPr>
              <a:t>StringIO</a:t>
            </a:r>
            <a:r>
              <a:rPr sz="1400" b="0" i="0">
                <a:solidFill>
                  <a:srgbClr val="E6EDF3"/>
                </a:solidFill>
                <a:latin typeface="Courier New"/>
              </a:rPr>
              <a:t>(</a:t>
            </a:r>
            <a:r>
              <a:rPr sz="1400" b="0" i="0">
                <a:solidFill>
                  <a:srgbClr val="9BE3A8"/>
                </a:solidFill>
                <a:latin typeface="Courier New"/>
              </a:rPr>
              <a:t>'Loops repeat work.'</a:t>
            </a:r>
            <a:r>
              <a:rPr sz="1400" b="0" i="0">
                <a:solidFill>
                  <a:srgbClr val="E6EDF3"/>
                </a:solidFill>
                <a:latin typeface="Courier New"/>
              </a:rPr>
              <a:t>)</a:t>
            </a:r>
          </a:p>
        </p:txBody>
      </p:sp>
      <p:sp>
        <p:nvSpPr>
          <p:cNvPr id="5" name="explanation"/>
          <p:cNvSpPr txBox="1"/>
          <p:nvPr/>
        </p:nvSpPr>
        <p:spPr>
          <a:xfrm>
            <a:off x="4977384" y="841248"/>
            <a:ext cx="3800855" cy="723328"/>
          </a:xfrm>
          <a:prstGeom prst="rect">
            <a:avLst/>
          </a:prstGeom>
          <a:noFill/>
        </p:spPr>
        <p:txBody>
          <a:bodyPr wrap="square" lIns="128016" rIns="128016" tIns="18288" bIns="18288" anchor="ctr">
            <a:spAutoFit/>
          </a:bodyPr>
          <a:lstStyle/>
          <a:p>
            <a:r>
              <a:rPr sz="1250" b="0" i="0">
                <a:solidFill>
                  <a:srgbClr val="1F2933"/>
                </a:solidFill>
                <a:latin typeface="Calibri"/>
              </a:rPr>
              <a:t>StringIO makes a file-like object from a text. It plays the part of a file that is read in small pieces.</a:t>
            </a:r>
          </a:p>
        </p:txBody>
      </p:sp>
      <p:sp>
        <p:nvSpPr>
          <p:cNvPr id="6" name="code"/>
          <p:cNvSpPr/>
          <p:nvPr/>
        </p:nvSpPr>
        <p:spPr>
          <a:xfrm>
            <a:off x="365760" y="1619440"/>
            <a:ext cx="462991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while</a:t>
            </a:r>
            <a:r>
              <a:rPr sz="1400" b="0" i="0">
                <a:solidFill>
                  <a:srgbClr val="E6EDF3"/>
                </a:solidFill>
                <a:latin typeface="Courier New"/>
              </a:rPr>
              <a:t> </a:t>
            </a:r>
            <a:r>
              <a:rPr sz="1400" b="0" i="0">
                <a:solidFill>
                  <a:srgbClr val="E6EDF3"/>
                </a:solidFill>
                <a:latin typeface="Courier New"/>
              </a:rPr>
              <a:t>chunk</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f</a:t>
            </a:r>
            <a:r>
              <a:rPr sz="1400" b="0" i="0">
                <a:solidFill>
                  <a:srgbClr val="E6EDF3"/>
                </a:solidFill>
                <a:latin typeface="Courier New"/>
              </a:rPr>
              <a:t>.</a:t>
            </a:r>
            <a:r>
              <a:rPr sz="1400" b="0" i="0">
                <a:solidFill>
                  <a:srgbClr val="E6EDF3"/>
                </a:solidFill>
                <a:latin typeface="Courier New"/>
              </a:rPr>
              <a:t>read</a:t>
            </a:r>
            <a:r>
              <a:rPr sz="1400" b="0" i="0">
                <a:solidFill>
                  <a:srgbClr val="E6EDF3"/>
                </a:solidFill>
                <a:latin typeface="Courier New"/>
              </a:rPr>
              <a:t>(</a:t>
            </a:r>
            <a:r>
              <a:rPr sz="1400" b="0" i="0">
                <a:solidFill>
                  <a:srgbClr val="7CC4FF"/>
                </a:solidFill>
                <a:latin typeface="Courier New"/>
              </a:rPr>
              <a:t>5</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repr</a:t>
            </a:r>
            <a:r>
              <a:rPr sz="1400" b="0" i="0">
                <a:solidFill>
                  <a:srgbClr val="E6EDF3"/>
                </a:solidFill>
                <a:latin typeface="Courier New"/>
              </a:rPr>
              <a:t>(</a:t>
            </a:r>
            <a:r>
              <a:rPr sz="1400" b="0" i="0">
                <a:solidFill>
                  <a:srgbClr val="E6EDF3"/>
                </a:solidFill>
                <a:latin typeface="Courier New"/>
              </a:rPr>
              <a:t>chunk</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4977384" y="1619440"/>
            <a:ext cx="3800855" cy="723328"/>
          </a:xfrm>
          <a:prstGeom prst="rect">
            <a:avLst/>
          </a:prstGeom>
          <a:noFill/>
        </p:spPr>
        <p:txBody>
          <a:bodyPr wrap="square" lIns="128016" rIns="128016" tIns="18288" bIns="18288" anchor="ctr">
            <a:spAutoFit/>
          </a:bodyPr>
          <a:lstStyle/>
          <a:p>
            <a:r>
              <a:rPr sz="1250" b="0" i="0">
                <a:solidFill>
                  <a:srgbClr val="1F2933"/>
                </a:solidFill>
                <a:latin typeface="Calibri"/>
              </a:rPr>
              <a:t>The walrus := reads five characters and names them chunk in one expression. The loop ends when read gives an empty string.</a:t>
            </a:r>
          </a:p>
        </p:txBody>
      </p:sp>
      <p:sp>
        <p:nvSpPr>
          <p:cNvPr id="8" name="code"/>
          <p:cNvSpPr/>
          <p:nvPr/>
        </p:nvSpPr>
        <p:spPr>
          <a:xfrm>
            <a:off x="365760" y="2397633"/>
            <a:ext cx="4629911"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repr</a:t>
            </a:r>
            <a:r>
              <a:rPr sz="1400" b="0" i="0">
                <a:solidFill>
                  <a:srgbClr val="E6EDF3"/>
                </a:solidFill>
                <a:latin typeface="Courier New"/>
              </a:rPr>
              <a:t>(</a:t>
            </a:r>
            <a:r>
              <a:rPr sz="1400" b="0" i="0">
                <a:solidFill>
                  <a:srgbClr val="E6EDF3"/>
                </a:solidFill>
                <a:latin typeface="Courier New"/>
              </a:rPr>
              <a:t>f</a:t>
            </a:r>
            <a:r>
              <a:rPr sz="1400" b="0" i="0">
                <a:solidFill>
                  <a:srgbClr val="E6EDF3"/>
                </a:solidFill>
                <a:latin typeface="Courier New"/>
              </a:rPr>
              <a:t>.</a:t>
            </a:r>
            <a:r>
              <a:rPr sz="1400" b="0" i="0">
                <a:solidFill>
                  <a:srgbClr val="E6EDF3"/>
                </a:solidFill>
                <a:latin typeface="Courier New"/>
              </a:rPr>
              <a:t>read</a:t>
            </a:r>
            <a:r>
              <a:rPr sz="1400" b="0" i="0">
                <a:solidFill>
                  <a:srgbClr val="E6EDF3"/>
                </a:solidFill>
                <a:latin typeface="Courier New"/>
              </a:rPr>
              <a:t>(</a:t>
            </a:r>
            <a:r>
              <a:rPr sz="1400" b="0" i="0">
                <a:solidFill>
                  <a:srgbClr val="7CC4FF"/>
                </a:solidFill>
                <a:latin typeface="Courier New"/>
              </a:rPr>
              <a:t>5</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bool</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9" name="explanation"/>
          <p:cNvSpPr txBox="1"/>
          <p:nvPr/>
        </p:nvSpPr>
        <p:spPr>
          <a:xfrm>
            <a:off x="4977384" y="2397633"/>
            <a:ext cx="3800855" cy="524891"/>
          </a:xfrm>
          <a:prstGeom prst="rect">
            <a:avLst/>
          </a:prstGeom>
          <a:noFill/>
        </p:spPr>
        <p:txBody>
          <a:bodyPr wrap="square" lIns="128016" rIns="128016" tIns="18288" bIns="18288" anchor="ctr">
            <a:spAutoFit/>
          </a:bodyPr>
          <a:lstStyle/>
          <a:p>
            <a:r>
              <a:rPr sz="1250" b="0" i="0">
                <a:solidFill>
                  <a:srgbClr val="1F2933"/>
                </a:solidFill>
                <a:latin typeface="Calibri"/>
              </a:rPr>
              <a:t>At the end of the text read gives '', and an empty string counts as False.</a:t>
            </a:r>
          </a:p>
        </p:txBody>
      </p:sp>
      <p:sp>
        <p:nvSpPr>
          <p:cNvPr id="10" name="result label"/>
          <p:cNvSpPr txBox="1"/>
          <p:nvPr/>
        </p:nvSpPr>
        <p:spPr>
          <a:xfrm>
            <a:off x="365760" y="29956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69996"/>
          <a:ext cx="5383986" cy="1338576"/>
        </p:xfrm>
        <a:graphic>
          <a:graphicData uri="http://schemas.openxmlformats.org/drawingml/2006/table">
            <a:tbl>
              <a:tblPr firstRow="0" bandRow="0"/>
              <a:tblGrid>
                <a:gridCol w="801870"/>
                <a:gridCol w="1260082"/>
                <a:gridCol w="916423"/>
                <a:gridCol w="1374635"/>
                <a:gridCol w="1030976"/>
              </a:tblGrid>
              <a:tr h="223096">
                <a:tc>
                  <a:txBody>
                    <a:bodyPr wrap="square"/>
                    <a:lstStyle/>
                    <a:p>
                      <a:pPr algn="ctr"/>
                      <a:r>
                        <a:rPr sz="1000" b="1" i="0">
                          <a:solidFill>
                            <a:srgbClr val="FFFFFF"/>
                          </a:solidFill>
                          <a:latin typeface="Calibri"/>
                        </a:rPr>
                        <a:t>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chunk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Length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Truth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3096">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'Loops'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goes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3096">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 repe'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goes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3096">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wo'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goes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3096">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goes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3096">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2" name="chart"/>
          <p:cNvGraphicFramePr>
            <a:graphicFrameLocks noGrp="1"/>
          </p:cNvGraphicFramePr>
          <p:nvPr/>
        </p:nvGraphicFramePr>
        <p:xfrm>
          <a:off x="6086246" y="3269996"/>
          <a:ext cx="2691993" cy="1338580"/>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x := value names the value inside the test.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43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walrus operator and PEP 572</a:t>
            </a:r>
          </a:p>
        </p:txBody>
      </p:sp>
      <p:pic>
        <p:nvPicPr>
          <p:cNvPr id="4" name="photo pep572" descr="Picture for the story: the walrus operator and PEP 572"/>
          <p:cNvPicPr>
            <a:picLocks noChangeAspect="1"/>
          </p:cNvPicPr>
          <p:nvPr/>
        </p:nvPicPr>
        <p:blipFill>
          <a:blip r:embed="rId3"/>
          <a:stretch>
            <a:fillRect/>
          </a:stretch>
        </p:blipFill>
        <p:spPr>
          <a:xfrm>
            <a:off x="365760" y="1448145"/>
            <a:ext cx="2651760" cy="1767149"/>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Guido van Rossum, 2014. Photo: Daniel Stroud, CC BY-SA 4.0, Wikimedia Commons.</a:t>
            </a:r>
          </a:p>
        </p:txBody>
      </p:sp>
      <p:sp>
        <p:nvSpPr>
          <p:cNvPr id="6" name="card"/>
          <p:cNvSpPr/>
          <p:nvPr/>
        </p:nvSpPr>
        <p:spPr>
          <a:xfrm>
            <a:off x="3200400" y="841248"/>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Chris Angelico, Tim Peters and Guido van Rossum wrote PEP 572; Guido, Python's creator, decided it.</a:t>
            </a:r>
          </a:p>
        </p:txBody>
      </p:sp>
      <p:sp>
        <p:nvSpPr>
          <p:cNvPr id="8" name="card"/>
          <p:cNvSpPr/>
          <p:nvPr/>
        </p:nvSpPr>
        <p:spPr>
          <a:xfrm>
            <a:off x="3200400" y="1417319"/>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17319"/>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 walrus operator :=, which names a value inside an expression, as in while chunk := f.read(5).</a:t>
            </a:r>
          </a:p>
        </p:txBody>
      </p:sp>
      <p:sp>
        <p:nvSpPr>
          <p:cNvPr id="10" name="card"/>
          <p:cNvSpPr/>
          <p:nvPr/>
        </p:nvSpPr>
        <p:spPr>
          <a:xfrm>
            <a:off x="3200400" y="1993391"/>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93391"/>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The PEP was created on 28 February 2018; the operator arrived in Python 3.8.</a:t>
            </a:r>
          </a:p>
        </p:txBody>
      </p:sp>
      <p:sp>
        <p:nvSpPr>
          <p:cNvPr id="12" name="card"/>
          <p:cNvSpPr/>
          <p:nvPr/>
        </p:nvSpPr>
        <p:spPr>
          <a:xfrm>
            <a:off x="3200400" y="2569463"/>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69463"/>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On the python-dev mailing list and in the PEP at peps.python.org.</a:t>
            </a:r>
          </a:p>
        </p:txBody>
      </p:sp>
      <p:sp>
        <p:nvSpPr>
          <p:cNvPr id="14" name="card"/>
          <p:cNvSpPr/>
          <p:nvPr/>
        </p:nvSpPr>
        <p:spPr>
          <a:xfrm>
            <a:off x="3200400" y="3145535"/>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45535"/>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Reading a file in pieces needed a read and a test on separate lines; := joins them.</a:t>
            </a:r>
          </a:p>
        </p:txBody>
      </p:sp>
      <p:sp>
        <p:nvSpPr>
          <p:cNvPr id="16" name="card"/>
          <p:cNvSpPr/>
          <p:nvPr/>
        </p:nvSpPr>
        <p:spPr>
          <a:xfrm>
            <a:off x="3200400" y="3721607"/>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21607"/>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After the debate Guido accepted it, and on 12 July 2018 he stepped down as Python's 'benevolent dictator for life'.</a:t>
            </a:r>
          </a:p>
        </p:txBody>
      </p:sp>
      <p:sp>
        <p:nvSpPr>
          <p:cNvPr id="18" name="read"/>
          <p:cNvSpPr txBox="1"/>
          <p:nvPr/>
        </p:nvSpPr>
        <p:spPr>
          <a:xfrm>
            <a:off x="3200400" y="4315967"/>
            <a:ext cx="5577840" cy="329184"/>
          </a:xfrm>
          <a:prstGeom prst="rect">
            <a:avLst/>
          </a:prstGeom>
          <a:noFill/>
        </p:spPr>
        <p:txBody>
          <a:bodyPr wrap="square" lIns="45720" rIns="45720" tIns="27432" bIns="27432" anchor="t">
            <a:spAutoFit/>
          </a:bodyPr>
          <a:lstStyle/>
          <a:p>
            <a:r>
              <a:rPr sz="1200" b="1" i="0">
                <a:solidFill>
                  <a:srgbClr val="B7791F"/>
                </a:solidFill>
                <a:latin typeface="Calibri"/>
              </a:rPr>
              <a:t>READ  </a:t>
            </a:r>
            <a:r>
              <a:rPr sz="1200" b="0" i="0">
                <a:solidFill>
                  <a:srgbClr val="0E7C86"/>
                </a:solidFill>
                <a:latin typeface="Calibri"/>
                <a:hlinkClick r:id="rId4"/>
              </a:rPr>
              <a:t>PEP 572, Assignment Expressions (peps.python.org)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43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Counting with for and range</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for loop takes the values one at a time; range describes them</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for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Takes the items of a sequence one at a time.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range()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Describes a row of numbers without storing it.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Half-open interval</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Includes the start and leaves out the stop.</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Loop variable</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Holds the current item and keeps its last value.</a:t>
            </a:r>
          </a:p>
        </p:txBody>
      </p:sp>
      <p:graphicFrame>
        <p:nvGraphicFramePr>
          <p:cNvPr id="13" name="table"/>
          <p:cNvGraphicFramePr>
            <a:graphicFrameLocks noGrp="1"/>
          </p:cNvGraphicFramePr>
          <p:nvPr/>
        </p:nvGraphicFramePr>
        <p:xfrm>
          <a:off x="5303520" y="1417320"/>
          <a:ext cx="3474719" cy="219456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for and range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for: one value of range(5) per 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range(start, stop, 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why range stops before the end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range describes numbers; it does not 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43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for and range</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for loop is a postman with a street list; range prints the house numbers only when he asks.</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2926080"/>
                <a:gridCol w="5486400"/>
              </a:tblGrid>
              <a:tr h="345440">
                <a:tc>
                  <a:txBody>
                    <a:bodyPr wrap="square"/>
                    <a:lstStyle/>
                    <a:p>
                      <a:r>
                        <a:rPr sz="115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5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50" b="1" i="0">
                          <a:solidFill>
                            <a:srgbClr val="1F2933"/>
                          </a:solidFill>
                          <a:latin typeface="Calibri"/>
                        </a:rPr>
                        <a:t>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A postman who visits each house on his list, one after the other.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50" b="1" i="0">
                          <a:solidFill>
                            <a:srgbClr val="1F2933"/>
                          </a:solidFill>
                          <a:latin typeface="Calibri"/>
                        </a:rPr>
                        <a:t>for Loops and the range() Function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The postman's round: a street list, counted by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50" b="1" i="0">
                          <a:solidFill>
                            <a:srgbClr val="1F2933"/>
                          </a:solidFill>
                          <a:latin typeface="Calibri"/>
                        </a:rPr>
                        <a:t>range()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A ticket machine that prints ticket 7 only when someone asks for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50" b="1" i="0">
                          <a:solidFill>
                            <a:srgbClr val="1F2933"/>
                          </a:solidFill>
                          <a:latin typeface="Calibri"/>
                        </a:rPr>
                        <a:t>Half-open interval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A school year: it starts on 1 September and ends the day before the next one begins.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50" b="1" i="0">
                          <a:solidFill>
                            <a:srgbClr val="1F2933"/>
                          </a:solidFill>
                          <a:latin typeface="Calibri"/>
                        </a:rPr>
                        <a:t>Sequence to iterate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The street list the postman works through, house by house.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50" b="1" i="0">
                          <a:solidFill>
                            <a:srgbClr val="1F2933"/>
                          </a:solidFill>
                          <a:latin typeface="Calibri"/>
                        </a:rPr>
                        <a:t>Sequence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A queue at the bakery: every person has a place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50" b="1" i="0">
                          <a:solidFill>
                            <a:srgbClr val="1F2933"/>
                          </a:solidFill>
                          <a:latin typeface="Calibri"/>
                        </a:rPr>
                        <a:t>Iterable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A deck of cards: you can deal from it as often as you like.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50" b="1" i="0">
                          <a:solidFill>
                            <a:srgbClr val="1F2933"/>
                          </a:solidFill>
                          <a:latin typeface="Calibri"/>
                        </a:rPr>
                        <a:t>Iterator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The dealer's hand: it remembers where it is and gives out the next card.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43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for: one value of range(5) per pass</a:t>
            </a:r>
          </a:p>
        </p:txBody>
      </p:sp>
      <p:sp>
        <p:nvSpPr>
          <p:cNvPr id="4" name="code"/>
          <p:cNvSpPr/>
          <p:nvPr/>
        </p:nvSpPr>
        <p:spPr>
          <a:xfrm>
            <a:off x="365760" y="841248"/>
            <a:ext cx="484327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total</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a:t>
            </a:r>
          </a:p>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range</a:t>
            </a:r>
            <a:r>
              <a:rPr sz="1400" b="0" i="0">
                <a:solidFill>
                  <a:srgbClr val="E6EDF3"/>
                </a:solidFill>
                <a:latin typeface="Courier New"/>
              </a:rPr>
              <a:t>(</a:t>
            </a:r>
            <a:r>
              <a:rPr sz="1400" b="0" i="0">
                <a:solidFill>
                  <a:srgbClr val="7CC4FF"/>
                </a:solidFill>
                <a:latin typeface="Courier New"/>
              </a:rPr>
              <a:t>5</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5190744" y="841248"/>
            <a:ext cx="3587496" cy="723328"/>
          </a:xfrm>
          <a:prstGeom prst="rect">
            <a:avLst/>
          </a:prstGeom>
          <a:noFill/>
        </p:spPr>
        <p:txBody>
          <a:bodyPr wrap="square" lIns="128016" rIns="128016" tIns="18288" bIns="18288" anchor="ctr">
            <a:spAutoFit/>
          </a:bodyPr>
          <a:lstStyle/>
          <a:p>
            <a:r>
              <a:rPr sz="1250" b="0" i="0">
                <a:solidFill>
                  <a:srgbClr val="1F2933"/>
                </a:solidFill>
                <a:latin typeface="Calibri"/>
              </a:rPr>
              <a:t>The for statement takes the values of range(5) one by one and puts each into the loop variable i.</a:t>
            </a:r>
          </a:p>
        </p:txBody>
      </p:sp>
      <p:sp>
        <p:nvSpPr>
          <p:cNvPr id="6" name="code"/>
          <p:cNvSpPr/>
          <p:nvPr/>
        </p:nvSpPr>
        <p:spPr>
          <a:xfrm>
            <a:off x="365760" y="1619440"/>
            <a:ext cx="484327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    </a:t>
            </a:r>
            <a:r>
              <a:rPr sz="1400" b="0" i="0">
                <a:solidFill>
                  <a:srgbClr val="E6EDF3"/>
                </a:solidFill>
                <a:latin typeface="Courier New"/>
              </a:rPr>
              <a:t>total</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total</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'i is'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'total is'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total</a:t>
            </a:r>
            <a:r>
              <a:rPr sz="1400" b="0" i="0">
                <a:solidFill>
                  <a:srgbClr val="E6EDF3"/>
                </a:solidFill>
                <a:latin typeface="Courier New"/>
              </a:rPr>
              <a:t>)</a:t>
            </a:r>
          </a:p>
        </p:txBody>
      </p:sp>
      <p:sp>
        <p:nvSpPr>
          <p:cNvPr id="7" name="explanation"/>
          <p:cNvSpPr txBox="1"/>
          <p:nvPr/>
        </p:nvSpPr>
        <p:spPr>
          <a:xfrm>
            <a:off x="5190744" y="1619440"/>
            <a:ext cx="3587496" cy="723328"/>
          </a:xfrm>
          <a:prstGeom prst="rect">
            <a:avLst/>
          </a:prstGeom>
          <a:noFill/>
        </p:spPr>
        <p:txBody>
          <a:bodyPr wrap="square" lIns="128016" rIns="128016" tIns="18288" bIns="18288" anchor="ctr">
            <a:spAutoFit/>
          </a:bodyPr>
          <a:lstStyle/>
          <a:p>
            <a:r>
              <a:rPr sz="1250" b="0" i="0">
                <a:solidFill>
                  <a:srgbClr val="1F2933"/>
                </a:solidFill>
                <a:latin typeface="Calibri"/>
              </a:rPr>
              <a:t>No counter has to be started or advanced by hand. The block runs once for each value.</a:t>
            </a:r>
          </a:p>
        </p:txBody>
      </p:sp>
      <p:sp>
        <p:nvSpPr>
          <p:cNvPr id="8" name="code"/>
          <p:cNvSpPr/>
          <p:nvPr/>
        </p:nvSpPr>
        <p:spPr>
          <a:xfrm>
            <a:off x="365760" y="2397633"/>
            <a:ext cx="4843271"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'after the loop i is still'</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a:t>
            </a:r>
          </a:p>
        </p:txBody>
      </p:sp>
      <p:sp>
        <p:nvSpPr>
          <p:cNvPr id="9" name="explanation"/>
          <p:cNvSpPr txBox="1"/>
          <p:nvPr/>
        </p:nvSpPr>
        <p:spPr>
          <a:xfrm>
            <a:off x="5190744" y="2397633"/>
            <a:ext cx="3587496" cy="524891"/>
          </a:xfrm>
          <a:prstGeom prst="rect">
            <a:avLst/>
          </a:prstGeom>
          <a:noFill/>
        </p:spPr>
        <p:txBody>
          <a:bodyPr wrap="square" lIns="128016" rIns="128016" tIns="18288" bIns="18288" anchor="ctr">
            <a:spAutoFit/>
          </a:bodyPr>
          <a:lstStyle/>
          <a:p>
            <a:r>
              <a:rPr sz="1250" b="0" i="0">
                <a:solidFill>
                  <a:srgbClr val="1F2933"/>
                </a:solidFill>
                <a:latin typeface="Calibri"/>
              </a:rPr>
              <a:t>The loop variable is not deleted when the loop ends. It keeps the last value, 4.</a:t>
            </a:r>
          </a:p>
        </p:txBody>
      </p:sp>
      <p:sp>
        <p:nvSpPr>
          <p:cNvPr id="10" name="result label"/>
          <p:cNvSpPr txBox="1"/>
          <p:nvPr/>
        </p:nvSpPr>
        <p:spPr>
          <a:xfrm>
            <a:off x="365760" y="29956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69996"/>
          <a:ext cx="4206239" cy="1338576"/>
        </p:xfrm>
        <a:graphic>
          <a:graphicData uri="http://schemas.openxmlformats.org/drawingml/2006/table">
            <a:tbl>
              <a:tblPr firstRow="0" bandRow="0"/>
              <a:tblGrid>
                <a:gridCol w="1261872"/>
                <a:gridCol w="1261872"/>
                <a:gridCol w="1682495"/>
              </a:tblGrid>
              <a:tr h="223096">
                <a:tc>
                  <a:txBody>
                    <a:bodyPr wrap="square"/>
                    <a:lstStyle/>
                    <a:p>
                      <a:pPr algn="ctr"/>
                      <a:r>
                        <a:rPr sz="1000" b="1" i="0">
                          <a:solidFill>
                            <a:srgbClr val="FFFFFF"/>
                          </a:solidFill>
                          <a:latin typeface="Calibri"/>
                        </a:rPr>
                        <a:t>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total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3096">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3096">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3096">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3096">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3096">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2" name="chart"/>
          <p:cNvGraphicFramePr>
            <a:graphicFrameLocks noGrp="1"/>
          </p:cNvGraphicFramePr>
          <p:nvPr/>
        </p:nvGraphicFramePr>
        <p:xfrm>
          <a:off x="4908499" y="3269996"/>
          <a:ext cx="3869740" cy="1338580"/>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for needs no counter; i keeps its last value.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43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range(start, stop, step)</a:t>
            </a:r>
          </a:p>
        </p:txBody>
      </p:sp>
      <p:sp>
        <p:nvSpPr>
          <p:cNvPr id="4" name="code"/>
          <p:cNvSpPr/>
          <p:nvPr/>
        </p:nvSpPr>
        <p:spPr>
          <a:xfrm>
            <a:off x="365760" y="841248"/>
            <a:ext cx="8412480" cy="35331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8</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365760" y="1203706"/>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One argument is the stop; two arguments are start and stop. The stop value itself is never included.</a:t>
            </a:r>
          </a:p>
        </p:txBody>
      </p:sp>
      <p:sp>
        <p:nvSpPr>
          <p:cNvPr id="6" name="code"/>
          <p:cNvSpPr/>
          <p:nvPr/>
        </p:nvSpPr>
        <p:spPr>
          <a:xfrm>
            <a:off x="365760" y="1567942"/>
            <a:ext cx="8412480" cy="35331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10</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3</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1930400"/>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The third argument is the step. A negative step counts down.</a:t>
            </a:r>
          </a:p>
        </p:txBody>
      </p:sp>
      <p:sp>
        <p:nvSpPr>
          <p:cNvPr id="8" name="code"/>
          <p:cNvSpPr/>
          <p:nvPr/>
        </p:nvSpPr>
        <p:spPr>
          <a:xfrm>
            <a:off x="365760" y="2294636"/>
            <a:ext cx="8412480" cy="35331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3</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3</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7</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7</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365760" y="2657094"/>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Half-open ranges meet without gap or overlap: 0 to 3 and 3 to 7 make 0 to 7.</a:t>
            </a:r>
          </a:p>
        </p:txBody>
      </p:sp>
      <p:sp>
        <p:nvSpPr>
          <p:cNvPr id="10" name="result label"/>
          <p:cNvSpPr txBox="1"/>
          <p:nvPr/>
        </p:nvSpPr>
        <p:spPr>
          <a:xfrm>
            <a:off x="365760" y="303961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13938"/>
          <a:ext cx="5047487" cy="1294635"/>
        </p:xfrm>
        <a:graphic>
          <a:graphicData uri="http://schemas.openxmlformats.org/drawingml/2006/table">
            <a:tbl>
              <a:tblPr firstRow="0" bandRow="0"/>
              <a:tblGrid>
                <a:gridCol w="1619005"/>
                <a:gridCol w="2761833"/>
                <a:gridCol w="666649"/>
              </a:tblGrid>
              <a:tr h="258927">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Items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Count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8927">
                <a:tc>
                  <a:txBody>
                    <a:bodyPr wrap="square"/>
                    <a:lstStyle/>
                    <a:p>
                      <a:r>
                        <a:rPr sz="1000" b="0" i="0">
                          <a:solidFill>
                            <a:srgbClr val="1F2933"/>
                          </a:solidFill>
                          <a:latin typeface="Courier New"/>
                        </a:rPr>
                        <a:t>range(5)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[0, 1, 2, 3,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8927">
                <a:tc>
                  <a:txBody>
                    <a:bodyPr wrap="square"/>
                    <a:lstStyle/>
                    <a:p>
                      <a:r>
                        <a:rPr sz="1000" b="0" i="0">
                          <a:solidFill>
                            <a:srgbClr val="1F2933"/>
                          </a:solidFill>
                          <a:latin typeface="Courier New"/>
                        </a:rPr>
                        <a:t>range(2, 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[2, 3, 4, 5, 6, 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8927">
                <a:tc>
                  <a:txBody>
                    <a:bodyPr wrap="square"/>
                    <a:lstStyle/>
                    <a:p>
                      <a:r>
                        <a:rPr sz="1000" b="0" i="0">
                          <a:solidFill>
                            <a:srgbClr val="1F2933"/>
                          </a:solidFill>
                          <a:latin typeface="Courier New"/>
                        </a:rPr>
                        <a:t>range(0, 10,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[0, 3, 6,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8927">
                <a:tc>
                  <a:txBody>
                    <a:bodyPr wrap="square"/>
                    <a:lstStyle/>
                    <a:p>
                      <a:r>
                        <a:rPr sz="1000" b="0" i="0">
                          <a:solidFill>
                            <a:srgbClr val="1F2933"/>
                          </a:solidFill>
                          <a:latin typeface="Courier New"/>
                        </a:rPr>
                        <a:t>range(5, 0,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[5, 3,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TextBox 11"/>
          <p:cNvSpPr txBox="1"/>
          <p:nvPr/>
        </p:nvSpPr>
        <p:spPr>
          <a:xfrm>
            <a:off x="5749747" y="3295650"/>
            <a:ext cx="2743200" cy="182880"/>
          </a:xfrm>
          <a:prstGeom prst="rect">
            <a:avLst/>
          </a:prstGeom>
          <a:noFill/>
        </p:spPr>
        <p:txBody>
          <a:bodyPr wrap="square" lIns="45720" rIns="45720" tIns="27432" bIns="27432" anchor="t">
            <a:spAutoFit/>
          </a:bodyPr>
          <a:lstStyle/>
          <a:p>
            <a:r>
              <a:rPr sz="900" b="0" i="1">
                <a:solidFill>
                  <a:srgbClr val="5B6773"/>
                </a:solidFill>
                <a:latin typeface="Calibri"/>
              </a:rPr>
              <a:t>which of 0 to 9 each call gives</a:t>
            </a:r>
          </a:p>
        </p:txBody>
      </p:sp>
      <p:sp>
        <p:nvSpPr>
          <p:cNvPr id="13" name="Rounded Rectangle 12"/>
          <p:cNvSpPr/>
          <p:nvPr/>
        </p:nvSpPr>
        <p:spPr>
          <a:xfrm>
            <a:off x="5749747" y="3496818"/>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0</a:t>
            </a:r>
          </a:p>
        </p:txBody>
      </p:sp>
      <p:sp>
        <p:nvSpPr>
          <p:cNvPr id="14" name="Rounded Rectangle 13"/>
          <p:cNvSpPr/>
          <p:nvPr/>
        </p:nvSpPr>
        <p:spPr>
          <a:xfrm>
            <a:off x="5996635" y="3496818"/>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a:t>
            </a:r>
          </a:p>
        </p:txBody>
      </p:sp>
      <p:sp>
        <p:nvSpPr>
          <p:cNvPr id="15" name="Rounded Rectangle 14"/>
          <p:cNvSpPr/>
          <p:nvPr/>
        </p:nvSpPr>
        <p:spPr>
          <a:xfrm>
            <a:off x="6243523" y="3496818"/>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a:t>
            </a:r>
          </a:p>
        </p:txBody>
      </p:sp>
      <p:sp>
        <p:nvSpPr>
          <p:cNvPr id="16" name="Rounded Rectangle 15"/>
          <p:cNvSpPr/>
          <p:nvPr/>
        </p:nvSpPr>
        <p:spPr>
          <a:xfrm>
            <a:off x="6490411" y="3496818"/>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3</a:t>
            </a:r>
          </a:p>
        </p:txBody>
      </p:sp>
      <p:sp>
        <p:nvSpPr>
          <p:cNvPr id="17" name="Rounded Rectangle 16"/>
          <p:cNvSpPr/>
          <p:nvPr/>
        </p:nvSpPr>
        <p:spPr>
          <a:xfrm>
            <a:off x="6737299" y="3496818"/>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4</a:t>
            </a:r>
          </a:p>
        </p:txBody>
      </p:sp>
      <p:sp>
        <p:nvSpPr>
          <p:cNvPr id="18" name="Rounded Rectangle 17"/>
          <p:cNvSpPr/>
          <p:nvPr/>
        </p:nvSpPr>
        <p:spPr>
          <a:xfrm>
            <a:off x="6984187" y="3496818"/>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5</a:t>
            </a:r>
          </a:p>
        </p:txBody>
      </p:sp>
      <p:sp>
        <p:nvSpPr>
          <p:cNvPr id="19" name="Rounded Rectangle 18"/>
          <p:cNvSpPr/>
          <p:nvPr/>
        </p:nvSpPr>
        <p:spPr>
          <a:xfrm>
            <a:off x="7231075" y="3496818"/>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6</a:t>
            </a:r>
          </a:p>
        </p:txBody>
      </p:sp>
      <p:sp>
        <p:nvSpPr>
          <p:cNvPr id="20" name="Rounded Rectangle 19"/>
          <p:cNvSpPr/>
          <p:nvPr/>
        </p:nvSpPr>
        <p:spPr>
          <a:xfrm>
            <a:off x="7477963" y="3496818"/>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7</a:t>
            </a:r>
          </a:p>
        </p:txBody>
      </p:sp>
      <p:sp>
        <p:nvSpPr>
          <p:cNvPr id="21" name="Rounded Rectangle 20"/>
          <p:cNvSpPr/>
          <p:nvPr/>
        </p:nvSpPr>
        <p:spPr>
          <a:xfrm>
            <a:off x="7724851" y="3496818"/>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8</a:t>
            </a:r>
          </a:p>
        </p:txBody>
      </p:sp>
      <p:sp>
        <p:nvSpPr>
          <p:cNvPr id="22" name="Rounded Rectangle 21"/>
          <p:cNvSpPr/>
          <p:nvPr/>
        </p:nvSpPr>
        <p:spPr>
          <a:xfrm>
            <a:off x="7971739" y="3496818"/>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9</a:t>
            </a:r>
          </a:p>
        </p:txBody>
      </p:sp>
      <p:sp>
        <p:nvSpPr>
          <p:cNvPr id="23" name="Rounded Rectangle 22"/>
          <p:cNvSpPr/>
          <p:nvPr/>
        </p:nvSpPr>
        <p:spPr>
          <a:xfrm>
            <a:off x="5749747" y="3798570"/>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0</a:t>
            </a:r>
          </a:p>
        </p:txBody>
      </p:sp>
      <p:sp>
        <p:nvSpPr>
          <p:cNvPr id="24" name="Rounded Rectangle 23"/>
          <p:cNvSpPr/>
          <p:nvPr/>
        </p:nvSpPr>
        <p:spPr>
          <a:xfrm>
            <a:off x="5996635" y="3798570"/>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a:t>
            </a:r>
          </a:p>
        </p:txBody>
      </p:sp>
      <p:sp>
        <p:nvSpPr>
          <p:cNvPr id="25" name="Rounded Rectangle 24"/>
          <p:cNvSpPr/>
          <p:nvPr/>
        </p:nvSpPr>
        <p:spPr>
          <a:xfrm>
            <a:off x="6243523"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a:t>
            </a:r>
          </a:p>
        </p:txBody>
      </p:sp>
      <p:sp>
        <p:nvSpPr>
          <p:cNvPr id="26" name="Rounded Rectangle 25"/>
          <p:cNvSpPr/>
          <p:nvPr/>
        </p:nvSpPr>
        <p:spPr>
          <a:xfrm>
            <a:off x="6490411"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3</a:t>
            </a:r>
          </a:p>
        </p:txBody>
      </p:sp>
      <p:sp>
        <p:nvSpPr>
          <p:cNvPr id="27" name="Rounded Rectangle 26"/>
          <p:cNvSpPr/>
          <p:nvPr/>
        </p:nvSpPr>
        <p:spPr>
          <a:xfrm>
            <a:off x="6737299"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4</a:t>
            </a:r>
          </a:p>
        </p:txBody>
      </p:sp>
      <p:sp>
        <p:nvSpPr>
          <p:cNvPr id="28" name="Rounded Rectangle 27"/>
          <p:cNvSpPr/>
          <p:nvPr/>
        </p:nvSpPr>
        <p:spPr>
          <a:xfrm>
            <a:off x="6984187"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5</a:t>
            </a:r>
          </a:p>
        </p:txBody>
      </p:sp>
      <p:sp>
        <p:nvSpPr>
          <p:cNvPr id="29" name="Rounded Rectangle 28"/>
          <p:cNvSpPr/>
          <p:nvPr/>
        </p:nvSpPr>
        <p:spPr>
          <a:xfrm>
            <a:off x="7231075"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6</a:t>
            </a:r>
          </a:p>
        </p:txBody>
      </p:sp>
      <p:sp>
        <p:nvSpPr>
          <p:cNvPr id="30" name="Rounded Rectangle 29"/>
          <p:cNvSpPr/>
          <p:nvPr/>
        </p:nvSpPr>
        <p:spPr>
          <a:xfrm>
            <a:off x="7477963"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7</a:t>
            </a:r>
          </a:p>
        </p:txBody>
      </p:sp>
      <p:sp>
        <p:nvSpPr>
          <p:cNvPr id="31" name="Rounded Rectangle 30"/>
          <p:cNvSpPr/>
          <p:nvPr/>
        </p:nvSpPr>
        <p:spPr>
          <a:xfrm>
            <a:off x="7724851" y="3798570"/>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8</a:t>
            </a:r>
          </a:p>
        </p:txBody>
      </p:sp>
      <p:sp>
        <p:nvSpPr>
          <p:cNvPr id="32" name="Rounded Rectangle 31"/>
          <p:cNvSpPr/>
          <p:nvPr/>
        </p:nvSpPr>
        <p:spPr>
          <a:xfrm>
            <a:off x="7971739" y="3798570"/>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9</a:t>
            </a:r>
          </a:p>
        </p:txBody>
      </p:sp>
      <p:sp>
        <p:nvSpPr>
          <p:cNvPr id="33" name="Rounded Rectangle 32"/>
          <p:cNvSpPr/>
          <p:nvPr/>
        </p:nvSpPr>
        <p:spPr>
          <a:xfrm>
            <a:off x="5749747" y="4100322"/>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0</a:t>
            </a:r>
          </a:p>
        </p:txBody>
      </p:sp>
      <p:sp>
        <p:nvSpPr>
          <p:cNvPr id="34" name="Rounded Rectangle 33"/>
          <p:cNvSpPr/>
          <p:nvPr/>
        </p:nvSpPr>
        <p:spPr>
          <a:xfrm>
            <a:off x="5996635"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a:t>
            </a:r>
          </a:p>
        </p:txBody>
      </p:sp>
      <p:sp>
        <p:nvSpPr>
          <p:cNvPr id="35" name="Rounded Rectangle 34"/>
          <p:cNvSpPr/>
          <p:nvPr/>
        </p:nvSpPr>
        <p:spPr>
          <a:xfrm>
            <a:off x="6243523"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a:t>
            </a:r>
          </a:p>
        </p:txBody>
      </p:sp>
      <p:sp>
        <p:nvSpPr>
          <p:cNvPr id="36" name="Rounded Rectangle 35"/>
          <p:cNvSpPr/>
          <p:nvPr/>
        </p:nvSpPr>
        <p:spPr>
          <a:xfrm>
            <a:off x="6490411" y="4100322"/>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3</a:t>
            </a:r>
          </a:p>
        </p:txBody>
      </p:sp>
      <p:sp>
        <p:nvSpPr>
          <p:cNvPr id="37" name="Rounded Rectangle 36"/>
          <p:cNvSpPr/>
          <p:nvPr/>
        </p:nvSpPr>
        <p:spPr>
          <a:xfrm>
            <a:off x="6737299"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4</a:t>
            </a:r>
          </a:p>
        </p:txBody>
      </p:sp>
      <p:sp>
        <p:nvSpPr>
          <p:cNvPr id="38" name="Rounded Rectangle 37"/>
          <p:cNvSpPr/>
          <p:nvPr/>
        </p:nvSpPr>
        <p:spPr>
          <a:xfrm>
            <a:off x="6984187"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5</a:t>
            </a:r>
          </a:p>
        </p:txBody>
      </p:sp>
      <p:sp>
        <p:nvSpPr>
          <p:cNvPr id="39" name="Rounded Rectangle 38"/>
          <p:cNvSpPr/>
          <p:nvPr/>
        </p:nvSpPr>
        <p:spPr>
          <a:xfrm>
            <a:off x="7231075" y="4100322"/>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6</a:t>
            </a:r>
          </a:p>
        </p:txBody>
      </p:sp>
      <p:sp>
        <p:nvSpPr>
          <p:cNvPr id="40" name="Rounded Rectangle 39"/>
          <p:cNvSpPr/>
          <p:nvPr/>
        </p:nvSpPr>
        <p:spPr>
          <a:xfrm>
            <a:off x="7477963"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7</a:t>
            </a:r>
          </a:p>
        </p:txBody>
      </p:sp>
      <p:sp>
        <p:nvSpPr>
          <p:cNvPr id="41" name="Rounded Rectangle 40"/>
          <p:cNvSpPr/>
          <p:nvPr/>
        </p:nvSpPr>
        <p:spPr>
          <a:xfrm>
            <a:off x="7724851"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8</a:t>
            </a:r>
          </a:p>
        </p:txBody>
      </p:sp>
      <p:sp>
        <p:nvSpPr>
          <p:cNvPr id="42" name="Rounded Rectangle 41"/>
          <p:cNvSpPr/>
          <p:nvPr/>
        </p:nvSpPr>
        <p:spPr>
          <a:xfrm>
            <a:off x="7971739" y="4100322"/>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9</a:t>
            </a:r>
          </a:p>
        </p:txBody>
      </p:sp>
      <p:sp>
        <p:nvSpPr>
          <p:cNvPr id="43" name="Rounded Rectangle 42"/>
          <p:cNvSpPr/>
          <p:nvPr/>
        </p:nvSpPr>
        <p:spPr>
          <a:xfrm>
            <a:off x="5749747"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0</a:t>
            </a:r>
          </a:p>
        </p:txBody>
      </p:sp>
      <p:sp>
        <p:nvSpPr>
          <p:cNvPr id="44" name="Rounded Rectangle 43"/>
          <p:cNvSpPr/>
          <p:nvPr/>
        </p:nvSpPr>
        <p:spPr>
          <a:xfrm>
            <a:off x="5996635" y="4402074"/>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a:t>
            </a:r>
          </a:p>
        </p:txBody>
      </p:sp>
      <p:sp>
        <p:nvSpPr>
          <p:cNvPr id="45" name="Rounded Rectangle 44"/>
          <p:cNvSpPr/>
          <p:nvPr/>
        </p:nvSpPr>
        <p:spPr>
          <a:xfrm>
            <a:off x="6243523"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a:t>
            </a:r>
          </a:p>
        </p:txBody>
      </p:sp>
      <p:sp>
        <p:nvSpPr>
          <p:cNvPr id="46" name="Rounded Rectangle 45"/>
          <p:cNvSpPr/>
          <p:nvPr/>
        </p:nvSpPr>
        <p:spPr>
          <a:xfrm>
            <a:off x="6490411" y="4402074"/>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3</a:t>
            </a:r>
          </a:p>
        </p:txBody>
      </p:sp>
      <p:sp>
        <p:nvSpPr>
          <p:cNvPr id="47" name="Rounded Rectangle 46"/>
          <p:cNvSpPr/>
          <p:nvPr/>
        </p:nvSpPr>
        <p:spPr>
          <a:xfrm>
            <a:off x="6737299"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4</a:t>
            </a:r>
          </a:p>
        </p:txBody>
      </p:sp>
      <p:sp>
        <p:nvSpPr>
          <p:cNvPr id="48" name="Rounded Rectangle 47"/>
          <p:cNvSpPr/>
          <p:nvPr/>
        </p:nvSpPr>
        <p:spPr>
          <a:xfrm>
            <a:off x="6984187" y="4402074"/>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5</a:t>
            </a:r>
          </a:p>
        </p:txBody>
      </p:sp>
      <p:sp>
        <p:nvSpPr>
          <p:cNvPr id="49" name="Rounded Rectangle 48"/>
          <p:cNvSpPr/>
          <p:nvPr/>
        </p:nvSpPr>
        <p:spPr>
          <a:xfrm>
            <a:off x="7231075"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6</a:t>
            </a:r>
          </a:p>
        </p:txBody>
      </p:sp>
      <p:sp>
        <p:nvSpPr>
          <p:cNvPr id="50" name="Rounded Rectangle 49"/>
          <p:cNvSpPr/>
          <p:nvPr/>
        </p:nvSpPr>
        <p:spPr>
          <a:xfrm>
            <a:off x="7477963"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7</a:t>
            </a:r>
          </a:p>
        </p:txBody>
      </p:sp>
      <p:sp>
        <p:nvSpPr>
          <p:cNvPr id="51" name="Rounded Rectangle 50"/>
          <p:cNvSpPr/>
          <p:nvPr/>
        </p:nvSpPr>
        <p:spPr>
          <a:xfrm>
            <a:off x="7724851"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8</a:t>
            </a:r>
          </a:p>
        </p:txBody>
      </p:sp>
      <p:sp>
        <p:nvSpPr>
          <p:cNvPr id="52" name="Rounded Rectangle 51"/>
          <p:cNvSpPr/>
          <p:nvPr/>
        </p:nvSpPr>
        <p:spPr>
          <a:xfrm>
            <a:off x="7971739"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9</a:t>
            </a:r>
          </a:p>
        </p:txBody>
      </p:sp>
      <p:cxnSp>
        <p:nvCxnSpPr>
          <p:cNvPr id="53" name="arrow"/>
          <p:cNvCxnSpPr/>
          <p:nvPr/>
        </p:nvCxnSpPr>
        <p:spPr>
          <a:xfrm>
            <a:off x="5749747" y="4795266"/>
            <a:ext cx="2441448"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Start is in, stop is out; the step may be negative.</a:t>
            </a:r>
          </a:p>
        </p:txBody>
      </p:sp>
      <p:sp>
        <p:nvSpPr>
          <p:cNvPr id="5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43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why range stops before the end</a:t>
            </a:r>
          </a:p>
        </p:txBody>
      </p:sp>
      <p:pic>
        <p:nvPicPr>
          <p:cNvPr id="4" name="photo dijkstra" descr="Picture for the story: why range stops before the end"/>
          <p:cNvPicPr>
            <a:picLocks noChangeAspect="1"/>
          </p:cNvPicPr>
          <p:nvPr/>
        </p:nvPicPr>
        <p:blipFill>
          <a:blip r:embed="rId3"/>
          <a:stretch>
            <a:fillRect/>
          </a:stretch>
        </p:blipFill>
        <p:spPr>
          <a:xfrm>
            <a:off x="594360" y="868680"/>
            <a:ext cx="2194560"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Edsger W. Dijkstra. Photo: Hamilton Richards, CC BY-SA 3.0, Wikimedia Commons.</a:t>
            </a:r>
          </a:p>
        </p:txBody>
      </p:sp>
      <p:sp>
        <p:nvSpPr>
          <p:cNvPr id="6" name="card"/>
          <p:cNvSpPr/>
          <p:nvPr/>
        </p:nvSpPr>
        <p:spPr>
          <a:xfrm>
            <a:off x="3200400" y="841248"/>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Edsger W. Dijkstra, Dutch computer scientist, Turing Award 1972.</a:t>
            </a:r>
          </a:p>
        </p:txBody>
      </p:sp>
      <p:sp>
        <p:nvSpPr>
          <p:cNvPr id="8" name="card"/>
          <p:cNvSpPr/>
          <p:nvPr/>
        </p:nvSpPr>
        <p:spPr>
          <a:xfrm>
            <a:off x="3200400" y="1417319"/>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17319"/>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A two-page handwritten memo, EWD831, titled 'Why numbering should start at zero'.</a:t>
            </a:r>
          </a:p>
        </p:txBody>
      </p:sp>
      <p:sp>
        <p:nvSpPr>
          <p:cNvPr id="10" name="card"/>
          <p:cNvSpPr/>
          <p:nvPr/>
        </p:nvSpPr>
        <p:spPr>
          <a:xfrm>
            <a:off x="3200400" y="1993391"/>
            <a:ext cx="5577840"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93391"/>
            <a:ext cx="5486400" cy="384048"/>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11 August 1982.</a:t>
            </a:r>
          </a:p>
        </p:txBody>
      </p:sp>
      <p:sp>
        <p:nvSpPr>
          <p:cNvPr id="12" name="card"/>
          <p:cNvSpPr/>
          <p:nvPr/>
        </p:nvSpPr>
        <p:spPr>
          <a:xfrm>
            <a:off x="3200400" y="2441448"/>
            <a:ext cx="5577840" cy="69494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694944"/>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Nuenen, the Netherlands, where he was a Burroughs research fellow; the memo is kept in the EWD archive at the University of Texas at Austin.</a:t>
            </a:r>
          </a:p>
        </p:txBody>
      </p:sp>
      <p:sp>
        <p:nvSpPr>
          <p:cNvPr id="14" name="card"/>
          <p:cNvSpPr/>
          <p:nvPr/>
        </p:nvSpPr>
        <p:spPr>
          <a:xfrm>
            <a:off x="3200400" y="3200400"/>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200400"/>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He wanted lengths and neighbouring ranges to work without special cases.</a:t>
            </a:r>
          </a:p>
        </p:txBody>
      </p:sp>
      <p:sp>
        <p:nvSpPr>
          <p:cNvPr id="16" name="card"/>
          <p:cNvSpPr/>
          <p:nvPr/>
        </p:nvSpPr>
        <p:spPr>
          <a:xfrm>
            <a:off x="3200400" y="3776472"/>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76472"/>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Include the start, leave out the stop: range(2, 8) has 8 - 2 = 6 items, and range(0, 3) meets range(3, 7).</a:t>
            </a:r>
          </a:p>
        </p:txBody>
      </p:sp>
      <p:sp>
        <p:nvSpPr>
          <p:cNvPr id="18" name="read"/>
          <p:cNvSpPr txBox="1"/>
          <p:nvPr/>
        </p:nvSpPr>
        <p:spPr>
          <a:xfrm>
            <a:off x="3200400" y="4370831"/>
            <a:ext cx="5577840" cy="329184"/>
          </a:xfrm>
          <a:prstGeom prst="rect">
            <a:avLst/>
          </a:prstGeom>
          <a:noFill/>
        </p:spPr>
        <p:txBody>
          <a:bodyPr wrap="square" lIns="45720" rIns="45720" tIns="27432" bIns="27432" anchor="t">
            <a:spAutoFit/>
          </a:bodyPr>
          <a:lstStyle/>
          <a:p>
            <a:r>
              <a:rPr sz="1200" b="1" i="0">
                <a:solidFill>
                  <a:srgbClr val="B7791F"/>
                </a:solidFill>
                <a:latin typeface="Calibri"/>
              </a:rPr>
              <a:t>READ  </a:t>
            </a:r>
            <a:r>
              <a:rPr sz="1200" b="0" i="0">
                <a:solidFill>
                  <a:srgbClr val="0E7C86"/>
                </a:solidFill>
                <a:latin typeface="Calibri"/>
                <a:hlinkClick r:id="rId4"/>
              </a:rPr>
              <a:t>Edsger W. Dijkstra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range describes numbers; it does not store them</a:t>
            </a:r>
          </a:p>
        </p:txBody>
      </p:sp>
      <p:sp>
        <p:nvSpPr>
          <p:cNvPr id="4" name="code"/>
          <p:cNvSpPr/>
          <p:nvPr/>
        </p:nvSpPr>
        <p:spPr>
          <a:xfrm>
            <a:off x="365760" y="841248"/>
            <a:ext cx="366979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r</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range</a:t>
            </a:r>
            <a:r>
              <a:rPr sz="1400" b="0" i="0">
                <a:solidFill>
                  <a:srgbClr val="E6EDF3"/>
                </a:solidFill>
                <a:latin typeface="Courier New"/>
              </a:rPr>
              <a:t>(</a:t>
            </a:r>
            <a:r>
              <a:rPr sz="1400" b="0" i="0">
                <a:solidFill>
                  <a:srgbClr val="7CC4FF"/>
                </a:solidFill>
                <a:latin typeface="Courier New"/>
              </a:rPr>
              <a:t>10</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9</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r</a:t>
            </a:r>
            <a:r>
              <a:rPr sz="1400" b="0" i="0">
                <a:solidFill>
                  <a:srgbClr val="E6EDF3"/>
                </a:solidFill>
                <a:latin typeface="Courier New"/>
              </a:rPr>
              <a:t>[</a:t>
            </a:r>
            <a:r>
              <a:rPr sz="1400" b="0" i="0">
                <a:solidFill>
                  <a:srgbClr val="7CC4FF"/>
                </a:solidFill>
                <a:latin typeface="Courier New"/>
              </a:rPr>
              <a:t>999999999</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4017264" y="841248"/>
            <a:ext cx="4760975" cy="616712"/>
          </a:xfrm>
          <a:prstGeom prst="rect">
            <a:avLst/>
          </a:prstGeom>
          <a:noFill/>
        </p:spPr>
        <p:txBody>
          <a:bodyPr wrap="square" lIns="128016" rIns="128016" tIns="18288" bIns="18288" anchor="ctr">
            <a:spAutoFit/>
          </a:bodyPr>
          <a:lstStyle/>
          <a:p>
            <a:r>
              <a:rPr sz="1250" b="0" i="0">
                <a:solidFill>
                  <a:srgbClr val="1F2933"/>
                </a:solidFill>
                <a:latin typeface="Calibri"/>
              </a:rPr>
              <a:t>A billion numbers are described, not stored. len and indexing answer at once.</a:t>
            </a:r>
          </a:p>
        </p:txBody>
      </p:sp>
      <p:sp>
        <p:nvSpPr>
          <p:cNvPr id="6" name="code"/>
          <p:cNvSpPr/>
          <p:nvPr/>
        </p:nvSpPr>
        <p:spPr>
          <a:xfrm>
            <a:off x="365760" y="1512824"/>
            <a:ext cx="366979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123456789</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r</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r</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r</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type</a:t>
            </a:r>
            <a:r>
              <a:rPr sz="1400" b="0" i="0">
                <a:solidFill>
                  <a:srgbClr val="E6EDF3"/>
                </a:solidFill>
                <a:latin typeface="Courier New"/>
              </a:rPr>
              <a:t>(</a:t>
            </a:r>
            <a:r>
              <a:rPr sz="1400" b="0" i="0">
                <a:solidFill>
                  <a:srgbClr val="E6EDF3"/>
                </a:solidFill>
                <a:latin typeface="Courier New"/>
              </a:rPr>
              <a:t>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__name__</a:t>
            </a:r>
            <a:r>
              <a:rPr sz="1400" b="0" i="0">
                <a:solidFill>
                  <a:srgbClr val="E6EDF3"/>
                </a:solidFill>
                <a:latin typeface="Courier New"/>
              </a:rPr>
              <a:t>)</a:t>
            </a:r>
          </a:p>
        </p:txBody>
      </p:sp>
      <p:sp>
        <p:nvSpPr>
          <p:cNvPr id="7" name="explanation"/>
          <p:cNvSpPr txBox="1"/>
          <p:nvPr/>
        </p:nvSpPr>
        <p:spPr>
          <a:xfrm>
            <a:off x="4017264" y="1512824"/>
            <a:ext cx="4760975" cy="616712"/>
          </a:xfrm>
          <a:prstGeom prst="rect">
            <a:avLst/>
          </a:prstGeom>
          <a:noFill/>
        </p:spPr>
        <p:txBody>
          <a:bodyPr wrap="square" lIns="128016" rIns="128016" tIns="18288" bIns="18288" anchor="ctr">
            <a:spAutoFit/>
          </a:bodyPr>
          <a:lstStyle/>
          <a:p>
            <a:r>
              <a:rPr sz="1250" b="0" i="0">
                <a:solidFill>
                  <a:srgbClr val="1F2933"/>
                </a:solidFill>
                <a:latin typeface="Calibri"/>
              </a:rPr>
              <a:t>The in test is arithmetic, not a search. Slicing a range gives another range, not a list.</a:t>
            </a:r>
          </a:p>
        </p:txBody>
      </p:sp>
      <p:sp>
        <p:nvSpPr>
          <p:cNvPr id="8" name="result label"/>
          <p:cNvSpPr txBox="1"/>
          <p:nvPr/>
        </p:nvSpPr>
        <p:spPr>
          <a:xfrm>
            <a:off x="365760" y="22026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477008"/>
          <a:ext cx="5552235" cy="1371600"/>
        </p:xfrm>
        <a:graphic>
          <a:graphicData uri="http://schemas.openxmlformats.org/drawingml/2006/table">
            <a:tbl>
              <a:tblPr firstRow="0" bandRow="0"/>
              <a:tblGrid>
                <a:gridCol w="1573133"/>
                <a:gridCol w="1758208"/>
                <a:gridCol w="2220894"/>
              </a:tblGrid>
              <a:tr h="274320">
                <a:tc>
                  <a:txBody>
                    <a:bodyPr wrap="square"/>
                    <a:lstStyle/>
                    <a:p>
                      <a:r>
                        <a:rPr sz="100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How Python answers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len(r)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1000000000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from start, stop and 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r[999999999]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999999999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by arithmetic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123456789 in 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by arithmetic, no search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r[:3]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range(0,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another range, not a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6254496" y="2477008"/>
            <a:ext cx="219456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start 0  stop 10**9  step 1</a:t>
            </a:r>
          </a:p>
        </p:txBody>
      </p:sp>
      <p:cxnSp>
        <p:nvCxnSpPr>
          <p:cNvPr id="11" name="arrow"/>
          <p:cNvCxnSpPr/>
          <p:nvPr/>
        </p:nvCxnSpPr>
        <p:spPr>
          <a:xfrm>
            <a:off x="7351775" y="2769615"/>
            <a:ext cx="0" cy="274321"/>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54496" y="3071367"/>
            <a:ext cx="219456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any value, on demand</a:t>
            </a:r>
          </a:p>
        </p:txBody>
      </p:sp>
      <p:sp>
        <p:nvSpPr>
          <p:cNvPr id="13" name="TextBox 12"/>
          <p:cNvSpPr txBox="1"/>
          <p:nvPr/>
        </p:nvSpPr>
        <p:spPr>
          <a:xfrm>
            <a:off x="6254496" y="3391408"/>
            <a:ext cx="2286000" cy="274320"/>
          </a:xfrm>
          <a:prstGeom prst="rect">
            <a:avLst/>
          </a:prstGeom>
          <a:noFill/>
        </p:spPr>
        <p:txBody>
          <a:bodyPr wrap="square" lIns="45720" rIns="45720" tIns="27432" bIns="27432" anchor="t">
            <a:spAutoFit/>
          </a:bodyPr>
          <a:lstStyle/>
          <a:p>
            <a:r>
              <a:rPr sz="1000" b="0" i="1">
                <a:solidFill>
                  <a:srgbClr val="5B6773"/>
                </a:solidFill>
                <a:latin typeface="Calibri"/>
              </a:rPr>
              <a:t>stored: 3 numbers</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range holds a recipe, not the numbers.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43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What a for loop visits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Containers, pairs and the iterator that hands out the items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List and tuple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Ordered containers, one changeable and one fixed.</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Dictionary</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Keys with values, visited as pairs with items().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enumerate and zip</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counter and pairs without index arithmetic.</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Iterator</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object that hands out one item at a time.</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what a loop visits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for visits a list and a tuple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for visits the pairs of a dictionary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enumerate and zip replace index arithm...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zip: stop silently, or insist on equal...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Under every for: iter and next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break, and the else clause of a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43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what a loop visits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list is a shopping list, a tuple a printed ticket and a dictionary a phone book.</a:t>
            </a:r>
          </a:p>
        </p:txBody>
      </p:sp>
      <p:graphicFrame>
        <p:nvGraphicFramePr>
          <p:cNvPr id="6" name="table"/>
          <p:cNvGraphicFramePr>
            <a:graphicFrameLocks noGrp="1"/>
          </p:cNvGraphicFramePr>
          <p:nvPr/>
        </p:nvGraphicFramePr>
        <p:xfrm>
          <a:off x="365760" y="1463040"/>
          <a:ext cx="8412480" cy="2743200"/>
        </p:xfrm>
        <a:graphic>
          <a:graphicData uri="http://schemas.openxmlformats.org/drawingml/2006/table">
            <a:tbl>
              <a:tblPr firstRow="0" bandRow="0"/>
              <a:tblGrid>
                <a:gridCol w="2926080"/>
                <a:gridCol w="548640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shopping list: add an item, cross one out, change the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Tuple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printed ticket: row and seat are fixed once it is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Dictionary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phone book: look up a name and you get a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Sequence unpacking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Opening a gift box and putting each item on its own shelf 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Assignment 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cashier who says the total aloud and writes it down in one move.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43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for visits a list and a tuple</a:t>
            </a:r>
          </a:p>
        </p:txBody>
      </p:sp>
      <p:sp>
        <p:nvSpPr>
          <p:cNvPr id="4" name="code"/>
          <p:cNvSpPr/>
          <p:nvPr/>
        </p:nvSpPr>
        <p:spPr>
          <a:xfrm>
            <a:off x="365760" y="841248"/>
            <a:ext cx="409651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pets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9BE3A8"/>
                </a:solidFill>
                <a:latin typeface="Courier New"/>
              </a:rPr>
              <a:t>'cat'</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'tiger'</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'owl'</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pet</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pets</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pet</a:t>
            </a:r>
            <a:r>
              <a:rPr sz="1400" b="0" i="0">
                <a:solidFill>
                  <a:srgbClr val="E6EDF3"/>
                </a:solidFill>
                <a:latin typeface="Courier New"/>
              </a:rPr>
              <a:t>.</a:t>
            </a:r>
            <a:r>
              <a:rPr sz="1400" b="0" i="0">
                <a:solidFill>
                  <a:srgbClr val="E6EDF3"/>
                </a:solidFill>
                <a:latin typeface="Courier New"/>
              </a:rPr>
              <a:t>upper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pet</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4443984" y="841248"/>
            <a:ext cx="4334255" cy="833628"/>
          </a:xfrm>
          <a:prstGeom prst="rect">
            <a:avLst/>
          </a:prstGeom>
          <a:noFill/>
        </p:spPr>
        <p:txBody>
          <a:bodyPr wrap="square" lIns="128016" rIns="128016" tIns="18288" bIns="18288" anchor="ctr">
            <a:spAutoFit/>
          </a:bodyPr>
          <a:lstStyle/>
          <a:p>
            <a:r>
              <a:rPr sz="1250" b="0" i="0">
                <a:solidFill>
                  <a:srgbClr val="1F2933"/>
                </a:solidFill>
                <a:latin typeface="Calibri"/>
              </a:rPr>
              <a:t>A list is visited in order, item by item. Each pass shows the loop variable pet in capitals and its length.</a:t>
            </a:r>
          </a:p>
        </p:txBody>
      </p:sp>
      <p:sp>
        <p:nvSpPr>
          <p:cNvPr id="6" name="code"/>
          <p:cNvSpPr/>
          <p:nvPr/>
        </p:nvSpPr>
        <p:spPr>
          <a:xfrm>
            <a:off x="365760" y="1729740"/>
            <a:ext cx="409651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point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4</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coordinate</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point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coordinate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p:txBody>
      </p:sp>
      <p:sp>
        <p:nvSpPr>
          <p:cNvPr id="7" name="explanation"/>
          <p:cNvSpPr txBox="1"/>
          <p:nvPr/>
        </p:nvSpPr>
        <p:spPr>
          <a:xfrm>
            <a:off x="4443984" y="1729740"/>
            <a:ext cx="4334255" cy="833628"/>
          </a:xfrm>
          <a:prstGeom prst="rect">
            <a:avLst/>
          </a:prstGeom>
          <a:noFill/>
        </p:spPr>
        <p:txBody>
          <a:bodyPr wrap="square" lIns="128016" rIns="128016" tIns="18288" bIns="18288" anchor="ctr">
            <a:spAutoFit/>
          </a:bodyPr>
          <a:lstStyle/>
          <a:p>
            <a:r>
              <a:rPr sz="1250" b="0" i="0">
                <a:solidFill>
                  <a:srgbClr val="1F2933"/>
                </a:solidFill>
                <a:latin typeface="Calibri"/>
              </a:rPr>
              <a:t>A tuple is visited in the same way, but it cannot be changed. Lists use brackets and tuples use parentheses.</a:t>
            </a:r>
          </a:p>
        </p:txBody>
      </p:sp>
      <p:sp>
        <p:nvSpPr>
          <p:cNvPr id="8" name="result label"/>
          <p:cNvSpPr txBox="1"/>
          <p:nvPr/>
        </p:nvSpPr>
        <p:spPr>
          <a:xfrm>
            <a:off x="365760" y="263652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2910840"/>
          <a:ext cx="3364991" cy="1697736"/>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067251" y="2910840"/>
          <a:ext cx="4710987" cy="1371600"/>
        </p:xfrm>
        <a:graphic>
          <a:graphicData uri="http://schemas.openxmlformats.org/drawingml/2006/table">
            <a:tbl>
              <a:tblPr firstRow="0" bandRow="0"/>
              <a:tblGrid>
                <a:gridCol w="1634424"/>
                <a:gridCol w="1922852"/>
                <a:gridCol w="1153711"/>
              </a:tblGrid>
              <a:tr h="274320">
                <a:tc>
                  <a:txBody>
                    <a:bodyPr wrap="square"/>
                    <a:lstStyle/>
                    <a:p>
                      <a:r>
                        <a:rPr sz="100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tuple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brackets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has append()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alibri"/>
                        </a:rPr>
                        <a:t>visited by 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printed by the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CAT 3, TIGER 5, OWL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6, 8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Lists change, tuples do not; for visits both.</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43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for visits the pairs of a dictionary</a:t>
            </a:r>
          </a:p>
        </p:txBody>
      </p:sp>
      <p:sp>
        <p:nvSpPr>
          <p:cNvPr id="4" name="code"/>
          <p:cNvSpPr/>
          <p:nvPr/>
        </p:nvSpPr>
        <p:spPr>
          <a:xfrm>
            <a:off x="365760" y="841248"/>
            <a:ext cx="462991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ages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9BE3A8"/>
                </a:solidFill>
                <a:latin typeface="Courier New"/>
              </a:rPr>
              <a:t>'cat'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4</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'dog'</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'owl'</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age</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ages</a:t>
            </a:r>
            <a:r>
              <a:rPr sz="1400" b="0" i="0">
                <a:solidFill>
                  <a:srgbClr val="E6EDF3"/>
                </a:solidFill>
                <a:latin typeface="Courier New"/>
              </a:rPr>
              <a:t>.</a:t>
            </a:r>
            <a:r>
              <a:rPr sz="1400" b="0" i="0">
                <a:solidFill>
                  <a:srgbClr val="E6EDF3"/>
                </a:solidFill>
                <a:latin typeface="Courier New"/>
              </a:rPr>
              <a:t>items</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name</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'is'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age</a:t>
            </a:r>
            <a:r>
              <a:rPr sz="1400" b="0" i="0">
                <a:solidFill>
                  <a:srgbClr val="E6EDF3"/>
                </a:solidFill>
                <a:latin typeface="Courier New"/>
              </a:rPr>
              <a:t>)</a:t>
            </a:r>
          </a:p>
        </p:txBody>
      </p:sp>
      <p:sp>
        <p:nvSpPr>
          <p:cNvPr id="5" name="explanation"/>
          <p:cNvSpPr txBox="1"/>
          <p:nvPr/>
        </p:nvSpPr>
        <p:spPr>
          <a:xfrm>
            <a:off x="4977384" y="841248"/>
            <a:ext cx="3800855" cy="833628"/>
          </a:xfrm>
          <a:prstGeom prst="rect">
            <a:avLst/>
          </a:prstGeom>
          <a:noFill/>
        </p:spPr>
        <p:txBody>
          <a:bodyPr wrap="square" lIns="128016" rIns="128016" tIns="18288" bIns="18288" anchor="ctr">
            <a:spAutoFit/>
          </a:bodyPr>
          <a:lstStyle/>
          <a:p>
            <a:r>
              <a:rPr sz="1250" b="0" i="0">
                <a:solidFill>
                  <a:srgbClr val="1F2933"/>
                </a:solidFill>
                <a:latin typeface="Calibri"/>
              </a:rPr>
              <a:t>items() gives key and value pairs. The loop variables name and age unpack each pair into two names.</a:t>
            </a:r>
          </a:p>
        </p:txBody>
      </p:sp>
      <p:sp>
        <p:nvSpPr>
          <p:cNvPr id="6" name="code"/>
          <p:cNvSpPr/>
          <p:nvPr/>
        </p:nvSpPr>
        <p:spPr>
          <a:xfrm>
            <a:off x="365760" y="1729740"/>
            <a:ext cx="4629911"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sum</a:t>
            </a:r>
            <a:r>
              <a:rPr sz="1400" b="0" i="0">
                <a:solidFill>
                  <a:srgbClr val="E6EDF3"/>
                </a:solidFill>
                <a:latin typeface="Courier New"/>
              </a:rPr>
              <a:t>(</a:t>
            </a:r>
            <a:r>
              <a:rPr sz="1400" b="0" i="0">
                <a:solidFill>
                  <a:srgbClr val="E6EDF3"/>
                </a:solidFill>
                <a:latin typeface="Courier New"/>
              </a:rPr>
              <a:t>ages</a:t>
            </a:r>
            <a:r>
              <a:rPr sz="1400" b="0" i="0">
                <a:solidFill>
                  <a:srgbClr val="E6EDF3"/>
                </a:solidFill>
                <a:latin typeface="Courier New"/>
              </a:rPr>
              <a:t>.</a:t>
            </a:r>
            <a:r>
              <a:rPr sz="1400" b="0" i="0">
                <a:solidFill>
                  <a:srgbClr val="E6EDF3"/>
                </a:solidFill>
                <a:latin typeface="Courier New"/>
              </a:rPr>
              <a:t>values</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list</a:t>
            </a:r>
            <a:r>
              <a:rPr sz="1400" b="0" i="0">
                <a:solidFill>
                  <a:srgbClr val="E6EDF3"/>
                </a:solidFill>
                <a:latin typeface="Courier New"/>
              </a:rPr>
              <a:t>(</a:t>
            </a:r>
            <a:r>
              <a:rPr sz="1400" b="0" i="0">
                <a:solidFill>
                  <a:srgbClr val="E6EDF3"/>
                </a:solidFill>
                <a:latin typeface="Courier New"/>
              </a:rPr>
              <a:t>ages</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4977384" y="1729740"/>
            <a:ext cx="3800855" cy="524891"/>
          </a:xfrm>
          <a:prstGeom prst="rect">
            <a:avLst/>
          </a:prstGeom>
          <a:noFill/>
        </p:spPr>
        <p:txBody>
          <a:bodyPr wrap="square" lIns="128016" rIns="128016" tIns="18288" bIns="18288" anchor="ctr">
            <a:spAutoFit/>
          </a:bodyPr>
          <a:lstStyle/>
          <a:p>
            <a:r>
              <a:rPr sz="1250" b="0" i="0">
                <a:solidFill>
                  <a:srgbClr val="1F2933"/>
                </a:solidFill>
                <a:latin typeface="Calibri"/>
              </a:rPr>
              <a:t>values() gives only the values. A loop over the dictionary alone visits its keys.</a:t>
            </a:r>
          </a:p>
        </p:txBody>
      </p:sp>
      <p:sp>
        <p:nvSpPr>
          <p:cNvPr id="8" name="result label"/>
          <p:cNvSpPr txBox="1"/>
          <p:nvPr/>
        </p:nvSpPr>
        <p:spPr>
          <a:xfrm>
            <a:off x="365760" y="232778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2602103"/>
          <a:ext cx="3533241" cy="2006473"/>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235500" y="2602103"/>
          <a:ext cx="4542738" cy="1371600"/>
        </p:xfrm>
        <a:graphic>
          <a:graphicData uri="http://schemas.openxmlformats.org/drawingml/2006/table">
            <a:tbl>
              <a:tblPr firstRow="0" bandRow="0"/>
              <a:tblGrid>
                <a:gridCol w="1544531"/>
                <a:gridCol w="2998207"/>
              </a:tblGrid>
              <a:tr h="274320">
                <a:tc>
                  <a:txBody>
                    <a:bodyPr wrap="square"/>
                    <a:lstStyle/>
                    <a:p>
                      <a:r>
                        <a:rPr sz="9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Gives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ages.items()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[('cat', 4), ('dog', 7), ('owl',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ages.values()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[4, 7,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list(ages)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['cat', 'dog', 'owl']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sum(ages.values())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items() gives pairs; the loop unpacks them.</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43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enumerate and zip replace index arithmetic</a:t>
            </a:r>
          </a:p>
        </p:txBody>
      </p:sp>
      <p:sp>
        <p:nvSpPr>
          <p:cNvPr id="4" name="code"/>
          <p:cNvSpPr/>
          <p:nvPr/>
        </p:nvSpPr>
        <p:spPr>
          <a:xfrm>
            <a:off x="365760" y="841248"/>
            <a:ext cx="505663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names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9BE3A8"/>
                </a:solidFill>
                <a:latin typeface="Courier New"/>
              </a:rPr>
              <a:t>'ann'</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'bo'</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'cy'</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scores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7CC4FF"/>
                </a:solidFill>
                <a:latin typeface="Courier New"/>
              </a:rPr>
              <a:t>90</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75</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82</a:t>
            </a:r>
            <a:r>
              <a:rPr sz="1400" b="0" i="0">
                <a:solidFill>
                  <a:srgbClr val="E6EDF3"/>
                </a:solidFill>
                <a:latin typeface="Courier New"/>
              </a:rPr>
              <a:t>]</a:t>
            </a:r>
          </a:p>
        </p:txBody>
      </p:sp>
      <p:sp>
        <p:nvSpPr>
          <p:cNvPr id="5" name="explanation"/>
          <p:cNvSpPr txBox="1"/>
          <p:nvPr/>
        </p:nvSpPr>
        <p:spPr>
          <a:xfrm>
            <a:off x="5404104" y="841248"/>
            <a:ext cx="3374136" cy="616712"/>
          </a:xfrm>
          <a:prstGeom prst="rect">
            <a:avLst/>
          </a:prstGeom>
          <a:noFill/>
        </p:spPr>
        <p:txBody>
          <a:bodyPr wrap="square" lIns="128016" rIns="128016" tIns="18288" bIns="18288" anchor="ctr">
            <a:spAutoFit/>
          </a:bodyPr>
          <a:lstStyle/>
          <a:p>
            <a:r>
              <a:rPr sz="1250" b="0" i="0">
                <a:solidFill>
                  <a:srgbClr val="1F2933"/>
                </a:solidFill>
                <a:latin typeface="Calibri"/>
              </a:rPr>
              <a:t>Two lists that belong together by position.</a:t>
            </a:r>
          </a:p>
        </p:txBody>
      </p:sp>
      <p:sp>
        <p:nvSpPr>
          <p:cNvPr id="6" name="code"/>
          <p:cNvSpPr/>
          <p:nvPr/>
        </p:nvSpPr>
        <p:spPr>
          <a:xfrm>
            <a:off x="365760" y="1512824"/>
            <a:ext cx="505663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enumerate</a:t>
            </a:r>
            <a:r>
              <a:rPr sz="1400" b="0" i="0">
                <a:solidFill>
                  <a:srgbClr val="E6EDF3"/>
                </a:solidFill>
                <a:latin typeface="Courier New"/>
              </a:rPr>
              <a:t>(</a:t>
            </a:r>
            <a:r>
              <a:rPr sz="1400" b="0" i="0">
                <a:solidFill>
                  <a:srgbClr val="E6EDF3"/>
                </a:solidFill>
                <a:latin typeface="Courier New"/>
              </a:rPr>
              <a:t>names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start</a:t>
            </a:r>
            <a:r>
              <a:rPr sz="1400" b="0" i="0">
                <a:solidFill>
                  <a:srgbClr val="E6EDF3"/>
                </a:solidFill>
                <a:latin typeface="Courier New"/>
              </a:rPr>
              <a:t>=</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i</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a:t>
            </a:r>
          </a:p>
        </p:txBody>
      </p:sp>
      <p:sp>
        <p:nvSpPr>
          <p:cNvPr id="7" name="explanation"/>
          <p:cNvSpPr txBox="1"/>
          <p:nvPr/>
        </p:nvSpPr>
        <p:spPr>
          <a:xfrm>
            <a:off x="5404104" y="1512824"/>
            <a:ext cx="3374136" cy="723328"/>
          </a:xfrm>
          <a:prstGeom prst="rect">
            <a:avLst/>
          </a:prstGeom>
          <a:noFill/>
        </p:spPr>
        <p:txBody>
          <a:bodyPr wrap="square" lIns="128016" rIns="128016" tIns="18288" bIns="18288" anchor="ctr">
            <a:spAutoFit/>
          </a:bodyPr>
          <a:lstStyle/>
          <a:p>
            <a:r>
              <a:rPr sz="1250" b="0" i="0">
                <a:solidFill>
                  <a:srgbClr val="1F2933"/>
                </a:solidFill>
                <a:latin typeface="Calibri"/>
              </a:rPr>
              <a:t>enumerate hands out a counter and the item together, so range(len(names)) is not needed.</a:t>
            </a:r>
          </a:p>
        </p:txBody>
      </p:sp>
      <p:sp>
        <p:nvSpPr>
          <p:cNvPr id="8" name="code"/>
          <p:cNvSpPr/>
          <p:nvPr/>
        </p:nvSpPr>
        <p:spPr>
          <a:xfrm>
            <a:off x="365760" y="2291016"/>
            <a:ext cx="505663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score</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zip</a:t>
            </a:r>
            <a:r>
              <a:rPr sz="1400" b="0" i="0">
                <a:solidFill>
                  <a:srgbClr val="E6EDF3"/>
                </a:solidFill>
                <a:latin typeface="Courier New"/>
              </a:rPr>
              <a:t>(</a:t>
            </a:r>
            <a:r>
              <a:rPr sz="1400" b="0" i="0">
                <a:solidFill>
                  <a:srgbClr val="E6EDF3"/>
                </a:solidFill>
                <a:latin typeface="Courier New"/>
              </a:rPr>
              <a:t>names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scores</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name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score</a:t>
            </a:r>
            <a:r>
              <a:rPr sz="1400" b="0" i="0">
                <a:solidFill>
                  <a:srgbClr val="E6EDF3"/>
                </a:solidFill>
                <a:latin typeface="Courier New"/>
              </a:rPr>
              <a:t>)</a:t>
            </a:r>
          </a:p>
        </p:txBody>
      </p:sp>
      <p:sp>
        <p:nvSpPr>
          <p:cNvPr id="9" name="explanation"/>
          <p:cNvSpPr txBox="1"/>
          <p:nvPr/>
        </p:nvSpPr>
        <p:spPr>
          <a:xfrm>
            <a:off x="5404104" y="2291016"/>
            <a:ext cx="3374136" cy="616712"/>
          </a:xfrm>
          <a:prstGeom prst="rect">
            <a:avLst/>
          </a:prstGeom>
          <a:noFill/>
        </p:spPr>
        <p:txBody>
          <a:bodyPr wrap="square" lIns="128016" rIns="128016" tIns="18288" bIns="18288" anchor="ctr">
            <a:spAutoFit/>
          </a:bodyPr>
          <a:lstStyle/>
          <a:p>
            <a:r>
              <a:rPr sz="1250" b="0" i="0">
                <a:solidFill>
                  <a:srgbClr val="1F2933"/>
                </a:solidFill>
                <a:latin typeface="Calibri"/>
              </a:rPr>
              <a:t>zip walks two lists side by side and gives one pair per pass.</a:t>
            </a:r>
          </a:p>
        </p:txBody>
      </p:sp>
      <p:sp>
        <p:nvSpPr>
          <p:cNvPr id="10" name="result label"/>
          <p:cNvSpPr txBox="1"/>
          <p:nvPr/>
        </p:nvSpPr>
        <p:spPr>
          <a:xfrm>
            <a:off x="365760" y="298088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255200"/>
          <a:ext cx="3028492" cy="1353375"/>
        </p:xfrm>
        <a:graphic>
          <a:graphicData uri="http://schemas.openxmlformats.org/drawingml/2006/chart">
            <c:chart xmlns:c="http://schemas.openxmlformats.org/drawingml/2006/chart" r:id="rId3"/>
          </a:graphicData>
        </a:graphic>
      </p:graphicFrame>
      <p:graphicFrame>
        <p:nvGraphicFramePr>
          <p:cNvPr id="12" name="table"/>
          <p:cNvGraphicFramePr>
            <a:graphicFrameLocks noGrp="1"/>
          </p:cNvGraphicFramePr>
          <p:nvPr/>
        </p:nvGraphicFramePr>
        <p:xfrm>
          <a:off x="3730752" y="3255200"/>
          <a:ext cx="5047487" cy="1097280"/>
        </p:xfrm>
        <a:graphic>
          <a:graphicData uri="http://schemas.openxmlformats.org/drawingml/2006/table">
            <a:tbl>
              <a:tblPr firstRow="0" bandRow="0"/>
              <a:tblGrid>
                <a:gridCol w="2321844"/>
                <a:gridCol w="2725643"/>
              </a:tblGrid>
              <a:tr h="274320">
                <a:tc>
                  <a:txBody>
                    <a:bodyPr wrap="square"/>
                    <a:lstStyle/>
                    <a:p>
                      <a:r>
                        <a:rPr sz="1000" b="1" i="0">
                          <a:solidFill>
                            <a:srgbClr val="FFFFFF"/>
                          </a:solidFill>
                          <a:latin typeface="Calibri"/>
                        </a:rPr>
                        <a:t>enumerate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1, 'ann'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('ann', 90)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2, 'bo'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('bo', 75)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3, 'cy'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('cy', 82)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enumerate counts, zip pairs.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43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zip: stop silently, or insist on equal lengths</a:t>
            </a:r>
          </a:p>
        </p:txBody>
      </p:sp>
      <p:sp>
        <p:nvSpPr>
          <p:cNvPr id="4" name="code"/>
          <p:cNvSpPr/>
          <p:nvPr/>
        </p:nvSpPr>
        <p:spPr>
          <a:xfrm>
            <a:off x="365760" y="841248"/>
            <a:ext cx="5056631" cy="6709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try</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zip</a:t>
            </a:r>
            <a:r>
              <a:rPr sz="1050" b="0" i="0">
                <a:solidFill>
                  <a:srgbClr val="E6EDF3"/>
                </a:solidFill>
                <a:latin typeface="Courier New"/>
              </a:rPr>
              <a:t>(</a:t>
            </a:r>
            <a:r>
              <a:rPr sz="1050" b="0" i="0">
                <a:solidFill>
                  <a:srgbClr val="E6EDF3"/>
                </a:solidFill>
                <a:latin typeface="Courier New"/>
              </a:rPr>
              <a:t>[</a:t>
            </a:r>
            <a:r>
              <a:rPr sz="1050" b="0" i="0">
                <a:solidFill>
                  <a:srgbClr val="7CC4FF"/>
                </a:solidFill>
                <a:latin typeface="Courier New"/>
              </a:rPr>
              <a:t>1</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2</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3</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'x'</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'y'</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strict</a:t>
            </a:r>
            <a:r>
              <a:rPr sz="1050" b="0" i="0">
                <a:solidFill>
                  <a:srgbClr val="E6EDF3"/>
                </a:solidFill>
                <a:latin typeface="Courier New"/>
              </a:rPr>
              <a:t>=</a:t>
            </a:r>
            <a:r>
              <a:rPr sz="1050" b="0" i="0">
                <a:solidFill>
                  <a:srgbClr val="C9A0FF"/>
                </a:solidFill>
                <a:latin typeface="Courier New"/>
              </a:rPr>
              <a:t>True</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a:t>
            </a:r>
            <a:r>
              <a:rPr sz="1050" b="0" i="0">
                <a:solidFill>
                  <a:srgbClr val="E6EDF3"/>
                </a:solidFill>
                <a:latin typeface="Courier New"/>
              </a:rPr>
              <a:t>)</a:t>
            </a:r>
          </a:p>
        </p:txBody>
      </p:sp>
      <p:sp>
        <p:nvSpPr>
          <p:cNvPr id="5" name="explanation"/>
          <p:cNvSpPr txBox="1"/>
          <p:nvPr/>
        </p:nvSpPr>
        <p:spPr>
          <a:xfrm>
            <a:off x="5404104" y="841248"/>
            <a:ext cx="3374136" cy="670940"/>
          </a:xfrm>
          <a:prstGeom prst="rect">
            <a:avLst/>
          </a:prstGeom>
          <a:noFill/>
        </p:spPr>
        <p:txBody>
          <a:bodyPr wrap="square" lIns="128016" rIns="128016" tIns="18288" bIns="18288" anchor="ctr">
            <a:spAutoFit/>
          </a:bodyPr>
          <a:lstStyle/>
          <a:p>
            <a:r>
              <a:rPr sz="1200" b="0" i="0">
                <a:solidFill>
                  <a:srgbClr val="1F2933"/>
                </a:solidFill>
                <a:latin typeface="Calibri"/>
              </a:rPr>
              <a:t>strict=True makes zip check the lengths. The first two pairs are fine.</a:t>
            </a:r>
          </a:p>
        </p:txBody>
      </p:sp>
      <p:sp>
        <p:nvSpPr>
          <p:cNvPr id="6" name="code"/>
          <p:cNvSpPr/>
          <p:nvPr/>
        </p:nvSpPr>
        <p:spPr>
          <a:xfrm>
            <a:off x="365760" y="1567053"/>
            <a:ext cx="505663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except</a:t>
            </a:r>
            <a:r>
              <a:rPr sz="1050" b="0" i="0">
                <a:solidFill>
                  <a:srgbClr val="E6EDF3"/>
                </a:solidFill>
                <a:latin typeface="Courier New"/>
              </a:rPr>
              <a:t> </a:t>
            </a:r>
            <a:r>
              <a:rPr sz="1050" b="0" i="0">
                <a:solidFill>
                  <a:srgbClr val="E6EDF3"/>
                </a:solidFill>
                <a:latin typeface="Courier New"/>
              </a:rPr>
              <a:t>ValueError</a:t>
            </a:r>
            <a:r>
              <a:rPr sz="1050" b="0" i="0">
                <a:solidFill>
                  <a:srgbClr val="E6EDF3"/>
                </a:solidFill>
                <a:latin typeface="Courier New"/>
              </a:rPr>
              <a:t> </a:t>
            </a:r>
            <a:r>
              <a:rPr sz="1050" b="0" i="0">
                <a:solidFill>
                  <a:srgbClr val="C9A0FF"/>
                </a:solidFill>
                <a:latin typeface="Courier New"/>
              </a:rPr>
              <a:t>as</a:t>
            </a:r>
            <a:r>
              <a:rPr sz="1050" b="0" i="0">
                <a:solidFill>
                  <a:srgbClr val="E6EDF3"/>
                </a:solidFill>
                <a:latin typeface="Courier New"/>
              </a:rPr>
              <a:t> </a:t>
            </a:r>
            <a:r>
              <a:rPr sz="1050" b="0" i="0">
                <a:solidFill>
                  <a:srgbClr val="E6EDF3"/>
                </a:solidFill>
                <a:latin typeface="Courier New"/>
              </a:rPr>
              <a:t>err</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'ValueError:'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err</a:t>
            </a:r>
            <a:r>
              <a:rPr sz="1050" b="0" i="0">
                <a:solidFill>
                  <a:srgbClr val="E6EDF3"/>
                </a:solidFill>
                <a:latin typeface="Courier New"/>
              </a:rPr>
              <a:t>)</a:t>
            </a:r>
          </a:p>
        </p:txBody>
      </p:sp>
      <p:sp>
        <p:nvSpPr>
          <p:cNvPr id="7" name="explanation"/>
          <p:cNvSpPr txBox="1"/>
          <p:nvPr/>
        </p:nvSpPr>
        <p:spPr>
          <a:xfrm>
            <a:off x="5404104" y="1567053"/>
            <a:ext cx="3374136" cy="509016"/>
          </a:xfrm>
          <a:prstGeom prst="rect">
            <a:avLst/>
          </a:prstGeom>
          <a:noFill/>
        </p:spPr>
        <p:txBody>
          <a:bodyPr wrap="square" lIns="128016" rIns="128016" tIns="18288" bIns="18288" anchor="ctr">
            <a:spAutoFit/>
          </a:bodyPr>
          <a:lstStyle/>
          <a:p>
            <a:r>
              <a:rPr sz="1200" b="0" i="0">
                <a:solidFill>
                  <a:srgbClr val="1F2933"/>
                </a:solidFill>
                <a:latin typeface="Calibri"/>
              </a:rPr>
              <a:t>When one list runs out first, zip raises a ValueError (Python 3.10 and later).</a:t>
            </a:r>
          </a:p>
        </p:txBody>
      </p:sp>
      <p:sp>
        <p:nvSpPr>
          <p:cNvPr id="8" name="code"/>
          <p:cNvSpPr/>
          <p:nvPr/>
        </p:nvSpPr>
        <p:spPr>
          <a:xfrm>
            <a:off x="365760" y="2130933"/>
            <a:ext cx="505663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list</a:t>
            </a:r>
            <a:r>
              <a:rPr sz="1050" b="0" i="0">
                <a:solidFill>
                  <a:srgbClr val="E6EDF3"/>
                </a:solidFill>
                <a:latin typeface="Courier New"/>
              </a:rPr>
              <a:t>(</a:t>
            </a:r>
            <a:r>
              <a:rPr sz="1050" b="0" i="0">
                <a:solidFill>
                  <a:srgbClr val="E6EDF3"/>
                </a:solidFill>
                <a:latin typeface="Courier New"/>
              </a:rPr>
              <a:t>zip</a:t>
            </a:r>
            <a:r>
              <a:rPr sz="1050" b="0" i="0">
                <a:solidFill>
                  <a:srgbClr val="E6EDF3"/>
                </a:solidFill>
                <a:latin typeface="Courier New"/>
              </a:rPr>
              <a:t>(</a:t>
            </a:r>
            <a:r>
              <a:rPr sz="1050" b="0" i="0">
                <a:solidFill>
                  <a:srgbClr val="E6EDF3"/>
                </a:solidFill>
                <a:latin typeface="Courier New"/>
              </a:rPr>
              <a:t>[</a:t>
            </a:r>
            <a:r>
              <a:rPr sz="1050" b="0" i="0">
                <a:solidFill>
                  <a:srgbClr val="7CC4FF"/>
                </a:solidFill>
                <a:latin typeface="Courier New"/>
              </a:rPr>
              <a:t>1</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2</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3</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'x'</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'y'</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9" name="explanation"/>
          <p:cNvSpPr txBox="1"/>
          <p:nvPr/>
        </p:nvSpPr>
        <p:spPr>
          <a:xfrm>
            <a:off x="5404104" y="2130933"/>
            <a:ext cx="3374136" cy="699516"/>
          </a:xfrm>
          <a:prstGeom prst="rect">
            <a:avLst/>
          </a:prstGeom>
          <a:noFill/>
        </p:spPr>
        <p:txBody>
          <a:bodyPr wrap="square" lIns="128016" rIns="128016" tIns="18288" bIns="18288" anchor="ctr">
            <a:spAutoFit/>
          </a:bodyPr>
          <a:lstStyle/>
          <a:p>
            <a:r>
              <a:rPr sz="1200" b="0" i="0">
                <a:solidFill>
                  <a:srgbClr val="1F2933"/>
                </a:solidFill>
                <a:latin typeface="Calibri"/>
              </a:rPr>
              <a:t>Without strict, zip stops at the shorter list and the 3 is dropped without a word.</a:t>
            </a:r>
          </a:p>
        </p:txBody>
      </p:sp>
      <p:sp>
        <p:nvSpPr>
          <p:cNvPr id="10" name="result label"/>
          <p:cNvSpPr txBox="1"/>
          <p:nvPr/>
        </p:nvSpPr>
        <p:spPr>
          <a:xfrm>
            <a:off x="365760" y="290360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177920"/>
            <a:ext cx="45720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1</a:t>
            </a:r>
          </a:p>
        </p:txBody>
      </p:sp>
      <p:cxnSp>
        <p:nvCxnSpPr>
          <p:cNvPr id="12" name="arrow"/>
          <p:cNvCxnSpPr/>
          <p:nvPr/>
        </p:nvCxnSpPr>
        <p:spPr>
          <a:xfrm>
            <a:off x="868680" y="3324225"/>
            <a:ext cx="640080" cy="0"/>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554480" y="3177920"/>
            <a:ext cx="45720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'x'</a:t>
            </a:r>
          </a:p>
        </p:txBody>
      </p:sp>
      <p:sp>
        <p:nvSpPr>
          <p:cNvPr id="14" name="Rounded Rectangle 13"/>
          <p:cNvSpPr/>
          <p:nvPr/>
        </p:nvSpPr>
        <p:spPr>
          <a:xfrm>
            <a:off x="365760" y="3561968"/>
            <a:ext cx="45720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2</a:t>
            </a:r>
          </a:p>
        </p:txBody>
      </p:sp>
      <p:cxnSp>
        <p:nvCxnSpPr>
          <p:cNvPr id="15" name="arrow"/>
          <p:cNvCxnSpPr/>
          <p:nvPr/>
        </p:nvCxnSpPr>
        <p:spPr>
          <a:xfrm>
            <a:off x="868680" y="3708272"/>
            <a:ext cx="640080" cy="0"/>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554480" y="3561968"/>
            <a:ext cx="45720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'y'</a:t>
            </a:r>
          </a:p>
        </p:txBody>
      </p:sp>
      <p:sp>
        <p:nvSpPr>
          <p:cNvPr id="17" name="Rounded Rectangle 16"/>
          <p:cNvSpPr/>
          <p:nvPr/>
        </p:nvSpPr>
        <p:spPr>
          <a:xfrm>
            <a:off x="365760" y="3946017"/>
            <a:ext cx="45720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3</a:t>
            </a:r>
          </a:p>
        </p:txBody>
      </p:sp>
      <p:cxnSp>
        <p:nvCxnSpPr>
          <p:cNvPr id="18" name="arrow"/>
          <p:cNvCxnSpPr/>
          <p:nvPr/>
        </p:nvCxnSpPr>
        <p:spPr>
          <a:xfrm>
            <a:off x="868680" y="4092321"/>
            <a:ext cx="640080" cy="0"/>
          </a:xfrm>
          <a:prstGeom prst="line">
            <a:avLst/>
          </a:prstGeom>
          <a:ln w="1905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554480" y="3946017"/>
            <a:ext cx="822960" cy="292608"/>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no partner</a:t>
            </a:r>
          </a:p>
        </p:txBody>
      </p:sp>
      <p:graphicFrame>
        <p:nvGraphicFramePr>
          <p:cNvPr id="20" name="table"/>
          <p:cNvGraphicFramePr>
            <a:graphicFrameLocks noGrp="1"/>
          </p:cNvGraphicFramePr>
          <p:nvPr/>
        </p:nvGraphicFramePr>
        <p:xfrm>
          <a:off x="2743200" y="3177920"/>
          <a:ext cx="6035039" cy="1152144"/>
        </p:xfrm>
        <a:graphic>
          <a:graphicData uri="http://schemas.openxmlformats.org/drawingml/2006/table">
            <a:tbl>
              <a:tblPr firstRow="0" bandRow="0"/>
              <a:tblGrid>
                <a:gridCol w="2074544"/>
                <a:gridCol w="3960495"/>
              </a:tblGrid>
              <a:tr h="384048">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happens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4048">
                <a:tc>
                  <a:txBody>
                    <a:bodyPr wrap="square"/>
                    <a:lstStyle/>
                    <a:p>
                      <a:r>
                        <a:rPr sz="1000" b="0" i="0">
                          <a:solidFill>
                            <a:srgbClr val="1F2933"/>
                          </a:solidFill>
                          <a:latin typeface="Courier New"/>
                        </a:rPr>
                        <a:t>zip(..., strict=True)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ValueError: zip() argument 2 is shorter than argument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4048">
                <a:tc>
                  <a:txBody>
                    <a:bodyPr wrap="square"/>
                    <a:lstStyle/>
                    <a:p>
                      <a:r>
                        <a:rPr sz="1000" b="0" i="0">
                          <a:solidFill>
                            <a:srgbClr val="1F2933"/>
                          </a:solidFill>
                          <a:latin typeface="Courier New"/>
                        </a:rPr>
                        <a:t>zip(...) without strict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[(1, 'x'), (2, 'y')]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strict=True turns a silent drop into an error.</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43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Under every for: iter and next</a:t>
            </a:r>
          </a:p>
        </p:txBody>
      </p:sp>
      <p:sp>
        <p:nvSpPr>
          <p:cNvPr id="4" name="code"/>
          <p:cNvSpPr/>
          <p:nvPr/>
        </p:nvSpPr>
        <p:spPr>
          <a:xfrm>
            <a:off x="365760" y="841248"/>
            <a:ext cx="3860292"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it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iter</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C9A0FF"/>
                </a:solidFill>
                <a:latin typeface="Courier New"/>
              </a:rPr>
              <a:t>next</a:t>
            </a:r>
            <a:r>
              <a:rPr sz="1100" b="0" i="0">
                <a:solidFill>
                  <a:srgbClr val="E6EDF3"/>
                </a:solidFill>
                <a:latin typeface="Courier New"/>
              </a:rPr>
              <a:t>(</a:t>
            </a:r>
            <a:r>
              <a:rPr sz="1100" b="0" i="0">
                <a:solidFill>
                  <a:srgbClr val="E6EDF3"/>
                </a:solidFill>
                <a:latin typeface="Courier New"/>
              </a:rPr>
              <a:t>it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next</a:t>
            </a:r>
            <a:r>
              <a:rPr sz="1100" b="0" i="0">
                <a:solidFill>
                  <a:srgbClr val="E6EDF3"/>
                </a:solidFill>
                <a:latin typeface="Courier New"/>
              </a:rPr>
              <a:t>(</a:t>
            </a:r>
            <a:r>
              <a:rPr sz="1100" b="0" i="0">
                <a:solidFill>
                  <a:srgbClr val="E6EDF3"/>
                </a:solidFill>
                <a:latin typeface="Courier New"/>
              </a:rPr>
              <a:t>it</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4207764" y="841248"/>
            <a:ext cx="4570475" cy="523748"/>
          </a:xfrm>
          <a:prstGeom prst="rect">
            <a:avLst/>
          </a:prstGeom>
          <a:noFill/>
        </p:spPr>
        <p:txBody>
          <a:bodyPr wrap="square" lIns="128016" rIns="128016" tIns="18288" bIns="18288" anchor="ctr">
            <a:spAutoFit/>
          </a:bodyPr>
          <a:lstStyle/>
          <a:p>
            <a:r>
              <a:rPr sz="1200" b="0" i="0">
                <a:solidFill>
                  <a:srgbClr val="1F2933"/>
                </a:solidFill>
                <a:latin typeface="Calibri"/>
              </a:rPr>
              <a:t>iter asks a list for an iterator. Each next gives the following item. A for loop does this behind the scenes.</a:t>
            </a:r>
          </a:p>
        </p:txBody>
      </p:sp>
      <p:sp>
        <p:nvSpPr>
          <p:cNvPr id="6" name="code"/>
          <p:cNvSpPr/>
          <p:nvPr/>
        </p:nvSpPr>
        <p:spPr>
          <a:xfrm>
            <a:off x="365760" y="1419860"/>
            <a:ext cx="3860292"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next</a:t>
            </a:r>
            <a:r>
              <a:rPr sz="1100" b="0" i="0">
                <a:solidFill>
                  <a:srgbClr val="E6EDF3"/>
                </a:solidFill>
                <a:latin typeface="Courier New"/>
              </a:rPr>
              <a:t>(</a:t>
            </a:r>
            <a:r>
              <a:rPr sz="1100" b="0" i="0">
                <a:solidFill>
                  <a:srgbClr val="E6EDF3"/>
                </a:solidFill>
                <a:latin typeface="Courier New"/>
              </a:rPr>
              <a:t>it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except</a:t>
            </a:r>
            <a:r>
              <a:rPr sz="1100" b="0" i="0">
                <a:solidFill>
                  <a:srgbClr val="E6EDF3"/>
                </a:solidFill>
                <a:latin typeface="Courier New"/>
              </a:rPr>
              <a:t> </a:t>
            </a:r>
            <a:r>
              <a:rPr sz="1100" b="0" i="0">
                <a:solidFill>
                  <a:srgbClr val="E6EDF3"/>
                </a:solidFill>
                <a:latin typeface="Courier New"/>
              </a:rPr>
              <a:t>StopIteration</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'exhausted'</a:t>
            </a:r>
            <a:r>
              <a:rPr sz="1100" b="0" i="0">
                <a:solidFill>
                  <a:srgbClr val="E6EDF3"/>
                </a:solidFill>
                <a:latin typeface="Courier New"/>
              </a:rPr>
              <a:t>)</a:t>
            </a:r>
          </a:p>
        </p:txBody>
      </p:sp>
      <p:sp>
        <p:nvSpPr>
          <p:cNvPr id="7" name="explanation"/>
          <p:cNvSpPr txBox="1"/>
          <p:nvPr/>
        </p:nvSpPr>
        <p:spPr>
          <a:xfrm>
            <a:off x="4207764" y="1419860"/>
            <a:ext cx="4570475" cy="864615"/>
          </a:xfrm>
          <a:prstGeom prst="rect">
            <a:avLst/>
          </a:prstGeom>
          <a:noFill/>
        </p:spPr>
        <p:txBody>
          <a:bodyPr wrap="square" lIns="128016" rIns="128016" tIns="18288" bIns="18288" anchor="ctr">
            <a:spAutoFit/>
          </a:bodyPr>
          <a:lstStyle/>
          <a:p>
            <a:r>
              <a:rPr sz="1200" b="0" i="0">
                <a:solidFill>
                  <a:srgbClr val="1F2933"/>
                </a:solidFill>
                <a:latin typeface="Calibri"/>
              </a:rPr>
              <a:t>When no items are left, next raises StopIteration. The for statement catches it and ends the loop quietly.</a:t>
            </a:r>
          </a:p>
        </p:txBody>
      </p:sp>
      <p:sp>
        <p:nvSpPr>
          <p:cNvPr id="8" name="code"/>
          <p:cNvSpPr/>
          <p:nvPr/>
        </p:nvSpPr>
        <p:spPr>
          <a:xfrm>
            <a:off x="365760" y="2339340"/>
            <a:ext cx="386029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iter</a:t>
            </a:r>
            <a:r>
              <a:rPr sz="1100" b="0" i="0">
                <a:solidFill>
                  <a:srgbClr val="E6EDF3"/>
                </a:solidFill>
                <a:latin typeface="Courier New"/>
              </a:rPr>
              <a:t>(</a:t>
            </a:r>
            <a:r>
              <a:rPr sz="1100" b="0" i="0">
                <a:solidFill>
                  <a:srgbClr val="E6EDF3"/>
                </a:solidFill>
                <a:latin typeface="Courier New"/>
              </a:rPr>
              <a:t>it</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is</a:t>
            </a:r>
            <a:r>
              <a:rPr sz="1100" b="0" i="0">
                <a:solidFill>
                  <a:srgbClr val="E6EDF3"/>
                </a:solidFill>
                <a:latin typeface="Courier New"/>
              </a:rPr>
              <a:t> </a:t>
            </a:r>
            <a:r>
              <a:rPr sz="1100" b="0" i="0">
                <a:solidFill>
                  <a:srgbClr val="E6EDF3"/>
                </a:solidFill>
                <a:latin typeface="Courier New"/>
              </a:rPr>
              <a:t>it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iter</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is</a:t>
            </a:r>
            <a:r>
              <a:rPr sz="1100" b="0" i="0">
                <a:solidFill>
                  <a:srgbClr val="E6EDF3"/>
                </a:solidFill>
                <a:latin typeface="Courier New"/>
              </a:rPr>
              <a:t> </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4207764" y="2339340"/>
            <a:ext cx="4570475" cy="509016"/>
          </a:xfrm>
          <a:prstGeom prst="rect">
            <a:avLst/>
          </a:prstGeom>
          <a:noFill/>
        </p:spPr>
        <p:txBody>
          <a:bodyPr wrap="square" lIns="128016" rIns="128016" tIns="18288" bIns="18288" anchor="ctr">
            <a:spAutoFit/>
          </a:bodyPr>
          <a:lstStyle/>
          <a:p>
            <a:r>
              <a:rPr sz="1200" b="0" i="0">
                <a:solidFill>
                  <a:srgbClr val="1F2933"/>
                </a:solidFill>
                <a:latin typeface="Calibri"/>
              </a:rPr>
              <a:t>An iterator returns itself from iter. An iterable such as a list gives a new iterator every time.</a:t>
            </a:r>
          </a:p>
        </p:txBody>
      </p:sp>
      <p:sp>
        <p:nvSpPr>
          <p:cNvPr id="10" name="result label"/>
          <p:cNvSpPr txBox="1"/>
          <p:nvPr/>
        </p:nvSpPr>
        <p:spPr>
          <a:xfrm>
            <a:off x="365760" y="292150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195828"/>
            <a:ext cx="128016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 'b']</a:t>
            </a:r>
          </a:p>
        </p:txBody>
      </p:sp>
      <p:cxnSp>
        <p:nvCxnSpPr>
          <p:cNvPr id="12" name="arrow"/>
          <p:cNvCxnSpPr/>
          <p:nvPr/>
        </p:nvCxnSpPr>
        <p:spPr>
          <a:xfrm>
            <a:off x="1664207" y="3360420"/>
            <a:ext cx="18288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874519" y="3195828"/>
            <a:ext cx="109728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iter(...)</a:t>
            </a:r>
          </a:p>
        </p:txBody>
      </p:sp>
      <p:cxnSp>
        <p:nvCxnSpPr>
          <p:cNvPr id="14" name="arrow"/>
          <p:cNvCxnSpPr/>
          <p:nvPr/>
        </p:nvCxnSpPr>
        <p:spPr>
          <a:xfrm>
            <a:off x="2990088" y="3360420"/>
            <a:ext cx="18288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00400" y="3195828"/>
            <a:ext cx="118872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next -&gt; a</a:t>
            </a:r>
          </a:p>
        </p:txBody>
      </p:sp>
      <p:cxnSp>
        <p:nvCxnSpPr>
          <p:cNvPr id="16" name="arrow"/>
          <p:cNvCxnSpPr/>
          <p:nvPr/>
        </p:nvCxnSpPr>
        <p:spPr>
          <a:xfrm>
            <a:off x="4407407" y="3360420"/>
            <a:ext cx="18288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617720" y="3195828"/>
            <a:ext cx="118872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next -&gt; b</a:t>
            </a:r>
          </a:p>
        </p:txBody>
      </p:sp>
      <p:cxnSp>
        <p:nvCxnSpPr>
          <p:cNvPr id="18" name="arrow"/>
          <p:cNvCxnSpPr/>
          <p:nvPr/>
        </p:nvCxnSpPr>
        <p:spPr>
          <a:xfrm>
            <a:off x="5824727" y="3360420"/>
            <a:ext cx="18288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035040" y="3195828"/>
            <a:ext cx="192024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next -&gt; StopIteration</a:t>
            </a:r>
          </a:p>
        </p:txBody>
      </p:sp>
      <p:graphicFrame>
        <p:nvGraphicFramePr>
          <p:cNvPr id="20" name="table"/>
          <p:cNvGraphicFramePr>
            <a:graphicFrameLocks noGrp="1"/>
          </p:cNvGraphicFramePr>
          <p:nvPr/>
        </p:nvGraphicFramePr>
        <p:xfrm>
          <a:off x="365760" y="3653028"/>
          <a:ext cx="8412478" cy="914400"/>
        </p:xfrm>
        <a:graphic>
          <a:graphicData uri="http://schemas.openxmlformats.org/drawingml/2006/table">
            <a:tbl>
              <a:tblPr firstRow="0" bandRow="0"/>
              <a:tblGrid>
                <a:gridCol w="3496095"/>
                <a:gridCol w="1420288"/>
                <a:gridCol w="3496095"/>
              </a:tblGrid>
              <a:tr h="228600">
                <a:tc>
                  <a:txBody>
                    <a:bodyPr wrap="square"/>
                    <a:lstStyle/>
                    <a:p>
                      <a:r>
                        <a:rPr sz="1000" b="1" i="0">
                          <a:solidFill>
                            <a:srgbClr val="FFFFFF"/>
                          </a:solidFill>
                          <a:latin typeface="Calibri"/>
                        </a:rPr>
                        <a:t>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Meaning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8600">
                <a:tc>
                  <a:txBody>
                    <a:bodyPr wrap="square"/>
                    <a:lstStyle/>
                    <a:p>
                      <a:r>
                        <a:rPr sz="1000" b="0" i="0">
                          <a:solidFill>
                            <a:srgbClr val="1F2933"/>
                          </a:solidFill>
                          <a:latin typeface="Courier New"/>
                        </a:rPr>
                        <a:t>print(next(it), next(it))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two items, in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ourier New"/>
                        </a:rPr>
                        <a:t>next(it) once more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exhausted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StopIteration was caught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ourier New"/>
                        </a:rPr>
                        <a:t>iter(it) is it, iter([1]) is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True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iterator: True; list: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for loop is iter and next until StopIteration.</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43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break, and the else clause of a loop</a:t>
            </a:r>
          </a:p>
        </p:txBody>
      </p:sp>
      <p:sp>
        <p:nvSpPr>
          <p:cNvPr id="4" name="code"/>
          <p:cNvSpPr/>
          <p:nvPr/>
        </p:nvSpPr>
        <p:spPr>
          <a:xfrm>
            <a:off x="365760" y="841248"/>
            <a:ext cx="4614671"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nums</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5</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8</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5</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n</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E6EDF3"/>
                </a:solidFill>
                <a:latin typeface="Courier New"/>
              </a:rPr>
              <a:t>nums</a:t>
            </a:r>
            <a:r>
              <a:rPr sz="1300" b="0" i="0">
                <a:solidFill>
                  <a:srgbClr val="E6EDF3"/>
                </a:solidFill>
                <a:latin typeface="Courier New"/>
              </a:rPr>
              <a:t>:</a:t>
            </a:r>
          </a:p>
        </p:txBody>
      </p:sp>
      <p:sp>
        <p:nvSpPr>
          <p:cNvPr id="5" name="explanation"/>
          <p:cNvSpPr txBox="1"/>
          <p:nvPr/>
        </p:nvSpPr>
        <p:spPr>
          <a:xfrm>
            <a:off x="4962144" y="841248"/>
            <a:ext cx="3816095" cy="585724"/>
          </a:xfrm>
          <a:prstGeom prst="rect">
            <a:avLst/>
          </a:prstGeom>
          <a:noFill/>
        </p:spPr>
        <p:txBody>
          <a:bodyPr wrap="square" lIns="128016" rIns="128016" tIns="18288" bIns="18288" anchor="ctr">
            <a:spAutoFit/>
          </a:bodyPr>
          <a:lstStyle/>
          <a:p>
            <a:r>
              <a:rPr sz="1250" b="0" i="0">
                <a:solidFill>
                  <a:srgbClr val="1F2933"/>
                </a:solidFill>
                <a:latin typeface="Calibri"/>
              </a:rPr>
              <a:t>The outer loop takes two lists. The inner loop looks for the first even number in each.</a:t>
            </a:r>
          </a:p>
        </p:txBody>
      </p:sp>
      <p:sp>
        <p:nvSpPr>
          <p:cNvPr id="6" name="code"/>
          <p:cNvSpPr/>
          <p:nvPr/>
        </p:nvSpPr>
        <p:spPr>
          <a:xfrm>
            <a:off x="365760" y="1481836"/>
            <a:ext cx="4614671" cy="78714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if</a:t>
            </a:r>
            <a:r>
              <a:rPr sz="1300" b="0" i="0">
                <a:solidFill>
                  <a:srgbClr val="E6EDF3"/>
                </a:solidFill>
                <a:latin typeface="Courier New"/>
              </a:rPr>
              <a:t> </a:t>
            </a:r>
            <a:r>
              <a:rPr sz="1300" b="0" i="0">
                <a:solidFill>
                  <a:srgbClr val="E6EDF3"/>
                </a:solidFill>
                <a:latin typeface="Courier New"/>
              </a:rPr>
              <a:t>n</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2</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0</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nums</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'first even'</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n</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break</a:t>
            </a:r>
          </a:p>
        </p:txBody>
      </p:sp>
      <p:sp>
        <p:nvSpPr>
          <p:cNvPr id="7" name="explanation"/>
          <p:cNvSpPr txBox="1"/>
          <p:nvPr/>
        </p:nvSpPr>
        <p:spPr>
          <a:xfrm>
            <a:off x="4962144" y="1481836"/>
            <a:ext cx="3816095" cy="787146"/>
          </a:xfrm>
          <a:prstGeom prst="rect">
            <a:avLst/>
          </a:prstGeom>
          <a:noFill/>
        </p:spPr>
        <p:txBody>
          <a:bodyPr wrap="square" lIns="128016" rIns="128016" tIns="18288" bIns="18288" anchor="ctr">
            <a:spAutoFit/>
          </a:bodyPr>
          <a:lstStyle/>
          <a:p>
            <a:r>
              <a:rPr sz="1250" b="0" i="0">
                <a:solidFill>
                  <a:srgbClr val="1F2933"/>
                </a:solidFill>
                <a:latin typeface="Calibri"/>
              </a:rPr>
              <a:t>break leaves only the inner loop. The outer loop carries on with the next list.</a:t>
            </a:r>
          </a:p>
        </p:txBody>
      </p:sp>
      <p:sp>
        <p:nvSpPr>
          <p:cNvPr id="8" name="code"/>
          <p:cNvSpPr/>
          <p:nvPr/>
        </p:nvSpPr>
        <p:spPr>
          <a:xfrm>
            <a:off x="365760" y="2323846"/>
            <a:ext cx="4614671"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else</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nums</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'no even number'</a:t>
            </a:r>
            <a:r>
              <a:rPr sz="1300" b="0" i="0">
                <a:solidFill>
                  <a:srgbClr val="E6EDF3"/>
                </a:solidFill>
                <a:latin typeface="Courier New"/>
              </a:rPr>
              <a:t>)</a:t>
            </a:r>
          </a:p>
        </p:txBody>
      </p:sp>
      <p:sp>
        <p:nvSpPr>
          <p:cNvPr id="9" name="explanation"/>
          <p:cNvSpPr txBox="1"/>
          <p:nvPr/>
        </p:nvSpPr>
        <p:spPr>
          <a:xfrm>
            <a:off x="4962144" y="2323846"/>
            <a:ext cx="3816095" cy="585724"/>
          </a:xfrm>
          <a:prstGeom prst="rect">
            <a:avLst/>
          </a:prstGeom>
          <a:noFill/>
        </p:spPr>
        <p:txBody>
          <a:bodyPr wrap="square" lIns="128016" rIns="128016" tIns="18288" bIns="18288" anchor="ctr">
            <a:spAutoFit/>
          </a:bodyPr>
          <a:lstStyle/>
          <a:p>
            <a:r>
              <a:rPr sz="1250" b="0" i="0">
                <a:solidFill>
                  <a:srgbClr val="1F2933"/>
                </a:solidFill>
                <a:latin typeface="Calibri"/>
              </a:rPr>
              <a:t>The else belongs to the inner for. It runs only when the loop ended without a break.</a:t>
            </a:r>
          </a:p>
        </p:txBody>
      </p:sp>
      <p:sp>
        <p:nvSpPr>
          <p:cNvPr id="10" name="result label"/>
          <p:cNvSpPr txBox="1"/>
          <p:nvPr/>
        </p:nvSpPr>
        <p:spPr>
          <a:xfrm>
            <a:off x="365760" y="298272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57042"/>
          <a:ext cx="5888734" cy="987552"/>
        </p:xfrm>
        <a:graphic>
          <a:graphicData uri="http://schemas.openxmlformats.org/drawingml/2006/table">
            <a:tbl>
              <a:tblPr firstRow="0" bandRow="0"/>
              <a:tblGrid>
                <a:gridCol w="1385584"/>
                <a:gridCol w="1731981"/>
                <a:gridCol w="1558783"/>
                <a:gridCol w="1212386"/>
              </a:tblGrid>
              <a:tr h="329184">
                <a:tc>
                  <a:txBody>
                    <a:bodyPr wrap="square"/>
                    <a:lstStyle/>
                    <a:p>
                      <a:r>
                        <a:rPr sz="1050" b="1" i="0">
                          <a:solidFill>
                            <a:srgbClr val="FFFFFF"/>
                          </a:solidFill>
                          <a:latin typeface="Calibri"/>
                        </a:rPr>
                        <a:t>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First even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break happened?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else ran?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50" b="0" i="0">
                          <a:solidFill>
                            <a:srgbClr val="1F2933"/>
                          </a:solidFill>
                          <a:latin typeface="Courier New"/>
                        </a:rPr>
                        <a:t>[3, 5, 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050" b="0" i="0">
                          <a:solidFill>
                            <a:srgbClr val="1F2933"/>
                          </a:solidFill>
                          <a:latin typeface="Courier New"/>
                        </a:rPr>
                        <a:t>[3, 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6506870" y="3257042"/>
            <a:ext cx="2271369"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break -&gt; skip else</a:t>
            </a:r>
          </a:p>
        </p:txBody>
      </p:sp>
      <p:sp>
        <p:nvSpPr>
          <p:cNvPr id="13" name="Rounded Rectangle 12"/>
          <p:cNvSpPr/>
          <p:nvPr/>
        </p:nvSpPr>
        <p:spPr>
          <a:xfrm>
            <a:off x="6506870" y="3714242"/>
            <a:ext cx="2271369"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no break -&gt; else runs</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else on a loop means: no break happened.</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43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Modules and leaving early</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Borrow code by name, and end a program with a status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import</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Opens another file of code under its own name.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Namespace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Each module keeps its own names apart.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sys.exit()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Ends a program by raising the exception SystemExit.</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Exit status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number that tells the caller how it ended.</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modules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import random: a seeded dice roll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Two import forms, two namespaces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When import fails: the module search 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leaving early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sys.exit() ends a program with an 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43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modules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module is a labelled toolbox from the hardware shop: you borrow it and keep your own toolbox apart.</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2926080"/>
                <a:gridCol w="548640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Importing Modules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Borrowing a toolbox from the shop by its label.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labelled toolbox of ready-made tools.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Namespace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street address: two houses can each have a kitchen without any mix-up.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Module search path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shops on your list, visited in order until one has the toolbox.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43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import random: a seeded dice roll</a:t>
            </a:r>
          </a:p>
        </p:txBody>
      </p:sp>
      <p:sp>
        <p:nvSpPr>
          <p:cNvPr id="4" name="code"/>
          <p:cNvSpPr/>
          <p:nvPr/>
        </p:nvSpPr>
        <p:spPr>
          <a:xfrm>
            <a:off x="365760" y="841248"/>
            <a:ext cx="494995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random</a:t>
            </a:r>
          </a:p>
          <a:p>
            <a:pPr algn="l"/>
            <a:r>
              <a:rPr sz="1100" b="0" i="0">
                <a:solidFill>
                  <a:srgbClr val="8FA3B8"/>
                </a:solidFill>
                <a:latin typeface="Courier New"/>
              </a:rPr>
              <a:t>&gt;&gt;&gt;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seed</a:t>
            </a:r>
            <a:r>
              <a:rPr sz="1100" b="0" i="0">
                <a:solidFill>
                  <a:srgbClr val="E6EDF3"/>
                </a:solidFill>
                <a:latin typeface="Courier New"/>
              </a:rPr>
              <a:t>(</a:t>
            </a:r>
            <a:r>
              <a:rPr sz="1100" b="0" i="0">
                <a:solidFill>
                  <a:srgbClr val="7CC4FF"/>
                </a:solidFill>
                <a:latin typeface="Courier New"/>
              </a:rPr>
              <a:t>42</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rolls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297424" y="841248"/>
            <a:ext cx="3480815" cy="699516"/>
          </a:xfrm>
          <a:prstGeom prst="rect">
            <a:avLst/>
          </a:prstGeom>
          <a:noFill/>
        </p:spPr>
        <p:txBody>
          <a:bodyPr wrap="square" lIns="128016" rIns="128016" tIns="18288" bIns="18288" anchor="ctr">
            <a:spAutoFit/>
          </a:bodyPr>
          <a:lstStyle/>
          <a:p>
            <a:r>
              <a:rPr sz="1200" b="0" i="0">
                <a:solidFill>
                  <a:srgbClr val="1F2933"/>
                </a:solidFill>
                <a:latin typeface="Calibri"/>
              </a:rPr>
              <a:t>import random opens a standard module. seed(42) fixes the starting point, so every run gives the same rolls.</a:t>
            </a:r>
          </a:p>
        </p:txBody>
      </p:sp>
      <p:sp>
        <p:nvSpPr>
          <p:cNvPr id="6" name="code"/>
          <p:cNvSpPr/>
          <p:nvPr/>
        </p:nvSpPr>
        <p:spPr>
          <a:xfrm>
            <a:off x="365760" y="1595628"/>
            <a:ext cx="494995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_</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6</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rolls</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randint</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6</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297424" y="1595628"/>
            <a:ext cx="3480815" cy="699516"/>
          </a:xfrm>
          <a:prstGeom prst="rect">
            <a:avLst/>
          </a:prstGeom>
          <a:noFill/>
        </p:spPr>
        <p:txBody>
          <a:bodyPr wrap="square" lIns="128016" rIns="128016" tIns="18288" bIns="18288" anchor="ctr">
            <a:spAutoFit/>
          </a:bodyPr>
          <a:lstStyle/>
          <a:p>
            <a:r>
              <a:rPr sz="1200" b="0" i="0">
                <a:solidFill>
                  <a:srgbClr val="1F2933"/>
                </a:solidFill>
                <a:latin typeface="Calibri"/>
              </a:rPr>
              <a:t>randint(1, 6) includes both ends. The underscore says that the loop variable is not used.</a:t>
            </a:r>
          </a:p>
        </p:txBody>
      </p:sp>
      <p:sp>
        <p:nvSpPr>
          <p:cNvPr id="8" name="code"/>
          <p:cNvSpPr/>
          <p:nvPr/>
        </p:nvSpPr>
        <p:spPr>
          <a:xfrm>
            <a:off x="365760" y="2350008"/>
            <a:ext cx="494995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rolls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p>
        </p:txBody>
      </p:sp>
      <p:sp>
        <p:nvSpPr>
          <p:cNvPr id="9" name="explanation"/>
          <p:cNvSpPr txBox="1"/>
          <p:nvPr/>
        </p:nvSpPr>
        <p:spPr>
          <a:xfrm>
            <a:off x="5297424" y="2350008"/>
            <a:ext cx="3480815" cy="509016"/>
          </a:xfrm>
          <a:prstGeom prst="rect">
            <a:avLst/>
          </a:prstGeom>
          <a:noFill/>
        </p:spPr>
        <p:txBody>
          <a:bodyPr wrap="square" lIns="128016" rIns="128016" tIns="18288" bIns="18288" anchor="ctr">
            <a:spAutoFit/>
          </a:bodyPr>
          <a:lstStyle/>
          <a:p>
            <a:r>
              <a:rPr sz="1200" b="0" i="0">
                <a:solidFill>
                  <a:srgbClr val="1F2933"/>
                </a:solidFill>
                <a:latin typeface="Calibri"/>
              </a:rPr>
              <a:t>A module is an object with a name. Its contents are reached with a dot.</a:t>
            </a:r>
          </a:p>
        </p:txBody>
      </p:sp>
      <p:sp>
        <p:nvSpPr>
          <p:cNvPr id="10" name="result label"/>
          <p:cNvSpPr txBox="1"/>
          <p:nvPr/>
        </p:nvSpPr>
        <p:spPr>
          <a:xfrm>
            <a:off x="365760" y="29321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206496"/>
          <a:ext cx="3785615" cy="1402080"/>
        </p:xfrm>
        <a:graphic>
          <a:graphicData uri="http://schemas.openxmlformats.org/drawingml/2006/chart">
            <c:chart xmlns:c="http://schemas.openxmlformats.org/drawingml/2006/chart" r:id="rId3"/>
          </a:graphicData>
        </a:graphic>
      </p:graphicFrame>
      <p:graphicFrame>
        <p:nvGraphicFramePr>
          <p:cNvPr id="12" name="table"/>
          <p:cNvGraphicFramePr>
            <a:graphicFrameLocks noGrp="1"/>
          </p:cNvGraphicFramePr>
          <p:nvPr/>
        </p:nvGraphicFramePr>
        <p:xfrm>
          <a:off x="4487875" y="3206496"/>
          <a:ext cx="4290363" cy="1170432"/>
        </p:xfrm>
        <a:graphic>
          <a:graphicData uri="http://schemas.openxmlformats.org/drawingml/2006/table">
            <a:tbl>
              <a:tblPr firstRow="0" bandRow="0"/>
              <a:tblGrid>
                <a:gridCol w="2008255"/>
                <a:gridCol w="2282108"/>
              </a:tblGrid>
              <a:tr h="292608">
                <a:tc>
                  <a:txBody>
                    <a:bodyPr wrap="square"/>
                    <a:lstStyle/>
                    <a:p>
                      <a:r>
                        <a:rPr sz="1000" b="1" i="0">
                          <a:solidFill>
                            <a:srgbClr val="FFFFFF"/>
                          </a:solidFill>
                          <a:latin typeface="Calibri"/>
                        </a:rPr>
                        <a:t>What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1000" b="0" i="0">
                          <a:solidFill>
                            <a:srgbClr val="1F2933"/>
                          </a:solidFill>
                          <a:latin typeface="Courier New"/>
                        </a:rPr>
                        <a:t>rolls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[6, 1, 1, 6, 3,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1000" b="0" i="0">
                          <a:solidFill>
                            <a:srgbClr val="1F2933"/>
                          </a:solidFill>
                          <a:latin typeface="Courier New"/>
                        </a:rPr>
                        <a:t>random.__name__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'random'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r>
                        <a:rPr sz="1000" b="0" i="0">
                          <a:solidFill>
                            <a:srgbClr val="1F2933"/>
                          </a:solidFill>
                          <a:latin typeface="Courier New"/>
                        </a:rPr>
                        <a:t>type(random).__name__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seed makes random repeat itself.</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43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import forms, two namespaces</a:t>
            </a:r>
          </a:p>
        </p:txBody>
      </p:sp>
      <p:sp>
        <p:nvSpPr>
          <p:cNvPr id="4" name="code"/>
          <p:cNvSpPr/>
          <p:nvPr/>
        </p:nvSpPr>
        <p:spPr>
          <a:xfrm>
            <a:off x="365760" y="841248"/>
            <a:ext cx="3105912"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math</a:t>
            </a:r>
          </a:p>
          <a:p>
            <a:pPr algn="l"/>
            <a:r>
              <a:rPr sz="1100" b="0" i="0">
                <a:solidFill>
                  <a:srgbClr val="8FA3B8"/>
                </a:solidFill>
                <a:latin typeface="Courier New"/>
              </a:rPr>
              <a:t>&gt;&gt;&gt; </a:t>
            </a:r>
            <a:r>
              <a:rPr sz="1100" b="0" i="0">
                <a:solidFill>
                  <a:srgbClr val="C9A0FF"/>
                </a:solidFill>
                <a:latin typeface="Courier New"/>
              </a:rPr>
              <a:t>from</a:t>
            </a:r>
            <a:r>
              <a:rPr sz="1100" b="0" i="0">
                <a:solidFill>
                  <a:srgbClr val="E6EDF3"/>
                </a:solidFill>
                <a:latin typeface="Courier New"/>
              </a:rPr>
              <a:t> </a:t>
            </a:r>
            <a:r>
              <a:rPr sz="1100" b="0" i="0">
                <a:solidFill>
                  <a:srgbClr val="E6EDF3"/>
                </a:solidFill>
                <a:latin typeface="Courier New"/>
              </a:rPr>
              <a:t>math</a:t>
            </a:r>
            <a:r>
              <a:rPr sz="1100" b="0" i="0">
                <a:solidFill>
                  <a:srgbClr val="E6EDF3"/>
                </a:solidFill>
                <a:latin typeface="Courier New"/>
              </a:rPr>
              <a: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sqrt</a:t>
            </a:r>
            <a:r>
              <a:rPr sz="1100" b="0" i="0">
                <a:solidFill>
                  <a:srgbClr val="E6EDF3"/>
                </a:solidFill>
                <a:latin typeface="Courier New"/>
              </a:rPr>
              <a:t> </a:t>
            </a:r>
            <a:r>
              <a:rPr sz="1100" b="0" i="0">
                <a:solidFill>
                  <a:srgbClr val="C9A0FF"/>
                </a:solidFill>
                <a:latin typeface="Courier New"/>
              </a:rPr>
              <a:t>as</a:t>
            </a:r>
            <a:r>
              <a:rPr sz="1100" b="0" i="0">
                <a:solidFill>
                  <a:srgbClr val="E6EDF3"/>
                </a:solidFill>
                <a:latin typeface="Courier New"/>
              </a:rPr>
              <a:t> </a:t>
            </a:r>
            <a:r>
              <a:rPr sz="1100" b="0" i="0">
                <a:solidFill>
                  <a:srgbClr val="E6EDF3"/>
                </a:solidFill>
                <a:latin typeface="Courier New"/>
              </a:rPr>
              <a:t>root</a:t>
            </a:r>
          </a:p>
        </p:txBody>
      </p:sp>
      <p:sp>
        <p:nvSpPr>
          <p:cNvPr id="5" name="explanation"/>
          <p:cNvSpPr txBox="1"/>
          <p:nvPr/>
        </p:nvSpPr>
        <p:spPr>
          <a:xfrm>
            <a:off x="3453383" y="841248"/>
            <a:ext cx="5324855" cy="523748"/>
          </a:xfrm>
          <a:prstGeom prst="rect">
            <a:avLst/>
          </a:prstGeom>
          <a:noFill/>
        </p:spPr>
        <p:txBody>
          <a:bodyPr wrap="square" lIns="128016" rIns="128016" tIns="18288" bIns="18288" anchor="ctr">
            <a:spAutoFit/>
          </a:bodyPr>
          <a:lstStyle/>
          <a:p>
            <a:r>
              <a:rPr sz="1200" b="0" i="0">
                <a:solidFill>
                  <a:srgbClr val="1F2933"/>
                </a:solidFill>
                <a:latin typeface="Calibri"/>
              </a:rPr>
              <a:t>import math brings in the module name. from ... import ... as ... brings in one name under a new name.</a:t>
            </a:r>
          </a:p>
        </p:txBody>
      </p:sp>
      <p:sp>
        <p:nvSpPr>
          <p:cNvPr id="6" name="code"/>
          <p:cNvSpPr/>
          <p:nvPr/>
        </p:nvSpPr>
        <p:spPr>
          <a:xfrm>
            <a:off x="365760" y="1419860"/>
            <a:ext cx="310591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math</a:t>
            </a:r>
            <a:r>
              <a:rPr sz="1100" b="0" i="0">
                <a:solidFill>
                  <a:srgbClr val="E6EDF3"/>
                </a:solidFill>
                <a:latin typeface="Courier New"/>
              </a:rPr>
              <a:t>.</a:t>
            </a:r>
            <a:r>
              <a:rPr sz="1100" b="0" i="0">
                <a:solidFill>
                  <a:srgbClr val="E6EDF3"/>
                </a:solidFill>
                <a:latin typeface="Courier New"/>
              </a:rPr>
              <a:t>sqrt</a:t>
            </a:r>
            <a:r>
              <a:rPr sz="1100" b="0" i="0">
                <a:solidFill>
                  <a:srgbClr val="E6EDF3"/>
                </a:solidFill>
                <a:latin typeface="Courier New"/>
              </a:rPr>
              <a:t>(</a:t>
            </a:r>
            <a:r>
              <a:rPr sz="1100" b="0" i="0">
                <a:solidFill>
                  <a:srgbClr val="7CC4FF"/>
                </a:solidFill>
                <a:latin typeface="Courier New"/>
              </a:rPr>
              <a:t>16</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root</a:t>
            </a:r>
            <a:r>
              <a:rPr sz="1100" b="0" i="0">
                <a:solidFill>
                  <a:srgbClr val="E6EDF3"/>
                </a:solidFill>
                <a:latin typeface="Courier New"/>
              </a:rPr>
              <a:t>(</a:t>
            </a:r>
            <a:r>
              <a:rPr sz="1100" b="0" i="0">
                <a:solidFill>
                  <a:srgbClr val="7CC4FF"/>
                </a:solidFill>
                <a:latin typeface="Courier New"/>
              </a:rPr>
              <a:t>16</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453383" y="1419860"/>
            <a:ext cx="5324855" cy="509016"/>
          </a:xfrm>
          <a:prstGeom prst="rect">
            <a:avLst/>
          </a:prstGeom>
          <a:noFill/>
        </p:spPr>
        <p:txBody>
          <a:bodyPr wrap="square" lIns="128016" rIns="128016" tIns="18288" bIns="18288" anchor="ctr">
            <a:spAutoFit/>
          </a:bodyPr>
          <a:lstStyle/>
          <a:p>
            <a:r>
              <a:rPr sz="1200" b="0" i="0">
                <a:solidFill>
                  <a:srgbClr val="1F2933"/>
                </a:solidFill>
                <a:latin typeface="Calibri"/>
              </a:rPr>
              <a:t>Both reach the same function. math.sqrt names its module; root does not.</a:t>
            </a:r>
          </a:p>
        </p:txBody>
      </p:sp>
      <p:sp>
        <p:nvSpPr>
          <p:cNvPr id="8" name="code"/>
          <p:cNvSpPr/>
          <p:nvPr/>
        </p:nvSpPr>
        <p:spPr>
          <a:xfrm>
            <a:off x="365760" y="1983740"/>
            <a:ext cx="3105912"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sqrt</a:t>
            </a:r>
            <a:r>
              <a:rPr sz="1100" b="0" i="0">
                <a:solidFill>
                  <a:srgbClr val="E6EDF3"/>
                </a:solidFill>
                <a:latin typeface="Courier New"/>
              </a:rPr>
              <a:t>(</a:t>
            </a:r>
            <a:r>
              <a:rPr sz="1100" b="0" i="0">
                <a:solidFill>
                  <a:srgbClr val="7CC4FF"/>
                </a:solidFill>
                <a:latin typeface="Courier New"/>
              </a:rPr>
              <a:t>16</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except</a:t>
            </a:r>
            <a:r>
              <a:rPr sz="1100" b="0" i="0">
                <a:solidFill>
                  <a:srgbClr val="E6EDF3"/>
                </a:solidFill>
                <a:latin typeface="Courier New"/>
              </a:rPr>
              <a:t> </a:t>
            </a:r>
            <a:r>
              <a:rPr sz="1100" b="0" i="0">
                <a:solidFill>
                  <a:srgbClr val="E6EDF3"/>
                </a:solidFill>
                <a:latin typeface="Courier New"/>
              </a:rPr>
              <a:t>NameError</a:t>
            </a:r>
            <a:r>
              <a:rPr sz="1100" b="0" i="0">
                <a:solidFill>
                  <a:srgbClr val="E6EDF3"/>
                </a:solidFill>
                <a:latin typeface="Courier New"/>
              </a:rPr>
              <a:t> </a:t>
            </a:r>
            <a:r>
              <a:rPr sz="1100" b="0" i="0">
                <a:solidFill>
                  <a:srgbClr val="C9A0FF"/>
                </a:solidFill>
                <a:latin typeface="Courier New"/>
              </a:rPr>
              <a:t>as</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'NameError:'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p:txBody>
      </p:sp>
      <p:sp>
        <p:nvSpPr>
          <p:cNvPr id="9" name="explanation"/>
          <p:cNvSpPr txBox="1"/>
          <p:nvPr/>
        </p:nvSpPr>
        <p:spPr>
          <a:xfrm>
            <a:off x="3453383" y="1983740"/>
            <a:ext cx="5324855" cy="864615"/>
          </a:xfrm>
          <a:prstGeom prst="rect">
            <a:avLst/>
          </a:prstGeom>
          <a:noFill/>
        </p:spPr>
        <p:txBody>
          <a:bodyPr wrap="square" lIns="128016" rIns="128016" tIns="18288" bIns="18288" anchor="ctr">
            <a:spAutoFit/>
          </a:bodyPr>
          <a:lstStyle/>
          <a:p>
            <a:r>
              <a:rPr sz="1200" b="0" i="0">
                <a:solidFill>
                  <a:srgbClr val="1F2933"/>
                </a:solidFill>
                <a:latin typeface="Calibri"/>
              </a:rPr>
              <a:t>The name sqrt was never brought into this namespace, so Python cannot find it.</a:t>
            </a:r>
          </a:p>
        </p:txBody>
      </p:sp>
      <p:sp>
        <p:nvSpPr>
          <p:cNvPr id="10" name="result label"/>
          <p:cNvSpPr txBox="1"/>
          <p:nvPr/>
        </p:nvSpPr>
        <p:spPr>
          <a:xfrm>
            <a:off x="365760" y="292150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card"/>
          <p:cNvSpPr/>
          <p:nvPr/>
        </p:nvSpPr>
        <p:spPr>
          <a:xfrm>
            <a:off x="365760" y="3195828"/>
            <a:ext cx="2743200" cy="128016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214116"/>
            <a:ext cx="2560320" cy="219456"/>
          </a:xfrm>
          <a:prstGeom prst="rect">
            <a:avLst/>
          </a:prstGeom>
          <a:noFill/>
        </p:spPr>
        <p:txBody>
          <a:bodyPr wrap="square" lIns="45720" rIns="45720" tIns="27432" bIns="27432" anchor="t">
            <a:spAutoFit/>
          </a:bodyPr>
          <a:lstStyle/>
          <a:p>
            <a:r>
              <a:rPr sz="950" b="0" i="1">
                <a:solidFill>
                  <a:srgbClr val="5B6773"/>
                </a:solidFill>
                <a:latin typeface="Calibri"/>
              </a:rPr>
              <a:t>this program</a:t>
            </a:r>
          </a:p>
        </p:txBody>
      </p:sp>
      <p:sp>
        <p:nvSpPr>
          <p:cNvPr id="13" name="Rounded Rectangle 12"/>
          <p:cNvSpPr/>
          <p:nvPr/>
        </p:nvSpPr>
        <p:spPr>
          <a:xfrm>
            <a:off x="640080" y="3488436"/>
            <a:ext cx="109728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math</a:t>
            </a:r>
          </a:p>
        </p:txBody>
      </p:sp>
      <p:sp>
        <p:nvSpPr>
          <p:cNvPr id="14" name="Rounded Rectangle 13"/>
          <p:cNvSpPr/>
          <p:nvPr/>
        </p:nvSpPr>
        <p:spPr>
          <a:xfrm>
            <a:off x="640080" y="3945635"/>
            <a:ext cx="109728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root</a:t>
            </a:r>
          </a:p>
        </p:txBody>
      </p:sp>
      <p:sp>
        <p:nvSpPr>
          <p:cNvPr id="15" name="card"/>
          <p:cNvSpPr/>
          <p:nvPr/>
        </p:nvSpPr>
        <p:spPr>
          <a:xfrm>
            <a:off x="4572000" y="3195828"/>
            <a:ext cx="2743200" cy="128016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3214116"/>
            <a:ext cx="2560320" cy="219456"/>
          </a:xfrm>
          <a:prstGeom prst="rect">
            <a:avLst/>
          </a:prstGeom>
          <a:noFill/>
        </p:spPr>
        <p:txBody>
          <a:bodyPr wrap="square" lIns="45720" rIns="45720" tIns="27432" bIns="27432" anchor="t">
            <a:spAutoFit/>
          </a:bodyPr>
          <a:lstStyle/>
          <a:p>
            <a:r>
              <a:rPr sz="950" b="0" i="1">
                <a:solidFill>
                  <a:srgbClr val="5B6773"/>
                </a:solidFill>
                <a:latin typeface="Calibri"/>
              </a:rPr>
              <a:t>module math</a:t>
            </a:r>
          </a:p>
        </p:txBody>
      </p:sp>
      <p:sp>
        <p:nvSpPr>
          <p:cNvPr id="17" name="Rounded Rectangle 16"/>
          <p:cNvSpPr/>
          <p:nvPr/>
        </p:nvSpPr>
        <p:spPr>
          <a:xfrm>
            <a:off x="4846320" y="3488436"/>
            <a:ext cx="105156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sqrt</a:t>
            </a:r>
          </a:p>
        </p:txBody>
      </p:sp>
      <p:sp>
        <p:nvSpPr>
          <p:cNvPr id="18" name="Rounded Rectangle 17"/>
          <p:cNvSpPr/>
          <p:nvPr/>
        </p:nvSpPr>
        <p:spPr>
          <a:xfrm>
            <a:off x="6035040" y="3488436"/>
            <a:ext cx="105156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pi</a:t>
            </a:r>
          </a:p>
        </p:txBody>
      </p:sp>
      <p:sp>
        <p:nvSpPr>
          <p:cNvPr id="19" name="Rounded Rectangle 18"/>
          <p:cNvSpPr/>
          <p:nvPr/>
        </p:nvSpPr>
        <p:spPr>
          <a:xfrm>
            <a:off x="4846320" y="3945635"/>
            <a:ext cx="105156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floor</a:t>
            </a:r>
          </a:p>
        </p:txBody>
      </p:sp>
      <p:cxnSp>
        <p:nvCxnSpPr>
          <p:cNvPr id="20" name="arrow"/>
          <p:cNvCxnSpPr/>
          <p:nvPr/>
        </p:nvCxnSpPr>
        <p:spPr>
          <a:xfrm>
            <a:off x="1783080" y="3643884"/>
            <a:ext cx="3017520" cy="0"/>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arrow"/>
          <p:cNvCxnSpPr/>
          <p:nvPr/>
        </p:nvCxnSpPr>
        <p:spPr>
          <a:xfrm flipV="1">
            <a:off x="1783080" y="3698748"/>
            <a:ext cx="3017520" cy="402336"/>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498079" y="3195828"/>
            <a:ext cx="1280159" cy="310896"/>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sqrt here? False</a:t>
            </a:r>
          </a:p>
        </p:txBody>
      </p:sp>
      <p:sp>
        <p:nvSpPr>
          <p:cNvPr id="23" name="TextBox 22"/>
          <p:cNvSpPr txBox="1"/>
          <p:nvPr/>
        </p:nvSpPr>
        <p:spPr>
          <a:xfrm>
            <a:off x="7498079" y="3579876"/>
            <a:ext cx="1280159" cy="822960"/>
          </a:xfrm>
          <a:prstGeom prst="rect">
            <a:avLst/>
          </a:prstGeom>
          <a:noFill/>
        </p:spPr>
        <p:txBody>
          <a:bodyPr wrap="square" lIns="45720" rIns="45720" tIns="27432" bIns="27432" anchor="t">
            <a:spAutoFit/>
          </a:bodyPr>
          <a:lstStyle/>
          <a:p>
            <a:r>
              <a:rPr sz="950" b="0" i="1">
                <a:solidFill>
                  <a:srgbClr val="5B6773"/>
                </a:solidFill>
                <a:latin typeface="Calibri"/>
              </a:rPr>
              <a:t>math and root both lead into math; the bare name sqrt does not exist here</a:t>
            </a:r>
          </a:p>
        </p:txBody>
      </p:sp>
      <p:sp>
        <p:nvSpPr>
          <p:cNvPr id="2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import keeps the module name; from-import copies one name.</a:t>
            </a:r>
          </a:p>
        </p:txBody>
      </p:sp>
      <p:sp>
        <p:nvSpPr>
          <p:cNvPr id="2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43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When import fails: the module search path</a:t>
            </a:r>
          </a:p>
        </p:txBody>
      </p:sp>
      <p:sp>
        <p:nvSpPr>
          <p:cNvPr id="4" name="code"/>
          <p:cNvSpPr/>
          <p:nvPr/>
        </p:nvSpPr>
        <p:spPr>
          <a:xfrm>
            <a:off x="365760" y="841248"/>
            <a:ext cx="449656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sys</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E6EDF3"/>
                </a:solidFill>
                <a:latin typeface="Courier New"/>
              </a:rPr>
              <a:t>sys</a:t>
            </a:r>
            <a:r>
              <a:rPr sz="1050" b="0" i="0">
                <a:solidFill>
                  <a:srgbClr val="E6EDF3"/>
                </a:solidFill>
                <a:latin typeface="Courier New"/>
              </a:rPr>
              <a:t>.</a:t>
            </a:r>
            <a:r>
              <a:rPr sz="1050" b="0" i="0">
                <a:solidFill>
                  <a:srgbClr val="E6EDF3"/>
                </a:solidFill>
                <a:latin typeface="Courier New"/>
              </a:rPr>
              <a:t>path</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__name__</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len</a:t>
            </a:r>
            <a:r>
              <a:rPr sz="1050" b="0" i="0">
                <a:solidFill>
                  <a:srgbClr val="E6EDF3"/>
                </a:solidFill>
                <a:latin typeface="Courier New"/>
              </a:rPr>
              <a:t>(</a:t>
            </a:r>
            <a:r>
              <a:rPr sz="1050" b="0" i="0">
                <a:solidFill>
                  <a:srgbClr val="E6EDF3"/>
                </a:solidFill>
                <a:latin typeface="Courier New"/>
              </a:rPr>
              <a:t>sys</a:t>
            </a:r>
            <a:r>
              <a:rPr sz="1050" b="0" i="0">
                <a:solidFill>
                  <a:srgbClr val="E6EDF3"/>
                </a:solidFill>
                <a:latin typeface="Courier New"/>
              </a:rPr>
              <a:t>.</a:t>
            </a:r>
            <a:r>
              <a:rPr sz="1050" b="0" i="0">
                <a:solidFill>
                  <a:srgbClr val="E6EDF3"/>
                </a:solidFill>
                <a:latin typeface="Courier New"/>
              </a:rPr>
              <a:t>path</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&gt;</a:t>
            </a:r>
            <a:r>
              <a:rPr sz="1050" b="0" i="0">
                <a:solidFill>
                  <a:srgbClr val="E6EDF3"/>
                </a:solidFill>
                <a:latin typeface="Courier New"/>
              </a:rPr>
              <a:t> </a:t>
            </a:r>
            <a:r>
              <a:rPr sz="1050" b="0" i="0">
                <a:solidFill>
                  <a:srgbClr val="7CC4FF"/>
                </a:solidFill>
                <a:latin typeface="Courier New"/>
              </a:rPr>
              <a:t>0</a:t>
            </a:r>
            <a:r>
              <a:rPr sz="1050" b="0" i="0">
                <a:solidFill>
                  <a:srgbClr val="E6EDF3"/>
                </a:solidFill>
                <a:latin typeface="Courier New"/>
              </a:rPr>
              <a:t>)</a:t>
            </a:r>
          </a:p>
        </p:txBody>
      </p:sp>
      <p:sp>
        <p:nvSpPr>
          <p:cNvPr id="5" name="explanation"/>
          <p:cNvSpPr txBox="1"/>
          <p:nvPr/>
        </p:nvSpPr>
        <p:spPr>
          <a:xfrm>
            <a:off x="4844034" y="841248"/>
            <a:ext cx="3934205" cy="699516"/>
          </a:xfrm>
          <a:prstGeom prst="rect">
            <a:avLst/>
          </a:prstGeom>
          <a:noFill/>
        </p:spPr>
        <p:txBody>
          <a:bodyPr wrap="square" lIns="128016" rIns="128016" tIns="18288" bIns="18288" anchor="ctr">
            <a:spAutoFit/>
          </a:bodyPr>
          <a:lstStyle/>
          <a:p>
            <a:r>
              <a:rPr sz="1200" b="0" i="0">
                <a:solidFill>
                  <a:srgbClr val="1F2933"/>
                </a:solidFill>
                <a:latin typeface="Calibri"/>
              </a:rPr>
              <a:t>The search path is an ordinary list of folders, kept in sys.path. This line prints first: the type and whether the list has any folder.</a:t>
            </a:r>
          </a:p>
        </p:txBody>
      </p:sp>
      <p:sp>
        <p:nvSpPr>
          <p:cNvPr id="6" name="code"/>
          <p:cNvSpPr/>
          <p:nvPr/>
        </p:nvSpPr>
        <p:spPr>
          <a:xfrm>
            <a:off x="365760" y="1595628"/>
            <a:ext cx="449656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try</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nosuchmodule</a:t>
            </a:r>
          </a:p>
        </p:txBody>
      </p:sp>
      <p:sp>
        <p:nvSpPr>
          <p:cNvPr id="7" name="explanation"/>
          <p:cNvSpPr txBox="1"/>
          <p:nvPr/>
        </p:nvSpPr>
        <p:spPr>
          <a:xfrm>
            <a:off x="4844034" y="1595628"/>
            <a:ext cx="3934205" cy="509016"/>
          </a:xfrm>
          <a:prstGeom prst="rect">
            <a:avLst/>
          </a:prstGeom>
          <a:noFill/>
        </p:spPr>
        <p:txBody>
          <a:bodyPr wrap="square" lIns="128016" rIns="128016" tIns="18288" bIns="18288" anchor="ctr">
            <a:spAutoFit/>
          </a:bodyPr>
          <a:lstStyle/>
          <a:p>
            <a:r>
              <a:rPr sz="1200" b="0" i="0">
                <a:solidFill>
                  <a:srgbClr val="1F2933"/>
                </a:solidFill>
                <a:latin typeface="Calibri"/>
              </a:rPr>
              <a:t>import looks for the module in every folder of the module search path, one after the other.</a:t>
            </a:r>
          </a:p>
        </p:txBody>
      </p:sp>
      <p:sp>
        <p:nvSpPr>
          <p:cNvPr id="8" name="code"/>
          <p:cNvSpPr/>
          <p:nvPr/>
        </p:nvSpPr>
        <p:spPr>
          <a:xfrm>
            <a:off x="365760" y="2159508"/>
            <a:ext cx="449656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except</a:t>
            </a:r>
            <a:r>
              <a:rPr sz="1050" b="0" i="0">
                <a:solidFill>
                  <a:srgbClr val="E6EDF3"/>
                </a:solidFill>
                <a:latin typeface="Courier New"/>
              </a:rPr>
              <a:t> </a:t>
            </a:r>
            <a:r>
              <a:rPr sz="1050" b="0" i="0">
                <a:solidFill>
                  <a:srgbClr val="E6EDF3"/>
                </a:solidFill>
                <a:latin typeface="Courier New"/>
              </a:rPr>
              <a:t>ModuleNotFoundError</a:t>
            </a:r>
            <a:r>
              <a:rPr sz="1050" b="0" i="0">
                <a:solidFill>
                  <a:srgbClr val="E6EDF3"/>
                </a:solidFill>
                <a:latin typeface="Courier New"/>
              </a:rPr>
              <a:t> </a:t>
            </a:r>
            <a:r>
              <a:rPr sz="1050" b="0" i="0">
                <a:solidFill>
                  <a:srgbClr val="C9A0FF"/>
                </a:solidFill>
                <a:latin typeface="Courier New"/>
              </a:rPr>
              <a:t>as</a:t>
            </a:r>
            <a:r>
              <a:rPr sz="1050" b="0" i="0">
                <a:solidFill>
                  <a:srgbClr val="E6EDF3"/>
                </a:solidFill>
                <a:latin typeface="Courier New"/>
              </a:rPr>
              <a:t> </a:t>
            </a:r>
            <a:r>
              <a:rPr sz="1050" b="0" i="0">
                <a:solidFill>
                  <a:srgbClr val="E6EDF3"/>
                </a:solidFill>
                <a:latin typeface="Courier New"/>
              </a:rPr>
              <a:t>err</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E6EDF3"/>
                </a:solidFill>
                <a:latin typeface="Courier New"/>
              </a:rPr>
              <a:t>err</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__name__</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err</a:t>
            </a:r>
            <a:r>
              <a:rPr sz="1050" b="0" i="0">
                <a:solidFill>
                  <a:srgbClr val="E6EDF3"/>
                </a:solidFill>
                <a:latin typeface="Courier New"/>
              </a:rPr>
              <a:t>)</a:t>
            </a:r>
          </a:p>
        </p:txBody>
      </p:sp>
      <p:sp>
        <p:nvSpPr>
          <p:cNvPr id="9" name="explanation"/>
          <p:cNvSpPr txBox="1"/>
          <p:nvPr/>
        </p:nvSpPr>
        <p:spPr>
          <a:xfrm>
            <a:off x="4844034" y="2159508"/>
            <a:ext cx="3934205" cy="699516"/>
          </a:xfrm>
          <a:prstGeom prst="rect">
            <a:avLst/>
          </a:prstGeom>
          <a:noFill/>
        </p:spPr>
        <p:txBody>
          <a:bodyPr wrap="square" lIns="128016" rIns="128016" tIns="18288" bIns="18288" anchor="ctr">
            <a:spAutoFit/>
          </a:bodyPr>
          <a:lstStyle/>
          <a:p>
            <a:r>
              <a:rPr sz="1200" b="0" i="0">
                <a:solidFill>
                  <a:srgbClr val="1F2933"/>
                </a:solidFill>
                <a:latin typeface="Calibri"/>
              </a:rPr>
              <a:t>When no folder holds it, Python raises ModuleNotFoundError and names the module. The error message is the second line of the result.</a:t>
            </a:r>
          </a:p>
        </p:txBody>
      </p:sp>
      <p:sp>
        <p:nvSpPr>
          <p:cNvPr id="10" name="result label"/>
          <p:cNvSpPr txBox="1"/>
          <p:nvPr/>
        </p:nvSpPr>
        <p:spPr>
          <a:xfrm>
            <a:off x="365760" y="29321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206496"/>
            <a:ext cx="201168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import nosuchmodule</a:t>
            </a:r>
          </a:p>
        </p:txBody>
      </p:sp>
      <p:cxnSp>
        <p:nvCxnSpPr>
          <p:cNvPr id="12" name="arrow"/>
          <p:cNvCxnSpPr/>
          <p:nvPr/>
        </p:nvCxnSpPr>
        <p:spPr>
          <a:xfrm>
            <a:off x="2395728" y="3371088"/>
            <a:ext cx="1371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51176" y="3206496"/>
            <a:ext cx="173736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folder 1 of sys.path</a:t>
            </a:r>
          </a:p>
        </p:txBody>
      </p:sp>
      <p:cxnSp>
        <p:nvCxnSpPr>
          <p:cNvPr id="14" name="arrow"/>
          <p:cNvCxnSpPr/>
          <p:nvPr/>
        </p:nvCxnSpPr>
        <p:spPr>
          <a:xfrm>
            <a:off x="4306823" y="3371088"/>
            <a:ext cx="1371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62272" y="3206496"/>
            <a:ext cx="91440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folder 2</a:t>
            </a:r>
          </a:p>
        </p:txBody>
      </p:sp>
      <p:cxnSp>
        <p:nvCxnSpPr>
          <p:cNvPr id="16" name="arrow"/>
          <p:cNvCxnSpPr/>
          <p:nvPr/>
        </p:nvCxnSpPr>
        <p:spPr>
          <a:xfrm>
            <a:off x="5394959" y="3371088"/>
            <a:ext cx="13716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550408" y="3206496"/>
            <a:ext cx="109728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 folder n</a:t>
            </a:r>
          </a:p>
        </p:txBody>
      </p:sp>
      <p:cxnSp>
        <p:nvCxnSpPr>
          <p:cNvPr id="18" name="arrow"/>
          <p:cNvCxnSpPr/>
          <p:nvPr/>
        </p:nvCxnSpPr>
        <p:spPr>
          <a:xfrm>
            <a:off x="6665976" y="3371088"/>
            <a:ext cx="1371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821424" y="3206496"/>
            <a:ext cx="109728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not found</a:t>
            </a:r>
          </a:p>
        </p:txBody>
      </p:sp>
      <p:graphicFrame>
        <p:nvGraphicFramePr>
          <p:cNvPr id="20" name="table"/>
          <p:cNvGraphicFramePr>
            <a:graphicFrameLocks noGrp="1"/>
          </p:cNvGraphicFramePr>
          <p:nvPr/>
        </p:nvGraphicFramePr>
        <p:xfrm>
          <a:off x="365760" y="3709416"/>
          <a:ext cx="8412480" cy="822960"/>
        </p:xfrm>
        <a:graphic>
          <a:graphicData uri="http://schemas.openxmlformats.org/drawingml/2006/table">
            <a:tbl>
              <a:tblPr firstRow="0" bandRow="0"/>
              <a:tblGrid>
                <a:gridCol w="4937760"/>
                <a:gridCol w="3474720"/>
              </a:tblGrid>
              <a:tr h="274320">
                <a:tc>
                  <a:txBody>
                    <a:bodyPr wrap="square"/>
                    <a:lstStyle/>
                    <a:p>
                      <a:r>
                        <a:rPr sz="100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Meaning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list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sys.path is a list of folders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ModuleNotFoundError - No module named 'nosuchmodule'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the module name is in the error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missing module raises ModuleNotFoundError.</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43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leaving early</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sys.exit() is the stop button of a lift; the exit status is the light that tells why it stopped.</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2926080"/>
                <a:gridCol w="548640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Ending a Program Early with sys.exit()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Pressing the stop button of a lift: the doors open and everyone leaves in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Exception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fire alarm: it interrupts normal life and must be handled, or the building stops.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Exit status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traffic light at the garage exit: green (0) for fine, red for a problem.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SyntaxWarning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yellow road sign: you may drive on, but the road ahead is risky.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43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sys.exit() ends a program with an exit status</a:t>
            </a:r>
          </a:p>
        </p:txBody>
      </p:sp>
      <p:sp>
        <p:nvSpPr>
          <p:cNvPr id="4" name="code"/>
          <p:cNvSpPr/>
          <p:nvPr/>
        </p:nvSpPr>
        <p:spPr>
          <a:xfrm>
            <a:off x="365760" y="841248"/>
            <a:ext cx="4195572" cy="103505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sys</a:t>
            </a:r>
          </a:p>
          <a:p>
            <a:pPr algn="l"/>
            <a:r>
              <a:rPr sz="1100" b="0" i="0">
                <a:solidFill>
                  <a:srgbClr val="8FA3B8"/>
                </a:solidFill>
                <a:latin typeface="Courier New"/>
              </a:rPr>
              <a:t>&gt;&gt;&gt; </a:t>
            </a:r>
            <a:r>
              <a:rPr sz="1100" b="0" i="0">
                <a:solidFill>
                  <a:srgbClr val="C9A0FF"/>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'working'</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exit</a:t>
            </a:r>
            <a:r>
              <a:rPr sz="1100" b="0" i="0">
                <a:solidFill>
                  <a:srgbClr val="E6EDF3"/>
                </a:solidFill>
                <a:latin typeface="Courier New"/>
              </a:rPr>
              <a:t>(</a:t>
            </a:r>
            <a:r>
              <a:rPr sz="1100" b="0" i="0">
                <a:solidFill>
                  <a:srgbClr val="7CC4FF"/>
                </a:solidFill>
                <a:latin typeface="Courier New"/>
              </a:rPr>
              <a:t>3</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'never printed'</a:t>
            </a:r>
            <a:r>
              <a:rPr sz="1100" b="0" i="0">
                <a:solidFill>
                  <a:srgbClr val="E6EDF3"/>
                </a:solidFill>
                <a:latin typeface="Courier New"/>
              </a:rPr>
              <a:t>)</a:t>
            </a:r>
          </a:p>
        </p:txBody>
      </p:sp>
      <p:sp>
        <p:nvSpPr>
          <p:cNvPr id="5" name="explanation"/>
          <p:cNvSpPr txBox="1"/>
          <p:nvPr/>
        </p:nvSpPr>
        <p:spPr>
          <a:xfrm>
            <a:off x="4543044" y="841248"/>
            <a:ext cx="4235195" cy="1035050"/>
          </a:xfrm>
          <a:prstGeom prst="rect">
            <a:avLst/>
          </a:prstGeom>
          <a:noFill/>
        </p:spPr>
        <p:txBody>
          <a:bodyPr wrap="square" lIns="128016" rIns="128016" tIns="18288" bIns="18288" anchor="ctr">
            <a:spAutoFit/>
          </a:bodyPr>
          <a:lstStyle/>
          <a:p>
            <a:r>
              <a:rPr sz="1200" b="0" i="0">
                <a:solidFill>
                  <a:srgbClr val="1F2933"/>
                </a:solidFill>
                <a:latin typeface="Calibri"/>
              </a:rPr>
              <a:t>sys.exit() stops the program. The number 3 is the exit status; 0 means success, any other number means a problem.</a:t>
            </a:r>
          </a:p>
        </p:txBody>
      </p:sp>
      <p:sp>
        <p:nvSpPr>
          <p:cNvPr id="6" name="code"/>
          <p:cNvSpPr/>
          <p:nvPr/>
        </p:nvSpPr>
        <p:spPr>
          <a:xfrm>
            <a:off x="365760" y="1931162"/>
            <a:ext cx="4195572"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except</a:t>
            </a:r>
            <a:r>
              <a:rPr sz="1100" b="0" i="0">
                <a:solidFill>
                  <a:srgbClr val="E6EDF3"/>
                </a:solidFill>
                <a:latin typeface="Courier New"/>
              </a:rPr>
              <a:t> </a:t>
            </a:r>
            <a:r>
              <a:rPr sz="1100" b="0" i="0">
                <a:solidFill>
                  <a:srgbClr val="E6EDF3"/>
                </a:solidFill>
                <a:latin typeface="Courier New"/>
              </a:rPr>
              <a:t>SystemExit</a:t>
            </a:r>
            <a:r>
              <a:rPr sz="1100" b="0" i="0">
                <a:solidFill>
                  <a:srgbClr val="E6EDF3"/>
                </a:solidFill>
                <a:latin typeface="Courier New"/>
              </a:rPr>
              <a:t> </a:t>
            </a:r>
            <a:r>
              <a:rPr sz="1100" b="0" i="0">
                <a:solidFill>
                  <a:srgbClr val="C9A0FF"/>
                </a:solidFill>
                <a:latin typeface="Courier New"/>
              </a:rPr>
              <a:t>as</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'SystemExit with code'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r>
              <a:rPr sz="1100" b="0" i="0">
                <a:solidFill>
                  <a:srgbClr val="E6EDF3"/>
                </a:solidFill>
                <a:latin typeface="Courier New"/>
              </a:rPr>
              <a:t>code</a:t>
            </a:r>
            <a:r>
              <a:rPr sz="1100" b="0" i="0">
                <a:solidFill>
                  <a:srgbClr val="E6EDF3"/>
                </a:solidFill>
                <a:latin typeface="Courier New"/>
              </a:rPr>
              <a:t>)</a:t>
            </a:r>
          </a:p>
        </p:txBody>
      </p:sp>
      <p:sp>
        <p:nvSpPr>
          <p:cNvPr id="7" name="explanation"/>
          <p:cNvSpPr txBox="1"/>
          <p:nvPr/>
        </p:nvSpPr>
        <p:spPr>
          <a:xfrm>
            <a:off x="4543044" y="1931162"/>
            <a:ext cx="4235195" cy="523748"/>
          </a:xfrm>
          <a:prstGeom prst="rect">
            <a:avLst/>
          </a:prstGeom>
          <a:noFill/>
        </p:spPr>
        <p:txBody>
          <a:bodyPr wrap="square" lIns="128016" rIns="128016" tIns="18288" bIns="18288" anchor="ctr">
            <a:spAutoFit/>
          </a:bodyPr>
          <a:lstStyle/>
          <a:p>
            <a:r>
              <a:rPr sz="1200" b="0" i="0">
                <a:solidFill>
                  <a:srgbClr val="1F2933"/>
                </a:solidFill>
                <a:latin typeface="Calibri"/>
              </a:rPr>
              <a:t>sys.exit() works by raising the exception SystemExit, so a program can even catch it.</a:t>
            </a:r>
          </a:p>
        </p:txBody>
      </p:sp>
      <p:sp>
        <p:nvSpPr>
          <p:cNvPr id="8" name="code"/>
          <p:cNvSpPr/>
          <p:nvPr/>
        </p:nvSpPr>
        <p:spPr>
          <a:xfrm>
            <a:off x="365760" y="2509774"/>
            <a:ext cx="4195572"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finally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'finally still runs'</a:t>
            </a:r>
            <a:r>
              <a:rPr sz="1100" b="0" i="0">
                <a:solidFill>
                  <a:srgbClr val="E6EDF3"/>
                </a:solidFill>
                <a:latin typeface="Courier New"/>
              </a:rPr>
              <a:t>)</a:t>
            </a:r>
          </a:p>
        </p:txBody>
      </p:sp>
      <p:sp>
        <p:nvSpPr>
          <p:cNvPr id="9" name="explanation"/>
          <p:cNvSpPr txBox="1"/>
          <p:nvPr/>
        </p:nvSpPr>
        <p:spPr>
          <a:xfrm>
            <a:off x="4543044" y="2509774"/>
            <a:ext cx="4235195" cy="523748"/>
          </a:xfrm>
          <a:prstGeom prst="rect">
            <a:avLst/>
          </a:prstGeom>
          <a:noFill/>
        </p:spPr>
        <p:txBody>
          <a:bodyPr wrap="square" lIns="128016" rIns="128016" tIns="18288" bIns="18288" anchor="ctr">
            <a:spAutoFit/>
          </a:bodyPr>
          <a:lstStyle/>
          <a:p>
            <a:r>
              <a:rPr sz="1200" b="0" i="0">
                <a:solidFill>
                  <a:srgbClr val="1F2933"/>
                </a:solidFill>
                <a:latin typeface="Calibri"/>
              </a:rPr>
              <a:t>Because it is an exception, the finally clause still runs on the way out.</a:t>
            </a:r>
          </a:p>
        </p:txBody>
      </p:sp>
      <p:sp>
        <p:nvSpPr>
          <p:cNvPr id="10" name="result label"/>
          <p:cNvSpPr txBox="1"/>
          <p:nvPr/>
        </p:nvSpPr>
        <p:spPr>
          <a:xfrm>
            <a:off x="365760" y="310667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80994"/>
            <a:ext cx="132588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print('working')</a:t>
            </a:r>
          </a:p>
        </p:txBody>
      </p:sp>
      <p:sp>
        <p:nvSpPr>
          <p:cNvPr id="12" name="TextBox 11"/>
          <p:cNvSpPr txBox="1"/>
          <p:nvPr/>
        </p:nvSpPr>
        <p:spPr>
          <a:xfrm>
            <a:off x="365760" y="3719322"/>
            <a:ext cx="1417320" cy="384048"/>
          </a:xfrm>
          <a:prstGeom prst="rect">
            <a:avLst/>
          </a:prstGeom>
          <a:noFill/>
        </p:spPr>
        <p:txBody>
          <a:bodyPr wrap="square" lIns="45720" rIns="45720" tIns="27432" bIns="27432" anchor="t">
            <a:spAutoFit/>
          </a:bodyPr>
          <a:lstStyle/>
          <a:p>
            <a:r>
              <a:rPr sz="850" b="0" i="1">
                <a:solidFill>
                  <a:srgbClr val="5B6773"/>
                </a:solidFill>
                <a:latin typeface="Calibri"/>
              </a:rPr>
              <a:t>working</a:t>
            </a:r>
          </a:p>
        </p:txBody>
      </p:sp>
      <p:cxnSp>
        <p:nvCxnSpPr>
          <p:cNvPr id="13" name="arrow"/>
          <p:cNvCxnSpPr/>
          <p:nvPr/>
        </p:nvCxnSpPr>
        <p:spPr>
          <a:xfrm>
            <a:off x="1709928" y="3536441"/>
            <a:ext cx="16459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901952" y="3380994"/>
            <a:ext cx="132588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sys.exit(3)</a:t>
            </a:r>
          </a:p>
        </p:txBody>
      </p:sp>
      <p:sp>
        <p:nvSpPr>
          <p:cNvPr id="15" name="TextBox 14"/>
          <p:cNvSpPr txBox="1"/>
          <p:nvPr/>
        </p:nvSpPr>
        <p:spPr>
          <a:xfrm>
            <a:off x="1901952" y="3719322"/>
            <a:ext cx="1417320" cy="384048"/>
          </a:xfrm>
          <a:prstGeom prst="rect">
            <a:avLst/>
          </a:prstGeom>
          <a:noFill/>
        </p:spPr>
        <p:txBody>
          <a:bodyPr wrap="square" lIns="45720" rIns="45720" tIns="27432" bIns="27432" anchor="t">
            <a:spAutoFit/>
          </a:bodyPr>
          <a:lstStyle/>
          <a:p>
            <a:r>
              <a:rPr sz="850" b="0" i="1">
                <a:solidFill>
                  <a:srgbClr val="5B6773"/>
                </a:solidFill>
                <a:latin typeface="Calibri"/>
              </a:rPr>
              <a:t>SystemExit raised</a:t>
            </a:r>
          </a:p>
        </p:txBody>
      </p:sp>
      <p:cxnSp>
        <p:nvCxnSpPr>
          <p:cNvPr id="16" name="arrow"/>
          <p:cNvCxnSpPr/>
          <p:nvPr/>
        </p:nvCxnSpPr>
        <p:spPr>
          <a:xfrm>
            <a:off x="3246120" y="3536441"/>
            <a:ext cx="1645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438144" y="3380994"/>
            <a:ext cx="132588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except SystemExit</a:t>
            </a:r>
          </a:p>
        </p:txBody>
      </p:sp>
      <p:sp>
        <p:nvSpPr>
          <p:cNvPr id="18" name="TextBox 17"/>
          <p:cNvSpPr txBox="1"/>
          <p:nvPr/>
        </p:nvSpPr>
        <p:spPr>
          <a:xfrm>
            <a:off x="3438144" y="3719322"/>
            <a:ext cx="1417320" cy="384048"/>
          </a:xfrm>
          <a:prstGeom prst="rect">
            <a:avLst/>
          </a:prstGeom>
          <a:noFill/>
        </p:spPr>
        <p:txBody>
          <a:bodyPr wrap="square" lIns="45720" rIns="45720" tIns="27432" bIns="27432" anchor="t">
            <a:spAutoFit/>
          </a:bodyPr>
          <a:lstStyle/>
          <a:p>
            <a:r>
              <a:rPr sz="850" b="0" i="1">
                <a:solidFill>
                  <a:srgbClr val="5B6773"/>
                </a:solidFill>
                <a:latin typeface="Calibri"/>
              </a:rPr>
              <a:t>SystemExit with code 3</a:t>
            </a:r>
          </a:p>
        </p:txBody>
      </p:sp>
      <p:cxnSp>
        <p:nvCxnSpPr>
          <p:cNvPr id="19" name="arrow"/>
          <p:cNvCxnSpPr/>
          <p:nvPr/>
        </p:nvCxnSpPr>
        <p:spPr>
          <a:xfrm>
            <a:off x="4782312" y="3536441"/>
            <a:ext cx="1645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974336" y="3380994"/>
            <a:ext cx="132588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finally</a:t>
            </a:r>
          </a:p>
        </p:txBody>
      </p:sp>
      <p:sp>
        <p:nvSpPr>
          <p:cNvPr id="21" name="TextBox 20"/>
          <p:cNvSpPr txBox="1"/>
          <p:nvPr/>
        </p:nvSpPr>
        <p:spPr>
          <a:xfrm>
            <a:off x="4974336" y="3719322"/>
            <a:ext cx="1417320" cy="384048"/>
          </a:xfrm>
          <a:prstGeom prst="rect">
            <a:avLst/>
          </a:prstGeom>
          <a:noFill/>
        </p:spPr>
        <p:txBody>
          <a:bodyPr wrap="square" lIns="45720" rIns="45720" tIns="27432" bIns="27432" anchor="t">
            <a:spAutoFit/>
          </a:bodyPr>
          <a:lstStyle/>
          <a:p>
            <a:r>
              <a:rPr sz="850" b="0" i="1">
                <a:solidFill>
                  <a:srgbClr val="5B6773"/>
                </a:solidFill>
                <a:latin typeface="Calibri"/>
              </a:rPr>
              <a:t>finally still runs</a:t>
            </a:r>
          </a:p>
        </p:txBody>
      </p:sp>
      <p:sp>
        <p:nvSpPr>
          <p:cNvPr id="22" name="Rounded Rectangle 21"/>
          <p:cNvSpPr/>
          <p:nvPr/>
        </p:nvSpPr>
        <p:spPr>
          <a:xfrm>
            <a:off x="365760" y="4185665"/>
            <a:ext cx="2194560" cy="27432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5B6773"/>
                </a:solidFill>
                <a:latin typeface="Courier New"/>
              </a:rPr>
              <a:t>print('never printed')</a:t>
            </a:r>
          </a:p>
        </p:txBody>
      </p:sp>
      <p:graphicFrame>
        <p:nvGraphicFramePr>
          <p:cNvPr id="23" name="table"/>
          <p:cNvGraphicFramePr>
            <a:graphicFrameLocks noGrp="1"/>
          </p:cNvGraphicFramePr>
          <p:nvPr/>
        </p:nvGraphicFramePr>
        <p:xfrm>
          <a:off x="6675120" y="3380994"/>
          <a:ext cx="2103119" cy="932688"/>
        </p:xfrm>
        <a:graphic>
          <a:graphicData uri="http://schemas.openxmlformats.org/drawingml/2006/table">
            <a:tbl>
              <a:tblPr firstRow="0" bandRow="0"/>
              <a:tblGrid>
                <a:gridCol w="652692"/>
                <a:gridCol w="1450427"/>
              </a:tblGrid>
              <a:tr h="310896">
                <a:tc>
                  <a:txBody>
                    <a:bodyPr wrap="square"/>
                    <a:lstStyle/>
                    <a:p>
                      <a:r>
                        <a:rPr sz="900" b="1" i="0">
                          <a:solidFill>
                            <a:srgbClr val="FFFFFF"/>
                          </a:solidFill>
                          <a:latin typeface="Calibri"/>
                        </a:rPr>
                        <a:t>Exit status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Usual meaning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90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the program finished well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900" b="0" i="0">
                          <a:solidFill>
                            <a:srgbClr val="1F2933"/>
                          </a:solidFill>
                          <a:latin typeface="Courier New"/>
                        </a:rPr>
                        <a:t>1 or more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something went wrong; 3 is our choice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sys.exit raises SystemExit; the status is its code.</a:t>
            </a:r>
          </a:p>
        </p:txBody>
      </p:sp>
      <p:sp>
        <p:nvSpPr>
          <p:cNvPr id="2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43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5: Two short programs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The book's games, with scripted input so that they run on the page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Guess the Number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loop with hints and a limit of six guesses.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Rock, Paper, Scissors</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loop that keeps the score of every outcome.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Scripted input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iter and next stand in for a typing person.</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Seeded random</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fixed seed makes every run repeat itself.</a:t>
            </a:r>
          </a:p>
        </p:txBody>
      </p:sp>
      <p:graphicFrame>
        <p:nvGraphicFramePr>
          <p:cNvPr id="13" name="table"/>
          <p:cNvGraphicFramePr>
            <a:graphicFrameLocks noGrp="1"/>
          </p:cNvGraphicFramePr>
          <p:nvPr/>
        </p:nvGraphicFramePr>
        <p:xfrm>
          <a:off x="5303520" y="1417320"/>
          <a:ext cx="3474719" cy="219456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short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Guess the Number: at most six guesses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Guess the Number: the ending, with 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Rock, Paper, Scissors: one round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Rock, Paper, Scissors: six rounds and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43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short programs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short program is a board game: a few rules, a loop of turns and a winner at the end.</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2926080"/>
                <a:gridCol w="548640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A Short Program: Guess the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Twenty questions about one number: higher, lower, got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A Short Program: Rock, Paper, Scissors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playground game: three moves, each beating exactly one other.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Summary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packing list: only what you really need goes into the bag.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Practice Questions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Finger scales for a pianist: short drills before the performance.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43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Guess the Number: at most six guesses</a:t>
            </a:r>
          </a:p>
        </p:txBody>
      </p:sp>
      <p:sp>
        <p:nvSpPr>
          <p:cNvPr id="4" name="code"/>
          <p:cNvSpPr/>
          <p:nvPr/>
        </p:nvSpPr>
        <p:spPr>
          <a:xfrm>
            <a:off x="365760" y="841248"/>
            <a:ext cx="4828031" cy="8026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random</a:t>
            </a:r>
          </a:p>
          <a:p>
            <a:pPr algn="l"/>
            <a:r>
              <a:rPr sz="1000" b="0" i="0">
                <a:solidFill>
                  <a:srgbClr val="8FA3B8"/>
                </a:solidFill>
                <a:latin typeface="Courier New"/>
              </a:rPr>
              <a:t>&gt;&gt;&gt; </a:t>
            </a:r>
            <a:r>
              <a:rPr sz="1000" b="0" i="0">
                <a:solidFill>
                  <a:srgbClr val="E6EDF3"/>
                </a:solidFill>
                <a:latin typeface="Courier New"/>
              </a:rPr>
              <a:t>random</a:t>
            </a:r>
            <a:r>
              <a:rPr sz="1000" b="0" i="0">
                <a:solidFill>
                  <a:srgbClr val="E6EDF3"/>
                </a:solidFill>
                <a:latin typeface="Courier New"/>
              </a:rPr>
              <a:t>.</a:t>
            </a:r>
            <a:r>
              <a:rPr sz="1000" b="0" i="0">
                <a:solidFill>
                  <a:srgbClr val="E6EDF3"/>
                </a:solidFill>
                <a:latin typeface="Courier New"/>
              </a:rPr>
              <a:t>seed</a:t>
            </a:r>
            <a:r>
              <a:rPr sz="1000" b="0" i="0">
                <a:solidFill>
                  <a:srgbClr val="E6EDF3"/>
                </a:solidFill>
                <a:latin typeface="Courier New"/>
              </a:rPr>
              <a:t>(</a:t>
            </a:r>
            <a:r>
              <a:rPr sz="1000" b="0" i="0">
                <a:solidFill>
                  <a:srgbClr val="7CC4FF"/>
                </a:solidFill>
                <a:latin typeface="Courier New"/>
              </a:rPr>
              <a:t>7</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secret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random</a:t>
            </a:r>
            <a:r>
              <a:rPr sz="1000" b="0" i="0">
                <a:solidFill>
                  <a:srgbClr val="E6EDF3"/>
                </a:solidFill>
                <a:latin typeface="Courier New"/>
              </a:rPr>
              <a:t>.</a:t>
            </a:r>
            <a:r>
              <a:rPr sz="1000" b="0" i="0">
                <a:solidFill>
                  <a:srgbClr val="E6EDF3"/>
                </a:solidFill>
                <a:latin typeface="Courier New"/>
              </a:rPr>
              <a:t>randint</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20</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guesses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iter</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10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15</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12</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11</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175504" y="841248"/>
            <a:ext cx="3602736" cy="802640"/>
          </a:xfrm>
          <a:prstGeom prst="rect">
            <a:avLst/>
          </a:prstGeom>
          <a:noFill/>
        </p:spPr>
        <p:txBody>
          <a:bodyPr wrap="square" lIns="128016" rIns="128016" tIns="18288" bIns="18288" anchor="ctr">
            <a:spAutoFit/>
          </a:bodyPr>
          <a:lstStyle/>
          <a:p>
            <a:r>
              <a:rPr sz="1100" b="0" i="0">
                <a:solidFill>
                  <a:srgbClr val="1F2933"/>
                </a:solidFill>
                <a:latin typeface="Calibri"/>
              </a:rPr>
              <a:t>The secret is drawn from 1 to 20. A scripted iterator replaces the person who types the guesses.</a:t>
            </a:r>
          </a:p>
        </p:txBody>
      </p:sp>
      <p:sp>
        <p:nvSpPr>
          <p:cNvPr id="6" name="code"/>
          <p:cNvSpPr/>
          <p:nvPr/>
        </p:nvSpPr>
        <p:spPr>
          <a:xfrm>
            <a:off x="365760" y="1698752"/>
            <a:ext cx="4828031" cy="8026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taken</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range</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7</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guess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next</a:t>
            </a:r>
            <a:r>
              <a:rPr sz="1000" b="0" i="0">
                <a:solidFill>
                  <a:srgbClr val="E6EDF3"/>
                </a:solidFill>
                <a:latin typeface="Courier New"/>
              </a:rPr>
              <a:t>(</a:t>
            </a:r>
            <a:r>
              <a:rPr sz="1000" b="0" i="0">
                <a:solidFill>
                  <a:srgbClr val="E6EDF3"/>
                </a:solidFill>
                <a:latin typeface="Courier New"/>
              </a:rPr>
              <a:t>guesses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guess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secret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break</a:t>
            </a:r>
          </a:p>
        </p:txBody>
      </p:sp>
      <p:sp>
        <p:nvSpPr>
          <p:cNvPr id="7" name="explanation"/>
          <p:cNvSpPr txBox="1"/>
          <p:nvPr/>
        </p:nvSpPr>
        <p:spPr>
          <a:xfrm>
            <a:off x="5175504" y="1698752"/>
            <a:ext cx="3602736" cy="802640"/>
          </a:xfrm>
          <a:prstGeom prst="rect">
            <a:avLst/>
          </a:prstGeom>
          <a:noFill/>
        </p:spPr>
        <p:txBody>
          <a:bodyPr wrap="square" lIns="128016" rIns="128016" tIns="18288" bIns="18288" anchor="ctr">
            <a:spAutoFit/>
          </a:bodyPr>
          <a:lstStyle/>
          <a:p>
            <a:r>
              <a:rPr sz="1100" b="0" i="0">
                <a:solidFill>
                  <a:srgbClr val="1F2933"/>
                </a:solidFill>
                <a:latin typeface="Calibri"/>
              </a:rPr>
              <a:t>The player gets at most six guesses. A right guess leaves the loop with break.</a:t>
            </a:r>
          </a:p>
        </p:txBody>
      </p:sp>
      <p:sp>
        <p:nvSpPr>
          <p:cNvPr id="8" name="code"/>
          <p:cNvSpPr/>
          <p:nvPr/>
        </p:nvSpPr>
        <p:spPr>
          <a:xfrm>
            <a:off x="365760" y="2556256"/>
            <a:ext cx="4828031" cy="4927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guess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'low'</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guess</a:t>
            </a:r>
            <a:r>
              <a:rPr sz="1000" b="0" i="0">
                <a:solidFill>
                  <a:srgbClr val="E6EDF3"/>
                </a:solidFill>
                <a:latin typeface="Courier New"/>
              </a:rPr>
              <a:t> </a:t>
            </a:r>
            <a:r>
              <a:rPr sz="1000" b="0" i="0">
                <a:solidFill>
                  <a:srgbClr val="E6EDF3"/>
                </a:solidFill>
                <a:latin typeface="Courier New"/>
              </a:rPr>
              <a:t>&lt;</a:t>
            </a:r>
            <a:r>
              <a:rPr sz="1000" b="0" i="0">
                <a:solidFill>
                  <a:srgbClr val="E6EDF3"/>
                </a:solidFill>
                <a:latin typeface="Courier New"/>
              </a:rPr>
              <a:t> </a:t>
            </a:r>
            <a:r>
              <a:rPr sz="1000" b="0" i="0">
                <a:solidFill>
                  <a:srgbClr val="E6EDF3"/>
                </a:solidFill>
                <a:latin typeface="Courier New"/>
              </a:rPr>
              <a:t>secret</a:t>
            </a:r>
            <a:r>
              <a:rPr sz="1000" b="0" i="0">
                <a:solidFill>
                  <a:srgbClr val="E6EDF3"/>
                </a:solidFill>
                <a:latin typeface="Courier New"/>
              </a:rPr>
              <a:t> </a:t>
            </a:r>
            <a:r>
              <a:rPr sz="1000" b="0" i="0">
                <a:solidFill>
                  <a:srgbClr val="C9A0FF"/>
                </a:solidFill>
                <a:latin typeface="Courier New"/>
              </a:rPr>
              <a:t>else</a:t>
            </a:r>
            <a:r>
              <a:rPr sz="1000" b="0" i="0">
                <a:solidFill>
                  <a:srgbClr val="E6EDF3"/>
                </a:solidFill>
                <a:latin typeface="Courier New"/>
              </a:rPr>
              <a:t> </a:t>
            </a:r>
            <a:r>
              <a:rPr sz="1000" b="0" i="0">
                <a:solidFill>
                  <a:srgbClr val="9BE3A8"/>
                </a:solidFill>
                <a:latin typeface="Courier New"/>
              </a:rPr>
              <a:t>'high'</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'stopped after'</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taken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'guesses; secret'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secret</a:t>
            </a:r>
            <a:r>
              <a:rPr sz="1000" b="0" i="0">
                <a:solidFill>
                  <a:srgbClr val="E6EDF3"/>
                </a:solidFill>
                <a:latin typeface="Courier New"/>
              </a:rPr>
              <a:t>)</a:t>
            </a:r>
          </a:p>
        </p:txBody>
      </p:sp>
      <p:sp>
        <p:nvSpPr>
          <p:cNvPr id="9" name="explanation"/>
          <p:cNvSpPr txBox="1"/>
          <p:nvPr/>
        </p:nvSpPr>
        <p:spPr>
          <a:xfrm>
            <a:off x="5175504" y="2556256"/>
            <a:ext cx="3602736" cy="492760"/>
          </a:xfrm>
          <a:prstGeom prst="rect">
            <a:avLst/>
          </a:prstGeom>
          <a:noFill/>
        </p:spPr>
        <p:txBody>
          <a:bodyPr wrap="square" lIns="128016" rIns="128016" tIns="18288" bIns="18288" anchor="ctr">
            <a:spAutoFit/>
          </a:bodyPr>
          <a:lstStyle/>
          <a:p>
            <a:r>
              <a:rPr sz="1100" b="0" i="0">
                <a:solidFill>
                  <a:srgbClr val="1F2933"/>
                </a:solidFill>
                <a:latin typeface="Calibri"/>
              </a:rPr>
              <a:t>A wrong guess prints a hint. After the loop, taken still holds the number of the last pass.</a:t>
            </a:r>
          </a:p>
        </p:txBody>
      </p:sp>
      <p:sp>
        <p:nvSpPr>
          <p:cNvPr id="10" name="result label"/>
          <p:cNvSpPr txBox="1"/>
          <p:nvPr/>
        </p:nvSpPr>
        <p:spPr>
          <a:xfrm>
            <a:off x="365760" y="312216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96488"/>
          <a:ext cx="3785615" cy="1188720"/>
        </p:xfrm>
        <a:graphic>
          <a:graphicData uri="http://schemas.openxmlformats.org/drawingml/2006/table">
            <a:tbl>
              <a:tblPr firstRow="0" bandRow="0"/>
              <a:tblGrid>
                <a:gridCol w="917725"/>
                <a:gridCol w="1032440"/>
                <a:gridCol w="1835450"/>
              </a:tblGrid>
              <a:tr h="237744">
                <a:tc>
                  <a:txBody>
                    <a:bodyPr wrap="square"/>
                    <a:lstStyle/>
                    <a:p>
                      <a:pPr algn="ctr"/>
                      <a:r>
                        <a:rPr sz="1000" b="1" i="0">
                          <a:solidFill>
                            <a:srgbClr val="FFFFFF"/>
                          </a:solidFill>
                          <a:latin typeface="Calibri"/>
                        </a:rPr>
                        <a:t>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Guess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Hint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low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high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7744">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high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ourier New"/>
                        </a:rPr>
                        <a:t>right: break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2" name="chart"/>
          <p:cNvGraphicFramePr>
            <a:graphicFrameLocks noGrp="1"/>
          </p:cNvGraphicFramePr>
          <p:nvPr/>
        </p:nvGraphicFramePr>
        <p:xfrm>
          <a:off x="4572000" y="3396488"/>
          <a:ext cx="4206240" cy="1212088"/>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break leaves the loop; the loop variable keeps the count.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43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Guess the Number: the ending, with for and else</a:t>
            </a:r>
          </a:p>
        </p:txBody>
      </p:sp>
      <p:sp>
        <p:nvSpPr>
          <p:cNvPr id="4" name="code"/>
          <p:cNvSpPr/>
          <p:nvPr/>
        </p:nvSpPr>
        <p:spPr>
          <a:xfrm>
            <a:off x="365760" y="841248"/>
            <a:ext cx="5361431" cy="4927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secret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11</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guesses</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10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15</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12</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11</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3</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4</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5</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6</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708904" y="841248"/>
            <a:ext cx="3069336" cy="492760"/>
          </a:xfrm>
          <a:prstGeom prst="rect">
            <a:avLst/>
          </a:prstGeom>
          <a:noFill/>
        </p:spPr>
        <p:txBody>
          <a:bodyPr wrap="square" lIns="128016" rIns="128016" tIns="18288" bIns="18288" anchor="ctr">
            <a:spAutoFit/>
          </a:bodyPr>
          <a:lstStyle/>
          <a:p>
            <a:r>
              <a:rPr sz="1100" b="0" i="0">
                <a:solidFill>
                  <a:srgbClr val="1F2933"/>
                </a:solidFill>
                <a:latin typeface="Calibri"/>
              </a:rPr>
              <a:t>Two scripted games: one player finds the secret, the other never does.</a:t>
            </a:r>
          </a:p>
        </p:txBody>
      </p:sp>
      <p:sp>
        <p:nvSpPr>
          <p:cNvPr id="6" name="code"/>
          <p:cNvSpPr/>
          <p:nvPr/>
        </p:nvSpPr>
        <p:spPr>
          <a:xfrm>
            <a:off x="365760" y="1388871"/>
            <a:ext cx="5361431" cy="8026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taken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guess</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enumerate</a:t>
            </a:r>
            <a:r>
              <a:rPr sz="1000" b="0" i="0">
                <a:solidFill>
                  <a:srgbClr val="E6EDF3"/>
                </a:solidFill>
                <a:latin typeface="Courier New"/>
              </a:rPr>
              <a:t>(</a:t>
            </a:r>
            <a:r>
              <a:rPr sz="1000" b="0" i="0">
                <a:solidFill>
                  <a:srgbClr val="E6EDF3"/>
                </a:solidFill>
                <a:latin typeface="Courier New"/>
              </a:rPr>
              <a:t>guesses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start</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guess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secret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'Good job! You got it in'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taken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'guesses.'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break</a:t>
            </a:r>
          </a:p>
        </p:txBody>
      </p:sp>
      <p:sp>
        <p:nvSpPr>
          <p:cNvPr id="7" name="explanation"/>
          <p:cNvSpPr txBox="1"/>
          <p:nvPr/>
        </p:nvSpPr>
        <p:spPr>
          <a:xfrm>
            <a:off x="5708904" y="1388871"/>
            <a:ext cx="3069336" cy="802640"/>
          </a:xfrm>
          <a:prstGeom prst="rect">
            <a:avLst/>
          </a:prstGeom>
          <a:noFill/>
        </p:spPr>
        <p:txBody>
          <a:bodyPr wrap="square" lIns="128016" rIns="128016" tIns="18288" bIns="18288" anchor="ctr">
            <a:spAutoFit/>
          </a:bodyPr>
          <a:lstStyle/>
          <a:p>
            <a:r>
              <a:rPr sz="1100" b="0" i="0">
                <a:solidFill>
                  <a:srgbClr val="1F2933"/>
                </a:solidFill>
                <a:latin typeface="Calibri"/>
              </a:rPr>
              <a:t>enumerate counts the guesses from 1. A right guess prints the count and leaves the inner loop.</a:t>
            </a:r>
          </a:p>
        </p:txBody>
      </p:sp>
      <p:sp>
        <p:nvSpPr>
          <p:cNvPr id="8" name="code"/>
          <p:cNvSpPr/>
          <p:nvPr/>
        </p:nvSpPr>
        <p:spPr>
          <a:xfrm>
            <a:off x="365760" y="2246376"/>
            <a:ext cx="5361431" cy="4927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else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'Nope. The number was'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secret</a:t>
            </a:r>
            <a:r>
              <a:rPr sz="1000" b="0" i="0">
                <a:solidFill>
                  <a:srgbClr val="E6EDF3"/>
                </a:solidFill>
                <a:latin typeface="Courier New"/>
              </a:rPr>
              <a:t>)</a:t>
            </a:r>
          </a:p>
        </p:txBody>
      </p:sp>
      <p:sp>
        <p:nvSpPr>
          <p:cNvPr id="9" name="explanation"/>
          <p:cNvSpPr txBox="1"/>
          <p:nvPr/>
        </p:nvSpPr>
        <p:spPr>
          <a:xfrm>
            <a:off x="5708904" y="2246376"/>
            <a:ext cx="3069336" cy="492760"/>
          </a:xfrm>
          <a:prstGeom prst="rect">
            <a:avLst/>
          </a:prstGeom>
          <a:noFill/>
        </p:spPr>
        <p:txBody>
          <a:bodyPr wrap="square" lIns="128016" rIns="128016" tIns="18288" bIns="18288" anchor="ctr">
            <a:spAutoFit/>
          </a:bodyPr>
          <a:lstStyle/>
          <a:p>
            <a:r>
              <a:rPr sz="1100" b="0" i="0">
                <a:solidFill>
                  <a:srgbClr val="1F2933"/>
                </a:solidFill>
                <a:latin typeface="Calibri"/>
              </a:rPr>
              <a:t>The else runs only when all six guesses were wrong and break never happened.</a:t>
            </a:r>
          </a:p>
        </p:txBody>
      </p:sp>
      <p:sp>
        <p:nvSpPr>
          <p:cNvPr id="10" name="result label"/>
          <p:cNvSpPr txBox="1"/>
          <p:nvPr/>
        </p:nvSpPr>
        <p:spPr>
          <a:xfrm>
            <a:off x="365760" y="28122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086607"/>
          <a:ext cx="5720484" cy="1152144"/>
        </p:xfrm>
        <a:graphic>
          <a:graphicData uri="http://schemas.openxmlformats.org/drawingml/2006/table">
            <a:tbl>
              <a:tblPr firstRow="0" bandRow="0"/>
              <a:tblGrid>
                <a:gridCol w="572048"/>
                <a:gridCol w="1525463"/>
                <a:gridCol w="2764901"/>
                <a:gridCol w="858072"/>
              </a:tblGrid>
              <a:tr h="384048">
                <a:tc>
                  <a:txBody>
                    <a:bodyPr wrap="square"/>
                    <a:lstStyle/>
                    <a:p>
                      <a:pPr algn="ctr"/>
                      <a:r>
                        <a:rPr sz="1000" b="1" i="0">
                          <a:solidFill>
                            <a:srgbClr val="FFFFFF"/>
                          </a:solidFill>
                          <a:latin typeface="Calibri"/>
                        </a:rPr>
                        <a:t>Game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Guesses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else ran?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4048">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10, 15, 12, 11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Good job! You got it in 4 guesses.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4048">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1, 2, 3, 4, 5, 6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Nope. The number was 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2" name="chart"/>
          <p:cNvGraphicFramePr>
            <a:graphicFrameLocks noGrp="1"/>
          </p:cNvGraphicFramePr>
          <p:nvPr/>
        </p:nvGraphicFramePr>
        <p:xfrm>
          <a:off x="6422745" y="3086607"/>
          <a:ext cx="2355494" cy="1521968"/>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for and else: the else is the lose branch.</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43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Rock, Paper, Scissors: one round</a:t>
            </a:r>
          </a:p>
        </p:txBody>
      </p:sp>
      <p:sp>
        <p:nvSpPr>
          <p:cNvPr id="4" name="code"/>
          <p:cNvSpPr/>
          <p:nvPr/>
        </p:nvSpPr>
        <p:spPr>
          <a:xfrm>
            <a:off x="365760" y="841248"/>
            <a:ext cx="401650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beats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'r'</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'p'</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'r'</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'p'</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player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computer</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'p'</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'r'</a:t>
            </a:r>
          </a:p>
        </p:txBody>
      </p:sp>
      <p:sp>
        <p:nvSpPr>
          <p:cNvPr id="5" name="explanation"/>
          <p:cNvSpPr txBox="1"/>
          <p:nvPr/>
        </p:nvSpPr>
        <p:spPr>
          <a:xfrm>
            <a:off x="4363974" y="841248"/>
            <a:ext cx="4414266" cy="509016"/>
          </a:xfrm>
          <a:prstGeom prst="rect">
            <a:avLst/>
          </a:prstGeom>
          <a:noFill/>
        </p:spPr>
        <p:txBody>
          <a:bodyPr wrap="square" lIns="128016" rIns="128016" tIns="18288" bIns="18288" anchor="ctr">
            <a:spAutoFit/>
          </a:bodyPr>
          <a:lstStyle/>
          <a:p>
            <a:r>
              <a:rPr sz="1200" b="0" i="0">
                <a:solidFill>
                  <a:srgbClr val="1F2933"/>
                </a:solidFill>
                <a:latin typeface="Calibri"/>
              </a:rPr>
              <a:t>beats says which move each move defeats. The two moves are fixed here, so every run plays the same round.</a:t>
            </a:r>
          </a:p>
        </p:txBody>
      </p:sp>
      <p:sp>
        <p:nvSpPr>
          <p:cNvPr id="6" name="code"/>
          <p:cNvSpPr/>
          <p:nvPr/>
        </p:nvSpPr>
        <p:spPr>
          <a:xfrm>
            <a:off x="365760" y="1405128"/>
            <a:ext cx="4016501" cy="115900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if</a:t>
            </a:r>
            <a:r>
              <a:rPr sz="1050" b="0" i="0">
                <a:solidFill>
                  <a:srgbClr val="E6EDF3"/>
                </a:solidFill>
                <a:latin typeface="Courier New"/>
              </a:rPr>
              <a:t> </a:t>
            </a:r>
            <a:r>
              <a:rPr sz="1050" b="0" i="0">
                <a:solidFill>
                  <a:srgbClr val="E6EDF3"/>
                </a:solidFill>
                <a:latin typeface="Courier New"/>
              </a:rPr>
              <a:t>player</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computer</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result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'tie'</a:t>
            </a:r>
          </a:p>
          <a:p>
            <a:pPr algn="l"/>
            <a:r>
              <a:rPr sz="1050" b="0" i="0">
                <a:solidFill>
                  <a:srgbClr val="8FA3B8"/>
                </a:solidFill>
                <a:latin typeface="Courier New"/>
              </a:rPr>
              <a:t>&gt;&gt;&gt; </a:t>
            </a:r>
            <a:r>
              <a:rPr sz="1050" b="0" i="0">
                <a:solidFill>
                  <a:srgbClr val="C9A0FF"/>
                </a:solidFill>
                <a:latin typeface="Courier New"/>
              </a:rPr>
              <a:t>elif</a:t>
            </a:r>
            <a:r>
              <a:rPr sz="1050" b="0" i="0">
                <a:solidFill>
                  <a:srgbClr val="E6EDF3"/>
                </a:solidFill>
                <a:latin typeface="Courier New"/>
              </a:rPr>
              <a:t> </a:t>
            </a:r>
            <a:r>
              <a:rPr sz="1050" b="0" i="0">
                <a:solidFill>
                  <a:srgbClr val="E6EDF3"/>
                </a:solidFill>
                <a:latin typeface="Courier New"/>
              </a:rPr>
              <a:t>beats</a:t>
            </a:r>
            <a:r>
              <a:rPr sz="1050" b="0" i="0">
                <a:solidFill>
                  <a:srgbClr val="E6EDF3"/>
                </a:solidFill>
                <a:latin typeface="Courier New"/>
              </a:rPr>
              <a:t>[</a:t>
            </a:r>
            <a:r>
              <a:rPr sz="1050" b="0" i="0">
                <a:solidFill>
                  <a:srgbClr val="E6EDF3"/>
                </a:solidFill>
                <a:latin typeface="Courier New"/>
              </a:rPr>
              <a:t>player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computer</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result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'win'</a:t>
            </a:r>
          </a:p>
          <a:p>
            <a:pPr algn="l"/>
            <a:r>
              <a:rPr sz="1050" b="0" i="0">
                <a:solidFill>
                  <a:srgbClr val="8FA3B8"/>
                </a:solidFill>
                <a:latin typeface="Courier New"/>
              </a:rPr>
              <a:t>&gt;&gt;&gt; </a:t>
            </a:r>
            <a:r>
              <a:rPr sz="1050" b="0" i="0">
                <a:solidFill>
                  <a:srgbClr val="C9A0FF"/>
                </a:solidFill>
                <a:latin typeface="Courier New"/>
              </a:rPr>
              <a:t>else</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result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'lose'</a:t>
            </a:r>
          </a:p>
        </p:txBody>
      </p:sp>
      <p:sp>
        <p:nvSpPr>
          <p:cNvPr id="7" name="explanation"/>
          <p:cNvSpPr txBox="1"/>
          <p:nvPr/>
        </p:nvSpPr>
        <p:spPr>
          <a:xfrm>
            <a:off x="4363974" y="1405128"/>
            <a:ext cx="4414266" cy="1159001"/>
          </a:xfrm>
          <a:prstGeom prst="rect">
            <a:avLst/>
          </a:prstGeom>
          <a:noFill/>
        </p:spPr>
        <p:txBody>
          <a:bodyPr wrap="square" lIns="128016" rIns="128016" tIns="18288" bIns="18288" anchor="ctr">
            <a:spAutoFit/>
          </a:bodyPr>
          <a:lstStyle/>
          <a:p>
            <a:r>
              <a:rPr sz="1200" b="0" i="0">
                <a:solidFill>
                  <a:srgbClr val="1F2933"/>
                </a:solidFill>
                <a:latin typeface="Calibri"/>
              </a:rPr>
              <a:t>Three outcomes, one chain of tests: the same letter is a tie; a move that beats the other is a win.</a:t>
            </a:r>
          </a:p>
        </p:txBody>
      </p:sp>
      <p:sp>
        <p:nvSpPr>
          <p:cNvPr id="8" name="code"/>
          <p:cNvSpPr/>
          <p:nvPr/>
        </p:nvSpPr>
        <p:spPr>
          <a:xfrm>
            <a:off x="365760" y="2618994"/>
            <a:ext cx="4016501" cy="3840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player</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'vs'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computer</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'-&gt;'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result</a:t>
            </a:r>
            <a:r>
              <a:rPr sz="1050" b="0" i="0">
                <a:solidFill>
                  <a:srgbClr val="E6EDF3"/>
                </a:solidFill>
                <a:latin typeface="Courier New"/>
              </a:rPr>
              <a:t>)</a:t>
            </a:r>
          </a:p>
        </p:txBody>
      </p:sp>
      <p:sp>
        <p:nvSpPr>
          <p:cNvPr id="9" name="explanation"/>
          <p:cNvSpPr txBox="1"/>
          <p:nvPr/>
        </p:nvSpPr>
        <p:spPr>
          <a:xfrm>
            <a:off x="4363974" y="2618994"/>
            <a:ext cx="4414266" cy="384048"/>
          </a:xfrm>
          <a:prstGeom prst="rect">
            <a:avLst/>
          </a:prstGeom>
          <a:noFill/>
        </p:spPr>
        <p:txBody>
          <a:bodyPr wrap="square" lIns="128016" rIns="128016" tIns="18288" bIns="18288" anchor="ctr">
            <a:spAutoFit/>
          </a:bodyPr>
          <a:lstStyle/>
          <a:p>
            <a:r>
              <a:rPr sz="1200" b="0" i="0">
                <a:solidFill>
                  <a:srgbClr val="1F2933"/>
                </a:solidFill>
                <a:latin typeface="Calibri"/>
              </a:rPr>
              <a:t>One line reports the round.</a:t>
            </a:r>
          </a:p>
        </p:txBody>
      </p:sp>
      <p:sp>
        <p:nvSpPr>
          <p:cNvPr id="10" name="result label"/>
          <p:cNvSpPr txBox="1"/>
          <p:nvPr/>
        </p:nvSpPr>
        <p:spPr>
          <a:xfrm>
            <a:off x="365760" y="307619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50514"/>
            <a:ext cx="201168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player: p (paper)</a:t>
            </a:r>
          </a:p>
        </p:txBody>
      </p:sp>
      <p:sp>
        <p:nvSpPr>
          <p:cNvPr id="12" name="Rounded Rectangle 11"/>
          <p:cNvSpPr/>
          <p:nvPr/>
        </p:nvSpPr>
        <p:spPr>
          <a:xfrm>
            <a:off x="365760" y="3990594"/>
            <a:ext cx="201168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computer: r (rock)</a:t>
            </a:r>
          </a:p>
        </p:txBody>
      </p:sp>
      <p:cxnSp>
        <p:nvCxnSpPr>
          <p:cNvPr id="13" name="arrow"/>
          <p:cNvCxnSpPr/>
          <p:nvPr/>
        </p:nvCxnSpPr>
        <p:spPr>
          <a:xfrm>
            <a:off x="2423160" y="3533394"/>
            <a:ext cx="822960" cy="320039"/>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arrow"/>
          <p:cNvCxnSpPr/>
          <p:nvPr/>
        </p:nvCxnSpPr>
        <p:spPr>
          <a:xfrm flipV="1">
            <a:off x="2423160" y="3899153"/>
            <a:ext cx="822960" cy="274321"/>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91840" y="3697986"/>
            <a:ext cx="1463040" cy="402336"/>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50" b="0" i="0">
                <a:solidFill>
                  <a:srgbClr val="1F2933"/>
                </a:solidFill>
                <a:latin typeface="Calibri"/>
              </a:rPr>
              <a:t>result: win</a:t>
            </a:r>
          </a:p>
        </p:txBody>
      </p:sp>
      <p:graphicFrame>
        <p:nvGraphicFramePr>
          <p:cNvPr id="16" name="table"/>
          <p:cNvGraphicFramePr>
            <a:graphicFrameLocks noGrp="1"/>
          </p:cNvGraphicFramePr>
          <p:nvPr/>
        </p:nvGraphicFramePr>
        <p:xfrm>
          <a:off x="5120640" y="3350514"/>
          <a:ext cx="3657599" cy="1097280"/>
        </p:xfrm>
        <a:graphic>
          <a:graphicData uri="http://schemas.openxmlformats.org/drawingml/2006/table">
            <a:tbl>
              <a:tblPr firstRow="0" bandRow="0"/>
              <a:tblGrid>
                <a:gridCol w="1688123"/>
                <a:gridCol w="1969476"/>
              </a:tblGrid>
              <a:tr h="274320">
                <a:tc>
                  <a:txBody>
                    <a:bodyPr wrap="square"/>
                    <a:lstStyle/>
                    <a:p>
                      <a:r>
                        <a:rPr sz="1000" b="1" i="0">
                          <a:solidFill>
                            <a:srgbClr val="FFFFFF"/>
                          </a:solidFill>
                          <a:latin typeface="Calibri"/>
                        </a:rPr>
                        <a:t>Move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beats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r (rock)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s (scissors)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p (paper)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 (rock)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s (scissors)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p (paper)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chain of tests gives three outcomes.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43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Rock, Paper, Scissors: six rounds and a score</a:t>
            </a:r>
          </a:p>
        </p:txBody>
      </p:sp>
      <p:sp>
        <p:nvSpPr>
          <p:cNvPr id="4" name="code"/>
          <p:cNvSpPr/>
          <p:nvPr/>
        </p:nvSpPr>
        <p:spPr>
          <a:xfrm>
            <a:off x="365760" y="841248"/>
            <a:ext cx="5285231"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beats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'r'</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'p'</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'r'</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'p'</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score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'win'</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'lose'</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'tie'</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r>
              <a:rPr sz="1100" b="0" i="0">
                <a:solidFill>
                  <a:srgbClr val="E6EDF3"/>
                </a:solidFill>
                <a:latin typeface="Courier New"/>
              </a:rPr>
              <a:t>}</a:t>
            </a:r>
          </a:p>
        </p:txBody>
      </p:sp>
      <p:sp>
        <p:nvSpPr>
          <p:cNvPr id="5" name="explanation"/>
          <p:cNvSpPr txBox="1"/>
          <p:nvPr/>
        </p:nvSpPr>
        <p:spPr>
          <a:xfrm>
            <a:off x="5632704" y="841248"/>
            <a:ext cx="3145536" cy="523748"/>
          </a:xfrm>
          <a:prstGeom prst="rect">
            <a:avLst/>
          </a:prstGeom>
          <a:noFill/>
        </p:spPr>
        <p:txBody>
          <a:bodyPr wrap="square" lIns="128016" rIns="128016" tIns="18288" bIns="18288" anchor="ctr">
            <a:spAutoFit/>
          </a:bodyPr>
          <a:lstStyle/>
          <a:p>
            <a:r>
              <a:rPr sz="1200" b="0" i="0">
                <a:solidFill>
                  <a:srgbClr val="1F2933"/>
                </a:solidFill>
                <a:latin typeface="Calibri"/>
              </a:rPr>
              <a:t>The score is a dictionary of three accumulators, one for each outcome.</a:t>
            </a:r>
          </a:p>
        </p:txBody>
      </p:sp>
      <p:sp>
        <p:nvSpPr>
          <p:cNvPr id="6" name="code"/>
          <p:cNvSpPr/>
          <p:nvPr/>
        </p:nvSpPr>
        <p:spPr>
          <a:xfrm>
            <a:off x="365760" y="1419860"/>
            <a:ext cx="528523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player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computer</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zip</a:t>
            </a:r>
            <a:r>
              <a:rPr sz="1100" b="0" i="0">
                <a:solidFill>
                  <a:srgbClr val="E6EDF3"/>
                </a:solidFill>
                <a:latin typeface="Courier New"/>
              </a:rPr>
              <a:t>(</a:t>
            </a:r>
            <a:r>
              <a:rPr sz="1100" b="0" i="0">
                <a:solidFill>
                  <a:srgbClr val="9BE3A8"/>
                </a:solidFill>
                <a:latin typeface="Courier New"/>
              </a:rPr>
              <a:t>'rpsrps'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'rrrprs'</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key</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'win'</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E6EDF3"/>
                </a:solidFill>
                <a:latin typeface="Courier New"/>
              </a:rPr>
              <a:t>beats</a:t>
            </a:r>
            <a:r>
              <a:rPr sz="1100" b="0" i="0">
                <a:solidFill>
                  <a:srgbClr val="E6EDF3"/>
                </a:solidFill>
                <a:latin typeface="Courier New"/>
              </a:rPr>
              <a:t>[</a:t>
            </a:r>
            <a:r>
              <a:rPr sz="1100" b="0" i="0">
                <a:solidFill>
                  <a:srgbClr val="E6EDF3"/>
                </a:solidFill>
                <a:latin typeface="Courier New"/>
              </a:rPr>
              <a:t>player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computer</a:t>
            </a:r>
            <a:r>
              <a:rPr sz="1100" b="0" i="0">
                <a:solidFill>
                  <a:srgbClr val="E6EDF3"/>
                </a:solidFill>
                <a:latin typeface="Courier New"/>
              </a:rPr>
              <a:t> </a:t>
            </a:r>
            <a:r>
              <a:rPr sz="1100" b="0" i="0">
                <a:solidFill>
                  <a:srgbClr val="C9A0FF"/>
                </a:solidFill>
                <a:latin typeface="Courier New"/>
              </a:rPr>
              <a:t>else</a:t>
            </a:r>
            <a:r>
              <a:rPr sz="1100" b="0" i="0">
                <a:solidFill>
                  <a:srgbClr val="E6EDF3"/>
                </a:solidFill>
                <a:latin typeface="Courier New"/>
              </a:rPr>
              <a:t> </a:t>
            </a:r>
            <a:r>
              <a:rPr sz="1100" b="0" i="0">
                <a:solidFill>
                  <a:srgbClr val="9BE3A8"/>
                </a:solidFill>
                <a:latin typeface="Courier New"/>
              </a:rPr>
              <a:t>'lose'</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E6EDF3"/>
                </a:solidFill>
                <a:latin typeface="Courier New"/>
              </a:rPr>
              <a:t>player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computer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key</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'tie'</a:t>
            </a:r>
          </a:p>
        </p:txBody>
      </p:sp>
      <p:sp>
        <p:nvSpPr>
          <p:cNvPr id="7" name="explanation"/>
          <p:cNvSpPr txBox="1"/>
          <p:nvPr/>
        </p:nvSpPr>
        <p:spPr>
          <a:xfrm>
            <a:off x="5632704" y="1419860"/>
            <a:ext cx="3145536" cy="890016"/>
          </a:xfrm>
          <a:prstGeom prst="rect">
            <a:avLst/>
          </a:prstGeom>
          <a:noFill/>
        </p:spPr>
        <p:txBody>
          <a:bodyPr wrap="square" lIns="128016" rIns="128016" tIns="18288" bIns="18288" anchor="ctr">
            <a:spAutoFit/>
          </a:bodyPr>
          <a:lstStyle/>
          <a:p>
            <a:r>
              <a:rPr sz="1200" b="0" i="0">
                <a:solidFill>
                  <a:srgbClr val="1F2933"/>
                </a:solidFill>
                <a:latin typeface="Calibri"/>
              </a:rPr>
              <a:t>zip pairs the player's six moves with the computer's six. The key is win or lose first; the same letter turns it into a tie.</a:t>
            </a:r>
          </a:p>
        </p:txBody>
      </p:sp>
      <p:sp>
        <p:nvSpPr>
          <p:cNvPr id="8" name="code"/>
          <p:cNvSpPr/>
          <p:nvPr/>
        </p:nvSpPr>
        <p:spPr>
          <a:xfrm>
            <a:off x="365760" y="2364740"/>
            <a:ext cx="5285231" cy="69418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player</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'vs'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computer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key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score</a:t>
            </a:r>
            <a:r>
              <a:rPr sz="1100" b="0" i="0">
                <a:solidFill>
                  <a:srgbClr val="E6EDF3"/>
                </a:solidFill>
                <a:latin typeface="Courier New"/>
              </a:rPr>
              <a:t>[</a:t>
            </a:r>
            <a:r>
              <a:rPr sz="1100" b="0" i="0">
                <a:solidFill>
                  <a:srgbClr val="E6EDF3"/>
                </a:solidFill>
                <a:latin typeface="Courier New"/>
              </a:rPr>
              <a:t>key</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score</a:t>
            </a:r>
            <a:r>
              <a:rPr sz="1100" b="0" i="0">
                <a:solidFill>
                  <a:srgbClr val="E6EDF3"/>
                </a:solidFill>
                <a:latin typeface="Courier New"/>
              </a:rPr>
              <a:t>)</a:t>
            </a:r>
          </a:p>
        </p:txBody>
      </p:sp>
      <p:sp>
        <p:nvSpPr>
          <p:cNvPr id="9" name="explanation"/>
          <p:cNvSpPr txBox="1"/>
          <p:nvPr/>
        </p:nvSpPr>
        <p:spPr>
          <a:xfrm>
            <a:off x="5632704" y="2364740"/>
            <a:ext cx="3145536" cy="694181"/>
          </a:xfrm>
          <a:prstGeom prst="rect">
            <a:avLst/>
          </a:prstGeom>
          <a:noFill/>
        </p:spPr>
        <p:txBody>
          <a:bodyPr wrap="square" lIns="128016" rIns="128016" tIns="18288" bIns="18288" anchor="ctr">
            <a:spAutoFit/>
          </a:bodyPr>
          <a:lstStyle/>
          <a:p>
            <a:r>
              <a:rPr sz="1200" b="0" i="0">
                <a:solidFill>
                  <a:srgbClr val="1F2933"/>
                </a:solidFill>
                <a:latin typeface="Calibri"/>
              </a:rPr>
              <a:t>Each round prints its result and adds 1 to the matching accumulator.</a:t>
            </a:r>
          </a:p>
        </p:txBody>
      </p:sp>
      <p:sp>
        <p:nvSpPr>
          <p:cNvPr id="10" name="result label"/>
          <p:cNvSpPr txBox="1"/>
          <p:nvPr/>
        </p:nvSpPr>
        <p:spPr>
          <a:xfrm>
            <a:off x="365760" y="313207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06393"/>
          <a:ext cx="4626862" cy="1202180"/>
        </p:xfrm>
        <a:graphic>
          <a:graphicData uri="http://schemas.openxmlformats.org/drawingml/2006/table">
            <a:tbl>
              <a:tblPr firstRow="0" bandRow="0"/>
              <a:tblGrid>
                <a:gridCol w="991470"/>
                <a:gridCol w="1101634"/>
                <a:gridCol w="1321961"/>
                <a:gridCol w="1211797"/>
              </a:tblGrid>
              <a:tr h="171740">
                <a:tc>
                  <a:txBody>
                    <a:bodyPr wrap="square"/>
                    <a:lstStyle/>
                    <a:p>
                      <a:pPr algn="ctr"/>
                      <a:r>
                        <a:rPr sz="1000" b="1" i="0">
                          <a:solidFill>
                            <a:srgbClr val="FFFFFF"/>
                          </a:solidFill>
                          <a:latin typeface="Calibri"/>
                        </a:rPr>
                        <a:t>Round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Player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Computer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171740">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ourier New"/>
                        </a:rPr>
                        <a:t>tie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71740">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win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171740">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B83A1B"/>
                          </a:solidFill>
                          <a:latin typeface="Courier New"/>
                        </a:rPr>
                        <a:t>lose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71740">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B83A1B"/>
                          </a:solidFill>
                          <a:latin typeface="Courier New"/>
                        </a:rPr>
                        <a:t>lose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171740">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win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71740">
                <a:tc>
                  <a:txBody>
                    <a:bodyPr wrap="square"/>
                    <a:lstStyle/>
                    <a:p>
                      <a:pPr algn="ctr"/>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8A8F98"/>
                          </a:solidFill>
                          <a:latin typeface="Courier New"/>
                        </a:rPr>
                        <a:t>tie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2" name="chart"/>
          <p:cNvGraphicFramePr>
            <a:graphicFrameLocks noGrp="1"/>
          </p:cNvGraphicFramePr>
          <p:nvPr/>
        </p:nvGraphicFramePr>
        <p:xfrm>
          <a:off x="5413248" y="3406393"/>
          <a:ext cx="3364991" cy="1202182"/>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accumulator for each outcome.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43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adds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Features newer than the book, from the chapter research</a:t>
            </a:r>
          </a:p>
        </p:txBody>
      </p:sp>
      <p:graphicFrame>
        <p:nvGraphicFramePr>
          <p:cNvPr id="5" name="table"/>
          <p:cNvGraphicFramePr>
            <a:graphicFrameLocks noGrp="1"/>
          </p:cNvGraphicFramePr>
          <p:nvPr/>
        </p:nvGraphicFramePr>
        <p:xfrm>
          <a:off x="457200" y="1143000"/>
          <a:ext cx="8229598" cy="3328416"/>
        </p:xfrm>
        <a:graphic>
          <a:graphicData uri="http://schemas.openxmlformats.org/drawingml/2006/table">
            <a:tbl>
              <a:tblPr firstRow="0" bandRow="0"/>
              <a:tblGrid>
                <a:gridCol w="3749039"/>
                <a:gridCol w="731520"/>
                <a:gridCol w="3749039"/>
              </a:tblGrid>
              <a:tr h="475488">
                <a:tc>
                  <a:txBody>
                    <a:bodyPr wrap="square"/>
                    <a:lstStyle/>
                    <a:p>
                      <a:r>
                        <a:rPr sz="1300" b="1" i="0">
                          <a:solidFill>
                            <a:srgbClr val="FFFFFF"/>
                          </a:solidFill>
                          <a:latin typeface="Calibri"/>
                        </a:rPr>
                        <a:t>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What it gives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75488">
                <a:tc>
                  <a:txBody>
                    <a:bodyPr wrap="square"/>
                    <a:lstStyle/>
                    <a:p>
                      <a:r>
                        <a:rPr sz="1300" b="1" i="0">
                          <a:solidFill>
                            <a:srgbClr val="1F2933"/>
                          </a:solidFill>
                          <a:latin typeface="Calibri"/>
                        </a:rPr>
                        <a:t>Assignment expression x :=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Names a value inside the test of a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75488">
                <a:tc>
                  <a:txBody>
                    <a:bodyPr wrap="square"/>
                    <a:lstStyle/>
                    <a:p>
                      <a:r>
                        <a:rPr sz="1300" b="1" i="0">
                          <a:solidFill>
                            <a:srgbClr val="1F2933"/>
                          </a:solidFill>
                          <a:latin typeface="Calibri"/>
                        </a:rPr>
                        <a:t>zip(a, b, strict=True)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3.10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Raises ValueError when the lengths differ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75488">
                <a:tc>
                  <a:txBody>
                    <a:bodyPr wrap="square"/>
                    <a:lstStyle/>
                    <a:p>
                      <a:r>
                        <a:rPr sz="1300" b="1" i="0">
                          <a:solidFill>
                            <a:srgbClr val="1F2933"/>
                          </a:solidFill>
                          <a:latin typeface="Calibri"/>
                        </a:rPr>
                        <a:t>return, break or continue leaving a finally block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compiler emits a SyntaxWarning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75488">
                <a:tc>
                  <a:txBody>
                    <a:bodyPr wrap="square"/>
                    <a:lstStyle/>
                    <a:p>
                      <a:r>
                        <a:rPr sz="1300" b="1" i="0">
                          <a:solidFill>
                            <a:srgbClr val="1F2933"/>
                          </a:solidFill>
                          <a:latin typeface="Calibri"/>
                        </a:rPr>
                        <a:t>range() is a lazy sequence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Values are computed when they are asked 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75488">
                <a:tc>
                  <a:txBody>
                    <a:bodyPr wrap="square"/>
                    <a:lstStyle/>
                    <a:p>
                      <a:r>
                        <a:rPr sz="1300" b="1" i="0">
                          <a:solidFill>
                            <a:srgbClr val="1F2933"/>
                          </a:solidFill>
                          <a:latin typeface="Calibri"/>
                        </a:rPr>
                        <a:t>sys.exit() raises SystemExit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finally clauses still run on the way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75488">
                <a:tc>
                  <a:txBody>
                    <a:bodyPr wrap="square"/>
                    <a:lstStyle/>
                    <a:p>
                      <a:r>
                        <a:rPr sz="1300" b="1" i="0">
                          <a:solidFill>
                            <a:srgbClr val="1F2933"/>
                          </a:solidFill>
                          <a:latin typeface="Calibri"/>
                        </a:rPr>
                        <a:t>Control-C raises KeyboardInterrupt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Stops a loop that never 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43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while loop tests first and repeats its block while the test is True.</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for loop takes the items of any iterable; range stops before its stop value.</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break leaves, continue returns to the test, else runs when no break happened.</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enumerate and zip replace index arithmetic; iter and next sit under every for.</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import opens a namespace; sys.exit() raises SystemExit with an exit status.</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chapter</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loop is a test, a block and a way out.</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43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it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459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739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824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Change the while example so that it prints only the even values of spam. Which line do you add?</a:t>
            </a:r>
          </a:p>
        </p:txBody>
      </p:sp>
      <p:sp>
        <p:nvSpPr>
          <p:cNvPr id="10" name="card"/>
          <p:cNvSpPr/>
          <p:nvPr/>
        </p:nvSpPr>
        <p:spPr>
          <a:xfrm>
            <a:off x="365760" y="23774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05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4140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does list(range(10, 0, -3)) give? Predict it, then run it.</a:t>
            </a:r>
          </a:p>
        </p:txBody>
      </p:sp>
      <p:sp>
        <p:nvSpPr>
          <p:cNvPr id="13" name="card"/>
          <p:cNvSpPr/>
          <p:nvPr/>
        </p:nvSpPr>
        <p:spPr>
          <a:xfrm>
            <a:off x="365760" y="31089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2369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1455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Why does zip([1, 2, 3], 'ab') stop after two pairs, and how do you make it raise an error?</a:t>
            </a:r>
          </a:p>
        </p:txBody>
      </p:sp>
      <p:sp>
        <p:nvSpPr>
          <p:cNvPr id="16" name="card"/>
          <p:cNvSpPr/>
          <p:nvPr/>
        </p:nvSpPr>
        <p:spPr>
          <a:xfrm>
            <a:off x="365760" y="384048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6849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7705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Rewrite the Guess the Number loop to allow ten guesses and print how many are left.</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43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3</a:t>
            </a:r>
          </a:p>
          <a:p>
            <a:r>
              <a:rPr sz="900" b="0" i="0">
                <a:solidFill>
                  <a:srgbClr val="0E7C86"/>
                </a:solidFill>
                <a:latin typeface="Calibri"/>
                <a:hlinkClick r:id="rId3"/>
              </a:rPr>
              <a:t>https://automatetheboringstuff.com/3e/chapter3.html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tutorial: More control flow tools</a:t>
            </a:r>
          </a:p>
          <a:p>
            <a:r>
              <a:rPr sz="900" b="0" i="0">
                <a:solidFill>
                  <a:srgbClr val="0E7C86"/>
                </a:solidFill>
                <a:latin typeface="Calibri"/>
                <a:hlinkClick r:id="rId4"/>
              </a:rPr>
              <a:t>https://docs.python.org/3/tutorial/controlflow.html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Language reference: the while and for statements</a:t>
            </a:r>
          </a:p>
          <a:p>
            <a:r>
              <a:rPr sz="900" b="0" i="0">
                <a:solidFill>
                  <a:srgbClr val="0E7C86"/>
                </a:solidFill>
                <a:latin typeface="Calibri"/>
                <a:hlinkClick r:id="rId5"/>
              </a:rPr>
              <a:t>https://docs.python.org/3/reference/compound_stmts.html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Built-in functions: range, enumerate, zip</a:t>
            </a:r>
          </a:p>
          <a:p>
            <a:r>
              <a:rPr sz="900" b="0" i="0">
                <a:solidFill>
                  <a:srgbClr val="0E7C86"/>
                </a:solidFill>
                <a:latin typeface="Calibri"/>
                <a:hlinkClick r:id="rId6"/>
              </a:rPr>
              <a:t>https://docs.python.org/3/library/functions.html</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The sys module: sys.exit and sys.path</a:t>
            </a:r>
          </a:p>
          <a:p>
            <a:r>
              <a:rPr sz="900" b="0" i="0">
                <a:solidFill>
                  <a:srgbClr val="0E7C86"/>
                </a:solidFill>
                <a:latin typeface="Calibri"/>
                <a:hlinkClick r:id="rId7"/>
              </a:rPr>
              <a:t>https://docs.python.org/3/library/sys.html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Built-in exceptions: SystemExit, KeyboardInterrupt</a:t>
            </a:r>
          </a:p>
          <a:p>
            <a:r>
              <a:rPr sz="900" b="0" i="0">
                <a:solidFill>
                  <a:srgbClr val="0E7C86"/>
                </a:solidFill>
                <a:latin typeface="Calibri"/>
                <a:hlinkClick r:id="rId8"/>
              </a:rPr>
              <a:t>https://docs.python.org/3/library/exceptions.html</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tutorial: Modules</a:t>
            </a:r>
          </a:p>
          <a:p>
            <a:r>
              <a:rPr sz="900" b="0" i="0">
                <a:solidFill>
                  <a:srgbClr val="0E7C86"/>
                </a:solidFill>
                <a:latin typeface="Calibri"/>
                <a:hlinkClick r:id="rId9"/>
              </a:rPr>
              <a:t>https://docs.python.org/3/tutorial/modules.html</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glossary: iterable, iterator, sequence</a:t>
            </a:r>
          </a:p>
          <a:p>
            <a:r>
              <a:rPr sz="900" b="0" i="0">
                <a:solidFill>
                  <a:srgbClr val="0E7C86"/>
                </a:solidFill>
                <a:latin typeface="Calibri"/>
                <a:hlinkClick r:id="rId10"/>
              </a:rPr>
              <a:t>https://docs.python.org/3/glossary.html</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572: Assignment expressions</a:t>
            </a:r>
          </a:p>
          <a:p>
            <a:r>
              <a:rPr sz="900" b="0" i="0">
                <a:solidFill>
                  <a:srgbClr val="0E7C86"/>
                </a:solidFill>
                <a:latin typeface="Calibri"/>
                <a:hlinkClick r:id="rId11"/>
              </a:rPr>
              <a:t>https://peps.python.org/pep-0572/</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618: Length-checking zip</a:t>
            </a:r>
          </a:p>
          <a:p>
            <a:r>
              <a:rPr sz="900" b="0" i="0">
                <a:solidFill>
                  <a:srgbClr val="0E7C86"/>
                </a:solidFill>
                <a:latin typeface="Calibri"/>
                <a:hlinkClick r:id="rId12"/>
              </a:rPr>
              <a:t>https://peps.python.org/pep-0618/</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What's new in Python 3.14</a:t>
            </a:r>
          </a:p>
          <a:p>
            <a:r>
              <a:rPr sz="900" b="0" i="0">
                <a:solidFill>
                  <a:srgbClr val="0E7C86"/>
                </a:solidFill>
                <a:latin typeface="Calibri"/>
                <a:hlinkClick r:id="rId13"/>
              </a:rPr>
              <a:t>https://docs.python.org/3/whatsnew/3.14.html</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Dijkstra, EWD831: Why numbering should start at zero</a:t>
            </a:r>
          </a:p>
          <a:p>
            <a:r>
              <a:rPr sz="900" b="0" i="0">
                <a:solidFill>
                  <a:srgbClr val="0E7C86"/>
                </a:solidFill>
                <a:latin typeface="Calibri"/>
                <a:hlinkClick r:id="rId14"/>
              </a:rPr>
              <a:t>cs.utexas.edu</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Tutor: watch a loop run step by step</a:t>
            </a:r>
          </a:p>
          <a:p>
            <a:r>
              <a:rPr sz="900" b="0" i="0">
                <a:solidFill>
                  <a:srgbClr val="0E7C86"/>
                </a:solidFill>
                <a:latin typeface="Calibri"/>
                <a:hlinkClick r:id="rId15"/>
              </a:rPr>
              <a:t>https://pythontutor.com/</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Video: Loops and iterations (Corey Schafer)</a:t>
            </a:r>
          </a:p>
          <a:p>
            <a:r>
              <a:rPr sz="900" b="0" i="0">
                <a:solidFill>
                  <a:srgbClr val="0E7C86"/>
                </a:solidFill>
                <a:latin typeface="Calibri"/>
                <a:hlinkClick r:id="rId16"/>
              </a:rPr>
              <a:t>https://www.youtube.com/watch?v=6iF8Xb7Z3wQ</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3: Loops (lecture deck 5.1.0)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