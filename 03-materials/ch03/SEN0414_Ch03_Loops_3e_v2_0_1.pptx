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about repetition, the idea that makes programs worth writing: a computer does the same thing again without getting bored. We follow the book’s chapter 3 (Sweigart, 2025), and where the language has moved on we say so. Every result on these slides was produced by running it under Python 3.14.4, and the traces you will see were recorded by a real run, pass by pass. Same material as the chapter 3 interactive page; the diagrams on the slides are the diagrams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something everyone has met. You type a password wrong; the page says try again; you do. Nobody wrote the login page a thousand times, they wrote it once and told the computer to come back. Click once for the everyday examples and once for the punchline: that “again” is what today’s chapter names. Ask the room for one more example before moving on (a game that restarts, a download that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the same tree the interactive page uses. Repetition splits into condition loops (while) and counted loops (for). Sequence covers range and the two helpers enumerate and zip. Loop control is break, continue, the loop else and sys.exit. Module is how you reach the library, and modern practice pairs the book’s loops with what current Python offers and with two hazards the documentation names. Tell the class: by the end they should be able to choose the right loop for a job, and to predict what it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picture in four clicks. One: the code before the loop, then the diamond: the test. Two: if the test is true the block runs. Three: and here is the difference from if: execution jumps back to the test. Four: only when the test is false do we leave, to the code after the loop. The point to land: the number of passes is not written in the code, it is decided by the data. The reference says it in one line (Python Software Foundation, 2026). Ask: what would happen if the block never changed anything the test looks at? (that sets up the infinite loop two slides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before explanation is one of the most reliable teaching moves there is: a student who has committed to an answer pays attention to whether it was right. Give them thirty seconds; take two or three answers. First click reveals the answer; second click reveals the real run beside the code. The trick is that the test happens before each pass, so with the third input the body runs and only afterwards does the test see ‘yes’. Program written for this course; run under Python 3.14.4 with the inputs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tables are how you debug in your head, and how professionals reason about loops. Click through the rows: answer starts empty, so the test is true; each pass reads a new answer. Row four is the point: answer is ‘yes’, the test is false, the block does not run, and ‘Starting’ is printed. This trace was recorded by a line tracer running the program on the slide under Python 3.14.4 (08-tooling/ch03-deck/visuals_make_v1_0_0.py); the same specification is drawn in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condition never becomes false the program keeps going forever, a common programming bug (Sweigart, 2025). But while True: written on purpose is a standard pattern: you put the exit inside the loop where the decision is made. There are four ways out, one per click: break leaves this loop, return leaves the whole function, sys.exit() ends the program, and an exception unwinds until something handles it (Python Software Foundation, 2026). If you are stuck in one you did not mean, Control-C. Warn them: they will write an accidental infinite loop this semester, and that is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students actually face at the keyboard, so give it a slide of its own. If you can say in advance what you are looping over, or how many times, use for: the loop’s length is known before it starts. If it depends on something that changes while the program runs, such as an answer typed in, use while. The two families are drawn from the chapter’s ontology: a counted loop “runs its block once for each item of a sequence”, a condition loop “repeats as long as an expression is true” (Sweigart, 2025). Third click: the two helpers that replace most index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think a for loop counts. It does not: it hands out items. The reference says: a for statement evaluates its iterable once, makes an iterator from it, assigns each item to the target in turn and runs the block (Python Software Foundation, 2026). One click per step. The little program on the right adds 1, 2 and 3 and prints 6; the next slide traces it. And a fact worth a demonstration: assigning to the loop variable inside the block does not change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trace with the while trace two slides back. There the condition decided; here the iterator decides. Values are shown as the block starts on each pass: n has just been assigned, total is what it was before the pass adds n. The last value, total = 6, is what the program prints. Recorded by the same line tracer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number line and click through the dots: 0, 1, 2, 3, 4. The hollow red circle at 5 is where it stops, and it never joins the sequence (Sweigart, 2025). This is the single most common range mistake, so give it its own card. The dots and values are not typed: they are what list(range(5))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 lines, all from real calls. With two arguments the first is where you start: range(12, 16) gives 12 to 15. A third argument is the step: range(0, 10, 2) gives the even numbers below 10. A negative step counts down, and the stop is still excluded: range(5, -1, -1) gives 5 down to 0, which is why you write -1 as the stop to include 0. Also point out that range(10), range(0, 10) and range(0, 10, 1) give the same values, which is one of the book’s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says a range behaves like a list in many ways but is not one: it returns the successive items as you iterate, which saves space (Python Software Foundation, 2026). Analogy for the room: a list is all the dishes already on the table, a range is the recipe that makes each dish when someone asks. Show the first card: printing range(10) does not show ten numbers. Show the second card: a range of a million costs almost nothing until you use it, yet sum(range(4)) works because it is iterable. The last line is the book’s practice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top lane is the running count, the bottom lane is the items, and each green link is one pair enumerate hands to the loop. The tutorial prefers it to combining range and len (Python Software Foundation, 2026). Ask the class to say what the code would look like without it, and note how many places an off-by-one could hide. The pairs shown are what list(enumerate([‘tic’, ‘tac’, ‘toe’]))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two sequences: ‘abc’ and [1, 2]. zip pairs them up as far as it can and stops at the shortest: the c has no partner and is quietly dropped (Bucher, 2020). Silent behaviour like this is where data bugs live: two lists that should have been the same length and were not. Set up the question for the next slide: how would you make Python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inputs, one keyword. With strict=True, zip raises ValueError when the lengths differ (Bucher, 2020), since Python 3.10. The message on the slide is what Python 3.14.4 printed. Discussion prompt: when would you rather have the silent version? (Almost never: only when truncation is the intended behaviour, and then say so in a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 four passes. Pass one adds 5. Pass two: ‘x’ is not a digit, so continue skips the rest of the block and goes back for the next entry. Pass three adds 7. Pass four: the blank entry hits break and the loop ends with total 12. Everything on the strip was recorded by tracing the program shown (swordfish.py in the book uses continue the same way). break ends the innermost enclosing loop at once; continue skips the rest of the block (Sweigart, 2025; Python Software Foundation,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else on a loop is one of Python’s best-kept secrets and one of its worst-named features: read it as “no break”. Top strip: the search finds dog on pass two, break fires, and the else is skipped. Bottom strip: fish is never found, no pass reaches break, the loop finishes, and the else runs. It is the tidy replacement for a found flag (Python Software Foundation, 2026). Note it is skipped by a break, a return or a raised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 shows i taking 0, 1, 2. The program’s last line prints 2: names in a for statement’s target list are not deleted when the loop ends (Python Software Foundation, 2026). The flip side, which the reference also states, is that after a loop over an empty sequence the name was never assigned at all. Useful and dangerous in equal measure: it is why code that uses the loop variable after the loop can work on the test data and break on empty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exit and the loop is left, and the program ends. But the mechanism is an exception, SystemExit, which is why finally clauses still run and why an outer handler can intercept it (Python Software Foundation, 2026). Tell them: this is also why sys.exit() inside a thread does not stop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minute to read the program before anything else, and ask: which lines are the counted loop, which is the early exit, which is the else? The loop is counted, for attempt in range(1, 4), so at most three tries. The if chain gives hints, break leaves on success, and the else clause handles the case where all three attempts fail, replacing the found flag from the book. Two real runs are on the right: a win on the third attempt, and three misses. The seed makes the secret repeatable for the slide; a real game would not seed it. Next slide: what each pass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that uses everything so far. The loop is counted, for attempt in range(1, 4), so at most three tries. The if chain gives hints, break leaves on success, and the else clause handles the case where all three attempts fail, replacing the found flag from the book. Top: the run where the third guess is right, break fires. Bottom: the run where all three fail and the else ran (the else’s message is on the last pass). The seed makes the secret repeatable for the slide; a real game would not seed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reaches the standard library’s functions by importing the module that holds them (Sweigart, 2025). We have been writing import random and import sys without discussing what they do. Three forms, one style guide. Ask: which do you think is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traffic light for import styles. Green: import random keeps every name under its module, so random.randint tells the reader where it came from. Amber: importing several modules on one line is legal and the book does it, but PEP 8 says imports should usually be on separate lines (Van Rossum et al., 2001). Red: from random import * removes the prefix; the book itself concludes that the full name makes for more readable code (Sweigart, 2025), and PEP 8 says wildcard imports should be avoided because they make it unclear which names are present. The count on the card is len(random.__all__) under Python 3.14.4. Third click: how many names that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programs print the same three lines; check the transcripts underneath. The left one is the while True: pattern from earlier: read, test, break. The right one uses an assignment expression, added in Python 3.8 (Angelico et al., 2018): := names the value inside the condition, so the loop reads and tests in one line. PEP 572 uses while chunk := file.read(8192) as its own example of a loop that cannot be trivially rewritten with the two-argument iter(). A style you will see in modern code; you are not required to like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hazards, one click each. First: deleting from a dictionary while looping over it is tricky to get right, so the tutorial’s remedy is to loop over a copy, exactly what users.copy().items() does in the program on the slide, or to build a new collection (Python Software Foundation, 2026). Second: since Python 3.14, a return, break or continue that leaves a finally block draws a SyntaxWarning, per PEP 765 (Katriel and Coghlan, 2024). Reproduced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how does a program ask again until it gets an answer? A while loop with a test, or a for loop over the attempts, with break when the answer is good. Four verbs to leave with: choose, predict, trace, import. Those match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follow the book’s practice questions; the rest test what we added. The interactive page has a quiz with a rationale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03-materials/ch03/rdodi/sen0414_ch03_research_v1_0_0.ttl. Visual specifications: 08-tooling/ch03-deck/visuals_make_v1_0_0.py, output visuals_out_v1_0_0.json.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the 3rd edition is Functions. Ask for questions, and remind them the page has the same traces they saw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3: Loops</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How a program does the same work again — until a condition says stop</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914400"/>
            <a:ext cx="7863840" cy="14630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How does a program ask again — and again — until it gets an answer it can use?</a:t>
            </a:r>
            <a:endParaRPr lang="en-US" sz="3200" dirty="0"/>
          </a:p>
        </p:txBody>
      </p:sp>
      <p:sp>
        <p:nvSpPr>
          <p:cNvPr id="3" name="say|b1"/>
          <p:cNvSpPr txBox="1"/>
          <p:nvPr/>
        </p:nvSpPr>
        <p:spPr>
          <a:xfrm>
            <a:off x="640080" y="2743200"/>
            <a:ext cx="786384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Think of a login that says “wrong password, try again”, or a form that will not submit until the field is filled in.</a:t>
            </a:r>
            <a:endParaRPr lang="en-US" sz="1800" dirty="0"/>
          </a:p>
        </p:txBody>
      </p:sp>
      <p:sp>
        <p:nvSpPr>
          <p:cNvPr id="4" name="say|b2"/>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That “again” is a loop.</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families of loops,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five parts of the chapter, as the course’s own ontology draws them</a:t>
            </a:r>
            <a:endParaRPr lang="en-US" sz="1400" dirty="0"/>
          </a:p>
        </p:txBody>
      </p:sp>
      <p:sp>
        <p:nvSpPr>
          <p:cNvPr id="6" name="map1"/>
          <p:cNvSpPr/>
          <p:nvPr/>
        </p:nvSpPr>
        <p:spPr>
          <a:xfrm>
            <a:off x="457200" y="1325880"/>
            <a:ext cx="1536192"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457200"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Repetition</a:t>
            </a:r>
            <a:endParaRPr lang="en-US" sz="1400" dirty="0"/>
          </a:p>
        </p:txBody>
      </p:sp>
      <p:sp>
        <p:nvSpPr>
          <p:cNvPr id="8" name="arrow"/>
          <p:cNvSpPr/>
          <p:nvPr/>
        </p:nvSpPr>
        <p:spPr>
          <a:xfrm>
            <a:off x="1225296" y="1892808"/>
            <a:ext cx="0" cy="146304"/>
          </a:xfrm>
          <a:prstGeom prst="line">
            <a:avLst/>
          </a:prstGeom>
          <a:noFill/>
          <a:ln w="12700">
            <a:solidFill>
              <a:srgbClr val="9AA8B8"/>
            </a:solidFill>
            <a:prstDash val="solid"/>
          </a:ln>
        </p:spPr>
      </p:sp>
      <p:sp>
        <p:nvSpPr>
          <p:cNvPr id="9" name="map2"/>
          <p:cNvSpPr/>
          <p:nvPr/>
        </p:nvSpPr>
        <p:spPr>
          <a:xfrm>
            <a:off x="502920" y="2039112"/>
            <a:ext cx="1444752"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530352"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Condition loop</a:t>
            </a:r>
            <a:endParaRPr lang="en-US" sz="1150" dirty="0"/>
          </a:p>
        </p:txBody>
      </p:sp>
      <p:sp>
        <p:nvSpPr>
          <p:cNvPr id="11" name="arrow"/>
          <p:cNvSpPr/>
          <p:nvPr/>
        </p:nvSpPr>
        <p:spPr>
          <a:xfrm>
            <a:off x="1225296" y="1892808"/>
            <a:ext cx="0" cy="713232"/>
          </a:xfrm>
          <a:prstGeom prst="line">
            <a:avLst/>
          </a:prstGeom>
          <a:noFill/>
          <a:ln w="12700">
            <a:solidFill>
              <a:srgbClr val="9AA8B8"/>
            </a:solidFill>
            <a:prstDash val="solid"/>
          </a:ln>
        </p:spPr>
      </p:sp>
      <p:sp>
        <p:nvSpPr>
          <p:cNvPr id="12" name="map2"/>
          <p:cNvSpPr/>
          <p:nvPr/>
        </p:nvSpPr>
        <p:spPr>
          <a:xfrm>
            <a:off x="502920" y="2606040"/>
            <a:ext cx="1444752"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530352"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Counted loop</a:t>
            </a:r>
            <a:endParaRPr lang="en-US" sz="1150" dirty="0"/>
          </a:p>
        </p:txBody>
      </p:sp>
      <p:sp>
        <p:nvSpPr>
          <p:cNvPr id="14" name="map1"/>
          <p:cNvSpPr/>
          <p:nvPr/>
        </p:nvSpPr>
        <p:spPr>
          <a:xfrm>
            <a:off x="2130552" y="1325880"/>
            <a:ext cx="1536192"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130552"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Sequence</a:t>
            </a:r>
            <a:endParaRPr lang="en-US" sz="1400" dirty="0"/>
          </a:p>
        </p:txBody>
      </p:sp>
      <p:sp>
        <p:nvSpPr>
          <p:cNvPr id="16" name="arrow"/>
          <p:cNvSpPr/>
          <p:nvPr/>
        </p:nvSpPr>
        <p:spPr>
          <a:xfrm>
            <a:off x="2898648" y="1892808"/>
            <a:ext cx="0" cy="146304"/>
          </a:xfrm>
          <a:prstGeom prst="line">
            <a:avLst/>
          </a:prstGeom>
          <a:noFill/>
          <a:ln w="12700">
            <a:solidFill>
              <a:srgbClr val="9AA8B8"/>
            </a:solidFill>
            <a:prstDash val="solid"/>
          </a:ln>
        </p:spPr>
      </p:sp>
      <p:sp>
        <p:nvSpPr>
          <p:cNvPr id="17" name="map2"/>
          <p:cNvSpPr/>
          <p:nvPr/>
        </p:nvSpPr>
        <p:spPr>
          <a:xfrm>
            <a:off x="2176272" y="2039112"/>
            <a:ext cx="1444752"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203704"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Range sequence</a:t>
            </a:r>
            <a:endParaRPr lang="en-US" sz="1150" dirty="0"/>
          </a:p>
        </p:txBody>
      </p:sp>
      <p:sp>
        <p:nvSpPr>
          <p:cNvPr id="19" name="arrow"/>
          <p:cNvSpPr/>
          <p:nvPr/>
        </p:nvSpPr>
        <p:spPr>
          <a:xfrm>
            <a:off x="2898648" y="1892808"/>
            <a:ext cx="0" cy="713232"/>
          </a:xfrm>
          <a:prstGeom prst="line">
            <a:avLst/>
          </a:prstGeom>
          <a:noFill/>
          <a:ln w="12700">
            <a:solidFill>
              <a:srgbClr val="9AA8B8"/>
            </a:solidFill>
            <a:prstDash val="solid"/>
          </a:ln>
        </p:spPr>
      </p:sp>
      <p:sp>
        <p:nvSpPr>
          <p:cNvPr id="20" name="map2"/>
          <p:cNvSpPr/>
          <p:nvPr/>
        </p:nvSpPr>
        <p:spPr>
          <a:xfrm>
            <a:off x="2176272" y="2606040"/>
            <a:ext cx="1444752" cy="457200"/>
          </a:xfrm>
          <a:prstGeom prst="roundRect">
            <a:avLst>
              <a:gd name="adj" fmla="val 12000"/>
            </a:avLst>
          </a:prstGeom>
          <a:solidFill>
            <a:srgbClr val="E3EEF8"/>
          </a:solidFill>
          <a:ln w="12700">
            <a:solidFill>
              <a:srgbClr val="306998"/>
            </a:solidFill>
            <a:prstDash val="solid"/>
          </a:ln>
        </p:spPr>
      </p:sp>
      <p:sp>
        <p:nvSpPr>
          <p:cNvPr id="21" name="map2t"/>
          <p:cNvSpPr txBox="1"/>
          <p:nvPr/>
        </p:nvSpPr>
        <p:spPr>
          <a:xfrm>
            <a:off x="2203704"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Iteration helper</a:t>
            </a:r>
            <a:endParaRPr lang="en-US" sz="1150" dirty="0"/>
          </a:p>
        </p:txBody>
      </p:sp>
      <p:sp>
        <p:nvSpPr>
          <p:cNvPr id="22" name="map1"/>
          <p:cNvSpPr/>
          <p:nvPr/>
        </p:nvSpPr>
        <p:spPr>
          <a:xfrm>
            <a:off x="3803904" y="1325880"/>
            <a:ext cx="1536192" cy="566928"/>
          </a:xfrm>
          <a:prstGeom prst="roundRect">
            <a:avLst>
              <a:gd name="adj" fmla="val 12903"/>
            </a:avLst>
          </a:prstGeom>
          <a:solidFill>
            <a:srgbClr val="306998"/>
          </a:solidFill>
          <a:ln w="12700">
            <a:solidFill>
              <a:srgbClr val="306998"/>
            </a:solidFill>
            <a:prstDash val="solid"/>
          </a:ln>
        </p:spPr>
      </p:sp>
      <p:sp>
        <p:nvSpPr>
          <p:cNvPr id="23" name="map1t"/>
          <p:cNvSpPr txBox="1"/>
          <p:nvPr/>
        </p:nvSpPr>
        <p:spPr>
          <a:xfrm>
            <a:off x="3803904"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Loop control</a:t>
            </a:r>
            <a:endParaRPr lang="en-US" sz="1400" dirty="0"/>
          </a:p>
        </p:txBody>
      </p:sp>
      <p:sp>
        <p:nvSpPr>
          <p:cNvPr id="24" name="arrow"/>
          <p:cNvSpPr/>
          <p:nvPr/>
        </p:nvSpPr>
        <p:spPr>
          <a:xfrm>
            <a:off x="4572000" y="1892808"/>
            <a:ext cx="0" cy="146304"/>
          </a:xfrm>
          <a:prstGeom prst="line">
            <a:avLst/>
          </a:prstGeom>
          <a:noFill/>
          <a:ln w="12700">
            <a:solidFill>
              <a:srgbClr val="9AA8B8"/>
            </a:solidFill>
            <a:prstDash val="solid"/>
          </a:ln>
        </p:spPr>
      </p:sp>
      <p:sp>
        <p:nvSpPr>
          <p:cNvPr id="25" name="map2"/>
          <p:cNvSpPr/>
          <p:nvPr/>
        </p:nvSpPr>
        <p:spPr>
          <a:xfrm>
            <a:off x="3849624" y="2039112"/>
            <a:ext cx="1444752"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77056"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Early exit</a:t>
            </a:r>
            <a:endParaRPr lang="en-US" sz="1150" dirty="0"/>
          </a:p>
        </p:txBody>
      </p:sp>
      <p:sp>
        <p:nvSpPr>
          <p:cNvPr id="27" name="arrow"/>
          <p:cNvSpPr/>
          <p:nvPr/>
        </p:nvSpPr>
        <p:spPr>
          <a:xfrm>
            <a:off x="4572000" y="1892808"/>
            <a:ext cx="0" cy="713232"/>
          </a:xfrm>
          <a:prstGeom prst="line">
            <a:avLst/>
          </a:prstGeom>
          <a:noFill/>
          <a:ln w="12700">
            <a:solidFill>
              <a:srgbClr val="9AA8B8"/>
            </a:solidFill>
            <a:prstDash val="solid"/>
          </a:ln>
        </p:spPr>
      </p:sp>
      <p:sp>
        <p:nvSpPr>
          <p:cNvPr id="28" name="map2"/>
          <p:cNvSpPr/>
          <p:nvPr/>
        </p:nvSpPr>
        <p:spPr>
          <a:xfrm>
            <a:off x="3849624" y="2606040"/>
            <a:ext cx="1444752"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77056"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Skipping</a:t>
            </a:r>
            <a:endParaRPr lang="en-US" sz="1150" dirty="0"/>
          </a:p>
        </p:txBody>
      </p:sp>
      <p:sp>
        <p:nvSpPr>
          <p:cNvPr id="30" name="arrow"/>
          <p:cNvSpPr/>
          <p:nvPr/>
        </p:nvSpPr>
        <p:spPr>
          <a:xfrm>
            <a:off x="4572000" y="1892808"/>
            <a:ext cx="0" cy="1280160"/>
          </a:xfrm>
          <a:prstGeom prst="line">
            <a:avLst/>
          </a:prstGeom>
          <a:noFill/>
          <a:ln w="12700">
            <a:solidFill>
              <a:srgbClr val="9AA8B8"/>
            </a:solidFill>
            <a:prstDash val="solid"/>
          </a:ln>
        </p:spPr>
      </p:sp>
      <p:sp>
        <p:nvSpPr>
          <p:cNvPr id="31" name="map2"/>
          <p:cNvSpPr/>
          <p:nvPr/>
        </p:nvSpPr>
        <p:spPr>
          <a:xfrm>
            <a:off x="3849624" y="3172968"/>
            <a:ext cx="1444752" cy="457200"/>
          </a:xfrm>
          <a:prstGeom prst="roundRect">
            <a:avLst>
              <a:gd name="adj" fmla="val 12000"/>
            </a:avLst>
          </a:prstGeom>
          <a:solidFill>
            <a:srgbClr val="E3EEF8"/>
          </a:solidFill>
          <a:ln w="12700">
            <a:solidFill>
              <a:srgbClr val="306998"/>
            </a:solidFill>
            <a:prstDash val="solid"/>
          </a:ln>
        </p:spPr>
      </p:sp>
      <p:sp>
        <p:nvSpPr>
          <p:cNvPr id="32" name="map2t"/>
          <p:cNvSpPr txBox="1"/>
          <p:nvPr/>
        </p:nvSpPr>
        <p:spPr>
          <a:xfrm>
            <a:off x="3877056" y="3172968"/>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Loop completion</a:t>
            </a:r>
            <a:endParaRPr lang="en-US" sz="1150" dirty="0"/>
          </a:p>
        </p:txBody>
      </p:sp>
      <p:sp>
        <p:nvSpPr>
          <p:cNvPr id="33" name="map1"/>
          <p:cNvSpPr/>
          <p:nvPr/>
        </p:nvSpPr>
        <p:spPr>
          <a:xfrm>
            <a:off x="5477256" y="1325880"/>
            <a:ext cx="1536192" cy="566928"/>
          </a:xfrm>
          <a:prstGeom prst="roundRect">
            <a:avLst>
              <a:gd name="adj" fmla="val 12903"/>
            </a:avLst>
          </a:prstGeom>
          <a:solidFill>
            <a:srgbClr val="306998"/>
          </a:solidFill>
          <a:ln w="12700">
            <a:solidFill>
              <a:srgbClr val="306998"/>
            </a:solidFill>
            <a:prstDash val="solid"/>
          </a:ln>
        </p:spPr>
      </p:sp>
      <p:sp>
        <p:nvSpPr>
          <p:cNvPr id="34" name="map1t"/>
          <p:cNvSpPr txBox="1"/>
          <p:nvPr/>
        </p:nvSpPr>
        <p:spPr>
          <a:xfrm>
            <a:off x="5477256"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Module</a:t>
            </a:r>
            <a:endParaRPr lang="en-US" sz="1400" dirty="0"/>
          </a:p>
        </p:txBody>
      </p:sp>
      <p:sp>
        <p:nvSpPr>
          <p:cNvPr id="35" name="arrow"/>
          <p:cNvSpPr/>
          <p:nvPr/>
        </p:nvSpPr>
        <p:spPr>
          <a:xfrm>
            <a:off x="6245352" y="1892808"/>
            <a:ext cx="0" cy="146304"/>
          </a:xfrm>
          <a:prstGeom prst="line">
            <a:avLst/>
          </a:prstGeom>
          <a:noFill/>
          <a:ln w="12700">
            <a:solidFill>
              <a:srgbClr val="9AA8B8"/>
            </a:solidFill>
            <a:prstDash val="solid"/>
          </a:ln>
        </p:spPr>
      </p:sp>
      <p:sp>
        <p:nvSpPr>
          <p:cNvPr id="36" name="map2"/>
          <p:cNvSpPr/>
          <p:nvPr/>
        </p:nvSpPr>
        <p:spPr>
          <a:xfrm>
            <a:off x="5522976" y="2039112"/>
            <a:ext cx="1444752"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50408"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Import form</a:t>
            </a:r>
            <a:endParaRPr lang="en-US" sz="1150" dirty="0"/>
          </a:p>
        </p:txBody>
      </p:sp>
      <p:sp>
        <p:nvSpPr>
          <p:cNvPr id="38" name="map1"/>
          <p:cNvSpPr/>
          <p:nvPr/>
        </p:nvSpPr>
        <p:spPr>
          <a:xfrm>
            <a:off x="7150608" y="1325880"/>
            <a:ext cx="1536192"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150608"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18704" y="1892808"/>
            <a:ext cx="0" cy="146304"/>
          </a:xfrm>
          <a:prstGeom prst="line">
            <a:avLst/>
          </a:prstGeom>
          <a:noFill/>
          <a:ln w="12700">
            <a:solidFill>
              <a:srgbClr val="9AA8B8"/>
            </a:solidFill>
            <a:prstDash val="solid"/>
          </a:ln>
        </p:spPr>
      </p:sp>
      <p:sp>
        <p:nvSpPr>
          <p:cNvPr id="41" name="map2"/>
          <p:cNvSpPr/>
          <p:nvPr/>
        </p:nvSpPr>
        <p:spPr>
          <a:xfrm>
            <a:off x="7196328" y="2039112"/>
            <a:ext cx="1444752"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23760"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Expression style</a:t>
            </a:r>
            <a:endParaRPr lang="en-US" sz="1150" dirty="0"/>
          </a:p>
        </p:txBody>
      </p:sp>
      <p:sp>
        <p:nvSpPr>
          <p:cNvPr id="43" name="arrow"/>
          <p:cNvSpPr/>
          <p:nvPr/>
        </p:nvSpPr>
        <p:spPr>
          <a:xfrm>
            <a:off x="7918704" y="1892808"/>
            <a:ext cx="0" cy="713232"/>
          </a:xfrm>
          <a:prstGeom prst="line">
            <a:avLst/>
          </a:prstGeom>
          <a:noFill/>
          <a:ln w="12700">
            <a:solidFill>
              <a:srgbClr val="9AA8B8"/>
            </a:solidFill>
            <a:prstDash val="solid"/>
          </a:ln>
        </p:spPr>
      </p:sp>
      <p:sp>
        <p:nvSpPr>
          <p:cNvPr id="44" name="map2"/>
          <p:cNvSpPr/>
          <p:nvPr/>
        </p:nvSpPr>
        <p:spPr>
          <a:xfrm>
            <a:off x="7196328" y="2606040"/>
            <a:ext cx="1444752" cy="457200"/>
          </a:xfrm>
          <a:prstGeom prst="roundRect">
            <a:avLst>
              <a:gd name="adj" fmla="val 12000"/>
            </a:avLst>
          </a:prstGeom>
          <a:solidFill>
            <a:srgbClr val="E3EEF8"/>
          </a:solidFill>
          <a:ln w="12700">
            <a:solidFill>
              <a:srgbClr val="306998"/>
            </a:solidFill>
            <a:prstDash val="solid"/>
          </a:ln>
        </p:spPr>
      </p:sp>
      <p:sp>
        <p:nvSpPr>
          <p:cNvPr id="45" name="map2t"/>
          <p:cNvSpPr txBox="1"/>
          <p:nvPr/>
        </p:nvSpPr>
        <p:spPr>
          <a:xfrm>
            <a:off x="7223760"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Hazard</a:t>
            </a:r>
            <a:endParaRPr lang="en-US" sz="1150" dirty="0"/>
          </a:p>
        </p:txBody>
      </p:sp>
      <p:sp>
        <p:nvSpPr>
          <p:cNvPr id="46" name="x"/>
          <p:cNvSpPr txBox="1"/>
          <p:nvPr/>
        </p:nvSpPr>
        <p:spPr>
          <a:xfrm>
            <a:off x="457200" y="4206240"/>
            <a:ext cx="82296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Repetition comes as a condition loop or a counted loop; everything else supports it — the sequences to iterate over, the ways out, the modules, and current practice.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while loop asks its question again after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condition is tested at the top each time round</a:t>
            </a:r>
            <a:endParaRPr lang="en-US" sz="1400" dirty="0"/>
          </a:p>
        </p:txBody>
      </p:sp>
      <p:sp>
        <p:nvSpPr>
          <p:cNvPr id="6" name="flow0|b1"/>
          <p:cNvSpPr/>
          <p:nvPr/>
        </p:nvSpPr>
        <p:spPr>
          <a:xfrm>
            <a:off x="640080" y="1371600"/>
            <a:ext cx="1737360" cy="502920"/>
          </a:xfrm>
          <a:prstGeom prst="roundRect">
            <a:avLst>
              <a:gd name="adj" fmla="val 18182"/>
            </a:avLst>
          </a:prstGeom>
          <a:solidFill>
            <a:srgbClr val="F1F4F8"/>
          </a:solidFill>
          <a:ln w="12700">
            <a:solidFill>
              <a:srgbClr val="9AA8B8"/>
            </a:solidFill>
            <a:prstDash val="solid"/>
          </a:ln>
        </p:spPr>
      </p:sp>
      <p:sp>
        <p:nvSpPr>
          <p:cNvPr id="7" name="flow0t|b1"/>
          <p:cNvSpPr txBox="1"/>
          <p:nvPr/>
        </p:nvSpPr>
        <p:spPr>
          <a:xfrm>
            <a:off x="640080" y="1371600"/>
            <a:ext cx="1737360" cy="502920"/>
          </a:xfrm>
          <a:prstGeom prst="rect">
            <a:avLst/>
          </a:prstGeom>
          <a:noFill/>
          <a:ln/>
        </p:spPr>
        <p:txBody>
          <a:bodyPr wrap="square" lIns="0" tIns="0" rIns="0" bIns="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code before the loop</a:t>
            </a:r>
            <a:endParaRPr lang="en-US" sz="1200" dirty="0"/>
          </a:p>
        </p:txBody>
      </p:sp>
      <p:sp>
        <p:nvSpPr>
          <p:cNvPr id="8" name="arrow|b1"/>
          <p:cNvSpPr/>
          <p:nvPr/>
        </p:nvSpPr>
        <p:spPr>
          <a:xfrm>
            <a:off x="1508760" y="1874520"/>
            <a:ext cx="0" cy="457200"/>
          </a:xfrm>
          <a:prstGeom prst="line">
            <a:avLst/>
          </a:prstGeom>
          <a:noFill/>
          <a:ln w="25400">
            <a:solidFill>
              <a:srgbClr val="5B6B7B"/>
            </a:solidFill>
            <a:prstDash val="solid"/>
            <a:tailEnd type="triangle"/>
          </a:ln>
        </p:spPr>
      </p:sp>
      <p:sp>
        <p:nvSpPr>
          <p:cNvPr id="9" name="flowd|b1"/>
          <p:cNvSpPr/>
          <p:nvPr/>
        </p:nvSpPr>
        <p:spPr>
          <a:xfrm>
            <a:off x="594360" y="2331720"/>
            <a:ext cx="1828800" cy="960120"/>
          </a:xfrm>
          <a:prstGeom prst="diamond">
            <a:avLst/>
          </a:prstGeom>
          <a:solidFill>
            <a:srgbClr val="FCEFD0"/>
          </a:solidFill>
          <a:ln w="25400">
            <a:solidFill>
              <a:srgbClr val="B7791F"/>
            </a:solidFill>
            <a:prstDash val="solid"/>
          </a:ln>
        </p:spPr>
      </p:sp>
      <p:sp>
        <p:nvSpPr>
          <p:cNvPr id="10" name="flowdt|b1"/>
          <p:cNvSpPr txBox="1"/>
          <p:nvPr/>
        </p:nvSpPr>
        <p:spPr>
          <a:xfrm>
            <a:off x="594360" y="2331720"/>
            <a:ext cx="1828800" cy="960120"/>
          </a:xfrm>
          <a:prstGeom prst="rect">
            <a:avLst/>
          </a:prstGeom>
          <a:noFill/>
          <a:ln/>
        </p:spPr>
        <p:txBody>
          <a:bodyPr wrap="square" lIns="0" tIns="0" rIns="0" bIns="0" rtlCol="0" anchor="ctr"/>
          <a:lstStyle/>
          <a:p>
            <a:pPr algn="ctr" indent="0" marL="0">
              <a:buNone/>
            </a:pPr>
            <a:r>
              <a:rPr lang="en-US" sz="1300" b="1" dirty="0">
                <a:solidFill>
                  <a:srgbClr val="B7791F"/>
                </a:solidFill>
                <a:latin typeface="Calibri" pitchFamily="34" charset="0"/>
                <a:ea typeface="Calibri" pitchFamily="34" charset="-122"/>
                <a:cs typeface="Calibri" pitchFamily="34" charset="-120"/>
              </a:rPr>
              <a:t>condition</a:t>
            </a:r>
            <a:endParaRPr lang="en-US" sz="1300" dirty="0"/>
          </a:p>
          <a:p>
            <a:pPr algn="ctr" indent="0" marL="0">
              <a:buNone/>
            </a:pPr>
            <a:r>
              <a:rPr lang="en-US" sz="1300" b="1" dirty="0">
                <a:solidFill>
                  <a:srgbClr val="B7791F"/>
                </a:solidFill>
                <a:latin typeface="Calibri" pitchFamily="34" charset="0"/>
                <a:ea typeface="Calibri" pitchFamily="34" charset="-122"/>
                <a:cs typeface="Calibri" pitchFamily="34" charset="-120"/>
              </a:rPr>
              <a:t>true?</a:t>
            </a:r>
            <a:endParaRPr lang="en-US" sz="1300" dirty="0"/>
          </a:p>
        </p:txBody>
      </p:sp>
      <p:sp>
        <p:nvSpPr>
          <p:cNvPr id="11" name="arrow|b2"/>
          <p:cNvSpPr/>
          <p:nvPr/>
        </p:nvSpPr>
        <p:spPr>
          <a:xfrm>
            <a:off x="2423160" y="2811780"/>
            <a:ext cx="1005840" cy="0"/>
          </a:xfrm>
          <a:prstGeom prst="line">
            <a:avLst/>
          </a:prstGeom>
          <a:noFill/>
          <a:ln w="25400">
            <a:solidFill>
              <a:srgbClr val="2E9E5B"/>
            </a:solidFill>
            <a:prstDash val="solid"/>
            <a:tailEnd type="triangle"/>
          </a:ln>
        </p:spPr>
      </p:sp>
      <p:sp>
        <p:nvSpPr>
          <p:cNvPr id="12" name="yes|b2"/>
          <p:cNvSpPr txBox="1"/>
          <p:nvPr/>
        </p:nvSpPr>
        <p:spPr>
          <a:xfrm>
            <a:off x="2560320" y="2514600"/>
            <a:ext cx="640080" cy="256032"/>
          </a:xfrm>
          <a:prstGeom prst="rect">
            <a:avLst/>
          </a:prstGeom>
          <a:noFill/>
          <a:ln/>
        </p:spPr>
        <p:txBody>
          <a:bodyPr wrap="square" lIns="0" tIns="0" rIns="0" bIns="0" rtlCol="0" anchor="ctr"/>
          <a:lstStyle/>
          <a:p>
            <a:pPr algn="ctr" indent="0" marL="0">
              <a:buNone/>
            </a:pPr>
            <a:r>
              <a:rPr lang="en-US" sz="1200" b="1" dirty="0">
                <a:solidFill>
                  <a:srgbClr val="2E9E5B"/>
                </a:solidFill>
                <a:latin typeface="Calibri" pitchFamily="34" charset="0"/>
                <a:ea typeface="Calibri" pitchFamily="34" charset="-122"/>
                <a:cs typeface="Calibri" pitchFamily="34" charset="-120"/>
              </a:rPr>
              <a:t>yes</a:t>
            </a:r>
            <a:endParaRPr lang="en-US" sz="1200" dirty="0"/>
          </a:p>
        </p:txBody>
      </p:sp>
      <p:sp>
        <p:nvSpPr>
          <p:cNvPr id="13" name="flowb|b2"/>
          <p:cNvSpPr/>
          <p:nvPr/>
        </p:nvSpPr>
        <p:spPr>
          <a:xfrm>
            <a:off x="3429000" y="2560320"/>
            <a:ext cx="1920240" cy="502920"/>
          </a:xfrm>
          <a:prstGeom prst="roundRect">
            <a:avLst>
              <a:gd name="adj" fmla="val 18182"/>
            </a:avLst>
          </a:prstGeom>
          <a:solidFill>
            <a:srgbClr val="DDF3E6"/>
          </a:solidFill>
          <a:ln w="12700">
            <a:solidFill>
              <a:srgbClr val="2E9E5B"/>
            </a:solidFill>
            <a:prstDash val="solid"/>
          </a:ln>
        </p:spPr>
      </p:sp>
      <p:sp>
        <p:nvSpPr>
          <p:cNvPr id="14" name="flowbt|b2"/>
          <p:cNvSpPr txBox="1"/>
          <p:nvPr/>
        </p:nvSpPr>
        <p:spPr>
          <a:xfrm>
            <a:off x="3429000" y="2560320"/>
            <a:ext cx="1920240" cy="502920"/>
          </a:xfrm>
          <a:prstGeom prst="rect">
            <a:avLst/>
          </a:prstGeom>
          <a:noFill/>
          <a:ln/>
        </p:spPr>
        <p:txBody>
          <a:bodyPr wrap="square" lIns="0" tIns="0" rIns="0" bIns="0" rtlCol="0" anchor="ctr"/>
          <a:lstStyle/>
          <a:p>
            <a:pPr algn="ctr" indent="0" marL="0">
              <a:buNone/>
            </a:pPr>
            <a:r>
              <a:rPr lang="en-US" sz="1300" b="1" dirty="0">
                <a:solidFill>
                  <a:srgbClr val="2E9E5B"/>
                </a:solidFill>
                <a:latin typeface="Calibri" pitchFamily="34" charset="0"/>
                <a:ea typeface="Calibri" pitchFamily="34" charset="-122"/>
                <a:cs typeface="Calibri" pitchFamily="34" charset="-120"/>
              </a:rPr>
              <a:t>run the block</a:t>
            </a:r>
            <a:endParaRPr lang="en-US" sz="1300" dirty="0"/>
          </a:p>
        </p:txBody>
      </p:sp>
      <p:sp>
        <p:nvSpPr>
          <p:cNvPr id="15" name="arrow|b3"/>
          <p:cNvSpPr/>
          <p:nvPr/>
        </p:nvSpPr>
        <p:spPr>
          <a:xfrm flipV="1">
            <a:off x="4389120" y="1920240"/>
            <a:ext cx="0" cy="640080"/>
          </a:xfrm>
          <a:prstGeom prst="line">
            <a:avLst/>
          </a:prstGeom>
          <a:noFill/>
          <a:ln w="25400">
            <a:solidFill>
              <a:srgbClr val="2E9E5B"/>
            </a:solidFill>
            <a:prstDash val="solid"/>
          </a:ln>
        </p:spPr>
      </p:sp>
      <p:sp>
        <p:nvSpPr>
          <p:cNvPr id="16" name="arrow|b3"/>
          <p:cNvSpPr/>
          <p:nvPr/>
        </p:nvSpPr>
        <p:spPr>
          <a:xfrm flipH="1">
            <a:off x="1508760" y="1920240"/>
            <a:ext cx="2880360" cy="0"/>
          </a:xfrm>
          <a:prstGeom prst="line">
            <a:avLst/>
          </a:prstGeom>
          <a:noFill/>
          <a:ln w="25400">
            <a:solidFill>
              <a:srgbClr val="2E9E5B"/>
            </a:solidFill>
            <a:prstDash val="solid"/>
          </a:ln>
        </p:spPr>
      </p:sp>
      <p:sp>
        <p:nvSpPr>
          <p:cNvPr id="17" name="arrow|b3"/>
          <p:cNvSpPr/>
          <p:nvPr/>
        </p:nvSpPr>
        <p:spPr>
          <a:xfrm>
            <a:off x="1508760" y="1920240"/>
            <a:ext cx="0" cy="411480"/>
          </a:xfrm>
          <a:prstGeom prst="line">
            <a:avLst/>
          </a:prstGeom>
          <a:noFill/>
          <a:ln w="25400">
            <a:solidFill>
              <a:srgbClr val="2E9E5B"/>
            </a:solidFill>
            <a:prstDash val="solid"/>
            <a:tailEnd type="triangle"/>
          </a:ln>
        </p:spPr>
      </p:sp>
      <p:sp>
        <p:nvSpPr>
          <p:cNvPr id="18" name="back|b3"/>
          <p:cNvSpPr txBox="1"/>
          <p:nvPr/>
        </p:nvSpPr>
        <p:spPr>
          <a:xfrm>
            <a:off x="2103120" y="1627632"/>
            <a:ext cx="2194560" cy="256032"/>
          </a:xfrm>
          <a:prstGeom prst="rect">
            <a:avLst/>
          </a:prstGeom>
          <a:noFill/>
          <a:ln/>
        </p:spPr>
        <p:txBody>
          <a:bodyPr wrap="square" lIns="0" tIns="0" rIns="0" bIns="0" rtlCol="0" anchor="ctr"/>
          <a:lstStyle/>
          <a:p>
            <a:pPr algn="ctr" indent="0" marL="0">
              <a:buNone/>
            </a:pPr>
            <a:r>
              <a:rPr lang="en-US" sz="1200" i="1" dirty="0">
                <a:solidFill>
                  <a:srgbClr val="2E9E5B"/>
                </a:solidFill>
                <a:latin typeface="Calibri" pitchFamily="34" charset="0"/>
                <a:ea typeface="Calibri" pitchFamily="34" charset="-122"/>
                <a:cs typeface="Calibri" pitchFamily="34" charset="-120"/>
              </a:rPr>
              <a:t>jump back to the test</a:t>
            </a:r>
            <a:endParaRPr lang="en-US" sz="1200" dirty="0"/>
          </a:p>
        </p:txBody>
      </p:sp>
      <p:sp>
        <p:nvSpPr>
          <p:cNvPr id="19" name="arrow|b4"/>
          <p:cNvSpPr/>
          <p:nvPr/>
        </p:nvSpPr>
        <p:spPr>
          <a:xfrm>
            <a:off x="1508760" y="3291840"/>
            <a:ext cx="0" cy="594360"/>
          </a:xfrm>
          <a:prstGeom prst="line">
            <a:avLst/>
          </a:prstGeom>
          <a:noFill/>
          <a:ln w="25400">
            <a:solidFill>
              <a:srgbClr val="D64545"/>
            </a:solidFill>
            <a:prstDash val="solid"/>
            <a:tailEnd type="triangle"/>
          </a:ln>
        </p:spPr>
      </p:sp>
      <p:sp>
        <p:nvSpPr>
          <p:cNvPr id="20" name="no|b4"/>
          <p:cNvSpPr txBox="1"/>
          <p:nvPr/>
        </p:nvSpPr>
        <p:spPr>
          <a:xfrm>
            <a:off x="1600200" y="3383280"/>
            <a:ext cx="548640" cy="256032"/>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no</a:t>
            </a:r>
            <a:endParaRPr lang="en-US" sz="1200" dirty="0"/>
          </a:p>
        </p:txBody>
      </p:sp>
      <p:sp>
        <p:nvSpPr>
          <p:cNvPr id="21" name="flowe|b4"/>
          <p:cNvSpPr/>
          <p:nvPr/>
        </p:nvSpPr>
        <p:spPr>
          <a:xfrm>
            <a:off x="640080" y="3886200"/>
            <a:ext cx="1737360" cy="502920"/>
          </a:xfrm>
          <a:prstGeom prst="roundRect">
            <a:avLst>
              <a:gd name="adj" fmla="val 18182"/>
            </a:avLst>
          </a:prstGeom>
          <a:solidFill>
            <a:srgbClr val="FBE1E1"/>
          </a:solidFill>
          <a:ln w="12700">
            <a:solidFill>
              <a:srgbClr val="D64545"/>
            </a:solidFill>
            <a:prstDash val="solid"/>
          </a:ln>
        </p:spPr>
      </p:sp>
      <p:sp>
        <p:nvSpPr>
          <p:cNvPr id="22" name="flowet|b4"/>
          <p:cNvSpPr txBox="1"/>
          <p:nvPr/>
        </p:nvSpPr>
        <p:spPr>
          <a:xfrm>
            <a:off x="640080" y="3886200"/>
            <a:ext cx="1737360" cy="502920"/>
          </a:xfrm>
          <a:prstGeom prst="rect">
            <a:avLst/>
          </a:prstGeom>
          <a:noFill/>
          <a:ln/>
        </p:spPr>
        <p:txBody>
          <a:bodyPr wrap="square" lIns="0" tIns="0" rIns="0" bIns="0" rtlCol="0" anchor="ctr"/>
          <a:lstStyle/>
          <a:p>
            <a:pPr algn="ctr" indent="0" marL="0">
              <a:buNone/>
            </a:pPr>
            <a:r>
              <a:rPr lang="en-US" sz="1200" b="1" dirty="0">
                <a:solidFill>
                  <a:srgbClr val="D64545"/>
                </a:solidFill>
                <a:latin typeface="Calibri" pitchFamily="34" charset="0"/>
                <a:ea typeface="Calibri" pitchFamily="34" charset="-122"/>
                <a:cs typeface="Calibri" pitchFamily="34" charset="-120"/>
              </a:rPr>
              <a:t>code after the loop</a:t>
            </a:r>
            <a:endParaRPr lang="en-US" sz="1200" dirty="0"/>
          </a:p>
        </p:txBody>
      </p:sp>
      <p:sp>
        <p:nvSpPr>
          <p:cNvPr id="23" name="card"/>
          <p:cNvSpPr/>
          <p:nvPr/>
        </p:nvSpPr>
        <p:spPr>
          <a:xfrm>
            <a:off x="5852160" y="1371600"/>
            <a:ext cx="2834640" cy="1600200"/>
          </a:xfrm>
          <a:prstGeom prst="roundRect">
            <a:avLst>
              <a:gd name="adj" fmla="val 5714"/>
            </a:avLst>
          </a:prstGeom>
          <a:solidFill>
            <a:srgbClr val="F1F4F8"/>
          </a:solidFill>
          <a:ln w="12700">
            <a:solidFill>
              <a:srgbClr val="F1F4F8"/>
            </a:solidFill>
            <a:prstDash val="solid"/>
          </a:ln>
        </p:spPr>
      </p:sp>
      <p:sp>
        <p:nvSpPr>
          <p:cNvPr id="24" name="cardhead"/>
          <p:cNvSpPr txBox="1"/>
          <p:nvPr/>
        </p:nvSpPr>
        <p:spPr>
          <a:xfrm>
            <a:off x="6016752" y="1463040"/>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Unlike if</a:t>
            </a:r>
            <a:endParaRPr lang="en-US" sz="1500" dirty="0"/>
          </a:p>
        </p:txBody>
      </p:sp>
      <p:sp>
        <p:nvSpPr>
          <p:cNvPr id="25" name="cardbody"/>
          <p:cNvSpPr txBox="1"/>
          <p:nvPr/>
        </p:nvSpPr>
        <p:spPr>
          <a:xfrm>
            <a:off x="6016752" y="1792224"/>
            <a:ext cx="2505456" cy="1097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if block runs once or not at all. A while block sends execution back to the top, so how many times it runs depends on the data, not on a count.</a:t>
            </a:r>
            <a:endParaRPr lang="en-US" sz="1300" dirty="0"/>
          </a:p>
        </p:txBody>
      </p:sp>
      <p:sp>
        <p:nvSpPr>
          <p:cNvPr id="26" name="say"/>
          <p:cNvSpPr txBox="1"/>
          <p:nvPr/>
        </p:nvSpPr>
        <p:spPr>
          <a:xfrm>
            <a:off x="5852160" y="3154680"/>
            <a:ext cx="2834640" cy="11887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 while statement repeats its block as long as its condition is true, and tests the condition again after every pass.”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childTnLst>
                          </p:cTn>
                        </p:par>
                      </p:childTnLst>
                    </p:cTn>
                  </p:par>
                  <p:par>
                    <p:cTn id="60" fill="hold">
                      <p:stCondLst>
                        <p:cond delay="indefinite"/>
                      </p:stCondLst>
                      <p:childTnLst>
                        <p:par>
                          <p:cTn id="61"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4" grpId="0" animBg="1"/>
      <p:bldP spid="18" grpId="0" animBg="1"/>
      <p:bldP spid="20"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how many times does the block run?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user types no, then maybe, then yes</a:t>
            </a:r>
            <a:endParaRPr lang="en-US" sz="1400" dirty="0"/>
          </a:p>
        </p:txBody>
      </p:sp>
      <p:sp>
        <p:nvSpPr>
          <p:cNvPr id="6" name="progbox"/>
          <p:cNvSpPr/>
          <p:nvPr/>
        </p:nvSpPr>
        <p:spPr>
          <a:xfrm>
            <a:off x="457200" y="1325880"/>
            <a:ext cx="4023360" cy="1600200"/>
          </a:xfrm>
          <a:prstGeom prst="roundRect">
            <a:avLst>
              <a:gd name="adj" fmla="val 5714"/>
            </a:avLst>
          </a:prstGeom>
          <a:solidFill>
            <a:srgbClr val="17202B"/>
          </a:solidFill>
          <a:ln w="12700">
            <a:solidFill>
              <a:srgbClr val="17202B"/>
            </a:solidFill>
            <a:prstDash val="solid"/>
          </a:ln>
        </p:spPr>
      </p:sp>
      <p:sp>
        <p:nvSpPr>
          <p:cNvPr id="7" name="prog"/>
          <p:cNvSpPr txBox="1"/>
          <p:nvPr/>
        </p:nvSpPr>
        <p:spPr>
          <a:xfrm>
            <a:off x="640080" y="1417320"/>
            <a:ext cx="3657600" cy="1417320"/>
          </a:xfrm>
          <a:prstGeom prst="rect">
            <a:avLst/>
          </a:prstGeom>
          <a:noFill/>
          <a:ln/>
        </p:spPr>
        <p:txBody>
          <a:bodyPr wrap="square" lIns="0" tIns="0" rIns="0" bIns="0" rtlCol="0" anchor="t"/>
          <a:lstStyle/>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answer =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while answer != 'yes':</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    answer = input('Ready?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print('Starting')</a:t>
            </a:r>
            <a:endParaRPr lang="en-US" sz="1500" dirty="0"/>
          </a:p>
        </p:txBody>
      </p:sp>
      <p:sp>
        <p:nvSpPr>
          <p:cNvPr id="8" name="transbox|b2"/>
          <p:cNvSpPr/>
          <p:nvPr/>
        </p:nvSpPr>
        <p:spPr>
          <a:xfrm>
            <a:off x="4754880" y="1325880"/>
            <a:ext cx="3931920" cy="1600200"/>
          </a:xfrm>
          <a:prstGeom prst="roundRect">
            <a:avLst>
              <a:gd name="adj" fmla="val 5714"/>
            </a:avLst>
          </a:prstGeom>
          <a:solidFill>
            <a:srgbClr val="F1F4F8"/>
          </a:solidFill>
          <a:ln w="12700">
            <a:solidFill>
              <a:srgbClr val="F1F4F8"/>
            </a:solidFill>
            <a:prstDash val="solid"/>
          </a:ln>
        </p:spPr>
      </p:sp>
      <p:sp>
        <p:nvSpPr>
          <p:cNvPr id="9" name="trans|b2"/>
          <p:cNvSpPr txBox="1"/>
          <p:nvPr/>
        </p:nvSpPr>
        <p:spPr>
          <a:xfrm>
            <a:off x="4892040" y="1399032"/>
            <a:ext cx="3657600" cy="14538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r>
              <a:rPr lang="en-US" sz="1400" b="1" dirty="0">
                <a:solidFill>
                  <a:srgbClr val="306998"/>
                </a:solidFill>
                <a:latin typeface="Courier New" pitchFamily="34" charset="0"/>
                <a:ea typeface="Courier New" pitchFamily="34" charset="-122"/>
                <a:cs typeface="Courier New" pitchFamily="34" charset="-120"/>
              </a:rPr>
              <a:t>no</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r>
              <a:rPr lang="en-US" sz="1400" b="1" dirty="0">
                <a:solidFill>
                  <a:srgbClr val="306998"/>
                </a:solidFill>
                <a:latin typeface="Courier New" pitchFamily="34" charset="0"/>
                <a:ea typeface="Courier New" pitchFamily="34" charset="-122"/>
                <a:cs typeface="Courier New" pitchFamily="34" charset="-120"/>
              </a:rPr>
              <a:t>maybe</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r>
              <a:rPr lang="en-US" sz="1400" b="1" dirty="0">
                <a:solidFill>
                  <a:srgbClr val="306998"/>
                </a:solidFill>
                <a:latin typeface="Courier New" pitchFamily="34" charset="0"/>
                <a:ea typeface="Courier New" pitchFamily="34" charset="-122"/>
                <a:cs typeface="Courier New" pitchFamily="34" charset="-120"/>
              </a:rPr>
              <a:t>yes</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Starting</a:t>
            </a:r>
            <a:endParaRPr lang="en-US" sz="1400" dirty="0"/>
          </a:p>
        </p:txBody>
      </p:sp>
      <p:sp>
        <p:nvSpPr>
          <p:cNvPr id="10" name="transcap|b2"/>
          <p:cNvSpPr txBox="1"/>
          <p:nvPr/>
        </p:nvSpPr>
        <p:spPr>
          <a:xfrm>
            <a:off x="4754880" y="295351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say"/>
          <p:cNvSpPr txBox="1"/>
          <p:nvPr/>
        </p:nvSpPr>
        <p:spPr>
          <a:xfrm>
            <a:off x="457200" y="3246120"/>
            <a:ext cx="8229600" cy="64008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how many times does input() run, and what is answer when the loop ends? Write it down.</a:t>
            </a:r>
            <a:endParaRPr lang="en-US" sz="1600" dirty="0"/>
          </a:p>
        </p:txBody>
      </p:sp>
      <p:sp>
        <p:nvSpPr>
          <p:cNvPr id="12" name="ans|b1"/>
          <p:cNvSpPr/>
          <p:nvPr/>
        </p:nvSpPr>
        <p:spPr>
          <a:xfrm>
            <a:off x="457200" y="3931920"/>
            <a:ext cx="8229600" cy="777240"/>
          </a:xfrm>
          <a:prstGeom prst="roundRect">
            <a:avLst>
              <a:gd name="adj" fmla="val 11765"/>
            </a:avLst>
          </a:prstGeom>
          <a:solidFill>
            <a:srgbClr val="DDF3E6"/>
          </a:solidFill>
          <a:ln w="12700">
            <a:solidFill>
              <a:srgbClr val="2E9E5B"/>
            </a:solidFill>
            <a:prstDash val="solid"/>
          </a:ln>
        </p:spPr>
      </p:sp>
      <p:sp>
        <p:nvSpPr>
          <p:cNvPr id="13" name="anst|b1"/>
          <p:cNvSpPr txBox="1"/>
          <p:nvPr/>
        </p:nvSpPr>
        <p:spPr>
          <a:xfrm>
            <a:off x="640080" y="3931920"/>
            <a:ext cx="7863840" cy="777240"/>
          </a:xfrm>
          <a:prstGeom prst="rect">
            <a:avLst/>
          </a:prstGeom>
          <a:noFill/>
          <a:ln/>
        </p:spPr>
        <p:txBody>
          <a:bodyPr wrap="square" lIns="0" tIns="0" rIns="0" bIns="0" rtlCol="0" anchor="ctr"/>
          <a:lstStyle/>
          <a:p>
            <a:pPr indent="0" marL="0">
              <a:buNone/>
            </a:pPr>
            <a:r>
              <a:rPr lang="en-US" sz="1500" b="1" dirty="0">
                <a:solidFill>
                  <a:srgbClr val="2E9E5B"/>
                </a:solidFill>
                <a:latin typeface="Calibri" pitchFamily="34" charset="0"/>
                <a:ea typeface="Calibri" pitchFamily="34" charset="-122"/>
                <a:cs typeface="Calibri" pitchFamily="34" charset="-120"/>
              </a:rPr>
              <a:t>Three times. answer is ‘yes’, and the test is what stopped the loop — the body never ran a fourth time.</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test is evaluated before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test of the condition — recorded from a real run</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answer</a:t>
            </a:r>
            <a:endParaRPr lang="en-US" sz="1200" dirty="0"/>
          </a:p>
        </p:txBody>
      </p:sp>
      <p:sp>
        <p:nvSpPr>
          <p:cNvPr id="10" name="x"/>
          <p:cNvSpPr/>
          <p:nvPr/>
        </p:nvSpPr>
        <p:spPr>
          <a:xfrm>
            <a:off x="2011680" y="1280160"/>
            <a:ext cx="78638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67665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p:txBody>
      </p:sp>
      <p:sp>
        <p:nvSpPr>
          <p:cNvPr id="12" name="x"/>
          <p:cNvSpPr/>
          <p:nvPr/>
        </p:nvSpPr>
        <p:spPr>
          <a:xfrm>
            <a:off x="2834640" y="1280160"/>
            <a:ext cx="2889504" cy="310896"/>
          </a:xfrm>
          <a:prstGeom prst="rect">
            <a:avLst/>
          </a:prstGeom>
          <a:solidFill>
            <a:srgbClr val="1E2A3A"/>
          </a:solidFill>
          <a:ln w="12700">
            <a:solidFill>
              <a:srgbClr val="1E2A3A"/>
            </a:solidFill>
            <a:prstDash val="solid"/>
          </a:ln>
        </p:spPr>
      </p:sp>
      <p:sp>
        <p:nvSpPr>
          <p:cNvPr id="13" name="x"/>
          <p:cNvSpPr txBox="1"/>
          <p:nvPr/>
        </p:nvSpPr>
        <p:spPr>
          <a:xfrm>
            <a:off x="288950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760720" y="1280160"/>
            <a:ext cx="2889504" cy="310896"/>
          </a:xfrm>
          <a:prstGeom prst="rect">
            <a:avLst/>
          </a:prstGeom>
          <a:solidFill>
            <a:srgbClr val="1E2A3A"/>
          </a:solidFill>
          <a:ln w="12700">
            <a:solidFill>
              <a:srgbClr val="1E2A3A"/>
            </a:solidFill>
            <a:prstDash val="solid"/>
          </a:ln>
        </p:spPr>
      </p:sp>
      <p:sp>
        <p:nvSpPr>
          <p:cNvPr id="15" name="x"/>
          <p:cNvSpPr txBox="1"/>
          <p:nvPr/>
        </p:nvSpPr>
        <p:spPr>
          <a:xfrm>
            <a:off x="581558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WhileStatement: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1</a:t>
            </a:r>
            <a:endParaRPr lang="en-US" sz="12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WhileStatement: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p:txBody>
      </p:sp>
      <p:sp>
        <p:nvSpPr>
          <p:cNvPr id="20" name="cellbox|b1"/>
          <p:cNvSpPr/>
          <p:nvPr/>
        </p:nvSpPr>
        <p:spPr>
          <a:xfrm>
            <a:off x="2011680" y="1627632"/>
            <a:ext cx="786384" cy="411480"/>
          </a:xfrm>
          <a:prstGeom prst="rect">
            <a:avLst/>
          </a:prstGeom>
          <a:solidFill>
            <a:srgbClr val="DDF3E6"/>
          </a:solidFill>
          <a:ln w="12700">
            <a:solidFill>
              <a:srgbClr val="DDF3E6"/>
            </a:solidFill>
            <a:prstDash val="solid"/>
          </a:ln>
        </p:spPr>
      </p:sp>
      <p:sp>
        <p:nvSpPr>
          <p:cNvPr id="21" name="v:WhileStatement:0:0:cond|b1"/>
          <p:cNvSpPr txBox="1"/>
          <p:nvPr/>
        </p:nvSpPr>
        <p:spPr>
          <a:xfrm>
            <a:off x="2066544" y="16276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22" name="cellbox|b1"/>
          <p:cNvSpPr/>
          <p:nvPr/>
        </p:nvSpPr>
        <p:spPr>
          <a:xfrm>
            <a:off x="2834640" y="1627632"/>
            <a:ext cx="2889504" cy="411480"/>
          </a:xfrm>
          <a:prstGeom prst="rect">
            <a:avLst/>
          </a:prstGeom>
          <a:solidFill>
            <a:srgbClr val="DDF3E6"/>
          </a:solidFill>
          <a:ln w="12700">
            <a:solidFill>
              <a:srgbClr val="DDF3E6"/>
            </a:solidFill>
            <a:prstDash val="solid"/>
          </a:ln>
        </p:spPr>
      </p:sp>
      <p:sp>
        <p:nvSpPr>
          <p:cNvPr id="23" name="v:WhileStatement:0:0:ev|b1"/>
          <p:cNvSpPr txBox="1"/>
          <p:nvPr/>
        </p:nvSpPr>
        <p:spPr>
          <a:xfrm>
            <a:off x="2889504" y="16276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24" name="cellbox|b1"/>
          <p:cNvSpPr/>
          <p:nvPr/>
        </p:nvSpPr>
        <p:spPr>
          <a:xfrm>
            <a:off x="5760720" y="1627632"/>
            <a:ext cx="2889504" cy="411480"/>
          </a:xfrm>
          <a:prstGeom prst="rect">
            <a:avLst/>
          </a:prstGeom>
          <a:solidFill>
            <a:srgbClr val="F1F4F8"/>
          </a:solidFill>
          <a:ln w="12700">
            <a:solidFill>
              <a:srgbClr val="F1F4F8"/>
            </a:solidFill>
            <a:prstDash val="solid"/>
          </a:ln>
        </p:spPr>
      </p:sp>
      <p:sp>
        <p:nvSpPr>
          <p:cNvPr id="25" name="v:WhileStatement:0:0:out|b1"/>
          <p:cNvSpPr txBox="1"/>
          <p:nvPr/>
        </p:nvSpPr>
        <p:spPr>
          <a:xfrm>
            <a:off x="5815584" y="16276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no</a:t>
            </a:r>
            <a:endParaRPr lang="en-US" sz="12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WhileStatement: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2</a:t>
            </a:r>
            <a:endParaRPr lang="en-US" sz="12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WhileStatement: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'no'</a:t>
            </a:r>
            <a:endParaRPr lang="en-US" sz="1200" dirty="0"/>
          </a:p>
        </p:txBody>
      </p:sp>
      <p:sp>
        <p:nvSpPr>
          <p:cNvPr id="30" name="cellbox|b2"/>
          <p:cNvSpPr/>
          <p:nvPr/>
        </p:nvSpPr>
        <p:spPr>
          <a:xfrm>
            <a:off x="2011680" y="2084832"/>
            <a:ext cx="786384" cy="411480"/>
          </a:xfrm>
          <a:prstGeom prst="rect">
            <a:avLst/>
          </a:prstGeom>
          <a:solidFill>
            <a:srgbClr val="DDF3E6"/>
          </a:solidFill>
          <a:ln w="12700">
            <a:solidFill>
              <a:srgbClr val="DDF3E6"/>
            </a:solidFill>
            <a:prstDash val="solid"/>
          </a:ln>
        </p:spPr>
      </p:sp>
      <p:sp>
        <p:nvSpPr>
          <p:cNvPr id="31" name="v:WhileStatement:0:1:cond|b2"/>
          <p:cNvSpPr txBox="1"/>
          <p:nvPr/>
        </p:nvSpPr>
        <p:spPr>
          <a:xfrm>
            <a:off x="2066544" y="20848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32" name="cellbox|b2"/>
          <p:cNvSpPr/>
          <p:nvPr/>
        </p:nvSpPr>
        <p:spPr>
          <a:xfrm>
            <a:off x="2834640" y="2084832"/>
            <a:ext cx="2889504" cy="411480"/>
          </a:xfrm>
          <a:prstGeom prst="rect">
            <a:avLst/>
          </a:prstGeom>
          <a:solidFill>
            <a:srgbClr val="DDF3E6"/>
          </a:solidFill>
          <a:ln w="12700">
            <a:solidFill>
              <a:srgbClr val="DDF3E6"/>
            </a:solidFill>
            <a:prstDash val="solid"/>
          </a:ln>
        </p:spPr>
      </p:sp>
      <p:sp>
        <p:nvSpPr>
          <p:cNvPr id="33" name="v:WhileStatement:0:1:ev|b2"/>
          <p:cNvSpPr txBox="1"/>
          <p:nvPr/>
        </p:nvSpPr>
        <p:spPr>
          <a:xfrm>
            <a:off x="2889504" y="20848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34" name="cellbox|b2"/>
          <p:cNvSpPr/>
          <p:nvPr/>
        </p:nvSpPr>
        <p:spPr>
          <a:xfrm>
            <a:off x="5760720" y="2084832"/>
            <a:ext cx="2889504" cy="411480"/>
          </a:xfrm>
          <a:prstGeom prst="rect">
            <a:avLst/>
          </a:prstGeom>
          <a:solidFill>
            <a:srgbClr val="F1F4F8"/>
          </a:solidFill>
          <a:ln w="12700">
            <a:solidFill>
              <a:srgbClr val="F1F4F8"/>
            </a:solidFill>
            <a:prstDash val="solid"/>
          </a:ln>
        </p:spPr>
      </p:sp>
      <p:sp>
        <p:nvSpPr>
          <p:cNvPr id="35" name="v:WhileStatement:0:1:out|b2"/>
          <p:cNvSpPr txBox="1"/>
          <p:nvPr/>
        </p:nvSpPr>
        <p:spPr>
          <a:xfrm>
            <a:off x="5815584" y="20848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maybe</a:t>
            </a:r>
            <a:endParaRPr lang="en-US" sz="12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WhileStatement: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3</a:t>
            </a:r>
            <a:endParaRPr lang="en-US" sz="12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WhileStatement: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'maybe'</a:t>
            </a:r>
            <a:endParaRPr lang="en-US" sz="1200" dirty="0"/>
          </a:p>
        </p:txBody>
      </p:sp>
      <p:sp>
        <p:nvSpPr>
          <p:cNvPr id="40" name="cellbox|b3"/>
          <p:cNvSpPr/>
          <p:nvPr/>
        </p:nvSpPr>
        <p:spPr>
          <a:xfrm>
            <a:off x="2011680" y="2542032"/>
            <a:ext cx="786384" cy="411480"/>
          </a:xfrm>
          <a:prstGeom prst="rect">
            <a:avLst/>
          </a:prstGeom>
          <a:solidFill>
            <a:srgbClr val="DDF3E6"/>
          </a:solidFill>
          <a:ln w="12700">
            <a:solidFill>
              <a:srgbClr val="DDF3E6"/>
            </a:solidFill>
            <a:prstDash val="solid"/>
          </a:ln>
        </p:spPr>
      </p:sp>
      <p:sp>
        <p:nvSpPr>
          <p:cNvPr id="41" name="v:WhileStatement:0:2:cond|b3"/>
          <p:cNvSpPr txBox="1"/>
          <p:nvPr/>
        </p:nvSpPr>
        <p:spPr>
          <a:xfrm>
            <a:off x="2066544" y="25420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42" name="cellbox|b3"/>
          <p:cNvSpPr/>
          <p:nvPr/>
        </p:nvSpPr>
        <p:spPr>
          <a:xfrm>
            <a:off x="2834640" y="2542032"/>
            <a:ext cx="2889504" cy="411480"/>
          </a:xfrm>
          <a:prstGeom prst="rect">
            <a:avLst/>
          </a:prstGeom>
          <a:solidFill>
            <a:srgbClr val="DDF3E6"/>
          </a:solidFill>
          <a:ln w="12700">
            <a:solidFill>
              <a:srgbClr val="DDF3E6"/>
            </a:solidFill>
            <a:prstDash val="solid"/>
          </a:ln>
        </p:spPr>
      </p:sp>
      <p:sp>
        <p:nvSpPr>
          <p:cNvPr id="43" name="v:WhileStatement:0:2:ev|b3"/>
          <p:cNvSpPr txBox="1"/>
          <p:nvPr/>
        </p:nvSpPr>
        <p:spPr>
          <a:xfrm>
            <a:off x="2889504" y="25420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44" name="cellbox|b3"/>
          <p:cNvSpPr/>
          <p:nvPr/>
        </p:nvSpPr>
        <p:spPr>
          <a:xfrm>
            <a:off x="5760720" y="2542032"/>
            <a:ext cx="2889504" cy="411480"/>
          </a:xfrm>
          <a:prstGeom prst="rect">
            <a:avLst/>
          </a:prstGeom>
          <a:solidFill>
            <a:srgbClr val="F1F4F8"/>
          </a:solidFill>
          <a:ln w="12700">
            <a:solidFill>
              <a:srgbClr val="F1F4F8"/>
            </a:solidFill>
            <a:prstDash val="solid"/>
          </a:ln>
        </p:spPr>
      </p:sp>
      <p:sp>
        <p:nvSpPr>
          <p:cNvPr id="45" name="v:WhileStatement:0:2:out|b3"/>
          <p:cNvSpPr txBox="1"/>
          <p:nvPr/>
        </p:nvSpPr>
        <p:spPr>
          <a:xfrm>
            <a:off x="5815584" y="25420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yes</a:t>
            </a:r>
            <a:endParaRPr lang="en-US" sz="1200" dirty="0"/>
          </a:p>
        </p:txBody>
      </p:sp>
      <p:sp>
        <p:nvSpPr>
          <p:cNvPr id="46" name="cellbox|b4"/>
          <p:cNvSpPr/>
          <p:nvPr/>
        </p:nvSpPr>
        <p:spPr>
          <a:xfrm>
            <a:off x="457200" y="2999232"/>
            <a:ext cx="512064" cy="411480"/>
          </a:xfrm>
          <a:prstGeom prst="rect">
            <a:avLst/>
          </a:prstGeom>
          <a:solidFill>
            <a:srgbClr val="F1F4F8"/>
          </a:solidFill>
          <a:ln w="12700">
            <a:solidFill>
              <a:srgbClr val="F1F4F8"/>
            </a:solidFill>
            <a:prstDash val="solid"/>
          </a:ln>
        </p:spPr>
      </p:sp>
      <p:sp>
        <p:nvSpPr>
          <p:cNvPr id="47" name="v:WhileStatement:0:3:n|b4"/>
          <p:cNvSpPr txBox="1"/>
          <p:nvPr/>
        </p:nvSpPr>
        <p:spPr>
          <a:xfrm>
            <a:off x="512064" y="29992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4</a:t>
            </a:r>
            <a:endParaRPr lang="en-US" sz="1200" dirty="0"/>
          </a:p>
        </p:txBody>
      </p:sp>
      <p:sp>
        <p:nvSpPr>
          <p:cNvPr id="48" name="cellbox|b4"/>
          <p:cNvSpPr/>
          <p:nvPr/>
        </p:nvSpPr>
        <p:spPr>
          <a:xfrm>
            <a:off x="1005840" y="2999232"/>
            <a:ext cx="969264" cy="411480"/>
          </a:xfrm>
          <a:prstGeom prst="rect">
            <a:avLst/>
          </a:prstGeom>
          <a:solidFill>
            <a:srgbClr val="F1F4F8"/>
          </a:solidFill>
          <a:ln w="12700">
            <a:solidFill>
              <a:srgbClr val="F1F4F8"/>
            </a:solidFill>
            <a:prstDash val="solid"/>
          </a:ln>
        </p:spPr>
      </p:sp>
      <p:sp>
        <p:nvSpPr>
          <p:cNvPr id="49" name="v:WhileStatement:0:3:v0|b4"/>
          <p:cNvSpPr txBox="1"/>
          <p:nvPr/>
        </p:nvSpPr>
        <p:spPr>
          <a:xfrm>
            <a:off x="1060704" y="29992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'yes'</a:t>
            </a:r>
            <a:endParaRPr lang="en-US" sz="1200" dirty="0"/>
          </a:p>
        </p:txBody>
      </p:sp>
      <p:sp>
        <p:nvSpPr>
          <p:cNvPr id="50" name="cellbox|b4"/>
          <p:cNvSpPr/>
          <p:nvPr/>
        </p:nvSpPr>
        <p:spPr>
          <a:xfrm>
            <a:off x="2011680" y="2999232"/>
            <a:ext cx="786384" cy="411480"/>
          </a:xfrm>
          <a:prstGeom prst="rect">
            <a:avLst/>
          </a:prstGeom>
          <a:solidFill>
            <a:srgbClr val="FBE1E1"/>
          </a:solidFill>
          <a:ln w="12700">
            <a:solidFill>
              <a:srgbClr val="FBE1E1"/>
            </a:solidFill>
            <a:prstDash val="solid"/>
          </a:ln>
        </p:spPr>
      </p:sp>
      <p:sp>
        <p:nvSpPr>
          <p:cNvPr id="51" name="v:WhileStatement:0:3:cond|b4"/>
          <p:cNvSpPr txBox="1"/>
          <p:nvPr/>
        </p:nvSpPr>
        <p:spPr>
          <a:xfrm>
            <a:off x="2066544" y="2999232"/>
            <a:ext cx="676656" cy="41148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False</a:t>
            </a:r>
            <a:endParaRPr lang="en-US" sz="1200" dirty="0"/>
          </a:p>
        </p:txBody>
      </p:sp>
      <p:sp>
        <p:nvSpPr>
          <p:cNvPr id="52" name="cellbox|b4"/>
          <p:cNvSpPr/>
          <p:nvPr/>
        </p:nvSpPr>
        <p:spPr>
          <a:xfrm>
            <a:off x="2834640" y="2999232"/>
            <a:ext cx="2889504" cy="411480"/>
          </a:xfrm>
          <a:prstGeom prst="rect">
            <a:avLst/>
          </a:prstGeom>
          <a:solidFill>
            <a:srgbClr val="F1F4F8"/>
          </a:solidFill>
          <a:ln w="12700">
            <a:solidFill>
              <a:srgbClr val="F1F4F8"/>
            </a:solidFill>
            <a:prstDash val="solid"/>
          </a:ln>
        </p:spPr>
      </p:sp>
      <p:sp>
        <p:nvSpPr>
          <p:cNvPr id="53" name="v:WhileStatement:0:3:ev|b4"/>
          <p:cNvSpPr txBox="1"/>
          <p:nvPr/>
        </p:nvSpPr>
        <p:spPr>
          <a:xfrm>
            <a:off x="2889504" y="2999232"/>
            <a:ext cx="2779776" cy="41148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test false: loop ends</a:t>
            </a:r>
            <a:endParaRPr lang="en-US" sz="1200" dirty="0"/>
          </a:p>
        </p:txBody>
      </p:sp>
      <p:sp>
        <p:nvSpPr>
          <p:cNvPr id="54" name="cellbox|b4"/>
          <p:cNvSpPr/>
          <p:nvPr/>
        </p:nvSpPr>
        <p:spPr>
          <a:xfrm>
            <a:off x="5760720" y="2999232"/>
            <a:ext cx="2889504" cy="411480"/>
          </a:xfrm>
          <a:prstGeom prst="rect">
            <a:avLst/>
          </a:prstGeom>
          <a:solidFill>
            <a:srgbClr val="F1F4F8"/>
          </a:solidFill>
          <a:ln w="12700">
            <a:solidFill>
              <a:srgbClr val="F1F4F8"/>
            </a:solidFill>
            <a:prstDash val="solid"/>
          </a:ln>
        </p:spPr>
      </p:sp>
      <p:sp>
        <p:nvSpPr>
          <p:cNvPr id="55" name="v:WhileStatement:0:3:out|b4"/>
          <p:cNvSpPr txBox="1"/>
          <p:nvPr/>
        </p:nvSpPr>
        <p:spPr>
          <a:xfrm>
            <a:off x="5815584" y="29992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Starting</a:t>
            </a:r>
            <a:endParaRPr lang="en-US" sz="1200" dirty="0"/>
          </a:p>
        </p:txBody>
      </p:sp>
      <p:sp>
        <p:nvSpPr>
          <p:cNvPr id="56" name="say"/>
          <p:cNvSpPr txBox="1"/>
          <p:nvPr/>
        </p:nvSpPr>
        <p:spPr>
          <a:xfrm>
            <a:off x="457200" y="384048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test of the condition, with the value of answer at that moment. The last row is the one that ends the loop: the test is false, so the block is skipped and the next statement runs.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endless loop is a bug — unless you built the exit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while True: is deliberate; every way out has a name</a:t>
            </a:r>
            <a:endParaRPr lang="en-US" sz="1400" dirty="0"/>
          </a:p>
        </p:txBody>
      </p:sp>
      <p:sp>
        <p:nvSpPr>
          <p:cNvPr id="6" name="x"/>
          <p:cNvSpPr/>
          <p:nvPr/>
        </p:nvSpPr>
        <p:spPr>
          <a:xfrm>
            <a:off x="3383280" y="2103120"/>
            <a:ext cx="2377440" cy="82296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3383280" y="2103120"/>
            <a:ext cx="2377440" cy="822960"/>
          </a:xfrm>
          <a:prstGeom prst="rect">
            <a:avLst/>
          </a:prstGeom>
          <a:noFill/>
          <a:ln/>
        </p:spPr>
        <p:txBody>
          <a:bodyPr wrap="square" lIns="0" tIns="0" rIns="0" bIns="0" rtlCol="0" anchor="ctr"/>
          <a:lstStyle/>
          <a:p>
            <a:pPr algn="ctr" indent="0" marL="0">
              <a:buNone/>
            </a:pPr>
            <a:r>
              <a:rPr lang="en-US" sz="2000" b="1" dirty="0">
                <a:solidFill>
                  <a:srgbClr val="FFD43B"/>
                </a:solidFill>
                <a:latin typeface="Courier New" pitchFamily="34" charset="0"/>
                <a:ea typeface="Courier New" pitchFamily="34" charset="-122"/>
                <a:cs typeface="Courier New" pitchFamily="34" charset="-120"/>
              </a:rPr>
              <a:t>while True:</a:t>
            </a:r>
            <a:endParaRPr lang="en-US" sz="2000" dirty="0"/>
          </a:p>
        </p:txBody>
      </p:sp>
      <p:sp>
        <p:nvSpPr>
          <p:cNvPr id="8" name="exit|b1"/>
          <p:cNvSpPr/>
          <p:nvPr/>
        </p:nvSpPr>
        <p:spPr>
          <a:xfrm>
            <a:off x="457200" y="1280160"/>
            <a:ext cx="2286000" cy="777240"/>
          </a:xfrm>
          <a:prstGeom prst="roundRect">
            <a:avLst>
              <a:gd name="adj" fmla="val 11765"/>
            </a:avLst>
          </a:prstGeom>
          <a:solidFill>
            <a:srgbClr val="FBE1E1"/>
          </a:solidFill>
          <a:ln w="12700">
            <a:solidFill>
              <a:srgbClr val="D64545"/>
            </a:solidFill>
            <a:prstDash val="solid"/>
          </a:ln>
        </p:spPr>
      </p:sp>
      <p:sp>
        <p:nvSpPr>
          <p:cNvPr id="9" name="exitt|b1"/>
          <p:cNvSpPr txBox="1"/>
          <p:nvPr/>
        </p:nvSpPr>
        <p:spPr>
          <a:xfrm>
            <a:off x="5486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break</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this loop</a:t>
            </a:r>
            <a:endParaRPr lang="en-US" sz="1300" dirty="0"/>
          </a:p>
        </p:txBody>
      </p:sp>
      <p:sp>
        <p:nvSpPr>
          <p:cNvPr id="10" name="arrow|b1"/>
          <p:cNvSpPr/>
          <p:nvPr/>
        </p:nvSpPr>
        <p:spPr>
          <a:xfrm>
            <a:off x="2743200" y="1664208"/>
            <a:ext cx="640080" cy="667512"/>
          </a:xfrm>
          <a:prstGeom prst="line">
            <a:avLst/>
          </a:prstGeom>
          <a:noFill/>
          <a:ln w="25400">
            <a:solidFill>
              <a:srgbClr val="D64545"/>
            </a:solidFill>
            <a:prstDash val="solid"/>
            <a:tailEnd type="triangle"/>
          </a:ln>
        </p:spPr>
      </p:sp>
      <p:sp>
        <p:nvSpPr>
          <p:cNvPr id="11" name="exit|b2"/>
          <p:cNvSpPr/>
          <p:nvPr/>
        </p:nvSpPr>
        <p:spPr>
          <a:xfrm>
            <a:off x="457200" y="3108960"/>
            <a:ext cx="2286000" cy="777240"/>
          </a:xfrm>
          <a:prstGeom prst="roundRect">
            <a:avLst>
              <a:gd name="adj" fmla="val 11765"/>
            </a:avLst>
          </a:prstGeom>
          <a:solidFill>
            <a:srgbClr val="FBE1E1"/>
          </a:solidFill>
          <a:ln w="12700">
            <a:solidFill>
              <a:srgbClr val="D64545"/>
            </a:solidFill>
            <a:prstDash val="solid"/>
          </a:ln>
        </p:spPr>
      </p:sp>
      <p:sp>
        <p:nvSpPr>
          <p:cNvPr id="12" name="exitt|b2"/>
          <p:cNvSpPr txBox="1"/>
          <p:nvPr/>
        </p:nvSpPr>
        <p:spPr>
          <a:xfrm>
            <a:off x="5486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return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the function</a:t>
            </a:r>
            <a:endParaRPr lang="en-US" sz="1300" dirty="0"/>
          </a:p>
        </p:txBody>
      </p:sp>
      <p:sp>
        <p:nvSpPr>
          <p:cNvPr id="13" name="arrow|b2"/>
          <p:cNvSpPr/>
          <p:nvPr/>
        </p:nvSpPr>
        <p:spPr>
          <a:xfrm flipV="1">
            <a:off x="2743200" y="2697480"/>
            <a:ext cx="640080" cy="795528"/>
          </a:xfrm>
          <a:prstGeom prst="line">
            <a:avLst/>
          </a:prstGeom>
          <a:noFill/>
          <a:ln w="25400">
            <a:solidFill>
              <a:srgbClr val="D64545"/>
            </a:solidFill>
            <a:prstDash val="solid"/>
            <a:tailEnd type="triangle"/>
          </a:ln>
        </p:spPr>
      </p:sp>
      <p:sp>
        <p:nvSpPr>
          <p:cNvPr id="14" name="exit|b3"/>
          <p:cNvSpPr/>
          <p:nvPr/>
        </p:nvSpPr>
        <p:spPr>
          <a:xfrm>
            <a:off x="6400800" y="1280160"/>
            <a:ext cx="2286000" cy="777240"/>
          </a:xfrm>
          <a:prstGeom prst="roundRect">
            <a:avLst>
              <a:gd name="adj" fmla="val 11765"/>
            </a:avLst>
          </a:prstGeom>
          <a:solidFill>
            <a:srgbClr val="FBE1E1"/>
          </a:solidFill>
          <a:ln w="12700">
            <a:solidFill>
              <a:srgbClr val="D64545"/>
            </a:solidFill>
            <a:prstDash val="solid"/>
          </a:ln>
        </p:spPr>
      </p:sp>
      <p:sp>
        <p:nvSpPr>
          <p:cNvPr id="15" name="exitt|b3"/>
          <p:cNvSpPr txBox="1"/>
          <p:nvPr/>
        </p:nvSpPr>
        <p:spPr>
          <a:xfrm>
            <a:off x="64922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sys.exit()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end the program</a:t>
            </a:r>
            <a:endParaRPr lang="en-US" sz="1300" dirty="0"/>
          </a:p>
        </p:txBody>
      </p:sp>
      <p:sp>
        <p:nvSpPr>
          <p:cNvPr id="16" name="arrow|b3"/>
          <p:cNvSpPr/>
          <p:nvPr/>
        </p:nvSpPr>
        <p:spPr>
          <a:xfrm flipH="1">
            <a:off x="5760720" y="1664208"/>
            <a:ext cx="640080" cy="667512"/>
          </a:xfrm>
          <a:prstGeom prst="line">
            <a:avLst/>
          </a:prstGeom>
          <a:noFill/>
          <a:ln w="25400">
            <a:solidFill>
              <a:srgbClr val="D64545"/>
            </a:solidFill>
            <a:prstDash val="solid"/>
            <a:tailEnd type="triangle"/>
          </a:ln>
        </p:spPr>
      </p:sp>
      <p:sp>
        <p:nvSpPr>
          <p:cNvPr id="17" name="exit|b4"/>
          <p:cNvSpPr/>
          <p:nvPr/>
        </p:nvSpPr>
        <p:spPr>
          <a:xfrm>
            <a:off x="6400800" y="3108960"/>
            <a:ext cx="2286000" cy="777240"/>
          </a:xfrm>
          <a:prstGeom prst="roundRect">
            <a:avLst>
              <a:gd name="adj" fmla="val 11765"/>
            </a:avLst>
          </a:prstGeom>
          <a:solidFill>
            <a:srgbClr val="FBE1E1"/>
          </a:solidFill>
          <a:ln w="12700">
            <a:solidFill>
              <a:srgbClr val="D64545"/>
            </a:solidFill>
            <a:prstDash val="solid"/>
          </a:ln>
        </p:spPr>
      </p:sp>
      <p:sp>
        <p:nvSpPr>
          <p:cNvPr id="18" name="exitt|b4"/>
          <p:cNvSpPr txBox="1"/>
          <p:nvPr/>
        </p:nvSpPr>
        <p:spPr>
          <a:xfrm>
            <a:off x="64922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an exception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unwind to a handler</a:t>
            </a:r>
            <a:endParaRPr lang="en-US" sz="1300" dirty="0"/>
          </a:p>
        </p:txBody>
      </p:sp>
      <p:sp>
        <p:nvSpPr>
          <p:cNvPr id="19" name="arrow|b4"/>
          <p:cNvSpPr/>
          <p:nvPr/>
        </p:nvSpPr>
        <p:spPr>
          <a:xfrm flipH="1" flipV="1">
            <a:off x="5760720" y="2697480"/>
            <a:ext cx="640080" cy="795528"/>
          </a:xfrm>
          <a:prstGeom prst="line">
            <a:avLst/>
          </a:prstGeom>
          <a:noFill/>
          <a:ln w="25400">
            <a:solidFill>
              <a:srgbClr val="D64545"/>
            </a:solidFill>
            <a:prstDash val="solid"/>
            <a:tailEnd type="triangle"/>
          </a:ln>
        </p:spPr>
      </p:sp>
      <p:sp>
        <p:nvSpPr>
          <p:cNvPr id="20" name="x"/>
          <p:cNvSpPr txBox="1"/>
          <p:nvPr/>
        </p:nvSpPr>
        <p:spPr>
          <a:xfrm>
            <a:off x="457200" y="4343400"/>
            <a:ext cx="8229600" cy="36576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Stuck in one you did not mean? Control-C raises KeyboardInterrupt.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Choosing a loop: do you know what to loop over?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knows its length before it starts; a condition loop does not</a:t>
            </a:r>
            <a:endParaRPr lang="en-US" sz="1400" dirty="0"/>
          </a:p>
        </p:txBody>
      </p:sp>
      <p:sp>
        <p:nvSpPr>
          <p:cNvPr id="6" name="x"/>
          <p:cNvSpPr/>
          <p:nvPr/>
        </p:nvSpPr>
        <p:spPr>
          <a:xfrm>
            <a:off x="2651760" y="1280160"/>
            <a:ext cx="3840480" cy="68580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2743200" y="1280160"/>
            <a:ext cx="36576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Do you have the sequence — or the count — up front?</a:t>
            </a:r>
            <a:endParaRPr lang="en-US" sz="1400" dirty="0"/>
          </a:p>
        </p:txBody>
      </p:sp>
      <p:sp>
        <p:nvSpPr>
          <p:cNvPr id="8" name="arrow|b1"/>
          <p:cNvSpPr/>
          <p:nvPr/>
        </p:nvSpPr>
        <p:spPr>
          <a:xfrm flipH="1">
            <a:off x="2011680" y="1965960"/>
            <a:ext cx="1280160" cy="548640"/>
          </a:xfrm>
          <a:prstGeom prst="line">
            <a:avLst/>
          </a:prstGeom>
          <a:noFill/>
          <a:ln w="25400">
            <a:solidFill>
              <a:srgbClr val="2E9E5B"/>
            </a:solidFill>
            <a:prstDash val="solid"/>
            <a:tailEnd type="triangle"/>
          </a:ln>
        </p:spPr>
      </p:sp>
      <p:sp>
        <p:nvSpPr>
          <p:cNvPr id="9" name="arrow|b2"/>
          <p:cNvSpPr/>
          <p:nvPr/>
        </p:nvSpPr>
        <p:spPr>
          <a:xfrm>
            <a:off x="5852160" y="1965960"/>
            <a:ext cx="1280160" cy="548640"/>
          </a:xfrm>
          <a:prstGeom prst="line">
            <a:avLst/>
          </a:prstGeom>
          <a:noFill/>
          <a:ln w="25400">
            <a:solidFill>
              <a:srgbClr val="B7791F"/>
            </a:solidFill>
            <a:prstDash val="solid"/>
            <a:tailEnd type="triangle"/>
          </a:ln>
        </p:spPr>
      </p:sp>
      <p:sp>
        <p:nvSpPr>
          <p:cNvPr id="10" name="yes|b1"/>
          <p:cNvSpPr txBox="1"/>
          <p:nvPr/>
        </p:nvSpPr>
        <p:spPr>
          <a:xfrm>
            <a:off x="1920240" y="2103120"/>
            <a:ext cx="548640" cy="274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yes</a:t>
            </a:r>
            <a:endParaRPr lang="en-US" sz="1300" dirty="0"/>
          </a:p>
        </p:txBody>
      </p:sp>
      <p:sp>
        <p:nvSpPr>
          <p:cNvPr id="11" name="no|b2"/>
          <p:cNvSpPr txBox="1"/>
          <p:nvPr/>
        </p:nvSpPr>
        <p:spPr>
          <a:xfrm>
            <a:off x="6400800" y="2103120"/>
            <a:ext cx="219456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no — the data decides</a:t>
            </a:r>
            <a:endParaRPr lang="en-US" sz="1300" dirty="0"/>
          </a:p>
        </p:txBody>
      </p:sp>
      <p:sp>
        <p:nvSpPr>
          <p:cNvPr id="12" name="for|b1"/>
          <p:cNvSpPr/>
          <p:nvPr/>
        </p:nvSpPr>
        <p:spPr>
          <a:xfrm>
            <a:off x="457200" y="2514600"/>
            <a:ext cx="3474720" cy="1463040"/>
          </a:xfrm>
          <a:prstGeom prst="roundRect">
            <a:avLst>
              <a:gd name="adj" fmla="val 6250"/>
            </a:avLst>
          </a:prstGeom>
          <a:solidFill>
            <a:srgbClr val="DDF3E6"/>
          </a:solidFill>
          <a:ln w="25400">
            <a:solidFill>
              <a:srgbClr val="2E9E5B"/>
            </a:solidFill>
            <a:prstDash val="solid"/>
          </a:ln>
        </p:spPr>
      </p:sp>
      <p:sp>
        <p:nvSpPr>
          <p:cNvPr id="13" name="fort|b1"/>
          <p:cNvSpPr txBox="1"/>
          <p:nvPr/>
        </p:nvSpPr>
        <p:spPr>
          <a:xfrm>
            <a:off x="548640" y="2560320"/>
            <a:ext cx="3291840" cy="1371600"/>
          </a:xfrm>
          <a:prstGeom prst="rect">
            <a:avLst/>
          </a:prstGeom>
          <a:noFill/>
          <a:ln/>
        </p:spPr>
        <p:txBody>
          <a:bodyPr wrap="square" lIns="0" tIns="0" rIns="0" bIns="0" rtlCol="0" anchor="ctr"/>
          <a:lstStyle/>
          <a:p>
            <a:pPr algn="ctr" indent="0" marL="0">
              <a:buNone/>
            </a:pPr>
            <a:r>
              <a:rPr lang="en-US" sz="2200" b="1" dirty="0">
                <a:solidFill>
                  <a:srgbClr val="2E9E5B"/>
                </a:solidFill>
                <a:latin typeface="Courier New" pitchFamily="34" charset="0"/>
                <a:ea typeface="Courier New" pitchFamily="34" charset="-122"/>
                <a:cs typeface="Courier New" pitchFamily="34" charset="-120"/>
              </a:rPr>
              <a:t>for</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counted loop: one pass per item</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for i in range(5):</a:t>
            </a:r>
            <a:endParaRPr lang="en-US" sz="1300" dirty="0"/>
          </a:p>
        </p:txBody>
      </p:sp>
      <p:sp>
        <p:nvSpPr>
          <p:cNvPr id="14" name="while|b2"/>
          <p:cNvSpPr/>
          <p:nvPr/>
        </p:nvSpPr>
        <p:spPr>
          <a:xfrm>
            <a:off x="5212080" y="2514600"/>
            <a:ext cx="3474720" cy="1463040"/>
          </a:xfrm>
          <a:prstGeom prst="roundRect">
            <a:avLst>
              <a:gd name="adj" fmla="val 6250"/>
            </a:avLst>
          </a:prstGeom>
          <a:solidFill>
            <a:srgbClr val="FCEFD0"/>
          </a:solidFill>
          <a:ln w="25400">
            <a:solidFill>
              <a:srgbClr val="B7791F"/>
            </a:solidFill>
            <a:prstDash val="solid"/>
          </a:ln>
        </p:spPr>
      </p:sp>
      <p:sp>
        <p:nvSpPr>
          <p:cNvPr id="15" name="whilet|b2"/>
          <p:cNvSpPr txBox="1"/>
          <p:nvPr/>
        </p:nvSpPr>
        <p:spPr>
          <a:xfrm>
            <a:off x="5303520" y="2560320"/>
            <a:ext cx="3291840" cy="1371600"/>
          </a:xfrm>
          <a:prstGeom prst="rect">
            <a:avLst/>
          </a:prstGeom>
          <a:noFill/>
          <a:ln/>
        </p:spPr>
        <p:txBody>
          <a:bodyPr wrap="square" lIns="0" tIns="0" rIns="0" bIns="0" rtlCol="0" anchor="ctr"/>
          <a:lstStyle/>
          <a:p>
            <a:pPr algn="ctr" indent="0" marL="0">
              <a:buNone/>
            </a:pPr>
            <a:r>
              <a:rPr lang="en-US" sz="2200" b="1" dirty="0">
                <a:solidFill>
                  <a:srgbClr val="B7791F"/>
                </a:solidFill>
                <a:latin typeface="Courier New" pitchFamily="34" charset="0"/>
                <a:ea typeface="Courier New" pitchFamily="34" charset="-122"/>
                <a:cs typeface="Courier New" pitchFamily="34" charset="-120"/>
              </a:rPr>
              <a:t>while</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condition loop: repeat while a test holds</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while answer != ‘yes’:</a:t>
            </a:r>
            <a:endParaRPr lang="en-US" sz="1300" dirty="0"/>
          </a:p>
        </p:txBody>
      </p:sp>
      <p:sp>
        <p:nvSpPr>
          <p:cNvPr id="16" name="more|b3"/>
          <p:cNvSpPr txBox="1"/>
          <p:nvPr/>
        </p:nvSpPr>
        <p:spPr>
          <a:xfrm>
            <a:off x="457200" y="4206240"/>
            <a:ext cx="8229600" cy="45720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Need the position as well as the item? enumerate. Two sequences side by side? zip.</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for loop hands out one item per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things happen, in this order</a:t>
            </a:r>
            <a:endParaRPr lang="en-US" sz="1400" dirty="0"/>
          </a:p>
        </p:txBody>
      </p:sp>
      <p:sp>
        <p:nvSpPr>
          <p:cNvPr id="6" name="stepn|b1"/>
          <p:cNvSpPr/>
          <p:nvPr/>
        </p:nvSpPr>
        <p:spPr>
          <a:xfrm>
            <a:off x="457200" y="1371600"/>
            <a:ext cx="640080" cy="640080"/>
          </a:xfrm>
          <a:prstGeom prst="ellipse">
            <a:avLst/>
          </a:prstGeom>
          <a:solidFill>
            <a:srgbClr val="306998"/>
          </a:solidFill>
          <a:ln w="12700">
            <a:solidFill>
              <a:srgbClr val="306998"/>
            </a:solidFill>
            <a:prstDash val="solid"/>
          </a:ln>
        </p:spPr>
      </p:sp>
      <p:sp>
        <p:nvSpPr>
          <p:cNvPr id="7" name="stepnt|b1"/>
          <p:cNvSpPr txBox="1"/>
          <p:nvPr/>
        </p:nvSpPr>
        <p:spPr>
          <a:xfrm>
            <a:off x="457200"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stept|b1"/>
          <p:cNvSpPr txBox="1"/>
          <p:nvPr/>
        </p:nvSpPr>
        <p:spPr>
          <a:xfrm>
            <a:off x="1325880" y="132588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Evaluate the iterable — once</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for i in range(5)  →  the sequence is worked out a single time</a:t>
            </a:r>
            <a:endParaRPr lang="en-US" sz="1300" dirty="0"/>
          </a:p>
        </p:txBody>
      </p:sp>
      <p:sp>
        <p:nvSpPr>
          <p:cNvPr id="9" name="stepn|b2"/>
          <p:cNvSpPr/>
          <p:nvPr/>
        </p:nvSpPr>
        <p:spPr>
          <a:xfrm>
            <a:off x="457200" y="2331720"/>
            <a:ext cx="640080" cy="640080"/>
          </a:xfrm>
          <a:prstGeom prst="ellipse">
            <a:avLst/>
          </a:prstGeom>
          <a:solidFill>
            <a:srgbClr val="306998"/>
          </a:solidFill>
          <a:ln w="12700">
            <a:solidFill>
              <a:srgbClr val="306998"/>
            </a:solidFill>
            <a:prstDash val="solid"/>
          </a:ln>
        </p:spPr>
      </p:sp>
      <p:sp>
        <p:nvSpPr>
          <p:cNvPr id="10" name="stepnt|b2"/>
          <p:cNvSpPr txBox="1"/>
          <p:nvPr/>
        </p:nvSpPr>
        <p:spPr>
          <a:xfrm>
            <a:off x="45720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tept|b2"/>
          <p:cNvSpPr txBox="1"/>
          <p:nvPr/>
        </p:nvSpPr>
        <p:spPr>
          <a:xfrm>
            <a:off x="1325880" y="228600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Make an iterator from it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the iterator remembers where it is</a:t>
            </a:r>
            <a:endParaRPr lang="en-US" sz="1300" dirty="0"/>
          </a:p>
        </p:txBody>
      </p:sp>
      <p:sp>
        <p:nvSpPr>
          <p:cNvPr id="12" name="stepn|b3"/>
          <p:cNvSpPr/>
          <p:nvPr/>
        </p:nvSpPr>
        <p:spPr>
          <a:xfrm>
            <a:off x="457200" y="3291840"/>
            <a:ext cx="640080" cy="640080"/>
          </a:xfrm>
          <a:prstGeom prst="ellipse">
            <a:avLst/>
          </a:prstGeom>
          <a:solidFill>
            <a:srgbClr val="306998"/>
          </a:solidFill>
          <a:ln w="12700">
            <a:solidFill>
              <a:srgbClr val="306998"/>
            </a:solidFill>
            <a:prstDash val="solid"/>
          </a:ln>
        </p:spPr>
      </p:sp>
      <p:sp>
        <p:nvSpPr>
          <p:cNvPr id="13" name="stepnt|b3"/>
          <p:cNvSpPr txBox="1"/>
          <p:nvPr/>
        </p:nvSpPr>
        <p:spPr>
          <a:xfrm>
            <a:off x="457200" y="32918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stept|b3"/>
          <p:cNvSpPr txBox="1"/>
          <p:nvPr/>
        </p:nvSpPr>
        <p:spPr>
          <a:xfrm>
            <a:off x="1325880" y="324612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Assign the next item, run the block, repeat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until the iterator has nothing left</a:t>
            </a:r>
            <a:endParaRPr lang="en-US" sz="1300" dirty="0"/>
          </a:p>
        </p:txBody>
      </p:sp>
      <p:sp>
        <p:nvSpPr>
          <p:cNvPr id="15" name="progbox"/>
          <p:cNvSpPr/>
          <p:nvPr/>
        </p:nvSpPr>
        <p:spPr>
          <a:xfrm>
            <a:off x="6035040" y="1371600"/>
            <a:ext cx="2651760" cy="1371600"/>
          </a:xfrm>
          <a:prstGeom prst="roundRect">
            <a:avLst>
              <a:gd name="adj" fmla="val 6667"/>
            </a:avLst>
          </a:prstGeom>
          <a:solidFill>
            <a:srgbClr val="17202B"/>
          </a:solidFill>
          <a:ln w="12700">
            <a:solidFill>
              <a:srgbClr val="17202B"/>
            </a:solidFill>
            <a:prstDash val="solid"/>
          </a:ln>
        </p:spPr>
      </p:sp>
      <p:sp>
        <p:nvSpPr>
          <p:cNvPr id="16" name="prog"/>
          <p:cNvSpPr txBox="1"/>
          <p:nvPr/>
        </p:nvSpPr>
        <p:spPr>
          <a:xfrm>
            <a:off x="6217920" y="1463040"/>
            <a:ext cx="2286000" cy="118872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total = 0</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for n in range(1, 4):</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total += n</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print(total)</a:t>
            </a:r>
            <a:endParaRPr lang="en-US" sz="1400" dirty="0"/>
          </a:p>
        </p:txBody>
      </p:sp>
      <p:sp>
        <p:nvSpPr>
          <p:cNvPr id="17" name="transbox"/>
          <p:cNvSpPr/>
          <p:nvPr/>
        </p:nvSpPr>
        <p:spPr>
          <a:xfrm>
            <a:off x="6035040" y="2971800"/>
            <a:ext cx="2651760" cy="640080"/>
          </a:xfrm>
          <a:prstGeom prst="roundRect">
            <a:avLst>
              <a:gd name="adj" fmla="val 14286"/>
            </a:avLst>
          </a:prstGeom>
          <a:solidFill>
            <a:srgbClr val="F1F4F8"/>
          </a:solidFill>
          <a:ln w="12700">
            <a:solidFill>
              <a:srgbClr val="F1F4F8"/>
            </a:solidFill>
            <a:prstDash val="solid"/>
          </a:ln>
        </p:spPr>
      </p:sp>
      <p:sp>
        <p:nvSpPr>
          <p:cNvPr id="18" name="trans"/>
          <p:cNvSpPr txBox="1"/>
          <p:nvPr/>
        </p:nvSpPr>
        <p:spPr>
          <a:xfrm>
            <a:off x="6172200" y="3044952"/>
            <a:ext cx="237744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6</a:t>
            </a:r>
            <a:endParaRPr lang="en-US" sz="1400" dirty="0"/>
          </a:p>
        </p:txBody>
      </p:sp>
      <p:sp>
        <p:nvSpPr>
          <p:cNvPr id="19" name="transcap"/>
          <p:cNvSpPr txBox="1"/>
          <p:nvPr/>
        </p:nvSpPr>
        <p:spPr>
          <a:xfrm>
            <a:off x="6035040" y="3639312"/>
            <a:ext cx="26517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0" name="say"/>
          <p:cNvSpPr txBox="1"/>
          <p:nvPr/>
        </p:nvSpPr>
        <p:spPr>
          <a:xfrm>
            <a:off x="6035040" y="3886200"/>
            <a:ext cx="2651760" cy="82296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Assigning to i inside the block does not change the loop: the next pass takes the next item regardless.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each pass assigns the target a fresh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 takes 1, 2, 3; total grows to 6</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n</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502920"/>
          </a:xfrm>
          <a:prstGeom prst="rect">
            <a:avLst/>
          </a:prstGeom>
          <a:solidFill>
            <a:srgbClr val="F1F4F8"/>
          </a:solidFill>
          <a:ln w="12700">
            <a:solidFill>
              <a:srgbClr val="F1F4F8"/>
            </a:solidFill>
            <a:prstDash val="solid"/>
          </a:ln>
        </p:spPr>
      </p:sp>
      <p:sp>
        <p:nvSpPr>
          <p:cNvPr id="17" name="v:ForStatement:0:0:n|b1"/>
          <p:cNvSpPr txBox="1"/>
          <p:nvPr/>
        </p:nvSpPr>
        <p:spPr>
          <a:xfrm>
            <a:off x="512064" y="162763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8" name="cellbox|b1"/>
          <p:cNvSpPr/>
          <p:nvPr/>
        </p:nvSpPr>
        <p:spPr>
          <a:xfrm>
            <a:off x="1005840" y="1627632"/>
            <a:ext cx="969264" cy="502920"/>
          </a:xfrm>
          <a:prstGeom prst="rect">
            <a:avLst/>
          </a:prstGeom>
          <a:solidFill>
            <a:srgbClr val="F1F4F8"/>
          </a:solidFill>
          <a:ln w="12700">
            <a:solidFill>
              <a:srgbClr val="F1F4F8"/>
            </a:solidFill>
            <a:prstDash val="solid"/>
          </a:ln>
        </p:spPr>
      </p:sp>
      <p:sp>
        <p:nvSpPr>
          <p:cNvPr id="19" name="v:ForStatement:0:0:v0|b1"/>
          <p:cNvSpPr txBox="1"/>
          <p:nvPr/>
        </p:nvSpPr>
        <p:spPr>
          <a:xfrm>
            <a:off x="106070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0" name="cellbox|b1"/>
          <p:cNvSpPr/>
          <p:nvPr/>
        </p:nvSpPr>
        <p:spPr>
          <a:xfrm>
            <a:off x="2011680" y="1627632"/>
            <a:ext cx="969264" cy="502920"/>
          </a:xfrm>
          <a:prstGeom prst="rect">
            <a:avLst/>
          </a:prstGeom>
          <a:solidFill>
            <a:srgbClr val="F1F4F8"/>
          </a:solidFill>
          <a:ln w="12700">
            <a:solidFill>
              <a:srgbClr val="F1F4F8"/>
            </a:solidFill>
            <a:prstDash val="solid"/>
          </a:ln>
        </p:spPr>
      </p:sp>
      <p:sp>
        <p:nvSpPr>
          <p:cNvPr id="21" name="v:ForStatement:0:0:v1|b1"/>
          <p:cNvSpPr txBox="1"/>
          <p:nvPr/>
        </p:nvSpPr>
        <p:spPr>
          <a:xfrm>
            <a:off x="206654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22" name="cellbox|b1"/>
          <p:cNvSpPr/>
          <p:nvPr/>
        </p:nvSpPr>
        <p:spPr>
          <a:xfrm>
            <a:off x="3017520" y="1627632"/>
            <a:ext cx="2798064" cy="502920"/>
          </a:xfrm>
          <a:prstGeom prst="rect">
            <a:avLst/>
          </a:prstGeom>
          <a:solidFill>
            <a:srgbClr val="F1F4F8"/>
          </a:solidFill>
          <a:ln w="12700">
            <a:solidFill>
              <a:srgbClr val="F1F4F8"/>
            </a:solidFill>
            <a:prstDash val="solid"/>
          </a:ln>
        </p:spPr>
      </p:sp>
      <p:sp>
        <p:nvSpPr>
          <p:cNvPr id="23" name="v:ForStatement:0:0:ev|b1"/>
          <p:cNvSpPr txBox="1"/>
          <p:nvPr/>
        </p:nvSpPr>
        <p:spPr>
          <a:xfrm>
            <a:off x="307238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4" name="cellbox|b1"/>
          <p:cNvSpPr/>
          <p:nvPr/>
        </p:nvSpPr>
        <p:spPr>
          <a:xfrm>
            <a:off x="5852160" y="1627632"/>
            <a:ext cx="2798064" cy="502920"/>
          </a:xfrm>
          <a:prstGeom prst="rect">
            <a:avLst/>
          </a:prstGeom>
          <a:solidFill>
            <a:srgbClr val="F1F4F8"/>
          </a:solidFill>
          <a:ln w="12700">
            <a:solidFill>
              <a:srgbClr val="F1F4F8"/>
            </a:solidFill>
            <a:prstDash val="solid"/>
          </a:ln>
        </p:spPr>
      </p:sp>
      <p:sp>
        <p:nvSpPr>
          <p:cNvPr id="25" name="v:ForStatement:0:0:out|b1"/>
          <p:cNvSpPr txBox="1"/>
          <p:nvPr/>
        </p:nvSpPr>
        <p:spPr>
          <a:xfrm>
            <a:off x="590702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6" name="cellbox|b2"/>
          <p:cNvSpPr/>
          <p:nvPr/>
        </p:nvSpPr>
        <p:spPr>
          <a:xfrm>
            <a:off x="457200" y="2176272"/>
            <a:ext cx="512064" cy="502920"/>
          </a:xfrm>
          <a:prstGeom prst="rect">
            <a:avLst/>
          </a:prstGeom>
          <a:solidFill>
            <a:srgbClr val="F1F4F8"/>
          </a:solidFill>
          <a:ln w="12700">
            <a:solidFill>
              <a:srgbClr val="F1F4F8"/>
            </a:solidFill>
            <a:prstDash val="solid"/>
          </a:ln>
        </p:spPr>
      </p:sp>
      <p:sp>
        <p:nvSpPr>
          <p:cNvPr id="27" name="v:ForStatement:0:1:n|b2"/>
          <p:cNvSpPr txBox="1"/>
          <p:nvPr/>
        </p:nvSpPr>
        <p:spPr>
          <a:xfrm>
            <a:off x="512064" y="217627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8" name="cellbox|b2"/>
          <p:cNvSpPr/>
          <p:nvPr/>
        </p:nvSpPr>
        <p:spPr>
          <a:xfrm>
            <a:off x="1005840" y="2176272"/>
            <a:ext cx="969264" cy="502920"/>
          </a:xfrm>
          <a:prstGeom prst="rect">
            <a:avLst/>
          </a:prstGeom>
          <a:solidFill>
            <a:srgbClr val="F1F4F8"/>
          </a:solidFill>
          <a:ln w="12700">
            <a:solidFill>
              <a:srgbClr val="F1F4F8"/>
            </a:solidFill>
            <a:prstDash val="solid"/>
          </a:ln>
        </p:spPr>
      </p:sp>
      <p:sp>
        <p:nvSpPr>
          <p:cNvPr id="29" name="v:ForStatement:0:1:v0|b2"/>
          <p:cNvSpPr txBox="1"/>
          <p:nvPr/>
        </p:nvSpPr>
        <p:spPr>
          <a:xfrm>
            <a:off x="106070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0" name="cellbox|b2"/>
          <p:cNvSpPr/>
          <p:nvPr/>
        </p:nvSpPr>
        <p:spPr>
          <a:xfrm>
            <a:off x="2011680" y="2176272"/>
            <a:ext cx="969264" cy="502920"/>
          </a:xfrm>
          <a:prstGeom prst="rect">
            <a:avLst/>
          </a:prstGeom>
          <a:solidFill>
            <a:srgbClr val="F1F4F8"/>
          </a:solidFill>
          <a:ln w="12700">
            <a:solidFill>
              <a:srgbClr val="F1F4F8"/>
            </a:solidFill>
            <a:prstDash val="solid"/>
          </a:ln>
        </p:spPr>
      </p:sp>
      <p:sp>
        <p:nvSpPr>
          <p:cNvPr id="31" name="v:ForStatement:0:1:v1|b2"/>
          <p:cNvSpPr txBox="1"/>
          <p:nvPr/>
        </p:nvSpPr>
        <p:spPr>
          <a:xfrm>
            <a:off x="206654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32" name="cellbox|b2"/>
          <p:cNvSpPr/>
          <p:nvPr/>
        </p:nvSpPr>
        <p:spPr>
          <a:xfrm>
            <a:off x="3017520" y="2176272"/>
            <a:ext cx="2798064" cy="502920"/>
          </a:xfrm>
          <a:prstGeom prst="rect">
            <a:avLst/>
          </a:prstGeom>
          <a:solidFill>
            <a:srgbClr val="F1F4F8"/>
          </a:solidFill>
          <a:ln w="12700">
            <a:solidFill>
              <a:srgbClr val="F1F4F8"/>
            </a:solidFill>
            <a:prstDash val="solid"/>
          </a:ln>
        </p:spPr>
      </p:sp>
      <p:sp>
        <p:nvSpPr>
          <p:cNvPr id="33" name="v:ForStatement:0:1:ev|b2"/>
          <p:cNvSpPr txBox="1"/>
          <p:nvPr/>
        </p:nvSpPr>
        <p:spPr>
          <a:xfrm>
            <a:off x="307238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4" name="cellbox|b2"/>
          <p:cNvSpPr/>
          <p:nvPr/>
        </p:nvSpPr>
        <p:spPr>
          <a:xfrm>
            <a:off x="5852160" y="2176272"/>
            <a:ext cx="2798064" cy="502920"/>
          </a:xfrm>
          <a:prstGeom prst="rect">
            <a:avLst/>
          </a:prstGeom>
          <a:solidFill>
            <a:srgbClr val="F1F4F8"/>
          </a:solidFill>
          <a:ln w="12700">
            <a:solidFill>
              <a:srgbClr val="F1F4F8"/>
            </a:solidFill>
            <a:prstDash val="solid"/>
          </a:ln>
        </p:spPr>
      </p:sp>
      <p:sp>
        <p:nvSpPr>
          <p:cNvPr id="35" name="v:ForStatement:0:1:out|b2"/>
          <p:cNvSpPr txBox="1"/>
          <p:nvPr/>
        </p:nvSpPr>
        <p:spPr>
          <a:xfrm>
            <a:off x="590702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457200" y="2724912"/>
            <a:ext cx="512064" cy="502920"/>
          </a:xfrm>
          <a:prstGeom prst="rect">
            <a:avLst/>
          </a:prstGeom>
          <a:solidFill>
            <a:srgbClr val="F1F4F8"/>
          </a:solidFill>
          <a:ln w="12700">
            <a:solidFill>
              <a:srgbClr val="F1F4F8"/>
            </a:solidFill>
            <a:prstDash val="solid"/>
          </a:ln>
        </p:spPr>
      </p:sp>
      <p:sp>
        <p:nvSpPr>
          <p:cNvPr id="37" name="v:ForStatement:0:2:n|b3"/>
          <p:cNvSpPr txBox="1"/>
          <p:nvPr/>
        </p:nvSpPr>
        <p:spPr>
          <a:xfrm>
            <a:off x="512064" y="272491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8" name="cellbox|b3"/>
          <p:cNvSpPr/>
          <p:nvPr/>
        </p:nvSpPr>
        <p:spPr>
          <a:xfrm>
            <a:off x="1005840" y="2724912"/>
            <a:ext cx="969264" cy="502920"/>
          </a:xfrm>
          <a:prstGeom prst="rect">
            <a:avLst/>
          </a:prstGeom>
          <a:solidFill>
            <a:srgbClr val="F1F4F8"/>
          </a:solidFill>
          <a:ln w="12700">
            <a:solidFill>
              <a:srgbClr val="F1F4F8"/>
            </a:solidFill>
            <a:prstDash val="solid"/>
          </a:ln>
        </p:spPr>
      </p:sp>
      <p:sp>
        <p:nvSpPr>
          <p:cNvPr id="39" name="v:ForStatement:0:2:v0|b3"/>
          <p:cNvSpPr txBox="1"/>
          <p:nvPr/>
        </p:nvSpPr>
        <p:spPr>
          <a:xfrm>
            <a:off x="106070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0" name="cellbox|b3"/>
          <p:cNvSpPr/>
          <p:nvPr/>
        </p:nvSpPr>
        <p:spPr>
          <a:xfrm>
            <a:off x="2011680" y="2724912"/>
            <a:ext cx="969264" cy="502920"/>
          </a:xfrm>
          <a:prstGeom prst="rect">
            <a:avLst/>
          </a:prstGeom>
          <a:solidFill>
            <a:srgbClr val="F1F4F8"/>
          </a:solidFill>
          <a:ln w="12700">
            <a:solidFill>
              <a:srgbClr val="F1F4F8"/>
            </a:solidFill>
            <a:prstDash val="solid"/>
          </a:ln>
        </p:spPr>
      </p:sp>
      <p:sp>
        <p:nvSpPr>
          <p:cNvPr id="41" name="v:ForStatement:0:2:v1|b3"/>
          <p:cNvSpPr txBox="1"/>
          <p:nvPr/>
        </p:nvSpPr>
        <p:spPr>
          <a:xfrm>
            <a:off x="206654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2" name="cellbox|b3"/>
          <p:cNvSpPr/>
          <p:nvPr/>
        </p:nvSpPr>
        <p:spPr>
          <a:xfrm>
            <a:off x="3017520" y="2724912"/>
            <a:ext cx="2798064" cy="502920"/>
          </a:xfrm>
          <a:prstGeom prst="rect">
            <a:avLst/>
          </a:prstGeom>
          <a:solidFill>
            <a:srgbClr val="F1F4F8"/>
          </a:solidFill>
          <a:ln w="12700">
            <a:solidFill>
              <a:srgbClr val="F1F4F8"/>
            </a:solidFill>
            <a:prstDash val="solid"/>
          </a:ln>
        </p:spPr>
      </p:sp>
      <p:sp>
        <p:nvSpPr>
          <p:cNvPr id="43" name="v:ForStatement:0:2:ev|b3"/>
          <p:cNvSpPr txBox="1"/>
          <p:nvPr/>
        </p:nvSpPr>
        <p:spPr>
          <a:xfrm>
            <a:off x="3072384" y="2724912"/>
            <a:ext cx="2688336" cy="502920"/>
          </a:xfrm>
          <a:prstGeom prst="rect">
            <a:avLst/>
          </a:prstGeom>
          <a:noFill/>
          <a:ln/>
        </p:spPr>
        <p:txBody>
          <a:bodyPr wrap="square" lIns="0" tIns="0" rIns="0" bIns="0" rtlCol="0" anchor="ctr"/>
          <a:lstStyle/>
          <a:p>
            <a:pPr indent="0" marL="0">
              <a:buNone/>
            </a:pPr>
            <a:endParaRPr lang="en-US" sz="1300" dirty="0"/>
          </a:p>
        </p:txBody>
      </p:sp>
      <p:sp>
        <p:nvSpPr>
          <p:cNvPr id="44" name="cellbox|b3"/>
          <p:cNvSpPr/>
          <p:nvPr/>
        </p:nvSpPr>
        <p:spPr>
          <a:xfrm>
            <a:off x="5852160" y="2724912"/>
            <a:ext cx="2798064" cy="502920"/>
          </a:xfrm>
          <a:prstGeom prst="rect">
            <a:avLst/>
          </a:prstGeom>
          <a:solidFill>
            <a:srgbClr val="F1F4F8"/>
          </a:solidFill>
          <a:ln w="12700">
            <a:solidFill>
              <a:srgbClr val="F1F4F8"/>
            </a:solidFill>
            <a:prstDash val="solid"/>
          </a:ln>
        </p:spPr>
      </p:sp>
      <p:sp>
        <p:nvSpPr>
          <p:cNvPr id="45" name="v:ForStatement:0:2:out|b3"/>
          <p:cNvSpPr txBox="1"/>
          <p:nvPr/>
        </p:nvSpPr>
        <p:spPr>
          <a:xfrm>
            <a:off x="5907024" y="2724912"/>
            <a:ext cx="26883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6</a:t>
            </a:r>
            <a:endParaRPr lang="en-US" sz="1300" dirty="0"/>
          </a:p>
        </p:txBody>
      </p:sp>
      <p:sp>
        <p:nvSpPr>
          <p:cNvPr id="46" name="say"/>
          <p:cNvSpPr txBox="1"/>
          <p:nvPr/>
        </p:nvSpPr>
        <p:spPr>
          <a:xfrm>
            <a:off x="457200" y="356616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pass of the block: n is assigned the next item, then the block runs. Values are shown as the block starts. The loop ended because range(1, 4) had nothing left — no test was ever written.</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range(5) makes five values — and never reaches 5</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end is never part of the sequence</a:t>
            </a:r>
            <a:endParaRPr lang="en-US" sz="1400" dirty="0"/>
          </a:p>
        </p:txBody>
      </p:sp>
      <p:sp>
        <p:nvSpPr>
          <p:cNvPr id="6" name="arrow"/>
          <p:cNvSpPr/>
          <p:nvPr/>
        </p:nvSpPr>
        <p:spPr>
          <a:xfrm>
            <a:off x="731520" y="1965960"/>
            <a:ext cx="7680960" cy="0"/>
          </a:xfrm>
          <a:prstGeom prst="line">
            <a:avLst/>
          </a:prstGeom>
          <a:noFill/>
          <a:ln w="25400">
            <a:solidFill>
              <a:srgbClr val="9AA8B8"/>
            </a:solidFill>
            <a:prstDash val="solid"/>
          </a:ln>
        </p:spPr>
      </p:sp>
      <p:sp>
        <p:nvSpPr>
          <p:cNvPr id="7" name="tick0"/>
          <p:cNvSpPr txBox="1"/>
          <p:nvPr/>
        </p:nvSpPr>
        <p:spPr>
          <a:xfrm>
            <a:off x="13430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8" name="arrow"/>
          <p:cNvSpPr/>
          <p:nvPr/>
        </p:nvSpPr>
        <p:spPr>
          <a:xfrm>
            <a:off x="1571625" y="1920240"/>
            <a:ext cx="0" cy="91440"/>
          </a:xfrm>
          <a:prstGeom prst="line">
            <a:avLst/>
          </a:prstGeom>
          <a:noFill/>
          <a:ln w="12700">
            <a:solidFill>
              <a:srgbClr val="9AA8B8"/>
            </a:solidFill>
            <a:prstDash val="solid"/>
          </a:ln>
        </p:spPr>
      </p:sp>
      <p:sp>
        <p:nvSpPr>
          <p:cNvPr id="9" name="tick1"/>
          <p:cNvSpPr txBox="1"/>
          <p:nvPr/>
        </p:nvSpPr>
        <p:spPr>
          <a:xfrm>
            <a:off x="25431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10" name="arrow"/>
          <p:cNvSpPr/>
          <p:nvPr/>
        </p:nvSpPr>
        <p:spPr>
          <a:xfrm>
            <a:off x="2771775" y="1920240"/>
            <a:ext cx="0" cy="91440"/>
          </a:xfrm>
          <a:prstGeom prst="line">
            <a:avLst/>
          </a:prstGeom>
          <a:noFill/>
          <a:ln w="12700">
            <a:solidFill>
              <a:srgbClr val="9AA8B8"/>
            </a:solidFill>
            <a:prstDash val="solid"/>
          </a:ln>
        </p:spPr>
      </p:sp>
      <p:sp>
        <p:nvSpPr>
          <p:cNvPr id="11" name="tick2"/>
          <p:cNvSpPr txBox="1"/>
          <p:nvPr/>
        </p:nvSpPr>
        <p:spPr>
          <a:xfrm>
            <a:off x="37433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12" name="arrow"/>
          <p:cNvSpPr/>
          <p:nvPr/>
        </p:nvSpPr>
        <p:spPr>
          <a:xfrm>
            <a:off x="3971925" y="1920240"/>
            <a:ext cx="0" cy="91440"/>
          </a:xfrm>
          <a:prstGeom prst="line">
            <a:avLst/>
          </a:prstGeom>
          <a:noFill/>
          <a:ln w="12700">
            <a:solidFill>
              <a:srgbClr val="9AA8B8"/>
            </a:solidFill>
            <a:prstDash val="solid"/>
          </a:ln>
        </p:spPr>
      </p:sp>
      <p:sp>
        <p:nvSpPr>
          <p:cNvPr id="13" name="tick3"/>
          <p:cNvSpPr txBox="1"/>
          <p:nvPr/>
        </p:nvSpPr>
        <p:spPr>
          <a:xfrm>
            <a:off x="49434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14" name="arrow"/>
          <p:cNvSpPr/>
          <p:nvPr/>
        </p:nvSpPr>
        <p:spPr>
          <a:xfrm>
            <a:off x="5172075" y="1920240"/>
            <a:ext cx="0" cy="91440"/>
          </a:xfrm>
          <a:prstGeom prst="line">
            <a:avLst/>
          </a:prstGeom>
          <a:noFill/>
          <a:ln w="12700">
            <a:solidFill>
              <a:srgbClr val="9AA8B8"/>
            </a:solidFill>
            <a:prstDash val="solid"/>
          </a:ln>
        </p:spPr>
      </p:sp>
      <p:sp>
        <p:nvSpPr>
          <p:cNvPr id="15" name="tick4"/>
          <p:cNvSpPr txBox="1"/>
          <p:nvPr/>
        </p:nvSpPr>
        <p:spPr>
          <a:xfrm>
            <a:off x="61436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16" name="arrow"/>
          <p:cNvSpPr/>
          <p:nvPr/>
        </p:nvSpPr>
        <p:spPr>
          <a:xfrm>
            <a:off x="6372225" y="1920240"/>
            <a:ext cx="0" cy="91440"/>
          </a:xfrm>
          <a:prstGeom prst="line">
            <a:avLst/>
          </a:prstGeom>
          <a:noFill/>
          <a:ln w="12700">
            <a:solidFill>
              <a:srgbClr val="9AA8B8"/>
            </a:solidFill>
            <a:prstDash val="solid"/>
          </a:ln>
        </p:spPr>
      </p:sp>
      <p:sp>
        <p:nvSpPr>
          <p:cNvPr id="17" name="tick5"/>
          <p:cNvSpPr txBox="1"/>
          <p:nvPr/>
        </p:nvSpPr>
        <p:spPr>
          <a:xfrm>
            <a:off x="73437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18" name="arrow"/>
          <p:cNvSpPr/>
          <p:nvPr/>
        </p:nvSpPr>
        <p:spPr>
          <a:xfrm>
            <a:off x="7572375" y="1920240"/>
            <a:ext cx="0" cy="91440"/>
          </a:xfrm>
          <a:prstGeom prst="line">
            <a:avLst/>
          </a:prstGeom>
          <a:noFill/>
          <a:ln w="12700">
            <a:solidFill>
              <a:srgbClr val="9AA8B8"/>
            </a:solidFill>
            <a:prstDash val="solid"/>
          </a:ln>
        </p:spPr>
      </p:sp>
      <p:sp>
        <p:nvSpPr>
          <p:cNvPr id="19" name="v:RangeStop:dot0|b1"/>
          <p:cNvSpPr/>
          <p:nvPr/>
        </p:nvSpPr>
        <p:spPr>
          <a:xfrm>
            <a:off x="1416177" y="1810512"/>
            <a:ext cx="310896" cy="310896"/>
          </a:xfrm>
          <a:prstGeom prst="ellipse">
            <a:avLst/>
          </a:prstGeom>
          <a:solidFill>
            <a:srgbClr val="306998"/>
          </a:solidFill>
          <a:ln w="12700">
            <a:solidFill>
              <a:srgbClr val="306998"/>
            </a:solidFill>
            <a:prstDash val="solid"/>
          </a:ln>
        </p:spPr>
      </p:sp>
      <p:sp>
        <p:nvSpPr>
          <p:cNvPr id="20" name="v:RangeStop:val0|b1"/>
          <p:cNvSpPr txBox="1"/>
          <p:nvPr/>
        </p:nvSpPr>
        <p:spPr>
          <a:xfrm>
            <a:off x="14161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21" name="v:RangeStop:dot1|b2"/>
          <p:cNvSpPr/>
          <p:nvPr/>
        </p:nvSpPr>
        <p:spPr>
          <a:xfrm>
            <a:off x="2616327" y="1810512"/>
            <a:ext cx="310896" cy="310896"/>
          </a:xfrm>
          <a:prstGeom prst="ellipse">
            <a:avLst/>
          </a:prstGeom>
          <a:solidFill>
            <a:srgbClr val="306998"/>
          </a:solidFill>
          <a:ln w="12700">
            <a:solidFill>
              <a:srgbClr val="306998"/>
            </a:solidFill>
            <a:prstDash val="solid"/>
          </a:ln>
        </p:spPr>
      </p:sp>
      <p:sp>
        <p:nvSpPr>
          <p:cNvPr id="22" name="v:RangeStop:val1|b2"/>
          <p:cNvSpPr txBox="1"/>
          <p:nvPr/>
        </p:nvSpPr>
        <p:spPr>
          <a:xfrm>
            <a:off x="26163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v:RangeStop:dot2|b3"/>
          <p:cNvSpPr/>
          <p:nvPr/>
        </p:nvSpPr>
        <p:spPr>
          <a:xfrm>
            <a:off x="3816477" y="1810512"/>
            <a:ext cx="310896" cy="310896"/>
          </a:xfrm>
          <a:prstGeom prst="ellipse">
            <a:avLst/>
          </a:prstGeom>
          <a:solidFill>
            <a:srgbClr val="306998"/>
          </a:solidFill>
          <a:ln w="12700">
            <a:solidFill>
              <a:srgbClr val="306998"/>
            </a:solidFill>
            <a:prstDash val="solid"/>
          </a:ln>
        </p:spPr>
      </p:sp>
      <p:sp>
        <p:nvSpPr>
          <p:cNvPr id="24" name="v:RangeStop:val2|b3"/>
          <p:cNvSpPr txBox="1"/>
          <p:nvPr/>
        </p:nvSpPr>
        <p:spPr>
          <a:xfrm>
            <a:off x="38164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v:RangeStop:dot3|b4"/>
          <p:cNvSpPr/>
          <p:nvPr/>
        </p:nvSpPr>
        <p:spPr>
          <a:xfrm>
            <a:off x="5016627" y="1810512"/>
            <a:ext cx="310896" cy="310896"/>
          </a:xfrm>
          <a:prstGeom prst="ellipse">
            <a:avLst/>
          </a:prstGeom>
          <a:solidFill>
            <a:srgbClr val="306998"/>
          </a:solidFill>
          <a:ln w="12700">
            <a:solidFill>
              <a:srgbClr val="306998"/>
            </a:solidFill>
            <a:prstDash val="solid"/>
          </a:ln>
        </p:spPr>
      </p:sp>
      <p:sp>
        <p:nvSpPr>
          <p:cNvPr id="26" name="v:RangeStop:val3|b4"/>
          <p:cNvSpPr txBox="1"/>
          <p:nvPr/>
        </p:nvSpPr>
        <p:spPr>
          <a:xfrm>
            <a:off x="50166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v:RangeStop:dot4|b5"/>
          <p:cNvSpPr/>
          <p:nvPr/>
        </p:nvSpPr>
        <p:spPr>
          <a:xfrm>
            <a:off x="6216777" y="1810512"/>
            <a:ext cx="310896" cy="310896"/>
          </a:xfrm>
          <a:prstGeom prst="ellipse">
            <a:avLst/>
          </a:prstGeom>
          <a:solidFill>
            <a:srgbClr val="306998"/>
          </a:solidFill>
          <a:ln w="12700">
            <a:solidFill>
              <a:srgbClr val="306998"/>
            </a:solidFill>
            <a:prstDash val="solid"/>
          </a:ln>
        </p:spPr>
      </p:sp>
      <p:sp>
        <p:nvSpPr>
          <p:cNvPr id="28" name="v:RangeStop:val4|b5"/>
          <p:cNvSpPr txBox="1"/>
          <p:nvPr/>
        </p:nvSpPr>
        <p:spPr>
          <a:xfrm>
            <a:off x="62167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v:RangeStop:stopdot|b6"/>
          <p:cNvSpPr/>
          <p:nvPr/>
        </p:nvSpPr>
        <p:spPr>
          <a:xfrm>
            <a:off x="7416927" y="1810512"/>
            <a:ext cx="310896" cy="310896"/>
          </a:xfrm>
          <a:prstGeom prst="ellipse">
            <a:avLst/>
          </a:prstGeom>
          <a:solidFill>
            <a:srgbClr val="FFFFFF"/>
          </a:solidFill>
          <a:ln w="25400">
            <a:solidFill>
              <a:srgbClr val="D64545"/>
            </a:solidFill>
            <a:prstDash val="dash"/>
          </a:ln>
        </p:spPr>
      </p:sp>
      <p:sp>
        <p:nvSpPr>
          <p:cNvPr id="30" name="v:RangeStop:stop|b6"/>
          <p:cNvSpPr txBox="1"/>
          <p:nvPr/>
        </p:nvSpPr>
        <p:spPr>
          <a:xfrm>
            <a:off x="6657975" y="14447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5 — never included</a:t>
            </a:r>
            <a:endParaRPr lang="en-US" sz="1100" dirty="0"/>
          </a:p>
        </p:txBody>
      </p:sp>
      <p:sp>
        <p:nvSpPr>
          <p:cNvPr id="31" name="v:RangeStop:call"/>
          <p:cNvSpPr txBox="1"/>
          <p:nvPr/>
        </p:nvSpPr>
        <p:spPr>
          <a:xfrm>
            <a:off x="731520" y="23774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 5 values</a:t>
            </a:r>
            <a:endParaRPr lang="en-US" sz="1400" dirty="0"/>
          </a:p>
        </p:txBody>
      </p:sp>
      <p:sp>
        <p:nvSpPr>
          <p:cNvPr id="32" name="say"/>
          <p:cNvSpPr txBox="1"/>
          <p:nvPr/>
        </p:nvSpPr>
        <p:spPr>
          <a:xfrm>
            <a:off x="457200" y="3108960"/>
            <a:ext cx="8229600" cy="6400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One argument: start at 0, stop before the argument. Count the dots: five values, because the counting starts at 0.</a:t>
            </a:r>
            <a:endParaRPr lang="en-US" sz="1600" dirty="0"/>
          </a:p>
        </p:txBody>
      </p:sp>
      <p:sp>
        <p:nvSpPr>
          <p:cNvPr id="33" name="card|b7"/>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34" name="cardhead|b7"/>
          <p:cNvSpPr txBox="1"/>
          <p:nvPr/>
        </p:nvSpPr>
        <p:spPr>
          <a:xfrm>
            <a:off x="621792" y="3840480"/>
            <a:ext cx="79004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The mistake to avoid</a:t>
            </a:r>
            <a:endParaRPr lang="en-US" sz="1500" dirty="0"/>
          </a:p>
        </p:txBody>
      </p:sp>
      <p:sp>
        <p:nvSpPr>
          <p:cNvPr id="35" name="cardbody|b7"/>
          <p:cNvSpPr txBox="1"/>
          <p:nvPr/>
        </p:nvSpPr>
        <p:spPr>
          <a:xfrm>
            <a:off x="621792" y="4169664"/>
            <a:ext cx="7900416"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Expecting range(5) to include 5. It never does — the hollow marker is where the sequence stops, not a value in it.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400"/>
                                        <p:tgtEl>
                                          <p:spTgt spid="3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400"/>
                                        <p:tgtEl>
                                          <p:spTgt spid="3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4" grpId="0" animBg="1"/>
      <p:bldP spid="26" grpId="0" animBg="1"/>
      <p:bldP spid="28" grpId="0" animBg="1"/>
      <p:bldP spid="30" grpId="0" animBg="1"/>
      <p:bldP spid="34" grpId="0" animBg="1"/>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and three arguments move the start and the step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start, stop, step — and a negative step counts down</a:t>
            </a:r>
            <a:endParaRPr lang="en-US" sz="1400" dirty="0"/>
          </a:p>
        </p:txBody>
      </p:sp>
      <p:sp>
        <p:nvSpPr>
          <p:cNvPr id="6" name="arrow"/>
          <p:cNvSpPr/>
          <p:nvPr/>
        </p:nvSpPr>
        <p:spPr>
          <a:xfrm>
            <a:off x="731520" y="1691640"/>
            <a:ext cx="7680960" cy="0"/>
          </a:xfrm>
          <a:prstGeom prst="line">
            <a:avLst/>
          </a:prstGeom>
          <a:noFill/>
          <a:ln w="25400">
            <a:solidFill>
              <a:srgbClr val="9AA8B8"/>
            </a:solidFill>
            <a:prstDash val="solid"/>
          </a:ln>
        </p:spPr>
      </p:sp>
      <p:sp>
        <p:nvSpPr>
          <p:cNvPr id="7" name="tick12"/>
          <p:cNvSpPr txBox="1"/>
          <p:nvPr/>
        </p:nvSpPr>
        <p:spPr>
          <a:xfrm>
            <a:off x="14986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12</a:t>
            </a:r>
            <a:endParaRPr lang="en-US" sz="1100" dirty="0"/>
          </a:p>
        </p:txBody>
      </p:sp>
      <p:sp>
        <p:nvSpPr>
          <p:cNvPr id="8" name="arrow"/>
          <p:cNvSpPr/>
          <p:nvPr/>
        </p:nvSpPr>
        <p:spPr>
          <a:xfrm>
            <a:off x="1727200" y="1645920"/>
            <a:ext cx="0" cy="91440"/>
          </a:xfrm>
          <a:prstGeom prst="line">
            <a:avLst/>
          </a:prstGeom>
          <a:noFill/>
          <a:ln w="12700">
            <a:solidFill>
              <a:srgbClr val="9AA8B8"/>
            </a:solidFill>
            <a:prstDash val="solid"/>
          </a:ln>
        </p:spPr>
      </p:sp>
      <p:sp>
        <p:nvSpPr>
          <p:cNvPr id="9" name="tick13"/>
          <p:cNvSpPr txBox="1"/>
          <p:nvPr/>
        </p:nvSpPr>
        <p:spPr>
          <a:xfrm>
            <a:off x="29210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13</a:t>
            </a:r>
            <a:endParaRPr lang="en-US" sz="1100" dirty="0"/>
          </a:p>
        </p:txBody>
      </p:sp>
      <p:sp>
        <p:nvSpPr>
          <p:cNvPr id="10" name="arrow"/>
          <p:cNvSpPr/>
          <p:nvPr/>
        </p:nvSpPr>
        <p:spPr>
          <a:xfrm>
            <a:off x="3149600" y="1645920"/>
            <a:ext cx="0" cy="91440"/>
          </a:xfrm>
          <a:prstGeom prst="line">
            <a:avLst/>
          </a:prstGeom>
          <a:noFill/>
          <a:ln w="12700">
            <a:solidFill>
              <a:srgbClr val="9AA8B8"/>
            </a:solidFill>
            <a:prstDash val="solid"/>
          </a:ln>
        </p:spPr>
      </p:sp>
      <p:sp>
        <p:nvSpPr>
          <p:cNvPr id="11" name="tick14"/>
          <p:cNvSpPr txBox="1"/>
          <p:nvPr/>
        </p:nvSpPr>
        <p:spPr>
          <a:xfrm>
            <a:off x="43434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14</a:t>
            </a:r>
            <a:endParaRPr lang="en-US" sz="1100" dirty="0"/>
          </a:p>
        </p:txBody>
      </p:sp>
      <p:sp>
        <p:nvSpPr>
          <p:cNvPr id="12" name="arrow"/>
          <p:cNvSpPr/>
          <p:nvPr/>
        </p:nvSpPr>
        <p:spPr>
          <a:xfrm>
            <a:off x="4572000" y="1645920"/>
            <a:ext cx="0" cy="91440"/>
          </a:xfrm>
          <a:prstGeom prst="line">
            <a:avLst/>
          </a:prstGeom>
          <a:noFill/>
          <a:ln w="12700">
            <a:solidFill>
              <a:srgbClr val="9AA8B8"/>
            </a:solidFill>
            <a:prstDash val="solid"/>
          </a:ln>
        </p:spPr>
      </p:sp>
      <p:sp>
        <p:nvSpPr>
          <p:cNvPr id="13" name="tick15"/>
          <p:cNvSpPr txBox="1"/>
          <p:nvPr/>
        </p:nvSpPr>
        <p:spPr>
          <a:xfrm>
            <a:off x="57658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15</a:t>
            </a:r>
            <a:endParaRPr lang="en-US" sz="1100" dirty="0"/>
          </a:p>
        </p:txBody>
      </p:sp>
      <p:sp>
        <p:nvSpPr>
          <p:cNvPr id="14" name="arrow"/>
          <p:cNvSpPr/>
          <p:nvPr/>
        </p:nvSpPr>
        <p:spPr>
          <a:xfrm>
            <a:off x="5994400" y="1645920"/>
            <a:ext cx="0" cy="91440"/>
          </a:xfrm>
          <a:prstGeom prst="line">
            <a:avLst/>
          </a:prstGeom>
          <a:noFill/>
          <a:ln w="12700">
            <a:solidFill>
              <a:srgbClr val="9AA8B8"/>
            </a:solidFill>
            <a:prstDash val="solid"/>
          </a:ln>
        </p:spPr>
      </p:sp>
      <p:sp>
        <p:nvSpPr>
          <p:cNvPr id="15" name="tick16"/>
          <p:cNvSpPr txBox="1"/>
          <p:nvPr/>
        </p:nvSpPr>
        <p:spPr>
          <a:xfrm>
            <a:off x="71882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16</a:t>
            </a:r>
            <a:endParaRPr lang="en-US" sz="1100" dirty="0"/>
          </a:p>
        </p:txBody>
      </p:sp>
      <p:sp>
        <p:nvSpPr>
          <p:cNvPr id="16" name="arrow"/>
          <p:cNvSpPr/>
          <p:nvPr/>
        </p:nvSpPr>
        <p:spPr>
          <a:xfrm>
            <a:off x="7416800" y="1645920"/>
            <a:ext cx="0" cy="91440"/>
          </a:xfrm>
          <a:prstGeom prst="line">
            <a:avLst/>
          </a:prstGeom>
          <a:noFill/>
          <a:ln w="12700">
            <a:solidFill>
              <a:srgbClr val="9AA8B8"/>
            </a:solidFill>
            <a:prstDash val="solid"/>
          </a:ln>
        </p:spPr>
      </p:sp>
      <p:sp>
        <p:nvSpPr>
          <p:cNvPr id="17" name="v:RangeStartStop:dot0"/>
          <p:cNvSpPr/>
          <p:nvPr/>
        </p:nvSpPr>
        <p:spPr>
          <a:xfrm>
            <a:off x="1571752" y="1536192"/>
            <a:ext cx="310896" cy="310896"/>
          </a:xfrm>
          <a:prstGeom prst="ellipse">
            <a:avLst/>
          </a:prstGeom>
          <a:solidFill>
            <a:srgbClr val="306998"/>
          </a:solidFill>
          <a:ln w="12700">
            <a:solidFill>
              <a:srgbClr val="306998"/>
            </a:solidFill>
            <a:prstDash val="solid"/>
          </a:ln>
        </p:spPr>
      </p:sp>
      <p:sp>
        <p:nvSpPr>
          <p:cNvPr id="18" name="v:RangeStartStop:val0"/>
          <p:cNvSpPr txBox="1"/>
          <p:nvPr/>
        </p:nvSpPr>
        <p:spPr>
          <a:xfrm>
            <a:off x="15717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19" name="v:RangeStartStop:dot1"/>
          <p:cNvSpPr/>
          <p:nvPr/>
        </p:nvSpPr>
        <p:spPr>
          <a:xfrm>
            <a:off x="2994152" y="1536192"/>
            <a:ext cx="310896" cy="310896"/>
          </a:xfrm>
          <a:prstGeom prst="ellipse">
            <a:avLst/>
          </a:prstGeom>
          <a:solidFill>
            <a:srgbClr val="306998"/>
          </a:solidFill>
          <a:ln w="12700">
            <a:solidFill>
              <a:srgbClr val="306998"/>
            </a:solidFill>
            <a:prstDash val="solid"/>
          </a:ln>
        </p:spPr>
      </p:sp>
      <p:sp>
        <p:nvSpPr>
          <p:cNvPr id="20" name="v:RangeStartStop:val1"/>
          <p:cNvSpPr txBox="1"/>
          <p:nvPr/>
        </p:nvSpPr>
        <p:spPr>
          <a:xfrm>
            <a:off x="29941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21" name="v:RangeStartStop:dot2"/>
          <p:cNvSpPr/>
          <p:nvPr/>
        </p:nvSpPr>
        <p:spPr>
          <a:xfrm>
            <a:off x="4416552" y="1536192"/>
            <a:ext cx="310896" cy="310896"/>
          </a:xfrm>
          <a:prstGeom prst="ellipse">
            <a:avLst/>
          </a:prstGeom>
          <a:solidFill>
            <a:srgbClr val="306998"/>
          </a:solidFill>
          <a:ln w="12700">
            <a:solidFill>
              <a:srgbClr val="306998"/>
            </a:solidFill>
            <a:prstDash val="solid"/>
          </a:ln>
        </p:spPr>
      </p:sp>
      <p:sp>
        <p:nvSpPr>
          <p:cNvPr id="22" name="v:RangeStartStop:val2"/>
          <p:cNvSpPr txBox="1"/>
          <p:nvPr/>
        </p:nvSpPr>
        <p:spPr>
          <a:xfrm>
            <a:off x="44165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23" name="v:RangeStartStop:dot3"/>
          <p:cNvSpPr/>
          <p:nvPr/>
        </p:nvSpPr>
        <p:spPr>
          <a:xfrm>
            <a:off x="5838952" y="1536192"/>
            <a:ext cx="310896" cy="310896"/>
          </a:xfrm>
          <a:prstGeom prst="ellipse">
            <a:avLst/>
          </a:prstGeom>
          <a:solidFill>
            <a:srgbClr val="306998"/>
          </a:solidFill>
          <a:ln w="12700">
            <a:solidFill>
              <a:srgbClr val="306998"/>
            </a:solidFill>
            <a:prstDash val="solid"/>
          </a:ln>
        </p:spPr>
      </p:sp>
      <p:sp>
        <p:nvSpPr>
          <p:cNvPr id="24" name="v:RangeStartStop:val3"/>
          <p:cNvSpPr txBox="1"/>
          <p:nvPr/>
        </p:nvSpPr>
        <p:spPr>
          <a:xfrm>
            <a:off x="58389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25" name="v:RangeStartStop:stopdot"/>
          <p:cNvSpPr/>
          <p:nvPr/>
        </p:nvSpPr>
        <p:spPr>
          <a:xfrm>
            <a:off x="7261352" y="1536192"/>
            <a:ext cx="310896" cy="310896"/>
          </a:xfrm>
          <a:prstGeom prst="ellipse">
            <a:avLst/>
          </a:prstGeom>
          <a:solidFill>
            <a:srgbClr val="FFFFFF"/>
          </a:solidFill>
          <a:ln w="25400">
            <a:solidFill>
              <a:srgbClr val="D64545"/>
            </a:solidFill>
            <a:prstDash val="dash"/>
          </a:ln>
        </p:spPr>
      </p:sp>
      <p:sp>
        <p:nvSpPr>
          <p:cNvPr id="26" name="v:RangeStartStop:stop"/>
          <p:cNvSpPr txBox="1"/>
          <p:nvPr/>
        </p:nvSpPr>
        <p:spPr>
          <a:xfrm>
            <a:off x="6502400" y="117043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16 — never included</a:t>
            </a:r>
            <a:endParaRPr lang="en-US" sz="1100" dirty="0"/>
          </a:p>
        </p:txBody>
      </p:sp>
      <p:sp>
        <p:nvSpPr>
          <p:cNvPr id="27" name="v:RangeStartStop:call"/>
          <p:cNvSpPr txBox="1"/>
          <p:nvPr/>
        </p:nvSpPr>
        <p:spPr>
          <a:xfrm>
            <a:off x="731520" y="210312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range(12, 16) → 4 values</a:t>
            </a:r>
            <a:endParaRPr lang="en-US" sz="1400" dirty="0"/>
          </a:p>
        </p:txBody>
      </p:sp>
      <p:sp>
        <p:nvSpPr>
          <p:cNvPr id="28" name="arrow"/>
          <p:cNvSpPr/>
          <p:nvPr/>
        </p:nvSpPr>
        <p:spPr>
          <a:xfrm>
            <a:off x="731520" y="2880360"/>
            <a:ext cx="7680960" cy="0"/>
          </a:xfrm>
          <a:prstGeom prst="line">
            <a:avLst/>
          </a:prstGeom>
          <a:noFill/>
          <a:ln w="25400">
            <a:solidFill>
              <a:srgbClr val="9AA8B8"/>
            </a:solidFill>
            <a:prstDash val="solid"/>
          </a:ln>
        </p:spPr>
      </p:sp>
      <p:sp>
        <p:nvSpPr>
          <p:cNvPr id="29" name="tick0"/>
          <p:cNvSpPr txBox="1"/>
          <p:nvPr/>
        </p:nvSpPr>
        <p:spPr>
          <a:xfrm>
            <a:off x="97455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30" name="arrow"/>
          <p:cNvSpPr/>
          <p:nvPr/>
        </p:nvSpPr>
        <p:spPr>
          <a:xfrm>
            <a:off x="1203158" y="2834640"/>
            <a:ext cx="0" cy="91440"/>
          </a:xfrm>
          <a:prstGeom prst="line">
            <a:avLst/>
          </a:prstGeom>
          <a:noFill/>
          <a:ln w="12700">
            <a:solidFill>
              <a:srgbClr val="9AA8B8"/>
            </a:solidFill>
            <a:prstDash val="solid"/>
          </a:ln>
        </p:spPr>
      </p:sp>
      <p:sp>
        <p:nvSpPr>
          <p:cNvPr id="31" name="tick1"/>
          <p:cNvSpPr txBox="1"/>
          <p:nvPr/>
        </p:nvSpPr>
        <p:spPr>
          <a:xfrm>
            <a:off x="1648326"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32" name="arrow"/>
          <p:cNvSpPr/>
          <p:nvPr/>
        </p:nvSpPr>
        <p:spPr>
          <a:xfrm>
            <a:off x="1876926" y="2834640"/>
            <a:ext cx="0" cy="91440"/>
          </a:xfrm>
          <a:prstGeom prst="line">
            <a:avLst/>
          </a:prstGeom>
          <a:noFill/>
          <a:ln w="12700">
            <a:solidFill>
              <a:srgbClr val="9AA8B8"/>
            </a:solidFill>
            <a:prstDash val="solid"/>
          </a:ln>
        </p:spPr>
      </p:sp>
      <p:sp>
        <p:nvSpPr>
          <p:cNvPr id="33" name="tick2"/>
          <p:cNvSpPr txBox="1"/>
          <p:nvPr/>
        </p:nvSpPr>
        <p:spPr>
          <a:xfrm>
            <a:off x="232209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34" name="arrow"/>
          <p:cNvSpPr/>
          <p:nvPr/>
        </p:nvSpPr>
        <p:spPr>
          <a:xfrm>
            <a:off x="2550695" y="2834640"/>
            <a:ext cx="0" cy="91440"/>
          </a:xfrm>
          <a:prstGeom prst="line">
            <a:avLst/>
          </a:prstGeom>
          <a:noFill/>
          <a:ln w="12700">
            <a:solidFill>
              <a:srgbClr val="9AA8B8"/>
            </a:solidFill>
            <a:prstDash val="solid"/>
          </a:ln>
        </p:spPr>
      </p:sp>
      <p:sp>
        <p:nvSpPr>
          <p:cNvPr id="35" name="tick3"/>
          <p:cNvSpPr txBox="1"/>
          <p:nvPr/>
        </p:nvSpPr>
        <p:spPr>
          <a:xfrm>
            <a:off x="2995863"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36" name="arrow"/>
          <p:cNvSpPr/>
          <p:nvPr/>
        </p:nvSpPr>
        <p:spPr>
          <a:xfrm>
            <a:off x="3224463" y="2834640"/>
            <a:ext cx="0" cy="91440"/>
          </a:xfrm>
          <a:prstGeom prst="line">
            <a:avLst/>
          </a:prstGeom>
          <a:noFill/>
          <a:ln w="12700">
            <a:solidFill>
              <a:srgbClr val="9AA8B8"/>
            </a:solidFill>
            <a:prstDash val="solid"/>
          </a:ln>
        </p:spPr>
      </p:sp>
      <p:sp>
        <p:nvSpPr>
          <p:cNvPr id="37" name="tick4"/>
          <p:cNvSpPr txBox="1"/>
          <p:nvPr/>
        </p:nvSpPr>
        <p:spPr>
          <a:xfrm>
            <a:off x="366963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38" name="arrow"/>
          <p:cNvSpPr/>
          <p:nvPr/>
        </p:nvSpPr>
        <p:spPr>
          <a:xfrm>
            <a:off x="3898232" y="2834640"/>
            <a:ext cx="0" cy="91440"/>
          </a:xfrm>
          <a:prstGeom prst="line">
            <a:avLst/>
          </a:prstGeom>
          <a:noFill/>
          <a:ln w="12700">
            <a:solidFill>
              <a:srgbClr val="9AA8B8"/>
            </a:solidFill>
            <a:prstDash val="solid"/>
          </a:ln>
        </p:spPr>
      </p:sp>
      <p:sp>
        <p:nvSpPr>
          <p:cNvPr id="39" name="tick5"/>
          <p:cNvSpPr txBox="1"/>
          <p:nvPr/>
        </p:nvSpPr>
        <p:spPr>
          <a:xfrm>
            <a:off x="4343400"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40" name="arrow"/>
          <p:cNvSpPr/>
          <p:nvPr/>
        </p:nvSpPr>
        <p:spPr>
          <a:xfrm>
            <a:off x="4572000" y="2834640"/>
            <a:ext cx="0" cy="91440"/>
          </a:xfrm>
          <a:prstGeom prst="line">
            <a:avLst/>
          </a:prstGeom>
          <a:noFill/>
          <a:ln w="12700">
            <a:solidFill>
              <a:srgbClr val="9AA8B8"/>
            </a:solidFill>
            <a:prstDash val="solid"/>
          </a:ln>
        </p:spPr>
      </p:sp>
      <p:sp>
        <p:nvSpPr>
          <p:cNvPr id="41" name="tick6"/>
          <p:cNvSpPr txBox="1"/>
          <p:nvPr/>
        </p:nvSpPr>
        <p:spPr>
          <a:xfrm>
            <a:off x="501716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6</a:t>
            </a:r>
            <a:endParaRPr lang="en-US" sz="1100" dirty="0"/>
          </a:p>
        </p:txBody>
      </p:sp>
      <p:sp>
        <p:nvSpPr>
          <p:cNvPr id="42" name="arrow"/>
          <p:cNvSpPr/>
          <p:nvPr/>
        </p:nvSpPr>
        <p:spPr>
          <a:xfrm>
            <a:off x="5245768" y="2834640"/>
            <a:ext cx="0" cy="91440"/>
          </a:xfrm>
          <a:prstGeom prst="line">
            <a:avLst/>
          </a:prstGeom>
          <a:noFill/>
          <a:ln w="12700">
            <a:solidFill>
              <a:srgbClr val="9AA8B8"/>
            </a:solidFill>
            <a:prstDash val="solid"/>
          </a:ln>
        </p:spPr>
      </p:sp>
      <p:sp>
        <p:nvSpPr>
          <p:cNvPr id="43" name="tick7"/>
          <p:cNvSpPr txBox="1"/>
          <p:nvPr/>
        </p:nvSpPr>
        <p:spPr>
          <a:xfrm>
            <a:off x="5690937"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7</a:t>
            </a:r>
            <a:endParaRPr lang="en-US" sz="1100" dirty="0"/>
          </a:p>
        </p:txBody>
      </p:sp>
      <p:sp>
        <p:nvSpPr>
          <p:cNvPr id="44" name="arrow"/>
          <p:cNvSpPr/>
          <p:nvPr/>
        </p:nvSpPr>
        <p:spPr>
          <a:xfrm>
            <a:off x="5919537" y="2834640"/>
            <a:ext cx="0" cy="91440"/>
          </a:xfrm>
          <a:prstGeom prst="line">
            <a:avLst/>
          </a:prstGeom>
          <a:noFill/>
          <a:ln w="12700">
            <a:solidFill>
              <a:srgbClr val="9AA8B8"/>
            </a:solidFill>
            <a:prstDash val="solid"/>
          </a:ln>
        </p:spPr>
      </p:sp>
      <p:sp>
        <p:nvSpPr>
          <p:cNvPr id="45" name="tick8"/>
          <p:cNvSpPr txBox="1"/>
          <p:nvPr/>
        </p:nvSpPr>
        <p:spPr>
          <a:xfrm>
            <a:off x="636470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8</a:t>
            </a:r>
            <a:endParaRPr lang="en-US" sz="1100" dirty="0"/>
          </a:p>
        </p:txBody>
      </p:sp>
      <p:sp>
        <p:nvSpPr>
          <p:cNvPr id="46" name="arrow"/>
          <p:cNvSpPr/>
          <p:nvPr/>
        </p:nvSpPr>
        <p:spPr>
          <a:xfrm>
            <a:off x="6593305" y="2834640"/>
            <a:ext cx="0" cy="91440"/>
          </a:xfrm>
          <a:prstGeom prst="line">
            <a:avLst/>
          </a:prstGeom>
          <a:noFill/>
          <a:ln w="12700">
            <a:solidFill>
              <a:srgbClr val="9AA8B8"/>
            </a:solidFill>
            <a:prstDash val="solid"/>
          </a:ln>
        </p:spPr>
      </p:sp>
      <p:sp>
        <p:nvSpPr>
          <p:cNvPr id="47" name="tick9"/>
          <p:cNvSpPr txBox="1"/>
          <p:nvPr/>
        </p:nvSpPr>
        <p:spPr>
          <a:xfrm>
            <a:off x="7038474"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9</a:t>
            </a:r>
            <a:endParaRPr lang="en-US" sz="1100" dirty="0"/>
          </a:p>
        </p:txBody>
      </p:sp>
      <p:sp>
        <p:nvSpPr>
          <p:cNvPr id="48" name="arrow"/>
          <p:cNvSpPr/>
          <p:nvPr/>
        </p:nvSpPr>
        <p:spPr>
          <a:xfrm>
            <a:off x="7267074" y="2834640"/>
            <a:ext cx="0" cy="91440"/>
          </a:xfrm>
          <a:prstGeom prst="line">
            <a:avLst/>
          </a:prstGeom>
          <a:noFill/>
          <a:ln w="12700">
            <a:solidFill>
              <a:srgbClr val="9AA8B8"/>
            </a:solidFill>
            <a:prstDash val="solid"/>
          </a:ln>
        </p:spPr>
      </p:sp>
      <p:sp>
        <p:nvSpPr>
          <p:cNvPr id="49" name="tick10"/>
          <p:cNvSpPr txBox="1"/>
          <p:nvPr/>
        </p:nvSpPr>
        <p:spPr>
          <a:xfrm>
            <a:off x="771224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10</a:t>
            </a:r>
            <a:endParaRPr lang="en-US" sz="1100" dirty="0"/>
          </a:p>
        </p:txBody>
      </p:sp>
      <p:sp>
        <p:nvSpPr>
          <p:cNvPr id="50" name="arrow"/>
          <p:cNvSpPr/>
          <p:nvPr/>
        </p:nvSpPr>
        <p:spPr>
          <a:xfrm>
            <a:off x="7940842" y="2834640"/>
            <a:ext cx="0" cy="91440"/>
          </a:xfrm>
          <a:prstGeom prst="line">
            <a:avLst/>
          </a:prstGeom>
          <a:noFill/>
          <a:ln w="12700">
            <a:solidFill>
              <a:srgbClr val="9AA8B8"/>
            </a:solidFill>
            <a:prstDash val="solid"/>
          </a:ln>
        </p:spPr>
      </p:sp>
      <p:sp>
        <p:nvSpPr>
          <p:cNvPr id="51" name="v:RangeStep:dot0"/>
          <p:cNvSpPr/>
          <p:nvPr/>
        </p:nvSpPr>
        <p:spPr>
          <a:xfrm>
            <a:off x="1047710" y="2724912"/>
            <a:ext cx="310896" cy="310896"/>
          </a:xfrm>
          <a:prstGeom prst="ellipse">
            <a:avLst/>
          </a:prstGeom>
          <a:solidFill>
            <a:srgbClr val="306998"/>
          </a:solidFill>
          <a:ln w="12700">
            <a:solidFill>
              <a:srgbClr val="306998"/>
            </a:solidFill>
            <a:prstDash val="solid"/>
          </a:ln>
        </p:spPr>
      </p:sp>
      <p:sp>
        <p:nvSpPr>
          <p:cNvPr id="52" name="v:RangeStep:val0"/>
          <p:cNvSpPr txBox="1"/>
          <p:nvPr/>
        </p:nvSpPr>
        <p:spPr>
          <a:xfrm>
            <a:off x="104771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53" name="v:RangeStep:dot1"/>
          <p:cNvSpPr/>
          <p:nvPr/>
        </p:nvSpPr>
        <p:spPr>
          <a:xfrm>
            <a:off x="2395247" y="2724912"/>
            <a:ext cx="310896" cy="310896"/>
          </a:xfrm>
          <a:prstGeom prst="ellipse">
            <a:avLst/>
          </a:prstGeom>
          <a:solidFill>
            <a:srgbClr val="306998"/>
          </a:solidFill>
          <a:ln w="12700">
            <a:solidFill>
              <a:srgbClr val="306998"/>
            </a:solidFill>
            <a:prstDash val="solid"/>
          </a:ln>
        </p:spPr>
      </p:sp>
      <p:sp>
        <p:nvSpPr>
          <p:cNvPr id="54" name="v:RangeStep:val1"/>
          <p:cNvSpPr txBox="1"/>
          <p:nvPr/>
        </p:nvSpPr>
        <p:spPr>
          <a:xfrm>
            <a:off x="239524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5" name="v:RangeStep:dot2"/>
          <p:cNvSpPr/>
          <p:nvPr/>
        </p:nvSpPr>
        <p:spPr>
          <a:xfrm>
            <a:off x="3742784" y="2724912"/>
            <a:ext cx="310896" cy="310896"/>
          </a:xfrm>
          <a:prstGeom prst="ellipse">
            <a:avLst/>
          </a:prstGeom>
          <a:solidFill>
            <a:srgbClr val="306998"/>
          </a:solidFill>
          <a:ln w="12700">
            <a:solidFill>
              <a:srgbClr val="306998"/>
            </a:solidFill>
            <a:prstDash val="solid"/>
          </a:ln>
        </p:spPr>
      </p:sp>
      <p:sp>
        <p:nvSpPr>
          <p:cNvPr id="56" name="v:RangeStep:val2"/>
          <p:cNvSpPr txBox="1"/>
          <p:nvPr/>
        </p:nvSpPr>
        <p:spPr>
          <a:xfrm>
            <a:off x="3742784"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v:RangeStep:dot3"/>
          <p:cNvSpPr/>
          <p:nvPr/>
        </p:nvSpPr>
        <p:spPr>
          <a:xfrm>
            <a:off x="5090320" y="2724912"/>
            <a:ext cx="310896" cy="310896"/>
          </a:xfrm>
          <a:prstGeom prst="ellipse">
            <a:avLst/>
          </a:prstGeom>
          <a:solidFill>
            <a:srgbClr val="306998"/>
          </a:solidFill>
          <a:ln w="12700">
            <a:solidFill>
              <a:srgbClr val="306998"/>
            </a:solidFill>
            <a:prstDash val="solid"/>
          </a:ln>
        </p:spPr>
      </p:sp>
      <p:sp>
        <p:nvSpPr>
          <p:cNvPr id="58" name="v:RangeStep:val3"/>
          <p:cNvSpPr txBox="1"/>
          <p:nvPr/>
        </p:nvSpPr>
        <p:spPr>
          <a:xfrm>
            <a:off x="509032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9" name="v:RangeStep:dot4"/>
          <p:cNvSpPr/>
          <p:nvPr/>
        </p:nvSpPr>
        <p:spPr>
          <a:xfrm>
            <a:off x="6437857" y="2724912"/>
            <a:ext cx="310896" cy="310896"/>
          </a:xfrm>
          <a:prstGeom prst="ellipse">
            <a:avLst/>
          </a:prstGeom>
          <a:solidFill>
            <a:srgbClr val="306998"/>
          </a:solidFill>
          <a:ln w="12700">
            <a:solidFill>
              <a:srgbClr val="306998"/>
            </a:solidFill>
            <a:prstDash val="solid"/>
          </a:ln>
        </p:spPr>
      </p:sp>
      <p:sp>
        <p:nvSpPr>
          <p:cNvPr id="60" name="v:RangeStep:val4"/>
          <p:cNvSpPr txBox="1"/>
          <p:nvPr/>
        </p:nvSpPr>
        <p:spPr>
          <a:xfrm>
            <a:off x="643785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1" name="v:RangeStep:stopdot"/>
          <p:cNvSpPr/>
          <p:nvPr/>
        </p:nvSpPr>
        <p:spPr>
          <a:xfrm>
            <a:off x="7785394" y="2724912"/>
            <a:ext cx="310896" cy="310896"/>
          </a:xfrm>
          <a:prstGeom prst="ellipse">
            <a:avLst/>
          </a:prstGeom>
          <a:solidFill>
            <a:srgbClr val="FFFFFF"/>
          </a:solidFill>
          <a:ln w="25400">
            <a:solidFill>
              <a:srgbClr val="D64545"/>
            </a:solidFill>
            <a:prstDash val="dash"/>
          </a:ln>
        </p:spPr>
      </p:sp>
      <p:sp>
        <p:nvSpPr>
          <p:cNvPr id="62" name="v:RangeStep:stop"/>
          <p:cNvSpPr txBox="1"/>
          <p:nvPr/>
        </p:nvSpPr>
        <p:spPr>
          <a:xfrm>
            <a:off x="7026442" y="23591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10 — never included</a:t>
            </a:r>
            <a:endParaRPr lang="en-US" sz="1100" dirty="0"/>
          </a:p>
        </p:txBody>
      </p:sp>
      <p:sp>
        <p:nvSpPr>
          <p:cNvPr id="63" name="v:RangeStep:call"/>
          <p:cNvSpPr txBox="1"/>
          <p:nvPr/>
        </p:nvSpPr>
        <p:spPr>
          <a:xfrm>
            <a:off x="731520" y="32918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range(0, 10, 2) → 5 values</a:t>
            </a:r>
            <a:endParaRPr lang="en-US" sz="1400" dirty="0"/>
          </a:p>
        </p:txBody>
      </p:sp>
      <p:sp>
        <p:nvSpPr>
          <p:cNvPr id="64" name="arrow"/>
          <p:cNvSpPr/>
          <p:nvPr/>
        </p:nvSpPr>
        <p:spPr>
          <a:xfrm>
            <a:off x="731520" y="4069080"/>
            <a:ext cx="7680960" cy="0"/>
          </a:xfrm>
          <a:prstGeom prst="line">
            <a:avLst/>
          </a:prstGeom>
          <a:noFill/>
          <a:ln w="25400">
            <a:solidFill>
              <a:srgbClr val="9AA8B8"/>
            </a:solidFill>
            <a:prstDash val="solid"/>
          </a:ln>
        </p:spPr>
      </p:sp>
      <p:sp>
        <p:nvSpPr>
          <p:cNvPr id="65" name="tick-1"/>
          <p:cNvSpPr txBox="1"/>
          <p:nvPr/>
        </p:nvSpPr>
        <p:spPr>
          <a:xfrm>
            <a:off x="1229497"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66" name="arrow"/>
          <p:cNvSpPr/>
          <p:nvPr/>
        </p:nvSpPr>
        <p:spPr>
          <a:xfrm>
            <a:off x="1458097" y="4023360"/>
            <a:ext cx="0" cy="91440"/>
          </a:xfrm>
          <a:prstGeom prst="line">
            <a:avLst/>
          </a:prstGeom>
          <a:noFill/>
          <a:ln w="12700">
            <a:solidFill>
              <a:srgbClr val="9AA8B8"/>
            </a:solidFill>
            <a:prstDash val="solid"/>
          </a:ln>
        </p:spPr>
      </p:sp>
      <p:sp>
        <p:nvSpPr>
          <p:cNvPr id="67" name="tick0"/>
          <p:cNvSpPr txBox="1"/>
          <p:nvPr/>
        </p:nvSpPr>
        <p:spPr>
          <a:xfrm>
            <a:off x="226746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68" name="arrow"/>
          <p:cNvSpPr/>
          <p:nvPr/>
        </p:nvSpPr>
        <p:spPr>
          <a:xfrm>
            <a:off x="2496065" y="4023360"/>
            <a:ext cx="0" cy="91440"/>
          </a:xfrm>
          <a:prstGeom prst="line">
            <a:avLst/>
          </a:prstGeom>
          <a:noFill/>
          <a:ln w="12700">
            <a:solidFill>
              <a:srgbClr val="9AA8B8"/>
            </a:solidFill>
            <a:prstDash val="solid"/>
          </a:ln>
        </p:spPr>
      </p:sp>
      <p:sp>
        <p:nvSpPr>
          <p:cNvPr id="69" name="tick1"/>
          <p:cNvSpPr txBox="1"/>
          <p:nvPr/>
        </p:nvSpPr>
        <p:spPr>
          <a:xfrm>
            <a:off x="3305432"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70" name="arrow"/>
          <p:cNvSpPr/>
          <p:nvPr/>
        </p:nvSpPr>
        <p:spPr>
          <a:xfrm>
            <a:off x="3534032" y="4023360"/>
            <a:ext cx="0" cy="91440"/>
          </a:xfrm>
          <a:prstGeom prst="line">
            <a:avLst/>
          </a:prstGeom>
          <a:noFill/>
          <a:ln w="12700">
            <a:solidFill>
              <a:srgbClr val="9AA8B8"/>
            </a:solidFill>
            <a:prstDash val="solid"/>
          </a:ln>
        </p:spPr>
      </p:sp>
      <p:sp>
        <p:nvSpPr>
          <p:cNvPr id="71" name="tick2"/>
          <p:cNvSpPr txBox="1"/>
          <p:nvPr/>
        </p:nvSpPr>
        <p:spPr>
          <a:xfrm>
            <a:off x="4343400"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72" name="arrow"/>
          <p:cNvSpPr/>
          <p:nvPr/>
        </p:nvSpPr>
        <p:spPr>
          <a:xfrm>
            <a:off x="4572000" y="4023360"/>
            <a:ext cx="0" cy="91440"/>
          </a:xfrm>
          <a:prstGeom prst="line">
            <a:avLst/>
          </a:prstGeom>
          <a:noFill/>
          <a:ln w="12700">
            <a:solidFill>
              <a:srgbClr val="9AA8B8"/>
            </a:solidFill>
            <a:prstDash val="solid"/>
          </a:ln>
        </p:spPr>
      </p:sp>
      <p:sp>
        <p:nvSpPr>
          <p:cNvPr id="73" name="tick3"/>
          <p:cNvSpPr txBox="1"/>
          <p:nvPr/>
        </p:nvSpPr>
        <p:spPr>
          <a:xfrm>
            <a:off x="5381368"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74" name="arrow"/>
          <p:cNvSpPr/>
          <p:nvPr/>
        </p:nvSpPr>
        <p:spPr>
          <a:xfrm>
            <a:off x="5609968" y="4023360"/>
            <a:ext cx="0" cy="91440"/>
          </a:xfrm>
          <a:prstGeom prst="line">
            <a:avLst/>
          </a:prstGeom>
          <a:noFill/>
          <a:ln w="12700">
            <a:solidFill>
              <a:srgbClr val="9AA8B8"/>
            </a:solidFill>
            <a:prstDash val="solid"/>
          </a:ln>
        </p:spPr>
      </p:sp>
      <p:sp>
        <p:nvSpPr>
          <p:cNvPr id="75" name="tick4"/>
          <p:cNvSpPr txBox="1"/>
          <p:nvPr/>
        </p:nvSpPr>
        <p:spPr>
          <a:xfrm>
            <a:off x="641933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76" name="arrow"/>
          <p:cNvSpPr/>
          <p:nvPr/>
        </p:nvSpPr>
        <p:spPr>
          <a:xfrm>
            <a:off x="6647935" y="4023360"/>
            <a:ext cx="0" cy="91440"/>
          </a:xfrm>
          <a:prstGeom prst="line">
            <a:avLst/>
          </a:prstGeom>
          <a:noFill/>
          <a:ln w="12700">
            <a:solidFill>
              <a:srgbClr val="9AA8B8"/>
            </a:solidFill>
            <a:prstDash val="solid"/>
          </a:ln>
        </p:spPr>
      </p:sp>
      <p:sp>
        <p:nvSpPr>
          <p:cNvPr id="77" name="tick5"/>
          <p:cNvSpPr txBox="1"/>
          <p:nvPr/>
        </p:nvSpPr>
        <p:spPr>
          <a:xfrm>
            <a:off x="7457303"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78" name="arrow"/>
          <p:cNvSpPr/>
          <p:nvPr/>
        </p:nvSpPr>
        <p:spPr>
          <a:xfrm>
            <a:off x="7685903" y="4023360"/>
            <a:ext cx="0" cy="91440"/>
          </a:xfrm>
          <a:prstGeom prst="line">
            <a:avLst/>
          </a:prstGeom>
          <a:noFill/>
          <a:ln w="12700">
            <a:solidFill>
              <a:srgbClr val="9AA8B8"/>
            </a:solidFill>
            <a:prstDash val="solid"/>
          </a:ln>
        </p:spPr>
      </p:sp>
      <p:sp>
        <p:nvSpPr>
          <p:cNvPr id="79" name="v:RangeDescending:dot0"/>
          <p:cNvSpPr/>
          <p:nvPr/>
        </p:nvSpPr>
        <p:spPr>
          <a:xfrm>
            <a:off x="7530455" y="3913632"/>
            <a:ext cx="310896" cy="310896"/>
          </a:xfrm>
          <a:prstGeom prst="ellipse">
            <a:avLst/>
          </a:prstGeom>
          <a:solidFill>
            <a:srgbClr val="306998"/>
          </a:solidFill>
          <a:ln w="12700">
            <a:solidFill>
              <a:srgbClr val="306998"/>
            </a:solidFill>
            <a:prstDash val="solid"/>
          </a:ln>
        </p:spPr>
      </p:sp>
      <p:sp>
        <p:nvSpPr>
          <p:cNvPr id="80" name="v:RangeDescending:val0"/>
          <p:cNvSpPr txBox="1"/>
          <p:nvPr/>
        </p:nvSpPr>
        <p:spPr>
          <a:xfrm>
            <a:off x="7530455"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1" name="v:RangeDescending:dot1"/>
          <p:cNvSpPr/>
          <p:nvPr/>
        </p:nvSpPr>
        <p:spPr>
          <a:xfrm>
            <a:off x="6492487" y="3913632"/>
            <a:ext cx="310896" cy="310896"/>
          </a:xfrm>
          <a:prstGeom prst="ellipse">
            <a:avLst/>
          </a:prstGeom>
          <a:solidFill>
            <a:srgbClr val="306998"/>
          </a:solidFill>
          <a:ln w="12700">
            <a:solidFill>
              <a:srgbClr val="306998"/>
            </a:solidFill>
            <a:prstDash val="solid"/>
          </a:ln>
        </p:spPr>
      </p:sp>
      <p:sp>
        <p:nvSpPr>
          <p:cNvPr id="82" name="v:RangeDescending:val1"/>
          <p:cNvSpPr txBox="1"/>
          <p:nvPr/>
        </p:nvSpPr>
        <p:spPr>
          <a:xfrm>
            <a:off x="649248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83" name="v:RangeDescending:dot2"/>
          <p:cNvSpPr/>
          <p:nvPr/>
        </p:nvSpPr>
        <p:spPr>
          <a:xfrm>
            <a:off x="5454520" y="3913632"/>
            <a:ext cx="310896" cy="310896"/>
          </a:xfrm>
          <a:prstGeom prst="ellipse">
            <a:avLst/>
          </a:prstGeom>
          <a:solidFill>
            <a:srgbClr val="306998"/>
          </a:solidFill>
          <a:ln w="12700">
            <a:solidFill>
              <a:srgbClr val="306998"/>
            </a:solidFill>
            <a:prstDash val="solid"/>
          </a:ln>
        </p:spPr>
      </p:sp>
      <p:sp>
        <p:nvSpPr>
          <p:cNvPr id="84" name="v:RangeDescending:val2"/>
          <p:cNvSpPr txBox="1"/>
          <p:nvPr/>
        </p:nvSpPr>
        <p:spPr>
          <a:xfrm>
            <a:off x="5454520"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85" name="v:RangeDescending:dot3"/>
          <p:cNvSpPr/>
          <p:nvPr/>
        </p:nvSpPr>
        <p:spPr>
          <a:xfrm>
            <a:off x="4416552" y="3913632"/>
            <a:ext cx="310896" cy="310896"/>
          </a:xfrm>
          <a:prstGeom prst="ellipse">
            <a:avLst/>
          </a:prstGeom>
          <a:solidFill>
            <a:srgbClr val="306998"/>
          </a:solidFill>
          <a:ln w="12700">
            <a:solidFill>
              <a:srgbClr val="306998"/>
            </a:solidFill>
            <a:prstDash val="solid"/>
          </a:ln>
        </p:spPr>
      </p:sp>
      <p:sp>
        <p:nvSpPr>
          <p:cNvPr id="86" name="v:RangeDescending:val3"/>
          <p:cNvSpPr txBox="1"/>
          <p:nvPr/>
        </p:nvSpPr>
        <p:spPr>
          <a:xfrm>
            <a:off x="4416552"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7" name="v:RangeDescending:dot4"/>
          <p:cNvSpPr/>
          <p:nvPr/>
        </p:nvSpPr>
        <p:spPr>
          <a:xfrm>
            <a:off x="3378584" y="3913632"/>
            <a:ext cx="310896" cy="310896"/>
          </a:xfrm>
          <a:prstGeom prst="ellipse">
            <a:avLst/>
          </a:prstGeom>
          <a:solidFill>
            <a:srgbClr val="306998"/>
          </a:solidFill>
          <a:ln w="12700">
            <a:solidFill>
              <a:srgbClr val="306998"/>
            </a:solidFill>
            <a:prstDash val="solid"/>
          </a:ln>
        </p:spPr>
      </p:sp>
      <p:sp>
        <p:nvSpPr>
          <p:cNvPr id="88" name="v:RangeDescending:val4"/>
          <p:cNvSpPr txBox="1"/>
          <p:nvPr/>
        </p:nvSpPr>
        <p:spPr>
          <a:xfrm>
            <a:off x="3378584"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9" name="v:RangeDescending:dot5"/>
          <p:cNvSpPr/>
          <p:nvPr/>
        </p:nvSpPr>
        <p:spPr>
          <a:xfrm>
            <a:off x="2340617" y="3913632"/>
            <a:ext cx="310896" cy="310896"/>
          </a:xfrm>
          <a:prstGeom prst="ellipse">
            <a:avLst/>
          </a:prstGeom>
          <a:solidFill>
            <a:srgbClr val="306998"/>
          </a:solidFill>
          <a:ln w="12700">
            <a:solidFill>
              <a:srgbClr val="306998"/>
            </a:solidFill>
            <a:prstDash val="solid"/>
          </a:ln>
        </p:spPr>
      </p:sp>
      <p:sp>
        <p:nvSpPr>
          <p:cNvPr id="90" name="v:RangeDescending:val5"/>
          <p:cNvSpPr txBox="1"/>
          <p:nvPr/>
        </p:nvSpPr>
        <p:spPr>
          <a:xfrm>
            <a:off x="234061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91" name="v:RangeDescending:stopdot"/>
          <p:cNvSpPr/>
          <p:nvPr/>
        </p:nvSpPr>
        <p:spPr>
          <a:xfrm>
            <a:off x="1302649" y="3913632"/>
            <a:ext cx="310896" cy="310896"/>
          </a:xfrm>
          <a:prstGeom prst="ellipse">
            <a:avLst/>
          </a:prstGeom>
          <a:solidFill>
            <a:srgbClr val="FFFFFF"/>
          </a:solidFill>
          <a:ln w="25400">
            <a:solidFill>
              <a:srgbClr val="D64545"/>
            </a:solidFill>
            <a:prstDash val="dash"/>
          </a:ln>
        </p:spPr>
      </p:sp>
      <p:sp>
        <p:nvSpPr>
          <p:cNvPr id="92" name="v:RangeDescending:stop"/>
          <p:cNvSpPr txBox="1"/>
          <p:nvPr/>
        </p:nvSpPr>
        <p:spPr>
          <a:xfrm>
            <a:off x="543697" y="354787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 — never included</a:t>
            </a:r>
            <a:endParaRPr lang="en-US" sz="1100" dirty="0"/>
          </a:p>
        </p:txBody>
      </p:sp>
      <p:sp>
        <p:nvSpPr>
          <p:cNvPr id="93" name="v:RangeDescending:call"/>
          <p:cNvSpPr txBox="1"/>
          <p:nvPr/>
        </p:nvSpPr>
        <p:spPr>
          <a:xfrm>
            <a:off x="731520" y="448056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-1, -1) → 6 values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range is a recipe, not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It produces each value when the loop asks for it</a:t>
            </a:r>
            <a:endParaRPr lang="en-US" sz="1400" dirty="0"/>
          </a:p>
        </p:txBody>
      </p:sp>
      <p:sp>
        <p:nvSpPr>
          <p:cNvPr id="6" name="x"/>
          <p:cNvSpPr/>
          <p:nvPr/>
        </p:nvSpPr>
        <p:spPr>
          <a:xfrm>
            <a:off x="457200" y="1325880"/>
            <a:ext cx="4023360" cy="1371600"/>
          </a:xfrm>
          <a:prstGeom prst="roundRect">
            <a:avLst>
              <a:gd name="adj" fmla="val 6667"/>
            </a:avLst>
          </a:prstGeom>
          <a:solidFill>
            <a:srgbClr val="17202B"/>
          </a:solidFill>
          <a:ln w="12700">
            <a:solidFill>
              <a:srgbClr val="17202B"/>
            </a:solidFill>
            <a:prstDash val="solid"/>
          </a:ln>
        </p:spPr>
      </p:sp>
      <p:sp>
        <p:nvSpPr>
          <p:cNvPr id="7" name="codecard"/>
          <p:cNvSpPr txBox="1"/>
          <p:nvPr/>
        </p:nvSpPr>
        <p:spPr>
          <a:xfrm>
            <a:off x="640080" y="1435608"/>
            <a:ext cx="3657600" cy="115214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r>
              <a:rPr lang="en-US" sz="1700" dirty="0">
                <a:solidFill>
                  <a:srgbClr val="E6EDF3"/>
                </a:solidFill>
                <a:latin typeface="Courier New" pitchFamily="34" charset="0"/>
                <a:ea typeface="Courier New" pitchFamily="34" charset="-122"/>
                <a:cs typeface="Courier New" pitchFamily="34" charset="-120"/>
              </a:rPr>
              <a:t>range(10)</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range(0, 10)</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r>
              <a:rPr lang="en-US" sz="1700" dirty="0">
                <a:solidFill>
                  <a:srgbClr val="E6EDF3"/>
                </a:solidFill>
                <a:latin typeface="Courier New" pitchFamily="34" charset="0"/>
                <a:ea typeface="Courier New" pitchFamily="34" charset="-122"/>
                <a:cs typeface="Courier New" pitchFamily="34" charset="-120"/>
              </a:rPr>
              <a:t>sum(range(4))</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6</a:t>
            </a:r>
            <a:endParaRPr lang="en-US" sz="1700" dirty="0"/>
          </a:p>
        </p:txBody>
      </p:sp>
      <p:sp>
        <p:nvSpPr>
          <p:cNvPr id="8" name="x"/>
          <p:cNvSpPr txBox="1"/>
          <p:nvPr/>
        </p:nvSpPr>
        <p:spPr>
          <a:xfrm>
            <a:off x="457200" y="27249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x"/>
          <p:cNvSpPr/>
          <p:nvPr/>
        </p:nvSpPr>
        <p:spPr>
          <a:xfrm>
            <a:off x="457200" y="3108960"/>
            <a:ext cx="8229600" cy="868680"/>
          </a:xfrm>
          <a:prstGeom prst="roundRect">
            <a:avLst>
              <a:gd name="adj" fmla="val 10526"/>
            </a:avLst>
          </a:prstGeom>
          <a:solidFill>
            <a:srgbClr val="17202B"/>
          </a:solidFill>
          <a:ln w="12700">
            <a:solidFill>
              <a:srgbClr val="17202B"/>
            </a:solidFill>
            <a:prstDash val="solid"/>
          </a:ln>
        </p:spPr>
      </p:sp>
      <p:sp>
        <p:nvSpPr>
          <p:cNvPr id="10" name="codecard"/>
          <p:cNvSpPr txBox="1"/>
          <p:nvPr/>
        </p:nvSpPr>
        <p:spPr>
          <a:xfrm>
            <a:off x="640080" y="3218688"/>
            <a:ext cx="7863840" cy="64922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list(range(10)) == list(range(0, 10)) == list(range(0, 10, 1))</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True</a:t>
            </a:r>
            <a:endParaRPr lang="en-US" sz="1500" dirty="0"/>
          </a:p>
        </p:txBody>
      </p:sp>
      <p:sp>
        <p:nvSpPr>
          <p:cNvPr id="11" name="x"/>
          <p:cNvSpPr txBox="1"/>
          <p:nvPr/>
        </p:nvSpPr>
        <p:spPr>
          <a:xfrm>
            <a:off x="457200" y="40050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x"/>
          <p:cNvSpPr/>
          <p:nvPr/>
        </p:nvSpPr>
        <p:spPr>
          <a:xfrm>
            <a:off x="4754880" y="1325880"/>
            <a:ext cx="3931920" cy="1371600"/>
          </a:xfrm>
          <a:prstGeom prst="roundRect">
            <a:avLst>
              <a:gd name="adj" fmla="val 6667"/>
            </a:avLst>
          </a:prstGeom>
          <a:solidFill>
            <a:srgbClr val="F1F4F8"/>
          </a:solidFill>
          <a:ln w="12700">
            <a:solidFill>
              <a:srgbClr val="F1F4F8"/>
            </a:solidFill>
            <a:prstDash val="solid"/>
          </a:ln>
        </p:spPr>
      </p:sp>
      <p:sp>
        <p:nvSpPr>
          <p:cNvPr id="13" name="analogy"/>
          <p:cNvSpPr txBox="1"/>
          <p:nvPr/>
        </p:nvSpPr>
        <p:spPr>
          <a:xfrm>
            <a:off x="4937760" y="1371600"/>
            <a:ext cx="3566160" cy="128016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A list is the dishes on the table.</a:t>
            </a:r>
            <a:endParaRPr lang="en-US" sz="1300" dirty="0"/>
          </a:p>
          <a:p>
            <a:pPr indent="0" marL="0">
              <a:buNone/>
            </a:pPr>
            <a:r>
              <a:rPr lang="en-US" sz="1400" dirty="0">
                <a:solidFill>
                  <a:srgbClr val="1F2933"/>
                </a:solidFill>
                <a:latin typeface="Calibri" pitchFamily="34" charset="0"/>
                <a:ea typeface="Calibri" pitchFamily="34" charset="-122"/>
                <a:cs typeface="Calibri" pitchFamily="34" charset="-120"/>
              </a:rPr>
              <a:t>A range is the recipe: it cooks each dish only when asked, so it takes almost no room.</a:t>
            </a:r>
            <a:endParaRPr lang="en-US" sz="1300" dirty="0"/>
          </a:p>
        </p:txBody>
      </p:sp>
      <p:sp>
        <p:nvSpPr>
          <p:cNvPr id="14" name="say"/>
          <p:cNvSpPr txBox="1"/>
          <p:nvPr/>
        </p:nvSpPr>
        <p:spPr>
          <a:xfrm>
            <a:off x="457200" y="4343400"/>
            <a:ext cx="8229600" cy="457200"/>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Printing a range shows range(0, 10), not the numbers. It is still iterable, so sum() and for accept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enumerate hands you the position with the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Instead of range(len(a)) and an index</a:t>
            </a:r>
            <a:endParaRPr lang="en-US" sz="1400" dirty="0"/>
          </a:p>
        </p:txBody>
      </p:sp>
      <p:sp>
        <p:nvSpPr>
          <p:cNvPr id="6" name="v:EnumerateFunction: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EnumerateFunction: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0</a:t>
            </a:r>
            <a:endParaRPr lang="en-US" sz="1400" dirty="0"/>
          </a:p>
        </p:txBody>
      </p:sp>
      <p:sp>
        <p:nvSpPr>
          <p:cNvPr id="8" name="v:EnumerateFunction: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EnumerateFunction: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0" name="v:EnumerateFunction:top2:box|b3"/>
          <p:cNvSpPr/>
          <p:nvPr/>
        </p:nvSpPr>
        <p:spPr>
          <a:xfrm>
            <a:off x="3200400" y="1325880"/>
            <a:ext cx="914400" cy="457200"/>
          </a:xfrm>
          <a:prstGeom prst="roundRect">
            <a:avLst>
              <a:gd name="adj" fmla="val 12000"/>
            </a:avLst>
          </a:prstGeom>
          <a:solidFill>
            <a:srgbClr val="E3EEF8"/>
          </a:solidFill>
          <a:ln w="12700">
            <a:solidFill>
              <a:srgbClr val="306998"/>
            </a:solidFill>
            <a:prstDash val="solid"/>
          </a:ln>
        </p:spPr>
      </p:sp>
      <p:sp>
        <p:nvSpPr>
          <p:cNvPr id="11" name="v:EnumerateFunction: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2" name="v:EnumerateFunction: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EnumerateFunction: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tic</a:t>
            </a:r>
            <a:endParaRPr lang="en-US" sz="1400" dirty="0"/>
          </a:p>
        </p:txBody>
      </p:sp>
      <p:sp>
        <p:nvSpPr>
          <p:cNvPr id="14" name="v:EnumerateFunction: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EnumerateFunction: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tac</a:t>
            </a:r>
            <a:endParaRPr lang="en-US" sz="1400" dirty="0"/>
          </a:p>
        </p:txBody>
      </p:sp>
      <p:sp>
        <p:nvSpPr>
          <p:cNvPr id="16" name="v:EnumerateFunction:bot2:box|b3"/>
          <p:cNvSpPr/>
          <p:nvPr/>
        </p:nvSpPr>
        <p:spPr>
          <a:xfrm>
            <a:off x="3200400" y="2377440"/>
            <a:ext cx="914400" cy="457200"/>
          </a:xfrm>
          <a:prstGeom prst="roundRect">
            <a:avLst>
              <a:gd name="adj" fmla="val 12000"/>
            </a:avLst>
          </a:prstGeom>
          <a:solidFill>
            <a:srgbClr val="E3EEF8"/>
          </a:solidFill>
          <a:ln w="12700">
            <a:solidFill>
              <a:srgbClr val="306998"/>
            </a:solidFill>
            <a:prstDash val="solid"/>
          </a:ln>
        </p:spPr>
      </p:sp>
      <p:sp>
        <p:nvSpPr>
          <p:cNvPr id="17" name="v:EnumerateFunction:bot2|b3"/>
          <p:cNvSpPr txBox="1"/>
          <p:nvPr/>
        </p:nvSpPr>
        <p:spPr>
          <a:xfrm>
            <a:off x="320040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toe</a:t>
            </a:r>
            <a:endParaRPr lang="en-US" sz="1400" dirty="0"/>
          </a:p>
        </p:txBody>
      </p:sp>
      <p:sp>
        <p:nvSpPr>
          <p:cNvPr id="18" name="arrow|b1"/>
          <p:cNvSpPr/>
          <p:nvPr/>
        </p:nvSpPr>
        <p:spPr>
          <a:xfrm>
            <a:off x="1188720" y="1783080"/>
            <a:ext cx="0" cy="594360"/>
          </a:xfrm>
          <a:prstGeom prst="line">
            <a:avLst/>
          </a:prstGeom>
          <a:noFill/>
          <a:ln w="25400">
            <a:solidFill>
              <a:srgbClr val="2E9E5B"/>
            </a:solidFill>
            <a:prstDash val="solid"/>
          </a:ln>
        </p:spPr>
      </p:sp>
      <p:sp>
        <p:nvSpPr>
          <p:cNvPr id="19" name="v:EnumerateFunction: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(0, 'tic')</a:t>
            </a:r>
            <a:endParaRPr lang="en-US" sz="1100" dirty="0"/>
          </a:p>
        </p:txBody>
      </p:sp>
      <p:sp>
        <p:nvSpPr>
          <p:cNvPr id="20" name="arrow|b2"/>
          <p:cNvSpPr/>
          <p:nvPr/>
        </p:nvSpPr>
        <p:spPr>
          <a:xfrm>
            <a:off x="2423160" y="1783080"/>
            <a:ext cx="0" cy="594360"/>
          </a:xfrm>
          <a:prstGeom prst="line">
            <a:avLst/>
          </a:prstGeom>
          <a:noFill/>
          <a:ln w="25400">
            <a:solidFill>
              <a:srgbClr val="2E9E5B"/>
            </a:solidFill>
            <a:prstDash val="solid"/>
          </a:ln>
        </p:spPr>
      </p:sp>
      <p:sp>
        <p:nvSpPr>
          <p:cNvPr id="21" name="v:EnumerateFunction: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(1, 'tac')</a:t>
            </a:r>
            <a:endParaRPr lang="en-US" sz="1100" dirty="0"/>
          </a:p>
        </p:txBody>
      </p:sp>
      <p:sp>
        <p:nvSpPr>
          <p:cNvPr id="22" name="arrow|b3"/>
          <p:cNvSpPr/>
          <p:nvPr/>
        </p:nvSpPr>
        <p:spPr>
          <a:xfrm>
            <a:off x="3657600" y="1783080"/>
            <a:ext cx="0" cy="594360"/>
          </a:xfrm>
          <a:prstGeom prst="line">
            <a:avLst/>
          </a:prstGeom>
          <a:noFill/>
          <a:ln w="25400">
            <a:solidFill>
              <a:srgbClr val="2E9E5B"/>
            </a:solidFill>
            <a:prstDash val="solid"/>
          </a:ln>
        </p:spPr>
      </p:sp>
      <p:sp>
        <p:nvSpPr>
          <p:cNvPr id="23" name="v:EnumerateFunction:pair2|b3"/>
          <p:cNvSpPr txBox="1"/>
          <p:nvPr/>
        </p:nvSpPr>
        <p:spPr>
          <a:xfrm>
            <a:off x="306324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(2, 'toe')</a:t>
            </a:r>
            <a:endParaRPr lang="en-US" sz="1100" dirty="0"/>
          </a:p>
        </p:txBody>
      </p:sp>
      <p:sp>
        <p:nvSpPr>
          <p:cNvPr id="24" name="v:EnumerateFunction: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enumerate(['tic', 'tac', 'toe'])</a:t>
            </a:r>
            <a:endParaRPr lang="en-US" sz="1300" dirty="0"/>
          </a:p>
        </p:txBody>
      </p:sp>
      <p:sp>
        <p:nvSpPr>
          <p:cNvPr id="25" name="x"/>
          <p:cNvSpPr/>
          <p:nvPr/>
        </p:nvSpPr>
        <p:spPr>
          <a:xfrm>
            <a:off x="5852160" y="1325880"/>
            <a:ext cx="2834640" cy="1828800"/>
          </a:xfrm>
          <a:prstGeom prst="roundRect">
            <a:avLst>
              <a:gd name="adj" fmla="val 5000"/>
            </a:avLst>
          </a:prstGeom>
          <a:solidFill>
            <a:srgbClr val="17202B"/>
          </a:solidFill>
          <a:ln w="12700">
            <a:solidFill>
              <a:srgbClr val="17202B"/>
            </a:solidFill>
            <a:prstDash val="solid"/>
          </a:ln>
        </p:spPr>
      </p:sp>
      <p:sp>
        <p:nvSpPr>
          <p:cNvPr id="26" name="codecard"/>
          <p:cNvSpPr txBox="1"/>
          <p:nvPr/>
        </p:nvSpPr>
        <p:spPr>
          <a:xfrm>
            <a:off x="6035040" y="1435608"/>
            <a:ext cx="2468880" cy="160934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list(enumerate(['tic', 'tac', 'toe']))</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[(0, 'tic'), (1, 'tac'), (2, 'toe')]</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list(enumerate(['tic', 'tac', 'toe'], start=1))</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[(1, 'tic'), (2, 'tac'), (3, 'toe')]</a:t>
            </a:r>
            <a:endParaRPr lang="en-US" sz="1100" dirty="0"/>
          </a:p>
        </p:txBody>
      </p:sp>
      <p:sp>
        <p:nvSpPr>
          <p:cNvPr id="27" name="x"/>
          <p:cNvSpPr txBox="1"/>
          <p:nvPr/>
        </p:nvSpPr>
        <p:spPr>
          <a:xfrm>
            <a:off x="5852160" y="318211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8"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9"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Why it matters</a:t>
            </a:r>
            <a:endParaRPr lang="en-US" sz="1500" dirty="0"/>
          </a:p>
        </p:txBody>
      </p:sp>
      <p:sp>
        <p:nvSpPr>
          <p:cNvPr id="30"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tutorial prefers enumerate to combining range and len when both the position and the item are needed — one call, no index arithmetic, no off-by-one.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par>
                                <p:cTn id="49" presetID="10"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4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00"/>
                                        <p:tgtEl>
                                          <p:spTgt spid="17"/>
                                        </p:tgtEl>
                                      </p:cBhvr>
                                    </p:animEffect>
                                  </p:childTnLst>
                                </p:cTn>
                              </p:par>
                              <p:par>
                                <p:cTn id="55" presetID="10"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72" fill="hold">
                      <p:stCondLst>
                        <p:cond delay="indefinite"/>
                      </p:stCondLst>
                      <p:childTnLst>
                        <p:par>
                          <p:cTn id="73"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zip pairs items up — and stops at the shortest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leftover item disappears without a word</a:t>
            </a:r>
            <a:endParaRPr lang="en-US" sz="1400" dirty="0"/>
          </a:p>
        </p:txBody>
      </p:sp>
      <p:sp>
        <p:nvSpPr>
          <p:cNvPr id="6" name="v:ZipStrict: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ZipStrict: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ZipStrict: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top2:box|b3"/>
          <p:cNvSpPr/>
          <p:nvPr/>
        </p:nvSpPr>
        <p:spPr>
          <a:xfrm>
            <a:off x="3200400" y="1325880"/>
            <a:ext cx="914400" cy="457200"/>
          </a:xfrm>
          <a:prstGeom prst="roundRect">
            <a:avLst>
              <a:gd name="adj" fmla="val 12000"/>
            </a:avLst>
          </a:prstGeom>
          <a:solidFill>
            <a:srgbClr val="FBE1E1"/>
          </a:solidFill>
          <a:ln w="25400">
            <a:solidFill>
              <a:srgbClr val="D64545"/>
            </a:solidFill>
            <a:prstDash val="dash"/>
          </a:ln>
        </p:spPr>
      </p:sp>
      <p:sp>
        <p:nvSpPr>
          <p:cNvPr id="11" name="v:ZipStrict: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ZipStrict: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ZipStrict: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783080"/>
            <a:ext cx="0" cy="594360"/>
          </a:xfrm>
          <a:prstGeom prst="line">
            <a:avLst/>
          </a:prstGeom>
          <a:noFill/>
          <a:ln w="25400">
            <a:solidFill>
              <a:srgbClr val="2E9E5B"/>
            </a:solidFill>
            <a:prstDash val="solid"/>
          </a:ln>
        </p:spPr>
      </p:sp>
      <p:sp>
        <p:nvSpPr>
          <p:cNvPr id="17" name="v:ZipStrict: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783080"/>
            <a:ext cx="0" cy="594360"/>
          </a:xfrm>
          <a:prstGeom prst="line">
            <a:avLst/>
          </a:prstGeom>
          <a:noFill/>
          <a:ln w="25400">
            <a:solidFill>
              <a:srgbClr val="2E9E5B"/>
            </a:solidFill>
            <a:prstDash val="solid"/>
          </a:ln>
        </p:spPr>
      </p:sp>
      <p:sp>
        <p:nvSpPr>
          <p:cNvPr id="19" name="v:ZipStrict: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a:t>
            </a:r>
            <a:endParaRPr lang="en-US" sz="1300" dirty="0"/>
          </a:p>
        </p:txBody>
      </p:sp>
      <p:sp>
        <p:nvSpPr>
          <p:cNvPr id="21" name="x"/>
          <p:cNvSpPr/>
          <p:nvPr/>
        </p:nvSpPr>
        <p:spPr>
          <a:xfrm>
            <a:off x="5852160" y="1325880"/>
            <a:ext cx="2834640" cy="1463040"/>
          </a:xfrm>
          <a:prstGeom prst="roundRect">
            <a:avLst>
              <a:gd name="adj" fmla="val 6250"/>
            </a:avLst>
          </a:prstGeom>
          <a:solidFill>
            <a:srgbClr val="17202B"/>
          </a:solidFill>
          <a:ln w="12700">
            <a:solidFill>
              <a:srgbClr val="17202B"/>
            </a:solidFill>
            <a:prstDash val="solid"/>
          </a:ln>
        </p:spPr>
      </p:sp>
      <p:sp>
        <p:nvSpPr>
          <p:cNvPr id="22" name="codecard"/>
          <p:cNvSpPr txBox="1"/>
          <p:nvPr/>
        </p:nvSpPr>
        <p:spPr>
          <a:xfrm>
            <a:off x="6035040" y="1435608"/>
            <a:ext cx="2468880" cy="124358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list(zip('ab',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list(zip('abc',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p:txBody>
      </p:sp>
      <p:sp>
        <p:nvSpPr>
          <p:cNvPr id="23" name="x"/>
          <p:cNvSpPr txBox="1"/>
          <p:nvPr/>
        </p:nvSpPr>
        <p:spPr>
          <a:xfrm>
            <a:off x="5852160" y="28163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4" name="card|b4"/>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5" name="cardhead|b4"/>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Silent truncation</a:t>
            </a:r>
            <a:endParaRPr lang="en-US" sz="1500" dirty="0"/>
          </a:p>
        </p:txBody>
      </p:sp>
      <p:sp>
        <p:nvSpPr>
          <p:cNvPr id="26" name="cardbody|b4"/>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 has no partner and is dropped with no warning. That is exactly the bug strict=True exists to catch — next slide.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5" grpId="0" animBg="1"/>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strict=True turns a silent mistake into an error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Since Python 3.10 — loud is better than wrong</a:t>
            </a:r>
            <a:endParaRPr lang="en-US" sz="1400" dirty="0"/>
          </a:p>
        </p:txBody>
      </p:sp>
      <p:sp>
        <p:nvSpPr>
          <p:cNvPr id="6" name="v:ZipStrictError:top0:box|b1"/>
          <p:cNvSpPr/>
          <p:nvPr/>
        </p:nvSpPr>
        <p:spPr>
          <a:xfrm>
            <a:off x="731520" y="1234440"/>
            <a:ext cx="914400" cy="457200"/>
          </a:xfrm>
          <a:prstGeom prst="roundRect">
            <a:avLst>
              <a:gd name="adj" fmla="val 12000"/>
            </a:avLst>
          </a:prstGeom>
          <a:solidFill>
            <a:srgbClr val="E3EEF8"/>
          </a:solidFill>
          <a:ln w="12700">
            <a:solidFill>
              <a:srgbClr val="306998"/>
            </a:solidFill>
            <a:prstDash val="solid"/>
          </a:ln>
        </p:spPr>
      </p:sp>
      <p:sp>
        <p:nvSpPr>
          <p:cNvPr id="7" name="v:ZipStrictError:top0|b1"/>
          <p:cNvSpPr txBox="1"/>
          <p:nvPr/>
        </p:nvSpPr>
        <p:spPr>
          <a:xfrm>
            <a:off x="73152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Error:top1:box|b2"/>
          <p:cNvSpPr/>
          <p:nvPr/>
        </p:nvSpPr>
        <p:spPr>
          <a:xfrm>
            <a:off x="1965960" y="1234440"/>
            <a:ext cx="914400" cy="457200"/>
          </a:xfrm>
          <a:prstGeom prst="roundRect">
            <a:avLst>
              <a:gd name="adj" fmla="val 12000"/>
            </a:avLst>
          </a:prstGeom>
          <a:solidFill>
            <a:srgbClr val="E3EEF8"/>
          </a:solidFill>
          <a:ln w="12700">
            <a:solidFill>
              <a:srgbClr val="306998"/>
            </a:solidFill>
            <a:prstDash val="solid"/>
          </a:ln>
        </p:spPr>
      </p:sp>
      <p:sp>
        <p:nvSpPr>
          <p:cNvPr id="9" name="v:ZipStrictError:top1|b2"/>
          <p:cNvSpPr txBox="1"/>
          <p:nvPr/>
        </p:nvSpPr>
        <p:spPr>
          <a:xfrm>
            <a:off x="196596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Error:top2:box|b3"/>
          <p:cNvSpPr/>
          <p:nvPr/>
        </p:nvSpPr>
        <p:spPr>
          <a:xfrm>
            <a:off x="3200400" y="1234440"/>
            <a:ext cx="914400" cy="457200"/>
          </a:xfrm>
          <a:prstGeom prst="roundRect">
            <a:avLst>
              <a:gd name="adj" fmla="val 12000"/>
            </a:avLst>
          </a:prstGeom>
          <a:solidFill>
            <a:srgbClr val="FBE1E1"/>
          </a:solidFill>
          <a:ln w="25400">
            <a:solidFill>
              <a:srgbClr val="D64545"/>
            </a:solidFill>
            <a:prstDash val="dash"/>
          </a:ln>
        </p:spPr>
      </p:sp>
      <p:sp>
        <p:nvSpPr>
          <p:cNvPr id="11" name="v:ZipStrictError:top2|b3"/>
          <p:cNvSpPr txBox="1"/>
          <p:nvPr/>
        </p:nvSpPr>
        <p:spPr>
          <a:xfrm>
            <a:off x="3200400" y="123444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Error:bot0:box|b1"/>
          <p:cNvSpPr/>
          <p:nvPr/>
        </p:nvSpPr>
        <p:spPr>
          <a:xfrm>
            <a:off x="731520" y="2286000"/>
            <a:ext cx="914400" cy="457200"/>
          </a:xfrm>
          <a:prstGeom prst="roundRect">
            <a:avLst>
              <a:gd name="adj" fmla="val 12000"/>
            </a:avLst>
          </a:prstGeom>
          <a:solidFill>
            <a:srgbClr val="E3EEF8"/>
          </a:solidFill>
          <a:ln w="12700">
            <a:solidFill>
              <a:srgbClr val="306998"/>
            </a:solidFill>
            <a:prstDash val="solid"/>
          </a:ln>
        </p:spPr>
      </p:sp>
      <p:sp>
        <p:nvSpPr>
          <p:cNvPr id="13" name="v:ZipStrictError:bot0|b1"/>
          <p:cNvSpPr txBox="1"/>
          <p:nvPr/>
        </p:nvSpPr>
        <p:spPr>
          <a:xfrm>
            <a:off x="73152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Error:bot1:box|b2"/>
          <p:cNvSpPr/>
          <p:nvPr/>
        </p:nvSpPr>
        <p:spPr>
          <a:xfrm>
            <a:off x="1965960" y="2286000"/>
            <a:ext cx="914400" cy="457200"/>
          </a:xfrm>
          <a:prstGeom prst="roundRect">
            <a:avLst>
              <a:gd name="adj" fmla="val 12000"/>
            </a:avLst>
          </a:prstGeom>
          <a:solidFill>
            <a:srgbClr val="E3EEF8"/>
          </a:solidFill>
          <a:ln w="12700">
            <a:solidFill>
              <a:srgbClr val="306998"/>
            </a:solidFill>
            <a:prstDash val="solid"/>
          </a:ln>
        </p:spPr>
      </p:sp>
      <p:sp>
        <p:nvSpPr>
          <p:cNvPr id="15" name="v:ZipStrictError:bot1|b2"/>
          <p:cNvSpPr txBox="1"/>
          <p:nvPr/>
        </p:nvSpPr>
        <p:spPr>
          <a:xfrm>
            <a:off x="196596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691640"/>
            <a:ext cx="0" cy="594360"/>
          </a:xfrm>
          <a:prstGeom prst="line">
            <a:avLst/>
          </a:prstGeom>
          <a:noFill/>
          <a:ln w="25400">
            <a:solidFill>
              <a:srgbClr val="2E9E5B"/>
            </a:solidFill>
            <a:prstDash val="solid"/>
          </a:ln>
        </p:spPr>
      </p:sp>
      <p:sp>
        <p:nvSpPr>
          <p:cNvPr id="17" name="v:ZipStrictError:pair0|b1"/>
          <p:cNvSpPr txBox="1"/>
          <p:nvPr/>
        </p:nvSpPr>
        <p:spPr>
          <a:xfrm>
            <a:off x="59436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691640"/>
            <a:ext cx="0" cy="594360"/>
          </a:xfrm>
          <a:prstGeom prst="line">
            <a:avLst/>
          </a:prstGeom>
          <a:noFill/>
          <a:ln w="25400">
            <a:solidFill>
              <a:srgbClr val="2E9E5B"/>
            </a:solidFill>
            <a:prstDash val="solid"/>
          </a:ln>
        </p:spPr>
      </p:sp>
      <p:sp>
        <p:nvSpPr>
          <p:cNvPr id="19" name="v:ZipStrictError:pair1|b2"/>
          <p:cNvSpPr txBox="1"/>
          <p:nvPr/>
        </p:nvSpPr>
        <p:spPr>
          <a:xfrm>
            <a:off x="182880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Error:error|b4"/>
          <p:cNvSpPr txBox="1"/>
          <p:nvPr/>
        </p:nvSpPr>
        <p:spPr>
          <a:xfrm>
            <a:off x="731520" y="2880360"/>
            <a:ext cx="4937760" cy="365760"/>
          </a:xfrm>
          <a:prstGeom prst="rect">
            <a:avLst/>
          </a:prstGeom>
          <a:noFill/>
          <a:ln/>
        </p:spPr>
        <p:txBody>
          <a:bodyPr wrap="square" lIns="0" tIns="0" rIns="0" bIns="0" rtlCol="0" anchor="ctr"/>
          <a:lstStyle/>
          <a:p>
            <a:pPr algn="ctr" indent="0" marL="0">
              <a:buNone/>
            </a:pPr>
            <a:r>
              <a:rPr lang="en-US" sz="1150" b="1" dirty="0">
                <a:solidFill>
                  <a:srgbClr val="D64545"/>
                </a:solidFill>
                <a:latin typeface="Courier New" pitchFamily="34" charset="0"/>
                <a:ea typeface="Courier New" pitchFamily="34" charset="-122"/>
                <a:cs typeface="Courier New" pitchFamily="34" charset="-120"/>
              </a:rPr>
              <a:t>ValueError: zip() argument 2 is shorter than argument 1</a:t>
            </a:r>
            <a:endParaRPr lang="en-US" sz="1150" dirty="0"/>
          </a:p>
        </p:txBody>
      </p:sp>
      <p:sp>
        <p:nvSpPr>
          <p:cNvPr id="21" name="v:ZipStrictError:call"/>
          <p:cNvSpPr txBox="1"/>
          <p:nvPr/>
        </p:nvSpPr>
        <p:spPr>
          <a:xfrm>
            <a:off x="731520" y="329184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 strict=True)</a:t>
            </a:r>
            <a:endParaRPr lang="en-US" sz="1300" dirty="0"/>
          </a:p>
        </p:txBody>
      </p:sp>
      <p:sp>
        <p:nvSpPr>
          <p:cNvPr id="22" name="x"/>
          <p:cNvSpPr/>
          <p:nvPr/>
        </p:nvSpPr>
        <p:spPr>
          <a:xfrm>
            <a:off x="5852160" y="1325880"/>
            <a:ext cx="2834640" cy="1188720"/>
          </a:xfrm>
          <a:prstGeom prst="roundRect">
            <a:avLst>
              <a:gd name="adj" fmla="val 7692"/>
            </a:avLst>
          </a:prstGeom>
          <a:solidFill>
            <a:srgbClr val="17202B"/>
          </a:solidFill>
          <a:ln w="12700">
            <a:solidFill>
              <a:srgbClr val="17202B"/>
            </a:solidFill>
            <a:prstDash val="solid"/>
          </a:ln>
        </p:spPr>
      </p:sp>
      <p:sp>
        <p:nvSpPr>
          <p:cNvPr id="23" name="codecard"/>
          <p:cNvSpPr txBox="1"/>
          <p:nvPr/>
        </p:nvSpPr>
        <p:spPr>
          <a:xfrm>
            <a:off x="6035040" y="1435608"/>
            <a:ext cx="2468880" cy="96926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list(zip('abc', [1, 2], strict=True))</a:t>
            </a:r>
            <a:endParaRPr lang="en-US" sz="1100" dirty="0"/>
          </a:p>
          <a:p>
            <a:pPr indent="0" marL="0">
              <a:spcAft>
                <a:spcPts val="200"/>
              </a:spcAft>
              <a:buNone/>
            </a:pPr>
            <a:r>
              <a:rPr lang="en-US" sz="1100" dirty="0">
                <a:solidFill>
                  <a:srgbClr val="FF7B72"/>
                </a:solidFill>
                <a:latin typeface="Courier New" pitchFamily="34" charset="0"/>
                <a:ea typeface="Courier New" pitchFamily="34" charset="-122"/>
                <a:cs typeface="Courier New" pitchFamily="34" charset="-120"/>
              </a:rPr>
              <a:t>ValueError: zip() argument 2 is shorter than argument 1</a:t>
            </a:r>
            <a:endParaRPr lang="en-US" sz="1100" dirty="0"/>
          </a:p>
        </p:txBody>
      </p:sp>
      <p:sp>
        <p:nvSpPr>
          <p:cNvPr id="24" name="x"/>
          <p:cNvSpPr txBox="1"/>
          <p:nvPr/>
        </p:nvSpPr>
        <p:spPr>
          <a:xfrm>
            <a:off x="5852160" y="254203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6"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When to use it</a:t>
            </a:r>
            <a:endParaRPr lang="en-US" sz="1500" dirty="0"/>
          </a:p>
        </p:txBody>
      </p:sp>
      <p:sp>
        <p:nvSpPr>
          <p:cNvPr id="27"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Whenever the two sequences are supposed to be the same length. The error appears where the data went wrong, not three functions later.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childTnLst>
                          </p:cTn>
                        </p:par>
                      </p:childTnLst>
                    </p:cTn>
                  </p:par>
                  <p:par>
                    <p:cTn id="65" fill="hold">
                      <p:stCondLst>
                        <p:cond delay="indefinite"/>
                      </p:stCondLst>
                      <p:childTnLst>
                        <p:par>
                          <p:cTn id="66"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0" grpId="0" animBg="1"/>
      <p:bldP spid="26"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break leaves the loop; continue skips one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run, pass by pass: 5, x, 7, then a blank line</a:t>
            </a:r>
            <a:endParaRPr lang="en-US" sz="1400" dirty="0"/>
          </a:p>
        </p:txBody>
      </p:sp>
      <p:sp>
        <p:nvSpPr>
          <p:cNvPr id="6" name="passbox|b1"/>
          <p:cNvSpPr/>
          <p:nvPr/>
        </p:nvSpPr>
        <p:spPr>
          <a:xfrm>
            <a:off x="457200" y="1463040"/>
            <a:ext cx="1975104" cy="1234440"/>
          </a:xfrm>
          <a:prstGeom prst="roundRect">
            <a:avLst>
              <a:gd name="adj" fmla="val 5926"/>
            </a:avLst>
          </a:prstGeom>
          <a:solidFill>
            <a:srgbClr val="F1F4F8"/>
          </a:solidFill>
          <a:ln w="12700">
            <a:solidFill>
              <a:srgbClr val="9AA8B8"/>
            </a:solidFill>
            <a:prstDash val="solid"/>
          </a:ln>
        </p:spPr>
      </p:sp>
      <p:sp>
        <p:nvSpPr>
          <p:cNvPr id="7" name="v:BreakStatement:0:0:n|b1"/>
          <p:cNvSpPr txBox="1"/>
          <p:nvPr/>
        </p:nvSpPr>
        <p:spPr>
          <a:xfrm>
            <a:off x="530352"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8" name="v:BreakStatement:0:0:v0|b1"/>
          <p:cNvSpPr txBox="1"/>
          <p:nvPr/>
        </p:nvSpPr>
        <p:spPr>
          <a:xfrm>
            <a:off x="530352"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'5'</a:t>
            </a:r>
            <a:endParaRPr lang="en-US" sz="1050" dirty="0"/>
          </a:p>
        </p:txBody>
      </p:sp>
      <p:sp>
        <p:nvSpPr>
          <p:cNvPr id="9" name="v:BreakStatement:0:0:v1|b1"/>
          <p:cNvSpPr txBox="1"/>
          <p:nvPr/>
        </p:nvSpPr>
        <p:spPr>
          <a:xfrm>
            <a:off x="530352"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0</a:t>
            </a:r>
            <a:endParaRPr lang="en-US" sz="1050" dirty="0"/>
          </a:p>
        </p:txBody>
      </p:sp>
      <p:sp>
        <p:nvSpPr>
          <p:cNvPr id="10" name="evbox|b1"/>
          <p:cNvSpPr/>
          <p:nvPr/>
        </p:nvSpPr>
        <p:spPr>
          <a:xfrm>
            <a:off x="512064" y="2221992"/>
            <a:ext cx="1865376" cy="420624"/>
          </a:xfrm>
          <a:prstGeom prst="roundRect">
            <a:avLst>
              <a:gd name="adj" fmla="val 10870"/>
            </a:avLst>
          </a:prstGeom>
          <a:solidFill>
            <a:srgbClr val="DDF3E6"/>
          </a:solidFill>
          <a:ln w="12700">
            <a:solidFill>
              <a:srgbClr val="DDF3E6"/>
            </a:solidFill>
            <a:prstDash val="solid"/>
          </a:ln>
        </p:spPr>
      </p:sp>
      <p:sp>
        <p:nvSpPr>
          <p:cNvPr id="11" name="v:BreakStatement:0:0:ev|b1"/>
          <p:cNvSpPr txBox="1"/>
          <p:nvPr/>
        </p:nvSpPr>
        <p:spPr>
          <a:xfrm>
            <a:off x="548640"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12" name="arrow|b1"/>
          <p:cNvSpPr/>
          <p:nvPr/>
        </p:nvSpPr>
        <p:spPr>
          <a:xfrm>
            <a:off x="2432304" y="2080260"/>
            <a:ext cx="109728" cy="0"/>
          </a:xfrm>
          <a:prstGeom prst="line">
            <a:avLst/>
          </a:prstGeom>
          <a:noFill/>
          <a:ln w="19050">
            <a:solidFill>
              <a:srgbClr val="9AA8B8"/>
            </a:solidFill>
            <a:prstDash val="solid"/>
            <a:tailEnd type="triangle"/>
          </a:ln>
        </p:spPr>
      </p:sp>
      <p:sp>
        <p:nvSpPr>
          <p:cNvPr id="13" name="passbox|b2"/>
          <p:cNvSpPr/>
          <p:nvPr/>
        </p:nvSpPr>
        <p:spPr>
          <a:xfrm>
            <a:off x="2542032" y="1463040"/>
            <a:ext cx="1975104" cy="1234440"/>
          </a:xfrm>
          <a:prstGeom prst="roundRect">
            <a:avLst>
              <a:gd name="adj" fmla="val 5926"/>
            </a:avLst>
          </a:prstGeom>
          <a:solidFill>
            <a:srgbClr val="F1F4F8"/>
          </a:solidFill>
          <a:ln w="12700">
            <a:solidFill>
              <a:srgbClr val="9AA8B8"/>
            </a:solidFill>
            <a:prstDash val="solid"/>
          </a:ln>
        </p:spPr>
      </p:sp>
      <p:sp>
        <p:nvSpPr>
          <p:cNvPr id="14" name="v:BreakStatement:0:1:n|b2"/>
          <p:cNvSpPr txBox="1"/>
          <p:nvPr/>
        </p:nvSpPr>
        <p:spPr>
          <a:xfrm>
            <a:off x="2615184"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15" name="v:BreakStatement:0:1:v0|b2"/>
          <p:cNvSpPr txBox="1"/>
          <p:nvPr/>
        </p:nvSpPr>
        <p:spPr>
          <a:xfrm>
            <a:off x="2615184"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'x'</a:t>
            </a:r>
            <a:endParaRPr lang="en-US" sz="1050" dirty="0"/>
          </a:p>
        </p:txBody>
      </p:sp>
      <p:sp>
        <p:nvSpPr>
          <p:cNvPr id="16" name="v:BreakStatement:0:1:v1|b2"/>
          <p:cNvSpPr txBox="1"/>
          <p:nvPr/>
        </p:nvSpPr>
        <p:spPr>
          <a:xfrm>
            <a:off x="2615184"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17" name="evbox|b2"/>
          <p:cNvSpPr/>
          <p:nvPr/>
        </p:nvSpPr>
        <p:spPr>
          <a:xfrm>
            <a:off x="2596896" y="2221992"/>
            <a:ext cx="1865376" cy="420624"/>
          </a:xfrm>
          <a:prstGeom prst="roundRect">
            <a:avLst>
              <a:gd name="adj" fmla="val 10870"/>
            </a:avLst>
          </a:prstGeom>
          <a:solidFill>
            <a:srgbClr val="FCEFD0"/>
          </a:solidFill>
          <a:ln w="12700">
            <a:solidFill>
              <a:srgbClr val="FCEFD0"/>
            </a:solidFill>
            <a:prstDash val="solid"/>
          </a:ln>
        </p:spPr>
      </p:sp>
      <p:sp>
        <p:nvSpPr>
          <p:cNvPr id="18" name="v:BreakStatement:0:1:ev|b2"/>
          <p:cNvSpPr txBox="1"/>
          <p:nvPr/>
        </p:nvSpPr>
        <p:spPr>
          <a:xfrm>
            <a:off x="2633472" y="2221992"/>
            <a:ext cx="1792224" cy="420624"/>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continue: skip to the next pass</a:t>
            </a:r>
            <a:endParaRPr lang="en-US" sz="1050" dirty="0"/>
          </a:p>
        </p:txBody>
      </p:sp>
      <p:sp>
        <p:nvSpPr>
          <p:cNvPr id="19" name="arrow|b2"/>
          <p:cNvSpPr/>
          <p:nvPr/>
        </p:nvSpPr>
        <p:spPr>
          <a:xfrm>
            <a:off x="4517136" y="2080260"/>
            <a:ext cx="109728" cy="0"/>
          </a:xfrm>
          <a:prstGeom prst="line">
            <a:avLst/>
          </a:prstGeom>
          <a:noFill/>
          <a:ln w="19050">
            <a:solidFill>
              <a:srgbClr val="9AA8B8"/>
            </a:solidFill>
            <a:prstDash val="solid"/>
            <a:tailEnd type="triangle"/>
          </a:ln>
        </p:spPr>
      </p:sp>
      <p:sp>
        <p:nvSpPr>
          <p:cNvPr id="20" name="passbox|b3"/>
          <p:cNvSpPr/>
          <p:nvPr/>
        </p:nvSpPr>
        <p:spPr>
          <a:xfrm>
            <a:off x="4626864" y="1463040"/>
            <a:ext cx="1975104" cy="1234440"/>
          </a:xfrm>
          <a:prstGeom prst="roundRect">
            <a:avLst>
              <a:gd name="adj" fmla="val 5926"/>
            </a:avLst>
          </a:prstGeom>
          <a:solidFill>
            <a:srgbClr val="F1F4F8"/>
          </a:solidFill>
          <a:ln w="12700">
            <a:solidFill>
              <a:srgbClr val="9AA8B8"/>
            </a:solidFill>
            <a:prstDash val="solid"/>
          </a:ln>
        </p:spPr>
      </p:sp>
      <p:sp>
        <p:nvSpPr>
          <p:cNvPr id="21" name="v:BreakStatement:0:2:n|b3"/>
          <p:cNvSpPr txBox="1"/>
          <p:nvPr/>
        </p:nvSpPr>
        <p:spPr>
          <a:xfrm>
            <a:off x="4700016"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22" name="v:BreakStatement:0:2:v0|b3"/>
          <p:cNvSpPr txBox="1"/>
          <p:nvPr/>
        </p:nvSpPr>
        <p:spPr>
          <a:xfrm>
            <a:off x="4700016"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'7'</a:t>
            </a:r>
            <a:endParaRPr lang="en-US" sz="1050" dirty="0"/>
          </a:p>
        </p:txBody>
      </p:sp>
      <p:sp>
        <p:nvSpPr>
          <p:cNvPr id="23" name="v:BreakStatement:0:2:v1|b3"/>
          <p:cNvSpPr txBox="1"/>
          <p:nvPr/>
        </p:nvSpPr>
        <p:spPr>
          <a:xfrm>
            <a:off x="4700016"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24" name="evbox|b3"/>
          <p:cNvSpPr/>
          <p:nvPr/>
        </p:nvSpPr>
        <p:spPr>
          <a:xfrm>
            <a:off x="4681728" y="2221992"/>
            <a:ext cx="1865376" cy="420624"/>
          </a:xfrm>
          <a:prstGeom prst="roundRect">
            <a:avLst>
              <a:gd name="adj" fmla="val 10870"/>
            </a:avLst>
          </a:prstGeom>
          <a:solidFill>
            <a:srgbClr val="DDF3E6"/>
          </a:solidFill>
          <a:ln w="12700">
            <a:solidFill>
              <a:srgbClr val="DDF3E6"/>
            </a:solidFill>
            <a:prstDash val="solid"/>
          </a:ln>
        </p:spPr>
      </p:sp>
      <p:sp>
        <p:nvSpPr>
          <p:cNvPr id="25" name="v:BreakStatement:0:2:ev|b3"/>
          <p:cNvSpPr txBox="1"/>
          <p:nvPr/>
        </p:nvSpPr>
        <p:spPr>
          <a:xfrm>
            <a:off x="4718304"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26" name="arrow|b3"/>
          <p:cNvSpPr/>
          <p:nvPr/>
        </p:nvSpPr>
        <p:spPr>
          <a:xfrm>
            <a:off x="6601968" y="2080260"/>
            <a:ext cx="109728" cy="0"/>
          </a:xfrm>
          <a:prstGeom prst="line">
            <a:avLst/>
          </a:prstGeom>
          <a:noFill/>
          <a:ln w="19050">
            <a:solidFill>
              <a:srgbClr val="9AA8B8"/>
            </a:solidFill>
            <a:prstDash val="solid"/>
            <a:tailEnd type="triangle"/>
          </a:ln>
        </p:spPr>
      </p:sp>
      <p:sp>
        <p:nvSpPr>
          <p:cNvPr id="27" name="passbox|b4"/>
          <p:cNvSpPr/>
          <p:nvPr/>
        </p:nvSpPr>
        <p:spPr>
          <a:xfrm>
            <a:off x="6711696" y="1463040"/>
            <a:ext cx="1975104" cy="1234440"/>
          </a:xfrm>
          <a:prstGeom prst="roundRect">
            <a:avLst>
              <a:gd name="adj" fmla="val 5926"/>
            </a:avLst>
          </a:prstGeom>
          <a:solidFill>
            <a:srgbClr val="F1F4F8"/>
          </a:solidFill>
          <a:ln w="31750">
            <a:solidFill>
              <a:srgbClr val="D64545"/>
            </a:solidFill>
            <a:prstDash val="solid"/>
          </a:ln>
        </p:spPr>
      </p:sp>
      <p:sp>
        <p:nvSpPr>
          <p:cNvPr id="28" name="v:BreakStatement:0:3:n|b4"/>
          <p:cNvSpPr txBox="1"/>
          <p:nvPr/>
        </p:nvSpPr>
        <p:spPr>
          <a:xfrm>
            <a:off x="6784848"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4</a:t>
            </a:r>
            <a:endParaRPr lang="en-US" sz="1100" dirty="0"/>
          </a:p>
        </p:txBody>
      </p:sp>
      <p:sp>
        <p:nvSpPr>
          <p:cNvPr id="29" name="v:BreakStatement:0:3:v0|b4"/>
          <p:cNvSpPr txBox="1"/>
          <p:nvPr/>
        </p:nvSpPr>
        <p:spPr>
          <a:xfrm>
            <a:off x="6784848"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a:t>
            </a:r>
            <a:endParaRPr lang="en-US" sz="1050" dirty="0"/>
          </a:p>
        </p:txBody>
      </p:sp>
      <p:sp>
        <p:nvSpPr>
          <p:cNvPr id="30" name="v:BreakStatement:0:3:v1|b4"/>
          <p:cNvSpPr txBox="1"/>
          <p:nvPr/>
        </p:nvSpPr>
        <p:spPr>
          <a:xfrm>
            <a:off x="6784848"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12</a:t>
            </a:r>
            <a:endParaRPr lang="en-US" sz="1050" dirty="0"/>
          </a:p>
        </p:txBody>
      </p:sp>
      <p:sp>
        <p:nvSpPr>
          <p:cNvPr id="31" name="evbox|b4"/>
          <p:cNvSpPr/>
          <p:nvPr/>
        </p:nvSpPr>
        <p:spPr>
          <a:xfrm>
            <a:off x="6766560" y="2221992"/>
            <a:ext cx="1865376" cy="420624"/>
          </a:xfrm>
          <a:prstGeom prst="roundRect">
            <a:avLst>
              <a:gd name="adj" fmla="val 10870"/>
            </a:avLst>
          </a:prstGeom>
          <a:solidFill>
            <a:srgbClr val="FBE1E1"/>
          </a:solidFill>
          <a:ln w="12700">
            <a:solidFill>
              <a:srgbClr val="FBE1E1"/>
            </a:solidFill>
            <a:prstDash val="solid"/>
          </a:ln>
        </p:spPr>
      </p:sp>
      <p:sp>
        <p:nvSpPr>
          <p:cNvPr id="32" name="v:BreakStatement:0:3:ev|b4"/>
          <p:cNvSpPr txBox="1"/>
          <p:nvPr/>
        </p:nvSpPr>
        <p:spPr>
          <a:xfrm>
            <a:off x="6803136" y="2221992"/>
            <a:ext cx="1792224"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break: leave the loop</a:t>
            </a:r>
            <a:endParaRPr lang="en-US" sz="1050" dirty="0"/>
          </a:p>
        </p:txBody>
      </p:sp>
      <p:sp>
        <p:nvSpPr>
          <p:cNvPr id="33" name="progbox"/>
          <p:cNvSpPr/>
          <p:nvPr/>
        </p:nvSpPr>
        <p:spPr>
          <a:xfrm>
            <a:off x="457200" y="2880360"/>
            <a:ext cx="4343400" cy="1874520"/>
          </a:xfrm>
          <a:prstGeom prst="roundRect">
            <a:avLst>
              <a:gd name="adj" fmla="val 4878"/>
            </a:avLst>
          </a:prstGeom>
          <a:solidFill>
            <a:srgbClr val="17202B"/>
          </a:solidFill>
          <a:ln w="12700">
            <a:solidFill>
              <a:srgbClr val="17202B"/>
            </a:solidFill>
            <a:prstDash val="solid"/>
          </a:ln>
        </p:spPr>
      </p:sp>
      <p:sp>
        <p:nvSpPr>
          <p:cNvPr id="34" name="prog"/>
          <p:cNvSpPr txBox="1"/>
          <p:nvPr/>
        </p:nvSpPr>
        <p:spPr>
          <a:xfrm>
            <a:off x="640080" y="2971800"/>
            <a:ext cx="3977640" cy="16916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total = 0</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while True: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entry = input('Number (blank to stop):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entry ==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break</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not entry.isdigit():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continue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int(entry)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print('Total:', total)</a:t>
            </a:r>
            <a:endParaRPr lang="en-US" sz="1000" dirty="0"/>
          </a:p>
        </p:txBody>
      </p:sp>
      <p:sp>
        <p:nvSpPr>
          <p:cNvPr id="35" name="transbox|b5"/>
          <p:cNvSpPr/>
          <p:nvPr/>
        </p:nvSpPr>
        <p:spPr>
          <a:xfrm>
            <a:off x="4937760" y="2880360"/>
            <a:ext cx="3749040" cy="914400"/>
          </a:xfrm>
          <a:prstGeom prst="roundRect">
            <a:avLst>
              <a:gd name="adj" fmla="val 10000"/>
            </a:avLst>
          </a:prstGeom>
          <a:solidFill>
            <a:srgbClr val="F1F4F8"/>
          </a:solidFill>
          <a:ln w="12700">
            <a:solidFill>
              <a:srgbClr val="F1F4F8"/>
            </a:solidFill>
            <a:prstDash val="solid"/>
          </a:ln>
        </p:spPr>
      </p:sp>
      <p:sp>
        <p:nvSpPr>
          <p:cNvPr id="36" name="trans|b5"/>
          <p:cNvSpPr txBox="1"/>
          <p:nvPr/>
        </p:nvSpPr>
        <p:spPr>
          <a:xfrm>
            <a:off x="5074920" y="2953512"/>
            <a:ext cx="3474720" cy="76809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r>
              <a:rPr lang="en-US" sz="1050" b="1" dirty="0">
                <a:solidFill>
                  <a:srgbClr val="306998"/>
                </a:solidFill>
                <a:latin typeface="Courier New" pitchFamily="34" charset="0"/>
                <a:ea typeface="Courier New" pitchFamily="34" charset="-122"/>
                <a:cs typeface="Courier New" pitchFamily="34" charset="-120"/>
              </a:rPr>
              <a:t>5</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r>
              <a:rPr lang="en-US" sz="1050" b="1" dirty="0">
                <a:solidFill>
                  <a:srgbClr val="306998"/>
                </a:solidFill>
                <a:latin typeface="Courier New" pitchFamily="34" charset="0"/>
                <a:ea typeface="Courier New" pitchFamily="34" charset="-122"/>
                <a:cs typeface="Courier New" pitchFamily="34" charset="-120"/>
              </a:rPr>
              <a:t>x</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r>
              <a:rPr lang="en-US" sz="1050" b="1" dirty="0">
                <a:solidFill>
                  <a:srgbClr val="306998"/>
                </a:solidFill>
                <a:latin typeface="Courier New" pitchFamily="34" charset="0"/>
                <a:ea typeface="Courier New" pitchFamily="34" charset="-122"/>
                <a:cs typeface="Courier New" pitchFamily="34" charset="-120"/>
              </a:rPr>
              <a:t>7</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Total: 12</a:t>
            </a:r>
            <a:endParaRPr lang="en-US" sz="1050" dirty="0"/>
          </a:p>
        </p:txBody>
      </p:sp>
      <p:sp>
        <p:nvSpPr>
          <p:cNvPr id="37" name="transcap|b5"/>
          <p:cNvSpPr txBox="1"/>
          <p:nvPr/>
        </p:nvSpPr>
        <p:spPr>
          <a:xfrm>
            <a:off x="4937760" y="382219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38" name="say|b5"/>
          <p:cNvSpPr txBox="1"/>
          <p:nvPr/>
        </p:nvSpPr>
        <p:spPr>
          <a:xfrm>
            <a:off x="4937760" y="4160520"/>
            <a:ext cx="3749040" cy="594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x fails isdigit(), so continue skips the adding. The blank entry reaches break: the loop ends, and the total is 12.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0" fill="hold">
                      <p:stCondLst>
                        <p:cond delay="indefinite"/>
                      </p:stCondLst>
                      <p:childTnLst>
                        <p:par>
                          <p:cTn id="9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childTnLst>
                          </p:cTn>
                        </p:par>
                      </p:childTnLst>
                    </p:cTn>
                  </p:par>
                  <p:par>
                    <p:cTn id="104" fill="hold">
                      <p:stCondLst>
                        <p:cond delay="indefinite"/>
                      </p:stCondLst>
                      <p:childTnLst>
                        <p:par>
                          <p:cTn id="105"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4" grpId="0" animBg="1"/>
      <p:bldP spid="15" grpId="0" animBg="1"/>
      <p:bldP spid="16" grpId="0" animBg="1"/>
      <p:bldP spid="18" grpId="0" animBg="1"/>
      <p:bldP spid="21" grpId="0" animBg="1"/>
      <p:bldP spid="22" grpId="0" animBg="1"/>
      <p:bldP spid="23" grpId="0" animBg="1"/>
      <p:bldP spid="25" grpId="0" animBg="1"/>
      <p:bldP spid="28" grpId="0" animBg="1"/>
      <p:bldP spid="29" grpId="0" animBg="1"/>
      <p:bldP spid="30" grpId="0" animBg="1"/>
      <p:bldP spid="32" grpId="0" animBg="1"/>
      <p:bldP spid="36" grpId="0" animBg="1"/>
      <p:bldP spid="37"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else runs only when no pass reached break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runs of one search: found, and not found</a:t>
            </a:r>
            <a:endParaRPr lang="en-US" sz="1400" dirty="0"/>
          </a:p>
        </p:txBody>
      </p:sp>
      <p:sp>
        <p:nvSpPr>
          <p:cNvPr id="6" name="progbox"/>
          <p:cNvSpPr/>
          <p:nvPr/>
        </p:nvSpPr>
        <p:spPr>
          <a:xfrm>
            <a:off x="457200" y="1280160"/>
            <a:ext cx="3566160" cy="1965960"/>
          </a:xfrm>
          <a:prstGeom prst="roundRect">
            <a:avLst>
              <a:gd name="adj" fmla="val 4651"/>
            </a:avLst>
          </a:prstGeom>
          <a:solidFill>
            <a:srgbClr val="17202B"/>
          </a:solidFill>
          <a:ln w="12700">
            <a:solidFill>
              <a:srgbClr val="17202B"/>
            </a:solidFill>
            <a:prstDash val="solid"/>
          </a:ln>
        </p:spPr>
      </p:sp>
      <p:sp>
        <p:nvSpPr>
          <p:cNvPr id="7" name="prog"/>
          <p:cNvSpPr txBox="1"/>
          <p:nvPr/>
        </p:nvSpPr>
        <p:spPr>
          <a:xfrm>
            <a:off x="640080" y="1371600"/>
            <a:ext cx="3200400" cy="178308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words = ['cat', 'dog', 'bird']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target = input('Find: ')</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word in words: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word == target:</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print('found', word)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print('not found')</a:t>
            </a:r>
            <a:endParaRPr lang="en-US" sz="1200" dirty="0"/>
          </a:p>
        </p:txBody>
      </p:sp>
      <p:sp>
        <p:nvSpPr>
          <p:cNvPr id="8" name="transbox"/>
          <p:cNvSpPr/>
          <p:nvPr/>
        </p:nvSpPr>
        <p:spPr>
          <a:xfrm>
            <a:off x="457200" y="3474720"/>
            <a:ext cx="3566160" cy="1234440"/>
          </a:xfrm>
          <a:prstGeom prst="roundRect">
            <a:avLst>
              <a:gd name="adj" fmla="val 7407"/>
            </a:avLst>
          </a:prstGeom>
          <a:solidFill>
            <a:srgbClr val="F1F4F8"/>
          </a:solidFill>
          <a:ln w="12700">
            <a:solidFill>
              <a:srgbClr val="F1F4F8"/>
            </a:solidFill>
            <a:prstDash val="solid"/>
          </a:ln>
        </p:spPr>
      </p:sp>
      <p:sp>
        <p:nvSpPr>
          <p:cNvPr id="9" name="trans"/>
          <p:cNvSpPr txBox="1"/>
          <p:nvPr/>
        </p:nvSpPr>
        <p:spPr>
          <a:xfrm>
            <a:off x="594360" y="3547872"/>
            <a:ext cx="3291840" cy="108813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r>
              <a:rPr lang="en-US" sz="1100" b="1" dirty="0">
                <a:solidFill>
                  <a:srgbClr val="306998"/>
                </a:solidFill>
                <a:latin typeface="Courier New" pitchFamily="34" charset="0"/>
                <a:ea typeface="Courier New" pitchFamily="34" charset="-122"/>
                <a:cs typeface="Courier New" pitchFamily="34" charset="-120"/>
              </a:rPr>
              <a:t>dog</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found dog</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r>
              <a:rPr lang="en-US" sz="1100" b="1" dirty="0">
                <a:solidFill>
                  <a:srgbClr val="306998"/>
                </a:solidFill>
                <a:latin typeface="Courier New" pitchFamily="34" charset="0"/>
                <a:ea typeface="Courier New" pitchFamily="34" charset="-122"/>
                <a:cs typeface="Courier New" pitchFamily="34" charset="-120"/>
              </a:rPr>
              <a:t>fish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not found</a:t>
            </a:r>
            <a:endParaRPr lang="en-US" sz="1100" dirty="0"/>
          </a:p>
        </p:txBody>
      </p:sp>
      <p:sp>
        <p:nvSpPr>
          <p:cNvPr id="10" name="transcap"/>
          <p:cNvSpPr txBox="1"/>
          <p:nvPr/>
        </p:nvSpPr>
        <p:spPr>
          <a:xfrm>
            <a:off x="457200" y="4736592"/>
            <a:ext cx="35661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tripcap"/>
          <p:cNvSpPr txBox="1"/>
          <p:nvPr/>
        </p:nvSpPr>
        <p:spPr>
          <a:xfrm>
            <a:off x="4251960" y="1325880"/>
            <a:ext cx="295656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‘dog’</a:t>
            </a:r>
            <a:endParaRPr lang="en-US" sz="1200" dirty="0"/>
          </a:p>
        </p:txBody>
      </p:sp>
      <p:sp>
        <p:nvSpPr>
          <p:cNvPr id="12" name="passbox|b1"/>
          <p:cNvSpPr/>
          <p:nvPr/>
        </p:nvSpPr>
        <p:spPr>
          <a:xfrm>
            <a:off x="4251960" y="1600200"/>
            <a:ext cx="1423416" cy="1234440"/>
          </a:xfrm>
          <a:prstGeom prst="roundRect">
            <a:avLst>
              <a:gd name="adj" fmla="val 5926"/>
            </a:avLst>
          </a:prstGeom>
          <a:solidFill>
            <a:srgbClr val="F1F4F8"/>
          </a:solidFill>
          <a:ln w="12700">
            <a:solidFill>
              <a:srgbClr val="9AA8B8"/>
            </a:solidFill>
            <a:prstDash val="solid"/>
          </a:ln>
        </p:spPr>
      </p:sp>
      <p:sp>
        <p:nvSpPr>
          <p:cNvPr id="13" name="v:LoopElseClause:0:0:n|b1"/>
          <p:cNvSpPr txBox="1"/>
          <p:nvPr/>
        </p:nvSpPr>
        <p:spPr>
          <a:xfrm>
            <a:off x="4325112"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14" name="v:LoopElseClause:0:0:v0|b1"/>
          <p:cNvSpPr txBox="1"/>
          <p:nvPr/>
        </p:nvSpPr>
        <p:spPr>
          <a:xfrm>
            <a:off x="4325112"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15" name="evbox|b1"/>
          <p:cNvSpPr/>
          <p:nvPr/>
        </p:nvSpPr>
        <p:spPr>
          <a:xfrm>
            <a:off x="4306824" y="2139696"/>
            <a:ext cx="1313688" cy="640080"/>
          </a:xfrm>
          <a:prstGeom prst="roundRect">
            <a:avLst>
              <a:gd name="adj" fmla="val 7143"/>
            </a:avLst>
          </a:prstGeom>
          <a:solidFill>
            <a:srgbClr val="F1F4F8"/>
          </a:solidFill>
          <a:ln w="12700">
            <a:solidFill>
              <a:srgbClr val="F1F4F8"/>
            </a:solidFill>
            <a:prstDash val="solid"/>
          </a:ln>
        </p:spPr>
      </p:sp>
      <p:sp>
        <p:nvSpPr>
          <p:cNvPr id="16" name="v:LoopElseClause:0:0:ev|b1"/>
          <p:cNvSpPr txBox="1"/>
          <p:nvPr/>
        </p:nvSpPr>
        <p:spPr>
          <a:xfrm>
            <a:off x="4343400" y="2139696"/>
            <a:ext cx="1240536"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17" name="arrow|b1"/>
          <p:cNvSpPr/>
          <p:nvPr/>
        </p:nvSpPr>
        <p:spPr>
          <a:xfrm>
            <a:off x="5675376" y="2217420"/>
            <a:ext cx="109728" cy="0"/>
          </a:xfrm>
          <a:prstGeom prst="line">
            <a:avLst/>
          </a:prstGeom>
          <a:noFill/>
          <a:ln w="19050">
            <a:solidFill>
              <a:srgbClr val="9AA8B8"/>
            </a:solidFill>
            <a:prstDash val="solid"/>
            <a:tailEnd type="triangle"/>
          </a:ln>
        </p:spPr>
      </p:sp>
      <p:sp>
        <p:nvSpPr>
          <p:cNvPr id="18" name="passbox|b2"/>
          <p:cNvSpPr/>
          <p:nvPr/>
        </p:nvSpPr>
        <p:spPr>
          <a:xfrm>
            <a:off x="5785104" y="1600200"/>
            <a:ext cx="1423416" cy="1234440"/>
          </a:xfrm>
          <a:prstGeom prst="roundRect">
            <a:avLst>
              <a:gd name="adj" fmla="val 5926"/>
            </a:avLst>
          </a:prstGeom>
          <a:solidFill>
            <a:srgbClr val="F1F4F8"/>
          </a:solidFill>
          <a:ln w="31750">
            <a:solidFill>
              <a:srgbClr val="D64545"/>
            </a:solidFill>
            <a:prstDash val="solid"/>
          </a:ln>
        </p:spPr>
      </p:sp>
      <p:sp>
        <p:nvSpPr>
          <p:cNvPr id="19" name="v:LoopElseClause:0:1:n|b2"/>
          <p:cNvSpPr txBox="1"/>
          <p:nvPr/>
        </p:nvSpPr>
        <p:spPr>
          <a:xfrm>
            <a:off x="5858256"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20" name="v:LoopElseClause:0:1:v0|b2"/>
          <p:cNvSpPr txBox="1"/>
          <p:nvPr/>
        </p:nvSpPr>
        <p:spPr>
          <a:xfrm>
            <a:off x="5858256"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21" name="evbox|b2"/>
          <p:cNvSpPr/>
          <p:nvPr/>
        </p:nvSpPr>
        <p:spPr>
          <a:xfrm>
            <a:off x="5839968" y="2139696"/>
            <a:ext cx="1313688" cy="640080"/>
          </a:xfrm>
          <a:prstGeom prst="roundRect">
            <a:avLst>
              <a:gd name="adj" fmla="val 7143"/>
            </a:avLst>
          </a:prstGeom>
          <a:solidFill>
            <a:srgbClr val="FBE1E1"/>
          </a:solidFill>
          <a:ln w="12700">
            <a:solidFill>
              <a:srgbClr val="FBE1E1"/>
            </a:solidFill>
            <a:prstDash val="solid"/>
          </a:ln>
        </p:spPr>
      </p:sp>
      <p:sp>
        <p:nvSpPr>
          <p:cNvPr id="22" name="v:LoopElseClause:0:1:ev|b2"/>
          <p:cNvSpPr txBox="1"/>
          <p:nvPr/>
        </p:nvSpPr>
        <p:spPr>
          <a:xfrm>
            <a:off x="5876544" y="2139696"/>
            <a:ext cx="1240536"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found: break follows; break: else skipped</a:t>
            </a:r>
            <a:endParaRPr lang="en-US" sz="1050" dirty="0"/>
          </a:p>
        </p:txBody>
      </p:sp>
      <p:sp>
        <p:nvSpPr>
          <p:cNvPr id="23" name="stripcap"/>
          <p:cNvSpPr txBox="1"/>
          <p:nvPr/>
        </p:nvSpPr>
        <p:spPr>
          <a:xfrm>
            <a:off x="4251960" y="2926080"/>
            <a:ext cx="443484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‘fish’</a:t>
            </a:r>
            <a:endParaRPr lang="en-US" sz="1200" dirty="0"/>
          </a:p>
        </p:txBody>
      </p:sp>
      <p:sp>
        <p:nvSpPr>
          <p:cNvPr id="24" name="passbox|b3"/>
          <p:cNvSpPr/>
          <p:nvPr/>
        </p:nvSpPr>
        <p:spPr>
          <a:xfrm>
            <a:off x="4251960" y="3200400"/>
            <a:ext cx="1405128" cy="1234440"/>
          </a:xfrm>
          <a:prstGeom prst="roundRect">
            <a:avLst>
              <a:gd name="adj" fmla="val 5926"/>
            </a:avLst>
          </a:prstGeom>
          <a:solidFill>
            <a:srgbClr val="F1F4F8"/>
          </a:solidFill>
          <a:ln w="12700">
            <a:solidFill>
              <a:srgbClr val="9AA8B8"/>
            </a:solidFill>
            <a:prstDash val="solid"/>
          </a:ln>
        </p:spPr>
      </p:sp>
      <p:sp>
        <p:nvSpPr>
          <p:cNvPr id="25" name="v:LoopElseClause:1:0:n|b3"/>
          <p:cNvSpPr txBox="1"/>
          <p:nvPr/>
        </p:nvSpPr>
        <p:spPr>
          <a:xfrm>
            <a:off x="4325112"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26" name="v:LoopElseClause:1:0:v0|b3"/>
          <p:cNvSpPr txBox="1"/>
          <p:nvPr/>
        </p:nvSpPr>
        <p:spPr>
          <a:xfrm>
            <a:off x="4325112"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27" name="evbox|b3"/>
          <p:cNvSpPr/>
          <p:nvPr/>
        </p:nvSpPr>
        <p:spPr>
          <a:xfrm>
            <a:off x="4306824" y="3739896"/>
            <a:ext cx="1295400" cy="640080"/>
          </a:xfrm>
          <a:prstGeom prst="roundRect">
            <a:avLst>
              <a:gd name="adj" fmla="val 7143"/>
            </a:avLst>
          </a:prstGeom>
          <a:solidFill>
            <a:srgbClr val="F1F4F8"/>
          </a:solidFill>
          <a:ln w="12700">
            <a:solidFill>
              <a:srgbClr val="F1F4F8"/>
            </a:solidFill>
            <a:prstDash val="solid"/>
          </a:ln>
        </p:spPr>
      </p:sp>
      <p:sp>
        <p:nvSpPr>
          <p:cNvPr id="28" name="v:LoopElseClause:1:0:ev|b3"/>
          <p:cNvSpPr txBox="1"/>
          <p:nvPr/>
        </p:nvSpPr>
        <p:spPr>
          <a:xfrm>
            <a:off x="4343400"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29" name="arrow|b3"/>
          <p:cNvSpPr/>
          <p:nvPr/>
        </p:nvSpPr>
        <p:spPr>
          <a:xfrm>
            <a:off x="5657088" y="3817620"/>
            <a:ext cx="109728" cy="0"/>
          </a:xfrm>
          <a:prstGeom prst="line">
            <a:avLst/>
          </a:prstGeom>
          <a:noFill/>
          <a:ln w="19050">
            <a:solidFill>
              <a:srgbClr val="9AA8B8"/>
            </a:solidFill>
            <a:prstDash val="solid"/>
            <a:tailEnd type="triangle"/>
          </a:ln>
        </p:spPr>
      </p:sp>
      <p:sp>
        <p:nvSpPr>
          <p:cNvPr id="30" name="passbox|b4"/>
          <p:cNvSpPr/>
          <p:nvPr/>
        </p:nvSpPr>
        <p:spPr>
          <a:xfrm>
            <a:off x="5766816" y="3200400"/>
            <a:ext cx="1405128" cy="1234440"/>
          </a:xfrm>
          <a:prstGeom prst="roundRect">
            <a:avLst>
              <a:gd name="adj" fmla="val 5926"/>
            </a:avLst>
          </a:prstGeom>
          <a:solidFill>
            <a:srgbClr val="F1F4F8"/>
          </a:solidFill>
          <a:ln w="12700">
            <a:solidFill>
              <a:srgbClr val="9AA8B8"/>
            </a:solidFill>
            <a:prstDash val="solid"/>
          </a:ln>
        </p:spPr>
      </p:sp>
      <p:sp>
        <p:nvSpPr>
          <p:cNvPr id="31" name="v:LoopElseClause:1:1:n|b4"/>
          <p:cNvSpPr txBox="1"/>
          <p:nvPr/>
        </p:nvSpPr>
        <p:spPr>
          <a:xfrm>
            <a:off x="5839968"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32" name="v:LoopElseClause:1:1:v0|b4"/>
          <p:cNvSpPr txBox="1"/>
          <p:nvPr/>
        </p:nvSpPr>
        <p:spPr>
          <a:xfrm>
            <a:off x="5839968"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33" name="evbox|b4"/>
          <p:cNvSpPr/>
          <p:nvPr/>
        </p:nvSpPr>
        <p:spPr>
          <a:xfrm>
            <a:off x="5821680" y="3739896"/>
            <a:ext cx="1295400" cy="640080"/>
          </a:xfrm>
          <a:prstGeom prst="roundRect">
            <a:avLst>
              <a:gd name="adj" fmla="val 7143"/>
            </a:avLst>
          </a:prstGeom>
          <a:solidFill>
            <a:srgbClr val="F1F4F8"/>
          </a:solidFill>
          <a:ln w="12700">
            <a:solidFill>
              <a:srgbClr val="F1F4F8"/>
            </a:solidFill>
            <a:prstDash val="solid"/>
          </a:ln>
        </p:spPr>
      </p:sp>
      <p:sp>
        <p:nvSpPr>
          <p:cNvPr id="34" name="v:LoopElseClause:1:1:ev|b4"/>
          <p:cNvSpPr txBox="1"/>
          <p:nvPr/>
        </p:nvSpPr>
        <p:spPr>
          <a:xfrm>
            <a:off x="5858256"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35" name="arrow|b4"/>
          <p:cNvSpPr/>
          <p:nvPr/>
        </p:nvSpPr>
        <p:spPr>
          <a:xfrm>
            <a:off x="7171944" y="3817620"/>
            <a:ext cx="109728" cy="0"/>
          </a:xfrm>
          <a:prstGeom prst="line">
            <a:avLst/>
          </a:prstGeom>
          <a:noFill/>
          <a:ln w="19050">
            <a:solidFill>
              <a:srgbClr val="9AA8B8"/>
            </a:solidFill>
            <a:prstDash val="solid"/>
            <a:tailEnd type="triangle"/>
          </a:ln>
        </p:spPr>
      </p:sp>
      <p:sp>
        <p:nvSpPr>
          <p:cNvPr id="36" name="passbox|b5"/>
          <p:cNvSpPr/>
          <p:nvPr/>
        </p:nvSpPr>
        <p:spPr>
          <a:xfrm>
            <a:off x="7281672" y="3200400"/>
            <a:ext cx="1405128" cy="1234440"/>
          </a:xfrm>
          <a:prstGeom prst="roundRect">
            <a:avLst>
              <a:gd name="adj" fmla="val 5926"/>
            </a:avLst>
          </a:prstGeom>
          <a:solidFill>
            <a:srgbClr val="F1F4F8"/>
          </a:solidFill>
          <a:ln w="31750">
            <a:solidFill>
              <a:srgbClr val="D64545"/>
            </a:solidFill>
            <a:prstDash val="solid"/>
          </a:ln>
        </p:spPr>
      </p:sp>
      <p:sp>
        <p:nvSpPr>
          <p:cNvPr id="37" name="v:LoopElseClause:1:2:n|b5"/>
          <p:cNvSpPr txBox="1"/>
          <p:nvPr/>
        </p:nvSpPr>
        <p:spPr>
          <a:xfrm>
            <a:off x="7354824"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38" name="v:LoopElseClause:1:2:v0|b5"/>
          <p:cNvSpPr txBox="1"/>
          <p:nvPr/>
        </p:nvSpPr>
        <p:spPr>
          <a:xfrm>
            <a:off x="7354824"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'bird'</a:t>
            </a:r>
            <a:endParaRPr lang="en-US" sz="1050" dirty="0"/>
          </a:p>
        </p:txBody>
      </p:sp>
      <p:sp>
        <p:nvSpPr>
          <p:cNvPr id="39" name="evbox|b5"/>
          <p:cNvSpPr/>
          <p:nvPr/>
        </p:nvSpPr>
        <p:spPr>
          <a:xfrm>
            <a:off x="7336536" y="3739896"/>
            <a:ext cx="1295400" cy="640080"/>
          </a:xfrm>
          <a:prstGeom prst="roundRect">
            <a:avLst>
              <a:gd name="adj" fmla="val 7143"/>
            </a:avLst>
          </a:prstGeom>
          <a:solidFill>
            <a:srgbClr val="FBE1E1"/>
          </a:solidFill>
          <a:ln w="12700">
            <a:solidFill>
              <a:srgbClr val="FBE1E1"/>
            </a:solidFill>
            <a:prstDash val="solid"/>
          </a:ln>
        </p:spPr>
      </p:sp>
      <p:sp>
        <p:nvSpPr>
          <p:cNvPr id="40" name="v:LoopElseClause:1:2:ev|b5"/>
          <p:cNvSpPr txBox="1"/>
          <p:nvPr/>
        </p:nvSpPr>
        <p:spPr>
          <a:xfrm>
            <a:off x="7373112" y="3739896"/>
            <a:ext cx="1222248"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else ran: nothing was found</a:t>
            </a:r>
            <a:endParaRPr lang="en-US" sz="1050" dirty="0"/>
          </a:p>
        </p:txBody>
      </p:sp>
      <p:sp>
        <p:nvSpPr>
          <p:cNvPr id="41" name="say|b4"/>
          <p:cNvSpPr txBox="1"/>
          <p:nvPr/>
        </p:nvSpPr>
        <p:spPr>
          <a:xfrm>
            <a:off x="4251960" y="4526280"/>
            <a:ext cx="4434840" cy="41148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Read the else as “searched everything, found nothing”. A break skips it.</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38" fill="hold">
                      <p:stCondLst>
                        <p:cond delay="indefinite"/>
                      </p:stCondLst>
                      <p:childTnLst>
                        <p:par>
                          <p:cTn id="39"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par>
                    <p:cTn id="58" fill="hold">
                      <p:stCondLst>
                        <p:cond delay="indefinite"/>
                      </p:stCondLst>
                      <p:childTnLst>
                        <p:par>
                          <p:cTn id="5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par>
                                <p:cTn id="55" presetID="10"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00"/>
                                        <p:tgtEl>
                                          <p:spTgt spid="29"/>
                                        </p:tgtEl>
                                      </p:cBhvr>
                                    </p:animEffect>
                                  </p:childTnLst>
                                </p:cTn>
                              </p:par>
                            </p:childTnLst>
                          </p:cTn>
                        </p:par>
                      </p:childTnLst>
                    </p:cTn>
                  </p:par>
                  <p:par>
                    <p:cTn id="81" fill="hold">
                      <p:stCondLst>
                        <p:cond delay="indefinite"/>
                      </p:stCondLst>
                      <p:childTnLst>
                        <p:par>
                          <p:cTn id="82"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par>
                    <p:cTn id="98" fill="hold">
                      <p:stCondLst>
                        <p:cond delay="indefinite"/>
                      </p:stCondLst>
                      <p:childTnLst>
                        <p:par>
                          <p:cTn id="99"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400"/>
                                        <p:tgtEl>
                                          <p:spTgt spid="3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400"/>
                                        <p:tgtEl>
                                          <p:spTgt spid="3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400"/>
                                        <p:tgtEl>
                                          <p:spTgt spid="38"/>
                                        </p:tgtEl>
                                      </p:cBhvr>
                                    </p:animEffect>
                                  </p:childTnLst>
                                </p:cTn>
                              </p:par>
                              <p:par>
                                <p:cTn id="92" presetID="10" presetClass="entr" presetSubtype="0" fill="hold"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400"/>
                                        <p:tgtEl>
                                          <p:spTgt spid="3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9" grpId="0" animBg="1"/>
      <p:bldP spid="20" grpId="0" animBg="1"/>
      <p:bldP spid="22" grpId="0" animBg="1"/>
      <p:bldP spid="25" grpId="0" animBg="1"/>
      <p:bldP spid="26" grpId="0" animBg="1"/>
      <p:bldP spid="28" grpId="0" animBg="1"/>
      <p:bldP spid="31" grpId="0" animBg="1"/>
      <p:bldP spid="32" grpId="0" animBg="1"/>
      <p:bldP spid="34" grpId="0" animBg="1"/>
      <p:bldP spid="37" grpId="0" animBg="1"/>
      <p:bldP spid="38" grpId="0" animBg="1"/>
      <p:bldP spid="40" grpId="0" animBg="1"/>
      <p:bldP spid="4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variable outlives the loop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After for i in range(3), i is still there — and holds 2</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2011680" y="1280160"/>
            <a:ext cx="156362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2" name="x"/>
          <p:cNvSpPr/>
          <p:nvPr/>
        </p:nvSpPr>
        <p:spPr>
          <a:xfrm>
            <a:off x="3611880" y="1280160"/>
            <a:ext cx="1563624" cy="310896"/>
          </a:xfrm>
          <a:prstGeom prst="rect">
            <a:avLst/>
          </a:prstGeom>
          <a:solidFill>
            <a:srgbClr val="1E2A3A"/>
          </a:solidFill>
          <a:ln w="12700">
            <a:solidFill>
              <a:srgbClr val="1E2A3A"/>
            </a:solidFill>
            <a:prstDash val="solid"/>
          </a:ln>
        </p:spPr>
      </p:sp>
      <p:sp>
        <p:nvSpPr>
          <p:cNvPr id="13" name="x"/>
          <p:cNvSpPr txBox="1"/>
          <p:nvPr/>
        </p:nvSpPr>
        <p:spPr>
          <a:xfrm>
            <a:off x="36667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4"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5" name="v:LoopVariableScope: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6"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7" name="v:LoopVariableScope: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18" name="cellbox|b1"/>
          <p:cNvSpPr/>
          <p:nvPr/>
        </p:nvSpPr>
        <p:spPr>
          <a:xfrm>
            <a:off x="2011680" y="1627632"/>
            <a:ext cx="1563624" cy="411480"/>
          </a:xfrm>
          <a:prstGeom prst="rect">
            <a:avLst/>
          </a:prstGeom>
          <a:solidFill>
            <a:srgbClr val="F1F4F8"/>
          </a:solidFill>
          <a:ln w="12700">
            <a:solidFill>
              <a:srgbClr val="F1F4F8"/>
            </a:solidFill>
            <a:prstDash val="solid"/>
          </a:ln>
        </p:spPr>
      </p:sp>
      <p:sp>
        <p:nvSpPr>
          <p:cNvPr id="19" name="v:LoopVariableScope:0:0:ev|b1"/>
          <p:cNvSpPr txBox="1"/>
          <p:nvPr/>
        </p:nvSpPr>
        <p:spPr>
          <a:xfrm>
            <a:off x="20665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0" name="cellbox|b1"/>
          <p:cNvSpPr/>
          <p:nvPr/>
        </p:nvSpPr>
        <p:spPr>
          <a:xfrm>
            <a:off x="3611880" y="1627632"/>
            <a:ext cx="1563624" cy="411480"/>
          </a:xfrm>
          <a:prstGeom prst="rect">
            <a:avLst/>
          </a:prstGeom>
          <a:solidFill>
            <a:srgbClr val="F1F4F8"/>
          </a:solidFill>
          <a:ln w="12700">
            <a:solidFill>
              <a:srgbClr val="F1F4F8"/>
            </a:solidFill>
            <a:prstDash val="solid"/>
          </a:ln>
        </p:spPr>
      </p:sp>
      <p:sp>
        <p:nvSpPr>
          <p:cNvPr id="21" name="v:LoopVariableScope:0:0:out|b1"/>
          <p:cNvSpPr txBox="1"/>
          <p:nvPr/>
        </p:nvSpPr>
        <p:spPr>
          <a:xfrm>
            <a:off x="36667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2"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3" name="v:LoopVariableScope: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4"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5" name="v:LoopVariableScope: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6" name="cellbox|b2"/>
          <p:cNvSpPr/>
          <p:nvPr/>
        </p:nvSpPr>
        <p:spPr>
          <a:xfrm>
            <a:off x="2011680" y="2084832"/>
            <a:ext cx="1563624" cy="411480"/>
          </a:xfrm>
          <a:prstGeom prst="rect">
            <a:avLst/>
          </a:prstGeom>
          <a:solidFill>
            <a:srgbClr val="F1F4F8"/>
          </a:solidFill>
          <a:ln w="12700">
            <a:solidFill>
              <a:srgbClr val="F1F4F8"/>
            </a:solidFill>
            <a:prstDash val="solid"/>
          </a:ln>
        </p:spPr>
      </p:sp>
      <p:sp>
        <p:nvSpPr>
          <p:cNvPr id="27" name="v:LoopVariableScope:0:1:ev|b2"/>
          <p:cNvSpPr txBox="1"/>
          <p:nvPr/>
        </p:nvSpPr>
        <p:spPr>
          <a:xfrm>
            <a:off x="20665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28" name="cellbox|b2"/>
          <p:cNvSpPr/>
          <p:nvPr/>
        </p:nvSpPr>
        <p:spPr>
          <a:xfrm>
            <a:off x="3611880" y="2084832"/>
            <a:ext cx="1563624" cy="411480"/>
          </a:xfrm>
          <a:prstGeom prst="rect">
            <a:avLst/>
          </a:prstGeom>
          <a:solidFill>
            <a:srgbClr val="F1F4F8"/>
          </a:solidFill>
          <a:ln w="12700">
            <a:solidFill>
              <a:srgbClr val="F1F4F8"/>
            </a:solidFill>
            <a:prstDash val="solid"/>
          </a:ln>
        </p:spPr>
      </p:sp>
      <p:sp>
        <p:nvSpPr>
          <p:cNvPr id="29" name="v:LoopVariableScope:0:1:out|b2"/>
          <p:cNvSpPr txBox="1"/>
          <p:nvPr/>
        </p:nvSpPr>
        <p:spPr>
          <a:xfrm>
            <a:off x="36667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30"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1" name="v:LoopVariableScope: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2"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3" name="v:LoopVariableScope: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4" name="cellbox|b3"/>
          <p:cNvSpPr/>
          <p:nvPr/>
        </p:nvSpPr>
        <p:spPr>
          <a:xfrm>
            <a:off x="2011680" y="2542032"/>
            <a:ext cx="1563624" cy="411480"/>
          </a:xfrm>
          <a:prstGeom prst="rect">
            <a:avLst/>
          </a:prstGeom>
          <a:solidFill>
            <a:srgbClr val="F1F4F8"/>
          </a:solidFill>
          <a:ln w="12700">
            <a:solidFill>
              <a:srgbClr val="F1F4F8"/>
            </a:solidFill>
            <a:prstDash val="solid"/>
          </a:ln>
        </p:spPr>
      </p:sp>
      <p:sp>
        <p:nvSpPr>
          <p:cNvPr id="35" name="v:LoopVariableScope:0:2:ev|b3"/>
          <p:cNvSpPr txBox="1"/>
          <p:nvPr/>
        </p:nvSpPr>
        <p:spPr>
          <a:xfrm>
            <a:off x="2066544" y="2542032"/>
            <a:ext cx="1453896" cy="41148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3611880" y="2542032"/>
            <a:ext cx="1563624" cy="411480"/>
          </a:xfrm>
          <a:prstGeom prst="rect">
            <a:avLst/>
          </a:prstGeom>
          <a:solidFill>
            <a:srgbClr val="F1F4F8"/>
          </a:solidFill>
          <a:ln w="12700">
            <a:solidFill>
              <a:srgbClr val="F1F4F8"/>
            </a:solidFill>
            <a:prstDash val="solid"/>
          </a:ln>
        </p:spPr>
      </p:sp>
      <p:sp>
        <p:nvSpPr>
          <p:cNvPr id="37" name="v:LoopVariableScope:0:2:out|b3"/>
          <p:cNvSpPr txBox="1"/>
          <p:nvPr/>
        </p:nvSpPr>
        <p:spPr>
          <a:xfrm>
            <a:off x="3666744" y="2542032"/>
            <a:ext cx="145389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 / False</a:t>
            </a:r>
            <a:endParaRPr lang="en-US" sz="1300" dirty="0"/>
          </a:p>
        </p:txBody>
      </p:sp>
      <p:sp>
        <p:nvSpPr>
          <p:cNvPr id="38" name="progbox"/>
          <p:cNvSpPr/>
          <p:nvPr/>
        </p:nvSpPr>
        <p:spPr>
          <a:xfrm>
            <a:off x="5486400" y="1280160"/>
            <a:ext cx="3200400" cy="1600200"/>
          </a:xfrm>
          <a:prstGeom prst="roundRect">
            <a:avLst>
              <a:gd name="adj" fmla="val 5714"/>
            </a:avLst>
          </a:prstGeom>
          <a:solidFill>
            <a:srgbClr val="17202B"/>
          </a:solidFill>
          <a:ln w="12700">
            <a:solidFill>
              <a:srgbClr val="17202B"/>
            </a:solidFill>
            <a:prstDash val="solid"/>
          </a:ln>
        </p:spPr>
      </p:sp>
      <p:sp>
        <p:nvSpPr>
          <p:cNvPr id="39" name="prog"/>
          <p:cNvSpPr txBox="1"/>
          <p:nvPr/>
        </p:nvSpPr>
        <p:spPr>
          <a:xfrm>
            <a:off x="5669280" y="1371600"/>
            <a:ext cx="2834640" cy="1417320"/>
          </a:xfrm>
          <a:prstGeom prst="rect">
            <a:avLst/>
          </a:prstGeom>
          <a:noFill/>
          <a:ln/>
        </p:spPr>
        <p:txBody>
          <a:bodyPr wrap="square" lIns="0" tIns="0" rIns="0" bIns="0" rtlCol="0" anchor="t"/>
          <a:lstStyle/>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i in range(3):</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print(i)</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j in []:</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print('j' in dir())</a:t>
            </a:r>
            <a:endParaRPr lang="en-US" sz="1250" dirty="0"/>
          </a:p>
        </p:txBody>
      </p:sp>
      <p:sp>
        <p:nvSpPr>
          <p:cNvPr id="40" name="transbox"/>
          <p:cNvSpPr/>
          <p:nvPr/>
        </p:nvSpPr>
        <p:spPr>
          <a:xfrm>
            <a:off x="5486400" y="3108960"/>
            <a:ext cx="3200400" cy="777240"/>
          </a:xfrm>
          <a:prstGeom prst="roundRect">
            <a:avLst>
              <a:gd name="adj" fmla="val 11765"/>
            </a:avLst>
          </a:prstGeom>
          <a:solidFill>
            <a:srgbClr val="F1F4F8"/>
          </a:solidFill>
          <a:ln w="12700">
            <a:solidFill>
              <a:srgbClr val="F1F4F8"/>
            </a:solidFill>
            <a:prstDash val="solid"/>
          </a:ln>
        </p:spPr>
      </p:sp>
      <p:sp>
        <p:nvSpPr>
          <p:cNvPr id="41" name="trans"/>
          <p:cNvSpPr txBox="1"/>
          <p:nvPr/>
        </p:nvSpPr>
        <p:spPr>
          <a:xfrm>
            <a:off x="5623560" y="3182112"/>
            <a:ext cx="2926080" cy="630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2</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False</a:t>
            </a:r>
            <a:endParaRPr lang="en-US" sz="1400" dirty="0"/>
          </a:p>
        </p:txBody>
      </p:sp>
      <p:sp>
        <p:nvSpPr>
          <p:cNvPr id="42" name="transcap"/>
          <p:cNvSpPr txBox="1"/>
          <p:nvPr/>
        </p:nvSpPr>
        <p:spPr>
          <a:xfrm>
            <a:off x="5486400" y="39136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43" name="card|b4"/>
          <p:cNvSpPr/>
          <p:nvPr/>
        </p:nvSpPr>
        <p:spPr>
          <a:xfrm>
            <a:off x="457200" y="3749040"/>
            <a:ext cx="4754880" cy="1005840"/>
          </a:xfrm>
          <a:prstGeom prst="roundRect">
            <a:avLst>
              <a:gd name="adj" fmla="val 9091"/>
            </a:avLst>
          </a:prstGeom>
          <a:solidFill>
            <a:srgbClr val="F1F4F8"/>
          </a:solidFill>
          <a:ln w="12700">
            <a:solidFill>
              <a:srgbClr val="F1F4F8"/>
            </a:solidFill>
            <a:prstDash val="solid"/>
          </a:ln>
        </p:spPr>
      </p:sp>
      <p:sp>
        <p:nvSpPr>
          <p:cNvPr id="44" name="cardhead|b4"/>
          <p:cNvSpPr txBox="1"/>
          <p:nvPr/>
        </p:nvSpPr>
        <p:spPr>
          <a:xfrm>
            <a:off x="621792" y="3840480"/>
            <a:ext cx="44256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Two facts from the reference</a:t>
            </a:r>
            <a:endParaRPr lang="en-US" sz="1500" dirty="0"/>
          </a:p>
        </p:txBody>
      </p:sp>
      <p:sp>
        <p:nvSpPr>
          <p:cNvPr id="45" name="cardbody|b4"/>
          <p:cNvSpPr txBox="1"/>
          <p:nvPr/>
        </p:nvSpPr>
        <p:spPr>
          <a:xfrm>
            <a:off x="621792" y="4169664"/>
            <a:ext cx="4425696" cy="5029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name is not deleted when the loop ends; after a loop over an empty sequence it was never assigned.</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1" presetID="10"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400"/>
                                        <p:tgtEl>
                                          <p:spTgt spid="27"/>
                                        </p:tgtEl>
                                      </p:cBhvr>
                                    </p:animEffect>
                                  </p:childTnLst>
                                </p:cTn>
                              </p:par>
                              <p:par>
                                <p:cTn id="47" presetID="10"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4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00"/>
                                        <p:tgtEl>
                                          <p:spTgt spid="29"/>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40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00"/>
                                        <p:tgtEl>
                                          <p:spTgt spid="31"/>
                                        </p:tgtEl>
                                      </p:cBhvr>
                                    </p:animEffect>
                                  </p:childTnLst>
                                </p:cTn>
                              </p:par>
                              <p:par>
                                <p:cTn id="61" presetID="10" presetClass="entr" presetSubtype="0" fill="hold"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400"/>
                                        <p:tgtEl>
                                          <p:spTgt spid="4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fade">
                                      <p:cBhvr>
                                        <p:cTn id="86" dur="400"/>
                                        <p:tgtEl>
                                          <p:spTgt spid="4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fade">
                                      <p:cBhvr>
                                        <p:cTn id="8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44" grpId="0" animBg="1"/>
      <p:bldP spid="4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sys.exit() ends a program by raising an exception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So it can be intercepted — and finally clauses still run</a:t>
            </a:r>
            <a:endParaRPr lang="en-US" sz="1400" dirty="0"/>
          </a:p>
        </p:txBody>
      </p:sp>
      <p:sp>
        <p:nvSpPr>
          <p:cNvPr id="6" name="progbox"/>
          <p:cNvSpPr/>
          <p:nvPr/>
        </p:nvSpPr>
        <p:spPr>
          <a:xfrm>
            <a:off x="457200" y="1325880"/>
            <a:ext cx="402336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640080" y="1417320"/>
            <a:ext cx="3657600" cy="173736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import sys</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while True:</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command = input('Command: ')</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if command == 'exit':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sys.exit()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print('you typed', command)</a:t>
            </a:r>
            <a:endParaRPr lang="en-US" sz="1400" dirty="0"/>
          </a:p>
        </p:txBody>
      </p:sp>
      <p:sp>
        <p:nvSpPr>
          <p:cNvPr id="8" name="transbox"/>
          <p:cNvSpPr/>
          <p:nvPr/>
        </p:nvSpPr>
        <p:spPr>
          <a:xfrm>
            <a:off x="4754880" y="1325880"/>
            <a:ext cx="3931920" cy="1920240"/>
          </a:xfrm>
          <a:prstGeom prst="roundRect">
            <a:avLst>
              <a:gd name="adj" fmla="val 4762"/>
            </a:avLst>
          </a:prstGeom>
          <a:solidFill>
            <a:srgbClr val="F1F4F8"/>
          </a:solidFill>
          <a:ln w="12700">
            <a:solidFill>
              <a:srgbClr val="F1F4F8"/>
            </a:solidFill>
            <a:prstDash val="solid"/>
          </a:ln>
        </p:spPr>
      </p:sp>
      <p:sp>
        <p:nvSpPr>
          <p:cNvPr id="9" name="trans"/>
          <p:cNvSpPr txBox="1"/>
          <p:nvPr/>
        </p:nvSpPr>
        <p:spPr>
          <a:xfrm>
            <a:off x="4892040" y="1399032"/>
            <a:ext cx="3657600" cy="1773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r>
              <a:rPr lang="en-US" sz="1400" b="1" dirty="0">
                <a:solidFill>
                  <a:srgbClr val="306998"/>
                </a:solidFill>
                <a:latin typeface="Courier New" pitchFamily="34" charset="0"/>
                <a:ea typeface="Courier New" pitchFamily="34" charset="-122"/>
                <a:cs typeface="Courier New" pitchFamily="34" charset="-120"/>
              </a:rPr>
              <a:t>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you typed 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r>
              <a:rPr lang="en-US" sz="1400" b="1" dirty="0">
                <a:solidFill>
                  <a:srgbClr val="306998"/>
                </a:solidFill>
                <a:latin typeface="Courier New" pitchFamily="34" charset="0"/>
                <a:ea typeface="Courier New" pitchFamily="34" charset="-122"/>
                <a:cs typeface="Courier New" pitchFamily="34" charset="-120"/>
              </a:rPr>
              <a:t>exit</a:t>
            </a:r>
            <a:endParaRPr lang="en-US" sz="1400" dirty="0"/>
          </a:p>
        </p:txBody>
      </p:sp>
      <p:sp>
        <p:nvSpPr>
          <p:cNvPr id="10" name="transcap"/>
          <p:cNvSpPr txBox="1"/>
          <p:nvPr/>
        </p:nvSpPr>
        <p:spPr>
          <a:xfrm>
            <a:off x="4754880" y="327355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card|b1"/>
          <p:cNvSpPr/>
          <p:nvPr/>
        </p:nvSpPr>
        <p:spPr>
          <a:xfrm>
            <a:off x="457200" y="3611880"/>
            <a:ext cx="8229600" cy="1097280"/>
          </a:xfrm>
          <a:prstGeom prst="roundRect">
            <a:avLst>
              <a:gd name="adj" fmla="val 8333"/>
            </a:avLst>
          </a:prstGeom>
          <a:solidFill>
            <a:srgbClr val="F1F4F8"/>
          </a:solidFill>
          <a:ln w="12700">
            <a:solidFill>
              <a:srgbClr val="F1F4F8"/>
            </a:solidFill>
            <a:prstDash val="solid"/>
          </a:ln>
        </p:spPr>
      </p:sp>
      <p:sp>
        <p:nvSpPr>
          <p:cNvPr id="12" name="cardhead|b1"/>
          <p:cNvSpPr txBox="1"/>
          <p:nvPr/>
        </p:nvSpPr>
        <p:spPr>
          <a:xfrm>
            <a:off x="621792" y="370332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An exception, not a hard stop</a:t>
            </a:r>
            <a:endParaRPr lang="en-US" sz="1500" dirty="0"/>
          </a:p>
        </p:txBody>
      </p:sp>
      <p:sp>
        <p:nvSpPr>
          <p:cNvPr id="13" name="cardbody|b1"/>
          <p:cNvSpPr txBox="1"/>
          <p:nvPr/>
        </p:nvSpPr>
        <p:spPr>
          <a:xfrm>
            <a:off x="621792" y="4032504"/>
            <a:ext cx="7900416"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sys.exit() raises SystemExit. It ends the program only when nothing intercepts it, and only from the main thread. An argument of None or 0 means success; a string is printed to standard error.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 together: guess the number in three attempts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an early exit, and a loop else</a:t>
            </a:r>
            <a:endParaRPr lang="en-US" sz="1400" dirty="0"/>
          </a:p>
        </p:txBody>
      </p:sp>
      <p:sp>
        <p:nvSpPr>
          <p:cNvPr id="6" name="progbox"/>
          <p:cNvSpPr/>
          <p:nvPr/>
        </p:nvSpPr>
        <p:spPr>
          <a:xfrm>
            <a:off x="457200" y="1234440"/>
            <a:ext cx="4297680" cy="3108960"/>
          </a:xfrm>
          <a:prstGeom prst="roundRect">
            <a:avLst>
              <a:gd name="adj" fmla="val 2941"/>
            </a:avLst>
          </a:prstGeom>
          <a:solidFill>
            <a:srgbClr val="17202B"/>
          </a:solidFill>
          <a:ln w="12700">
            <a:solidFill>
              <a:srgbClr val="17202B"/>
            </a:solidFill>
            <a:prstDash val="solid"/>
          </a:ln>
        </p:spPr>
      </p:sp>
      <p:sp>
        <p:nvSpPr>
          <p:cNvPr id="7" name="prog"/>
          <p:cNvSpPr txBox="1"/>
          <p:nvPr/>
        </p:nvSpPr>
        <p:spPr>
          <a:xfrm>
            <a:off x="640080" y="1325880"/>
            <a:ext cx="3931920" cy="29260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secret = random.randint(1, 20)</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attempt in range(1,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guess = int(input('Guess: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guess &lt;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low')</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elif guess &gt;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high')</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print(f'got it in {attempt}')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break</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print(f'out of guesses; it was {secret}')</a:t>
            </a:r>
            <a:endParaRPr lang="en-US" sz="1100" dirty="0"/>
          </a:p>
        </p:txBody>
      </p:sp>
      <p:sp>
        <p:nvSpPr>
          <p:cNvPr id="8" name="transbox"/>
          <p:cNvSpPr/>
          <p:nvPr/>
        </p:nvSpPr>
        <p:spPr>
          <a:xfrm>
            <a:off x="4937760" y="1234440"/>
            <a:ext cx="3749040" cy="3108960"/>
          </a:xfrm>
          <a:prstGeom prst="roundRect">
            <a:avLst>
              <a:gd name="adj" fmla="val 2941"/>
            </a:avLst>
          </a:prstGeom>
          <a:solidFill>
            <a:srgbClr val="F1F4F8"/>
          </a:solidFill>
          <a:ln w="12700">
            <a:solidFill>
              <a:srgbClr val="F1F4F8"/>
            </a:solidFill>
            <a:prstDash val="solid"/>
          </a:ln>
        </p:spPr>
      </p:sp>
      <p:sp>
        <p:nvSpPr>
          <p:cNvPr id="9" name="trans"/>
          <p:cNvSpPr txBox="1"/>
          <p:nvPr/>
        </p:nvSpPr>
        <p:spPr>
          <a:xfrm>
            <a:off x="5074920" y="1307592"/>
            <a:ext cx="3474720" cy="29626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r>
              <a:rPr lang="en-US" sz="1100" b="1" dirty="0">
                <a:solidFill>
                  <a:srgbClr val="306998"/>
                </a:solidFill>
                <a:latin typeface="Courier New" pitchFamily="34" charset="0"/>
                <a:ea typeface="Courier New" pitchFamily="34" charset="-122"/>
                <a:cs typeface="Courier New" pitchFamily="34" charset="-120"/>
              </a:rPr>
              <a:t>10</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r>
              <a:rPr lang="en-US" sz="1100" b="1" dirty="0">
                <a:solidFill>
                  <a:srgbClr val="306998"/>
                </a:solidFill>
                <a:latin typeface="Courier New" pitchFamily="34" charset="0"/>
                <a:ea typeface="Courier New" pitchFamily="34" charset="-122"/>
                <a:cs typeface="Courier New" pitchFamily="34" charset="-120"/>
              </a:rPr>
              <a:t>15</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high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r>
              <a:rPr lang="en-US" sz="1100" b="1" dirty="0">
                <a:solidFill>
                  <a:srgbClr val="306998"/>
                </a:solidFill>
                <a:latin typeface="Courier New" pitchFamily="34" charset="0"/>
                <a:ea typeface="Courier New" pitchFamily="34" charset="-122"/>
                <a:cs typeface="Courier New" pitchFamily="34" charset="-120"/>
              </a:rPr>
              <a:t>11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got it in 3</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r>
              <a:rPr lang="en-US" sz="1100" b="1" dirty="0">
                <a:solidFill>
                  <a:srgbClr val="306998"/>
                </a:solidFill>
                <a:latin typeface="Courier New" pitchFamily="34" charset="0"/>
                <a:ea typeface="Courier New" pitchFamily="34" charset="-122"/>
                <a:cs typeface="Courier New" pitchFamily="34" charset="-120"/>
              </a:rPr>
              <a:t>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r>
              <a:rPr lang="en-US" sz="1100" b="1" dirty="0">
                <a:solidFill>
                  <a:srgbClr val="306998"/>
                </a:solidFill>
                <a:latin typeface="Courier New" pitchFamily="34" charset="0"/>
                <a:ea typeface="Courier New" pitchFamily="34" charset="-122"/>
                <a:cs typeface="Courier New" pitchFamily="34" charset="-120"/>
              </a:rPr>
              <a:t>2</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r>
              <a:rPr lang="en-US" sz="1100" b="1" dirty="0">
                <a:solidFill>
                  <a:srgbClr val="306998"/>
                </a:solidFill>
                <a:latin typeface="Courier New" pitchFamily="34" charset="0"/>
                <a:ea typeface="Courier New" pitchFamily="34" charset="-122"/>
                <a:cs typeface="Courier New" pitchFamily="34" charset="-120"/>
              </a:rPr>
              <a:t>3</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out of guesses; it was 11</a:t>
            </a:r>
            <a:endParaRPr lang="en-US" sz="1100" dirty="0"/>
          </a:p>
        </p:txBody>
      </p:sp>
      <p:sp>
        <p:nvSpPr>
          <p:cNvPr id="10" name="transcap"/>
          <p:cNvSpPr txBox="1"/>
          <p:nvPr/>
        </p:nvSpPr>
        <p:spPr>
          <a:xfrm>
            <a:off x="4937760" y="437083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ay"/>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The seed makes the secret repeatable for the slide; a real game would not seed it.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both runs: the last pass decides how the loop ends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win on attempt 3, then three misses that reach the else</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attempt</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guess</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GuessLoop: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GuessLoop: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20" name="cellbox|b1"/>
          <p:cNvSpPr/>
          <p:nvPr/>
        </p:nvSpPr>
        <p:spPr>
          <a:xfrm>
            <a:off x="2011680" y="1627632"/>
            <a:ext cx="969264" cy="411480"/>
          </a:xfrm>
          <a:prstGeom prst="rect">
            <a:avLst/>
          </a:prstGeom>
          <a:solidFill>
            <a:srgbClr val="F1F4F8"/>
          </a:solidFill>
          <a:ln w="12700">
            <a:solidFill>
              <a:srgbClr val="F1F4F8"/>
            </a:solidFill>
            <a:prstDash val="solid"/>
          </a:ln>
        </p:spPr>
      </p:sp>
      <p:sp>
        <p:nvSpPr>
          <p:cNvPr id="21" name="v:GuessLoop:0:0:v1|b1"/>
          <p:cNvSpPr txBox="1"/>
          <p:nvPr/>
        </p:nvSpPr>
        <p:spPr>
          <a:xfrm>
            <a:off x="206654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10</a:t>
            </a:r>
            <a:endParaRPr lang="en-US" sz="1100" dirty="0"/>
          </a:p>
        </p:txBody>
      </p:sp>
      <p:sp>
        <p:nvSpPr>
          <p:cNvPr id="22" name="cellbox|b1"/>
          <p:cNvSpPr/>
          <p:nvPr/>
        </p:nvSpPr>
        <p:spPr>
          <a:xfrm>
            <a:off x="3017520" y="1627632"/>
            <a:ext cx="2798064" cy="411480"/>
          </a:xfrm>
          <a:prstGeom prst="rect">
            <a:avLst/>
          </a:prstGeom>
          <a:solidFill>
            <a:srgbClr val="F1F4F8"/>
          </a:solidFill>
          <a:ln w="12700">
            <a:solidFill>
              <a:srgbClr val="F1F4F8"/>
            </a:solidFill>
            <a:prstDash val="solid"/>
          </a:ln>
        </p:spPr>
      </p:sp>
      <p:sp>
        <p:nvSpPr>
          <p:cNvPr id="23" name="v:GuessLoop:0:0:ev|b1"/>
          <p:cNvSpPr txBox="1"/>
          <p:nvPr/>
        </p:nvSpPr>
        <p:spPr>
          <a:xfrm>
            <a:off x="3072384" y="16276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low</a:t>
            </a:r>
            <a:endParaRPr lang="en-US" sz="1100" dirty="0"/>
          </a:p>
        </p:txBody>
      </p:sp>
      <p:sp>
        <p:nvSpPr>
          <p:cNvPr id="24" name="cellbox|b1"/>
          <p:cNvSpPr/>
          <p:nvPr/>
        </p:nvSpPr>
        <p:spPr>
          <a:xfrm>
            <a:off x="5852160" y="1627632"/>
            <a:ext cx="2798064" cy="411480"/>
          </a:xfrm>
          <a:prstGeom prst="rect">
            <a:avLst/>
          </a:prstGeom>
          <a:solidFill>
            <a:srgbClr val="F1F4F8"/>
          </a:solidFill>
          <a:ln w="12700">
            <a:solidFill>
              <a:srgbClr val="F1F4F8"/>
            </a:solidFill>
            <a:prstDash val="solid"/>
          </a:ln>
        </p:spPr>
      </p:sp>
      <p:sp>
        <p:nvSpPr>
          <p:cNvPr id="25" name="v:GuessLoop:0:0:out|b1"/>
          <p:cNvSpPr txBox="1"/>
          <p:nvPr/>
        </p:nvSpPr>
        <p:spPr>
          <a:xfrm>
            <a:off x="5907024" y="16276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10 / too low</a:t>
            </a:r>
            <a:endParaRPr lang="en-US" sz="11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GuessLoop: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GuessLoop: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30" name="cellbox|b2"/>
          <p:cNvSpPr/>
          <p:nvPr/>
        </p:nvSpPr>
        <p:spPr>
          <a:xfrm>
            <a:off x="2011680" y="2084832"/>
            <a:ext cx="969264" cy="411480"/>
          </a:xfrm>
          <a:prstGeom prst="rect">
            <a:avLst/>
          </a:prstGeom>
          <a:solidFill>
            <a:srgbClr val="F1F4F8"/>
          </a:solidFill>
          <a:ln w="12700">
            <a:solidFill>
              <a:srgbClr val="F1F4F8"/>
            </a:solidFill>
            <a:prstDash val="solid"/>
          </a:ln>
        </p:spPr>
      </p:sp>
      <p:sp>
        <p:nvSpPr>
          <p:cNvPr id="31" name="v:GuessLoop:0:1:v1|b2"/>
          <p:cNvSpPr txBox="1"/>
          <p:nvPr/>
        </p:nvSpPr>
        <p:spPr>
          <a:xfrm>
            <a:off x="206654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15</a:t>
            </a:r>
            <a:endParaRPr lang="en-US" sz="1100" dirty="0"/>
          </a:p>
        </p:txBody>
      </p:sp>
      <p:sp>
        <p:nvSpPr>
          <p:cNvPr id="32" name="cellbox|b2"/>
          <p:cNvSpPr/>
          <p:nvPr/>
        </p:nvSpPr>
        <p:spPr>
          <a:xfrm>
            <a:off x="3017520" y="2084832"/>
            <a:ext cx="2798064" cy="411480"/>
          </a:xfrm>
          <a:prstGeom prst="rect">
            <a:avLst/>
          </a:prstGeom>
          <a:solidFill>
            <a:srgbClr val="F1F4F8"/>
          </a:solidFill>
          <a:ln w="12700">
            <a:solidFill>
              <a:srgbClr val="F1F4F8"/>
            </a:solidFill>
            <a:prstDash val="solid"/>
          </a:ln>
        </p:spPr>
      </p:sp>
      <p:sp>
        <p:nvSpPr>
          <p:cNvPr id="33" name="v:GuessLoop:0:1:ev|b2"/>
          <p:cNvSpPr txBox="1"/>
          <p:nvPr/>
        </p:nvSpPr>
        <p:spPr>
          <a:xfrm>
            <a:off x="3072384" y="20848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high</a:t>
            </a:r>
            <a:endParaRPr lang="en-US" sz="1100" dirty="0"/>
          </a:p>
        </p:txBody>
      </p:sp>
      <p:sp>
        <p:nvSpPr>
          <p:cNvPr id="34" name="cellbox|b2"/>
          <p:cNvSpPr/>
          <p:nvPr/>
        </p:nvSpPr>
        <p:spPr>
          <a:xfrm>
            <a:off x="5852160" y="2084832"/>
            <a:ext cx="2798064" cy="411480"/>
          </a:xfrm>
          <a:prstGeom prst="rect">
            <a:avLst/>
          </a:prstGeom>
          <a:solidFill>
            <a:srgbClr val="F1F4F8"/>
          </a:solidFill>
          <a:ln w="12700">
            <a:solidFill>
              <a:srgbClr val="F1F4F8"/>
            </a:solidFill>
            <a:prstDash val="solid"/>
          </a:ln>
        </p:spPr>
      </p:sp>
      <p:sp>
        <p:nvSpPr>
          <p:cNvPr id="35" name="v:GuessLoop:0:1:out|b2"/>
          <p:cNvSpPr txBox="1"/>
          <p:nvPr/>
        </p:nvSpPr>
        <p:spPr>
          <a:xfrm>
            <a:off x="5907024" y="20848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15 / too high</a:t>
            </a:r>
            <a:endParaRPr lang="en-US" sz="11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GuessLoop: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GuessLoop: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0" name="cellbox|b3"/>
          <p:cNvSpPr/>
          <p:nvPr/>
        </p:nvSpPr>
        <p:spPr>
          <a:xfrm>
            <a:off x="2011680" y="2542032"/>
            <a:ext cx="969264" cy="411480"/>
          </a:xfrm>
          <a:prstGeom prst="rect">
            <a:avLst/>
          </a:prstGeom>
          <a:solidFill>
            <a:srgbClr val="F1F4F8"/>
          </a:solidFill>
          <a:ln w="12700">
            <a:solidFill>
              <a:srgbClr val="F1F4F8"/>
            </a:solidFill>
            <a:prstDash val="solid"/>
          </a:ln>
        </p:spPr>
      </p:sp>
      <p:sp>
        <p:nvSpPr>
          <p:cNvPr id="41" name="v:GuessLoop:0:2:v1|b3"/>
          <p:cNvSpPr txBox="1"/>
          <p:nvPr/>
        </p:nvSpPr>
        <p:spPr>
          <a:xfrm>
            <a:off x="206654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11</a:t>
            </a:r>
            <a:endParaRPr lang="en-US" sz="1100" dirty="0"/>
          </a:p>
        </p:txBody>
      </p:sp>
      <p:sp>
        <p:nvSpPr>
          <p:cNvPr id="42" name="cellbox|b3"/>
          <p:cNvSpPr/>
          <p:nvPr/>
        </p:nvSpPr>
        <p:spPr>
          <a:xfrm>
            <a:off x="3017520" y="2542032"/>
            <a:ext cx="2798064" cy="411480"/>
          </a:xfrm>
          <a:prstGeom prst="rect">
            <a:avLst/>
          </a:prstGeom>
          <a:solidFill>
            <a:srgbClr val="FBE1E1"/>
          </a:solidFill>
          <a:ln w="12700">
            <a:solidFill>
              <a:srgbClr val="FBE1E1"/>
            </a:solidFill>
            <a:prstDash val="solid"/>
          </a:ln>
        </p:spPr>
      </p:sp>
      <p:sp>
        <p:nvSpPr>
          <p:cNvPr id="43" name="v:GuessLoop:0:2:ev|b3"/>
          <p:cNvSpPr txBox="1"/>
          <p:nvPr/>
        </p:nvSpPr>
        <p:spPr>
          <a:xfrm>
            <a:off x="3072384" y="2542032"/>
            <a:ext cx="2688336" cy="411480"/>
          </a:xfrm>
          <a:prstGeom prst="rect">
            <a:avLst/>
          </a:prstGeom>
          <a:noFill/>
          <a:ln/>
        </p:spPr>
        <p:txBody>
          <a:bodyPr wrap="square" lIns="0" tIns="0" rIns="0" bIns="0" rtlCol="0" anchor="ctr"/>
          <a:lstStyle/>
          <a:p>
            <a:pPr indent="0" marL="0">
              <a:buNone/>
            </a:pPr>
            <a:r>
              <a:rPr lang="en-US" sz="1100" b="1" dirty="0">
                <a:solidFill>
                  <a:srgbClr val="D64545"/>
                </a:solidFill>
                <a:latin typeface="Calibri" pitchFamily="34" charset="0"/>
                <a:ea typeface="Calibri" pitchFamily="34" charset="-122"/>
                <a:cs typeface="Calibri" pitchFamily="34" charset="-120"/>
              </a:rPr>
              <a:t>got it: break</a:t>
            </a:r>
            <a:endParaRPr lang="en-US" sz="1100" dirty="0"/>
          </a:p>
        </p:txBody>
      </p:sp>
      <p:sp>
        <p:nvSpPr>
          <p:cNvPr id="44" name="cellbox|b3"/>
          <p:cNvSpPr/>
          <p:nvPr/>
        </p:nvSpPr>
        <p:spPr>
          <a:xfrm>
            <a:off x="5852160" y="2542032"/>
            <a:ext cx="2798064" cy="411480"/>
          </a:xfrm>
          <a:prstGeom prst="rect">
            <a:avLst/>
          </a:prstGeom>
          <a:solidFill>
            <a:srgbClr val="F1F4F8"/>
          </a:solidFill>
          <a:ln w="12700">
            <a:solidFill>
              <a:srgbClr val="F1F4F8"/>
            </a:solidFill>
            <a:prstDash val="solid"/>
          </a:ln>
        </p:spPr>
      </p:sp>
      <p:sp>
        <p:nvSpPr>
          <p:cNvPr id="45" name="v:GuessLoop:0:2:out|b3"/>
          <p:cNvSpPr txBox="1"/>
          <p:nvPr/>
        </p:nvSpPr>
        <p:spPr>
          <a:xfrm>
            <a:off x="5907024" y="25420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11 / got it in 3</a:t>
            </a:r>
            <a:endParaRPr lang="en-US" sz="1100" dirty="0"/>
          </a:p>
        </p:txBody>
      </p:sp>
      <p:sp>
        <p:nvSpPr>
          <p:cNvPr id="46" name="x"/>
          <p:cNvSpPr txBox="1"/>
          <p:nvPr/>
        </p:nvSpPr>
        <p:spPr>
          <a:xfrm>
            <a:off x="457200" y="3200400"/>
            <a:ext cx="82296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Second run — every guess too low:</a:t>
            </a:r>
            <a:endParaRPr lang="en-US" sz="1200" dirty="0"/>
          </a:p>
        </p:txBody>
      </p:sp>
      <p:sp>
        <p:nvSpPr>
          <p:cNvPr id="47" name="passbox"/>
          <p:cNvSpPr/>
          <p:nvPr/>
        </p:nvSpPr>
        <p:spPr>
          <a:xfrm>
            <a:off x="457200" y="3566160"/>
            <a:ext cx="2670048" cy="1234440"/>
          </a:xfrm>
          <a:prstGeom prst="roundRect">
            <a:avLst>
              <a:gd name="adj" fmla="val 5926"/>
            </a:avLst>
          </a:prstGeom>
          <a:solidFill>
            <a:srgbClr val="F1F4F8"/>
          </a:solidFill>
          <a:ln w="12700">
            <a:solidFill>
              <a:srgbClr val="9AA8B8"/>
            </a:solidFill>
            <a:prstDash val="solid"/>
          </a:ln>
        </p:spPr>
      </p:sp>
      <p:sp>
        <p:nvSpPr>
          <p:cNvPr id="48" name="v:GuessLoop:1:0:n"/>
          <p:cNvSpPr txBox="1"/>
          <p:nvPr/>
        </p:nvSpPr>
        <p:spPr>
          <a:xfrm>
            <a:off x="530352"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49" name="v:GuessLoop:1:0:v0"/>
          <p:cNvSpPr txBox="1"/>
          <p:nvPr/>
        </p:nvSpPr>
        <p:spPr>
          <a:xfrm>
            <a:off x="530352"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1</a:t>
            </a:r>
            <a:endParaRPr lang="en-US" sz="1050" dirty="0"/>
          </a:p>
        </p:txBody>
      </p:sp>
      <p:sp>
        <p:nvSpPr>
          <p:cNvPr id="50" name="v:GuessLoop:1:0:v1"/>
          <p:cNvSpPr txBox="1"/>
          <p:nvPr/>
        </p:nvSpPr>
        <p:spPr>
          <a:xfrm>
            <a:off x="530352"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1</a:t>
            </a:r>
            <a:endParaRPr lang="en-US" sz="1050" dirty="0"/>
          </a:p>
        </p:txBody>
      </p:sp>
      <p:sp>
        <p:nvSpPr>
          <p:cNvPr id="51" name="evbox"/>
          <p:cNvSpPr/>
          <p:nvPr/>
        </p:nvSpPr>
        <p:spPr>
          <a:xfrm>
            <a:off x="512064" y="4325112"/>
            <a:ext cx="2560320" cy="420624"/>
          </a:xfrm>
          <a:prstGeom prst="roundRect">
            <a:avLst>
              <a:gd name="adj" fmla="val 10870"/>
            </a:avLst>
          </a:prstGeom>
          <a:solidFill>
            <a:srgbClr val="F1F4F8"/>
          </a:solidFill>
          <a:ln w="12700">
            <a:solidFill>
              <a:srgbClr val="F1F4F8"/>
            </a:solidFill>
            <a:prstDash val="solid"/>
          </a:ln>
        </p:spPr>
      </p:sp>
      <p:sp>
        <p:nvSpPr>
          <p:cNvPr id="52" name="v:GuessLoop:1:0:ev"/>
          <p:cNvSpPr txBox="1"/>
          <p:nvPr/>
        </p:nvSpPr>
        <p:spPr>
          <a:xfrm>
            <a:off x="548640"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53" name="arrow"/>
          <p:cNvSpPr/>
          <p:nvPr/>
        </p:nvSpPr>
        <p:spPr>
          <a:xfrm>
            <a:off x="3127248" y="4183380"/>
            <a:ext cx="109728" cy="0"/>
          </a:xfrm>
          <a:prstGeom prst="line">
            <a:avLst/>
          </a:prstGeom>
          <a:noFill/>
          <a:ln w="19050">
            <a:solidFill>
              <a:srgbClr val="9AA8B8"/>
            </a:solidFill>
            <a:prstDash val="solid"/>
            <a:tailEnd type="triangle"/>
          </a:ln>
        </p:spPr>
      </p:sp>
      <p:sp>
        <p:nvSpPr>
          <p:cNvPr id="54" name="passbox"/>
          <p:cNvSpPr/>
          <p:nvPr/>
        </p:nvSpPr>
        <p:spPr>
          <a:xfrm>
            <a:off x="3236976" y="3566160"/>
            <a:ext cx="2670048" cy="1234440"/>
          </a:xfrm>
          <a:prstGeom prst="roundRect">
            <a:avLst>
              <a:gd name="adj" fmla="val 5926"/>
            </a:avLst>
          </a:prstGeom>
          <a:solidFill>
            <a:srgbClr val="F1F4F8"/>
          </a:solidFill>
          <a:ln w="12700">
            <a:solidFill>
              <a:srgbClr val="9AA8B8"/>
            </a:solidFill>
            <a:prstDash val="solid"/>
          </a:ln>
        </p:spPr>
      </p:sp>
      <p:sp>
        <p:nvSpPr>
          <p:cNvPr id="55" name="v:GuessLoop:1:1:n"/>
          <p:cNvSpPr txBox="1"/>
          <p:nvPr/>
        </p:nvSpPr>
        <p:spPr>
          <a:xfrm>
            <a:off x="3310128"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56" name="v:GuessLoop:1:1:v0"/>
          <p:cNvSpPr txBox="1"/>
          <p:nvPr/>
        </p:nvSpPr>
        <p:spPr>
          <a:xfrm>
            <a:off x="3310128"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2</a:t>
            </a:r>
            <a:endParaRPr lang="en-US" sz="1050" dirty="0"/>
          </a:p>
        </p:txBody>
      </p:sp>
      <p:sp>
        <p:nvSpPr>
          <p:cNvPr id="57" name="v:GuessLoop:1:1:v1"/>
          <p:cNvSpPr txBox="1"/>
          <p:nvPr/>
        </p:nvSpPr>
        <p:spPr>
          <a:xfrm>
            <a:off x="3310128"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2</a:t>
            </a:r>
            <a:endParaRPr lang="en-US" sz="1050" dirty="0"/>
          </a:p>
        </p:txBody>
      </p:sp>
      <p:sp>
        <p:nvSpPr>
          <p:cNvPr id="58" name="evbox"/>
          <p:cNvSpPr/>
          <p:nvPr/>
        </p:nvSpPr>
        <p:spPr>
          <a:xfrm>
            <a:off x="3291840" y="4325112"/>
            <a:ext cx="2560320" cy="420624"/>
          </a:xfrm>
          <a:prstGeom prst="roundRect">
            <a:avLst>
              <a:gd name="adj" fmla="val 10870"/>
            </a:avLst>
          </a:prstGeom>
          <a:solidFill>
            <a:srgbClr val="F1F4F8"/>
          </a:solidFill>
          <a:ln w="12700">
            <a:solidFill>
              <a:srgbClr val="F1F4F8"/>
            </a:solidFill>
            <a:prstDash val="solid"/>
          </a:ln>
        </p:spPr>
      </p:sp>
      <p:sp>
        <p:nvSpPr>
          <p:cNvPr id="59" name="v:GuessLoop:1:1:ev"/>
          <p:cNvSpPr txBox="1"/>
          <p:nvPr/>
        </p:nvSpPr>
        <p:spPr>
          <a:xfrm>
            <a:off x="3328416"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60" name="arrow"/>
          <p:cNvSpPr/>
          <p:nvPr/>
        </p:nvSpPr>
        <p:spPr>
          <a:xfrm>
            <a:off x="5907024" y="4183380"/>
            <a:ext cx="109728" cy="0"/>
          </a:xfrm>
          <a:prstGeom prst="line">
            <a:avLst/>
          </a:prstGeom>
          <a:noFill/>
          <a:ln w="19050">
            <a:solidFill>
              <a:srgbClr val="9AA8B8"/>
            </a:solidFill>
            <a:prstDash val="solid"/>
            <a:tailEnd type="triangle"/>
          </a:ln>
        </p:spPr>
      </p:sp>
      <p:sp>
        <p:nvSpPr>
          <p:cNvPr id="61" name="passbox"/>
          <p:cNvSpPr/>
          <p:nvPr/>
        </p:nvSpPr>
        <p:spPr>
          <a:xfrm>
            <a:off x="6016752" y="3566160"/>
            <a:ext cx="2670048" cy="1234440"/>
          </a:xfrm>
          <a:prstGeom prst="roundRect">
            <a:avLst>
              <a:gd name="adj" fmla="val 5926"/>
            </a:avLst>
          </a:prstGeom>
          <a:solidFill>
            <a:srgbClr val="F1F4F8"/>
          </a:solidFill>
          <a:ln w="31750">
            <a:solidFill>
              <a:srgbClr val="D64545"/>
            </a:solidFill>
            <a:prstDash val="solid"/>
          </a:ln>
        </p:spPr>
      </p:sp>
      <p:sp>
        <p:nvSpPr>
          <p:cNvPr id="62" name="v:GuessLoop:1:2:n"/>
          <p:cNvSpPr txBox="1"/>
          <p:nvPr/>
        </p:nvSpPr>
        <p:spPr>
          <a:xfrm>
            <a:off x="6089904"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63" name="v:GuessLoop:1:2:v0"/>
          <p:cNvSpPr txBox="1"/>
          <p:nvPr/>
        </p:nvSpPr>
        <p:spPr>
          <a:xfrm>
            <a:off x="6089904"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3</a:t>
            </a:r>
            <a:endParaRPr lang="en-US" sz="1050" dirty="0"/>
          </a:p>
        </p:txBody>
      </p:sp>
      <p:sp>
        <p:nvSpPr>
          <p:cNvPr id="64" name="v:GuessLoop:1:2:v1"/>
          <p:cNvSpPr txBox="1"/>
          <p:nvPr/>
        </p:nvSpPr>
        <p:spPr>
          <a:xfrm>
            <a:off x="6089904"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3</a:t>
            </a:r>
            <a:endParaRPr lang="en-US" sz="1050" dirty="0"/>
          </a:p>
        </p:txBody>
      </p:sp>
      <p:sp>
        <p:nvSpPr>
          <p:cNvPr id="65" name="evbox"/>
          <p:cNvSpPr/>
          <p:nvPr/>
        </p:nvSpPr>
        <p:spPr>
          <a:xfrm>
            <a:off x="6071616" y="4325112"/>
            <a:ext cx="2560320" cy="420624"/>
          </a:xfrm>
          <a:prstGeom prst="roundRect">
            <a:avLst>
              <a:gd name="adj" fmla="val 10870"/>
            </a:avLst>
          </a:prstGeom>
          <a:solidFill>
            <a:srgbClr val="FBE1E1"/>
          </a:solidFill>
          <a:ln w="12700">
            <a:solidFill>
              <a:srgbClr val="FBE1E1"/>
            </a:solidFill>
            <a:prstDash val="solid"/>
          </a:ln>
        </p:spPr>
      </p:sp>
      <p:sp>
        <p:nvSpPr>
          <p:cNvPr id="66" name="v:GuessLoop:1:2:ev"/>
          <p:cNvSpPr txBox="1"/>
          <p:nvPr/>
        </p:nvSpPr>
        <p:spPr>
          <a:xfrm>
            <a:off x="6108192" y="4325112"/>
            <a:ext cx="2487168"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too low; else ran: out of guesses</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1188720"/>
            <a:ext cx="7863840" cy="11887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Where do random.randint() and sys.exit() come from?</a:t>
            </a:r>
            <a:endParaRPr lang="en-US" sz="3200" dirty="0"/>
          </a:p>
        </p:txBody>
      </p:sp>
      <p:sp>
        <p:nvSpPr>
          <p:cNvPr id="3" name="say|b1"/>
          <p:cNvSpPr txBox="1"/>
          <p:nvPr/>
        </p:nvSpPr>
        <p:spPr>
          <a:xfrm>
            <a:off x="640080" y="292608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From modules — and there is more than one way to reach into them. Some are better than others.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Import the module: every name shows where it came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forms — and what PEP 8 says about each</a:t>
            </a:r>
            <a:endParaRPr lang="en-US" sz="1400" dirty="0"/>
          </a:p>
        </p:txBody>
      </p:sp>
      <p:sp>
        <p:nvSpPr>
          <p:cNvPr id="6" name="imp|b1"/>
          <p:cNvSpPr/>
          <p:nvPr/>
        </p:nvSpPr>
        <p:spPr>
          <a:xfrm>
            <a:off x="457200" y="1371600"/>
            <a:ext cx="2651760" cy="1920240"/>
          </a:xfrm>
          <a:prstGeom prst="roundRect">
            <a:avLst>
              <a:gd name="adj" fmla="val 4762"/>
            </a:avLst>
          </a:prstGeom>
          <a:solidFill>
            <a:srgbClr val="DDF3E6"/>
          </a:solidFill>
          <a:ln w="25400">
            <a:solidFill>
              <a:srgbClr val="2E9E5B"/>
            </a:solidFill>
            <a:prstDash val="solid"/>
          </a:ln>
        </p:spPr>
      </p:sp>
      <p:sp>
        <p:nvSpPr>
          <p:cNvPr id="7" name="impt|b1"/>
          <p:cNvSpPr txBox="1"/>
          <p:nvPr/>
        </p:nvSpPr>
        <p:spPr>
          <a:xfrm>
            <a:off x="594360" y="1417320"/>
            <a:ext cx="2377440" cy="1828800"/>
          </a:xfrm>
          <a:prstGeom prst="rect">
            <a:avLst/>
          </a:prstGeom>
          <a:noFill/>
          <a:ln/>
        </p:spPr>
        <p:txBody>
          <a:bodyPr wrap="square" lIns="0" tIns="0" rIns="0" bIns="0" rtlCol="0" anchor="t"/>
          <a:lstStyle/>
          <a:p>
            <a:pPr indent="0" marL="0">
              <a:buNone/>
            </a:pPr>
            <a:r>
              <a:rPr lang="en-US" sz="1400" b="1" dirty="0">
                <a:solidFill>
                  <a:srgbClr val="2E9E5B"/>
                </a:solidFill>
                <a:latin typeface="Courier New" pitchFamily="34" charset="0"/>
                <a:ea typeface="Courier New" pitchFamily="34" charset="-122"/>
                <a:cs typeface="Courier New" pitchFamily="34" charset="-120"/>
              </a:rPr>
              <a:t>import random</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random.randint(1, 10)</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Names stay under the module’s name.</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E9E5B"/>
                </a:solidFill>
                <a:latin typeface="Calibri" pitchFamily="34" charset="0"/>
                <a:ea typeface="Calibri" pitchFamily="34" charset="-122"/>
                <a:cs typeface="Calibri" pitchFamily="34" charset="-120"/>
              </a:rPr>
              <a:t>the clear form</a:t>
            </a:r>
            <a:endParaRPr lang="en-US" sz="1300" dirty="0"/>
          </a:p>
        </p:txBody>
      </p:sp>
      <p:sp>
        <p:nvSpPr>
          <p:cNvPr id="8" name="imp|b2"/>
          <p:cNvSpPr/>
          <p:nvPr/>
        </p:nvSpPr>
        <p:spPr>
          <a:xfrm>
            <a:off x="3246120" y="1371600"/>
            <a:ext cx="2651760" cy="1920240"/>
          </a:xfrm>
          <a:prstGeom prst="roundRect">
            <a:avLst>
              <a:gd name="adj" fmla="val 4762"/>
            </a:avLst>
          </a:prstGeom>
          <a:solidFill>
            <a:srgbClr val="FCEFD0"/>
          </a:solidFill>
          <a:ln w="25400">
            <a:solidFill>
              <a:srgbClr val="B7791F"/>
            </a:solidFill>
            <a:prstDash val="solid"/>
          </a:ln>
        </p:spPr>
      </p:sp>
      <p:sp>
        <p:nvSpPr>
          <p:cNvPr id="9" name="impt|b2"/>
          <p:cNvSpPr txBox="1"/>
          <p:nvPr/>
        </p:nvSpPr>
        <p:spPr>
          <a:xfrm>
            <a:off x="3383280" y="1417320"/>
            <a:ext cx="2377440" cy="1828800"/>
          </a:xfrm>
          <a:prstGeom prst="rect">
            <a:avLst/>
          </a:prstGeom>
          <a:noFill/>
          <a:ln/>
        </p:spPr>
        <p:txBody>
          <a:bodyPr wrap="square" lIns="0" tIns="0" rIns="0" bIns="0" rtlCol="0" anchor="t"/>
          <a:lstStyle/>
          <a:p>
            <a:pPr indent="0" marL="0">
              <a:buNone/>
            </a:pPr>
            <a:r>
              <a:rPr lang="en-US" sz="1400" b="1" dirty="0">
                <a:solidFill>
                  <a:srgbClr val="B7791F"/>
                </a:solidFill>
                <a:latin typeface="Courier New" pitchFamily="34" charset="0"/>
                <a:ea typeface="Courier New" pitchFamily="34" charset="-122"/>
                <a:cs typeface="Courier New" pitchFamily="34" charset="-120"/>
              </a:rPr>
              <a:t>import random, sys, os</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one line, three modules</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Legal, and the book uses it.</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B7791F"/>
                </a:solidFill>
                <a:latin typeface="Calibri" pitchFamily="34" charset="0"/>
                <a:ea typeface="Calibri" pitchFamily="34" charset="-122"/>
                <a:cs typeface="Calibri" pitchFamily="34" charset="-120"/>
              </a:rPr>
              <a:t>PEP 8: usually separate lines</a:t>
            </a:r>
            <a:endParaRPr lang="en-US" sz="1300" dirty="0"/>
          </a:p>
        </p:txBody>
      </p:sp>
      <p:sp>
        <p:nvSpPr>
          <p:cNvPr id="10" name="imp|b3"/>
          <p:cNvSpPr/>
          <p:nvPr/>
        </p:nvSpPr>
        <p:spPr>
          <a:xfrm>
            <a:off x="6035040" y="1371600"/>
            <a:ext cx="2651760" cy="1920240"/>
          </a:xfrm>
          <a:prstGeom prst="roundRect">
            <a:avLst>
              <a:gd name="adj" fmla="val 4762"/>
            </a:avLst>
          </a:prstGeom>
          <a:solidFill>
            <a:srgbClr val="FBE1E1"/>
          </a:solidFill>
          <a:ln w="25400">
            <a:solidFill>
              <a:srgbClr val="D64545"/>
            </a:solidFill>
            <a:prstDash val="solid"/>
          </a:ln>
        </p:spPr>
      </p:sp>
      <p:sp>
        <p:nvSpPr>
          <p:cNvPr id="11" name="v:StarImport:count|b3"/>
          <p:cNvSpPr txBox="1"/>
          <p:nvPr/>
        </p:nvSpPr>
        <p:spPr>
          <a:xfrm>
            <a:off x="6172200" y="1417320"/>
            <a:ext cx="2377440" cy="1828800"/>
          </a:xfrm>
          <a:prstGeom prst="rect">
            <a:avLst/>
          </a:prstGeom>
          <a:noFill/>
          <a:ln/>
        </p:spPr>
        <p:txBody>
          <a:bodyPr wrap="square" lIns="0" tIns="0" rIns="0" bIns="0" rtlCol="0" anchor="t"/>
          <a:lstStyle/>
          <a:p>
            <a:pPr indent="0" marL="0">
              <a:buNone/>
            </a:pPr>
            <a:r>
              <a:rPr lang="en-US" sz="1400" b="1" dirty="0">
                <a:solidFill>
                  <a:srgbClr val="D64545"/>
                </a:solidFill>
                <a:latin typeface="Courier New" pitchFamily="34" charset="0"/>
                <a:ea typeface="Courier New" pitchFamily="34" charset="-122"/>
                <a:cs typeface="Courier New" pitchFamily="34" charset="-120"/>
              </a:rPr>
              <a:t>from random import *</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26 names, no prefix</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Every public name arrives with nothing to say where it came from.</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D64545"/>
                </a:solidFill>
                <a:latin typeface="Calibri" pitchFamily="34" charset="0"/>
                <a:ea typeface="Calibri" pitchFamily="34" charset="-122"/>
                <a:cs typeface="Calibri" pitchFamily="34" charset="-120"/>
              </a:rPr>
              <a:t>book and PEP 8: avoid</a:t>
            </a:r>
            <a:endParaRPr lang="en-US" sz="1300" dirty="0"/>
          </a:p>
        </p:txBody>
      </p:sp>
      <p:sp>
        <p:nvSpPr>
          <p:cNvPr id="12" name="v:StarImport:note|b4"/>
          <p:cNvSpPr txBox="1"/>
          <p:nvPr/>
        </p:nvSpPr>
        <p:spPr>
          <a:xfrm>
            <a:off x="457200" y="3520440"/>
            <a:ext cx="8229600" cy="54864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random.__all__ holds 26 names under Python 3.14.4; a star import would drop all of them into your program.</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30" fill="hold">
                      <p:stCondLst>
                        <p:cond delay="indefinite"/>
                      </p:stCondLst>
                      <p:childTnLst>
                        <p:par>
                          <p:cTn id="31"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assignment expression reads and tests in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Same behaviour, four lines shorter — Python 3.8</a:t>
            </a:r>
            <a:endParaRPr lang="en-US" sz="1400" dirty="0"/>
          </a:p>
        </p:txBody>
      </p:sp>
      <p:sp>
        <p:nvSpPr>
          <p:cNvPr id="6" name="x"/>
          <p:cNvSpPr txBox="1"/>
          <p:nvPr/>
        </p:nvSpPr>
        <p:spPr>
          <a:xfrm>
            <a:off x="457200" y="1188720"/>
            <a:ext cx="4023360" cy="27432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457200" y="1508760"/>
            <a:ext cx="4023360" cy="1828800"/>
          </a:xfrm>
          <a:prstGeom prst="roundRect">
            <a:avLst>
              <a:gd name="adj" fmla="val 5000"/>
            </a:avLst>
          </a:prstGeom>
          <a:solidFill>
            <a:srgbClr val="17202B"/>
          </a:solidFill>
          <a:ln w="12700">
            <a:solidFill>
              <a:srgbClr val="17202B"/>
            </a:solidFill>
            <a:prstDash val="solid"/>
          </a:ln>
        </p:spPr>
      </p:sp>
      <p:sp>
        <p:nvSpPr>
          <p:cNvPr id="8" name="prog"/>
          <p:cNvSpPr txBox="1"/>
          <p:nvPr/>
        </p:nvSpPr>
        <p:spPr>
          <a:xfrm>
            <a:off x="640080" y="1600200"/>
            <a:ext cx="365760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import io</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file = io.StringIO('abcdefgh')</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while True: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chunk = file.read(3)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not chunk: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print(chunk)</a:t>
            </a:r>
            <a:endParaRPr lang="en-US" sz="1200" dirty="0"/>
          </a:p>
        </p:txBody>
      </p:sp>
      <p:sp>
        <p:nvSpPr>
          <p:cNvPr id="9" name="transbox"/>
          <p:cNvSpPr/>
          <p:nvPr/>
        </p:nvSpPr>
        <p:spPr>
          <a:xfrm>
            <a:off x="457200" y="3566160"/>
            <a:ext cx="4023360" cy="960120"/>
          </a:xfrm>
          <a:prstGeom prst="roundRect">
            <a:avLst>
              <a:gd name="adj" fmla="val 9524"/>
            </a:avLst>
          </a:prstGeom>
          <a:solidFill>
            <a:srgbClr val="F1F4F8"/>
          </a:solidFill>
          <a:ln w="12700">
            <a:solidFill>
              <a:srgbClr val="F1F4F8"/>
            </a:solidFill>
            <a:prstDash val="solid"/>
          </a:ln>
        </p:spPr>
      </p:sp>
      <p:sp>
        <p:nvSpPr>
          <p:cNvPr id="10" name="trans"/>
          <p:cNvSpPr txBox="1"/>
          <p:nvPr/>
        </p:nvSpPr>
        <p:spPr>
          <a:xfrm>
            <a:off x="59436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1" name="transcap"/>
          <p:cNvSpPr txBox="1"/>
          <p:nvPr/>
        </p:nvSpPr>
        <p:spPr>
          <a:xfrm>
            <a:off x="45720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x"/>
          <p:cNvSpPr txBox="1"/>
          <p:nvPr/>
        </p:nvSpPr>
        <p:spPr>
          <a:xfrm>
            <a:off x="4663440" y="1188720"/>
            <a:ext cx="4023360" cy="274320"/>
          </a:xfrm>
          <a:prstGeom prst="rect">
            <a:avLst/>
          </a:prstGeom>
          <a:noFill/>
          <a:ln/>
        </p:spPr>
        <p:txBody>
          <a:bodyPr wrap="square" lIns="0" tIns="0" rIns="0" bIns="0" rtlCol="0" anchor="ctr"/>
          <a:lstStyle/>
          <a:p>
            <a:pPr indent="0" marL="0">
              <a:buNone/>
            </a:pPr>
            <a:r>
              <a:rPr lang="en-US" sz="1400" b="1" dirty="0">
                <a:solidFill>
                  <a:srgbClr val="306998"/>
                </a:solidFill>
                <a:latin typeface="Calibri" pitchFamily="34" charset="0"/>
                <a:ea typeface="Calibri" pitchFamily="34" charset="-122"/>
                <a:cs typeface="Calibri" pitchFamily="34" charset="-120"/>
              </a:rPr>
              <a:t>After — with :=</a:t>
            </a:r>
            <a:endParaRPr lang="en-US" sz="1400" dirty="0"/>
          </a:p>
        </p:txBody>
      </p:sp>
      <p:sp>
        <p:nvSpPr>
          <p:cNvPr id="13" name="progbox|b1"/>
          <p:cNvSpPr/>
          <p:nvPr/>
        </p:nvSpPr>
        <p:spPr>
          <a:xfrm>
            <a:off x="4663440" y="1508760"/>
            <a:ext cx="4023360" cy="1097280"/>
          </a:xfrm>
          <a:prstGeom prst="roundRect">
            <a:avLst>
              <a:gd name="adj" fmla="val 8333"/>
            </a:avLst>
          </a:prstGeom>
          <a:solidFill>
            <a:srgbClr val="17202B"/>
          </a:solidFill>
          <a:ln w="12700">
            <a:solidFill>
              <a:srgbClr val="17202B"/>
            </a:solidFill>
            <a:prstDash val="solid"/>
          </a:ln>
        </p:spPr>
      </p:sp>
      <p:sp>
        <p:nvSpPr>
          <p:cNvPr id="14" name="prog|b1"/>
          <p:cNvSpPr txBox="1"/>
          <p:nvPr/>
        </p:nvSpPr>
        <p:spPr>
          <a:xfrm>
            <a:off x="4846320" y="1600200"/>
            <a:ext cx="3657600" cy="91440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import io</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file = io.StringIO('abcdefgh')</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while chunk := file.read(3):</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print(chunk)</a:t>
            </a:r>
            <a:endParaRPr lang="en-US" sz="1300" dirty="0"/>
          </a:p>
        </p:txBody>
      </p:sp>
      <p:sp>
        <p:nvSpPr>
          <p:cNvPr id="15" name="transbox|b1"/>
          <p:cNvSpPr/>
          <p:nvPr/>
        </p:nvSpPr>
        <p:spPr>
          <a:xfrm>
            <a:off x="4663440" y="3566160"/>
            <a:ext cx="4023360" cy="960120"/>
          </a:xfrm>
          <a:prstGeom prst="roundRect">
            <a:avLst>
              <a:gd name="adj" fmla="val 9524"/>
            </a:avLst>
          </a:prstGeom>
          <a:solidFill>
            <a:srgbClr val="F1F4F8"/>
          </a:solidFill>
          <a:ln w="12700">
            <a:solidFill>
              <a:srgbClr val="F1F4F8"/>
            </a:solidFill>
            <a:prstDash val="solid"/>
          </a:ln>
        </p:spPr>
      </p:sp>
      <p:sp>
        <p:nvSpPr>
          <p:cNvPr id="16" name="trans|b1"/>
          <p:cNvSpPr txBox="1"/>
          <p:nvPr/>
        </p:nvSpPr>
        <p:spPr>
          <a:xfrm>
            <a:off x="480060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7" name="transcap|b1"/>
          <p:cNvSpPr txBox="1"/>
          <p:nvPr/>
        </p:nvSpPr>
        <p:spPr>
          <a:xfrm>
            <a:off x="466344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say|b1"/>
          <p:cNvSpPr txBox="1"/>
          <p:nvPr/>
        </p:nvSpPr>
        <p:spPr>
          <a:xfrm>
            <a:off x="4663440" y="2743200"/>
            <a:ext cx="4023360" cy="7315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 names the value inside the condition. PEP 572’s own example: while chunk := file.read(8192).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hazards: editing what you iterate, and leaving finally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named by the reference documentation</a:t>
            </a:r>
            <a:endParaRPr lang="en-US" sz="1400" dirty="0"/>
          </a:p>
        </p:txBody>
      </p:sp>
      <p:sp>
        <p:nvSpPr>
          <p:cNvPr id="6" name="progbox"/>
          <p:cNvSpPr/>
          <p:nvPr/>
        </p:nvSpPr>
        <p:spPr>
          <a:xfrm>
            <a:off x="457200" y="1325880"/>
            <a:ext cx="420624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640080" y="1417320"/>
            <a:ext cx="384048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users = {'Ada': 'active', 'Can': 'inactive', 'Eda':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name, status in users.copy().items():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status ==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del users[name]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print(users)</a:t>
            </a:r>
            <a:endParaRPr lang="en-US" sz="1200" dirty="0"/>
          </a:p>
        </p:txBody>
      </p:sp>
      <p:sp>
        <p:nvSpPr>
          <p:cNvPr id="8" name="transbox"/>
          <p:cNvSpPr/>
          <p:nvPr/>
        </p:nvSpPr>
        <p:spPr>
          <a:xfrm>
            <a:off x="4937760" y="1325880"/>
            <a:ext cx="3749040" cy="914400"/>
          </a:xfrm>
          <a:prstGeom prst="roundRect">
            <a:avLst>
              <a:gd name="adj" fmla="val 10000"/>
            </a:avLst>
          </a:prstGeom>
          <a:solidFill>
            <a:srgbClr val="F1F4F8"/>
          </a:solidFill>
          <a:ln w="12700">
            <a:solidFill>
              <a:srgbClr val="F1F4F8"/>
            </a:solidFill>
            <a:prstDash val="solid"/>
          </a:ln>
        </p:spPr>
      </p:sp>
      <p:sp>
        <p:nvSpPr>
          <p:cNvPr id="9" name="trans"/>
          <p:cNvSpPr txBox="1"/>
          <p:nvPr/>
        </p:nvSpPr>
        <p:spPr>
          <a:xfrm>
            <a:off x="5074920" y="1399032"/>
            <a:ext cx="3474720" cy="7680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{'Ada': 'active'}</a:t>
            </a:r>
            <a:endParaRPr lang="en-US" sz="1300" dirty="0"/>
          </a:p>
        </p:txBody>
      </p:sp>
      <p:sp>
        <p:nvSpPr>
          <p:cNvPr id="10" name="transcap"/>
          <p:cNvSpPr txBox="1"/>
          <p:nvPr/>
        </p:nvSpPr>
        <p:spPr>
          <a:xfrm>
            <a:off x="4937760" y="226771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1"/>
          <p:cNvSpPr/>
          <p:nvPr/>
        </p:nvSpPr>
        <p:spPr>
          <a:xfrm>
            <a:off x="457200" y="3429000"/>
            <a:ext cx="4069080" cy="1280160"/>
          </a:xfrm>
          <a:prstGeom prst="roundRect">
            <a:avLst>
              <a:gd name="adj" fmla="val 7143"/>
            </a:avLst>
          </a:prstGeom>
          <a:solidFill>
            <a:srgbClr val="F1F4F8"/>
          </a:solidFill>
          <a:ln w="12700">
            <a:solidFill>
              <a:srgbClr val="F1F4F8"/>
            </a:solidFill>
            <a:prstDash val="solid"/>
          </a:ln>
        </p:spPr>
      </p:sp>
      <p:sp>
        <p:nvSpPr>
          <p:cNvPr id="12" name="cardhead|b1"/>
          <p:cNvSpPr txBox="1"/>
          <p:nvPr/>
        </p:nvSpPr>
        <p:spPr>
          <a:xfrm>
            <a:off x="621792" y="3520440"/>
            <a:ext cx="3739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Modifying while iterating</a:t>
            </a:r>
            <a:endParaRPr lang="en-US" sz="1500" dirty="0"/>
          </a:p>
        </p:txBody>
      </p:sp>
      <p:sp>
        <p:nvSpPr>
          <p:cNvPr id="13" name="cardbody|b1"/>
          <p:cNvSpPr txBox="1"/>
          <p:nvPr/>
        </p:nvSpPr>
        <p:spPr>
          <a:xfrm>
            <a:off x="62179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Tricky to get right. Loop over a copy — .copy().items() — or build a new collection.</a:t>
            </a:r>
            <a:endParaRPr lang="en-US" sz="1300" dirty="0"/>
          </a:p>
        </p:txBody>
      </p:sp>
      <p:sp>
        <p:nvSpPr>
          <p:cNvPr id="14" name="card|b2"/>
          <p:cNvSpPr/>
          <p:nvPr/>
        </p:nvSpPr>
        <p:spPr>
          <a:xfrm>
            <a:off x="4617720" y="3429000"/>
            <a:ext cx="4069080" cy="1280160"/>
          </a:xfrm>
          <a:prstGeom prst="roundRect">
            <a:avLst>
              <a:gd name="adj" fmla="val 7143"/>
            </a:avLst>
          </a:prstGeom>
          <a:solidFill>
            <a:srgbClr val="F1F4F8"/>
          </a:solidFill>
          <a:ln w="12700">
            <a:solidFill>
              <a:srgbClr val="F1F4F8"/>
            </a:solidFill>
            <a:prstDash val="solid"/>
          </a:ln>
        </p:spPr>
      </p:sp>
      <p:sp>
        <p:nvSpPr>
          <p:cNvPr id="15" name="cardhead|b2"/>
          <p:cNvSpPr txBox="1"/>
          <p:nvPr/>
        </p:nvSpPr>
        <p:spPr>
          <a:xfrm>
            <a:off x="4782312" y="3520440"/>
            <a:ext cx="37398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Python 3.14</a:t>
            </a:r>
            <a:endParaRPr lang="en-US" sz="1500" dirty="0"/>
          </a:p>
        </p:txBody>
      </p:sp>
      <p:sp>
        <p:nvSpPr>
          <p:cNvPr id="16" name="cardbody|b2"/>
          <p:cNvSpPr txBox="1"/>
          <p:nvPr/>
        </p:nvSpPr>
        <p:spPr>
          <a:xfrm>
            <a:off x="478231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return, break or continue that leaves a finally block now draws a SyntaxWarning (PEP 765).</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pick the loop, trace it, exit it, import into it</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for when you know the sequence, while when the data decides</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Predict</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values range() makes, and why a range is not a list</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loop pass by pass, including break, continue and the loop else</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Import</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by module name, the way PEP 8 recommends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stops a program stuck in an infinite loop?</a:t>
            </a:r>
            <a:endParaRPr lang="en-US" sz="1400" dirty="0"/>
          </a:p>
        </p:txBody>
      </p:sp>
      <p:sp>
        <p:nvSpPr>
          <p:cNvPr id="9" name="a|b1"/>
          <p:cNvSpPr/>
          <p:nvPr/>
        </p:nvSpPr>
        <p:spPr>
          <a:xfrm>
            <a:off x="5303520" y="1252728"/>
            <a:ext cx="338328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Control-C — it raises KeyboardInterrupt.</a:t>
            </a:r>
            <a:endParaRPr lang="en-US" sz="12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break versus continue?</a:t>
            </a:r>
            <a:endParaRPr lang="en-US" sz="1400" dirty="0"/>
          </a:p>
        </p:txBody>
      </p:sp>
      <p:sp>
        <p:nvSpPr>
          <p:cNvPr id="14" name="a|b2"/>
          <p:cNvSpPr/>
          <p:nvPr/>
        </p:nvSpPr>
        <p:spPr>
          <a:xfrm>
            <a:off x="5303520" y="1938528"/>
            <a:ext cx="338328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break leaves the loop; continue skips to the next pass.</a:t>
            </a:r>
            <a:endParaRPr lang="en-US" sz="12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range(10), range(0, 10), range(0, 10, 1)?</a:t>
            </a:r>
            <a:endParaRPr lang="en-US" sz="1400" dirty="0"/>
          </a:p>
        </p:txBody>
      </p:sp>
      <p:sp>
        <p:nvSpPr>
          <p:cNvPr id="19" name="a|b3"/>
          <p:cNvSpPr/>
          <p:nvPr/>
        </p:nvSpPr>
        <p:spPr>
          <a:xfrm>
            <a:off x="5303520" y="2624328"/>
            <a:ext cx="338328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The same values.</a:t>
            </a:r>
            <a:endParaRPr lang="en-US" sz="12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does a loop’s else run?</a:t>
            </a:r>
            <a:endParaRPr lang="en-US" sz="1400" dirty="0"/>
          </a:p>
        </p:txBody>
      </p:sp>
      <p:sp>
        <p:nvSpPr>
          <p:cNvPr id="24" name="a|b4"/>
          <p:cNvSpPr/>
          <p:nvPr/>
        </p:nvSpPr>
        <p:spPr>
          <a:xfrm>
            <a:off x="5303520" y="3310128"/>
            <a:ext cx="338328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When the loop finishes without a break.</a:t>
            </a:r>
            <a:endParaRPr lang="en-US" sz="12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zip(a, b, strict=True) add?</a:t>
            </a:r>
            <a:endParaRPr lang="en-US" sz="1400" dirty="0"/>
          </a:p>
        </p:txBody>
      </p:sp>
      <p:sp>
        <p:nvSpPr>
          <p:cNvPr id="29" name="a|b5"/>
          <p:cNvSpPr/>
          <p:nvPr/>
        </p:nvSpPr>
        <p:spPr>
          <a:xfrm>
            <a:off x="5303520" y="3995928"/>
            <a:ext cx="338328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 ValueError when the lengths differ.</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3.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4 and 5; Language Reference 8; Built-in Functions; sys; Built-in Exceptions;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Angelico, C., Peters, T. and van Rossum, G. (2018). PEP 572 – Assignment Expressions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Warsaw, B. and Coghlan, N. (2001). PEP 8 – Style Guide for Python Code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Katriel, I. and Coghlan, N. (2024). PEP 765 – Disallow return/break/continue that exit a finally block</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Bucher, C. (2020). PEP 618 – Add Optional Length-Checking To zip</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4 — Functions</a:t>
            </a:r>
            <a:endParaRPr lang="en-US" sz="3000" dirty="0"/>
          </a:p>
        </p:txBody>
      </p:sp>
      <p:sp>
        <p:nvSpPr>
          <p:cNvPr id="3" name="x"/>
          <p:cNvSpPr txBox="1"/>
          <p:nvPr/>
        </p:nvSpPr>
        <p:spPr>
          <a:xfrm>
            <a:off x="548640" y="2377440"/>
            <a:ext cx="8046720" cy="82296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3 interactive page — the same diagrams,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3 - Loops</dc:title>
  <dc:subject>PptxGenJS Presentation</dc:subject>
  <dc:creator>Yusuf Altunel</dc:creator>
  <cp:lastModifiedBy>Yusuf Altunel</cp:lastModifiedBy>
  <cp:revision>1</cp:revision>
  <dcterms:created xsi:type="dcterms:W3CDTF">2026-09-29T06:07:49Z</dcterms:created>
  <dcterms:modified xsi:type="dcterms:W3CDTF">2026-09-29T06:07:49Z</dcterms:modified>
  <cp:version>2.0.1</cp:version>
</cp:coreProperties>
</file>