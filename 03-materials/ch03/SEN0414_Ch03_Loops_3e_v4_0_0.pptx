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notesMasterIdLst>
    <p:notesMasterId r:id="rId2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notesMaster" Target="notesMasters/notesMaster1.xml"/><Relationship Id="rId24" Type="http://schemas.openxmlformats.org/officeDocument/2006/relationships/presProps" Target="presProps.xml"/><Relationship Id="rId25" Type="http://schemas.openxmlformats.org/officeDocument/2006/relationships/viewProps" Target="viewProps.xml"/><Relationship Id="rId26" Type="http://schemas.openxmlformats.org/officeDocument/2006/relationships/theme" Target="theme/theme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Chapter 2 chose between paths; chapter 3 repeats them: while and for, the containers loops visit, and the modules that save you writing loops at all.
FULL TEXT: course page, chapter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Five parts, from Gauss's shortcut to the twister inside random - every transcript verified off this very file.
ASK: Which part do you expect to be hardest - mark it now, check at the summary.
FULL TEXT: course page, chapter 3 - every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Repetition is the ability of a program to run the same block of code more than once, and it is the subject of the first half of chapter 3. Chapter 2 showed how a program chooses between blocks, so that some lines run and others are skipped; this chapter adds the loop, a statement that sends execution back to the start of a block so that the same lines can serve many values (Sweigart, 2025).
FULL TEXT: course page, chapter 3 -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Repetition is the ability of a program to run the same block of code more than once, and it is the subject of the first half of chapter 3. Chapter 2 showed how a program chooses between blocks, so that some lines run and others are skipped; this chapter adds the loop, a statement that sends execution back to the start of a block so that the same lines can serve many values (Sweigart, 2025).
FULL TEXT: course page, chapter 3 - Repetition,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Repetition is the ability of a program to run the same block of code more than once, and it is the subject of the first half of chapter 3. Chapter 2 showed how a program chooses between blocks, so that some lines run and others are skipped; this chapter adds the loop, a statement that sends execution back to the start of a block so that the same lines can serve many values (Sweigart, 2025).
FULL TEXT: course page, chapter 3 -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(legend set in the 1780s; traced in print back to 1856): The story says a teacher set the class to add every number from 1 to 100, and young Gauss answered at once: pair 1 with 100, 2 with 99 - fifty pairs of 101, 5050. The tale grew in the telling - Brian Hayes traced dozens of versions back to an 1856 memorial - but the mathematics needs no legend. The chapter's gauss program does it both ways: the loop accumulates 5050, and Gauss's closed form agrees without looping at all.
SOURCE: The anecdote's documented trail: first printed in Wolfgang Sartorius von Waltershausen's 1856 memorial of Gauss; versions collected by Brian Hayes ('Gauss's Day of Reckoning', American Scientist, 2006). Portrait: Jensen, 1840, public domain.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Repetition is the ability of a program to run the same block of code more than once, and it is the subject of the first half of chapter 3. Chapter 2 showed how a program chooses between blocks, so that some lines run and others are skipped; this chapter adds the loop, a statement that sends execution back to the start of a block so that the same lines can serve many values (Sweigart, 2025).
ASK: Which version can forget to advance - and what happens then?
FULL TEXT: course page, chapter 3 - Repetition.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(1982-08-11): In August 1982 Dijkstra wrote a two-page memo, by fountain pen as always, titled 'Why numbering should start at zero'. His argument: half-open ranges - include the start, exclude the stop - make lengths obvious (stop minus start), let adjacent ranges meet without overlap, and avoid ugly sentinels. Python follows it everywhere: range(5) yields five numbers starting at 0, and the chapter's consoles show adjacent ranges clicking together exactly as the memo promised.
SOURCE: E.W. Dijkstra, EWD831, 'Why numbering should start at zero', dated 11 August 1982, in the EWD archive at the University of Texas. Photo: Hamilton Richards, CC BY-SA 3.0.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Repetition is the ability of a program to run the same block of code more than once, and it is the subject of the first half of chapter 3. Chapter 2 showed how a program chooses between blocks, so that some lines run and others are skipped; this chapter adds the loop, a statement that sends execution back to the start of a block so that the same lines can serve many values (Sweigart, 2025).
ASK: Why does range(10**9) cost nothing until you loop it?
FULL TEXT: course page, chapter 3 - Repetition,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 chapter 3 the word sequence stands for whatever a for loop can walk through. Python's glossary gives the strict meaning: a sequence is an iterable that supports efficient access to its elements through integer indices and that has a length, and the built-in sequence types include list, str, tuple and bytes (Python Software Foundation, 2026).
FULL TEXT: course page, chapter 3 -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 chapter 3 the word sequence stands for whatever a for loop can walk through. Python's glossary gives the strict meaning: a sequence is an iterable that supports efficient access to its elements through integer indices and that has a length, and the built-in sequence types include list, str, tuple and bytes (Python Software Foundation, 2026).
ASK: Which of the three would hold the days of the week - and why that one?
FULL TEXT: course page, chapter 3 - Sequence.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In chapter 3 the word sequence stands for whatever a for loop can walk through. Python's glossary gives the strict meaning: a sequence is an iterable that supports efficient access to its elements through integer indices and that has a length, and the built-in sequence types include list, str, tuple and bytes (Python Software Foundation, 2026).
ASK: What does zip do with unequal lengths without strict=True?
FULL TEXT: course page, chapter 3 - Sequence, ModernPractice.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Loop control is the set of statements and calls that change the course of a loop from the inside. A loop normally runs until its condition fails or its sequence is used up, but the program can also leave it early, skip a single iteration, or react to what happened when the loop ended.
FULL TEXT: course page, chapter 3 - LoopControl.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Loop control is the set of statements and calls that change the course of a loop from the inside. A loop normally runs until its condition fails or its sequence is used up, but the program can also leave it early, skip a single iteration, or react to what happened when the loop ended.
ASK: Rewrite the nested break to leave BOTH loops - what tool does chapter 4 offer?
FULL TEXT: course page, chapter 3 - LoopControl.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module is a unit of Python code that a program can load and use, and this branch of the chapter explains how to do so. The book introduces the idea in one passage: Python comes with a set of modules called the standard library, and each module is a Python program that contains a related group of functions that can be embedded in your programs (Sweigart, 2025).
FULL TEXT: course page, chapter 3 -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STORY (1997-98): When the chapter imports random, it wakes a generator with a name like a fairground ride: the Mersenne Twister, published by Matsumoto and Nishimura in 1997-98. Its period is 2 to the 19937th minus 1 - a Mersenne prime - meaning the sequence of 'random' numbers will not repeat within any lifetime. It became the default generator of Python, R and countless tools; good enough for games and simulations, and - the docs warn - deliberately not for cryptography.
SOURCE: Matsumoto and Nishimura, 'Mersenne Twister: a 623-dimensionally equidistributed uniform pseudo-random number generator', ACM TOMACS 8(1), 1998; period 2^19937-1; Python's random module documents it as its core generator.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module is a unit of Python code that a program can load and use, and this branch of the chapter explains how to do so. The book introduces the idea in one passage: Python comes with a set of modules called the standard library, and each module is a Python program that contains a related group of functions that can be embedded in your programs (Sweigart, 2025).
ASK: Why does the course never write from module import * ? (the next slide shows)
FULL TEXT: course page, chapter 3 -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A module is a unit of Python code that a program can load and use, and this branch of the chapter explains how to do so. The book introduces the idea in one passage: Python comes with a set of modules called the standard library, and each module is a Python program that contains a related group of functions that can be embedded in your programs (Sweigart, 2025).
ASK: Which error here is a TYPO, which a MISSING INSTALL - and how do you tell?
FULL TEXT: course page, chapter 3 - Module, LoopControl.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Five lines, one per part; the agenda names the slides that prove each.
ASK: Which line would you defend first, and with which slide?
FULL TEXT: course page, chapter 3 - every section.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Every link is a source the chapter corpus cites and checked. Read EWD831 tonight - two handwritten pages, and range() never confuses you again.
ASK: Find the stdlib module that already solves your current side project.
FULL TEXT: course page, chapter 3 - Module.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SAY: Four claims, each carried by a transcript you watched print. Next week: functions - naming the loops you just wrote.
FULL TEXT: course page, chapter 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en.wikipedia.org/wiki/Carl_Friedrich_Gauss" TargetMode="External"/><Relationship Id="rId1" Type="http://schemas.openxmlformats.org/officeDocument/2006/relationships/image" Target="../media/image-6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cs.utexas.edu/users/EWD/transcriptions/EWD08xx/EWD831.html" TargetMode="External"/><Relationship Id="rId1" Type="http://schemas.openxmlformats.org/officeDocument/2006/relationships/image" Target="../media/image-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en.wikipedia.org/wiki/Mersenne_Twiste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hyperlink" Target="https://automatetheboringstuff.com/3e/chapter3.html" TargetMode="External"/><Relationship Id="rId2" Type="http://schemas.openxmlformats.org/officeDocument/2006/relationships/hyperlink" Target="https://docs.python.org/3/tutorial/controlflow.html" TargetMode="External"/><Relationship Id="rId3" Type="http://schemas.openxmlformats.org/officeDocument/2006/relationships/hyperlink" Target="https://docs.python.org/3/reference/compound_stmts.html" TargetMode="External"/><Relationship Id="rId4" Type="http://schemas.openxmlformats.org/officeDocument/2006/relationships/hyperlink" Target="https://docs.python.org/3/library/stdtypes.html" TargetMode="External"/><Relationship Id="rId5" Type="http://schemas.openxmlformats.org/officeDocument/2006/relationships/hyperlink" Target="https://docs.python.org/3/library/random.html" TargetMode="External"/><Relationship Id="rId6" Type="http://schemas.openxmlformats.org/officeDocument/2006/relationships/hyperlink" Target="https://www.cs.utexas.edu/users/EWD/transcriptions/EWD08xx/EWD831.html" TargetMode="External"/><Relationship Id="rId7" Type="http://schemas.openxmlformats.org/officeDocument/2006/relationships/hyperlink" Target="https://en.wikipedia.org/wiki/Mersenne_Twister" TargetMode="External"/><Relationship Id="rId8" Type="http://schemas.openxmlformats.org/officeDocument/2006/relationships/hyperlink" Target="https://peps.python.org/pep-0008/" TargetMode="External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9601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F6D62"/>
          </a:solidFill>
          <a:ln w="19050">
            <a:solidFill>
              <a:srgbClr val="D97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280160" y="1325880"/>
            <a:ext cx="228600" cy="0"/>
          </a:xfrm>
          <a:prstGeom prst="line">
            <a:avLst/>
          </a:prstGeom>
          <a:noFill/>
          <a:ln w="19050">
            <a:solidFill>
              <a:srgbClr val="D97A14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8760" y="9601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2F6D62"/>
          </a:solidFill>
          <a:ln w="19050">
            <a:solidFill>
              <a:srgbClr val="D97A1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2240280" y="1325880"/>
            <a:ext cx="228600" cy="0"/>
          </a:xfrm>
          <a:prstGeom prst="line">
            <a:avLst/>
          </a:prstGeom>
          <a:noFill/>
          <a:ln w="19050">
            <a:solidFill>
              <a:srgbClr val="D97A1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468880" y="960120"/>
            <a:ext cx="731520" cy="731520"/>
          </a:xfrm>
          <a:prstGeom prst="roundRect">
            <a:avLst>
              <a:gd name="adj" fmla="val 12500"/>
            </a:avLst>
          </a:prstGeom>
          <a:solidFill>
            <a:srgbClr val="D97A14"/>
          </a:solidFill>
          <a:ln w="19050">
            <a:solidFill>
              <a:srgbClr val="D97A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468880" y="96012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01168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3: Loops and Modules</a:t>
            </a:r>
            <a:endParaRPr lang="en-US" sz="36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274320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i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Doing it again until it is done - and importing what others finished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224528"/>
            <a:ext cx="8046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SEN0414 Advanced Programming · Fall 2026 · Yusuf Altunel, PhD · İstanbul Kültür University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0" y="1188720"/>
            <a:ext cx="3200400" cy="1554480"/>
          </a:xfrm>
          <a:prstGeom prst="roundRect">
            <a:avLst>
              <a:gd name="adj" fmla="val 588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669280" y="1307592"/>
            <a:ext cx="283464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sum(range(101))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5050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12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list(range(3))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1, 2]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0" y="2761488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Today's route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parts; every number is a slide you can jump to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371600"/>
            <a:ext cx="5193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and the chapter map  (slides 3-4)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029968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299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993392"/>
            <a:ext cx="5193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Repeating - while, for, range  (slides 5-9)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651760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615184"/>
            <a:ext cx="5193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Sequences - lists, dicts, enumerate, zip  (slides 10-12)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73552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7355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3236976"/>
            <a:ext cx="5193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 - break, continue, nesting  (slides 13-14)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895344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9534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858768"/>
            <a:ext cx="51937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Modules, summary, and resources  (slides 15-21)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446520" y="1371600"/>
            <a:ext cx="2240280" cy="950976"/>
          </a:xfrm>
          <a:prstGeom prst="roundRect">
            <a:avLst>
              <a:gd name="adj" fmla="val 7692"/>
            </a:avLst>
          </a:prstGeom>
          <a:solidFill>
            <a:srgbClr val="F2ECE1"/>
          </a:solidFill>
          <a:ln w="12700">
            <a:solidFill>
              <a:srgbClr val="DFD6C7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56248" y="1408176"/>
            <a:ext cx="2020824" cy="494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2600" dirty="0"/>
          </a:p>
        </p:txBody>
      </p:sp>
      <p:sp>
        <p:nvSpPr>
          <p:cNvPr id="23" name="Text 21"/>
          <p:cNvSpPr txBox="1"/>
          <p:nvPr/>
        </p:nvSpPr>
        <p:spPr>
          <a:xfrm>
            <a:off x="6556248" y="1866108"/>
            <a:ext cx="2020824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slides, numbered bottom-right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6446520" y="2450592"/>
            <a:ext cx="2240280" cy="950976"/>
          </a:xfrm>
          <a:prstGeom prst="roundRect">
            <a:avLst>
              <a:gd name="adj" fmla="val 7692"/>
            </a:avLst>
          </a:prstGeom>
          <a:solidFill>
            <a:srgbClr val="F2ECE1"/>
          </a:solidFill>
          <a:ln w="12700">
            <a:solidFill>
              <a:srgbClr val="DFD6C7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56248" y="2487168"/>
            <a:ext cx="2020824" cy="494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6" name="Text 24"/>
          <p:cNvSpPr txBox="1"/>
          <p:nvPr/>
        </p:nvSpPr>
        <p:spPr>
          <a:xfrm>
            <a:off x="6556248" y="2945100"/>
            <a:ext cx="2020824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true stories, each with WHO / WHERE / WHEN / READ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6446520" y="3529584"/>
            <a:ext cx="2240280" cy="950976"/>
          </a:xfrm>
          <a:prstGeom prst="roundRect">
            <a:avLst>
              <a:gd name="adj" fmla="val 7692"/>
            </a:avLst>
          </a:prstGeom>
          <a:solidFill>
            <a:srgbClr val="F2ECE1"/>
          </a:solidFill>
          <a:ln w="12700">
            <a:solidFill>
              <a:srgbClr val="DFD6C7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56248" y="3566160"/>
            <a:ext cx="2020824" cy="494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97A1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26</a:t>
            </a:r>
            <a:endParaRPr lang="en-US" sz="2600" dirty="0"/>
          </a:p>
        </p:txBody>
      </p:sp>
      <p:sp>
        <p:nvSpPr>
          <p:cNvPr id="29" name="Text 27"/>
          <p:cNvSpPr txBox="1"/>
          <p:nvPr/>
        </p:nvSpPr>
        <p:spPr>
          <a:xfrm>
            <a:off x="6556248" y="4024092"/>
            <a:ext cx="2020824" cy="4184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consoles and whole programs, run live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parts - and every transcript on screen really printed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21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questions this chapter answers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competency questions - we return to each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62456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36245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325880"/>
            <a:ext cx="7662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constructs repeat a block, and what decides when each one stops?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1929384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19293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892808"/>
            <a:ext cx="7662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statements leave or skip part of a loop, and what do they leave behind?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496312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49631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459736"/>
            <a:ext cx="7662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operations raise an error, and which error with which message?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063240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0632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3026664"/>
            <a:ext cx="7662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concepts reach beyond the 3rd edition into current Python, and on what source?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630168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63016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593592"/>
            <a:ext cx="7662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terms does the chapter use without defining them, and where are they defined here?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3931920"/>
            <a:ext cx="2487168" cy="420624"/>
          </a:xfrm>
          <a:prstGeom prst="roundRect">
            <a:avLst>
              <a:gd name="adj" fmla="val 50000"/>
            </a:avLst>
          </a:prstGeom>
          <a:solidFill>
            <a:srgbClr val="F2ECE1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57200" y="3931920"/>
            <a:ext cx="24871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answer ran</a:t>
            </a:r>
            <a:endParaRPr lang="en-US" sz="1250" dirty="0"/>
          </a:p>
        </p:txBody>
      </p:sp>
      <p:sp>
        <p:nvSpPr>
          <p:cNvPr id="23" name="Shape 21"/>
          <p:cNvSpPr/>
          <p:nvPr/>
        </p:nvSpPr>
        <p:spPr>
          <a:xfrm>
            <a:off x="3145536" y="3931920"/>
            <a:ext cx="4458843" cy="420624"/>
          </a:xfrm>
          <a:prstGeom prst="roundRect">
            <a:avLst>
              <a:gd name="adj" fmla="val 50000"/>
            </a:avLst>
          </a:prstGeom>
          <a:solidFill>
            <a:srgbClr val="F2ECE1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3145536" y="3931920"/>
            <a:ext cx="445884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whole programs with transcripts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457200" y="4517136"/>
            <a:ext cx="3670173" cy="420624"/>
          </a:xfrm>
          <a:prstGeom prst="roundRect">
            <a:avLst>
              <a:gd name="adj" fmla="val 50000"/>
            </a:avLst>
          </a:prstGeom>
          <a:solidFill>
            <a:srgbClr val="F2ECE1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57200" y="4517136"/>
            <a:ext cx="3670173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 on the last slide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you can answer these, chapter 3 is yours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21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chapter, five branches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concept map the whole chapter hangs on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060704"/>
            <a:ext cx="822960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branch is a question the chapter answers; the grey lists are the concepts that answer it, every one explained on the course page.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365760" y="2715768"/>
            <a:ext cx="1417320" cy="548640"/>
          </a:xfrm>
          <a:prstGeom prst="roundRect">
            <a:avLst>
              <a:gd name="adj" fmla="val 16667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65760" y="2715768"/>
            <a:ext cx="1417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Chapter 3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 flipV="1">
            <a:off x="1783080" y="1719072"/>
            <a:ext cx="502920" cy="1271016"/>
          </a:xfrm>
          <a:prstGeom prst="line">
            <a:avLst/>
          </a:prstGeom>
          <a:noFill/>
          <a:ln w="13970">
            <a:solidFill>
              <a:srgbClr val="C9BFA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331720" y="1481328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2F6D62"/>
          </a:solidFill>
          <a:ln w="9525">
            <a:solidFill>
              <a:srgbClr val="2F6D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386584" y="1481328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Repetition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023360" y="1719072"/>
            <a:ext cx="274320" cy="0"/>
          </a:xfrm>
          <a:prstGeom prst="line">
            <a:avLst/>
          </a:prstGeom>
          <a:noFill/>
          <a:ln w="13970">
            <a:solidFill>
              <a:srgbClr val="C9BFA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97680" y="1499616"/>
            <a:ext cx="4480560" cy="438912"/>
          </a:xfrm>
          <a:prstGeom prst="roundRect">
            <a:avLst>
              <a:gd name="adj" fmla="val 12500"/>
            </a:avLst>
          </a:prstGeom>
          <a:solidFill>
            <a:srgbClr val="F2ECE1"/>
          </a:solidFill>
          <a:ln w="6350">
            <a:solidFill>
              <a:srgbClr val="DFD6C7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407408" y="1499616"/>
            <a:ext cx="4261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Basics  ·  Condition Loop  ·  Counted Loop  ·  Loop Composition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flipV="1">
            <a:off x="1783080" y="2354580"/>
            <a:ext cx="502920" cy="635508"/>
          </a:xfrm>
          <a:prstGeom prst="line">
            <a:avLst/>
          </a:prstGeom>
          <a:noFill/>
          <a:ln w="13970">
            <a:solidFill>
              <a:srgbClr val="C9BFA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331720" y="2116836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2F6D62"/>
          </a:solidFill>
          <a:ln w="9525">
            <a:solidFill>
              <a:srgbClr val="2F6D62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386584" y="2116836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Sequence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023360" y="2354580"/>
            <a:ext cx="274320" cy="0"/>
          </a:xfrm>
          <a:prstGeom prst="line">
            <a:avLst/>
          </a:prstGeom>
          <a:noFill/>
          <a:ln w="13970">
            <a:solidFill>
              <a:srgbClr val="C9BFA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297680" y="2135124"/>
            <a:ext cx="4480560" cy="438912"/>
          </a:xfrm>
          <a:prstGeom prst="roundRect">
            <a:avLst>
              <a:gd name="adj" fmla="val 12500"/>
            </a:avLst>
          </a:prstGeom>
          <a:solidFill>
            <a:srgbClr val="F2ECE1"/>
          </a:solidFill>
          <a:ln w="6350">
            <a:solidFill>
              <a:srgbClr val="DFD6C7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407408" y="2135124"/>
            <a:ext cx="4261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Sequence  ·  Iteration Helper  ·  Iteration Protocol  ·  Collection Value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 flipV="1">
            <a:off x="1783080" y="2990088"/>
            <a:ext cx="502920" cy="0"/>
          </a:xfrm>
          <a:prstGeom prst="line">
            <a:avLst/>
          </a:prstGeom>
          <a:noFill/>
          <a:ln w="13970">
            <a:solidFill>
              <a:srgbClr val="C9BFA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31720" y="2752344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2F6D62"/>
          </a:solidFill>
          <a:ln w="9525">
            <a:solidFill>
              <a:srgbClr val="2F6D6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386584" y="2752344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 Control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023360" y="2990088"/>
            <a:ext cx="274320" cy="0"/>
          </a:xfrm>
          <a:prstGeom prst="line">
            <a:avLst/>
          </a:prstGeom>
          <a:noFill/>
          <a:ln w="13970">
            <a:solidFill>
              <a:srgbClr val="C9BFA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297680" y="2770632"/>
            <a:ext cx="4480560" cy="438912"/>
          </a:xfrm>
          <a:prstGeom prst="roundRect">
            <a:avLst>
              <a:gd name="adj" fmla="val 12500"/>
            </a:avLst>
          </a:prstGeom>
          <a:solidFill>
            <a:srgbClr val="F2ECE1"/>
          </a:solidFill>
          <a:ln w="6350">
            <a:solidFill>
              <a:srgbClr val="DFD6C7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4407408" y="2770632"/>
            <a:ext cx="4261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Exit  ·  Skipping  ·  Loop Completion  ·  Exception Handling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1783080" y="2990088"/>
            <a:ext cx="502920" cy="635508"/>
          </a:xfrm>
          <a:prstGeom prst="line">
            <a:avLst/>
          </a:prstGeom>
          <a:noFill/>
          <a:ln w="13970">
            <a:solidFill>
              <a:srgbClr val="C9BFA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31720" y="3387852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2F6D62"/>
          </a:solidFill>
          <a:ln w="9525">
            <a:solidFill>
              <a:srgbClr val="2F6D62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386584" y="3387852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4023360" y="3625596"/>
            <a:ext cx="274320" cy="0"/>
          </a:xfrm>
          <a:prstGeom prst="line">
            <a:avLst/>
          </a:prstGeom>
          <a:noFill/>
          <a:ln w="13970">
            <a:solidFill>
              <a:srgbClr val="C9BFA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297680" y="3406140"/>
            <a:ext cx="4480560" cy="438912"/>
          </a:xfrm>
          <a:prstGeom prst="roundRect">
            <a:avLst>
              <a:gd name="adj" fmla="val 12500"/>
            </a:avLst>
          </a:prstGeom>
          <a:solidFill>
            <a:srgbClr val="F2ECE1"/>
          </a:solidFill>
          <a:ln w="6350">
            <a:solidFill>
              <a:srgbClr val="DFD6C7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4407408" y="3406140"/>
            <a:ext cx="4261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Form  ·  Module Basics  ·  Standard Module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1783080" y="2990088"/>
            <a:ext cx="502920" cy="1271016"/>
          </a:xfrm>
          <a:prstGeom prst="line">
            <a:avLst/>
          </a:prstGeom>
          <a:noFill/>
          <a:ln w="13970">
            <a:solidFill>
              <a:srgbClr val="C9BFA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31720" y="4023360"/>
            <a:ext cx="1691640" cy="475488"/>
          </a:xfrm>
          <a:prstGeom prst="roundRect">
            <a:avLst>
              <a:gd name="adj" fmla="val 15385"/>
            </a:avLst>
          </a:prstGeom>
          <a:solidFill>
            <a:srgbClr val="2F6D62"/>
          </a:solidFill>
          <a:ln w="9525">
            <a:solidFill>
              <a:srgbClr val="2F6D62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2386584" y="4023360"/>
            <a:ext cx="158191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Practice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023360" y="4261104"/>
            <a:ext cx="274320" cy="0"/>
          </a:xfrm>
          <a:prstGeom prst="line">
            <a:avLst/>
          </a:prstGeom>
          <a:noFill/>
          <a:ln w="13970">
            <a:solidFill>
              <a:srgbClr val="C9BFAE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297680" y="4041648"/>
            <a:ext cx="4480560" cy="438912"/>
          </a:xfrm>
          <a:prstGeom prst="roundRect">
            <a:avLst>
              <a:gd name="adj" fmla="val 12500"/>
            </a:avLst>
          </a:prstGeom>
          <a:solidFill>
            <a:srgbClr val="F2ECE1"/>
          </a:solidFill>
          <a:ln w="6350">
            <a:solidFill>
              <a:srgbClr val="DFD6C7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4407408" y="4041648"/>
            <a:ext cx="4261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Expression Style  ·  Hazard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branches - every slide today lives on this map</a:t>
            </a:r>
            <a:endParaRPr lang="en-US" sz="1350" dirty="0"/>
          </a:p>
        </p:txBody>
      </p:sp>
      <p:sp>
        <p:nvSpPr>
          <p:cNvPr id="41" name="Text 39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21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60120"/>
            <a:ext cx="128016" cy="1417320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93268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Repeating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guards; for visits; range describes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79776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52928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82312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84848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Accumulators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21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schoolboy who refused to loop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set in the 1780s; traced in print back to 1856</a:t>
            </a:r>
            <a:endParaRPr lang="en-US" sz="1300" dirty="0"/>
          </a:p>
        </p:txBody>
      </p:sp>
      <p:pic>
        <p:nvPicPr>
          <p:cNvPr id="6" name="Image 0" descr="../../03-materials/ch03/assets/photo_carl_gauss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2377440" cy="27432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4087368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Gauss, by Jensen (1840) - public domain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200400" y="1650492"/>
            <a:ext cx="128016" cy="128016"/>
          </a:xfrm>
          <a:prstGeom prst="diamond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474720" y="13716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 to 100, said the teacher; fifty pairs of 101, said the boy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200400" y="2336292"/>
            <a:ext cx="128016" cy="128016"/>
          </a:xfrm>
          <a:prstGeom prst="diamond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474720" y="2057400"/>
            <a:ext cx="52120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legend with a paper trail - first printed 1856, versions traced since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200400" y="2560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 earns 5050; the formula agrees without looping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200400" y="2834640"/>
            <a:ext cx="5486400" cy="1188720"/>
          </a:xfrm>
          <a:prstGeom prst="roundRect">
            <a:avLst>
              <a:gd name="adj" fmla="val 769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383280" y="2953512"/>
            <a:ext cx="51206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total = </a:t>
            </a:r>
            <a:pPr indent="0" marL="0">
              <a:buNone/>
            </a:pPr>
            <a:r>
              <a:rPr lang="en-US" sz="82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num </a:t>
            </a:r>
            <a:pPr indent="0" marL="0">
              <a:buNone/>
            </a:pPr>
            <a:r>
              <a:rPr lang="en-US" sz="82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pPr indent="0" marL="0">
              <a:buNone/>
            </a:pPr>
            <a:r>
              <a:rPr lang="en-US" sz="82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total = total + num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print(total)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 </a:t>
            </a:r>
            <a:pPr indent="0" marL="0">
              <a:buNone/>
            </a:pPr>
            <a:r>
              <a:rPr lang="en-US" sz="8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5050</a:t>
            </a:r>
            <a:endParaRPr lang="en-US" sz="820" dirty="0"/>
          </a:p>
        </p:txBody>
      </p:sp>
      <p:sp>
        <p:nvSpPr>
          <p:cNvPr id="15" name="Text 12"/>
          <p:cNvSpPr txBox="1"/>
          <p:nvPr/>
        </p:nvSpPr>
        <p:spPr>
          <a:xfrm>
            <a:off x="3383280" y="3749040"/>
            <a:ext cx="5120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gauss_v1_0_0.py, lines 1 to 4 of 4, run under Python 3.13.16</a:t>
            </a:r>
            <a:endParaRPr lang="en-US" sz="750" dirty="0"/>
          </a:p>
        </p:txBody>
      </p:sp>
      <p:sp>
        <p:nvSpPr>
          <p:cNvPr id="16" name="Shape 13"/>
          <p:cNvSpPr/>
          <p:nvPr/>
        </p:nvSpPr>
        <p:spPr>
          <a:xfrm>
            <a:off x="457200" y="4160520"/>
            <a:ext cx="2449129" cy="36576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 w="9525">
            <a:solidFill>
              <a:srgbClr val="DFD6C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60520"/>
            <a:ext cx="23028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8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Carl Friedrich Gauss (1777-1855), in a…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016057" y="4160520"/>
            <a:ext cx="2449129" cy="36576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 w="9525">
            <a:solidFill>
              <a:srgbClr val="DFD6C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07497" y="4160520"/>
            <a:ext cx="23028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8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anecdote's paper trail, collected …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574914" y="4160520"/>
            <a:ext cx="1343071" cy="36576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 w="9525">
            <a:solidFill>
              <a:srgbClr val="DFD6C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6354" y="4160520"/>
            <a:ext cx="1196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 </a:t>
            </a:r>
            <a:pPr indent="0" marL="0">
              <a:buNone/>
            </a:pPr>
            <a:r>
              <a:rPr lang="en-US" sz="9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 set in th…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027713" y="4160520"/>
            <a:ext cx="1659087" cy="365760"/>
          </a:xfrm>
          <a:prstGeom prst="roundRect">
            <a:avLst>
              <a:gd name="adj" fmla="val 50000"/>
            </a:avLst>
          </a:prstGeom>
          <a:solidFill>
            <a:srgbClr val="2F6D62"/>
          </a:solidFill>
          <a:ln w="9525">
            <a:solidFill>
              <a:srgbClr val="2F6D6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19153" y="4160520"/>
            <a:ext cx="15127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7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</a:t>
            </a:r>
            <a:pPr indent="0" marL="0">
              <a:buNone/>
            </a:pPr>
            <a:r>
              <a:rPr lang="en-US" sz="9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en.wikipedia.org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loop is honest work - and sometimes a formula beats it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21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repeats; for visits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same five greetings, two machines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while: you manage the counter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2651760"/>
          </a:xfrm>
          <a:prstGeom prst="roundRect">
            <a:avLst>
              <a:gd name="adj" fmla="val 3448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36192"/>
            <a:ext cx="356616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8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'Hello!'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 = </a:t>
            </a:r>
            <a:pPr indent="0" marL="0">
              <a:buNone/>
            </a:pPr>
            <a:r>
              <a:rPr lang="en-US" sz="80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&lt; </a:t>
            </a:r>
            <a:pPr indent="0" marL="0">
              <a:buNone/>
            </a:pPr>
            <a:r>
              <a:rPr lang="en-US" sz="80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buNone/>
            </a:pPr>
            <a:r>
              <a:rPr lang="en-US" sz="8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'On this iteration, i is set to '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str(i))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 = i + </a:t>
            </a:r>
            <a:pPr indent="0" marL="0">
              <a:buNone/>
            </a:pPr>
            <a:r>
              <a:rPr lang="en-US" sz="80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8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'Goodbye!'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 </a:t>
            </a:r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iteration, i is set to 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iteration, i is set to 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iteration, i is set to 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iteration, i is set to 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iteration, i is set to 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Goodbye!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37947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fivetimes_while_v1_0_0.py, lines 1 to 6 of 6, run under Python 3.13.16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143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for: range hands you each i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2651760"/>
          </a:xfrm>
          <a:prstGeom prst="roundRect">
            <a:avLst>
              <a:gd name="adj" fmla="val 3448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536192"/>
            <a:ext cx="3657600" cy="24140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8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'Hello!'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pPr indent="0" marL="0">
              <a:buNone/>
            </a:pPr>
            <a:r>
              <a:rPr lang="en-US" sz="80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pPr indent="0" marL="0">
              <a:buNone/>
            </a:pPr>
            <a:r>
              <a:rPr lang="en-US" sz="80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</a:t>
            </a:r>
            <a:pPr indent="0" marL="0">
              <a:buNone/>
            </a:pPr>
            <a:r>
              <a:rPr lang="en-US" sz="8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'On this iteration, i is set to '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+ str(i))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</a:t>
            </a:r>
            <a:pPr indent="0" marL="0">
              <a:buNone/>
            </a:pPr>
            <a:r>
              <a:rPr lang="en-US" sz="80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'Goodbye!'</a:t>
            </a:r>
            <a:pPr indent="0" marL="0">
              <a:buNone/>
            </a:pPr>
            <a:r>
              <a:rPr lang="en-US" sz="8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</a:t>
            </a:r>
            <a:endParaRPr lang="en-US" sz="800" dirty="0"/>
          </a:p>
          <a:p>
            <a:pPr indent="0" marL="0">
              <a:buNone/>
            </a:pPr>
            <a:r>
              <a:rPr lang="en-US" sz="8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 </a:t>
            </a:r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Hello!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iteration, i is set to 0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iteration, i is set to 1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iteration, i is set to 2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iteration, i is set to 3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On this iteration, i is set to 4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Goodbye!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379476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fivetimes_for_v1_0_0.py, lines 1 to 4 of 4, run under Python 3.13.16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2560320" y="4206240"/>
            <a:ext cx="4023360" cy="402336"/>
          </a:xfrm>
          <a:prstGeom prst="roundRect">
            <a:avLst>
              <a:gd name="adj" fmla="val 50000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2560320" y="4206240"/>
            <a:ext cx="4023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transcript, different bookkeeping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while guards a condition; for walks a collection</a:t>
            </a:r>
            <a:endParaRPr lang="en-US" sz="1350" dirty="0"/>
          </a:p>
        </p:txBody>
      </p:sp>
      <p:sp>
        <p:nvSpPr>
          <p:cNvPr id="18" name="Text 16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21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range(5) stops before five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1982-08-11</a:t>
            </a:r>
            <a:endParaRPr lang="en-US" sz="1300" dirty="0"/>
          </a:p>
        </p:txBody>
      </p:sp>
      <p:pic>
        <p:nvPicPr>
          <p:cNvPr id="6" name="Image 0" descr="../../03-materials/ch03/assets/photo_edsger_dijkstr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1325880"/>
            <a:ext cx="2194560" cy="26517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457200" y="3995928"/>
            <a:ext cx="2194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Dijkstra - photo: Hamilton Richards, CC BY-SA 3.0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3017520" y="1650492"/>
            <a:ext cx="128016" cy="128016"/>
          </a:xfrm>
          <a:prstGeom prst="diamond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3291840" y="13716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handwritten 1982 memo: include the start, exclude the stop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017520" y="2336292"/>
            <a:ext cx="128016" cy="128016"/>
          </a:xfrm>
          <a:prstGeom prst="diamond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291840" y="2057400"/>
            <a:ext cx="5394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Lengths become stop minus start; adjacent ranges meet without overlap</a:t>
            </a:r>
            <a:endParaRPr lang="en-US" sz="1250" dirty="0"/>
          </a:p>
        </p:txBody>
      </p:sp>
      <p:sp>
        <p:nvSpPr>
          <p:cNvPr id="12" name="Text 9"/>
          <p:cNvSpPr txBox="1"/>
          <p:nvPr/>
        </p:nvSpPr>
        <p:spPr>
          <a:xfrm>
            <a:off x="3017520" y="2542032"/>
            <a:ext cx="5669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memo's promise, kept by range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3017520" y="2816352"/>
            <a:ext cx="5669280" cy="1225296"/>
          </a:xfrm>
          <a:prstGeom prst="roundRect">
            <a:avLst>
              <a:gd name="adj" fmla="val 7463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3200400" y="2935224"/>
            <a:ext cx="5303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len(range(0, 24))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list(range(1, 11))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3, 4, 5, 6, 7, 8, 9, 10]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'hello'[1:3]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'el'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list(range(0, 5)) + list(range(5, 10)) == list(range(10))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720" dirty="0"/>
          </a:p>
        </p:txBody>
      </p:sp>
      <p:sp>
        <p:nvSpPr>
          <p:cNvPr id="15" name="Text 12"/>
          <p:cNvSpPr txBox="1"/>
          <p:nvPr/>
        </p:nvSpPr>
        <p:spPr>
          <a:xfrm>
            <a:off x="3017520" y="405993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457200" y="4160520"/>
            <a:ext cx="2449129" cy="36576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 w="9525">
            <a:solidFill>
              <a:srgbClr val="DFD6C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48640" y="4160520"/>
            <a:ext cx="23028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8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Edsger W. Dijkstra, Turing Award 1972</a:t>
            </a:r>
            <a:endParaRPr lang="en-US" sz="750" dirty="0"/>
          </a:p>
        </p:txBody>
      </p:sp>
      <p:sp>
        <p:nvSpPr>
          <p:cNvPr id="18" name="Shape 15"/>
          <p:cNvSpPr/>
          <p:nvPr/>
        </p:nvSpPr>
        <p:spPr>
          <a:xfrm>
            <a:off x="3016057" y="4160520"/>
            <a:ext cx="2449129" cy="36576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 w="9525">
            <a:solidFill>
              <a:srgbClr val="DFD6C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3107497" y="4160520"/>
            <a:ext cx="23028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8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handwritten memo EWD831, Austin, Texas</a:t>
            </a:r>
            <a:endParaRPr lang="en-US" sz="750" dirty="0"/>
          </a:p>
        </p:txBody>
      </p:sp>
      <p:sp>
        <p:nvSpPr>
          <p:cNvPr id="20" name="Shape 17"/>
          <p:cNvSpPr/>
          <p:nvPr/>
        </p:nvSpPr>
        <p:spPr>
          <a:xfrm>
            <a:off x="5574914" y="4160520"/>
            <a:ext cx="1343071" cy="36576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 w="9525">
            <a:solidFill>
              <a:srgbClr val="DFD6C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5666354" y="4160520"/>
            <a:ext cx="1196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 </a:t>
            </a:r>
            <a:pPr indent="0" marL="0">
              <a:buNone/>
            </a:pPr>
            <a:r>
              <a:rPr lang="en-US" sz="9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1982-08-11</a:t>
            </a:r>
            <a:endParaRPr lang="en-US" sz="750" dirty="0"/>
          </a:p>
        </p:txBody>
      </p:sp>
      <p:sp>
        <p:nvSpPr>
          <p:cNvPr id="22" name="Shape 19"/>
          <p:cNvSpPr/>
          <p:nvPr/>
        </p:nvSpPr>
        <p:spPr>
          <a:xfrm>
            <a:off x="7027713" y="4160520"/>
            <a:ext cx="1659087" cy="365760"/>
          </a:xfrm>
          <a:prstGeom prst="roundRect">
            <a:avLst>
              <a:gd name="adj" fmla="val 50000"/>
            </a:avLst>
          </a:prstGeom>
          <a:solidFill>
            <a:srgbClr val="2F6D62"/>
          </a:solidFill>
          <a:ln w="9525">
            <a:solidFill>
              <a:srgbClr val="2F6D62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119153" y="4160520"/>
            <a:ext cx="15127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7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</a:t>
            </a:r>
            <a:pPr indent="0" marL="0">
              <a:buNone/>
            </a:pPr>
            <a:r>
              <a:rPr lang="en-US" sz="9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cs.utexas.edu</a:t>
            </a:r>
            <a:endParaRPr lang="en-US" sz="750" dirty="0"/>
          </a:p>
        </p:txBody>
      </p:sp>
      <p:sp>
        <p:nvSpPr>
          <p:cNvPr id="24" name="Shape 21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Half-open ranges are a 1982 argument your loops obey</a:t>
            </a:r>
            <a:endParaRPr lang="en-US" sz="1350" dirty="0"/>
          </a:p>
        </p:txBody>
      </p:sp>
      <p:sp>
        <p:nvSpPr>
          <p:cNvPr id="26" name="Text 23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21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range: start, stop, step - lazily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description of numbers, not a box of them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and stop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81912"/>
            <a:ext cx="3566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list(range(12, 16))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[12, 13, 14, 15]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len(range(12, 16))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list(range(16, 12))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[]</a:t>
            </a:r>
            <a:endParaRPr lang="en-US" sz="92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700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1704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step, forwards and down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44752"/>
            <a:ext cx="4023360" cy="1225296"/>
          </a:xfrm>
          <a:prstGeom prst="roundRect">
            <a:avLst>
              <a:gd name="adj" fmla="val 7463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563624"/>
            <a:ext cx="365760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list(range(0, 10, 2))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2, 4, 6, 8]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list(range(0, 10, 3))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3, 6, 9]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len(range(0, 10, 3))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720" dirty="0"/>
          </a:p>
          <a:p>
            <a:pPr indent="0" marL="0">
              <a:buNone/>
            </a:pPr>
            <a:r>
              <a:rPr lang="en-US" sz="7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range(0, 10, 0)</a:t>
            </a:r>
            <a:endParaRPr lang="en-US" sz="720" dirty="0"/>
          </a:p>
          <a:p>
            <a:pPr indent="0" marL="0">
              <a:buNone/>
            </a:pPr>
            <a:r>
              <a:rPr lang="en-US" sz="7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ValueError: range() arg 3 must not be zero</a:t>
            </a:r>
            <a:endParaRPr lang="en-US" sz="72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88336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7432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billion numbers, no memory - laziness measured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017520"/>
            <a:ext cx="3931920" cy="1417320"/>
          </a:xfrm>
          <a:prstGeom prst="roundRect">
            <a:avLst>
              <a:gd name="adj" fmla="val 645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136392"/>
            <a:ext cx="356616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7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range(10)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range(0, 10)</a:t>
            </a:r>
            <a:endParaRPr lang="en-US" sz="870" dirty="0"/>
          </a:p>
          <a:p>
            <a:pPr indent="0" marL="0">
              <a:buNone/>
            </a:pPr>
            <a:r>
              <a:rPr lang="en-US" sz="87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7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range(10) == list(range(10))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870" dirty="0"/>
          </a:p>
          <a:p>
            <a:pPr indent="0" marL="0">
              <a:buNone/>
            </a:pPr>
            <a:r>
              <a:rPr lang="en-US" sz="87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7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isinstance(range(3), list)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870" dirty="0"/>
          </a:p>
          <a:p>
            <a:pPr indent="0" marL="0">
              <a:buNone/>
            </a:pPr>
            <a:r>
              <a:rPr lang="en-US" sz="87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7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sum(range(4))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</a:t>
            </a:r>
            <a:endParaRPr lang="en-US" sz="87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531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27432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accumulator pattern every total uses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017520"/>
            <a:ext cx="4023360" cy="1417320"/>
          </a:xfrm>
          <a:prstGeom prst="roundRect">
            <a:avLst>
              <a:gd name="adj" fmla="val 645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136392"/>
            <a:ext cx="3657600" cy="11795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7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7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sum(range(101))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5050</a:t>
            </a:r>
            <a:endParaRPr lang="en-US" sz="870" dirty="0"/>
          </a:p>
          <a:p>
            <a:pPr indent="0" marL="0">
              <a:buNone/>
            </a:pPr>
            <a:r>
              <a:rPr lang="en-US" sz="87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7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sum(range(100))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4950</a:t>
            </a:r>
            <a:endParaRPr lang="en-US" sz="870" dirty="0"/>
          </a:p>
          <a:p>
            <a:pPr indent="0" marL="0">
              <a:buNone/>
            </a:pPr>
            <a:r>
              <a:rPr lang="en-US" sz="87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7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 * 101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5050</a:t>
            </a:r>
            <a:endParaRPr lang="en-US" sz="870" dirty="0"/>
          </a:p>
          <a:p>
            <a:pPr indent="0" marL="0">
              <a:buNone/>
            </a:pPr>
            <a:r>
              <a:rPr lang="en-US" sz="87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7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len(range(101))</a:t>
            </a:r>
            <a:endParaRPr lang="en-US" sz="870" dirty="0"/>
          </a:p>
          <a:p>
            <a:pPr indent="0" marL="0">
              <a:buNone/>
            </a:pPr>
            <a:r>
              <a:rPr lang="en-US" sz="87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101</a:t>
            </a:r>
            <a:endParaRPr lang="en-US" sz="87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4531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range describes numbers without building them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21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60120"/>
            <a:ext cx="128016" cy="1417320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93268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Sequences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for loops visit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79776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52928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Tuples and dicts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82312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/ zip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84848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Unpacking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21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Lists, tuples, dicts - the things loops visit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containers, one loop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lists: ordered, changeable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81912"/>
            <a:ext cx="3566160" cy="14996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9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9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= [1, 2]</a:t>
            </a:r>
            <a:endParaRPr lang="en-US" sz="890" dirty="0"/>
          </a:p>
          <a:p>
            <a:pPr indent="0" marL="0">
              <a:buNone/>
            </a:pPr>
            <a:r>
              <a:rPr lang="en-US" sz="89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9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a.append(3)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890" dirty="0"/>
          </a:p>
          <a:p>
            <a:pPr indent="0" marL="0">
              <a:buNone/>
            </a:pPr>
            <a:r>
              <a:rPr lang="en-US" sz="89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9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[1, 2, 3]</a:t>
            </a:r>
            <a:endParaRPr lang="en-US" sz="890" dirty="0"/>
          </a:p>
          <a:p>
            <a:pPr indent="0" marL="0">
              <a:buNone/>
            </a:pPr>
            <a:r>
              <a:rPr lang="en-US" sz="89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9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a[0] = 99</a:t>
            </a:r>
            <a:endParaRPr lang="en-US" sz="890" dirty="0"/>
          </a:p>
          <a:p>
            <a:pPr indent="0" marL="0">
              <a:buNone/>
            </a:pPr>
            <a:r>
              <a:rPr lang="en-US" sz="89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9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[99, 2, 3]</a:t>
            </a:r>
            <a:endParaRPr lang="en-US" sz="890" dirty="0"/>
          </a:p>
          <a:p>
            <a:pPr indent="0" marL="0">
              <a:buNone/>
            </a:pPr>
            <a:r>
              <a:rPr lang="en-US" sz="89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9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list(range(3)) + [9]</a:t>
            </a:r>
            <a:endParaRPr lang="en-US" sz="890" dirty="0"/>
          </a:p>
          <a:p>
            <a:pPr indent="0" marL="0">
              <a:buNone/>
            </a:pPr>
            <a:r>
              <a:rPr lang="en-US" sz="89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[0, 1, 2, 9]</a:t>
            </a:r>
            <a:endParaRPr lang="en-US" sz="89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321868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188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dicts: loop keys, values, or pairs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581912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{'Ada': 'active', 'Can': 'inactive'}['Can']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'inactive'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list({'Ada': 'active', 'Can': 'inactive'})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['Ada', 'Can']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{'Ada': 'active'}['Eda']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KeyError: 'Eda'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67004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151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dict grows and counts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889504"/>
            <a:ext cx="4023360" cy="1005840"/>
          </a:xfrm>
          <a:prstGeom prst="roundRect">
            <a:avLst>
              <a:gd name="adj" fmla="val 9091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008376"/>
            <a:ext cx="36576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users = {</a:t>
            </a:r>
            <a:pPr indent="0" marL="0">
              <a:buNone/>
            </a:pPr>
            <a:r>
              <a:rPr lang="en-US" sz="7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'Ada'</a:t>
            </a:r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7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'active'</a:t>
            </a:r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7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'Can'</a:t>
            </a:r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 </a:t>
            </a:r>
            <a:pPr indent="0" marL="0">
              <a:buNone/>
            </a:pPr>
            <a:r>
              <a:rPr lang="en-US" sz="7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'inactive'</a:t>
            </a:r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}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del users[</a:t>
            </a:r>
            <a:pPr indent="0" marL="0">
              <a:buNone/>
            </a:pPr>
            <a:r>
              <a:rPr lang="en-US" sz="75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'Can'</a:t>
            </a:r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print(users, len(users))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 </a:t>
            </a:r>
            <a:pPr indent="0" marL="0">
              <a:buNone/>
            </a:pPr>
            <a:r>
              <a:rPr lang="en-US" sz="7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{'Ada': 'active'} 1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4846320" y="3621024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dict_ops_v1_0_0.py, lines 1 to 3 of 3, run under Python 3.13.16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457200" y="3429000"/>
            <a:ext cx="2439848" cy="420624"/>
          </a:xfrm>
          <a:prstGeom prst="roundRect">
            <a:avLst>
              <a:gd name="adj" fmla="val 50000"/>
            </a:avLst>
          </a:prstGeom>
          <a:solidFill>
            <a:srgbClr val="F2ECE1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429000"/>
            <a:ext cx="243984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list: [ ] mutable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457200" y="4014216"/>
            <a:ext cx="2318918" cy="420624"/>
          </a:xfrm>
          <a:prstGeom prst="roundRect">
            <a:avLst>
              <a:gd name="adj" fmla="val 50000"/>
            </a:avLst>
          </a:prstGeom>
          <a:solidFill>
            <a:srgbClr val="F2ECE1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4014216"/>
            <a:ext cx="231891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tuple: ( ) fixed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57200" y="4599432"/>
            <a:ext cx="3044495" cy="420624"/>
          </a:xfrm>
          <a:prstGeom prst="roundRect">
            <a:avLst>
              <a:gd name="adj" fmla="val 50000"/>
            </a:avLst>
          </a:prstGeom>
          <a:solidFill>
            <a:srgbClr val="F2ECE1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57200" y="4599432"/>
            <a:ext cx="3044495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dict: { } key to value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Three containers, three jobs - and one for loop fits all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21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enumerate and zip: positions and pairs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 counting by hand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enumerate hands you index and item together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81912"/>
            <a:ext cx="7863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list(enumerate(['Spring', 'Summer', 'Fall', 'Winter']))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[(0, 'Spring'), (1, 'Summer'), (2, 'Fall'), (3, 'Winter')]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list(enumerate(['tic', 'tac', 'toe'], start=1))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[(1, 'tic'), (2, 'tac'), (3, 'toe')]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next(enumerate('ab'))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(0, 'a')</a:t>
            </a:r>
            <a:endParaRPr lang="en-US" sz="92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70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517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loop, whole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926080"/>
            <a:ext cx="3931920" cy="1188720"/>
          </a:xfrm>
          <a:prstGeom prst="roundRect">
            <a:avLst>
              <a:gd name="adj" fmla="val 769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3044952"/>
            <a:ext cx="356616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2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i, v </a:t>
            </a:r>
            <a:pPr indent="0" marL="0">
              <a:buNone/>
            </a:pPr>
            <a:r>
              <a:rPr lang="en-US" sz="82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enumerate([</a:t>
            </a:r>
            <a:pPr indent="0" marL="0">
              <a:buNone/>
            </a:pPr>
            <a:r>
              <a:rPr lang="en-US" sz="82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'tic'</a:t>
            </a:r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82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'tac'</a:t>
            </a:r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820" dirty="0">
                <a:solidFill>
                  <a:srgbClr val="9ECB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'toe'</a:t>
            </a:r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]):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print(i, v)</a:t>
            </a:r>
            <a:endParaRPr lang="en-US" sz="820" dirty="0"/>
          </a:p>
          <a:p>
            <a:pPr indent="0" marL="0">
              <a:buNone/>
            </a:pPr>
            <a:r>
              <a:rPr lang="en-US" sz="8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 </a:t>
            </a:r>
            <a:pPr indent="0" marL="0">
              <a:buNone/>
            </a:pPr>
            <a:r>
              <a:rPr lang="en-US" sz="8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tic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tac</a:t>
            </a:r>
            <a:endParaRPr lang="en-US" sz="820" dirty="0"/>
          </a:p>
          <a:p>
            <a:pPr indent="0" marL="0">
              <a:buNone/>
            </a:pPr>
            <a:r>
              <a:rPr lang="en-US" sz="8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toe</a:t>
            </a:r>
            <a:endParaRPr lang="en-US" sz="820" dirty="0"/>
          </a:p>
        </p:txBody>
      </p:sp>
      <p:sp>
        <p:nvSpPr>
          <p:cNvPr id="13" name="Text 11"/>
          <p:cNvSpPr txBox="1"/>
          <p:nvPr/>
        </p:nvSpPr>
        <p:spPr>
          <a:xfrm>
            <a:off x="640080" y="384048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for_pairs_v1_0_0.py, lines 1 to 2 of 2, run under Python 3.13.16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5176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zip pairs two sequences - strict= catches ragged ones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926080"/>
            <a:ext cx="4023360" cy="1188720"/>
          </a:xfrm>
          <a:prstGeom prst="roundRect">
            <a:avLst>
              <a:gd name="adj" fmla="val 769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3044952"/>
            <a:ext cx="365760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list(zip('abc', [1, 2]))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[('a', 1), ('b', 2)]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list(zip('ab', [1, 2], strict=True))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[('a', 1), ('b', 2)]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list(zip('ab', [1], strict=True))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ValueError: zip() argument 2 is shorter than argument 1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13308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Stop counting by hand - Python hands you the index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21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60120"/>
            <a:ext cx="128016" cy="1417320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93268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 control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Leaving early, skipping, and nesting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79776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52928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82312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 loops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84848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Iterators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21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break, continue - and loops inside loops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exits, demonstrated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4300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break: out of the innermost loop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417320"/>
            <a:ext cx="3931920" cy="1600200"/>
          </a:xfrm>
          <a:prstGeom prst="roundRect">
            <a:avLst>
              <a:gd name="adj" fmla="val 5714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36192"/>
            <a:ext cx="356616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 = </a:t>
            </a:r>
            <a:pPr indent="0" marL="0">
              <a:buNone/>
            </a:pPr>
            <a:r>
              <a:rPr lang="en-US" sz="90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while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</a:t>
            </a:r>
            <a:pPr indent="0" marL="0">
              <a:buNone/>
            </a:pPr>
            <a:r>
              <a:rPr lang="en-US" sz="90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n = n + </a:t>
            </a:r>
            <a:pPr indent="0" marL="0">
              <a:buNone/>
            </a:pPr>
            <a:r>
              <a:rPr lang="en-US" sz="90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n == </a:t>
            </a:r>
            <a:pPr indent="0" marL="0">
              <a:buNone/>
            </a:pPr>
            <a:r>
              <a:rPr lang="en-US" sz="90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break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 </a:t>
            </a:r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743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break3_v1_0_0.py, lines 1 to 6 of 6, run under Python 3.13.16</a:t>
            </a:r>
            <a:endParaRPr lang="en-US" sz="75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14300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nested: the outer loop carries on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17320"/>
            <a:ext cx="4023360" cy="1600200"/>
          </a:xfrm>
          <a:prstGeom prst="roundRect">
            <a:avLst>
              <a:gd name="adj" fmla="val 5714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536192"/>
            <a:ext cx="3657600" cy="1362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i </a:t>
            </a:r>
            <a:pPr indent="0" marL="0">
              <a:buNone/>
            </a:pPr>
            <a:r>
              <a:rPr lang="en-US" sz="90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pPr indent="0" marL="0">
              <a:buNone/>
            </a:pPr>
            <a:r>
              <a:rPr lang="en-US" sz="90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  <a:pPr indent="0" marL="0">
              <a:buNone/>
            </a:pPr>
            <a:r>
              <a:rPr lang="en-US" sz="90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</a:t>
            </a:r>
            <a:pPr indent="0" marL="0">
              <a:buNone/>
            </a:pPr>
            <a:r>
              <a:rPr lang="en-US" sz="90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range(</a:t>
            </a:r>
            <a:pPr indent="0" marL="0">
              <a:buNone/>
            </a:pPr>
            <a:r>
              <a:rPr lang="en-US" sz="90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):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</a:t>
            </a:r>
            <a:pPr indent="0" marL="0">
              <a:buNone/>
            </a:pPr>
            <a:r>
              <a:rPr lang="en-US" sz="900" b="1" dirty="0">
                <a:solidFill>
                  <a:srgbClr val="F2A86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j == </a:t>
            </a:r>
            <a:pPr indent="0" marL="0">
              <a:buNone/>
            </a:pPr>
            <a:r>
              <a:rPr lang="en-US" sz="90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break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print(i, j)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 </a:t>
            </a:r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0 0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1 0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846320" y="2743200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nested_break_v1_0_0.py, lines 1 to 5 of 5, run under Python 3.13.16</a:t>
            </a:r>
            <a:endParaRPr lang="en-US" sz="75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30175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every for: iter and next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91840"/>
            <a:ext cx="3931920" cy="1234440"/>
          </a:xfrm>
          <a:prstGeom prst="roundRect">
            <a:avLst>
              <a:gd name="adj" fmla="val 7407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410712"/>
            <a:ext cx="356616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it = iter([</a:t>
            </a:r>
            <a:pPr indent="0" marL="0">
              <a:buNone/>
            </a:pPr>
            <a:r>
              <a:rPr lang="en-US" sz="73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pPr indent="0" marL="0">
              <a:buNone/>
            </a:pPr>
            <a:r>
              <a:rPr lang="en-US" sz="7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, </a:t>
            </a:r>
            <a:pPr indent="0" marL="0">
              <a:buNone/>
            </a:pPr>
            <a:r>
              <a:rPr lang="en-US" sz="730" dirty="0">
                <a:solidFill>
                  <a:srgbClr val="FFD28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pPr indent="0" marL="0">
              <a:buNone/>
            </a:pPr>
            <a:r>
              <a:rPr lang="en-US" sz="7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])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print(next(it))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print(next(it))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print(next(it))</a:t>
            </a:r>
            <a:endParaRPr lang="en-US" sz="730" dirty="0"/>
          </a:p>
          <a:p>
            <a:pPr indent="0" marL="0">
              <a:buNone/>
            </a:pPr>
            <a:r>
              <a:rPr lang="en-US" sz="73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prints </a:t>
            </a:r>
            <a:pPr indent="0" marL="0">
              <a:buNone/>
            </a:pPr>
            <a:r>
              <a:rPr lang="en-US" sz="73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</a:t>
            </a:r>
            <a:endParaRPr lang="en-US" sz="730" dirty="0"/>
          </a:p>
          <a:p>
            <a:pPr indent="0" marL="0">
              <a:buNone/>
            </a:pPr>
            <a:r>
              <a:rPr lang="en-US" sz="73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</a:t>
            </a:r>
            <a:endParaRPr lang="en-US" sz="73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425196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i="1" dirty="0">
                <a:solidFill>
                  <a:srgbClr val="8B949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iter_next_v1_0_0.py, lines 1 to 4 of 4, run under Python 3.13.16</a:t>
            </a:r>
            <a:endParaRPr lang="en-US" sz="750" dirty="0"/>
          </a:p>
        </p:txBody>
      </p:sp>
      <p:sp>
        <p:nvSpPr>
          <p:cNvPr id="18" name="Text 16"/>
          <p:cNvSpPr txBox="1"/>
          <p:nvPr/>
        </p:nvSpPr>
        <p:spPr>
          <a:xfrm>
            <a:off x="4663440" y="30175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continue skips; else rewards a clean finish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663440" y="329184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46320" y="3410712"/>
            <a:ext cx="3657600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break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'break' outside loop (&lt;string&gt;, line 1)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continue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'continue' not properly in loop (&lt;string&gt;, line 1)</a:t>
            </a:r>
            <a:endParaRPr lang="en-US" sz="750" dirty="0"/>
          </a:p>
          <a:p>
            <a:pPr indent="0" marL="0">
              <a:buNone/>
            </a:pPr>
            <a:r>
              <a:rPr lang="en-US" sz="7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</a:t>
            </a:r>
            <a:endParaRPr lang="en-US" sz="750" dirty="0"/>
          </a:p>
          <a:p>
            <a:pPr indent="0" marL="0">
              <a:buNone/>
            </a:pPr>
            <a:r>
              <a:rPr lang="en-US" sz="7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SyntaxError: 'return' outside function (&lt;string&gt;, line 1)</a:t>
            </a:r>
            <a:endParaRPr lang="en-US" sz="750" dirty="0"/>
          </a:p>
        </p:txBody>
      </p:sp>
      <p:sp>
        <p:nvSpPr>
          <p:cNvPr id="21" name="Text 19"/>
          <p:cNvSpPr txBox="1"/>
          <p:nvPr/>
        </p:nvSpPr>
        <p:spPr>
          <a:xfrm>
            <a:off x="4663440" y="454456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break leaves the innermost loop; label your exits with functions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21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960120"/>
            <a:ext cx="128016" cy="1417320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77240" y="932688"/>
            <a:ext cx="7863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Modules</a:t>
            </a:r>
            <a:endParaRPr lang="en-US" sz="32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45920"/>
            <a:ext cx="7863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i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Importing what others finished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777240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779776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852928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standard library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782312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855464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6784848" y="2697480"/>
            <a:ext cx="1856232" cy="1737360"/>
          </a:xfrm>
          <a:prstGeom prst="roundRect">
            <a:avLst>
              <a:gd name="adj" fmla="val 4211"/>
            </a:avLst>
          </a:prstGeom>
          <a:solidFill>
            <a:srgbClr val="2F6D62"/>
          </a:solidFill>
          <a:ln w="12700">
            <a:solidFill>
              <a:srgbClr val="2F6D6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58000" y="2743200"/>
            <a:ext cx="1709928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Namespaces</a:t>
            </a:r>
            <a:pPr algn="ctr" indent="0" marL="0">
              <a:buNone/>
            </a:pP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21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1997 twister inside random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1997-98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82852"/>
            <a:ext cx="128016" cy="128016"/>
          </a:xfrm>
          <a:prstGeom prst="diamond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31520" y="1325880"/>
            <a:ext cx="79552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Matsumoto and Nishimura, 1997-98: the Mersenne Twister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924812"/>
            <a:ext cx="128016" cy="128016"/>
          </a:xfrm>
          <a:prstGeom prst="diamond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1520" y="1767840"/>
            <a:ext cx="79552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Period 2^19937 - 1: the sequence outlives any lifetime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366772"/>
            <a:ext cx="128016" cy="128016"/>
          </a:xfrm>
          <a:prstGeom prst="diamond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1520" y="2209800"/>
            <a:ext cx="7955280" cy="441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Python's default generator - and the docs say: not for cryptography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" y="2514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module answers, deterministically where it can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7200" y="2788920"/>
            <a:ext cx="8229600" cy="1005840"/>
          </a:xfrm>
          <a:prstGeom prst="roundRect">
            <a:avLst>
              <a:gd name="adj" fmla="val 9091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40080" y="2907792"/>
            <a:ext cx="786384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__import__('random').randint.__doc__.splitlines()[0]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'Return random integer in range [a, b], including both end points.'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__import__('random').randrange(1, 2)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381304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57200" y="4087368"/>
            <a:ext cx="2449129" cy="36576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 w="9525">
            <a:solidFill>
              <a:srgbClr val="DFD6C7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48640" y="4087368"/>
            <a:ext cx="23028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 </a:t>
            </a:r>
            <a:pPr indent="0" marL="0">
              <a:buNone/>
            </a:pPr>
            <a:r>
              <a:rPr lang="en-US" sz="8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Makoto Matsumoto and Takuji Nishimura</a:t>
            </a:r>
            <a:endParaRPr lang="en-US" sz="750" dirty="0"/>
          </a:p>
        </p:txBody>
      </p:sp>
      <p:sp>
        <p:nvSpPr>
          <p:cNvPr id="18" name="Shape 16"/>
          <p:cNvSpPr/>
          <p:nvPr/>
        </p:nvSpPr>
        <p:spPr>
          <a:xfrm>
            <a:off x="3016057" y="4087368"/>
            <a:ext cx="2449129" cy="36576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 w="9525">
            <a:solidFill>
              <a:srgbClr val="DFD6C7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107497" y="4087368"/>
            <a:ext cx="230282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 </a:t>
            </a:r>
            <a:pPr indent="0" marL="0">
              <a:buNone/>
            </a:pPr>
            <a:r>
              <a:rPr lang="en-US" sz="8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Keio and Yamagata universities, Japan;…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5574914" y="4087368"/>
            <a:ext cx="1343071" cy="365760"/>
          </a:xfrm>
          <a:prstGeom prst="roundRect">
            <a:avLst>
              <a:gd name="adj" fmla="val 50000"/>
            </a:avLst>
          </a:prstGeom>
          <a:solidFill>
            <a:srgbClr val="EFE9DC"/>
          </a:solidFill>
          <a:ln w="9525">
            <a:solidFill>
              <a:srgbClr val="DFD6C7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5666354" y="4087368"/>
            <a:ext cx="1196767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 </a:t>
            </a:r>
            <a:pPr indent="0" marL="0">
              <a:buNone/>
            </a:pPr>
            <a:r>
              <a:rPr lang="en-US" sz="9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1997-98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7027713" y="4087368"/>
            <a:ext cx="1659087" cy="365760"/>
          </a:xfrm>
          <a:prstGeom prst="roundRect">
            <a:avLst>
              <a:gd name="adj" fmla="val 50000"/>
            </a:avLst>
          </a:prstGeom>
          <a:solidFill>
            <a:srgbClr val="2F6D62"/>
          </a:solidFill>
          <a:ln w="9525">
            <a:solidFill>
              <a:srgbClr val="2F6D6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119153" y="4087368"/>
            <a:ext cx="1512783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dirty="0">
                <a:solidFill>
                  <a:srgbClr val="D7E4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 </a:t>
            </a:r>
            <a:pPr indent="0" marL="0">
              <a:buNone/>
            </a:pPr>
            <a:r>
              <a:rPr lang="en-US" sz="900" u="sng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en.wikipedia.org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 random wakes a named, dated, published algorithm</a:t>
            </a:r>
            <a:endParaRPr lang="en-US" sz="1350" dirty="0"/>
          </a:p>
        </p:txBody>
      </p:sp>
      <p:sp>
        <p:nvSpPr>
          <p:cNvPr id="26" name="Text 24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21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import: one line, a whole toolbox</a:t>
            </a:r>
            <a:endParaRPr lang="en-US" sz="25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Modules are namespaces you choose to open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import, then dot into it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81912"/>
            <a:ext cx="35661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len('hello')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math.sqrt(16)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NameError: name 'math' is not defined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__import__('math').sqrt(16)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85292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663440" y="118872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names stay inside the module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463040"/>
            <a:ext cx="4023360" cy="1371600"/>
          </a:xfrm>
          <a:prstGeom prst="roundRect">
            <a:avLst>
              <a:gd name="adj" fmla="val 6667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846320" y="1581912"/>
            <a:ext cx="365760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__import__('math').sqrt(16)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'sqrt' in dir(__import__('math'))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850" dirty="0"/>
          </a:p>
          <a:p>
            <a:pPr indent="0" marL="0">
              <a:buNone/>
            </a:pPr>
            <a:r>
              <a:rPr lang="en-US" sz="85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5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__import__('math').nope</a:t>
            </a:r>
            <a:endParaRPr lang="en-US" sz="850" dirty="0"/>
          </a:p>
          <a:p>
            <a:pPr indent="0" marL="0">
              <a:buNone/>
            </a:pPr>
            <a:r>
              <a:rPr lang="en-US" sz="85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AttributeError: module 'math' has no attribute 'nope'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8529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57200" y="29260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batteries included: the standard library, sampled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7200" y="3200400"/>
            <a:ext cx="8229600" cy="1188720"/>
          </a:xfrm>
          <a:prstGeom prst="roundRect">
            <a:avLst>
              <a:gd name="adj" fmla="val 769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40080" y="3319272"/>
            <a:ext cx="786384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len('hello')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math.sqrt(16)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NameError: name 'math' is not defined</a:t>
            </a:r>
            <a:endParaRPr lang="en-US" sz="920" dirty="0"/>
          </a:p>
          <a:p>
            <a:pPr indent="0" marL="0">
              <a:buNone/>
            </a:pPr>
            <a:r>
              <a:rPr lang="en-US" sz="92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2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__import__('math').sqrt(16)</a:t>
            </a:r>
            <a:endParaRPr lang="en-US" sz="920" dirty="0"/>
          </a:p>
          <a:p>
            <a:pPr indent="0" marL="0">
              <a:buNone/>
            </a:pPr>
            <a:r>
              <a:rPr lang="en-US" sz="92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4.0</a:t>
            </a:r>
            <a:endParaRPr lang="en-US" sz="920" dirty="0"/>
          </a:p>
        </p:txBody>
      </p:sp>
      <p:sp>
        <p:nvSpPr>
          <p:cNvPr id="17" name="Text 15"/>
          <p:cNvSpPr txBox="1"/>
          <p:nvPr/>
        </p:nvSpPr>
        <p:spPr>
          <a:xfrm>
            <a:off x="457200" y="440740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module is a namespace you choose to open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21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When imports and loops go wrong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Honest failures, read aloud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1887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ModuleNotFoundError: the name, exactly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7200" y="1463040"/>
            <a:ext cx="8229600" cy="1143000"/>
          </a:xfrm>
          <a:prstGeom prst="roundRect">
            <a:avLst>
              <a:gd name="adj" fmla="val 8000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1581912"/>
            <a:ext cx="7863840" cy="9052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8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random.randint(1, 10)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NameError: name 'random' is not defined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__import__('no_such_module_x')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ModuleNotFoundError: No module named 'no_such_module_x'</a:t>
            </a:r>
            <a:endParaRPr lang="en-US" sz="880" dirty="0"/>
          </a:p>
          <a:p>
            <a:pPr indent="0" marL="0">
              <a:buNone/>
            </a:pPr>
            <a:r>
              <a:rPr lang="en-US" sz="88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8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sys.exit()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NameError: name 'sys' is not defined</a:t>
            </a:r>
            <a:endParaRPr lang="en-US" sz="880" dirty="0"/>
          </a:p>
        </p:txBody>
      </p:sp>
      <p:sp>
        <p:nvSpPr>
          <p:cNvPr id="9" name="Text 7"/>
          <p:cNvSpPr txBox="1"/>
          <p:nvPr/>
        </p:nvSpPr>
        <p:spPr>
          <a:xfrm>
            <a:off x="457200" y="2624328"/>
            <a:ext cx="8229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26060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* pollutes - counted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57200" y="2880360"/>
            <a:ext cx="3931920" cy="1371600"/>
          </a:xfrm>
          <a:prstGeom prst="roundRect">
            <a:avLst>
              <a:gd name="adj" fmla="val 6667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40080" y="2999232"/>
            <a:ext cx="3566160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len(__import__('random').__all__)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26</a:t>
            </a:r>
            <a:endParaRPr lang="en-US" sz="900" dirty="0"/>
          </a:p>
          <a:p>
            <a:pPr indent="0" marL="0">
              <a:buNone/>
            </a:pPr>
            <a:r>
              <a:rPr lang="en-US" sz="90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90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'randint' in __import__('random').__all__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4270248"/>
            <a:ext cx="3931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4663440" y="26060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150" b="1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loop-era errors, in one place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663440" y="2880360"/>
            <a:ext cx="4023360" cy="1554480"/>
          </a:xfrm>
          <a:prstGeom prst="roundRect">
            <a:avLst>
              <a:gd name="adj" fmla="val 5882"/>
            </a:avLst>
          </a:prstGeom>
          <a:solidFill>
            <a:srgbClr val="23272E"/>
          </a:solidFill>
          <a:ln w="12700">
            <a:solidFill>
              <a:srgbClr val="23272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846320" y="2999232"/>
            <a:ext cx="3657600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8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 * (1/0)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ZeroDivisionError: division by zero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int('x')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ValueError: invalid literal for int() with base 10: 'x'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issubclass(ValueError, Exception)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True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issubclass(SystemExit, Exception)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780" dirty="0"/>
          </a:p>
          <a:p>
            <a:pPr indent="0" marL="0">
              <a:buNone/>
            </a:pPr>
            <a:r>
              <a:rPr lang="en-US" sz="780" b="1" dirty="0">
                <a:solidFill>
                  <a:srgbClr val="D97A14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</a:t>
            </a:r>
            <a:pPr indent="0" marL="0">
              <a:buNone/>
            </a:pPr>
            <a:r>
              <a:rPr lang="en-US" sz="780" dirty="0">
                <a:solidFill>
                  <a:srgbClr val="E6EDF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issubclass(KeyboardInterrupt, Exception)</a:t>
            </a:r>
            <a:endParaRPr lang="en-US" sz="780" dirty="0"/>
          </a:p>
          <a:p>
            <a:pPr indent="0" marL="0">
              <a:buNone/>
            </a:pPr>
            <a:r>
              <a:rPr lang="en-US" sz="780" dirty="0">
                <a:solidFill>
                  <a:srgbClr val="7EE787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False</a:t>
            </a:r>
            <a:endParaRPr lang="en-US" sz="780" dirty="0"/>
          </a:p>
        </p:txBody>
      </p:sp>
      <p:sp>
        <p:nvSpPr>
          <p:cNvPr id="17" name="Text 15"/>
          <p:cNvSpPr txBox="1"/>
          <p:nvPr/>
        </p:nvSpPr>
        <p:spPr>
          <a:xfrm>
            <a:off x="4663440" y="4453128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under Python 3.13.16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last line first - Python names its reasons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21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chapter in five lines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line per part - each one provable from its slides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408176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408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1024128" y="1371600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guards a condition; for visits a collection - same transcript, different bookkeeping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57200" y="2011680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57200" y="201168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024128" y="1975104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 describes numbers lazily, half-open since Dijkstra's 1982 memo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57200" y="2615184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57200" y="2615184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024128" y="2578608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change, tuples do not, dicts map - and one for loop serves all three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57200" y="3218688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457200" y="3218688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024128" y="3182112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break leaves the innermost loop; enumerate and zip end hand-counting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457200" y="3822192"/>
            <a:ext cx="402336" cy="40233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57200" y="382219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1024128" y="3785616"/>
            <a:ext cx="7662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 opens a namespace: the 1997 Mersenne Twister answers your randint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If a line feels unproven, its part's slides carry the receipt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21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347472"/>
            <a:ext cx="566928" cy="384048"/>
          </a:xfrm>
          <a:prstGeom prst="roundRect">
            <a:avLst>
              <a:gd name="adj" fmla="val 19048"/>
            </a:avLst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47472"/>
            <a:ext cx="566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</a:t>
            </a:r>
            <a:endParaRPr lang="en-US" sz="1200" dirty="0"/>
          </a:p>
        </p:txBody>
      </p:sp>
      <p:sp>
        <p:nvSpPr>
          <p:cNvPr id="4" name="Text 2"/>
          <p:cNvSpPr txBox="1"/>
          <p:nvPr/>
        </p:nvSpPr>
        <p:spPr>
          <a:xfrm>
            <a:off x="1143000" y="237744"/>
            <a:ext cx="7543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to go from here</a:t>
            </a:r>
            <a:endParaRPr lang="en-US" sz="28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786384"/>
            <a:ext cx="7543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chapter's own checked sources - every entry a live link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71600"/>
            <a:ext cx="3954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93776" y="1719072"/>
            <a:ext cx="82296" cy="8229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8368" y="1645920"/>
            <a:ext cx="3753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textbook, chapter 3 - free online  </a:t>
            </a:r>
            <a:pPr indent="0" marL="0">
              <a:buNone/>
            </a:pPr>
            <a:r>
              <a:rPr lang="en-US" sz="1000" u="sng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automatetheboringstuff.com/3e/chapter3.html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93776" y="2048256"/>
            <a:ext cx="82296" cy="8229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58368" y="1975104"/>
            <a:ext cx="3753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tutorial: for, range, loop else  </a:t>
            </a:r>
            <a:pPr indent="0" marL="0">
              <a:buNone/>
            </a:pPr>
            <a:r>
              <a:rPr lang="en-US" sz="1000" u="sng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docs.python.org/3/tutorial/controlflow.html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2377440"/>
            <a:ext cx="3954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493776" y="2724912"/>
            <a:ext cx="82296" cy="8229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8368" y="2651760"/>
            <a:ext cx="3753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Compound statements (for, while)  </a:t>
            </a:r>
            <a:pPr indent="0" marL="0">
              <a:buNone/>
            </a:pPr>
            <a:r>
              <a:rPr lang="en-US" sz="1000" u="sng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docs.python.org/3/reference/compound_stmts.html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" y="3054096"/>
            <a:ext cx="82296" cy="8229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58368" y="2980944"/>
            <a:ext cx="3753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Built-in types: sequences and dicts  </a:t>
            </a:r>
            <a:pPr indent="0" marL="0">
              <a:buNone/>
            </a:pPr>
            <a:r>
              <a:rPr lang="en-US" sz="1000" u="sng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docs.python.org/3/library/stdtypes.html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93776" y="3383280"/>
            <a:ext cx="82296" cy="8229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58368" y="3310128"/>
            <a:ext cx="3753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random module  </a:t>
            </a:r>
            <a:pPr indent="0" marL="0">
              <a:buNone/>
            </a:pPr>
            <a:r>
              <a:rPr lang="en-US" sz="1000" u="sng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5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docs.python.org/3/library/random.html</a:t>
            </a:r>
            <a:endParaRPr lang="en-US" sz="1000" dirty="0"/>
          </a:p>
        </p:txBody>
      </p:sp>
      <p:sp>
        <p:nvSpPr>
          <p:cNvPr id="18" name="Text 16"/>
          <p:cNvSpPr txBox="1"/>
          <p:nvPr/>
        </p:nvSpPr>
        <p:spPr>
          <a:xfrm>
            <a:off x="4732020" y="1371600"/>
            <a:ext cx="3954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History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4768596" y="1719072"/>
            <a:ext cx="82296" cy="8229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933188" y="1645920"/>
            <a:ext cx="3753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EWD831 - why numbering starts at zero  </a:t>
            </a:r>
            <a:pPr indent="0" marL="0">
              <a:buNone/>
            </a:pPr>
            <a:r>
              <a:rPr lang="en-US" sz="1000" u="sng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6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cs.utexas.edu/users/EWD/transcriptions/EWD08xx/EWD831.html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68596" y="2048256"/>
            <a:ext cx="82296" cy="8229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933188" y="1975104"/>
            <a:ext cx="3753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Mersenne Twister  </a:t>
            </a:r>
            <a:pPr indent="0" marL="0">
              <a:buNone/>
            </a:pPr>
            <a:r>
              <a:rPr lang="en-US" sz="1000" u="sng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7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en.wikipedia.org/wiki/Mersenne_Twister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732020" y="2377440"/>
            <a:ext cx="39547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F6D6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Style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4768596" y="2724912"/>
            <a:ext cx="82296" cy="82296"/>
          </a:xfrm>
          <a:prstGeom prst="ellipse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4933188" y="2651760"/>
            <a:ext cx="37536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PEP 8 on imports  </a:t>
            </a:r>
            <a:pPr indent="0" marL="0">
              <a:buNone/>
            </a:pPr>
            <a:r>
              <a:rPr lang="en-US" sz="1000" u="sng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8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peps.python.org/pep-0008/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457200" y="4636008"/>
            <a:ext cx="91440" cy="31089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58368" y="4599432"/>
            <a:ext cx="69494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i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Eight links, all checked by the build - Dijkstra's memo is two pages</a:t>
            </a:r>
            <a:endParaRPr lang="en-US" sz="1350" dirty="0"/>
          </a:p>
        </p:txBody>
      </p:sp>
      <p:sp>
        <p:nvSpPr>
          <p:cNvPr id="28" name="Text 26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21</a:t>
            </a:r>
            <a:endParaRPr lang="en-US" sz="11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6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19456"/>
          </a:xfrm>
          <a:prstGeom prst="rect">
            <a:avLst/>
          </a:prstGeom>
          <a:solidFill>
            <a:srgbClr val="D97A14"/>
          </a:solidFill>
          <a:ln w="12700">
            <a:solidFill>
              <a:srgbClr val="D97A14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32588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2B262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you should now be able to say</a:t>
            </a:r>
            <a:endParaRPr lang="en-US" sz="2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9456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2F6D6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where each claim gets its proof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88920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while fits and when for does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range describes, and why it stops early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enumerate and zip remove hand-counting</a:t>
            </a:r>
            <a:endParaRPr lang="en-US" sz="16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600" dirty="0">
                <a:solidFill>
                  <a:srgbClr val="2B26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import gives you, and what it protects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07408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6E65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Questions?</a:t>
            </a:r>
            <a:endParaRPr lang="en-US" sz="2000" dirty="0"/>
          </a:p>
        </p:txBody>
      </p:sp>
      <p:sp>
        <p:nvSpPr>
          <p:cNvPr id="7" name="Text 5"/>
          <p:cNvSpPr txBox="1"/>
          <p:nvPr/>
        </p:nvSpPr>
        <p:spPr>
          <a:xfrm>
            <a:off x="7863840" y="4645152"/>
            <a:ext cx="868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6E65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21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SEN0414 Chapter 3: Loops and Modules</dc:title>
  <dc:subject>PptxGenJS Presentation</dc:subject>
  <dc:creator>Yusuf Altunel</dc:creator>
  <cp:lastModifiedBy>Yusuf Altunel</cp:lastModifiedBy>
  <cp:revision>1</cp:revision>
  <dcterms:created xsi:type="dcterms:W3CDTF">2026-10-06T11:06:11Z</dcterms:created>
  <dcterms:modified xsi:type="dcterms:W3CDTF">2026-10-06T11:06:11Z</dcterms:modified>
</cp:coreProperties>
</file>