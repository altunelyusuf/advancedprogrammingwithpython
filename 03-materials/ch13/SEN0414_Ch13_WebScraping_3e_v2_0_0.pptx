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seconds</c:v>
                </c:pt>
              </c:strCache>
            </c:strRef>
          </c:tx>
          <c:spPr>
            <a:solidFill>
              <a:srgbClr val="0E7C86"/>
            </a:solidFill>
          </c:spPr>
          <c:cat>
            <c:strRef>
              <c:f>Sheet1!$A$2:$A$4</c:f>
              <c:strCache>
                <c:ptCount val="3"/>
                <c:pt idx="0">
                  <c:v>page a</c:v>
                </c:pt>
                <c:pt idx="1">
                  <c:v>page b</c:v>
                </c:pt>
                <c:pt idx="2">
                  <c:v>page c</c:v>
                </c:pt>
              </c:strCache>
            </c:strRef>
          </c:cat>
          <c:val>
            <c:numRef>
              <c:f>Sheet1!$B$2:$B$4</c:f>
              <c:numCache>
                <c:formatCode>General</c:formatCode>
                <c:ptCount val="3"/>
                <c:pt idx="0">
                  <c:v>0</c:v>
                </c:pt>
                <c:pt idx="1">
                  <c:v>2</c:v>
                </c:pt>
                <c:pt idx="2">
                  <c:v>4</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6.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2.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bytes</c:v>
                </c:pt>
              </c:strCache>
            </c:strRef>
          </c:tx>
          <c:spPr>
            <a:solidFill>
              <a:srgbClr val="0E7C86"/>
            </a:solidFill>
          </c:spPr>
          <c:cat>
            <c:strRef>
              <c:f>Sheet1!$A$2:$A$4</c:f>
              <c:strCache>
                <c:ptCount val="3"/>
                <c:pt idx="0">
                  <c:v>chunk 1</c:v>
                </c:pt>
                <c:pt idx="1">
                  <c:v>chunk 2</c:v>
                </c:pt>
                <c:pt idx="2">
                  <c:v>chunk 3</c:v>
                </c:pt>
              </c:strCache>
            </c:strRef>
          </c:cat>
          <c:val>
            <c:numRef>
              <c:f>Sheet1!$B$2:$B$4</c:f>
              <c:numCache>
                <c:formatCode>General</c:formatCode>
                <c:ptCount val="3"/>
                <c:pt idx="0">
                  <c:v>16</c:v>
                </c:pt>
                <c:pt idx="1">
                  <c:v>16</c:v>
                </c:pt>
                <c:pt idx="2">
                  <c:v>10</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2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5.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degrees</c:v>
                </c:pt>
              </c:strCache>
            </c:strRef>
          </c:tx>
          <c:spPr>
            <a:solidFill>
              <a:srgbClr val="0E7C86"/>
            </a:solidFill>
          </c:spPr>
          <c:cat>
            <c:strRef>
              <c:f>Sheet1!$A$2:$A$3</c:f>
              <c:strCache>
                <c:ptCount val="2"/>
                <c:pt idx="0">
                  <c:v>Celsius</c:v>
                </c:pt>
                <c:pt idx="1">
                  <c:v>Fahrenheit</c:v>
                </c:pt>
              </c:strCache>
            </c:strRef>
          </c:cat>
          <c:val>
            <c:numRef>
              <c:f>Sheet1!$B$2:$B$3</c:f>
              <c:numCache>
                <c:formatCode>General</c:formatCode>
                <c:ptCount val="2"/>
                <c:pt idx="0">
                  <c:v>12.3</c:v>
                </c:pt>
                <c:pt idx="1">
                  <c:v>54.1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70.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links</c:v>
                </c:pt>
              </c:strCache>
            </c:strRef>
          </c:tx>
          <c:spPr>
            <a:solidFill>
              <a:srgbClr val="0E7C86"/>
            </a:solidFill>
          </c:spPr>
          <c:cat>
            <c:strRef>
              <c:f>Sheet1!$A$2:$A$3</c:f>
              <c:strCache>
                <c:ptCount val="2"/>
                <c:pt idx="0">
                  <c:v>regex</c:v>
                </c:pt>
                <c:pt idx="1">
                  <c:v>parser</c:v>
                </c:pt>
              </c:strCache>
            </c:strRef>
          </c:cat>
          <c:val>
            <c:numRef>
              <c:f>Sheet1!$B$2:$B$3</c:f>
              <c:numCache>
                <c:formatCode>General</c:formatCode>
                <c:ptCount val="2"/>
                <c:pt idx="0">
                  <c:v>1</c:v>
                </c:pt>
                <c:pt idx="1">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3.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links</c:v>
                </c:pt>
              </c:strCache>
            </c:strRef>
          </c:tx>
          <c:spPr>
            <a:solidFill>
              <a:srgbClr val="0E7C86"/>
            </a:solidFill>
          </c:spPr>
          <c:cat>
            <c:strRef>
              <c:f>Sheet1!$A$2:$A$3</c:f>
              <c:strCache>
                <c:ptCount val="2"/>
                <c:pt idx="0">
                  <c:v>found</c:v>
                </c:pt>
                <c:pt idx="1">
                  <c:v>opened</c:v>
                </c:pt>
              </c:strCache>
            </c:strRef>
          </c:cat>
          <c:val>
            <c:numRef>
              <c:f>Sheet1!$B$2:$B$3</c:f>
              <c:numCache>
                <c:formatCode>General</c:formatCode>
                <c:ptCount val="2"/>
                <c:pt idx="0">
                  <c:v>3</c:v>
                </c:pt>
                <c:pt idx="1">
                  <c:v>2</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ready</c:v>
                </c:pt>
              </c:strCache>
            </c:strRef>
          </c:tx>
          <c:spPr>
            <a:solidFill>
              <a:srgbClr val="0E7C86"/>
            </a:solidFill>
          </c:spPr>
          <c:cat>
            <c:strRef>
              <c:f>Sheet1!$A$2:$A$4</c:f>
              <c:strCache>
                <c:ptCount val="3"/>
                <c:pt idx="0">
                  <c:v>look 1</c:v>
                </c:pt>
                <c:pt idx="1">
                  <c:v>look 2</c:v>
                </c:pt>
                <c:pt idx="2">
                  <c:v>look 3</c:v>
                </c:pt>
              </c:strCache>
            </c:strRef>
          </c:cat>
          <c:val>
            <c:numRef>
              <c:f>Sheet1!$B$2:$B$4</c:f>
              <c:numCache>
                <c:formatCode>General</c:formatCode>
                <c:ptCount val="3"/>
                <c:pt idx="0">
                  <c:v>0</c:v>
                </c:pt>
                <c:pt idx="1">
                  <c:v>0</c:v>
                </c:pt>
                <c:pt idx="2">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1.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dispBlanksAs val="gap"/>
  </c:chart>
  <c:txPr>
    <a:bodyPr/>
    <a:lstStyle/>
    <a:p>
      <a:pPr>
        <a:defRPr sz="900">
          <a:solidFill>
            <a:srgbClr val="1F2933"/>
          </a:solidFill>
          <a:latin typeface="Calibri"/>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Sheet1!$A$2:$A$6</c:f>
              <c:strCache>
                <c:ptCount val="5"/>
                <c:pt idx="0">
                  <c:v>Part 1</c:v>
                </c:pt>
                <c:pt idx="1">
                  <c:v>Part 2</c:v>
                </c:pt>
                <c:pt idx="2">
                  <c:v>Part 3</c:v>
                </c:pt>
                <c:pt idx="3">
                  <c:v>Part 4</c:v>
                </c:pt>
                <c:pt idx="4">
                  <c:v>Part 5</c:v>
                </c:pt>
              </c:strCache>
            </c:strRef>
          </c:cat>
          <c:val>
            <c:numRef>
              <c:f>Sheet1!$B$2:$B$6</c:f>
              <c:numCache>
                <c:formatCode>General</c:formatCode>
                <c:ptCount val="5"/>
                <c:pt idx="0">
                  <c:v>6</c:v>
                </c:pt>
                <c:pt idx="1">
                  <c:v>5</c:v>
                </c:pt>
                <c:pt idx="2">
                  <c:v>3</c:v>
                </c:pt>
                <c:pt idx="3">
                  <c:v>6</c:v>
                </c:pt>
                <c:pt idx="4">
                  <c:v>4</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chapter follows a program from an address to a page it can read: the URL, the reply, the API, the HTML, and the browser it may have to drive. Every code slide shows the code, a plain explanation, and the result as a table, chart or diagram.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addresses and manners, opening and downloading, a weather API, reading HTML, and driving a browser. Each code slide has its place in the chapter-code tab of the page, in this same order.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the chapter. Which tool reaches which kind of page, and what decides the choice? And which printed outputs and programs of the book differ in current Python and on today's web?</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Before any download: an address has parts, a reply has a status code, a program has a name, and a site can say which paths it would rather not be crawled. Predict each answer before you read the result.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postal address is a good picture for a URL. HTTP is a postcard, HTTPS a sealed envelope. Ask students to add one more picture of their own.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URL is not one string but five parts. Urlsplit names them. Predict which part the server never receives, then check the fragment 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space and a comma may not stand in an address. Quote writes them as percent codes, parse_qs reads them back. Predict the encoded text before you run.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digit of a status code is its class: two for success, three for redirection, four for the client's fault, five for the server's. Which class is a 429?</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Python's downloader announces itself as Python-urllib, and a site may refuse it. A polite program sets its own name and a contact address.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robots.txt file lists paths a crawler is asked to avoid. The parser answers true or false. It is a request and not a lock, so honour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Martijn Koster wrote down the consensus of 30 June 1994. The file is a courtesy, not a lock: the text itself says nobody enforces it. Ask students: what would you do if a site asked you not to crawl a path?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sites state a pause in their robots file. The fake clock shows the schedule without waiting. Predict the time of the third fetch.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Matthew Gray built the first spider in 1993 to count the Web. 130 sites in June 1993, 100,000 by January 1996. Our link loop is the same idea at toy scale: fetch, find links, follow, repeat.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Three ways to get at a page: ask the browser to show it, download it, or download it in chunks. The standard library stands in for requests so that every example runs on this page.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webbrowser module is the simplest tool of the chapter. It only opens a page in your own browser and cannot read it.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is the courier of the chapter. It brings the parcel, and raise_for_status reads the slip. Chunks let a huge parcel arrive box by box.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this page the open call is replaced by a recorder so that no window opens. The real call returns true when a browser started and cannot read the page.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six. The words typed after the script name become an address, which is percent-encoded and added to a search address. Predict the encoded text.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address holds its text inside the address, so urlopen needs no network. The reply has a content type and a body of bytes.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was conceived on 13 February 2011 and born the next day. The version history still says Frustration, Conception, Birth. Ask students what frustrated him: network errors, routing and compression.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raise_for_status after every download. A good reply passes quietly, a bad reply stops the program before it saves an error page as a file.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Iter_content hands out a body in pieces. The write calls return the byte counts. Predict the last chunk, which is shorter.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A weather service answers in JSON. We read the reply, convert Kelvin, and build the address with a hidden key. A key is a password.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API is a menu. The key is a membership card: never print it in a log and never commit it to a repository.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web API answers in JSON text. Json.loads turns it into dictionaries and lists. Read the data one key or position at a time.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weather API reports Kelvin. Subtract 273.15 for Celsius, then convert to Fahrenheit. The chapter prints 12.3 and 54.1 for 285.44 Kelvin.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endpoint is one address of a service. The key is a parameter, so it travels inside the address. Log the address only with the key hidden.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HTML is a tree of elements. We list its tags, pick elements by a path, avoid regular expressions, and resolve the links that a page holds. Two of the book's projects use these steps.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Seven pictures for reading HTML. The selector is an address for an element, and the developer tools show the boxes inside a page.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get_text and get are the three moves of Beautiful Soup. The two projects use them to open results and to walk back through a comic series.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HTML is nested tags with attributes. The parser calls a method for each opening tag. Predict which tag has no attributes.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Beautiful Soup is not in the standard library, so ElementTree plays its part. The same three moves: select, get text, get an attribute.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Leonard Richardson has kept Beautiful Soup since 2004. His promise: you did not write that awful page, you only want data from it. That is why we use a parser and not a regular expression.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needs href right after the tag name. The second link has a class first. A parser reads attributes by name and finds both.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program. Make links absolute, drop the fragment, skip other sites and count each page once. Predict how many pages remain.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eight relies on the page structure of the comic site. The image address begins with two slashes, so urljoin borrows the scheme. Prev leads to the previous comic.</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seven. Select all result links, keep the first few and open each one. A recording stand-in replaces the real open call.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Some pages are written by a script after the download. Then only a real browser helps: Selenium or Playwright. We build small stand-ins to see how they behave.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Selenium drives a real browser from outside. Find_element and find_elements differ in what they do when nothing matches.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Playwright starts with a context manager, opens a page, goes to an address and uses locators that wait. Browsers are installed by a second step.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downloaded source holds an empty element and a script. A parser cannot read what the script writes. A real browser can, even headless.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Selenium began in 2004 at ThoughtWorks as a test tool for a timesheet application. Later it merged with WebDriver. The browser is driven from outside, which is why a driver is needed.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stand-in for the Selenium driver. Find_elements returns a list that may be empty, find_element returns the first match and fails when there is none.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four steps as the chapter's program: start, new page, goto, locator. The real program also launches a browser first.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Arjun Attam announced Playwright for Python in preview on 30 September 2020. Its first promise is automatic waiting, which our last example imitates. Ask students why waiting matters on a slow page.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Playwright looks again until the element is ready. Selenium's find_element looks once. Predict the result with five looks and with two.</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the tool by the page in front of the program. Webbrowser to show it, requests to fetch it, an API when there is one, a parser for static HTML, a browser driver only when a script builds the page.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Python and the tools move on. The robots parser reads wildcard rules since Python 3.14.5. Selenium finds its driver by itself. Playwright needs a second install step. Run what the book printed, then check what changed.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to keep. The chart counts the code examples in each part of this deck.</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drills and a project. Predict first, then run what you can on the page. Ask students to explain each answer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book chapter, then the Python documentation, the documents of the four tools and the two protocol texts. The stories link to first-hand sources. Choose one link and read it before the next class.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hyperlink" Target="https://www.robotstxt.org/orig.html"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www.mit.edu/~mkgray/net/background.html"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hyperlink" Target="https://raw.githubusercontent.com/psf/requests/main/HISTORY.m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chart" Target="../charts/char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chart" Target="../charts/char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png"/><Relationship Id="rId4" Type="http://schemas.openxmlformats.org/officeDocument/2006/relationships/hyperlink" Target="https://www.crummy.com/software/BeautifulSoup/"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chart" Target="../charts/char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chart" Target="../charts/char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hyperlink" Target="https://www.selenium.dev/history/"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png"/><Relationship Id="rId4" Type="http://schemas.openxmlformats.org/officeDocument/2006/relationships/hyperlink" Target="https://devblogs.microsoft.com/python/announcing-playwright-for-python-reliable-end-to-end-testing-for-the-web/"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chart" Target="../charts/char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chart" Target="../charts/char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hyperlink" Target="https://automatetheboringstuff.com/3e/chapter13.html" TargetMode="External"/><Relationship Id="rId4" Type="http://schemas.openxmlformats.org/officeDocument/2006/relationships/hyperlink" Target="https://docs.python.org/3/library/urllib.parse.html" TargetMode="External"/><Relationship Id="rId5" Type="http://schemas.openxmlformats.org/officeDocument/2006/relationships/hyperlink" Target="https://docs.python.org/3/library/urllib.robotparser.html" TargetMode="External"/><Relationship Id="rId6" Type="http://schemas.openxmlformats.org/officeDocument/2006/relationships/hyperlink" Target="https://docs.python.org/3/library/html.parser.html" TargetMode="External"/><Relationship Id="rId7" Type="http://schemas.openxmlformats.org/officeDocument/2006/relationships/hyperlink" Target="https://docs.python.org/3/library/webbrowser.html" TargetMode="External"/><Relationship Id="rId8" Type="http://schemas.openxmlformats.org/officeDocument/2006/relationships/hyperlink" Target="https://requests.readthedocs.io/en/latest/user/quickstart/" TargetMode="External"/><Relationship Id="rId9" Type="http://schemas.openxmlformats.org/officeDocument/2006/relationships/hyperlink" Target="https://www.crummy.com/software/BeautifulSoup/bs4/doc/" TargetMode="External"/><Relationship Id="rId10" Type="http://schemas.openxmlformats.org/officeDocument/2006/relationships/hyperlink" Target="https://www.selenium.dev/documentation/webdriver/elements/locators/" TargetMode="External"/><Relationship Id="rId11" Type="http://schemas.openxmlformats.org/officeDocument/2006/relationships/hyperlink" Target="https://playwright.dev/python/docs/locators" TargetMode="External"/><Relationship Id="rId12" Type="http://schemas.openxmlformats.org/officeDocument/2006/relationships/hyperlink" Target="https://www.rfc-editor.org/rfc/rfc9309" TargetMode="External"/><Relationship Id="rId13" Type="http://schemas.openxmlformats.org/officeDocument/2006/relationships/hyperlink" Target="https://developer.mozilla.org/en-US/docs/Web/CSS/CSS_selectors" TargetMode="External"/><Relationship Id="rId14" Type="http://schemas.openxmlformats.org/officeDocument/2006/relationships/hyperlink" Target="https://developer.mozilla.org/en-US/docs/Web/HTTP/Reference/Status" TargetMode="External"/><Relationship Id="rId15" Type="http://schemas.openxmlformats.org/officeDocument/2006/relationships/hyperlink" Target="https://openweathermap.org/api/geocoding-api" TargetMode="External"/><Relationship Id="rId16" Type="http://schemas.openxmlformats.org/officeDocument/2006/relationships/hyperlink" Target="https://pyvideo.org/pyohio-2022/a-quickstart-to-web-testing-with-playwright.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Web Scraping</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13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24</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6</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46</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Five parts; every range is a run of slides you can jump to</a:t>
            </a:r>
          </a:p>
        </p:txBody>
      </p:sp>
      <p:graphicFrame>
        <p:nvGraphicFramePr>
          <p:cNvPr id="5" name="table"/>
          <p:cNvGraphicFramePr>
            <a:graphicFrameLocks noGrp="1"/>
          </p:cNvGraphicFramePr>
          <p:nvPr/>
        </p:nvGraphicFramePr>
        <p:xfrm>
          <a:off x="457200" y="1097280"/>
          <a:ext cx="8229598" cy="3520440"/>
        </p:xfrm>
        <a:graphic>
          <a:graphicData uri="http://schemas.openxmlformats.org/drawingml/2006/table">
            <a:tbl>
              <a:tblPr firstRow="0" bandRow="0"/>
              <a:tblGrid>
                <a:gridCol w="2683565"/>
                <a:gridCol w="983973"/>
                <a:gridCol w="1162878"/>
                <a:gridCol w="3399182"/>
              </a:tblGrid>
              <a:tr h="502920">
                <a:tc>
                  <a:txBody>
                    <a:bodyPr wrap="square"/>
                    <a:lstStyle/>
                    <a:p>
                      <a:r>
                        <a:rPr sz="130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300" b="1" i="0">
                          <a:solidFill>
                            <a:srgbClr val="1F2933"/>
                          </a:solidFill>
                          <a:latin typeface="Calibri"/>
                        </a:rPr>
                        <a:t>Addresses and manners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4 - 13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urlsplit, quote, status codes, robots.txt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Opening and downloading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14 - 22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webbrowser, showmap, a download, chunks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A weather API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23 - 27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json.loads, Kelvin, an endpoint and its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Reading 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28 - 37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tags, select, links, comics, search results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300" b="1" i="0">
                          <a:solidFill>
                            <a:srgbClr val="1F2933"/>
                          </a:solidFill>
                          <a:latin typeface="Calibri"/>
                        </a:rPr>
                        <a:t>Driving a browser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38 - 46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script-built page, Selenium and Playwright shapes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300" b="1" i="0">
                          <a:solidFill>
                            <a:srgbClr val="1F2933"/>
                          </a:solidFill>
                          <a:latin typeface="Calibri"/>
                        </a:rPr>
                        <a:t>Tools, changes, summary, practice, resources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47 - 51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which tool, and what current Python changes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24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tool reaches which kind of page, and what decides the choice?</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47: webbrowser, requests, an API, a parser, or a browser driver.</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and programs of the book differ in current Python and on today's web?</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48: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Choose the tool by the page in front of the program.</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1: Addresses and manners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An address has parts, a reply has a code, and a polite program obeys the site's rules</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URL</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An address cut into scheme, host, path and query.</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Status code</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three-digit number whose first digit is the class.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User agent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name a program gives to the server.</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robots.txt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paths a crawler is asked not to visit.</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0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addresses and manners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URL is a scheme, a host, a path, a quer...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Percent codes and the query 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HTTP status codes: the first digit is the...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user agent tells a server who is asking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robots.txt: the paths a crawler is asked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11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a courtesy file for robots, 30 Jun...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polite crawler waits between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the first spider counted 130 sites...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addresses and manners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web address is a postal address; the status code is the stamp on the letter that comes back.</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566160"/>
                <a:gridCol w="48463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HTTP and HTTPS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Posting a letter: HTTP is a postcard anyone can read; HTTPS is a sealed envelope.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URL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full postal address: city, street, flat, and a note for the doorman.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HTTPS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sealed envelope: the post office sees the address, not the letter.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endpoint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counter at the post office: every service has its own window.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user agent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name badge at the door: it tells the guard who is asking.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Fetching a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Asking the librarian for a book and carrying it back to your desk.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A URL is a scheme, a host, a path, a query and a fragment</a:t>
            </a:r>
          </a:p>
        </p:txBody>
      </p:sp>
      <p:sp>
        <p:nvSpPr>
          <p:cNvPr id="4" name="code"/>
          <p:cNvSpPr/>
          <p:nvPr/>
        </p:nvSpPr>
        <p:spPr>
          <a:xfrm>
            <a:off x="365760" y="786384"/>
            <a:ext cx="553669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from</a:t>
            </a:r>
            <a:r>
              <a:rPr sz="1050" b="0" i="0">
                <a:solidFill>
                  <a:srgbClr val="E6EDF3"/>
                </a:solidFill>
                <a:latin typeface="Courier New"/>
              </a:rPr>
              <a:t> </a:t>
            </a:r>
            <a:r>
              <a:rPr sz="1050" b="0" i="0">
                <a:solidFill>
                  <a:srgbClr val="E6EDF3"/>
                </a:solidFill>
                <a:latin typeface="Courier New"/>
              </a:rPr>
              <a:t>urllib</a:t>
            </a:r>
            <a:r>
              <a:rPr sz="1050" b="0" i="0">
                <a:solidFill>
                  <a:srgbClr val="E6EDF3"/>
                </a:solidFill>
                <a:latin typeface="Courier New"/>
              </a:rPr>
              <a:t>.</a:t>
            </a:r>
            <a:r>
              <a:rPr sz="1050" b="0" i="0">
                <a:solidFill>
                  <a:srgbClr val="E6EDF3"/>
                </a:solidFill>
                <a:latin typeface="Courier New"/>
              </a:rPr>
              <a:t>parse</a:t>
            </a:r>
            <a:r>
              <a:rPr sz="1050" b="0" i="0">
                <a:solidFill>
                  <a:srgbClr val="E6EDF3"/>
                </a:solidFill>
                <a:latin typeface="Courier New"/>
              </a:rPr>
              <a: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urlsplit</a:t>
            </a:r>
          </a:p>
          <a:p>
            <a:pPr algn="l"/>
            <a:r>
              <a:rPr sz="1050" b="0" i="0">
                <a:solidFill>
                  <a:srgbClr val="8FA3B8"/>
                </a:solidFill>
                <a:latin typeface="Courier New"/>
              </a:rPr>
              <a:t>&gt;&gt;&gt; </a:t>
            </a:r>
            <a:r>
              <a:rPr sz="1050" b="0" i="0">
                <a:solidFill>
                  <a:srgbClr val="E6EDF3"/>
                </a:solidFill>
                <a:latin typeface="Courier New"/>
              </a:rPr>
              <a:t>url</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'https://api.openweathermap.org/geo/1.0/direct'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9BE3A8"/>
                </a:solidFill>
                <a:latin typeface="Courier New"/>
              </a:rPr>
              <a:t>'?q=Boston&amp;appid=KEY#top'</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parts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urlsplit</a:t>
            </a:r>
            <a:r>
              <a:rPr sz="1050" b="0" i="0">
                <a:solidFill>
                  <a:srgbClr val="E6EDF3"/>
                </a:solidFill>
                <a:latin typeface="Courier New"/>
              </a:rPr>
              <a:t>(</a:t>
            </a:r>
            <a:r>
              <a:rPr sz="1050" b="0" i="0">
                <a:solidFill>
                  <a:srgbClr val="E6EDF3"/>
                </a:solidFill>
                <a:latin typeface="Courier New"/>
              </a:rPr>
              <a:t>url</a:t>
            </a:r>
            <a:r>
              <a:rPr sz="1050" b="0" i="0">
                <a:solidFill>
                  <a:srgbClr val="E6EDF3"/>
                </a:solidFill>
                <a:latin typeface="Courier New"/>
              </a:rPr>
              <a:t>)</a:t>
            </a:r>
          </a:p>
        </p:txBody>
      </p:sp>
      <p:sp>
        <p:nvSpPr>
          <p:cNvPr id="5" name="explanation"/>
          <p:cNvSpPr txBox="1"/>
          <p:nvPr/>
        </p:nvSpPr>
        <p:spPr>
          <a:xfrm>
            <a:off x="5884164" y="786384"/>
            <a:ext cx="2894075" cy="890016"/>
          </a:xfrm>
          <a:prstGeom prst="rect">
            <a:avLst/>
          </a:prstGeom>
          <a:noFill/>
        </p:spPr>
        <p:txBody>
          <a:bodyPr wrap="square" lIns="128016" rIns="128016" tIns="18288" bIns="18288" anchor="ctr">
            <a:spAutoFit/>
          </a:bodyPr>
          <a:lstStyle/>
          <a:p>
            <a:r>
              <a:rPr sz="1200" b="0" i="0">
                <a:solidFill>
                  <a:srgbClr val="1F2933"/>
                </a:solidFill>
                <a:latin typeface="Calibri"/>
              </a:rPr>
              <a:t>urlsplit cuts one address into named parts. This address asks the geocoding endpoint of a weather API for the place Boston.</a:t>
            </a:r>
          </a:p>
        </p:txBody>
      </p:sp>
      <p:sp>
        <p:nvSpPr>
          <p:cNvPr id="6" name="code"/>
          <p:cNvSpPr/>
          <p:nvPr/>
        </p:nvSpPr>
        <p:spPr>
          <a:xfrm>
            <a:off x="365760" y="1722120"/>
            <a:ext cx="553669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C9A0FF"/>
                </a:solidFill>
                <a:latin typeface="Courier New"/>
              </a:rPr>
              <a:t>for</a:t>
            </a:r>
            <a:r>
              <a:rPr sz="1050" b="0" i="0">
                <a:solidFill>
                  <a:srgbClr val="E6EDF3"/>
                </a:solidFill>
                <a:latin typeface="Courier New"/>
              </a:rPr>
              <a:t> </a:t>
            </a:r>
            <a:r>
              <a:rPr sz="1050" b="0" i="0">
                <a:solidFill>
                  <a:srgbClr val="E6EDF3"/>
                </a:solidFill>
                <a:latin typeface="Courier New"/>
              </a:rPr>
              <a:t>name</a:t>
            </a:r>
            <a:r>
              <a:rPr sz="1050" b="0" i="0">
                <a:solidFill>
                  <a:srgbClr val="E6EDF3"/>
                </a:solidFill>
                <a:latin typeface="Courier New"/>
              </a:rPr>
              <a:t> </a:t>
            </a:r>
            <a:r>
              <a:rPr sz="1050" b="0" i="0">
                <a:solidFill>
                  <a:srgbClr val="C9A0FF"/>
                </a:solidFill>
                <a:latin typeface="Courier New"/>
              </a:rPr>
              <a:t>in</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'scheme'</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'netloc'</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'path'</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'query'</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'fragment'</a:t>
            </a:r>
            <a:r>
              <a:rPr sz="1050" b="0" i="0">
                <a:solidFill>
                  <a:srgbClr val="E6EDF3"/>
                </a:solidFill>
                <a:latin typeface="Courier New"/>
              </a:rPr>
              <a:t>)</a:t>
            </a:r>
            <a:r>
              <a:rPr sz="1050" b="0" i="0">
                <a:solidFill>
                  <a:srgbClr val="E6EDF3"/>
                </a:solidFill>
                <a:latin typeface="Courier New"/>
              </a:rPr>
              <a:t>:</a:t>
            </a:r>
          </a:p>
          <a:p>
            <a:pPr algn="l"/>
            <a:r>
              <a:rPr sz="1050" b="0" i="0">
                <a:solidFill>
                  <a:srgbClr val="8FA3B8"/>
                </a:solidFill>
                <a:latin typeface="Courier New"/>
              </a:rPr>
              <a:t>&gt;&gt;&gt; </a:t>
            </a:r>
            <a:r>
              <a:rPr sz="1050" b="0" i="0">
                <a:solidFill>
                  <a:srgbClr val="E6EDF3"/>
                </a:solidFill>
                <a:latin typeface="Courier New"/>
              </a:rPr>
              <a: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ljust</a:t>
            </a:r>
            <a:r>
              <a:rPr sz="1050" b="0" i="0">
                <a:solidFill>
                  <a:srgbClr val="E6EDF3"/>
                </a:solidFill>
                <a:latin typeface="Courier New"/>
              </a:rPr>
              <a:t>(</a:t>
            </a:r>
            <a:r>
              <a:rPr sz="1050" b="0" i="0">
                <a:solidFill>
                  <a:srgbClr val="7CC4FF"/>
                </a:solidFill>
                <a:latin typeface="Courier New"/>
              </a:rPr>
              <a:t>8</a:t>
            </a:r>
            <a:r>
              <a:rPr sz="1050" b="0" i="0">
                <a:solidFill>
                  <a:srgbClr val="E6EDF3"/>
                </a:solidFill>
                <a:latin typeface="Courier New"/>
              </a:rPr>
              <a:t>)</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getattr</a:t>
            </a:r>
            <a:r>
              <a:rPr sz="1050" b="0" i="0">
                <a:solidFill>
                  <a:srgbClr val="E6EDF3"/>
                </a:solidFill>
                <a:latin typeface="Courier New"/>
              </a:rPr>
              <a:t>(</a:t>
            </a:r>
            <a:r>
              <a:rPr sz="1050" b="0" i="0">
                <a:solidFill>
                  <a:srgbClr val="E6EDF3"/>
                </a:solidFill>
                <a:latin typeface="Courier New"/>
              </a:rPr>
              <a:t>parts</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name</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5884164" y="1722120"/>
            <a:ext cx="2894075" cy="890016"/>
          </a:xfrm>
          <a:prstGeom prst="rect">
            <a:avLst/>
          </a:prstGeom>
          <a:noFill/>
        </p:spPr>
        <p:txBody>
          <a:bodyPr wrap="square" lIns="128016" rIns="128016" tIns="18288" bIns="18288" anchor="ctr">
            <a:spAutoFit/>
          </a:bodyPr>
          <a:lstStyle/>
          <a:p>
            <a:r>
              <a:rPr sz="1200" b="0" i="0">
                <a:solidFill>
                  <a:srgbClr val="1F2933"/>
                </a:solidFill>
                <a:latin typeface="Calibri"/>
              </a:rPr>
              <a:t>Each part has a name. The fragment, after the number sign, is kept by the browser and not sent to the server.</a:t>
            </a:r>
          </a:p>
        </p:txBody>
      </p:sp>
      <p:sp>
        <p:nvSpPr>
          <p:cNvPr id="8" name="result label"/>
          <p:cNvSpPr txBox="1"/>
          <p:nvPr/>
        </p:nvSpPr>
        <p:spPr>
          <a:xfrm>
            <a:off x="365760" y="2685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59608"/>
          <a:ext cx="6225234" cy="1481328"/>
        </p:xfrm>
        <a:graphic>
          <a:graphicData uri="http://schemas.openxmlformats.org/drawingml/2006/table">
            <a:tbl>
              <a:tblPr firstRow="0" bandRow="0"/>
              <a:tblGrid>
                <a:gridCol w="965984"/>
                <a:gridCol w="2683291"/>
                <a:gridCol w="2575959"/>
              </a:tblGrid>
              <a:tr h="246888">
                <a:tc>
                  <a:txBody>
                    <a:bodyPr wrap="square"/>
                    <a:lstStyle/>
                    <a:p>
                      <a:r>
                        <a:rPr sz="9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50" b="1" i="0">
                          <a:solidFill>
                            <a:srgbClr val="1F2933"/>
                          </a:solidFill>
                          <a:latin typeface="Courier New"/>
                        </a:rPr>
                        <a:t>scheme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https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how to talk to the server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1" i="0">
                          <a:solidFill>
                            <a:srgbClr val="1F2933"/>
                          </a:solidFill>
                          <a:latin typeface="Courier New"/>
                        </a:rPr>
                        <a:t>netloc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api.openweathermap.org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which computer to ask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50" b="1" i="0">
                          <a:solidFill>
                            <a:srgbClr val="1F2933"/>
                          </a:solidFill>
                          <a:latin typeface="Courier New"/>
                        </a:rPr>
                        <a:t>path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/geo/1.0/direct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which page or service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50" b="1" i="0">
                          <a:solidFill>
                            <a:srgbClr val="1F2933"/>
                          </a:solidFill>
                          <a:latin typeface="Courier New"/>
                        </a:rPr>
                        <a:t>query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q=Boston&amp;appid=KEY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the question: name=value pairs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950" b="1" i="0">
                          <a:solidFill>
                            <a:srgbClr val="1F2933"/>
                          </a:solidFill>
                          <a:latin typeface="Courier New"/>
                        </a:rPr>
                        <a:t>fragment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a place inside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6927494" y="3051048"/>
            <a:ext cx="1850745" cy="56692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scheme, netloc,</a:t>
            </a:r>
          </a:p>
          <a:p>
            <a:pPr algn="ctr"/>
            <a:r>
              <a:rPr sz="950" b="0" i="0">
                <a:solidFill>
                  <a:srgbClr val="1F2933"/>
                </a:solidFill>
                <a:latin typeface="Calibri"/>
              </a:rPr>
              <a:t>path, query</a:t>
            </a:r>
          </a:p>
        </p:txBody>
      </p:sp>
      <p:sp>
        <p:nvSpPr>
          <p:cNvPr id="11" name="Rounded Rectangle 10"/>
          <p:cNvSpPr/>
          <p:nvPr/>
        </p:nvSpPr>
        <p:spPr>
          <a:xfrm>
            <a:off x="6927494" y="3874007"/>
            <a:ext cx="1850745" cy="41148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fragment</a:t>
            </a:r>
          </a:p>
        </p:txBody>
      </p:sp>
      <p:cxnSp>
        <p:nvCxnSpPr>
          <p:cNvPr id="12" name="arrow"/>
          <p:cNvCxnSpPr/>
          <p:nvPr/>
        </p:nvCxnSpPr>
        <p:spPr>
          <a:xfrm>
            <a:off x="7852867" y="3617976"/>
            <a:ext cx="0" cy="237744"/>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visual note"/>
          <p:cNvSpPr txBox="1"/>
          <p:nvPr/>
        </p:nvSpPr>
        <p:spPr>
          <a:xfrm>
            <a:off x="6881774" y="2813304"/>
            <a:ext cx="2018995" cy="219456"/>
          </a:xfrm>
          <a:prstGeom prst="rect">
            <a:avLst/>
          </a:prstGeom>
          <a:noFill/>
        </p:spPr>
        <p:txBody>
          <a:bodyPr wrap="square" lIns="45720" rIns="45720" tIns="27432" bIns="27432" anchor="t">
            <a:spAutoFit/>
          </a:bodyPr>
          <a:lstStyle/>
          <a:p>
            <a:r>
              <a:rPr sz="900" b="0" i="1">
                <a:solidFill>
                  <a:srgbClr val="5B6773"/>
                </a:solidFill>
                <a:latin typeface="Calibri"/>
              </a:rPr>
              <a:t>sent to the server</a:t>
            </a:r>
          </a:p>
        </p:txBody>
      </p:sp>
      <p:sp>
        <p:nvSpPr>
          <p:cNvPr id="14" name="visual note"/>
          <p:cNvSpPr txBox="1"/>
          <p:nvPr/>
        </p:nvSpPr>
        <p:spPr>
          <a:xfrm>
            <a:off x="6881774" y="4285488"/>
            <a:ext cx="2018995" cy="219456"/>
          </a:xfrm>
          <a:prstGeom prst="rect">
            <a:avLst/>
          </a:prstGeom>
          <a:noFill/>
        </p:spPr>
        <p:txBody>
          <a:bodyPr wrap="square" lIns="45720" rIns="45720" tIns="27432" bIns="27432" anchor="t">
            <a:spAutoFit/>
          </a:bodyPr>
          <a:lstStyle/>
          <a:p>
            <a:r>
              <a:rPr sz="900" b="0" i="1">
                <a:solidFill>
                  <a:srgbClr val="5B6773"/>
                </a:solidFill>
                <a:latin typeface="Calibri"/>
              </a:rPr>
              <a:t>kept by the browser</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An address has five named parts.</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Percent codes and the query string</a:t>
            </a:r>
          </a:p>
        </p:txBody>
      </p:sp>
      <p:sp>
        <p:nvSpPr>
          <p:cNvPr id="4" name="code"/>
          <p:cNvSpPr/>
          <p:nvPr/>
        </p:nvSpPr>
        <p:spPr>
          <a:xfrm>
            <a:off x="365760" y="786384"/>
            <a:ext cx="51937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from</a:t>
            </a:r>
            <a:r>
              <a:rPr sz="1200" b="0" i="0">
                <a:solidFill>
                  <a:srgbClr val="E6EDF3"/>
                </a:solidFill>
                <a:latin typeface="Courier New"/>
              </a:rPr>
              <a:t> </a:t>
            </a:r>
            <a:r>
              <a:rPr sz="1200" b="0" i="0">
                <a:solidFill>
                  <a:srgbClr val="E6EDF3"/>
                </a:solidFill>
                <a:latin typeface="Courier New"/>
              </a:rPr>
              <a:t>urllib</a:t>
            </a:r>
            <a:r>
              <a:rPr sz="1200" b="0" i="0">
                <a:solidFill>
                  <a:srgbClr val="E6EDF3"/>
                </a:solidFill>
                <a:latin typeface="Courier New"/>
              </a:rPr>
              <a:t>.</a:t>
            </a:r>
            <a:r>
              <a:rPr sz="1200" b="0" i="0">
                <a:solidFill>
                  <a:srgbClr val="E6EDF3"/>
                </a:solidFill>
                <a:latin typeface="Courier New"/>
              </a:rPr>
              <a:t>parse</a:t>
            </a:r>
            <a:r>
              <a:rPr sz="1200" b="0" i="0">
                <a:solidFill>
                  <a:srgbClr val="E6EDF3"/>
                </a:solidFill>
                <a:latin typeface="Courier New"/>
              </a:rPr>
              <a: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parse_qs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quote</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quote</a:t>
            </a:r>
            <a:r>
              <a:rPr sz="1200" b="0" i="0">
                <a:solidFill>
                  <a:srgbClr val="E6EDF3"/>
                </a:solidFill>
                <a:latin typeface="Courier New"/>
              </a:rPr>
              <a:t>(</a:t>
            </a:r>
            <a:r>
              <a:rPr sz="1200" b="0" i="0">
                <a:solidFill>
                  <a:srgbClr val="9BE3A8"/>
                </a:solidFill>
                <a:latin typeface="Courier New"/>
              </a:rPr>
              <a:t>'777 Valencia St, San Francisco'</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541264" y="786384"/>
            <a:ext cx="3236976" cy="921765"/>
          </a:xfrm>
          <a:prstGeom prst="rect">
            <a:avLst/>
          </a:prstGeom>
          <a:noFill/>
        </p:spPr>
        <p:txBody>
          <a:bodyPr wrap="square" lIns="128016" rIns="128016" tIns="18288" bIns="18288" anchor="ctr">
            <a:spAutoFit/>
          </a:bodyPr>
          <a:lstStyle/>
          <a:p>
            <a:r>
              <a:rPr sz="1250" b="0" i="0">
                <a:solidFill>
                  <a:srgbClr val="1F2933"/>
                </a:solidFill>
                <a:latin typeface="Calibri"/>
              </a:rPr>
              <a:t>quote writes a space as %20 and a comma as %2C, because an address may not hold them. A browser does the same for its address bar.</a:t>
            </a:r>
          </a:p>
        </p:txBody>
      </p:sp>
      <p:sp>
        <p:nvSpPr>
          <p:cNvPr id="6" name="code"/>
          <p:cNvSpPr/>
          <p:nvPr/>
        </p:nvSpPr>
        <p:spPr>
          <a:xfrm>
            <a:off x="365760" y="1753870"/>
            <a:ext cx="51937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query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parse_qs</a:t>
            </a:r>
            <a:r>
              <a:rPr sz="1200" b="0" i="0">
                <a:solidFill>
                  <a:srgbClr val="E6EDF3"/>
                </a:solidFill>
                <a:latin typeface="Courier New"/>
              </a:rPr>
              <a:t>(</a:t>
            </a:r>
            <a:r>
              <a:rPr sz="1200" b="0" i="0">
                <a:solidFill>
                  <a:srgbClr val="9BE3A8"/>
                </a:solidFill>
                <a:latin typeface="Courier New"/>
              </a:rPr>
              <a:t>'q=San+Francisco%2CCA&amp;appid=KEY'</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query</a:t>
            </a:r>
            <a:r>
              <a:rPr sz="1200" b="0" i="0">
                <a:solidFill>
                  <a:srgbClr val="E6EDF3"/>
                </a:solidFill>
                <a:latin typeface="Courier New"/>
              </a:rPr>
              <a:t>)</a:t>
            </a:r>
          </a:p>
        </p:txBody>
      </p:sp>
      <p:sp>
        <p:nvSpPr>
          <p:cNvPr id="7" name="explanation"/>
          <p:cNvSpPr txBox="1"/>
          <p:nvPr/>
        </p:nvSpPr>
        <p:spPr>
          <a:xfrm>
            <a:off x="5541264" y="1753870"/>
            <a:ext cx="3236976" cy="921765"/>
          </a:xfrm>
          <a:prstGeom prst="rect">
            <a:avLst/>
          </a:prstGeom>
          <a:noFill/>
        </p:spPr>
        <p:txBody>
          <a:bodyPr wrap="square" lIns="128016" rIns="128016" tIns="18288" bIns="18288" anchor="ctr">
            <a:spAutoFit/>
          </a:bodyPr>
          <a:lstStyle/>
          <a:p>
            <a:r>
              <a:rPr sz="1250" b="0" i="0">
                <a:solidFill>
                  <a:srgbClr val="1F2933"/>
                </a:solidFill>
                <a:latin typeface="Calibri"/>
              </a:rPr>
              <a:t>parse_qs reads the name=value pairs back into a dictionary of lists. The plus sign and %2C turn back into a space and a comma.</a:t>
            </a:r>
          </a:p>
        </p:txBody>
      </p:sp>
      <p:sp>
        <p:nvSpPr>
          <p:cNvPr id="8" name="result label"/>
          <p:cNvSpPr txBox="1"/>
          <p:nvPr/>
        </p:nvSpPr>
        <p:spPr>
          <a:xfrm>
            <a:off x="365760" y="274878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23107"/>
          <a:ext cx="3869739" cy="1316736"/>
        </p:xfrm>
        <a:graphic>
          <a:graphicData uri="http://schemas.openxmlformats.org/drawingml/2006/table">
            <a:tbl>
              <a:tblPr firstRow="0" bandRow="0"/>
              <a:tblGrid>
                <a:gridCol w="1055383"/>
                <a:gridCol w="1641708"/>
                <a:gridCol w="1172648"/>
              </a:tblGrid>
              <a:tr h="219456">
                <a:tc>
                  <a:txBody>
                    <a:bodyPr wrap="square"/>
                    <a:lstStyle/>
                    <a:p>
                      <a:r>
                        <a:rPr sz="900" b="1" i="0">
                          <a:solidFill>
                            <a:srgbClr val="FFFFFF"/>
                          </a:solidFill>
                          <a:latin typeface="Calibri"/>
                        </a:rPr>
                        <a:t>Character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quote(...)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00" b="0" i="0">
                          <a:solidFill>
                            <a:srgbClr val="1F2933"/>
                          </a:solidFill>
                          <a:latin typeface="Courier New"/>
                        </a:rPr>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space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comma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%2C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00" b="0" i="0">
                          <a:solidFill>
                            <a:srgbClr val="1F2933"/>
                          </a:solidFill>
                          <a:latin typeface="Courier New"/>
                        </a:rPr>
                        <a:t>'&amp;'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ampersand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alibri"/>
                        </a:rPr>
                        <a:t>equals sign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%3D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alibri"/>
                        </a:rPr>
                        <a:t>number sign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0" name="table"/>
          <p:cNvGraphicFramePr>
            <a:graphicFrameLocks noGrp="1"/>
          </p:cNvGraphicFramePr>
          <p:nvPr/>
        </p:nvGraphicFramePr>
        <p:xfrm>
          <a:off x="4572000" y="3023107"/>
          <a:ext cx="4206239" cy="822960"/>
        </p:xfrm>
        <a:graphic>
          <a:graphicData uri="http://schemas.openxmlformats.org/drawingml/2006/table">
            <a:tbl>
              <a:tblPr firstRow="0" bandRow="0"/>
              <a:tblGrid>
                <a:gridCol w="989703"/>
                <a:gridCol w="3216536"/>
              </a:tblGrid>
              <a:tr h="274320">
                <a:tc>
                  <a:txBody>
                    <a:bodyPr wrap="square"/>
                    <a:lstStyle/>
                    <a:p>
                      <a:r>
                        <a:rPr sz="950" b="1" i="0">
                          <a:solidFill>
                            <a:srgbClr val="FFFFFF"/>
                          </a:solidFill>
                          <a:latin typeface="Calibri"/>
                        </a:rPr>
                        <a:t>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parse_qs gives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q</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['San Francisco,CA']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appid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1" name="visual note"/>
          <p:cNvSpPr txBox="1"/>
          <p:nvPr/>
        </p:nvSpPr>
        <p:spPr>
          <a:xfrm>
            <a:off x="4572000" y="3937508"/>
            <a:ext cx="4206240" cy="219456"/>
          </a:xfrm>
          <a:prstGeom prst="rect">
            <a:avLst/>
          </a:prstGeom>
          <a:noFill/>
        </p:spPr>
        <p:txBody>
          <a:bodyPr wrap="square" lIns="45720" rIns="45720" tIns="27432" bIns="27432" anchor="t">
            <a:spAutoFit/>
          </a:bodyPr>
          <a:lstStyle/>
          <a:p>
            <a:r>
              <a:rPr sz="950" b="0" i="1">
                <a:solidFill>
                  <a:srgbClr val="5B6773"/>
                </a:solidFill>
                <a:latin typeface="Calibri"/>
              </a:rPr>
              <a:t>'San+Francisco%2CCA' became 'San Francisco,CA'</a:t>
            </a:r>
          </a:p>
        </p:txBody>
      </p:sp>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Quote on the way out; parse_qs on the way in.</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HTTP status codes: the first digit is the class</a:t>
            </a:r>
          </a:p>
        </p:txBody>
      </p:sp>
      <p:sp>
        <p:nvSpPr>
          <p:cNvPr id="4" name="code"/>
          <p:cNvSpPr/>
          <p:nvPr/>
        </p:nvSpPr>
        <p:spPr>
          <a:xfrm>
            <a:off x="365760" y="786384"/>
            <a:ext cx="555955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from</a:t>
            </a:r>
            <a:r>
              <a:rPr sz="1200" b="0" i="0">
                <a:solidFill>
                  <a:srgbClr val="E6EDF3"/>
                </a:solidFill>
                <a:latin typeface="Courier New"/>
              </a:rPr>
              <a:t> </a:t>
            </a:r>
            <a:r>
              <a:rPr sz="1200" b="0" i="0">
                <a:solidFill>
                  <a:srgbClr val="E6EDF3"/>
                </a:solidFill>
                <a:latin typeface="Courier New"/>
              </a:rPr>
              <a:t>http</a:t>
            </a:r>
            <a:r>
              <a:rPr sz="1200" b="0" i="0">
                <a:solidFill>
                  <a:srgbClr val="E6EDF3"/>
                </a:solidFill>
                <a:latin typeface="Courier New"/>
              </a:rPr>
              <a: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HTTPStatus</a:t>
            </a:r>
          </a:p>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code</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7CC4FF"/>
                </a:solidFill>
                <a:latin typeface="Courier New"/>
              </a:rPr>
              <a:t>200</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301</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404</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429</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500</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status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HTTPStatus</a:t>
            </a:r>
            <a:r>
              <a:rPr sz="1200" b="0" i="0">
                <a:solidFill>
                  <a:srgbClr val="E6EDF3"/>
                </a:solidFill>
                <a:latin typeface="Courier New"/>
              </a:rPr>
              <a:t>(</a:t>
            </a:r>
            <a:r>
              <a:rPr sz="1200" b="0" i="0">
                <a:solidFill>
                  <a:srgbClr val="E6EDF3"/>
                </a:solidFill>
                <a:latin typeface="Courier New"/>
              </a:rPr>
              <a:t>code</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code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status</a:t>
            </a:r>
            <a:r>
              <a:rPr sz="1200" b="0" i="0">
                <a:solidFill>
                  <a:srgbClr val="E6EDF3"/>
                </a:solidFill>
                <a:latin typeface="Courier New"/>
              </a:rPr>
              <a:t>.</a:t>
            </a:r>
            <a:r>
              <a:rPr sz="1200" b="0" i="0">
                <a:solidFill>
                  <a:srgbClr val="E6EDF3"/>
                </a:solidFill>
                <a:latin typeface="Courier New"/>
              </a:rPr>
              <a:t>phrase</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 class'</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code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7CC4FF"/>
                </a:solidFill>
                <a:latin typeface="Courier New"/>
              </a:rPr>
              <a:t>100</a:t>
            </a:r>
            <a:r>
              <a:rPr sz="1200" b="0" i="0">
                <a:solidFill>
                  <a:srgbClr val="E6EDF3"/>
                </a:solidFill>
                <a:latin typeface="Courier New"/>
              </a:rPr>
              <a:t>)</a:t>
            </a:r>
          </a:p>
        </p:txBody>
      </p:sp>
      <p:sp>
        <p:nvSpPr>
          <p:cNvPr id="5" name="explanation"/>
          <p:cNvSpPr txBox="1"/>
          <p:nvPr/>
        </p:nvSpPr>
        <p:spPr>
          <a:xfrm>
            <a:off x="5907024" y="786384"/>
            <a:ext cx="2871216" cy="921765"/>
          </a:xfrm>
          <a:prstGeom prst="rect">
            <a:avLst/>
          </a:prstGeom>
          <a:noFill/>
        </p:spPr>
        <p:txBody>
          <a:bodyPr wrap="square" lIns="128016" rIns="128016" tIns="18288" bIns="18288" anchor="ctr">
            <a:spAutoFit/>
          </a:bodyPr>
          <a:lstStyle/>
          <a:p>
            <a:r>
              <a:rPr sz="1250" b="0" i="0">
                <a:solidFill>
                  <a:srgbClr val="1F2933"/>
                </a:solidFill>
                <a:latin typeface="Calibri"/>
              </a:rPr>
              <a:t>Every reply starts with a three-digit code. HTTPStatus names the code, and the integer division by 100 gives the class.</a:t>
            </a:r>
          </a:p>
        </p:txBody>
      </p:sp>
      <p:sp>
        <p:nvSpPr>
          <p:cNvPr id="6" name="result label"/>
          <p:cNvSpPr txBox="1"/>
          <p:nvPr/>
        </p:nvSpPr>
        <p:spPr>
          <a:xfrm>
            <a:off x="365760" y="178130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7" name="table"/>
          <p:cNvGraphicFramePr>
            <a:graphicFrameLocks noGrp="1"/>
          </p:cNvGraphicFramePr>
          <p:nvPr/>
        </p:nvGraphicFramePr>
        <p:xfrm>
          <a:off x="365760" y="2055621"/>
          <a:ext cx="8412478" cy="1536192"/>
        </p:xfrm>
        <a:graphic>
          <a:graphicData uri="http://schemas.openxmlformats.org/drawingml/2006/table">
            <a:tbl>
              <a:tblPr firstRow="0" bandRow="0"/>
              <a:tblGrid>
                <a:gridCol w="934719"/>
                <a:gridCol w="3505199"/>
                <a:gridCol w="1051560"/>
                <a:gridCol w="2921000"/>
              </a:tblGrid>
              <a:tr h="256032">
                <a:tc>
                  <a:txBody>
                    <a:bodyPr wrap="square"/>
                    <a:lstStyle/>
                    <a:p>
                      <a:r>
                        <a:rPr sz="1000" b="1" i="0">
                          <a:solidFill>
                            <a:srgbClr val="FFFFFF"/>
                          </a:solidFill>
                          <a:latin typeface="Calibri"/>
                        </a:rPr>
                        <a:t>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Phrase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Class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The class means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56032">
                <a:tc>
                  <a:txBody>
                    <a:bodyPr wrap="square"/>
                    <a:lstStyle/>
                    <a:p>
                      <a:r>
                        <a:rPr sz="1000" b="0" i="0">
                          <a:solidFill>
                            <a:srgbClr val="1F2933"/>
                          </a:solidFill>
                          <a:latin typeface="Courier New"/>
                        </a:rPr>
                        <a:t>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2xx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success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56032">
                <a:tc>
                  <a:txBody>
                    <a:bodyPr wrap="square"/>
                    <a:lstStyle/>
                    <a:p>
                      <a:r>
                        <a:rPr sz="1000" b="0" i="0">
                          <a:solidFill>
                            <a:srgbClr val="1F2933"/>
                          </a:solidFill>
                          <a:latin typeface="Courier New"/>
                        </a:rPr>
                        <a:t>301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Moved Permanently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3xx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redirection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56032">
                <a:tc>
                  <a:txBody>
                    <a:bodyPr wrap="square"/>
                    <a:lstStyle/>
                    <a:p>
                      <a:r>
                        <a:rPr sz="1000" b="0" i="0">
                          <a:solidFill>
                            <a:srgbClr val="1F2933"/>
                          </a:solidFill>
                          <a:latin typeface="Courier New"/>
                        </a:rPr>
                        <a:t>404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Not Found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4xx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client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56032">
                <a:tc>
                  <a:txBody>
                    <a:bodyPr wrap="square"/>
                    <a:lstStyle/>
                    <a:p>
                      <a:r>
                        <a:rPr sz="1000" b="0" i="0">
                          <a:solidFill>
                            <a:srgbClr val="1F2933"/>
                          </a:solidFill>
                          <a:latin typeface="Courier New"/>
                        </a:rPr>
                        <a:t>429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Too Many Requests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4xx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client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56032">
                <a:tc>
                  <a:txBody>
                    <a:bodyPr wrap="square"/>
                    <a:lstStyle/>
                    <a:p>
                      <a:r>
                        <a:rPr sz="1000" b="0" i="0">
                          <a:solidFill>
                            <a:srgbClr val="1F2933"/>
                          </a:solidFill>
                          <a:latin typeface="Courier New"/>
                        </a:rPr>
                        <a:t>500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Internal Server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5xx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server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first digit is the class of the reply.</a:t>
            </a:r>
          </a:p>
        </p:txBody>
      </p:sp>
      <p:sp>
        <p:nvSpPr>
          <p:cNvPr id="1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user agent tells a server who is asking</a:t>
            </a:r>
          </a:p>
        </p:txBody>
      </p:sp>
      <p:sp>
        <p:nvSpPr>
          <p:cNvPr id="4" name="code"/>
          <p:cNvSpPr/>
          <p:nvPr/>
        </p:nvSpPr>
        <p:spPr>
          <a:xfrm>
            <a:off x="365760" y="786384"/>
            <a:ext cx="5559551" cy="11202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urllib</a:t>
            </a:r>
            <a:r>
              <a:rPr sz="1200" b="0" i="0">
                <a:solidFill>
                  <a:srgbClr val="E6EDF3"/>
                </a:solidFill>
                <a:latin typeface="Courier New"/>
              </a:rPr>
              <a:t>.</a:t>
            </a:r>
            <a:r>
              <a:rPr sz="1200" b="0" i="0">
                <a:solidFill>
                  <a:srgbClr val="E6EDF3"/>
                </a:solidFill>
                <a:latin typeface="Courier New"/>
              </a:rPr>
              <a:t>request</a:t>
            </a:r>
          </a:p>
          <a:p>
            <a:pPr algn="l"/>
            <a:r>
              <a:rPr sz="1200" b="0" i="0">
                <a:solidFill>
                  <a:srgbClr val="8FA3B8"/>
                </a:solidFill>
                <a:latin typeface="Courier New"/>
              </a:rPr>
              <a:t>&gt;&gt;&gt; </a:t>
            </a:r>
            <a:r>
              <a:rPr sz="1200" b="0" i="0">
                <a:solidFill>
                  <a:srgbClr val="E6EDF3"/>
                </a:solidFill>
                <a:latin typeface="Courier New"/>
              </a:rPr>
              <a:t>opener</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urllib</a:t>
            </a:r>
            <a:r>
              <a:rPr sz="1200" b="0" i="0">
                <a:solidFill>
                  <a:srgbClr val="E6EDF3"/>
                </a:solidFill>
                <a:latin typeface="Courier New"/>
              </a:rPr>
              <a:t>.</a:t>
            </a:r>
            <a:r>
              <a:rPr sz="1200" b="0" i="0">
                <a:solidFill>
                  <a:srgbClr val="E6EDF3"/>
                </a:solidFill>
                <a:latin typeface="Courier New"/>
              </a:rPr>
              <a:t>request</a:t>
            </a:r>
            <a:r>
              <a:rPr sz="1200" b="0" i="0">
                <a:solidFill>
                  <a:srgbClr val="E6EDF3"/>
                </a:solidFill>
                <a:latin typeface="Courier New"/>
              </a:rPr>
              <a:t>.</a:t>
            </a:r>
            <a:r>
              <a:rPr sz="1200" b="0" i="0">
                <a:solidFill>
                  <a:srgbClr val="E6EDF3"/>
                </a:solidFill>
                <a:latin typeface="Courier New"/>
              </a:rPr>
              <a:t>build_opener</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value</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opener</a:t>
            </a:r>
            <a:r>
              <a:rPr sz="1200" b="0" i="0">
                <a:solidFill>
                  <a:srgbClr val="E6EDF3"/>
                </a:solidFill>
                <a:latin typeface="Courier New"/>
              </a:rPr>
              <a:t>.</a:t>
            </a:r>
            <a:r>
              <a:rPr sz="1200" b="0" i="0">
                <a:solidFill>
                  <a:srgbClr val="E6EDF3"/>
                </a:solidFill>
                <a:latin typeface="Courier New"/>
              </a:rPr>
              <a:t>addheaders</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name</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value</a:t>
            </a:r>
            <a:r>
              <a:rPr sz="1200" b="0" i="0">
                <a:solidFill>
                  <a:srgbClr val="E6EDF3"/>
                </a:solidFill>
                <a:latin typeface="Courier New"/>
              </a:rPr>
              <a:t>.</a:t>
            </a:r>
            <a:r>
              <a:rPr sz="1200" b="0" i="0">
                <a:solidFill>
                  <a:srgbClr val="E6EDF3"/>
                </a:solidFill>
                <a:latin typeface="Courier New"/>
              </a:rPr>
              <a:t>split</a:t>
            </a:r>
            <a:r>
              <a:rPr sz="1200" b="0" i="0">
                <a:solidFill>
                  <a:srgbClr val="E6EDF3"/>
                </a:solidFill>
                <a:latin typeface="Courier New"/>
              </a:rPr>
              <a:t>(</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907024" y="786384"/>
            <a:ext cx="2871216" cy="1120203"/>
          </a:xfrm>
          <a:prstGeom prst="rect">
            <a:avLst/>
          </a:prstGeom>
          <a:noFill/>
        </p:spPr>
        <p:txBody>
          <a:bodyPr wrap="square" lIns="128016" rIns="128016" tIns="18288" bIns="18288" anchor="ctr">
            <a:spAutoFit/>
          </a:bodyPr>
          <a:lstStyle/>
          <a:p>
            <a:r>
              <a:rPr sz="1250" b="0" i="0">
                <a:solidFill>
                  <a:srgbClr val="1F2933"/>
                </a:solidFill>
                <a:latin typeface="Calibri"/>
              </a:rPr>
              <a:t>Python's own downloader announces itself. A server can tell a script from a browser by this header, and may refuse a script.</a:t>
            </a:r>
          </a:p>
        </p:txBody>
      </p:sp>
      <p:sp>
        <p:nvSpPr>
          <p:cNvPr id="6" name="code"/>
          <p:cNvSpPr/>
          <p:nvPr/>
        </p:nvSpPr>
        <p:spPr>
          <a:xfrm>
            <a:off x="365760" y="1952307"/>
            <a:ext cx="555955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url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'https://example.com/'</a:t>
            </a:r>
          </a:p>
          <a:p>
            <a:pPr algn="l"/>
            <a:r>
              <a:rPr sz="1200" b="0" i="0">
                <a:solidFill>
                  <a:srgbClr val="8FA3B8"/>
                </a:solidFill>
                <a:latin typeface="Courier New"/>
              </a:rPr>
              <a:t>&gt;&gt;&gt; </a:t>
            </a:r>
            <a:r>
              <a:rPr sz="1200" b="0" i="0">
                <a:solidFill>
                  <a:srgbClr val="E6EDF3"/>
                </a:solidFill>
                <a:latin typeface="Courier New"/>
              </a:rPr>
              <a:t>headers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'User-Agent'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'MyBot/1.0'</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request</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urllib</a:t>
            </a:r>
            <a:r>
              <a:rPr sz="1200" b="0" i="0">
                <a:solidFill>
                  <a:srgbClr val="E6EDF3"/>
                </a:solidFill>
                <a:latin typeface="Courier New"/>
              </a:rPr>
              <a:t>.</a:t>
            </a:r>
            <a:r>
              <a:rPr sz="1200" b="0" i="0">
                <a:solidFill>
                  <a:srgbClr val="E6EDF3"/>
                </a:solidFill>
                <a:latin typeface="Courier New"/>
              </a:rPr>
              <a:t>request</a:t>
            </a:r>
            <a:r>
              <a:rPr sz="1200" b="0" i="0">
                <a:solidFill>
                  <a:srgbClr val="E6EDF3"/>
                </a:solidFill>
                <a:latin typeface="Courier New"/>
              </a:rPr>
              <a:t>.</a:t>
            </a:r>
            <a:r>
              <a:rPr sz="1200" b="0" i="0">
                <a:solidFill>
                  <a:srgbClr val="E6EDF3"/>
                </a:solidFill>
                <a:latin typeface="Courier New"/>
              </a:rPr>
              <a:t>Request</a:t>
            </a:r>
            <a:r>
              <a:rPr sz="1200" b="0" i="0">
                <a:solidFill>
                  <a:srgbClr val="E6EDF3"/>
                </a:solidFill>
                <a:latin typeface="Courier New"/>
              </a:rPr>
              <a:t>(</a:t>
            </a:r>
            <a:r>
              <a:rPr sz="1200" b="0" i="0">
                <a:solidFill>
                  <a:srgbClr val="E6EDF3"/>
                </a:solidFill>
                <a:latin typeface="Courier New"/>
              </a:rPr>
              <a:t>url</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headers</a:t>
            </a:r>
            <a:r>
              <a:rPr sz="1200" b="0" i="0">
                <a:solidFill>
                  <a:srgbClr val="E6EDF3"/>
                </a:solidFill>
                <a:latin typeface="Courier New"/>
              </a:rPr>
              <a:t>=</a:t>
            </a:r>
            <a:r>
              <a:rPr sz="1200" b="0" i="0">
                <a:solidFill>
                  <a:srgbClr val="E6EDF3"/>
                </a:solidFill>
                <a:latin typeface="Courier New"/>
              </a:rPr>
              <a:t>headers</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request</a:t>
            </a:r>
            <a:r>
              <a:rPr sz="1200" b="0" i="0">
                <a:solidFill>
                  <a:srgbClr val="E6EDF3"/>
                </a:solidFill>
                <a:latin typeface="Courier New"/>
              </a:rPr>
              <a:t>.</a:t>
            </a:r>
            <a:r>
              <a:rPr sz="1200" b="0" i="0">
                <a:solidFill>
                  <a:srgbClr val="E6EDF3"/>
                </a:solidFill>
                <a:latin typeface="Courier New"/>
              </a:rPr>
              <a:t>get_header</a:t>
            </a:r>
            <a:r>
              <a:rPr sz="1200" b="0" i="0">
                <a:solidFill>
                  <a:srgbClr val="E6EDF3"/>
                </a:solidFill>
                <a:latin typeface="Courier New"/>
              </a:rPr>
              <a:t>(</a:t>
            </a:r>
            <a:r>
              <a:rPr sz="1200" b="0" i="0">
                <a:solidFill>
                  <a:srgbClr val="9BE3A8"/>
                </a:solidFill>
                <a:latin typeface="Courier New"/>
              </a:rPr>
              <a:t>'User-agent'</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907024" y="1952307"/>
            <a:ext cx="2871216" cy="921765"/>
          </a:xfrm>
          <a:prstGeom prst="rect">
            <a:avLst/>
          </a:prstGeom>
          <a:noFill/>
        </p:spPr>
        <p:txBody>
          <a:bodyPr wrap="square" lIns="128016" rIns="128016" tIns="18288" bIns="18288" anchor="ctr">
            <a:spAutoFit/>
          </a:bodyPr>
          <a:lstStyle/>
          <a:p>
            <a:r>
              <a:rPr sz="1250" b="0" i="0">
                <a:solidFill>
                  <a:srgbClr val="1F2933"/>
                </a:solidFill>
                <a:latin typeface="Calibri"/>
              </a:rPr>
              <a:t>A polite program sets its own name, ideally with a contact address, so that a site owner knows whom to ask.</a:t>
            </a:r>
          </a:p>
        </p:txBody>
      </p:sp>
      <p:sp>
        <p:nvSpPr>
          <p:cNvPr id="8" name="result label"/>
          <p:cNvSpPr txBox="1"/>
          <p:nvPr/>
        </p:nvSpPr>
        <p:spPr>
          <a:xfrm>
            <a:off x="365760" y="294722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21545"/>
            <a:ext cx="2529839" cy="47548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your script</a:t>
            </a:r>
          </a:p>
          <a:p>
            <a:pPr algn="ctr"/>
            <a:r>
              <a:rPr sz="950" b="0" i="0">
                <a:solidFill>
                  <a:srgbClr val="1F2933"/>
                </a:solidFill>
                <a:latin typeface="Calibri"/>
              </a:rPr>
              <a:t>urlopen(...)</a:t>
            </a:r>
          </a:p>
        </p:txBody>
      </p:sp>
      <p:cxnSp>
        <p:nvCxnSpPr>
          <p:cNvPr id="10" name="arrow"/>
          <p:cNvCxnSpPr/>
          <p:nvPr/>
        </p:nvCxnSpPr>
        <p:spPr>
          <a:xfrm>
            <a:off x="2913887" y="3459289"/>
            <a:ext cx="37490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07079" y="3221545"/>
            <a:ext cx="2529839" cy="47548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header</a:t>
            </a:r>
          </a:p>
          <a:p>
            <a:pPr algn="ctr"/>
            <a:r>
              <a:rPr sz="950" b="0" i="0">
                <a:solidFill>
                  <a:srgbClr val="1F2933"/>
                </a:solidFill>
                <a:latin typeface="Calibri"/>
              </a:rPr>
              <a:t>User-agent: Python-urllib</a:t>
            </a:r>
          </a:p>
        </p:txBody>
      </p:sp>
      <p:cxnSp>
        <p:nvCxnSpPr>
          <p:cNvPr id="12" name="arrow"/>
          <p:cNvCxnSpPr/>
          <p:nvPr/>
        </p:nvCxnSpPr>
        <p:spPr>
          <a:xfrm>
            <a:off x="5855207" y="3459289"/>
            <a:ext cx="37490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248400" y="3221545"/>
            <a:ext cx="2529839" cy="47548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server sees</a:t>
            </a:r>
          </a:p>
          <a:p>
            <a:pPr algn="ctr"/>
            <a:r>
              <a:rPr sz="950" b="0" i="0">
                <a:solidFill>
                  <a:srgbClr val="1F2933"/>
                </a:solidFill>
                <a:latin typeface="Calibri"/>
              </a:rPr>
              <a:t>an unnamed script</a:t>
            </a:r>
          </a:p>
        </p:txBody>
      </p:sp>
      <p:sp>
        <p:nvSpPr>
          <p:cNvPr id="14" name="Rounded Rectangle 13"/>
          <p:cNvSpPr/>
          <p:nvPr/>
        </p:nvSpPr>
        <p:spPr>
          <a:xfrm>
            <a:off x="365760" y="3861625"/>
            <a:ext cx="2529839" cy="47548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your script</a:t>
            </a:r>
          </a:p>
          <a:p>
            <a:pPr algn="ctr"/>
            <a:r>
              <a:rPr sz="950" b="0" i="0">
                <a:solidFill>
                  <a:srgbClr val="1F2933"/>
                </a:solidFill>
                <a:latin typeface="Calibri"/>
              </a:rPr>
              <a:t>Request(...)</a:t>
            </a:r>
          </a:p>
        </p:txBody>
      </p:sp>
      <p:cxnSp>
        <p:nvCxnSpPr>
          <p:cNvPr id="15" name="arrow"/>
          <p:cNvCxnSpPr/>
          <p:nvPr/>
        </p:nvCxnSpPr>
        <p:spPr>
          <a:xfrm>
            <a:off x="2913887" y="4099369"/>
            <a:ext cx="37490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07079" y="3861625"/>
            <a:ext cx="2529839" cy="47548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header</a:t>
            </a:r>
          </a:p>
          <a:p>
            <a:pPr algn="ctr"/>
            <a:r>
              <a:rPr sz="950" b="0" i="0">
                <a:solidFill>
                  <a:srgbClr val="1F2933"/>
                </a:solidFill>
                <a:latin typeface="Calibri"/>
              </a:rPr>
              <a:t>User-Agent: MyBot/1.0</a:t>
            </a:r>
          </a:p>
        </p:txBody>
      </p:sp>
      <p:cxnSp>
        <p:nvCxnSpPr>
          <p:cNvPr id="17" name="arrow"/>
          <p:cNvCxnSpPr/>
          <p:nvPr/>
        </p:nvCxnSpPr>
        <p:spPr>
          <a:xfrm>
            <a:off x="5855207" y="4099369"/>
            <a:ext cx="37490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48400" y="3861625"/>
            <a:ext cx="2529839" cy="47548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server sees</a:t>
            </a:r>
          </a:p>
          <a:p>
            <a:pPr algn="ctr"/>
            <a:r>
              <a:rPr sz="950" b="0" i="0">
                <a:solidFill>
                  <a:srgbClr val="1F2933"/>
                </a:solidFill>
                <a:latin typeface="Calibri"/>
              </a:rPr>
              <a:t>a named program</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Name your program and give a contact.</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robots.txt: the paths a crawler is asked to avoid</a:t>
            </a:r>
          </a:p>
        </p:txBody>
      </p:sp>
      <p:sp>
        <p:nvSpPr>
          <p:cNvPr id="4" name="code"/>
          <p:cNvSpPr/>
          <p:nvPr/>
        </p:nvSpPr>
        <p:spPr>
          <a:xfrm>
            <a:off x="365760" y="786384"/>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urllib</a:t>
            </a:r>
            <a:r>
              <a:rPr sz="1000" b="0" i="0">
                <a:solidFill>
                  <a:srgbClr val="E6EDF3"/>
                </a:solidFill>
                <a:latin typeface="Courier New"/>
              </a:rPr>
              <a:t>.</a:t>
            </a:r>
            <a:r>
              <a:rPr sz="1000" b="0" i="0">
                <a:solidFill>
                  <a:srgbClr val="E6EDF3"/>
                </a:solidFill>
                <a:latin typeface="Courier New"/>
              </a:rPr>
              <a:t>robotparser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rp</a:t>
            </a:r>
          </a:p>
          <a:p>
            <a:pPr algn="l"/>
            <a:r>
              <a:rPr sz="1000" b="0" i="0">
                <a:solidFill>
                  <a:srgbClr val="8FA3B8"/>
                </a:solidFill>
                <a:latin typeface="Courier New"/>
              </a:rPr>
              <a:t>&gt;&gt;&gt; </a:t>
            </a:r>
            <a:r>
              <a:rPr sz="1000" b="0" i="0">
                <a:solidFill>
                  <a:srgbClr val="E6EDF3"/>
                </a:solidFill>
                <a:latin typeface="Courier New"/>
              </a:rPr>
              <a:t>robots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rp</a:t>
            </a:r>
            <a:r>
              <a:rPr sz="1000" b="0" i="0">
                <a:solidFill>
                  <a:srgbClr val="E6EDF3"/>
                </a:solidFill>
                <a:latin typeface="Courier New"/>
              </a:rPr>
              <a:t>.</a:t>
            </a:r>
            <a:r>
              <a:rPr sz="1000" b="0" i="0">
                <a:solidFill>
                  <a:srgbClr val="E6EDF3"/>
                </a:solidFill>
                <a:latin typeface="Courier New"/>
              </a:rPr>
              <a:t>RobotFileParser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robots</a:t>
            </a:r>
            <a:r>
              <a:rPr sz="1000" b="0" i="0">
                <a:solidFill>
                  <a:srgbClr val="E6EDF3"/>
                </a:solidFill>
                <a:latin typeface="Courier New"/>
              </a:rPr>
              <a:t>.</a:t>
            </a:r>
            <a:r>
              <a:rPr sz="1000" b="0" i="0">
                <a:solidFill>
                  <a:srgbClr val="E6EDF3"/>
                </a:solidFill>
                <a:latin typeface="Courier New"/>
              </a:rPr>
              <a:t>parse</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'User-agent: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'Disallow: /simple/'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'Disallow: /account/'</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861304" y="786384"/>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A robots.txt file lists the paths that crawlers are asked not to fetch. RobotFileParser reads its lines, here given as a list.</a:t>
            </a:r>
          </a:p>
        </p:txBody>
      </p:sp>
      <p:sp>
        <p:nvSpPr>
          <p:cNvPr id="6" name="code"/>
          <p:cNvSpPr/>
          <p:nvPr/>
        </p:nvSpPr>
        <p:spPr>
          <a:xfrm>
            <a:off x="365760" y="1658620"/>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'/project/x/'</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'/simple/x/'</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'/account/login/'</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robots</a:t>
            </a:r>
            <a:r>
              <a:rPr sz="1000" b="0" i="0">
                <a:solidFill>
                  <a:srgbClr val="E6EDF3"/>
                </a:solidFill>
                <a:latin typeface="Courier New"/>
              </a:rPr>
              <a:t>.</a:t>
            </a:r>
            <a:r>
              <a:rPr sz="1000" b="0" i="0">
                <a:solidFill>
                  <a:srgbClr val="E6EDF3"/>
                </a:solidFill>
                <a:latin typeface="Courier New"/>
              </a:rPr>
              <a:t>can_fetch</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'https://pypi.org'</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path</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861304" y="1658620"/>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can_fetch answers True or False for a path. It is a request and not a lock: a polite program honours it.</a:t>
            </a:r>
          </a:p>
        </p:txBody>
      </p:sp>
      <p:sp>
        <p:nvSpPr>
          <p:cNvPr id="8" name="result label"/>
          <p:cNvSpPr txBox="1"/>
          <p:nvPr/>
        </p:nvSpPr>
        <p:spPr>
          <a:xfrm>
            <a:off x="365760" y="238366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657983"/>
          <a:ext cx="6056984" cy="1097280"/>
        </p:xfrm>
        <a:graphic>
          <a:graphicData uri="http://schemas.openxmlformats.org/drawingml/2006/table">
            <a:tbl>
              <a:tblPr firstRow="0" bandRow="0"/>
              <a:tblGrid>
                <a:gridCol w="2550309"/>
                <a:gridCol w="1062629"/>
                <a:gridCol w="2444046"/>
              </a:tblGrid>
              <a:tr h="274320">
                <a:tc>
                  <a:txBody>
                    <a:bodyPr wrap="square"/>
                    <a:lstStyle/>
                    <a:p>
                      <a:r>
                        <a:rPr sz="950" b="1" i="0">
                          <a:solidFill>
                            <a:srgbClr val="FFFFFF"/>
                          </a:solidFill>
                          <a:latin typeface="Calibri"/>
                        </a:rPr>
                        <a:t>Path asked for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can_fetch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Rule that decides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ourier New"/>
                        </a:rPr>
                        <a:t>/project/x/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950" b="0" i="0">
                          <a:solidFill>
                            <a:srgbClr val="1F2933"/>
                          </a:solidFill>
                          <a:latin typeface="Courier New"/>
                        </a:rPr>
                        <a:t>no rule matches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ourier New"/>
                        </a:rPr>
                        <a:t>/simple/x/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950" b="0" i="0">
                          <a:solidFill>
                            <a:srgbClr val="1F2933"/>
                          </a:solidFill>
                          <a:latin typeface="Courier New"/>
                        </a:rPr>
                        <a:t>Disallow: /simple/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ourier New"/>
                        </a:rPr>
                        <a:t>/account/login/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950" b="0" i="0">
                          <a:solidFill>
                            <a:srgbClr val="1F2933"/>
                          </a:solidFill>
                          <a:latin typeface="Courier New"/>
                        </a:rPr>
                        <a:t>Disallow: /account/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6759244" y="2657983"/>
            <a:ext cx="2018995"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robots.txt</a:t>
            </a:r>
          </a:p>
          <a:p>
            <a:pPr algn="ctr"/>
            <a:r>
              <a:rPr sz="950" b="0" i="0">
                <a:solidFill>
                  <a:srgbClr val="1F2933"/>
                </a:solidFill>
                <a:latin typeface="Calibri"/>
              </a:rPr>
              <a:t>of the site</a:t>
            </a:r>
          </a:p>
        </p:txBody>
      </p:sp>
      <p:cxnSp>
        <p:nvCxnSpPr>
          <p:cNvPr id="11" name="arrow"/>
          <p:cNvCxnSpPr/>
          <p:nvPr/>
        </p:nvCxnSpPr>
        <p:spPr>
          <a:xfrm>
            <a:off x="7768742" y="3133471"/>
            <a:ext cx="0" cy="301752"/>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759244" y="3453511"/>
            <a:ext cx="2018995"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request,</a:t>
            </a:r>
          </a:p>
          <a:p>
            <a:pPr algn="ctr"/>
            <a:r>
              <a:rPr sz="950" b="0" i="0">
                <a:solidFill>
                  <a:srgbClr val="1F2933"/>
                </a:solidFill>
                <a:latin typeface="Calibri"/>
              </a:rPr>
              <a:t>not a lock</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robots.txt is a request: honour it.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a courtesy file for robots, 30 June 1994</a:t>
            </a:r>
          </a:p>
        </p:txBody>
      </p:sp>
      <p:pic>
        <p:nvPicPr>
          <p:cNvPr id="4" name="photo koster" descr="Picture for the story: a courtesy file for robots, 30 June 1994"/>
          <p:cNvPicPr>
            <a:picLocks noChangeAspect="1"/>
          </p:cNvPicPr>
          <p:nvPr/>
        </p:nvPicPr>
        <p:blipFill>
          <a:blip r:embed="rId3"/>
          <a:stretch>
            <a:fillRect/>
          </a:stretch>
        </p:blipFill>
        <p:spPr>
          <a:xfrm>
            <a:off x="365760" y="869274"/>
            <a:ext cx="2651760" cy="2924891"/>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 real robots.txt (pypi.org), drawn for this deck. Not the 1994 file.</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Martijn Koster and the robot authors of the robots list.</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A Standard for Robot Exclusion: one file, /robots.txt, read first.</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Consensus of 30 June 1994; published as RFC 9309 in September 2022.</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robots mailing list at nexor.co.uk, then the whole Web.</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Some robots swamped servers, or wandered into scripts with side effects such as voting.</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A plain text file of paths. Nobody enforces it, so a polite program honours it.</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A Standard for Robot Exclusion (robotstxt.org)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 polite crawler waits between pages</a:t>
            </a:r>
          </a:p>
        </p:txBody>
      </p:sp>
      <p:sp>
        <p:nvSpPr>
          <p:cNvPr id="4" name="code"/>
          <p:cNvSpPr/>
          <p:nvPr/>
        </p:nvSpPr>
        <p:spPr>
          <a:xfrm>
            <a:off x="365760" y="786384"/>
            <a:ext cx="4370831"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urllib</a:t>
            </a:r>
            <a:r>
              <a:rPr sz="1000" b="0" i="0">
                <a:solidFill>
                  <a:srgbClr val="E6EDF3"/>
                </a:solidFill>
                <a:latin typeface="Courier New"/>
              </a:rPr>
              <a:t>.</a:t>
            </a:r>
            <a:r>
              <a:rPr sz="1000" b="0" i="0">
                <a:solidFill>
                  <a:srgbClr val="E6EDF3"/>
                </a:solidFill>
                <a:latin typeface="Courier New"/>
              </a:rPr>
              <a:t>robotparser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rp</a:t>
            </a:r>
          </a:p>
          <a:p>
            <a:pPr algn="l"/>
            <a:r>
              <a:rPr sz="1000" b="0" i="0">
                <a:solidFill>
                  <a:srgbClr val="8FA3B8"/>
                </a:solidFill>
                <a:latin typeface="Courier New"/>
              </a:rPr>
              <a:t>&gt;&gt;&gt; </a:t>
            </a:r>
            <a:r>
              <a:rPr sz="1000" b="0" i="0">
                <a:solidFill>
                  <a:srgbClr val="E6EDF3"/>
                </a:solidFill>
                <a:latin typeface="Courier New"/>
              </a:rPr>
              <a:t>robots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rp</a:t>
            </a:r>
            <a:r>
              <a:rPr sz="1000" b="0" i="0">
                <a:solidFill>
                  <a:srgbClr val="E6EDF3"/>
                </a:solidFill>
                <a:latin typeface="Courier New"/>
              </a:rPr>
              <a:t>.</a:t>
            </a:r>
            <a:r>
              <a:rPr sz="1000" b="0" i="0">
                <a:solidFill>
                  <a:srgbClr val="E6EDF3"/>
                </a:solidFill>
                <a:latin typeface="Courier New"/>
              </a:rPr>
              <a:t>RobotFileParser</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robots</a:t>
            </a:r>
            <a:r>
              <a:rPr sz="1000" b="0" i="0">
                <a:solidFill>
                  <a:srgbClr val="E6EDF3"/>
                </a:solidFill>
                <a:latin typeface="Courier New"/>
              </a:rPr>
              <a:t>.</a:t>
            </a:r>
            <a:r>
              <a:rPr sz="1000" b="0" i="0">
                <a:solidFill>
                  <a:srgbClr val="E6EDF3"/>
                </a:solidFill>
                <a:latin typeface="Courier New"/>
              </a:rPr>
              <a:t>parse</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'User-agent: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'Crawl-delay: 2'</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'Request-rate: 3/20'</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4718304" y="786384"/>
            <a:ext cx="4059935" cy="756920"/>
          </a:xfrm>
          <a:prstGeom prst="rect">
            <a:avLst/>
          </a:prstGeom>
          <a:noFill/>
        </p:spPr>
        <p:txBody>
          <a:bodyPr wrap="square" lIns="128016" rIns="128016" tIns="18288" bIns="18288" anchor="ctr">
            <a:spAutoFit/>
          </a:bodyPr>
          <a:lstStyle/>
          <a:p>
            <a:r>
              <a:rPr sz="1100" b="0" i="0">
                <a:solidFill>
                  <a:srgbClr val="1F2933"/>
                </a:solidFill>
                <a:latin typeface="Calibri"/>
              </a:rPr>
              <a:t>A site can state its own pace. Crawl-delay is the pause in seconds, and Request-rate is a number of pages per number of seconds.</a:t>
            </a:r>
          </a:p>
        </p:txBody>
      </p:sp>
      <p:sp>
        <p:nvSpPr>
          <p:cNvPr id="6" name="code"/>
          <p:cNvSpPr/>
          <p:nvPr/>
        </p:nvSpPr>
        <p:spPr>
          <a:xfrm>
            <a:off x="365760" y="1589023"/>
            <a:ext cx="4370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pause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robots</a:t>
            </a:r>
            <a:r>
              <a:rPr sz="1000" b="0" i="0">
                <a:solidFill>
                  <a:srgbClr val="E6EDF3"/>
                </a:solidFill>
                <a:latin typeface="Courier New"/>
              </a:rPr>
              <a:t>.</a:t>
            </a:r>
            <a:r>
              <a:rPr sz="1000" b="0" i="0">
                <a:solidFill>
                  <a:srgbClr val="E6EDF3"/>
                </a:solidFill>
                <a:latin typeface="Courier New"/>
              </a:rPr>
              <a:t>crawl_delay</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rate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robots</a:t>
            </a:r>
            <a:r>
              <a:rPr sz="1000" b="0" i="0">
                <a:solidFill>
                  <a:srgbClr val="E6EDF3"/>
                </a:solidFill>
                <a:latin typeface="Courier New"/>
              </a:rPr>
              <a:t>.</a:t>
            </a:r>
            <a:r>
              <a:rPr sz="1000" b="0" i="0">
                <a:solidFill>
                  <a:srgbClr val="E6EDF3"/>
                </a:solidFill>
                <a:latin typeface="Courier New"/>
              </a:rPr>
              <a:t>request_rate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'wait'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pause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'seconds; rate'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tuple</a:t>
            </a:r>
            <a:r>
              <a:rPr sz="1000" b="0" i="0">
                <a:solidFill>
                  <a:srgbClr val="E6EDF3"/>
                </a:solidFill>
                <a:latin typeface="Courier New"/>
              </a:rPr>
              <a:t>(</a:t>
            </a:r>
            <a:r>
              <a:rPr sz="1000" b="0" i="0">
                <a:solidFill>
                  <a:srgbClr val="E6EDF3"/>
                </a:solidFill>
                <a:latin typeface="Courier New"/>
              </a:rPr>
              <a:t>rate</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4718304" y="1589023"/>
            <a:ext cx="4059935" cy="651891"/>
          </a:xfrm>
          <a:prstGeom prst="rect">
            <a:avLst/>
          </a:prstGeom>
          <a:noFill/>
        </p:spPr>
        <p:txBody>
          <a:bodyPr wrap="square" lIns="128016" rIns="128016" tIns="18288" bIns="18288" anchor="ctr">
            <a:spAutoFit/>
          </a:bodyPr>
          <a:lstStyle/>
          <a:p>
            <a:r>
              <a:rPr sz="1100" b="0" i="0">
                <a:solidFill>
                  <a:srgbClr val="1F2933"/>
                </a:solidFill>
                <a:latin typeface="Calibri"/>
              </a:rPr>
              <a:t>The parser returns the numbers: a pause, and a rate of 3 pages per 20 seconds. The book's comic downloader sleeps one second for the same reason.</a:t>
            </a:r>
          </a:p>
        </p:txBody>
      </p:sp>
      <p:sp>
        <p:nvSpPr>
          <p:cNvPr id="8" name="code"/>
          <p:cNvSpPr/>
          <p:nvPr/>
        </p:nvSpPr>
        <p:spPr>
          <a:xfrm>
            <a:off x="365760" y="2286634"/>
            <a:ext cx="43708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clock</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zip</a:t>
            </a:r>
            <a:r>
              <a:rPr sz="1000" b="0" i="0">
                <a:solidFill>
                  <a:srgbClr val="E6EDF3"/>
                </a:solidFill>
                <a:latin typeface="Courier New"/>
              </a:rPr>
              <a:t>(</a:t>
            </a:r>
            <a:r>
              <a:rPr sz="1000" b="0" i="0">
                <a:solidFill>
                  <a:srgbClr val="9BE3A8"/>
                </a:solidFill>
                <a:latin typeface="Courier New"/>
              </a:rPr>
              <a:t>'abc'</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range</a:t>
            </a:r>
            <a:r>
              <a:rPr sz="1000" b="0" i="0">
                <a:solidFill>
                  <a:srgbClr val="E6EDF3"/>
                </a:solidFill>
                <a:latin typeface="Courier New"/>
              </a:rPr>
              <a:t>(</a:t>
            </a:r>
            <a:r>
              <a:rPr sz="1000" b="0" i="0">
                <a:solidFill>
                  <a:srgbClr val="7CC4FF"/>
                </a:solidFill>
                <a:latin typeface="Courier New"/>
              </a:rPr>
              <a:t>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6</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pause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clock</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'fetch page'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page</a:t>
            </a:r>
            <a:r>
              <a:rPr sz="1000" b="0" i="0">
                <a:solidFill>
                  <a:srgbClr val="E6EDF3"/>
                </a:solidFill>
                <a:latin typeface="Courier New"/>
              </a:rPr>
              <a:t>)</a:t>
            </a:r>
          </a:p>
        </p:txBody>
      </p:sp>
      <p:sp>
        <p:nvSpPr>
          <p:cNvPr id="9" name="explanation"/>
          <p:cNvSpPr txBox="1"/>
          <p:nvPr/>
        </p:nvSpPr>
        <p:spPr>
          <a:xfrm>
            <a:off x="4718304" y="2286634"/>
            <a:ext cx="4059935" cy="477266"/>
          </a:xfrm>
          <a:prstGeom prst="rect">
            <a:avLst/>
          </a:prstGeom>
          <a:noFill/>
        </p:spPr>
        <p:txBody>
          <a:bodyPr wrap="square" lIns="128016" rIns="128016" tIns="18288" bIns="18288" anchor="ctr">
            <a:spAutoFit/>
          </a:bodyPr>
          <a:lstStyle/>
          <a:p>
            <a:r>
              <a:rPr sz="1100" b="0" i="0">
                <a:solidFill>
                  <a:srgbClr val="1F2933"/>
                </a:solidFill>
                <a:latin typeface="Calibri"/>
              </a:rPr>
              <a:t>A fake clock shows the schedule without really waiting: one fetch, then a pause of two seconds.</a:t>
            </a:r>
          </a:p>
        </p:txBody>
      </p:sp>
      <p:sp>
        <p:nvSpPr>
          <p:cNvPr id="10" name="result label"/>
          <p:cNvSpPr txBox="1"/>
          <p:nvPr/>
        </p:nvSpPr>
        <p:spPr>
          <a:xfrm>
            <a:off x="365760" y="283705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11373"/>
          <a:ext cx="4206239" cy="932688"/>
        </p:xfrm>
        <a:graphic>
          <a:graphicData uri="http://schemas.openxmlformats.org/drawingml/2006/table">
            <a:tbl>
              <a:tblPr firstRow="0" bandRow="0"/>
              <a:tblGrid>
                <a:gridCol w="1997963"/>
                <a:gridCol w="2208276"/>
              </a:tblGrid>
              <a:tr h="310896">
                <a:tc>
                  <a:txBody>
                    <a:bodyPr wrap="square"/>
                    <a:lstStyle/>
                    <a:p>
                      <a:r>
                        <a:rPr sz="950" b="1" i="0">
                          <a:solidFill>
                            <a:srgbClr val="FFFFFF"/>
                          </a:solidFill>
                          <a:latin typeface="Calibri"/>
                        </a:rPr>
                        <a:t>Setting in robots.txt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The parser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50" b="0" i="0">
                          <a:solidFill>
                            <a:srgbClr val="1F2933"/>
                          </a:solidFill>
                          <a:latin typeface="Courier New"/>
                        </a:rPr>
                        <a:t>Crawl-delay: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wait 2 seconds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50" b="0" i="0">
                          <a:solidFill>
                            <a:srgbClr val="1F2933"/>
                          </a:solidFill>
                          <a:latin typeface="Courier New"/>
                        </a:rPr>
                        <a:t>Request-rate: 3/20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3 pages per 20 seconds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visual note"/>
          <p:cNvSpPr txBox="1"/>
          <p:nvPr/>
        </p:nvSpPr>
        <p:spPr>
          <a:xfrm>
            <a:off x="365760" y="4117213"/>
            <a:ext cx="4206240" cy="219456"/>
          </a:xfrm>
          <a:prstGeom prst="rect">
            <a:avLst/>
          </a:prstGeom>
          <a:noFill/>
        </p:spPr>
        <p:txBody>
          <a:bodyPr wrap="square" lIns="45720" rIns="45720" tIns="27432" bIns="27432" anchor="t">
            <a:spAutoFit/>
          </a:bodyPr>
          <a:lstStyle/>
          <a:p>
            <a:r>
              <a:rPr sz="950" b="0" i="1">
                <a:solidFill>
                  <a:srgbClr val="5B6773"/>
                </a:solidFill>
                <a:latin typeface="Calibri"/>
              </a:rPr>
              <a:t>the fake clock, one pause between pages</a:t>
            </a:r>
          </a:p>
        </p:txBody>
      </p:sp>
      <p:sp>
        <p:nvSpPr>
          <p:cNvPr id="13" name="TextBox 12"/>
          <p:cNvSpPr txBox="1"/>
          <p:nvPr/>
        </p:nvSpPr>
        <p:spPr>
          <a:xfrm>
            <a:off x="4908499" y="3093085"/>
            <a:ext cx="3869740" cy="201168"/>
          </a:xfrm>
          <a:prstGeom prst="rect">
            <a:avLst/>
          </a:prstGeom>
          <a:noFill/>
        </p:spPr>
        <p:txBody>
          <a:bodyPr wrap="square" lIns="45720" rIns="45720" tIns="27432" bIns="27432" anchor="t">
            <a:spAutoFit/>
          </a:bodyPr>
          <a:lstStyle/>
          <a:p>
            <a:r>
              <a:rPr sz="950" b="0" i="1">
                <a:solidFill>
                  <a:srgbClr val="5B6773"/>
                </a:solidFill>
                <a:latin typeface="Calibri"/>
              </a:rPr>
              <a:t>second of each fetch</a:t>
            </a:r>
          </a:p>
        </p:txBody>
      </p:sp>
      <p:graphicFrame>
        <p:nvGraphicFramePr>
          <p:cNvPr id="14" name="chart"/>
          <p:cNvGraphicFramePr>
            <a:graphicFrameLocks noGrp="1"/>
          </p:cNvGraphicFramePr>
          <p:nvPr/>
        </p:nvGraphicFramePr>
        <p:xfrm>
          <a:off x="4908499" y="3294253"/>
          <a:ext cx="3869740" cy="1314323"/>
        </p:xfrm>
        <a:graphic>
          <a:graphicData uri="http://schemas.openxmlformats.org/drawingml/2006/chart">
            <c:chart xmlns:c="http://schemas.openxmlformats.org/drawingml/2006/chart" r:id="rId3"/>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Wait between pages; the site may say how long.</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the first spider counted 130 sites, 1993</a:t>
            </a:r>
          </a:p>
        </p:txBody>
      </p:sp>
      <p:pic>
        <p:nvPicPr>
          <p:cNvPr id="4" name="photo gray" descr="Picture for the story: the first spider counted 130 sites, 1993"/>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first Web server (CERN), not Gray's machine. Photo: asvensson, CC BY 2.0, Flickr.</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Matthew Gray, at the Massachusetts Institute of Technology (MIT).</a:t>
            </a:r>
          </a:p>
        </p:txBody>
      </p:sp>
      <p:sp>
        <p:nvSpPr>
          <p:cNvPr id="8" name="card"/>
          <p:cNvSpPr/>
          <p:nvPr/>
        </p:nvSpPr>
        <p:spPr>
          <a:xfrm>
            <a:off x="3200400" y="146304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The World Wide Web Wanderer, by his account the first automated Web agent, or spider.</a:t>
            </a:r>
          </a:p>
        </p:txBody>
      </p:sp>
      <p:sp>
        <p:nvSpPr>
          <p:cNvPr id="10" name="card"/>
          <p:cNvSpPr/>
          <p:nvPr/>
        </p:nvSpPr>
        <p:spPr>
          <a:xfrm>
            <a:off x="3200400" y="208483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208483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Written in spring 1993; traversals ran from June 1993 to January 1996.</a:t>
            </a:r>
          </a:p>
        </p:txBody>
      </p:sp>
      <p:sp>
        <p:nvSpPr>
          <p:cNvPr id="12" name="card"/>
          <p:cNvSpPr/>
          <p:nvPr/>
        </p:nvSpPr>
        <p:spPr>
          <a:xfrm>
            <a:off x="3200400" y="270662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706624"/>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MIT; his reports are still online at mit.edu.</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At first to find new sites; as the Web grew, to chart its growth.</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Fetch a page, find its links, follow them, repeat. It counted 130 sites in June 1993 and 100,000 by January 1996.</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Internet Growth and Statistics: Credits and Background (MIT)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2: Opening and downloading</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Show a page to a person, or fetch it into the program and check the reply</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webbrowser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Opens a page in your own browser and reads nothing.</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requests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Downloads a page or a file into the program.</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raise_for_status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Stops the program when the reply is a failure.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iter_content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Saves a big download in small chunks.</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opening a page with we...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Everyday pictures: downloading with reque...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webbrowser.open asks your own browser to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6: a map address from the command...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Fetching a page: the reply has a type and...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Requests, conceived in frustration...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raise_for_status stops the program on 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iter_content: save a download in chunks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opening a page with webbrowser</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The webbrowser module is a doorman: he opens the door to a page and never tells you what is inside.</a:t>
            </a:r>
          </a:p>
        </p:txBody>
      </p:sp>
      <p:graphicFrame>
        <p:nvGraphicFramePr>
          <p:cNvPr id="6" name="table"/>
          <p:cNvGraphicFramePr>
            <a:graphicFrameLocks noGrp="1"/>
          </p:cNvGraphicFramePr>
          <p:nvPr/>
        </p:nvGraphicFramePr>
        <p:xfrm>
          <a:off x="365760" y="1417320"/>
          <a:ext cx="8412480" cy="1828800"/>
        </p:xfrm>
        <a:graphic>
          <a:graphicData uri="http://schemas.openxmlformats.org/drawingml/2006/table">
            <a:tbl>
              <a:tblPr firstRow="0" bandRow="0"/>
              <a:tblGrid>
                <a:gridCol w="3566160"/>
                <a:gridCol w="48463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webbrowser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doorman who opens the door for you and stays silent about the room.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webbrowser.open()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Pressing a doorbell once: your own browser opens the page and the call returns.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Project 6: Run a Program with the webbrowser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map shortcut on a phone: say the address once and the map opens.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downloading with requests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requests is a courier: it fetches the parcel and tells you whether it arrived.</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566160"/>
                <a:gridCol w="48463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Downloading Files from the Web with the requests Module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courier who brings a parcel to your door and writes the delivery on a slip.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requests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courier company: you hand over an address, it handles the roads.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requests.get()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Ordering one parcel: one address goes in, one parcel and a slip come 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raise_for_status()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Reading the delivery slip: a damaged parcel stops you from unpacking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iter_content()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Unloading a lorry box by box, not tipping the whole load on the floor.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webbrowser.open asks your own browser to show a page</a:t>
            </a:r>
          </a:p>
        </p:txBody>
      </p:sp>
      <p:sp>
        <p:nvSpPr>
          <p:cNvPr id="4" name="code"/>
          <p:cNvSpPr/>
          <p:nvPr/>
        </p:nvSpPr>
        <p:spPr>
          <a:xfrm>
            <a:off x="365760" y="786384"/>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webbrowser</a:t>
            </a:r>
          </a:p>
          <a:p>
            <a:pPr algn="l"/>
            <a:r>
              <a:rPr sz="1100" b="0" i="0">
                <a:solidFill>
                  <a:srgbClr val="8FA3B8"/>
                </a:solidFill>
                <a:latin typeface="Courier New"/>
              </a:rPr>
              <a:t>&gt;&gt;&gt; </a:t>
            </a:r>
            <a:r>
              <a:rPr sz="1100" b="0" i="0">
                <a:solidFill>
                  <a:srgbClr val="E6EDF3"/>
                </a:solidFill>
                <a:latin typeface="Courier New"/>
              </a:rPr>
              <a:t>opened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webbrowser</a:t>
            </a:r>
            <a:r>
              <a:rPr sz="1100" b="0" i="0">
                <a:solidFill>
                  <a:srgbClr val="E6EDF3"/>
                </a:solidFill>
                <a:latin typeface="Courier New"/>
              </a:rPr>
              <a:t>.</a:t>
            </a:r>
            <a:r>
              <a:rPr sz="1100" b="0" i="0">
                <a:solidFill>
                  <a:srgbClr val="E6EDF3"/>
                </a:solidFill>
                <a:latin typeface="Courier New"/>
              </a:rPr>
              <a:t>open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lambda</a:t>
            </a:r>
            <a:r>
              <a:rPr sz="1100" b="0" i="0">
                <a:solidFill>
                  <a:srgbClr val="E6EDF3"/>
                </a:solidFill>
                <a:latin typeface="Courier New"/>
              </a:rPr>
              <a:t> </a:t>
            </a:r>
            <a:r>
              <a:rPr sz="1100" b="0" i="0">
                <a:solidFill>
                  <a:srgbClr val="E6EDF3"/>
                </a:solidFill>
                <a:latin typeface="Courier New"/>
              </a:rPr>
              <a:t>url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opened</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url</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or</a:t>
            </a:r>
            <a:r>
              <a:rPr sz="1100" b="0" i="0">
                <a:solidFill>
                  <a:srgbClr val="E6EDF3"/>
                </a:solidFill>
                <a:latin typeface="Courier New"/>
              </a:rPr>
              <a:t> </a:t>
            </a:r>
            <a:r>
              <a:rPr sz="1100" b="0" i="0">
                <a:solidFill>
                  <a:srgbClr val="E6EDF3"/>
                </a:solidFill>
                <a:latin typeface="Courier New"/>
              </a:rPr>
              <a:t>True</a:t>
            </a:r>
          </a:p>
        </p:txBody>
      </p:sp>
      <p:sp>
        <p:nvSpPr>
          <p:cNvPr id="5" name="explanation"/>
          <p:cNvSpPr txBox="1"/>
          <p:nvPr/>
        </p:nvSpPr>
        <p:spPr>
          <a:xfrm>
            <a:off x="5632704" y="786384"/>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The real open starts your default browser. On this page a stand-in only records the address, so that no window opens.</a:t>
            </a:r>
          </a:p>
        </p:txBody>
      </p:sp>
      <p:sp>
        <p:nvSpPr>
          <p:cNvPr id="6" name="code"/>
          <p:cNvSpPr/>
          <p:nvPr/>
        </p:nvSpPr>
        <p:spPr>
          <a:xfrm>
            <a:off x="365760" y="1722120"/>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webbrowser</a:t>
            </a:r>
            <a:r>
              <a:rPr sz="1100" b="0" i="0">
                <a:solidFill>
                  <a:srgbClr val="E6EDF3"/>
                </a:solidFill>
                <a:latin typeface="Courier New"/>
              </a:rPr>
              <a:t>.</a:t>
            </a:r>
            <a:r>
              <a:rPr sz="1100" b="0" i="0">
                <a:solidFill>
                  <a:srgbClr val="E6EDF3"/>
                </a:solidFill>
                <a:latin typeface="Courier New"/>
              </a:rPr>
              <a:t>open</a:t>
            </a:r>
            <a:r>
              <a:rPr sz="1100" b="0" i="0">
                <a:solidFill>
                  <a:srgbClr val="E6EDF3"/>
                </a:solidFill>
                <a:latin typeface="Courier New"/>
              </a:rPr>
              <a:t>(</a:t>
            </a:r>
            <a:r>
              <a:rPr sz="1100" b="0" i="0">
                <a:solidFill>
                  <a:srgbClr val="9BE3A8"/>
                </a:solidFill>
                <a:latin typeface="Courier New"/>
              </a:rPr>
              <a:t>'https://inventwithpython.com/'</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opened</a:t>
            </a:r>
            <a:r>
              <a:rPr sz="1100" b="0" i="0">
                <a:solidFill>
                  <a:srgbClr val="E6EDF3"/>
                </a:solidFill>
                <a:latin typeface="Courier New"/>
              </a:rPr>
              <a:t>)</a:t>
            </a:r>
          </a:p>
        </p:txBody>
      </p:sp>
      <p:sp>
        <p:nvSpPr>
          <p:cNvPr id="7" name="explanation"/>
          <p:cNvSpPr txBox="1"/>
          <p:nvPr/>
        </p:nvSpPr>
        <p:spPr>
          <a:xfrm>
            <a:off x="5632704" y="1722120"/>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open returns True when a browser was started. The program cannot read the page: it only points the browser at it.</a:t>
            </a:r>
          </a:p>
        </p:txBody>
      </p:sp>
      <p:sp>
        <p:nvSpPr>
          <p:cNvPr id="8" name="result label"/>
          <p:cNvSpPr txBox="1"/>
          <p:nvPr/>
        </p:nvSpPr>
        <p:spPr>
          <a:xfrm>
            <a:off x="365760" y="2685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959608"/>
            <a:ext cx="2468879" cy="5029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your program</a:t>
            </a:r>
          </a:p>
        </p:txBody>
      </p:sp>
      <p:cxnSp>
        <p:nvCxnSpPr>
          <p:cNvPr id="10" name="arrow"/>
          <p:cNvCxnSpPr/>
          <p:nvPr/>
        </p:nvCxnSpPr>
        <p:spPr>
          <a:xfrm>
            <a:off x="2852927" y="3211068"/>
            <a:ext cx="46634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37560" y="2959608"/>
            <a:ext cx="2468879" cy="5029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webbrowser.open(url)</a:t>
            </a:r>
          </a:p>
        </p:txBody>
      </p:sp>
      <p:cxnSp>
        <p:nvCxnSpPr>
          <p:cNvPr id="12" name="arrow"/>
          <p:cNvCxnSpPr/>
          <p:nvPr/>
        </p:nvCxnSpPr>
        <p:spPr>
          <a:xfrm>
            <a:off x="5824727" y="3211068"/>
            <a:ext cx="4663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309360" y="2959608"/>
            <a:ext cx="2468879" cy="5029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your own browser</a:t>
            </a:r>
          </a:p>
          <a:p>
            <a:pPr algn="ctr"/>
            <a:r>
              <a:rPr sz="1000" b="0" i="0">
                <a:solidFill>
                  <a:srgbClr val="1F2933"/>
                </a:solidFill>
                <a:latin typeface="Calibri"/>
              </a:rPr>
              <a:t>shows the page</a:t>
            </a:r>
          </a:p>
        </p:txBody>
      </p:sp>
      <p:sp>
        <p:nvSpPr>
          <p:cNvPr id="14" name="Rounded Rectangle 13"/>
          <p:cNvSpPr/>
          <p:nvPr/>
        </p:nvSpPr>
        <p:spPr>
          <a:xfrm>
            <a:off x="365760" y="3691128"/>
            <a:ext cx="2194560" cy="292608"/>
          </a:xfrm>
          <a:prstGeom prst="roundRect">
            <a:avLst>
              <a:gd name="adj" fmla="val 15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open returned True</a:t>
            </a:r>
          </a:p>
        </p:txBody>
      </p:sp>
      <p:sp>
        <p:nvSpPr>
          <p:cNvPr id="15" name="Rounded Rectangle 14"/>
          <p:cNvSpPr/>
          <p:nvPr/>
        </p:nvSpPr>
        <p:spPr>
          <a:xfrm>
            <a:off x="2697479" y="3691128"/>
            <a:ext cx="6080759" cy="292608"/>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the recorder holds ['https://inventwithpython.com/']</a:t>
            </a:r>
          </a:p>
        </p:txBody>
      </p:sp>
      <p:sp>
        <p:nvSpPr>
          <p:cNvPr id="16" name="visual note"/>
          <p:cNvSpPr txBox="1"/>
          <p:nvPr/>
        </p:nvSpPr>
        <p:spPr>
          <a:xfrm>
            <a:off x="365760" y="4011168"/>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program learns nothing about the page itself</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shows a page; it cannot read it.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6: a map address from the command line</a:t>
            </a:r>
          </a:p>
        </p:txBody>
      </p:sp>
      <p:sp>
        <p:nvSpPr>
          <p:cNvPr id="4" name="code"/>
          <p:cNvSpPr/>
          <p:nvPr/>
        </p:nvSpPr>
        <p:spPr>
          <a:xfrm>
            <a:off x="365760" y="786384"/>
            <a:ext cx="555955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from</a:t>
            </a:r>
            <a:r>
              <a:rPr sz="1200" b="0" i="0">
                <a:solidFill>
                  <a:srgbClr val="E6EDF3"/>
                </a:solidFill>
                <a:latin typeface="Courier New"/>
              </a:rPr>
              <a:t> </a:t>
            </a:r>
            <a:r>
              <a:rPr sz="1200" b="0" i="0">
                <a:solidFill>
                  <a:srgbClr val="E6EDF3"/>
                </a:solidFill>
                <a:latin typeface="Courier New"/>
              </a:rPr>
              <a:t>urllib</a:t>
            </a:r>
            <a:r>
              <a:rPr sz="1200" b="0" i="0">
                <a:solidFill>
                  <a:srgbClr val="E6EDF3"/>
                </a:solidFill>
                <a:latin typeface="Courier New"/>
              </a:rPr>
              <a:t>.</a:t>
            </a:r>
            <a:r>
              <a:rPr sz="1200" b="0" i="0">
                <a:solidFill>
                  <a:srgbClr val="E6EDF3"/>
                </a:solidFill>
                <a:latin typeface="Courier New"/>
              </a:rPr>
              <a:t>parse</a:t>
            </a:r>
            <a:r>
              <a:rPr sz="1200" b="0" i="0">
                <a:solidFill>
                  <a:srgbClr val="E6EDF3"/>
                </a:solidFill>
                <a:latin typeface="Courier New"/>
              </a:rPr>
              <a: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quote</a:t>
            </a:r>
          </a:p>
          <a:p>
            <a:pPr algn="l"/>
            <a:r>
              <a:rPr sz="1200" b="0" i="0">
                <a:solidFill>
                  <a:srgbClr val="8FA3B8"/>
                </a:solidFill>
                <a:latin typeface="Courier New"/>
              </a:rPr>
              <a:t>&gt;&gt;&gt; </a:t>
            </a:r>
            <a:r>
              <a:rPr sz="1200" b="0" i="0">
                <a:solidFill>
                  <a:srgbClr val="E6EDF3"/>
                </a:solidFill>
                <a:latin typeface="Courier New"/>
              </a:rPr>
              <a:t>argv</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'showmap.py'</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'777'</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'Valencia'</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'St,'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9BE3A8"/>
                </a:solidFill>
                <a:latin typeface="Courier New"/>
              </a:rPr>
              <a:t>'San'</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'Francisco,'</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'CA'</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'94110'</a:t>
            </a:r>
            <a:r>
              <a:rPr sz="1200" b="0" i="0">
                <a:solidFill>
                  <a:srgbClr val="E6EDF3"/>
                </a:solidFill>
                <a:latin typeface="Courier New"/>
              </a:rPr>
              <a:t>]</a:t>
            </a:r>
          </a:p>
        </p:txBody>
      </p:sp>
      <p:sp>
        <p:nvSpPr>
          <p:cNvPr id="5" name="explanation"/>
          <p:cNvSpPr txBox="1"/>
          <p:nvPr/>
        </p:nvSpPr>
        <p:spPr>
          <a:xfrm>
            <a:off x="5907024" y="786384"/>
            <a:ext cx="2871216" cy="921765"/>
          </a:xfrm>
          <a:prstGeom prst="rect">
            <a:avLst/>
          </a:prstGeom>
          <a:noFill/>
        </p:spPr>
        <p:txBody>
          <a:bodyPr wrap="square" lIns="128016" rIns="128016" tIns="18288" bIns="18288" anchor="ctr">
            <a:spAutoFit/>
          </a:bodyPr>
          <a:lstStyle/>
          <a:p>
            <a:r>
              <a:rPr sz="1250" b="0" i="0">
                <a:solidFill>
                  <a:srgbClr val="1F2933"/>
                </a:solidFill>
                <a:latin typeface="Calibri"/>
              </a:rPr>
              <a:t>sys.argv holds the words typed after python, with the script name first. Here the list is typed in by hand.</a:t>
            </a:r>
          </a:p>
        </p:txBody>
      </p:sp>
      <p:sp>
        <p:nvSpPr>
          <p:cNvPr id="6" name="code"/>
          <p:cNvSpPr/>
          <p:nvPr/>
        </p:nvSpPr>
        <p:spPr>
          <a:xfrm>
            <a:off x="365760" y="1753870"/>
            <a:ext cx="5559551" cy="112020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address</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 '</a:t>
            </a:r>
            <a:r>
              <a:rPr sz="1200" b="0" i="0">
                <a:solidFill>
                  <a:srgbClr val="E6EDF3"/>
                </a:solidFill>
                <a:latin typeface="Courier New"/>
              </a:rPr>
              <a:t>.</a:t>
            </a:r>
            <a:r>
              <a:rPr sz="1200" b="0" i="0">
                <a:solidFill>
                  <a:srgbClr val="E6EDF3"/>
                </a:solidFill>
                <a:latin typeface="Courier New"/>
              </a:rPr>
              <a:t>join</a:t>
            </a:r>
            <a:r>
              <a:rPr sz="1200" b="0" i="0">
                <a:solidFill>
                  <a:srgbClr val="E6EDF3"/>
                </a:solidFill>
                <a:latin typeface="Courier New"/>
              </a:rPr>
              <a:t>(</a:t>
            </a:r>
            <a:r>
              <a:rPr sz="1200" b="0" i="0">
                <a:solidFill>
                  <a:srgbClr val="E6EDF3"/>
                </a:solidFill>
                <a:latin typeface="Courier New"/>
              </a:rPr>
              <a:t>argv</a:t>
            </a:r>
            <a:r>
              <a:rPr sz="1200" b="0" i="0">
                <a:solidFill>
                  <a:srgbClr val="E6EDF3"/>
                </a:solidFill>
                <a:latin typeface="Courier New"/>
              </a:rPr>
              <a:t>[</a:t>
            </a:r>
            <a:r>
              <a:rPr sz="1200" b="0" i="0">
                <a:solidFill>
                  <a:srgbClr val="7CC4FF"/>
                </a:solidFill>
                <a:latin typeface="Courier New"/>
              </a:rPr>
              <a:t>1</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search</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'https://www.openstreetmap.org/search?query='</a:t>
            </a:r>
          </a:p>
          <a:p>
            <a:pPr algn="l"/>
            <a:r>
              <a:rPr sz="1200" b="0" i="0">
                <a:solidFill>
                  <a:srgbClr val="8FA3B8"/>
                </a:solidFill>
                <a:latin typeface="Courier New"/>
              </a:rPr>
              <a:t>&gt;&gt;&gt; </a:t>
            </a:r>
            <a:r>
              <a:rPr sz="1200" b="0" i="0">
                <a:solidFill>
                  <a:srgbClr val="E6EDF3"/>
                </a:solidFill>
                <a:latin typeface="Courier New"/>
              </a:rPr>
              <a:t>url</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search</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quote</a:t>
            </a:r>
            <a:r>
              <a:rPr sz="1200" b="0" i="0">
                <a:solidFill>
                  <a:srgbClr val="E6EDF3"/>
                </a:solidFill>
                <a:latin typeface="Courier New"/>
              </a:rPr>
              <a:t>(</a:t>
            </a:r>
            <a:r>
              <a:rPr sz="1200" b="0" i="0">
                <a:solidFill>
                  <a:srgbClr val="E6EDF3"/>
                </a:solidFill>
                <a:latin typeface="Courier New"/>
              </a:rPr>
              <a:t>address</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address</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url</a:t>
            </a:r>
            <a:r>
              <a:rPr sz="1200" b="0" i="0">
                <a:solidFill>
                  <a:srgbClr val="E6EDF3"/>
                </a:solidFill>
                <a:latin typeface="Courier New"/>
              </a:rPr>
              <a:t>)</a:t>
            </a:r>
          </a:p>
        </p:txBody>
      </p:sp>
      <p:sp>
        <p:nvSpPr>
          <p:cNvPr id="7" name="explanation"/>
          <p:cNvSpPr txBox="1"/>
          <p:nvPr/>
        </p:nvSpPr>
        <p:spPr>
          <a:xfrm>
            <a:off x="5907024" y="1753870"/>
            <a:ext cx="2871216" cy="1120203"/>
          </a:xfrm>
          <a:prstGeom prst="rect">
            <a:avLst/>
          </a:prstGeom>
          <a:noFill/>
        </p:spPr>
        <p:txBody>
          <a:bodyPr wrap="square" lIns="128016" rIns="128016" tIns="18288" bIns="18288" anchor="ctr">
            <a:spAutoFit/>
          </a:bodyPr>
          <a:lstStyle/>
          <a:p>
            <a:r>
              <a:rPr sz="1250" b="0" i="0">
                <a:solidFill>
                  <a:srgbClr val="1F2933"/>
                </a:solidFill>
                <a:latin typeface="Calibri"/>
              </a:rPr>
              <a:t>Join the words after the script name, percent-encode them and add them to the search address. webbrowser.open would show it.</a:t>
            </a:r>
          </a:p>
        </p:txBody>
      </p:sp>
      <p:sp>
        <p:nvSpPr>
          <p:cNvPr id="8" name="result label"/>
          <p:cNvSpPr txBox="1"/>
          <p:nvPr/>
        </p:nvSpPr>
        <p:spPr>
          <a:xfrm>
            <a:off x="365760" y="294722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221545"/>
            <a:ext cx="1883663" cy="54864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argv</a:t>
            </a:r>
          </a:p>
          <a:p>
            <a:pPr algn="ctr"/>
            <a:r>
              <a:rPr sz="900" b="0" i="0">
                <a:solidFill>
                  <a:srgbClr val="1F2933"/>
                </a:solidFill>
                <a:latin typeface="Calibri"/>
              </a:rPr>
              <a:t>8 words</a:t>
            </a:r>
          </a:p>
        </p:txBody>
      </p:sp>
      <p:cxnSp>
        <p:nvCxnSpPr>
          <p:cNvPr id="10" name="arrow"/>
          <p:cNvCxnSpPr/>
          <p:nvPr/>
        </p:nvCxnSpPr>
        <p:spPr>
          <a:xfrm>
            <a:off x="2267711" y="3495865"/>
            <a:ext cx="256032"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542031" y="3221545"/>
            <a:ext cx="1883663" cy="5486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join argv[1:]</a:t>
            </a:r>
          </a:p>
          <a:p>
            <a:pPr algn="ctr"/>
            <a:r>
              <a:rPr sz="900" b="0" i="0">
                <a:solidFill>
                  <a:srgbClr val="1F2933"/>
                </a:solidFill>
                <a:latin typeface="Calibri"/>
              </a:rPr>
              <a:t>'777 Valencia St, San ...'</a:t>
            </a:r>
          </a:p>
        </p:txBody>
      </p:sp>
      <p:cxnSp>
        <p:nvCxnSpPr>
          <p:cNvPr id="12" name="arrow"/>
          <p:cNvCxnSpPr/>
          <p:nvPr/>
        </p:nvCxnSpPr>
        <p:spPr>
          <a:xfrm>
            <a:off x="4443983" y="3495865"/>
            <a:ext cx="256033"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718303" y="3221545"/>
            <a:ext cx="1883663" cy="54864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quote(address)</a:t>
            </a:r>
          </a:p>
          <a:p>
            <a:pPr algn="ctr"/>
            <a:r>
              <a:rPr sz="900" b="0" i="0">
                <a:solidFill>
                  <a:srgbClr val="1F2933"/>
                </a:solidFill>
                <a:latin typeface="Calibri"/>
              </a:rPr>
              <a:t>56 characters</a:t>
            </a:r>
          </a:p>
        </p:txBody>
      </p:sp>
      <p:cxnSp>
        <p:nvCxnSpPr>
          <p:cNvPr id="14" name="arrow"/>
          <p:cNvCxnSpPr/>
          <p:nvPr/>
        </p:nvCxnSpPr>
        <p:spPr>
          <a:xfrm>
            <a:off x="6620255" y="3495865"/>
            <a:ext cx="256033"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894575" y="3221545"/>
            <a:ext cx="1883663" cy="54864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search address</a:t>
            </a:r>
          </a:p>
          <a:p>
            <a:pPr algn="ctr"/>
            <a:r>
              <a:rPr sz="900" b="0" i="0">
                <a:solidFill>
                  <a:srgbClr val="1F2933"/>
                </a:solidFill>
                <a:latin typeface="Calibri"/>
              </a:rPr>
              <a:t>sent to the browser</a:t>
            </a:r>
          </a:p>
        </p:txBody>
      </p:sp>
      <p:sp>
        <p:nvSpPr>
          <p:cNvPr id="16" name="url"/>
          <p:cNvSpPr txBox="1"/>
          <p:nvPr/>
        </p:nvSpPr>
        <p:spPr>
          <a:xfrm>
            <a:off x="365760" y="3907345"/>
            <a:ext cx="8412480" cy="457200"/>
          </a:xfrm>
          <a:prstGeom prst="rect">
            <a:avLst/>
          </a:prstGeom>
          <a:noFill/>
        </p:spPr>
        <p:txBody>
          <a:bodyPr wrap="square" lIns="45720" rIns="45720" tIns="27432" bIns="27432" anchor="t">
            <a:spAutoFit/>
          </a:bodyPr>
          <a:lstStyle/>
          <a:p>
            <a:r>
              <a:rPr sz="950" b="0" i="0">
                <a:solidFill>
                  <a:srgbClr val="1F2933"/>
                </a:solidFill>
                <a:latin typeface="Courier New"/>
              </a:rPr>
              <a:t>https://www.openstreetmap.org/search?query=777%20Valencia%20St%2C%20San%20Francisco%2C%20CA%2094110</a:t>
            </a:r>
          </a:p>
        </p:txBody>
      </p:sp>
      <p:sp>
        <p:nvSpPr>
          <p:cNvPr id="17" name="visual note"/>
          <p:cNvSpPr txBox="1"/>
          <p:nvPr/>
        </p:nvSpPr>
        <p:spPr>
          <a:xfrm>
            <a:off x="365760" y="4318825"/>
            <a:ext cx="8412480" cy="219456"/>
          </a:xfrm>
          <a:prstGeom prst="rect">
            <a:avLst/>
          </a:prstGeom>
          <a:noFill/>
        </p:spPr>
        <p:txBody>
          <a:bodyPr wrap="square" lIns="45720" rIns="45720" tIns="27432" bIns="27432" anchor="t">
            <a:spAutoFit/>
          </a:bodyPr>
          <a:lstStyle/>
          <a:p>
            <a:r>
              <a:rPr sz="950" b="0" i="1">
                <a:solidFill>
                  <a:srgbClr val="5B6773"/>
                </a:solidFill>
                <a:latin typeface="Calibri"/>
              </a:rPr>
              <a:t>webbrowser.open(url) would now show the map</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Join the words, quote them, open the address.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Fetching a page: the reply has a type and a body</a:t>
            </a:r>
          </a:p>
        </p:txBody>
      </p:sp>
      <p:sp>
        <p:nvSpPr>
          <p:cNvPr id="4" name="code"/>
          <p:cNvSpPr/>
          <p:nvPr/>
        </p:nvSpPr>
        <p:spPr>
          <a:xfrm>
            <a:off x="365760" y="786384"/>
            <a:ext cx="5201411" cy="1080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from</a:t>
            </a:r>
            <a:r>
              <a:rPr sz="1100" b="0" i="0">
                <a:solidFill>
                  <a:srgbClr val="E6EDF3"/>
                </a:solidFill>
                <a:latin typeface="Courier New"/>
              </a:rPr>
              <a:t> </a:t>
            </a:r>
            <a:r>
              <a:rPr sz="1100" b="0" i="0">
                <a:solidFill>
                  <a:srgbClr val="E6EDF3"/>
                </a:solidFill>
                <a:latin typeface="Courier New"/>
              </a:rPr>
              <a:t>urllib</a:t>
            </a:r>
            <a:r>
              <a:rPr sz="1100" b="0" i="0">
                <a:solidFill>
                  <a:srgbClr val="E6EDF3"/>
                </a:solidFill>
                <a:latin typeface="Courier New"/>
              </a:rPr>
              <a:t>.</a:t>
            </a:r>
            <a:r>
              <a:rPr sz="1100" b="0" i="0">
                <a:solidFill>
                  <a:srgbClr val="E6EDF3"/>
                </a:solidFill>
                <a:latin typeface="Courier New"/>
              </a:rPr>
              <a:t>request</a:t>
            </a:r>
            <a:r>
              <a:rPr sz="1100" b="0" i="0">
                <a:solidFill>
                  <a:srgbClr val="E6EDF3"/>
                </a:solidFill>
                <a:latin typeface="Courier New"/>
              </a:rPr>
              <a: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urlopen</a:t>
            </a:r>
          </a:p>
          <a:p>
            <a:pPr algn="l"/>
            <a:r>
              <a:rPr sz="1100" b="0" i="0">
                <a:solidFill>
                  <a:srgbClr val="8FA3B8"/>
                </a:solidFill>
                <a:latin typeface="Courier New"/>
              </a:rPr>
              <a:t>&gt;&gt;&gt; </a:t>
            </a:r>
            <a:r>
              <a:rPr sz="1100" b="0" i="0">
                <a:solidFill>
                  <a:srgbClr val="E6EDF3"/>
                </a:solidFill>
                <a:latin typeface="Courier New"/>
              </a:rPr>
              <a:t>reply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urlopen</a:t>
            </a:r>
            <a:r>
              <a:rPr sz="1100" b="0" i="0">
                <a:solidFill>
                  <a:srgbClr val="E6EDF3"/>
                </a:solidFill>
                <a:latin typeface="Courier New"/>
              </a:rPr>
              <a:t>(</a:t>
            </a:r>
            <a:r>
              <a:rPr sz="1100" b="0" i="0">
                <a:solidFill>
                  <a:srgbClr val="9BE3A8"/>
                </a:solidFill>
                <a:latin typeface="Courier New"/>
              </a:rPr>
              <a:t>'data:text/plain,Romeo%20and%20Juliet'</a:t>
            </a:r>
            <a:r>
              <a:rPr sz="1100" b="0" i="0">
                <a:solidFill>
                  <a:srgbClr val="E6EDF3"/>
                </a:solidFill>
                <a:latin typeface="Courier New"/>
              </a:rPr>
              <a:t>)</a:t>
            </a:r>
          </a:p>
        </p:txBody>
      </p:sp>
      <p:sp>
        <p:nvSpPr>
          <p:cNvPr id="5" name="explanation"/>
          <p:cNvSpPr txBox="1"/>
          <p:nvPr/>
        </p:nvSpPr>
        <p:spPr>
          <a:xfrm>
            <a:off x="5548884" y="786384"/>
            <a:ext cx="3229356" cy="1080516"/>
          </a:xfrm>
          <a:prstGeom prst="rect">
            <a:avLst/>
          </a:prstGeom>
          <a:noFill/>
        </p:spPr>
        <p:txBody>
          <a:bodyPr wrap="square" lIns="128016" rIns="128016" tIns="18288" bIns="18288" anchor="ctr">
            <a:spAutoFit/>
          </a:bodyPr>
          <a:lstStyle/>
          <a:p>
            <a:r>
              <a:rPr sz="1200" b="0" i="0">
                <a:solidFill>
                  <a:srgbClr val="1F2933"/>
                </a:solidFill>
                <a:latin typeface="Calibri"/>
              </a:rPr>
              <a:t>requests.get() downloads a page. Python's own urlopen does the same job; a data: address carries its text inside the address, so no network is needed.</a:t>
            </a:r>
          </a:p>
        </p:txBody>
      </p:sp>
      <p:sp>
        <p:nvSpPr>
          <p:cNvPr id="6" name="code"/>
          <p:cNvSpPr/>
          <p:nvPr/>
        </p:nvSpPr>
        <p:spPr>
          <a:xfrm>
            <a:off x="365760" y="1912620"/>
            <a:ext cx="520141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reply</a:t>
            </a:r>
            <a:r>
              <a:rPr sz="1100" b="0" i="0">
                <a:solidFill>
                  <a:srgbClr val="E6EDF3"/>
                </a:solidFill>
                <a:latin typeface="Courier New"/>
              </a:rPr>
              <a:t>.</a:t>
            </a:r>
            <a:r>
              <a:rPr sz="1100" b="0" i="0">
                <a:solidFill>
                  <a:srgbClr val="E6EDF3"/>
                </a:solidFill>
                <a:latin typeface="Courier New"/>
              </a:rPr>
              <a:t>headers</a:t>
            </a:r>
            <a:r>
              <a:rPr sz="1100" b="0" i="0">
                <a:solidFill>
                  <a:srgbClr val="E6EDF3"/>
                </a:solidFill>
                <a:latin typeface="Courier New"/>
              </a:rPr>
              <a:t>.</a:t>
            </a:r>
            <a:r>
              <a:rPr sz="1100" b="0" i="0">
                <a:solidFill>
                  <a:srgbClr val="E6EDF3"/>
                </a:solidFill>
                <a:latin typeface="Courier New"/>
              </a:rPr>
              <a:t>get_content_type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body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reply</a:t>
            </a:r>
            <a:r>
              <a:rPr sz="1100" b="0" i="0">
                <a:solidFill>
                  <a:srgbClr val="E6EDF3"/>
                </a:solidFill>
                <a:latin typeface="Courier New"/>
              </a:rPr>
              <a:t>.</a:t>
            </a:r>
            <a:r>
              <a:rPr sz="1100" b="0" i="0">
                <a:solidFill>
                  <a:srgbClr val="E6EDF3"/>
                </a:solidFill>
                <a:latin typeface="Courier New"/>
              </a:rPr>
              <a:t>read</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body</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'bytes:'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body</a:t>
            </a:r>
            <a:r>
              <a:rPr sz="1100" b="0" i="0">
                <a:solidFill>
                  <a:srgbClr val="E6EDF3"/>
                </a:solidFill>
                <a:latin typeface="Courier New"/>
              </a:rPr>
              <a:t>.</a:t>
            </a:r>
            <a:r>
              <a:rPr sz="1100" b="0" i="0">
                <a:solidFill>
                  <a:srgbClr val="E6EDF3"/>
                </a:solidFill>
                <a:latin typeface="Courier New"/>
              </a:rPr>
              <a:t>decode</a:t>
            </a:r>
            <a:r>
              <a:rPr sz="1100" b="0" i="0">
                <a:solidFill>
                  <a:srgbClr val="E6EDF3"/>
                </a:solidFill>
                <a:latin typeface="Courier New"/>
              </a:rPr>
              <a:t>(</a:t>
            </a:r>
            <a:r>
              <a:rPr sz="1100" b="0" i="0">
                <a:solidFill>
                  <a:srgbClr val="9BE3A8"/>
                </a:solidFill>
                <a:latin typeface="Courier New"/>
              </a:rPr>
              <a:t>'utf-8'</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548884" y="1912620"/>
            <a:ext cx="3229356" cy="890016"/>
          </a:xfrm>
          <a:prstGeom prst="rect">
            <a:avLst/>
          </a:prstGeom>
          <a:noFill/>
        </p:spPr>
        <p:txBody>
          <a:bodyPr wrap="square" lIns="128016" rIns="128016" tIns="18288" bIns="18288" anchor="ctr">
            <a:spAutoFit/>
          </a:bodyPr>
          <a:lstStyle/>
          <a:p>
            <a:r>
              <a:rPr sz="1200" b="0" i="0">
                <a:solidFill>
                  <a:srgbClr val="1F2933"/>
                </a:solidFill>
                <a:latin typeface="Calibri"/>
              </a:rPr>
              <a:t>The reply has a content type and a body of bytes. decode turns the bytes into text, like the text property of a response.</a:t>
            </a:r>
          </a:p>
        </p:txBody>
      </p:sp>
      <p:sp>
        <p:nvSpPr>
          <p:cNvPr id="8" name="result label"/>
          <p:cNvSpPr txBox="1"/>
          <p:nvPr/>
        </p:nvSpPr>
        <p:spPr>
          <a:xfrm>
            <a:off x="365760" y="28757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50108"/>
          <a:ext cx="6225234" cy="1243584"/>
        </p:xfrm>
        <a:graphic>
          <a:graphicData uri="http://schemas.openxmlformats.org/drawingml/2006/table">
            <a:tbl>
              <a:tblPr firstRow="0" bandRow="0"/>
              <a:tblGrid>
                <a:gridCol w="1556308"/>
                <a:gridCol w="2282586"/>
                <a:gridCol w="2386340"/>
              </a:tblGrid>
              <a:tr h="310896">
                <a:tc>
                  <a:txBody>
                    <a:bodyPr wrap="square"/>
                    <a:lstStyle/>
                    <a:p>
                      <a:r>
                        <a:rPr sz="950" b="1" i="0">
                          <a:solidFill>
                            <a:srgbClr val="FFFFFF"/>
                          </a:solidFill>
                          <a:latin typeface="Calibri"/>
                        </a:rPr>
                        <a:t>What came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Like the requests object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50" b="1" i="0">
                          <a:solidFill>
                            <a:srgbClr val="1F2933"/>
                          </a:solidFill>
                          <a:latin typeface="Calibri"/>
                        </a:rPr>
                        <a:t>content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text/plain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headers['Content-Type']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50" b="1" i="0">
                          <a:solidFill>
                            <a:srgbClr val="1F2933"/>
                          </a:solidFill>
                          <a:latin typeface="Calibri"/>
                        </a:rPr>
                        <a:t>size of the body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16 bytes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len(response.content)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950" b="1" i="0">
                          <a:solidFill>
                            <a:srgbClr val="1F2933"/>
                          </a:solidFill>
                          <a:latin typeface="Calibri"/>
                        </a:rPr>
                        <a:t>body as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'Romeo and Juliet'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response.text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Rounded Rectangle 9"/>
          <p:cNvSpPr/>
          <p:nvPr/>
        </p:nvSpPr>
        <p:spPr>
          <a:xfrm>
            <a:off x="6927494" y="3195827"/>
            <a:ext cx="1850745" cy="5029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bytes</a:t>
            </a:r>
          </a:p>
        </p:txBody>
      </p:sp>
      <p:cxnSp>
        <p:nvCxnSpPr>
          <p:cNvPr id="11" name="arrow"/>
          <p:cNvCxnSpPr/>
          <p:nvPr/>
        </p:nvCxnSpPr>
        <p:spPr>
          <a:xfrm>
            <a:off x="7852867" y="3717035"/>
            <a:ext cx="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927494" y="3991356"/>
            <a:ext cx="1850745" cy="41148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text</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reply has a type and a body of bytes.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Requests, conceived in frustration, 13 February 2011</a:t>
            </a:r>
          </a:p>
        </p:txBody>
      </p:sp>
      <p:pic>
        <p:nvPicPr>
          <p:cNvPr id="4" name="photo reitz" descr="Picture for the story: Requests, conceived in frustration, 13 February 2011"/>
          <p:cNvPicPr>
            <a:picLocks noChangeAspect="1"/>
          </p:cNvPicPr>
          <p:nvPr/>
        </p:nvPicPr>
        <p:blipFill>
          <a:blip r:embed="rId3"/>
          <a:stretch>
            <a:fillRect/>
          </a:stretch>
        </p:blipFill>
        <p:spPr>
          <a:xfrm>
            <a:off x="365760" y="869108"/>
            <a:ext cx="2651760" cy="2925222"/>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Kenneth Reitz giving a talk at Rupy, 17 November 2012. Image: Nils Pascal Illenseer, CC BY 3.0, Wikimedia Commons.</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Kenneth Reitz, creator of Requests.</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Requests, the Python library whose slogan is HTTP for Humans.</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Version 0.0.1 on 13 February 2011 (Frustration, Conception); 0.2.0 on 14 February 2011 (Birth!).</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GitHub and the Python Package Index; the photograph is from a talk in 2012.</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Downloading should not need worry about network errors, connection routing and data compression.</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One call, requests.get(), then raise_for_status(). Version 2.34.2 descends from that 0.2.0.</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HISTORY.md of Requests (GitHub)</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raise_for_status stops the program on a bad reply</a:t>
            </a:r>
          </a:p>
        </p:txBody>
      </p:sp>
      <p:sp>
        <p:nvSpPr>
          <p:cNvPr id="4" name="code"/>
          <p:cNvSpPr/>
          <p:nvPr/>
        </p:nvSpPr>
        <p:spPr>
          <a:xfrm>
            <a:off x="365760" y="786384"/>
            <a:ext cx="45232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from</a:t>
            </a:r>
            <a:r>
              <a:rPr sz="1000" b="0" i="0">
                <a:solidFill>
                  <a:srgbClr val="E6EDF3"/>
                </a:solidFill>
                <a:latin typeface="Courier New"/>
              </a:rPr>
              <a:t> </a:t>
            </a:r>
            <a:r>
              <a:rPr sz="1000" b="0" i="0">
                <a:solidFill>
                  <a:srgbClr val="E6EDF3"/>
                </a:solidFill>
                <a:latin typeface="Courier New"/>
              </a:rPr>
              <a:t>http</a:t>
            </a:r>
            <a:r>
              <a:rPr sz="1000" b="0" i="0">
                <a:solidFill>
                  <a:srgbClr val="E6EDF3"/>
                </a:solidFill>
                <a:latin typeface="Courier New"/>
              </a:rPr>
              <a: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HTTPStatus</a:t>
            </a:r>
          </a:p>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raise_for_status</a:t>
            </a:r>
            <a:r>
              <a:rPr sz="1000" b="0" i="0">
                <a:solidFill>
                  <a:srgbClr val="E6EDF3"/>
                </a:solidFill>
                <a:latin typeface="Courier New"/>
              </a:rPr>
              <a:t>(</a:t>
            </a:r>
            <a:r>
              <a:rPr sz="1000" b="0" i="0">
                <a:solidFill>
                  <a:srgbClr val="E6EDF3"/>
                </a:solidFill>
                <a:latin typeface="Courier New"/>
              </a:rPr>
              <a:t>code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if</a:t>
            </a:r>
            <a:r>
              <a:rPr sz="1000" b="0" i="0">
                <a:solidFill>
                  <a:srgbClr val="E6EDF3"/>
                </a:solidFill>
                <a:latin typeface="Courier New"/>
              </a:rPr>
              <a:t> </a:t>
            </a:r>
            <a:r>
              <a:rPr sz="1000" b="0" i="0">
                <a:solidFill>
                  <a:srgbClr val="E6EDF3"/>
                </a:solidFill>
                <a:latin typeface="Courier New"/>
              </a:rPr>
              <a:t>code</a:t>
            </a:r>
            <a:r>
              <a:rPr sz="1000" b="0" i="0">
                <a:solidFill>
                  <a:srgbClr val="E6EDF3"/>
                </a:solidFill>
                <a:latin typeface="Courier New"/>
              </a:rPr>
              <a:t> </a:t>
            </a:r>
            <a:r>
              <a:rPr sz="1000" b="0" i="0">
                <a:solidFill>
                  <a:srgbClr val="E6EDF3"/>
                </a:solidFill>
                <a:latin typeface="Courier New"/>
              </a:rPr>
              <a:t>&gt;</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400</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phrase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HTTPStatus</a:t>
            </a:r>
            <a:r>
              <a:rPr sz="1000" b="0" i="0">
                <a:solidFill>
                  <a:srgbClr val="E6EDF3"/>
                </a:solidFill>
                <a:latin typeface="Courier New"/>
              </a:rPr>
              <a:t>(</a:t>
            </a:r>
            <a:r>
              <a:rPr sz="1000" b="0" i="0">
                <a:solidFill>
                  <a:srgbClr val="E6EDF3"/>
                </a:solidFill>
                <a:latin typeface="Courier New"/>
              </a:rPr>
              <a:t>code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phrase</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raise</a:t>
            </a:r>
            <a:r>
              <a:rPr sz="1000" b="0" i="0">
                <a:solidFill>
                  <a:srgbClr val="E6EDF3"/>
                </a:solidFill>
                <a:latin typeface="Courier New"/>
              </a:rPr>
              <a:t> </a:t>
            </a:r>
            <a:r>
              <a:rPr sz="1000" b="0" i="0">
                <a:solidFill>
                  <a:srgbClr val="E6EDF3"/>
                </a:solidFill>
                <a:latin typeface="Courier New"/>
              </a:rPr>
              <a:t>RuntimeError</a:t>
            </a:r>
            <a:r>
              <a:rPr sz="1000" b="0" i="0">
                <a:solidFill>
                  <a:srgbClr val="E6EDF3"/>
                </a:solidFill>
                <a:latin typeface="Courier New"/>
              </a:rPr>
              <a:t>(</a:t>
            </a:r>
            <a:r>
              <a:rPr sz="1000" b="0" i="0">
                <a:solidFill>
                  <a:srgbClr val="9BE3A8"/>
                </a:solidFill>
                <a:latin typeface="Courier New"/>
              </a:rPr>
              <a:t>'%d %s'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code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phrase</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4870704" y="786384"/>
            <a:ext cx="3907535" cy="911859"/>
          </a:xfrm>
          <a:prstGeom prst="rect">
            <a:avLst/>
          </a:prstGeom>
          <a:noFill/>
        </p:spPr>
        <p:txBody>
          <a:bodyPr wrap="square" lIns="128016" rIns="128016" tIns="18288" bIns="18288" anchor="ctr">
            <a:spAutoFit/>
          </a:bodyPr>
          <a:lstStyle/>
          <a:p>
            <a:r>
              <a:rPr sz="1100" b="0" i="0">
                <a:solidFill>
                  <a:srgbClr val="1F2933"/>
                </a:solidFill>
                <a:latin typeface="Calibri"/>
              </a:rPr>
              <a:t>The stand-in does what the requests method does: a code of 400 or more is an error, and the error names the problem.</a:t>
            </a:r>
          </a:p>
        </p:txBody>
      </p:sp>
      <p:sp>
        <p:nvSpPr>
          <p:cNvPr id="6" name="code"/>
          <p:cNvSpPr/>
          <p:nvPr/>
        </p:nvSpPr>
        <p:spPr>
          <a:xfrm>
            <a:off x="365760" y="1743963"/>
            <a:ext cx="4523232" cy="106679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code</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200</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404</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500</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try</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raise_for_status</a:t>
            </a:r>
            <a:r>
              <a:rPr sz="1000" b="0" i="0">
                <a:solidFill>
                  <a:srgbClr val="E6EDF3"/>
                </a:solidFill>
                <a:latin typeface="Courier New"/>
              </a:rPr>
              <a:t>(</a:t>
            </a:r>
            <a:r>
              <a:rPr sz="1000" b="0" i="0">
                <a:solidFill>
                  <a:srgbClr val="E6EDF3"/>
                </a:solidFill>
                <a:latin typeface="Courier New"/>
              </a:rPr>
              <a:t>code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code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'fine'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RuntimeError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err</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code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'stopped:'</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err</a:t>
            </a:r>
            <a:r>
              <a:rPr sz="1000" b="0" i="0">
                <a:solidFill>
                  <a:srgbClr val="E6EDF3"/>
                </a:solidFill>
                <a:latin typeface="Courier New"/>
              </a:rPr>
              <a:t>)</a:t>
            </a:r>
          </a:p>
        </p:txBody>
      </p:sp>
      <p:sp>
        <p:nvSpPr>
          <p:cNvPr id="7" name="explanation"/>
          <p:cNvSpPr txBox="1"/>
          <p:nvPr/>
        </p:nvSpPr>
        <p:spPr>
          <a:xfrm>
            <a:off x="4870704" y="1743963"/>
            <a:ext cx="3907535" cy="1066799"/>
          </a:xfrm>
          <a:prstGeom prst="rect">
            <a:avLst/>
          </a:prstGeom>
          <a:noFill/>
        </p:spPr>
        <p:txBody>
          <a:bodyPr wrap="square" lIns="128016" rIns="128016" tIns="18288" bIns="18288" anchor="ctr">
            <a:spAutoFit/>
          </a:bodyPr>
          <a:lstStyle/>
          <a:p>
            <a:r>
              <a:rPr sz="1100" b="0" i="0">
                <a:solidFill>
                  <a:srgbClr val="1F2933"/>
                </a:solidFill>
                <a:latin typeface="Calibri"/>
              </a:rPr>
              <a:t>Call it after every download. A good reply passes quietly; a bad one stops the program before it saves an error page as a file.</a:t>
            </a:r>
          </a:p>
        </p:txBody>
      </p:sp>
      <p:sp>
        <p:nvSpPr>
          <p:cNvPr id="8" name="result label"/>
          <p:cNvSpPr txBox="1"/>
          <p:nvPr/>
        </p:nvSpPr>
        <p:spPr>
          <a:xfrm>
            <a:off x="365760" y="2883915"/>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58235"/>
          <a:ext cx="8412478" cy="1243584"/>
        </p:xfrm>
        <a:graphic>
          <a:graphicData uri="http://schemas.openxmlformats.org/drawingml/2006/table">
            <a:tbl>
              <a:tblPr firstRow="0" bandRow="0"/>
              <a:tblGrid>
                <a:gridCol w="1294227"/>
                <a:gridCol w="4745501"/>
                <a:gridCol w="2372750"/>
              </a:tblGrid>
              <a:tr h="310896">
                <a:tc>
                  <a:txBody>
                    <a:bodyPr wrap="square"/>
                    <a:lstStyle/>
                    <a:p>
                      <a:r>
                        <a:rPr sz="1000" b="1" i="0">
                          <a:solidFill>
                            <a:srgbClr val="FFFFFF"/>
                          </a:solidFill>
                          <a:latin typeface="Calibri"/>
                        </a:rPr>
                        <a:t>Reply code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the check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The program then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00" b="0" i="0">
                          <a:solidFill>
                            <a:srgbClr val="1F2933"/>
                          </a:solidFill>
                          <a:latin typeface="Courier New"/>
                        </a:rPr>
                        <a:t>200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passes quietly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goes on and saves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10896">
                <a:tc>
                  <a:txBody>
                    <a:bodyPr wrap="square"/>
                    <a:lstStyle/>
                    <a:p>
                      <a:r>
                        <a:rPr sz="1000" b="0" i="0">
                          <a:solidFill>
                            <a:srgbClr val="1F2933"/>
                          </a:solidFill>
                          <a:latin typeface="Courier New"/>
                        </a:rPr>
                        <a:t>404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raises: 404 Not Found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310896">
                <a:tc>
                  <a:txBody>
                    <a:bodyPr wrap="square"/>
                    <a:lstStyle/>
                    <a:p>
                      <a:r>
                        <a:rPr sz="1000" b="0" i="0">
                          <a:solidFill>
                            <a:srgbClr val="1F2933"/>
                          </a:solidFill>
                          <a:latin typeface="Courier New"/>
                        </a:rPr>
                        <a:t>500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raises: 500 Internal Server 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Check every reply before you save it.</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iter_content: save a download in chunks</a:t>
            </a:r>
          </a:p>
        </p:txBody>
      </p:sp>
      <p:sp>
        <p:nvSpPr>
          <p:cNvPr id="4" name="code"/>
          <p:cNvSpPr/>
          <p:nvPr/>
        </p:nvSpPr>
        <p:spPr>
          <a:xfrm>
            <a:off x="365760" y="786384"/>
            <a:ext cx="517855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tempfile</a:t>
            </a:r>
          </a:p>
          <a:p>
            <a:pPr algn="l"/>
            <a:r>
              <a:rPr sz="950" b="0" i="0">
                <a:solidFill>
                  <a:srgbClr val="8FA3B8"/>
                </a:solidFill>
                <a:latin typeface="Courier New"/>
              </a:rPr>
              <a:t>&gt;&gt;&gt; </a:t>
            </a:r>
            <a:r>
              <a:rPr sz="950" b="0" i="0">
                <a:solidFill>
                  <a:srgbClr val="E6EDF3"/>
                </a:solidFill>
                <a:latin typeface="Courier New"/>
              </a:rPr>
              <a:t>body</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b</a:t>
            </a:r>
            <a:r>
              <a:rPr sz="950" b="0" i="0">
                <a:solidFill>
                  <a:srgbClr val="9BE3A8"/>
                </a:solidFill>
                <a:latin typeface="Courier New"/>
              </a:rPr>
              <a:t>'To be, or not to be, that is the question.'</a:t>
            </a:r>
          </a:p>
        </p:txBody>
      </p:sp>
      <p:sp>
        <p:nvSpPr>
          <p:cNvPr id="5" name="explanation"/>
          <p:cNvSpPr txBox="1"/>
          <p:nvPr/>
        </p:nvSpPr>
        <p:spPr>
          <a:xfrm>
            <a:off x="5526024" y="786384"/>
            <a:ext cx="3252216" cy="477266"/>
          </a:xfrm>
          <a:prstGeom prst="rect">
            <a:avLst/>
          </a:prstGeom>
          <a:noFill/>
        </p:spPr>
        <p:txBody>
          <a:bodyPr wrap="square" lIns="128016" rIns="128016" tIns="18288" bIns="18288" anchor="ctr">
            <a:spAutoFit/>
          </a:bodyPr>
          <a:lstStyle/>
          <a:p>
            <a:r>
              <a:rPr sz="1100" b="0" i="0">
                <a:solidFill>
                  <a:srgbClr val="1F2933"/>
                </a:solidFill>
                <a:latin typeface="Calibri"/>
              </a:rPr>
              <a:t>A downloaded file is bytes. This line is a short stand-in for a large file.</a:t>
            </a:r>
          </a:p>
        </p:txBody>
      </p:sp>
      <p:sp>
        <p:nvSpPr>
          <p:cNvPr id="6" name="code"/>
          <p:cNvSpPr/>
          <p:nvPr/>
        </p:nvSpPr>
        <p:spPr>
          <a:xfrm>
            <a:off x="365760" y="1309370"/>
            <a:ext cx="517855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iter_content</a:t>
            </a:r>
            <a:r>
              <a:rPr sz="950" b="0" i="0">
                <a:solidFill>
                  <a:srgbClr val="E6EDF3"/>
                </a:solidFill>
                <a:latin typeface="Courier New"/>
              </a:rPr>
              <a:t>(</a:t>
            </a:r>
            <a:r>
              <a:rPr sz="950" b="0" i="0">
                <a:solidFill>
                  <a:srgbClr val="E6EDF3"/>
                </a:solidFill>
                <a:latin typeface="Courier New"/>
              </a:rPr>
              <a:t>data</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size</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start</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range</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data</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size</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yield</a:t>
            </a:r>
            <a:r>
              <a:rPr sz="950" b="0" i="0">
                <a:solidFill>
                  <a:srgbClr val="E6EDF3"/>
                </a:solidFill>
                <a:latin typeface="Courier New"/>
              </a:rPr>
              <a:t> </a:t>
            </a:r>
            <a:r>
              <a:rPr sz="950" b="0" i="0">
                <a:solidFill>
                  <a:srgbClr val="E6EDF3"/>
                </a:solidFill>
                <a:latin typeface="Courier New"/>
              </a:rPr>
              <a:t>data</a:t>
            </a:r>
            <a:r>
              <a:rPr sz="950" b="0" i="0">
                <a:solidFill>
                  <a:srgbClr val="E6EDF3"/>
                </a:solidFill>
                <a:latin typeface="Courier New"/>
              </a:rPr>
              <a:t>[</a:t>
            </a:r>
            <a:r>
              <a:rPr sz="950" b="0" i="0">
                <a:solidFill>
                  <a:srgbClr val="E6EDF3"/>
                </a:solidFill>
                <a:latin typeface="Courier New"/>
              </a:rPr>
              <a:t>start</a:t>
            </a:r>
            <a:r>
              <a:rPr sz="950" b="0" i="0">
                <a:solidFill>
                  <a:srgbClr val="E6EDF3"/>
                </a:solidFill>
                <a:latin typeface="Courier New"/>
              </a:rPr>
              <a:t>:</a:t>
            </a:r>
            <a:r>
              <a:rPr sz="950" b="0" i="0">
                <a:solidFill>
                  <a:srgbClr val="E6EDF3"/>
                </a:solidFill>
                <a:latin typeface="Courier New"/>
              </a:rPr>
              <a:t>start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size</a:t>
            </a:r>
            <a:r>
              <a:rPr sz="950" b="0" i="0">
                <a:solidFill>
                  <a:srgbClr val="E6EDF3"/>
                </a:solidFill>
                <a:latin typeface="Courier New"/>
              </a:rPr>
              <a:t>]</a:t>
            </a:r>
          </a:p>
        </p:txBody>
      </p:sp>
      <p:sp>
        <p:nvSpPr>
          <p:cNvPr id="7" name="explanation"/>
          <p:cNvSpPr txBox="1"/>
          <p:nvPr/>
        </p:nvSpPr>
        <p:spPr>
          <a:xfrm>
            <a:off x="5526024" y="1309370"/>
            <a:ext cx="3252216" cy="651891"/>
          </a:xfrm>
          <a:prstGeom prst="rect">
            <a:avLst/>
          </a:prstGeom>
          <a:noFill/>
        </p:spPr>
        <p:txBody>
          <a:bodyPr wrap="square" lIns="128016" rIns="128016" tIns="18288" bIns="18288" anchor="ctr">
            <a:spAutoFit/>
          </a:bodyPr>
          <a:lstStyle/>
          <a:p>
            <a:r>
              <a:rPr sz="1100" b="0" i="0">
                <a:solidFill>
                  <a:srgbClr val="1F2933"/>
                </a:solidFill>
                <a:latin typeface="Calibri"/>
              </a:rPr>
              <a:t>iter_content hands out the body in pieces of a chosen size, so a huge file never has to fit in memory at once.</a:t>
            </a:r>
          </a:p>
        </p:txBody>
      </p:sp>
      <p:sp>
        <p:nvSpPr>
          <p:cNvPr id="8" name="code"/>
          <p:cNvSpPr/>
          <p:nvPr/>
        </p:nvSpPr>
        <p:spPr>
          <a:xfrm>
            <a:off x="365760" y="2006980"/>
            <a:ext cx="517855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with</a:t>
            </a:r>
            <a:r>
              <a:rPr sz="950" b="0" i="0">
                <a:solidFill>
                  <a:srgbClr val="E6EDF3"/>
                </a:solidFill>
                <a:latin typeface="Courier New"/>
              </a:rPr>
              <a:t> </a:t>
            </a:r>
            <a:r>
              <a:rPr sz="950" b="0" i="0">
                <a:solidFill>
                  <a:srgbClr val="E6EDF3"/>
                </a:solidFill>
                <a:latin typeface="Courier New"/>
              </a:rPr>
              <a:t>tempfile</a:t>
            </a:r>
            <a:r>
              <a:rPr sz="950" b="0" i="0">
                <a:solidFill>
                  <a:srgbClr val="E6EDF3"/>
                </a:solidFill>
                <a:latin typeface="Courier New"/>
              </a:rPr>
              <a:t>.</a:t>
            </a:r>
            <a:r>
              <a:rPr sz="950" b="0" i="0">
                <a:solidFill>
                  <a:srgbClr val="E6EDF3"/>
                </a:solidFill>
                <a:latin typeface="Courier New"/>
              </a:rPr>
              <a:t>TemporaryDirectory</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folder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with</a:t>
            </a:r>
            <a:r>
              <a:rPr sz="950" b="0" i="0">
                <a:solidFill>
                  <a:srgbClr val="E6EDF3"/>
                </a:solidFill>
                <a:latin typeface="Courier New"/>
              </a:rPr>
              <a:t> </a:t>
            </a:r>
            <a:r>
              <a:rPr sz="950" b="0" i="0">
                <a:solidFill>
                  <a:srgbClr val="E6EDF3"/>
                </a:solidFill>
                <a:latin typeface="Courier New"/>
              </a:rPr>
              <a:t>open</a:t>
            </a:r>
            <a:r>
              <a:rPr sz="950" b="0" i="0">
                <a:solidFill>
                  <a:srgbClr val="E6EDF3"/>
                </a:solidFill>
                <a:latin typeface="Courier New"/>
              </a:rPr>
              <a:t>(</a:t>
            </a:r>
            <a:r>
              <a:rPr sz="950" b="0" i="0">
                <a:solidFill>
                  <a:srgbClr val="E6EDF3"/>
                </a:solidFill>
                <a:latin typeface="Courier New"/>
              </a:rPr>
              <a:t>os</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join</a:t>
            </a:r>
            <a:r>
              <a:rPr sz="950" b="0" i="0">
                <a:solidFill>
                  <a:srgbClr val="E6EDF3"/>
                </a:solidFill>
                <a:latin typeface="Courier New"/>
              </a:rPr>
              <a:t>(</a:t>
            </a:r>
            <a:r>
              <a:rPr sz="950" b="0" i="0">
                <a:solidFill>
                  <a:srgbClr val="E6EDF3"/>
                </a:solidFill>
                <a:latin typeface="Courier New"/>
              </a:rPr>
              <a:t>folder</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'speech.txt'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'wb'</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file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chunk</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iter_content</a:t>
            </a:r>
            <a:r>
              <a:rPr sz="950" b="0" i="0">
                <a:solidFill>
                  <a:srgbClr val="E6EDF3"/>
                </a:solidFill>
                <a:latin typeface="Courier New"/>
              </a:rPr>
              <a:t>(</a:t>
            </a:r>
            <a:r>
              <a:rPr sz="950" b="0" i="0">
                <a:solidFill>
                  <a:srgbClr val="E6EDF3"/>
                </a:solidFill>
                <a:latin typeface="Courier New"/>
              </a:rPr>
              <a:t>body</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16</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file</a:t>
            </a:r>
            <a:r>
              <a:rPr sz="950" b="0" i="0">
                <a:solidFill>
                  <a:srgbClr val="E6EDF3"/>
                </a:solidFill>
                <a:latin typeface="Courier New"/>
              </a:rPr>
              <a:t>.</a:t>
            </a:r>
            <a:r>
              <a:rPr sz="950" b="0" i="0">
                <a:solidFill>
                  <a:srgbClr val="E6EDF3"/>
                </a:solidFill>
                <a:latin typeface="Courier New"/>
              </a:rPr>
              <a:t>write</a:t>
            </a:r>
            <a:r>
              <a:rPr sz="950" b="0" i="0">
                <a:solidFill>
                  <a:srgbClr val="E6EDF3"/>
                </a:solidFill>
                <a:latin typeface="Courier New"/>
              </a:rPr>
              <a:t>(</a:t>
            </a:r>
            <a:r>
              <a:rPr sz="950" b="0" i="0">
                <a:solidFill>
                  <a:srgbClr val="E6EDF3"/>
                </a:solidFill>
                <a:latin typeface="Courier New"/>
              </a:rPr>
              <a:t>chunk</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526024" y="2006980"/>
            <a:ext cx="3252216" cy="826516"/>
          </a:xfrm>
          <a:prstGeom prst="rect">
            <a:avLst/>
          </a:prstGeom>
          <a:noFill/>
        </p:spPr>
        <p:txBody>
          <a:bodyPr wrap="square" lIns="128016" rIns="128016" tIns="18288" bIns="18288" anchor="ctr">
            <a:spAutoFit/>
          </a:bodyPr>
          <a:lstStyle/>
          <a:p>
            <a:r>
              <a:rPr sz="1100" b="0" i="0">
                <a:solidFill>
                  <a:srgbClr val="1F2933"/>
                </a:solidFill>
                <a:latin typeface="Calibri"/>
              </a:rPr>
              <a:t>write returns the number of bytes it saved. Each chunk is written in binary mode; the temporary folder disappears afterwards.</a:t>
            </a:r>
          </a:p>
        </p:txBody>
      </p:sp>
      <p:sp>
        <p:nvSpPr>
          <p:cNvPr id="10" name="result label"/>
          <p:cNvSpPr txBox="1"/>
          <p:nvPr/>
        </p:nvSpPr>
        <p:spPr>
          <a:xfrm>
            <a:off x="365760" y="290664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80969"/>
          <a:ext cx="5215736" cy="1097280"/>
        </p:xfrm>
        <a:graphic>
          <a:graphicData uri="http://schemas.openxmlformats.org/drawingml/2006/table">
            <a:tbl>
              <a:tblPr firstRow="0" bandRow="0"/>
              <a:tblGrid>
                <a:gridCol w="715885"/>
                <a:gridCol w="3477158"/>
                <a:gridCol w="1022693"/>
              </a:tblGrid>
              <a:tr h="274320">
                <a:tc>
                  <a:txBody>
                    <a:bodyPr wrap="square"/>
                    <a:lstStyle/>
                    <a:p>
                      <a:r>
                        <a:rPr sz="950" b="1" i="0">
                          <a:solidFill>
                            <a:srgbClr val="FFFFFF"/>
                          </a:solidFill>
                          <a:latin typeface="Calibri"/>
                        </a:rPr>
                        <a:t>Chunk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Text in the chunk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write() gave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50" b="0" i="0">
                          <a:solidFill>
                            <a:srgbClr val="1F2933"/>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'To be, or not 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 be, that is the'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50" b="0" i="0">
                          <a:solidFill>
                            <a:srgbClr val="1F2933"/>
                          </a:solidFill>
                          <a:latin typeface="Calibri"/>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 question.'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TextBox 11"/>
          <p:cNvSpPr txBox="1"/>
          <p:nvPr/>
        </p:nvSpPr>
        <p:spPr>
          <a:xfrm>
            <a:off x="5917996" y="3162681"/>
            <a:ext cx="2860243" cy="201168"/>
          </a:xfrm>
          <a:prstGeom prst="rect">
            <a:avLst/>
          </a:prstGeom>
          <a:noFill/>
        </p:spPr>
        <p:txBody>
          <a:bodyPr wrap="square" lIns="45720" rIns="45720" tIns="27432" bIns="27432" anchor="t">
            <a:spAutoFit/>
          </a:bodyPr>
          <a:lstStyle/>
          <a:p>
            <a:r>
              <a:rPr sz="950" b="0" i="1">
                <a:solidFill>
                  <a:srgbClr val="5B6773"/>
                </a:solidFill>
                <a:latin typeface="Calibri"/>
              </a:rPr>
              <a:t>bytes saved per chunk</a:t>
            </a:r>
          </a:p>
        </p:txBody>
      </p:sp>
      <p:graphicFrame>
        <p:nvGraphicFramePr>
          <p:cNvPr id="13" name="chart"/>
          <p:cNvGraphicFramePr>
            <a:graphicFrameLocks noGrp="1"/>
          </p:cNvGraphicFramePr>
          <p:nvPr/>
        </p:nvGraphicFramePr>
        <p:xfrm>
          <a:off x="5917996" y="3363849"/>
          <a:ext cx="2860243" cy="1244727"/>
        </p:xfrm>
        <a:graphic>
          <a:graphicData uri="http://schemas.openxmlformats.org/drawingml/2006/chart">
            <c:chart xmlns:c="http://schemas.openxmlformats.org/drawingml/2006/chart" r:id="rId3"/>
          </a:graphicData>
        </a:graphic>
      </p:graphicFrame>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Save a big download chunk by chunk.</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3: A weather API</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service answers in JSON; the program reads it and keeps its key secret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API</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service you call by address and read as data.</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API key</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secret that names your account to the service.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json.loads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Turns JSON text into dictionaries and lists.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Kelvin</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service's temperature scale; subtract 273.15.</a:t>
            </a:r>
          </a:p>
        </p:txBody>
      </p:sp>
      <p:graphicFrame>
        <p:nvGraphicFramePr>
          <p:cNvPr id="13" name="table"/>
          <p:cNvGraphicFramePr>
            <a:graphicFrameLocks noGrp="1"/>
          </p:cNvGraphicFramePr>
          <p:nvPr/>
        </p:nvGraphicFramePr>
        <p:xfrm>
          <a:off x="5303520" y="1417320"/>
          <a:ext cx="3474719" cy="182880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a weather API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An API answers in JSON; json.loads turns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API gives Kelvin; the program converts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An endpoint, its parameters and a secret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a weather API</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An API is a restaurant menu: you order by the listed names and a standard plate arrives.</a:t>
            </a:r>
          </a:p>
        </p:txBody>
      </p:sp>
      <p:graphicFrame>
        <p:nvGraphicFramePr>
          <p:cNvPr id="6" name="table"/>
          <p:cNvGraphicFramePr>
            <a:graphicFrameLocks noGrp="1"/>
          </p:cNvGraphicFramePr>
          <p:nvPr/>
        </p:nvGraphicFramePr>
        <p:xfrm>
          <a:off x="365760" y="1417320"/>
          <a:ext cx="8412480" cy="2286000"/>
        </p:xfrm>
        <a:graphic>
          <a:graphicData uri="http://schemas.openxmlformats.org/drawingml/2006/table">
            <a:tbl>
              <a:tblPr firstRow="0" bandRow="0"/>
              <a:tblGrid>
                <a:gridCol w="3566160"/>
                <a:gridCol w="48463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Accessing a Weather API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Phoning the weather desk: you name a place and a fixed form comes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restaurant menu: you order from the list and the kitchen stays out of sight.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API 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membership card: it names you, so keep it private and never lend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json.loads()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Unpacking a flat-pack box: labelled parts become something you can use.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An API answers in JSON; json.loads turns it into data</a:t>
            </a:r>
          </a:p>
        </p:txBody>
      </p:sp>
      <p:sp>
        <p:nvSpPr>
          <p:cNvPr id="4" name="code"/>
          <p:cNvSpPr/>
          <p:nvPr/>
        </p:nvSpPr>
        <p:spPr>
          <a:xfrm>
            <a:off x="365760" y="786384"/>
            <a:ext cx="56509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json</a:t>
            </a:r>
          </a:p>
          <a:p>
            <a:pPr algn="l"/>
            <a:r>
              <a:rPr sz="1200" b="0" i="0">
                <a:solidFill>
                  <a:srgbClr val="8FA3B8"/>
                </a:solidFill>
                <a:latin typeface="Courier New"/>
              </a:rPr>
              <a:t>&gt;&gt;&gt; </a:t>
            </a:r>
            <a:r>
              <a:rPr sz="1200" b="0" i="0">
                <a:solidFill>
                  <a:srgbClr val="E6EDF3"/>
                </a:solidFill>
                <a:latin typeface="Courier New"/>
              </a:rPr>
              <a:t>reply</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'{"name": "Boston", "main": {"temp": 285.44},'</a:t>
            </a:r>
          </a:p>
          <a:p>
            <a:pPr algn="l"/>
            <a:r>
              <a:rPr sz="1200" b="0" i="0">
                <a:solidFill>
                  <a:srgbClr val="8FA3B8"/>
                </a:solidFill>
                <a:latin typeface="Courier New"/>
              </a:rPr>
              <a:t>&gt;&gt;&gt; </a:t>
            </a:r>
            <a:r>
              <a:rPr sz="1200" b="0" i="0">
                <a:solidFill>
                  <a:srgbClr val="E6EDF3"/>
                </a:solidFill>
                <a:latin typeface="Courier New"/>
              </a:rPr>
              <a:t>         </a:t>
            </a:r>
            <a:r>
              <a:rPr sz="1200" b="0" i="0">
                <a:solidFill>
                  <a:srgbClr val="9BE3A8"/>
                </a:solidFill>
                <a:latin typeface="Courier New"/>
              </a:rPr>
              <a:t>' "weather": [{"main": "Clouds"}]}'</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data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json</a:t>
            </a:r>
            <a:r>
              <a:rPr sz="1200" b="0" i="0">
                <a:solidFill>
                  <a:srgbClr val="E6EDF3"/>
                </a:solidFill>
                <a:latin typeface="Courier New"/>
              </a:rPr>
              <a:t>.</a:t>
            </a:r>
            <a:r>
              <a:rPr sz="1200" b="0" i="0">
                <a:solidFill>
                  <a:srgbClr val="E6EDF3"/>
                </a:solidFill>
                <a:latin typeface="Courier New"/>
              </a:rPr>
              <a:t>loads</a:t>
            </a:r>
            <a:r>
              <a:rPr sz="1200" b="0" i="0">
                <a:solidFill>
                  <a:srgbClr val="E6EDF3"/>
                </a:solidFill>
                <a:latin typeface="Courier New"/>
              </a:rPr>
              <a:t>(</a:t>
            </a:r>
            <a:r>
              <a:rPr sz="1200" b="0" i="0">
                <a:solidFill>
                  <a:srgbClr val="E6EDF3"/>
                </a:solidFill>
                <a:latin typeface="Courier New"/>
              </a:rPr>
              <a:t>reply</a:t>
            </a:r>
            <a:r>
              <a:rPr sz="1200" b="0" i="0">
                <a:solidFill>
                  <a:srgbClr val="E6EDF3"/>
                </a:solidFill>
                <a:latin typeface="Courier New"/>
              </a:rPr>
              <a:t>)</a:t>
            </a:r>
          </a:p>
        </p:txBody>
      </p:sp>
      <p:sp>
        <p:nvSpPr>
          <p:cNvPr id="5" name="explanation"/>
          <p:cNvSpPr txBox="1"/>
          <p:nvPr/>
        </p:nvSpPr>
        <p:spPr>
          <a:xfrm>
            <a:off x="5998464" y="786384"/>
            <a:ext cx="2779776" cy="921765"/>
          </a:xfrm>
          <a:prstGeom prst="rect">
            <a:avLst/>
          </a:prstGeom>
          <a:noFill/>
        </p:spPr>
        <p:txBody>
          <a:bodyPr wrap="square" lIns="128016" rIns="128016" tIns="18288" bIns="18288" anchor="ctr">
            <a:spAutoFit/>
          </a:bodyPr>
          <a:lstStyle/>
          <a:p>
            <a:r>
              <a:rPr sz="1250" b="0" i="0">
                <a:solidFill>
                  <a:srgbClr val="1F2933"/>
                </a:solidFill>
                <a:latin typeface="Calibri"/>
              </a:rPr>
              <a:t>A web API sends its answer as JSON text. json.loads turns the text into dictionaries, lists, numbers and strings.</a:t>
            </a:r>
          </a:p>
        </p:txBody>
      </p:sp>
      <p:sp>
        <p:nvSpPr>
          <p:cNvPr id="6" name="code"/>
          <p:cNvSpPr/>
          <p:nvPr/>
        </p:nvSpPr>
        <p:spPr>
          <a:xfrm>
            <a:off x="365760" y="1753870"/>
            <a:ext cx="565099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data</a:t>
            </a:r>
            <a:r>
              <a:rPr sz="1200" b="0" i="0">
                <a:solidFill>
                  <a:srgbClr val="E6EDF3"/>
                </a:solidFill>
                <a:latin typeface="Courier New"/>
              </a:rPr>
              <a:t>[</a:t>
            </a:r>
            <a:r>
              <a:rPr sz="1200" b="0" i="0">
                <a:solidFill>
                  <a:srgbClr val="9BE3A8"/>
                </a:solidFill>
                <a:latin typeface="Courier New"/>
              </a:rPr>
              <a:t>'name'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data</a:t>
            </a:r>
            <a:r>
              <a:rPr sz="1200" b="0" i="0">
                <a:solidFill>
                  <a:srgbClr val="E6EDF3"/>
                </a:solidFill>
                <a:latin typeface="Courier New"/>
              </a:rPr>
              <a:t>[</a:t>
            </a:r>
            <a:r>
              <a:rPr sz="1200" b="0" i="0">
                <a:solidFill>
                  <a:srgbClr val="9BE3A8"/>
                </a:solidFill>
                <a:latin typeface="Courier New"/>
              </a:rPr>
              <a:t>'weather'</a:t>
            </a:r>
            <a:r>
              <a:rPr sz="1200" b="0" i="0">
                <a:solidFill>
                  <a:srgbClr val="E6EDF3"/>
                </a:solidFill>
                <a:latin typeface="Courier New"/>
              </a:rPr>
              <a:t>]</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9BE3A8"/>
                </a:solidFill>
                <a:latin typeface="Courier New"/>
              </a:rPr>
              <a:t>'main'</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type</a:t>
            </a:r>
            <a:r>
              <a:rPr sz="1200" b="0" i="0">
                <a:solidFill>
                  <a:srgbClr val="E6EDF3"/>
                </a:solidFill>
                <a:latin typeface="Courier New"/>
              </a:rPr>
              <a:t>(</a:t>
            </a:r>
            <a:r>
              <a:rPr sz="1200" b="0" i="0">
                <a:solidFill>
                  <a:srgbClr val="E6EDF3"/>
                </a:solidFill>
                <a:latin typeface="Courier New"/>
              </a:rPr>
              <a:t>data</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__name__</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list</a:t>
            </a:r>
            <a:r>
              <a:rPr sz="1200" b="0" i="0">
                <a:solidFill>
                  <a:srgbClr val="E6EDF3"/>
                </a:solidFill>
                <a:latin typeface="Courier New"/>
              </a:rPr>
              <a:t>(</a:t>
            </a:r>
            <a:r>
              <a:rPr sz="1200" b="0" i="0">
                <a:solidFill>
                  <a:srgbClr val="E6EDF3"/>
                </a:solidFill>
                <a:latin typeface="Courier New"/>
              </a:rPr>
              <a:t>data</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998464" y="1753870"/>
            <a:ext cx="2779776" cy="921765"/>
          </a:xfrm>
          <a:prstGeom prst="rect">
            <a:avLst/>
          </a:prstGeom>
          <a:noFill/>
        </p:spPr>
        <p:txBody>
          <a:bodyPr wrap="square" lIns="128016" rIns="128016" tIns="18288" bIns="18288" anchor="ctr">
            <a:spAutoFit/>
          </a:bodyPr>
          <a:lstStyle/>
          <a:p>
            <a:r>
              <a:rPr sz="1250" b="0" i="0">
                <a:solidFill>
                  <a:srgbClr val="1F2933"/>
                </a:solidFill>
                <a:latin typeface="Calibri"/>
              </a:rPr>
              <a:t>Reach inside with keys and list positions, one step at a time. The top level is a dictionary.</a:t>
            </a:r>
          </a:p>
        </p:txBody>
      </p:sp>
      <p:sp>
        <p:nvSpPr>
          <p:cNvPr id="8" name="result label"/>
          <p:cNvSpPr txBox="1"/>
          <p:nvPr/>
        </p:nvSpPr>
        <p:spPr>
          <a:xfrm>
            <a:off x="365760" y="2748787"/>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3434587"/>
            <a:ext cx="1188720"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data</a:t>
            </a:r>
          </a:p>
          <a:p>
            <a:pPr algn="ctr"/>
            <a:r>
              <a:rPr sz="1000" b="0" i="0">
                <a:solidFill>
                  <a:srgbClr val="1F2933"/>
                </a:solidFill>
                <a:latin typeface="Calibri"/>
              </a:rPr>
              <a:t>(a dict)</a:t>
            </a:r>
          </a:p>
        </p:txBody>
      </p:sp>
      <p:sp>
        <p:nvSpPr>
          <p:cNvPr id="10" name="Rounded Rectangle 9"/>
          <p:cNvSpPr/>
          <p:nvPr/>
        </p:nvSpPr>
        <p:spPr>
          <a:xfrm>
            <a:off x="2011680" y="3023107"/>
            <a:ext cx="137160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'name'</a:t>
            </a:r>
          </a:p>
        </p:txBody>
      </p:sp>
      <p:cxnSp>
        <p:nvCxnSpPr>
          <p:cNvPr id="11" name="arrow"/>
          <p:cNvCxnSpPr/>
          <p:nvPr/>
        </p:nvCxnSpPr>
        <p:spPr>
          <a:xfrm flipV="1">
            <a:off x="1572768" y="3178555"/>
            <a:ext cx="420624" cy="484632"/>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011680" y="3480307"/>
            <a:ext cx="137160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'main'</a:t>
            </a:r>
          </a:p>
        </p:txBody>
      </p:sp>
      <p:cxnSp>
        <p:nvCxnSpPr>
          <p:cNvPr id="13" name="arrow"/>
          <p:cNvCxnSpPr/>
          <p:nvPr/>
        </p:nvCxnSpPr>
        <p:spPr>
          <a:xfrm flipV="1">
            <a:off x="1572768" y="3635755"/>
            <a:ext cx="420624" cy="27432"/>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011680" y="3937508"/>
            <a:ext cx="1371600" cy="310896"/>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'weather' (list)</a:t>
            </a:r>
          </a:p>
        </p:txBody>
      </p:sp>
      <p:cxnSp>
        <p:nvCxnSpPr>
          <p:cNvPr id="15" name="arrow"/>
          <p:cNvCxnSpPr/>
          <p:nvPr/>
        </p:nvCxnSpPr>
        <p:spPr>
          <a:xfrm>
            <a:off x="1572768" y="3663187"/>
            <a:ext cx="420624" cy="429769"/>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6" name="table"/>
          <p:cNvGraphicFramePr>
            <a:graphicFrameLocks noGrp="1"/>
          </p:cNvGraphicFramePr>
          <p:nvPr/>
        </p:nvGraphicFramePr>
        <p:xfrm>
          <a:off x="3657600" y="3023107"/>
          <a:ext cx="5120638" cy="1243584"/>
        </p:xfrm>
        <a:graphic>
          <a:graphicData uri="http://schemas.openxmlformats.org/drawingml/2006/table">
            <a:tbl>
              <a:tblPr firstRow="0" bandRow="0"/>
              <a:tblGrid>
                <a:gridCol w="3291839"/>
                <a:gridCol w="1828799"/>
              </a:tblGrid>
              <a:tr h="310896">
                <a:tc>
                  <a:txBody>
                    <a:bodyPr wrap="square"/>
                    <a:lstStyle/>
                    <a:p>
                      <a:r>
                        <a:rPr sz="95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50" b="0" i="0">
                          <a:solidFill>
                            <a:srgbClr val="1F2933"/>
                          </a:solidFill>
                          <a:latin typeface="Courier New"/>
                        </a:rPr>
                        <a:t>data['name']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'Boston'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50" b="0" i="0">
                          <a:solidFill>
                            <a:srgbClr val="1F2933"/>
                          </a:solidFill>
                          <a:latin typeface="Courier New"/>
                        </a:rPr>
                        <a:t>data['main']['temp']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285.44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950" b="0" i="0">
                          <a:solidFill>
                            <a:srgbClr val="1F2933"/>
                          </a:solidFill>
                          <a:latin typeface="Courier New"/>
                        </a:rPr>
                        <a:t>data['weather'][0]['main']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'Clouds'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7" name="visual note"/>
          <p:cNvSpPr txBox="1"/>
          <p:nvPr/>
        </p:nvSpPr>
        <p:spPr>
          <a:xfrm>
            <a:off x="3657600" y="4303267"/>
            <a:ext cx="5120640" cy="219456"/>
          </a:xfrm>
          <a:prstGeom prst="rect">
            <a:avLst/>
          </a:prstGeom>
          <a:noFill/>
        </p:spPr>
        <p:txBody>
          <a:bodyPr wrap="square" lIns="45720" rIns="45720" tIns="27432" bIns="27432" anchor="t">
            <a:spAutoFit/>
          </a:bodyPr>
          <a:lstStyle/>
          <a:p>
            <a:r>
              <a:rPr sz="950" b="0" i="1">
                <a:solidFill>
                  <a:srgbClr val="5B6773"/>
                </a:solidFill>
                <a:latin typeface="Calibri"/>
              </a:rPr>
              <a:t>one key or position per step</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JSON text becomes dictionaries and lists.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API gives Kelvin; the program converts</a:t>
            </a:r>
          </a:p>
        </p:txBody>
      </p:sp>
      <p:sp>
        <p:nvSpPr>
          <p:cNvPr id="4" name="code"/>
          <p:cNvSpPr/>
          <p:nvPr/>
        </p:nvSpPr>
        <p:spPr>
          <a:xfrm>
            <a:off x="365760" y="786384"/>
            <a:ext cx="545287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kelvin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285.44</a:t>
            </a:r>
          </a:p>
          <a:p>
            <a:pPr algn="l"/>
            <a:r>
              <a:rPr sz="1100" b="0" i="0">
                <a:solidFill>
                  <a:srgbClr val="8FA3B8"/>
                </a:solidFill>
                <a:latin typeface="Courier New"/>
              </a:rPr>
              <a:t>&gt;&gt;&gt; </a:t>
            </a:r>
            <a:r>
              <a:rPr sz="1100" b="0" i="0">
                <a:solidFill>
                  <a:srgbClr val="E6EDF3"/>
                </a:solidFill>
                <a:latin typeface="Courier New"/>
              </a:rPr>
              <a:t>celsius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kelvin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273.15</a:t>
            </a:r>
          </a:p>
          <a:p>
            <a:pPr algn="l"/>
            <a:r>
              <a:rPr sz="1100" b="0" i="0">
                <a:solidFill>
                  <a:srgbClr val="8FA3B8"/>
                </a:solidFill>
                <a:latin typeface="Courier New"/>
              </a:rPr>
              <a:t>&gt;&gt;&gt; </a:t>
            </a:r>
            <a:r>
              <a:rPr sz="1100" b="0" i="0">
                <a:solidFill>
                  <a:srgbClr val="E6EDF3"/>
                </a:solidFill>
                <a:latin typeface="Courier New"/>
              </a:rPr>
              <a:t>fahrenheit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celsius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9</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5</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32</a:t>
            </a:r>
          </a:p>
        </p:txBody>
      </p:sp>
      <p:sp>
        <p:nvSpPr>
          <p:cNvPr id="5" name="explanation"/>
          <p:cNvSpPr txBox="1"/>
          <p:nvPr/>
        </p:nvSpPr>
        <p:spPr>
          <a:xfrm>
            <a:off x="5800344" y="786384"/>
            <a:ext cx="2977896" cy="890016"/>
          </a:xfrm>
          <a:prstGeom prst="rect">
            <a:avLst/>
          </a:prstGeom>
          <a:noFill/>
        </p:spPr>
        <p:txBody>
          <a:bodyPr wrap="square" lIns="128016" rIns="128016" tIns="18288" bIns="18288" anchor="ctr">
            <a:spAutoFit/>
          </a:bodyPr>
          <a:lstStyle/>
          <a:p>
            <a:r>
              <a:rPr sz="1200" b="0" i="0">
                <a:solidFill>
                  <a:srgbClr val="1F2933"/>
                </a:solidFill>
                <a:latin typeface="Calibri"/>
              </a:rPr>
              <a:t>The weather API reports temperatures in Kelvin. Subtract 273.15 for Celsius, then scale and shift for Fahrenheit.</a:t>
            </a:r>
          </a:p>
        </p:txBody>
      </p:sp>
      <p:sp>
        <p:nvSpPr>
          <p:cNvPr id="6" name="code"/>
          <p:cNvSpPr/>
          <p:nvPr/>
        </p:nvSpPr>
        <p:spPr>
          <a:xfrm>
            <a:off x="365760" y="1722120"/>
            <a:ext cx="545287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'Result: %.1f C and %.1f F'</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celsius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fahrenheit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00344" y="1722120"/>
            <a:ext cx="2977896" cy="890016"/>
          </a:xfrm>
          <a:prstGeom prst="rect">
            <a:avLst/>
          </a:prstGeom>
          <a:noFill/>
        </p:spPr>
        <p:txBody>
          <a:bodyPr wrap="square" lIns="128016" rIns="128016" tIns="18288" bIns="18288" anchor="ctr">
            <a:spAutoFit/>
          </a:bodyPr>
          <a:lstStyle/>
          <a:p>
            <a:r>
              <a:rPr sz="1200" b="0" i="0">
                <a:solidFill>
                  <a:srgbClr val="1F2933"/>
                </a:solidFill>
                <a:latin typeface="Calibri"/>
              </a:rPr>
              <a:t>The format %.1f keeps one decimal, as the chapter prints: 12.3 degrees Celsius and 54.1 degrees Fahrenheit.</a:t>
            </a:r>
          </a:p>
        </p:txBody>
      </p:sp>
      <p:sp>
        <p:nvSpPr>
          <p:cNvPr id="8" name="result label"/>
          <p:cNvSpPr txBox="1"/>
          <p:nvPr/>
        </p:nvSpPr>
        <p:spPr>
          <a:xfrm>
            <a:off x="365760" y="2685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959608"/>
          <a:ext cx="4879236" cy="1243584"/>
        </p:xfrm>
        <a:graphic>
          <a:graphicData uri="http://schemas.openxmlformats.org/drawingml/2006/table">
            <a:tbl>
              <a:tblPr firstRow="0" bandRow="0"/>
              <a:tblGrid>
                <a:gridCol w="1349576"/>
                <a:gridCol w="2283898"/>
                <a:gridCol w="1245762"/>
              </a:tblGrid>
              <a:tr h="310896">
                <a:tc>
                  <a:txBody>
                    <a:bodyPr wrap="square"/>
                    <a:lstStyle/>
                    <a:p>
                      <a:r>
                        <a:rPr sz="950" b="1" i="0">
                          <a:solidFill>
                            <a:srgbClr val="FFFFFF"/>
                          </a:solidFill>
                          <a:latin typeface="Calibri"/>
                        </a:rPr>
                        <a:t>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Calculation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950" b="0" i="0">
                          <a:solidFill>
                            <a:srgbClr val="1F2933"/>
                          </a:solidFill>
                          <a:latin typeface="Calibri"/>
                        </a:rPr>
                        <a:t>start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Kelvin from the API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285.44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10896">
                <a:tc>
                  <a:txBody>
                    <a:bodyPr wrap="square"/>
                    <a:lstStyle/>
                    <a:p>
                      <a:r>
                        <a:rPr sz="950" b="0" i="0">
                          <a:solidFill>
                            <a:srgbClr val="1F2933"/>
                          </a:solidFill>
                          <a:latin typeface="Calibri"/>
                        </a:rPr>
                        <a:t>subtract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285.44 - 273.15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12.29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10896">
                <a:tc>
                  <a:txBody>
                    <a:bodyPr wrap="square"/>
                    <a:lstStyle/>
                    <a:p>
                      <a:r>
                        <a:rPr sz="950" b="0" i="0">
                          <a:solidFill>
                            <a:srgbClr val="1F2933"/>
                          </a:solidFill>
                          <a:latin typeface="Calibri"/>
                        </a:rPr>
                        <a:t>scale and shift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12.29 * 9 / 5 + 32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54.12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visual note"/>
          <p:cNvSpPr txBox="1"/>
          <p:nvPr/>
        </p:nvSpPr>
        <p:spPr>
          <a:xfrm>
            <a:off x="365760" y="4239768"/>
            <a:ext cx="4879238" cy="219456"/>
          </a:xfrm>
          <a:prstGeom prst="rect">
            <a:avLst/>
          </a:prstGeom>
          <a:noFill/>
        </p:spPr>
        <p:txBody>
          <a:bodyPr wrap="square" lIns="45720" rIns="45720" tIns="27432" bIns="27432" anchor="t">
            <a:spAutoFit/>
          </a:bodyPr>
          <a:lstStyle/>
          <a:p>
            <a:r>
              <a:rPr sz="950" b="0" i="1">
                <a:solidFill>
                  <a:srgbClr val="5B6773"/>
                </a:solidFill>
                <a:latin typeface="Calibri"/>
              </a:rPr>
              <a:t>printed rounded to one decimal</a:t>
            </a:r>
          </a:p>
        </p:txBody>
      </p:sp>
      <p:sp>
        <p:nvSpPr>
          <p:cNvPr id="11" name="TextBox 10"/>
          <p:cNvSpPr txBox="1"/>
          <p:nvPr/>
        </p:nvSpPr>
        <p:spPr>
          <a:xfrm>
            <a:off x="5581497" y="2941320"/>
            <a:ext cx="3196742" cy="201168"/>
          </a:xfrm>
          <a:prstGeom prst="rect">
            <a:avLst/>
          </a:prstGeom>
          <a:noFill/>
        </p:spPr>
        <p:txBody>
          <a:bodyPr wrap="square" lIns="45720" rIns="45720" tIns="27432" bIns="27432" anchor="t">
            <a:spAutoFit/>
          </a:bodyPr>
          <a:lstStyle/>
          <a:p>
            <a:r>
              <a:rPr sz="950" b="0" i="1">
                <a:solidFill>
                  <a:srgbClr val="5B6773"/>
                </a:solidFill>
                <a:latin typeface="Calibri"/>
              </a:rPr>
              <a:t>the same temperature</a:t>
            </a:r>
          </a:p>
        </p:txBody>
      </p:sp>
      <p:graphicFrame>
        <p:nvGraphicFramePr>
          <p:cNvPr id="12" name="chart"/>
          <p:cNvGraphicFramePr>
            <a:graphicFrameLocks noGrp="1"/>
          </p:cNvGraphicFramePr>
          <p:nvPr/>
        </p:nvGraphicFramePr>
        <p:xfrm>
          <a:off x="5581497" y="3142488"/>
          <a:ext cx="3196742" cy="1466088"/>
        </p:xfrm>
        <a:graphic>
          <a:graphicData uri="http://schemas.openxmlformats.org/drawingml/2006/chart">
            <c:chart xmlns:c="http://schemas.openxmlformats.org/drawingml/2006/chart" r:id="rId3"/>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Kelvin minus 273.15 is Celsius.</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An endpoint, its parameters and a secret key</a:t>
            </a:r>
          </a:p>
        </p:txBody>
      </p:sp>
      <p:sp>
        <p:nvSpPr>
          <p:cNvPr id="4" name="code"/>
          <p:cNvSpPr/>
          <p:nvPr/>
        </p:nvSpPr>
        <p:spPr>
          <a:xfrm>
            <a:off x="365760" y="786384"/>
            <a:ext cx="545668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from</a:t>
            </a:r>
            <a:r>
              <a:rPr sz="1050" b="0" i="0">
                <a:solidFill>
                  <a:srgbClr val="E6EDF3"/>
                </a:solidFill>
                <a:latin typeface="Courier New"/>
              </a:rPr>
              <a:t> </a:t>
            </a:r>
            <a:r>
              <a:rPr sz="1050" b="0" i="0">
                <a:solidFill>
                  <a:srgbClr val="E6EDF3"/>
                </a:solidFill>
                <a:latin typeface="Courier New"/>
              </a:rPr>
              <a:t>urllib</a:t>
            </a:r>
            <a:r>
              <a:rPr sz="1050" b="0" i="0">
                <a:solidFill>
                  <a:srgbClr val="E6EDF3"/>
                </a:solidFill>
                <a:latin typeface="Courier New"/>
              </a:rPr>
              <a:t>.</a:t>
            </a:r>
            <a:r>
              <a:rPr sz="1050" b="0" i="0">
                <a:solidFill>
                  <a:srgbClr val="E6EDF3"/>
                </a:solidFill>
                <a:latin typeface="Courier New"/>
              </a:rPr>
              <a:t>parse</a:t>
            </a:r>
            <a:r>
              <a:rPr sz="1050" b="0" i="0">
                <a:solidFill>
                  <a:srgbClr val="E6EDF3"/>
                </a:solidFill>
                <a:latin typeface="Courier New"/>
              </a:rPr>
              <a:t> </a:t>
            </a:r>
            <a:r>
              <a:rPr sz="1050" b="0" i="0">
                <a:solidFill>
                  <a:srgbClr val="C9A0FF"/>
                </a:solidFill>
                <a:latin typeface="Courier New"/>
              </a:rPr>
              <a:t>import</a:t>
            </a:r>
            <a:r>
              <a:rPr sz="1050" b="0" i="0">
                <a:solidFill>
                  <a:srgbClr val="E6EDF3"/>
                </a:solidFill>
                <a:latin typeface="Courier New"/>
              </a:rPr>
              <a:t> </a:t>
            </a:r>
            <a:r>
              <a:rPr sz="1050" b="0" i="0">
                <a:solidFill>
                  <a:srgbClr val="E6EDF3"/>
                </a:solidFill>
                <a:latin typeface="Courier New"/>
              </a:rPr>
              <a:t>urlencode</a:t>
            </a:r>
          </a:p>
          <a:p>
            <a:pPr algn="l"/>
            <a:r>
              <a:rPr sz="1050" b="0" i="0">
                <a:solidFill>
                  <a:srgbClr val="8FA3B8"/>
                </a:solidFill>
                <a:latin typeface="Courier New"/>
              </a:rPr>
              <a:t>&gt;&gt;&gt; </a:t>
            </a:r>
            <a:r>
              <a:rPr sz="1050" b="0" i="0">
                <a:solidFill>
                  <a:srgbClr val="E6EDF3"/>
                </a:solidFill>
                <a:latin typeface="Courier New"/>
              </a:rPr>
              <a:t>endpoint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'https://api.openweathermap.org/data/2.5/forecast'</a:t>
            </a:r>
          </a:p>
          <a:p>
            <a:pPr algn="l"/>
            <a:r>
              <a:rPr sz="1050" b="0" i="0">
                <a:solidFill>
                  <a:srgbClr val="8FA3B8"/>
                </a:solidFill>
                <a:latin typeface="Courier New"/>
              </a:rPr>
              <a:t>&gt;&gt;&gt; </a:t>
            </a:r>
            <a:r>
              <a:rPr sz="1050" b="0" i="0">
                <a:solidFill>
                  <a:srgbClr val="E6EDF3"/>
                </a:solidFill>
                <a:latin typeface="Courier New"/>
              </a:rPr>
              <a:t>params</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9BE3A8"/>
                </a:solidFill>
                <a:latin typeface="Courier New"/>
              </a:rPr>
              <a:t>'lat'</a:t>
            </a:r>
            <a:r>
              <a:rPr sz="1050" b="0" i="0">
                <a:solidFill>
                  <a:srgbClr val="E6EDF3"/>
                </a:solidFill>
                <a:latin typeface="Courier New"/>
              </a:rPr>
              <a:t>:</a:t>
            </a:r>
            <a:r>
              <a:rPr sz="1050" b="0" i="0">
                <a:solidFill>
                  <a:srgbClr val="E6EDF3"/>
                </a:solidFill>
                <a:latin typeface="Courier New"/>
              </a:rPr>
              <a:t> </a:t>
            </a:r>
            <a:r>
              <a:rPr sz="1050" b="0" i="0">
                <a:solidFill>
                  <a:srgbClr val="7CC4FF"/>
                </a:solidFill>
                <a:latin typeface="Courier New"/>
              </a:rPr>
              <a:t>42.36</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'lon'</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7CC4FF"/>
                </a:solidFill>
                <a:latin typeface="Courier New"/>
              </a:rPr>
              <a:t>71.06</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'appid'</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'KEY'</a:t>
            </a:r>
            <a:r>
              <a:rPr sz="1050" b="0" i="0">
                <a:solidFill>
                  <a:srgbClr val="E6EDF3"/>
                </a:solidFill>
                <a:latin typeface="Courier New"/>
              </a:rPr>
              <a:t>}</a:t>
            </a:r>
          </a:p>
        </p:txBody>
      </p:sp>
      <p:sp>
        <p:nvSpPr>
          <p:cNvPr id="5" name="explanation"/>
          <p:cNvSpPr txBox="1"/>
          <p:nvPr/>
        </p:nvSpPr>
        <p:spPr>
          <a:xfrm>
            <a:off x="5804154" y="786384"/>
            <a:ext cx="2974086" cy="890016"/>
          </a:xfrm>
          <a:prstGeom prst="rect">
            <a:avLst/>
          </a:prstGeom>
          <a:noFill/>
        </p:spPr>
        <p:txBody>
          <a:bodyPr wrap="square" lIns="128016" rIns="128016" tIns="18288" bIns="18288" anchor="ctr">
            <a:spAutoFit/>
          </a:bodyPr>
          <a:lstStyle/>
          <a:p>
            <a:r>
              <a:rPr sz="1200" b="0" i="0">
                <a:solidFill>
                  <a:srgbClr val="1F2933"/>
                </a:solidFill>
                <a:latin typeface="Calibri"/>
              </a:rPr>
              <a:t>The endpoint is the address of one service. The parameters say which place; the appid is the API key that names your account.</a:t>
            </a:r>
          </a:p>
        </p:txBody>
      </p:sp>
      <p:sp>
        <p:nvSpPr>
          <p:cNvPr id="6" name="code"/>
          <p:cNvSpPr/>
          <p:nvPr/>
        </p:nvSpPr>
        <p:spPr>
          <a:xfrm>
            <a:off x="365760" y="1722120"/>
            <a:ext cx="545668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50" b="0" i="0">
                <a:solidFill>
                  <a:srgbClr val="8FA3B8"/>
                </a:solidFill>
                <a:latin typeface="Courier New"/>
              </a:rPr>
              <a:t>&gt;&gt;&gt; </a:t>
            </a:r>
            <a:r>
              <a:rPr sz="1050" b="0" i="0">
                <a:solidFill>
                  <a:srgbClr val="E6EDF3"/>
                </a:solidFill>
                <a:latin typeface="Courier New"/>
              </a:rPr>
              <a:t>url</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endpoint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t>
            </a:r>
            <a:r>
              <a:rPr sz="1050" b="0" i="0">
                <a:solidFill>
                  <a:srgbClr val="E6EDF3"/>
                </a:solidFill>
                <a:latin typeface="Courier New"/>
              </a:rPr>
              <a:t> </a:t>
            </a:r>
            <a:r>
              <a:rPr sz="1050" b="0" i="0">
                <a:solidFill>
                  <a:srgbClr val="E6EDF3"/>
                </a:solidFill>
                <a:latin typeface="Courier New"/>
              </a:rPr>
              <a:t>+</a:t>
            </a:r>
            <a:r>
              <a:rPr sz="1050" b="0" i="0">
                <a:solidFill>
                  <a:srgbClr val="E6EDF3"/>
                </a:solidFill>
                <a:latin typeface="Courier New"/>
              </a:rPr>
              <a:t> </a:t>
            </a:r>
            <a:r>
              <a:rPr sz="1050" b="0" i="0">
                <a:solidFill>
                  <a:srgbClr val="E6EDF3"/>
                </a:solidFill>
                <a:latin typeface="Courier New"/>
              </a:rPr>
              <a:t>urlencode</a:t>
            </a:r>
            <a:r>
              <a:rPr sz="1050" b="0" i="0">
                <a:solidFill>
                  <a:srgbClr val="E6EDF3"/>
                </a:solidFill>
                <a:latin typeface="Courier New"/>
              </a:rPr>
              <a:t>(</a:t>
            </a:r>
            <a:r>
              <a:rPr sz="1050" b="0" i="0">
                <a:solidFill>
                  <a:srgbClr val="E6EDF3"/>
                </a:solidFill>
                <a:latin typeface="Courier New"/>
              </a:rPr>
              <a:t>params</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url</a:t>
            </a:r>
            <a:r>
              <a:rPr sz="1050" b="0" i="0">
                <a:solidFill>
                  <a:srgbClr val="E6EDF3"/>
                </a:solidFill>
                <a:latin typeface="Courier New"/>
              </a:rPr>
              <a:t>)</a:t>
            </a:r>
          </a:p>
          <a:p>
            <a:pPr algn="l"/>
            <a:r>
              <a:rPr sz="1050" b="0" i="0">
                <a:solidFill>
                  <a:srgbClr val="8FA3B8"/>
                </a:solidFill>
                <a:latin typeface="Courier New"/>
              </a:rPr>
              <a:t>&gt;&gt;&gt; </a:t>
            </a:r>
            <a:r>
              <a:rPr sz="1050" b="0" i="0">
                <a:solidFill>
                  <a:srgbClr val="C9A0FF"/>
                </a:solidFill>
                <a:latin typeface="Courier New"/>
              </a:rPr>
              <a:t>print</a:t>
            </a:r>
            <a:r>
              <a:rPr sz="1050" b="0" i="0">
                <a:solidFill>
                  <a:srgbClr val="E6EDF3"/>
                </a:solidFill>
                <a:latin typeface="Courier New"/>
              </a:rPr>
              <a:t>(</a:t>
            </a:r>
            <a:r>
              <a:rPr sz="1050" b="0" i="0">
                <a:solidFill>
                  <a:srgbClr val="E6EDF3"/>
                </a:solidFill>
                <a:latin typeface="Courier New"/>
              </a:rPr>
              <a:t>url</a:t>
            </a:r>
            <a:r>
              <a:rPr sz="1050" b="0" i="0">
                <a:solidFill>
                  <a:srgbClr val="E6EDF3"/>
                </a:solidFill>
                <a:latin typeface="Courier New"/>
              </a:rPr>
              <a:t>.</a:t>
            </a:r>
            <a:r>
              <a:rPr sz="1050" b="0" i="0">
                <a:solidFill>
                  <a:srgbClr val="E6EDF3"/>
                </a:solidFill>
                <a:latin typeface="Courier New"/>
              </a:rPr>
              <a:t>replace</a:t>
            </a:r>
            <a:r>
              <a:rPr sz="1050" b="0" i="0">
                <a:solidFill>
                  <a:srgbClr val="E6EDF3"/>
                </a:solidFill>
                <a:latin typeface="Courier New"/>
              </a:rPr>
              <a:t>(</a:t>
            </a:r>
            <a:r>
              <a:rPr sz="1050" b="0" i="0">
                <a:solidFill>
                  <a:srgbClr val="9BE3A8"/>
                </a:solidFill>
                <a:latin typeface="Courier New"/>
              </a:rPr>
              <a:t>'KEY'</a:t>
            </a:r>
            <a:r>
              <a:rPr sz="1050" b="0" i="0">
                <a:solidFill>
                  <a:srgbClr val="E6EDF3"/>
                </a:solidFill>
                <a:latin typeface="Courier New"/>
              </a:rPr>
              <a:t>,</a:t>
            </a:r>
            <a:r>
              <a:rPr sz="1050" b="0" i="0">
                <a:solidFill>
                  <a:srgbClr val="E6EDF3"/>
                </a:solidFill>
                <a:latin typeface="Courier New"/>
              </a:rPr>
              <a:t> </a:t>
            </a:r>
            <a:r>
              <a:rPr sz="1050" b="0" i="0">
                <a:solidFill>
                  <a:srgbClr val="9BE3A8"/>
                </a:solidFill>
                <a:latin typeface="Courier New"/>
              </a:rPr>
              <a:t>'***'</a:t>
            </a:r>
            <a:r>
              <a:rPr sz="1050" b="0" i="0">
                <a:solidFill>
                  <a:srgbClr val="E6EDF3"/>
                </a:solidFill>
                <a:latin typeface="Courier New"/>
              </a:rPr>
              <a:t>)</a:t>
            </a:r>
            <a:r>
              <a:rPr sz="1050" b="0" i="0">
                <a:solidFill>
                  <a:srgbClr val="E6EDF3"/>
                </a:solidFill>
                <a:latin typeface="Courier New"/>
              </a:rPr>
              <a:t>)</a:t>
            </a:r>
          </a:p>
        </p:txBody>
      </p:sp>
      <p:sp>
        <p:nvSpPr>
          <p:cNvPr id="7" name="explanation"/>
          <p:cNvSpPr txBox="1"/>
          <p:nvPr/>
        </p:nvSpPr>
        <p:spPr>
          <a:xfrm>
            <a:off x="5804154" y="1722120"/>
            <a:ext cx="2974086" cy="890016"/>
          </a:xfrm>
          <a:prstGeom prst="rect">
            <a:avLst/>
          </a:prstGeom>
          <a:noFill/>
        </p:spPr>
        <p:txBody>
          <a:bodyPr wrap="square" lIns="128016" rIns="128016" tIns="18288" bIns="18288" anchor="ctr">
            <a:spAutoFit/>
          </a:bodyPr>
          <a:lstStyle/>
          <a:p>
            <a:r>
              <a:rPr sz="1200" b="0" i="0">
                <a:solidFill>
                  <a:srgbClr val="1F2933"/>
                </a:solidFill>
                <a:latin typeface="Calibri"/>
              </a:rPr>
              <a:t>urlencode joins the pairs with ampersands. Show the address in a log only with the key hidden: a key is a password.</a:t>
            </a:r>
          </a:p>
        </p:txBody>
      </p:sp>
      <p:sp>
        <p:nvSpPr>
          <p:cNvPr id="8" name="result label"/>
          <p:cNvSpPr txBox="1"/>
          <p:nvPr/>
        </p:nvSpPr>
        <p:spPr>
          <a:xfrm>
            <a:off x="365760" y="26852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959608"/>
            <a:ext cx="3291840" cy="329184"/>
          </a:xfrm>
          <a:prstGeom prst="roundRect">
            <a:avLst>
              <a:gd name="adj" fmla="val 15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api.openweathermap.org/data/2.5/f...</a:t>
            </a:r>
          </a:p>
        </p:txBody>
      </p:sp>
      <p:cxnSp>
        <p:nvCxnSpPr>
          <p:cNvPr id="10" name="arrow"/>
          <p:cNvCxnSpPr/>
          <p:nvPr/>
        </p:nvCxnSpPr>
        <p:spPr>
          <a:xfrm flipV="1">
            <a:off x="2011680" y="3325368"/>
            <a:ext cx="0" cy="3840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65760" y="3727704"/>
            <a:ext cx="3291840" cy="219456"/>
          </a:xfrm>
          <a:prstGeom prst="rect">
            <a:avLst/>
          </a:prstGeom>
          <a:noFill/>
        </p:spPr>
        <p:txBody>
          <a:bodyPr wrap="square" lIns="45720" rIns="45720" tIns="27432" bIns="27432" anchor="t">
            <a:spAutoFit/>
          </a:bodyPr>
          <a:lstStyle/>
          <a:p>
            <a:pPr algn="ctr"/>
            <a:r>
              <a:rPr sz="950" b="0" i="0">
                <a:solidFill>
                  <a:srgbClr val="5B6773"/>
                </a:solidFill>
                <a:latin typeface="Calibri"/>
              </a:rPr>
              <a:t>endpoint</a:t>
            </a:r>
          </a:p>
        </p:txBody>
      </p:sp>
      <p:sp>
        <p:nvSpPr>
          <p:cNvPr id="12" name="Rounded Rectangle 11"/>
          <p:cNvSpPr/>
          <p:nvPr/>
        </p:nvSpPr>
        <p:spPr>
          <a:xfrm>
            <a:off x="3749040" y="2959608"/>
            <a:ext cx="128016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lat=42.36</a:t>
            </a:r>
          </a:p>
        </p:txBody>
      </p:sp>
      <p:cxnSp>
        <p:nvCxnSpPr>
          <p:cNvPr id="13" name="arrow"/>
          <p:cNvCxnSpPr/>
          <p:nvPr/>
        </p:nvCxnSpPr>
        <p:spPr>
          <a:xfrm flipV="1">
            <a:off x="4389120" y="3325368"/>
            <a:ext cx="0" cy="3840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749040" y="3727704"/>
            <a:ext cx="1280160" cy="219456"/>
          </a:xfrm>
          <a:prstGeom prst="rect">
            <a:avLst/>
          </a:prstGeom>
          <a:noFill/>
        </p:spPr>
        <p:txBody>
          <a:bodyPr wrap="square" lIns="45720" rIns="45720" tIns="27432" bIns="27432" anchor="t">
            <a:spAutoFit/>
          </a:bodyPr>
          <a:lstStyle/>
          <a:p>
            <a:pPr algn="ctr"/>
            <a:r>
              <a:rPr sz="950" b="0" i="0">
                <a:solidFill>
                  <a:srgbClr val="5B6773"/>
                </a:solidFill>
                <a:latin typeface="Calibri"/>
              </a:rPr>
              <a:t>parameter</a:t>
            </a:r>
          </a:p>
        </p:txBody>
      </p:sp>
      <p:sp>
        <p:nvSpPr>
          <p:cNvPr id="15" name="Rounded Rectangle 14"/>
          <p:cNvSpPr/>
          <p:nvPr/>
        </p:nvSpPr>
        <p:spPr>
          <a:xfrm>
            <a:off x="5120640" y="2959608"/>
            <a:ext cx="1371600" cy="329184"/>
          </a:xfrm>
          <a:prstGeom prst="roundRect">
            <a:avLst>
              <a:gd name="adj" fmla="val 1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lon=-71.06</a:t>
            </a:r>
          </a:p>
        </p:txBody>
      </p:sp>
      <p:cxnSp>
        <p:nvCxnSpPr>
          <p:cNvPr id="16" name="arrow"/>
          <p:cNvCxnSpPr/>
          <p:nvPr/>
        </p:nvCxnSpPr>
        <p:spPr>
          <a:xfrm flipV="1">
            <a:off x="5806440" y="3325368"/>
            <a:ext cx="0" cy="3840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120640" y="3727704"/>
            <a:ext cx="1371600" cy="219456"/>
          </a:xfrm>
          <a:prstGeom prst="rect">
            <a:avLst/>
          </a:prstGeom>
          <a:noFill/>
        </p:spPr>
        <p:txBody>
          <a:bodyPr wrap="square" lIns="45720" rIns="45720" tIns="27432" bIns="27432" anchor="t">
            <a:spAutoFit/>
          </a:bodyPr>
          <a:lstStyle/>
          <a:p>
            <a:pPr algn="ctr"/>
            <a:r>
              <a:rPr sz="950" b="0" i="0">
                <a:solidFill>
                  <a:srgbClr val="5B6773"/>
                </a:solidFill>
                <a:latin typeface="Calibri"/>
              </a:rPr>
              <a:t>parameter</a:t>
            </a:r>
          </a:p>
        </p:txBody>
      </p:sp>
      <p:sp>
        <p:nvSpPr>
          <p:cNvPr id="18" name="Rounded Rectangle 17"/>
          <p:cNvSpPr/>
          <p:nvPr/>
        </p:nvSpPr>
        <p:spPr>
          <a:xfrm>
            <a:off x="6583680" y="2959608"/>
            <a:ext cx="1554480" cy="329184"/>
          </a:xfrm>
          <a:prstGeom prst="roundRect">
            <a:avLst>
              <a:gd name="adj" fmla="val 15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appid=KEY</a:t>
            </a:r>
          </a:p>
        </p:txBody>
      </p:sp>
      <p:cxnSp>
        <p:nvCxnSpPr>
          <p:cNvPr id="19" name="arrow"/>
          <p:cNvCxnSpPr/>
          <p:nvPr/>
        </p:nvCxnSpPr>
        <p:spPr>
          <a:xfrm flipV="1">
            <a:off x="7360920" y="3325368"/>
            <a:ext cx="0" cy="384048"/>
          </a:xfrm>
          <a:prstGeom prst="line">
            <a:avLst/>
          </a:prstGeom>
          <a:ln w="1270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583680" y="3727704"/>
            <a:ext cx="1554480" cy="219456"/>
          </a:xfrm>
          <a:prstGeom prst="rect">
            <a:avLst/>
          </a:prstGeom>
          <a:noFill/>
        </p:spPr>
        <p:txBody>
          <a:bodyPr wrap="square" lIns="45720" rIns="45720" tIns="27432" bIns="27432" anchor="t">
            <a:spAutoFit/>
          </a:bodyPr>
          <a:lstStyle/>
          <a:p>
            <a:pPr algn="ctr"/>
            <a:r>
              <a:rPr sz="950" b="0" i="0">
                <a:solidFill>
                  <a:srgbClr val="5B6773"/>
                </a:solidFill>
                <a:latin typeface="Calibri"/>
              </a:rPr>
              <a:t>API key: secret</a:t>
            </a:r>
          </a:p>
        </p:txBody>
      </p:sp>
      <p:sp>
        <p:nvSpPr>
          <p:cNvPr id="21" name="masked"/>
          <p:cNvSpPr txBox="1"/>
          <p:nvPr/>
        </p:nvSpPr>
        <p:spPr>
          <a:xfrm>
            <a:off x="365760" y="4011168"/>
            <a:ext cx="8412480" cy="219456"/>
          </a:xfrm>
          <a:prstGeom prst="rect">
            <a:avLst/>
          </a:prstGeom>
          <a:noFill/>
        </p:spPr>
        <p:txBody>
          <a:bodyPr wrap="square" lIns="45720" rIns="45720" tIns="27432" bIns="27432" anchor="t">
            <a:spAutoFit/>
          </a:bodyPr>
          <a:lstStyle/>
          <a:p>
            <a:r>
              <a:rPr sz="950" b="0" i="0">
                <a:solidFill>
                  <a:srgbClr val="1F2933"/>
                </a:solidFill>
                <a:latin typeface="Courier New"/>
              </a:rPr>
              <a:t>in a log: api.openweathermap.org/data/2.5/forecast?lat=42.36&amp;lon=-71.06&amp;appid=***</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key is a password: hide it in logs.</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4: Reading HTML</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page is a tree of elements; a parser, not a pattern, finds what you need</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HTML tags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Nested elements, each with its own attributes.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select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Finds the elements that match a selector path.</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get_text, get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 the text, or one attribute, of an element.</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Regex trap</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pattern misses links that a parser finds.</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20040">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0040">
                <a:tc>
                  <a:txBody>
                    <a:bodyPr wrap="square"/>
                    <a:lstStyle/>
                    <a:p>
                      <a:r>
                        <a:rPr sz="100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reading 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Everyday pictures: picking things out of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HTML is nested tags with attributes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Pick elements by a path, read their text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Story: Beautiful Soup, for pages somebody...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34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Do not read HTML with a regular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Practice program: link verification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0040">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Project 8: the image and the Prev link of...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0040">
                <a:tc>
                  <a:txBody>
                    <a:bodyPr wrap="square"/>
                    <a:lstStyle/>
                    <a:p>
                      <a:r>
                        <a:rPr sz="10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Project 7: open the first results in brow...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reading HTML</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HTML is a set of nested boxes; a parser is a person who opens them in order.</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Understanding 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Russian dolls: every tag holds smaller tags and some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Parsing 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Reading a recipe card by card, noting each heading and each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Parsing HTML with Beautiful Soup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patient proofreader who can read even a messy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Beautiful Soup (bs4)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kitchen sieve: pour in the messy page and the structure stays.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bs4.BeautifulSoup()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Switching on the sieve: you pour in the text and name the parser.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CSS selector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postal address for an element: street, house number, flat.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Developer Tools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X-ray glasses: you see the boxes inside the page in front of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picking things out of a page</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Picking things from a parsed page is like using the index of a book.</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566160"/>
                <a:gridCol w="48463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select()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Looking a word up in the index: you get every page where it appears.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get_text()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Reading only the printed words of a box, not its label.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get()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one label on a box, such as the address on an envelope.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Project 7: Open All Search Results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every tab of a shopping list at once instead of clicking one by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Project 8: Download XKCD Comics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Collecting a comic series by following the Previous arrow back to issue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HTML is nested tags with attributes</a:t>
            </a:r>
          </a:p>
        </p:txBody>
      </p:sp>
      <p:sp>
        <p:nvSpPr>
          <p:cNvPr id="4" name="code"/>
          <p:cNvSpPr/>
          <p:nvPr/>
        </p:nvSpPr>
        <p:spPr>
          <a:xfrm>
            <a:off x="365760" y="786384"/>
            <a:ext cx="5010912" cy="94284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from</a:t>
            </a:r>
            <a:r>
              <a:rPr sz="1300" b="0" i="0">
                <a:solidFill>
                  <a:srgbClr val="E6EDF3"/>
                </a:solidFill>
                <a:latin typeface="Courier New"/>
              </a:rPr>
              <a:t> </a:t>
            </a:r>
            <a:r>
              <a:rPr sz="1300" b="0" i="0">
                <a:solidFill>
                  <a:srgbClr val="E6EDF3"/>
                </a:solidFill>
                <a:latin typeface="Courier New"/>
              </a:rPr>
              <a:t>html</a:t>
            </a:r>
            <a:r>
              <a:rPr sz="1300" b="0" i="0">
                <a:solidFill>
                  <a:srgbClr val="E6EDF3"/>
                </a:solidFill>
                <a:latin typeface="Courier New"/>
              </a:rPr>
              <a:t>.</a:t>
            </a:r>
            <a:r>
              <a:rPr sz="1300" b="0" i="0">
                <a:solidFill>
                  <a:srgbClr val="E6EDF3"/>
                </a:solidFill>
                <a:latin typeface="Courier New"/>
              </a:rPr>
              <a:t>parser</a:t>
            </a:r>
            <a:r>
              <a:rPr sz="1300" b="0" i="0">
                <a:solidFill>
                  <a:srgbClr val="E6EDF3"/>
                </a:solidFill>
                <a:latin typeface="Courier New"/>
              </a:rPr>
              <a: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HTMLParser</a:t>
            </a:r>
          </a:p>
          <a:p>
            <a:pPr algn="l"/>
            <a:r>
              <a:rPr sz="1300" b="0" i="0">
                <a:solidFill>
                  <a:srgbClr val="8FA3B8"/>
                </a:solidFill>
                <a:latin typeface="Courier New"/>
              </a:rPr>
              <a:t>&gt;&gt;&gt; </a:t>
            </a:r>
            <a:r>
              <a:rPr sz="1300" b="0" i="0">
                <a:solidFill>
                  <a:srgbClr val="E6EDF3"/>
                </a:solidFill>
                <a:latin typeface="Courier New"/>
              </a:rPr>
              <a:t>class</a:t>
            </a:r>
            <a:r>
              <a:rPr sz="1300" b="0" i="0">
                <a:solidFill>
                  <a:srgbClr val="E6EDF3"/>
                </a:solidFill>
                <a:latin typeface="Courier New"/>
              </a:rPr>
              <a:t> </a:t>
            </a:r>
            <a:r>
              <a:rPr sz="1300" b="0" i="0">
                <a:solidFill>
                  <a:srgbClr val="E6EDF3"/>
                </a:solidFill>
                <a:latin typeface="Courier New"/>
              </a:rPr>
              <a:t>Outline</a:t>
            </a:r>
            <a:r>
              <a:rPr sz="1300" b="0" i="0">
                <a:solidFill>
                  <a:srgbClr val="E6EDF3"/>
                </a:solidFill>
                <a:latin typeface="Courier New"/>
              </a:rPr>
              <a:t>(</a:t>
            </a:r>
            <a:r>
              <a:rPr sz="1300" b="0" i="0">
                <a:solidFill>
                  <a:srgbClr val="E6EDF3"/>
                </a:solidFill>
                <a:latin typeface="Courier New"/>
              </a:rPr>
              <a:t>HTMLParser</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def</a:t>
            </a:r>
            <a:r>
              <a:rPr sz="1300" b="0" i="0">
                <a:solidFill>
                  <a:srgbClr val="E6EDF3"/>
                </a:solidFill>
                <a:latin typeface="Courier New"/>
              </a:rPr>
              <a:t> </a:t>
            </a:r>
            <a:r>
              <a:rPr sz="1300" b="0" i="0">
                <a:solidFill>
                  <a:srgbClr val="E6EDF3"/>
                </a:solidFill>
                <a:latin typeface="Courier New"/>
              </a:rPr>
              <a:t>handle_starttag</a:t>
            </a:r>
            <a:r>
              <a:rPr sz="1300" b="0" i="0">
                <a:solidFill>
                  <a:srgbClr val="E6EDF3"/>
                </a:solidFill>
                <a:latin typeface="Courier New"/>
              </a:rPr>
              <a:t>(</a:t>
            </a:r>
            <a:r>
              <a:rPr sz="1300" b="0" i="0">
                <a:solidFill>
                  <a:srgbClr val="E6EDF3"/>
                </a:solidFill>
                <a:latin typeface="Courier New"/>
              </a:rPr>
              <a:t>self</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tag</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attrs</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tag</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dict</a:t>
            </a:r>
            <a:r>
              <a:rPr sz="1300" b="0" i="0">
                <a:solidFill>
                  <a:srgbClr val="E6EDF3"/>
                </a:solidFill>
                <a:latin typeface="Courier New"/>
              </a:rPr>
              <a:t>(</a:t>
            </a:r>
            <a:r>
              <a:rPr sz="1300" b="0" i="0">
                <a:solidFill>
                  <a:srgbClr val="E6EDF3"/>
                </a:solidFill>
                <a:latin typeface="Courier New"/>
              </a:rPr>
              <a:t>attrs</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5358384" y="786384"/>
            <a:ext cx="3419856" cy="942848"/>
          </a:xfrm>
          <a:prstGeom prst="rect">
            <a:avLst/>
          </a:prstGeom>
          <a:noFill/>
        </p:spPr>
        <p:txBody>
          <a:bodyPr wrap="square" lIns="128016" rIns="128016" tIns="18288" bIns="18288" anchor="ctr">
            <a:spAutoFit/>
          </a:bodyPr>
          <a:lstStyle/>
          <a:p>
            <a:r>
              <a:rPr sz="1250" b="0" i="0">
                <a:solidFill>
                  <a:srgbClr val="1F2933"/>
                </a:solidFill>
                <a:latin typeface="Calibri"/>
              </a:rPr>
              <a:t>HTMLParser calls handle_starttag for every opening tag. The attributes arrive as a list of name and value pairs.</a:t>
            </a:r>
          </a:p>
        </p:txBody>
      </p:sp>
      <p:sp>
        <p:nvSpPr>
          <p:cNvPr id="6" name="code"/>
          <p:cNvSpPr/>
          <p:nvPr/>
        </p:nvSpPr>
        <p:spPr>
          <a:xfrm>
            <a:off x="365760" y="1774952"/>
            <a:ext cx="5010912"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E6EDF3"/>
                </a:solidFill>
                <a:latin typeface="Courier New"/>
              </a:rPr>
              <a:t>page</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9BE3A8"/>
                </a:solidFill>
                <a:latin typeface="Courier New"/>
              </a:rPr>
              <a:t>'&lt;p id="a"&gt;Hello, &lt;b&gt;world&lt;/b&gt;!&lt;/p&gt;'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9BE3A8"/>
                </a:solidFill>
                <a:latin typeface="Courier New"/>
              </a:rPr>
              <a:t>'&lt;a class="s" href="/x"&gt;link&lt;/a&gt;'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Outline</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feed</a:t>
            </a:r>
            <a:r>
              <a:rPr sz="1300" b="0" i="0">
                <a:solidFill>
                  <a:srgbClr val="E6EDF3"/>
                </a:solidFill>
                <a:latin typeface="Courier New"/>
              </a:rPr>
              <a:t>(</a:t>
            </a:r>
            <a:r>
              <a:rPr sz="1300" b="0" i="0">
                <a:solidFill>
                  <a:srgbClr val="E6EDF3"/>
                </a:solidFill>
                <a:latin typeface="Courier New"/>
              </a:rPr>
              <a:t>page</a:t>
            </a:r>
            <a:r>
              <a:rPr sz="1300" b="0" i="0">
                <a:solidFill>
                  <a:srgbClr val="E6EDF3"/>
                </a:solidFill>
                <a:latin typeface="Courier New"/>
              </a:rPr>
              <a:t>)</a:t>
            </a:r>
          </a:p>
        </p:txBody>
      </p:sp>
      <p:sp>
        <p:nvSpPr>
          <p:cNvPr id="7" name="explanation"/>
          <p:cNvSpPr txBox="1"/>
          <p:nvPr/>
        </p:nvSpPr>
        <p:spPr>
          <a:xfrm>
            <a:off x="5358384" y="1774952"/>
            <a:ext cx="3419856" cy="921765"/>
          </a:xfrm>
          <a:prstGeom prst="rect">
            <a:avLst/>
          </a:prstGeom>
          <a:noFill/>
        </p:spPr>
        <p:txBody>
          <a:bodyPr wrap="square" lIns="128016" rIns="128016" tIns="18288" bIns="18288" anchor="ctr">
            <a:spAutoFit/>
          </a:bodyPr>
          <a:lstStyle/>
          <a:p>
            <a:r>
              <a:rPr sz="1250" b="0" i="0">
                <a:solidFill>
                  <a:srgbClr val="1F2933"/>
                </a:solidFill>
                <a:latin typeface="Calibri"/>
              </a:rPr>
              <a:t>feed walks through the page text. The p tag holds an id, the b tag has none, and the a tag holds a class and an address.</a:t>
            </a:r>
          </a:p>
        </p:txBody>
      </p:sp>
      <p:sp>
        <p:nvSpPr>
          <p:cNvPr id="8" name="result label"/>
          <p:cNvSpPr txBox="1"/>
          <p:nvPr/>
        </p:nvSpPr>
        <p:spPr>
          <a:xfrm>
            <a:off x="365760" y="276986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2194560" y="3044189"/>
            <a:ext cx="1463040" cy="310896"/>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alibri"/>
              </a:rPr>
              <a:t>the page</a:t>
            </a:r>
          </a:p>
        </p:txBody>
      </p:sp>
      <p:sp>
        <p:nvSpPr>
          <p:cNvPr id="10" name="Rounded Rectangle 9"/>
          <p:cNvSpPr/>
          <p:nvPr/>
        </p:nvSpPr>
        <p:spPr>
          <a:xfrm>
            <a:off x="365760" y="3592829"/>
            <a:ext cx="2743200"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  {'id': 'a'}</a:t>
            </a:r>
          </a:p>
        </p:txBody>
      </p:sp>
      <p:sp>
        <p:nvSpPr>
          <p:cNvPr id="11" name="Rounded Rectangle 10"/>
          <p:cNvSpPr/>
          <p:nvPr/>
        </p:nvSpPr>
        <p:spPr>
          <a:xfrm>
            <a:off x="3474720" y="3592829"/>
            <a:ext cx="3200400" cy="310896"/>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  {'class': 's', 'href': '/x'}</a:t>
            </a:r>
          </a:p>
        </p:txBody>
      </p:sp>
      <p:sp>
        <p:nvSpPr>
          <p:cNvPr id="12" name="Rounded Rectangle 11"/>
          <p:cNvSpPr/>
          <p:nvPr/>
        </p:nvSpPr>
        <p:spPr>
          <a:xfrm>
            <a:off x="914400" y="4141469"/>
            <a:ext cx="1828800" cy="310896"/>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  {}  (no attributes)</a:t>
            </a:r>
          </a:p>
        </p:txBody>
      </p:sp>
      <p:cxnSp>
        <p:nvCxnSpPr>
          <p:cNvPr id="13" name="arrow"/>
          <p:cNvCxnSpPr/>
          <p:nvPr/>
        </p:nvCxnSpPr>
        <p:spPr>
          <a:xfrm flipH="1">
            <a:off x="1737360" y="3364229"/>
            <a:ext cx="822960" cy="210312"/>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arrow"/>
          <p:cNvCxnSpPr/>
          <p:nvPr/>
        </p:nvCxnSpPr>
        <p:spPr>
          <a:xfrm>
            <a:off x="3291840" y="3364229"/>
            <a:ext cx="1645920" cy="210312"/>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arrow"/>
          <p:cNvCxnSpPr/>
          <p:nvPr/>
        </p:nvCxnSpPr>
        <p:spPr>
          <a:xfrm>
            <a:off x="1737360" y="3912869"/>
            <a:ext cx="91440" cy="210312"/>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visual note"/>
          <p:cNvSpPr txBox="1"/>
          <p:nvPr/>
        </p:nvSpPr>
        <p:spPr>
          <a:xfrm>
            <a:off x="6858000" y="3638549"/>
            <a:ext cx="1920239" cy="219456"/>
          </a:xfrm>
          <a:prstGeom prst="rect">
            <a:avLst/>
          </a:prstGeom>
          <a:noFill/>
        </p:spPr>
        <p:txBody>
          <a:bodyPr wrap="square" lIns="45720" rIns="45720" tIns="27432" bIns="27432" anchor="t">
            <a:spAutoFit/>
          </a:bodyPr>
          <a:lstStyle/>
          <a:p>
            <a:r>
              <a:rPr sz="950" b="0" i="1">
                <a:solidFill>
                  <a:srgbClr val="5B6773"/>
                </a:solidFill>
                <a:latin typeface="Calibri"/>
              </a:rPr>
              <a:t>tag, then its attributes</a:t>
            </a:r>
          </a:p>
        </p:txBody>
      </p:sp>
      <p:sp>
        <p:nvSpPr>
          <p:cNvPr id="17" name="visual note"/>
          <p:cNvSpPr txBox="1"/>
          <p:nvPr/>
        </p:nvSpPr>
        <p:spPr>
          <a:xfrm>
            <a:off x="2926079" y="4187189"/>
            <a:ext cx="2743200" cy="219456"/>
          </a:xfrm>
          <a:prstGeom prst="rect">
            <a:avLst/>
          </a:prstGeom>
          <a:noFill/>
        </p:spPr>
        <p:txBody>
          <a:bodyPr wrap="square" lIns="45720" rIns="45720" tIns="27432" bIns="27432" anchor="t">
            <a:spAutoFit/>
          </a:bodyPr>
          <a:lstStyle/>
          <a:p>
            <a:r>
              <a:rPr sz="950" b="0" i="1">
                <a:solidFill>
                  <a:srgbClr val="5B6773"/>
                </a:solidFill>
                <a:latin typeface="Calibri"/>
              </a:rPr>
              <a:t>b sits inside p; a stands beside p</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HTML is nested tags with attributes.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Pick elements by a path, read their text and attributes</a:t>
            </a:r>
          </a:p>
        </p:txBody>
      </p:sp>
      <p:sp>
        <p:nvSpPr>
          <p:cNvPr id="4" name="code"/>
          <p:cNvSpPr/>
          <p:nvPr/>
        </p:nvSpPr>
        <p:spPr>
          <a:xfrm>
            <a:off x="365760" y="786384"/>
            <a:ext cx="4302251"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xml</a:t>
            </a:r>
            <a:r>
              <a:rPr sz="900" b="0" i="0">
                <a:solidFill>
                  <a:srgbClr val="E6EDF3"/>
                </a:solidFill>
                <a:latin typeface="Courier New"/>
              </a:rPr>
              <a:t>.</a:t>
            </a:r>
            <a:r>
              <a:rPr sz="900" b="0" i="0">
                <a:solidFill>
                  <a:srgbClr val="E6EDF3"/>
                </a:solidFill>
                <a:latin typeface="Courier New"/>
              </a:rPr>
              <a:t>etree</a:t>
            </a:r>
            <a:r>
              <a:rPr sz="900" b="0" i="0">
                <a:solidFill>
                  <a:srgbClr val="E6EDF3"/>
                </a:solidFill>
                <a:latin typeface="Courier New"/>
              </a:rPr>
              <a:t>.</a:t>
            </a:r>
            <a:r>
              <a:rPr sz="900" b="0" i="0">
                <a:solidFill>
                  <a:srgbClr val="E6EDF3"/>
                </a:solidFill>
                <a:latin typeface="Courier New"/>
              </a:rPr>
              <a:t>ElementTree</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ET</a:t>
            </a:r>
          </a:p>
          <a:p>
            <a:pPr algn="l"/>
            <a:r>
              <a:rPr sz="900" b="0" i="0">
                <a:solidFill>
                  <a:srgbClr val="8FA3B8"/>
                </a:solidFill>
                <a:latin typeface="Courier New"/>
              </a:rPr>
              <a:t>&gt;&gt;&gt; </a:t>
            </a:r>
            <a:r>
              <a:rPr sz="900" b="0" i="0">
                <a:solidFill>
                  <a:srgbClr val="E6EDF3"/>
                </a:solidFill>
                <a:latin typeface="Courier New"/>
              </a:rPr>
              <a:t>page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'&lt;div&gt;&lt;p id="a"&gt;Hello, &lt;b&gt;world&lt;/b&gt;!&lt;/p&gt;'</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'&lt;p class="s"&gt;&lt;a href="/x"&gt;link&lt;/a&gt;&lt;/p&gt;&lt;/div&gt;'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root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fromstring</a:t>
            </a:r>
            <a:r>
              <a:rPr sz="900" b="0" i="0">
                <a:solidFill>
                  <a:srgbClr val="E6EDF3"/>
                </a:solidFill>
                <a:latin typeface="Courier New"/>
              </a:rPr>
              <a:t>(</a:t>
            </a:r>
            <a:r>
              <a:rPr sz="900" b="0" i="0">
                <a:solidFill>
                  <a:srgbClr val="E6EDF3"/>
                </a:solidFill>
                <a:latin typeface="Courier New"/>
              </a:rPr>
              <a:t>page</a:t>
            </a:r>
            <a:r>
              <a:rPr sz="900" b="0" i="0">
                <a:solidFill>
                  <a:srgbClr val="E6EDF3"/>
                </a:solidFill>
                <a:latin typeface="Courier New"/>
              </a:rPr>
              <a:t>)</a:t>
            </a:r>
          </a:p>
        </p:txBody>
      </p:sp>
      <p:sp>
        <p:nvSpPr>
          <p:cNvPr id="5" name="explanation"/>
          <p:cNvSpPr txBox="1"/>
          <p:nvPr/>
        </p:nvSpPr>
        <p:spPr>
          <a:xfrm>
            <a:off x="4649724" y="786384"/>
            <a:ext cx="4128515" cy="694944"/>
          </a:xfrm>
          <a:prstGeom prst="rect">
            <a:avLst/>
          </a:prstGeom>
          <a:noFill/>
        </p:spPr>
        <p:txBody>
          <a:bodyPr wrap="square" lIns="128016" rIns="128016" tIns="18288" bIns="18288" anchor="ctr">
            <a:spAutoFit/>
          </a:bodyPr>
          <a:lstStyle/>
          <a:p>
            <a:r>
              <a:rPr sz="1100" b="0" i="0">
                <a:solidFill>
                  <a:srgbClr val="1F2933"/>
                </a:solidFill>
                <a:latin typeface="Calibri"/>
              </a:rPr>
              <a:t>Beautiful Soup is not part of Python. ElementTree reads a well-formed page and offers the same three moves: select, get_text and get.</a:t>
            </a:r>
          </a:p>
        </p:txBody>
      </p:sp>
      <p:sp>
        <p:nvSpPr>
          <p:cNvPr id="6" name="code"/>
          <p:cNvSpPr/>
          <p:nvPr/>
        </p:nvSpPr>
        <p:spPr>
          <a:xfrm>
            <a:off x="365760" y="1527048"/>
            <a:ext cx="430225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by_id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findall</a:t>
            </a:r>
            <a:r>
              <a:rPr sz="900" b="0" i="0">
                <a:solidFill>
                  <a:srgbClr val="E6EDF3"/>
                </a:solidFill>
                <a:latin typeface="Courier New"/>
              </a:rPr>
              <a:t>(</a:t>
            </a:r>
            <a:r>
              <a:rPr sz="900" b="0" i="0">
                <a:solidFill>
                  <a:srgbClr val="9BE3A8"/>
                </a:solidFill>
                <a:latin typeface="Courier New"/>
              </a:rPr>
              <a:t>".//*[@id='a']"</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by_id</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repr</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join</a:t>
            </a:r>
            <a:r>
              <a:rPr sz="900" b="0" i="0">
                <a:solidFill>
                  <a:srgbClr val="E6EDF3"/>
                </a:solidFill>
                <a:latin typeface="Courier New"/>
              </a:rPr>
              <a:t>(</a:t>
            </a:r>
            <a:r>
              <a:rPr sz="900" b="0" i="0">
                <a:solidFill>
                  <a:srgbClr val="E6EDF3"/>
                </a:solidFill>
                <a:latin typeface="Courier New"/>
              </a:rPr>
              <a:t>by_id</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itertext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4649724" y="1527048"/>
            <a:ext cx="4128515" cy="651891"/>
          </a:xfrm>
          <a:prstGeom prst="rect">
            <a:avLst/>
          </a:prstGeom>
          <a:noFill/>
        </p:spPr>
        <p:txBody>
          <a:bodyPr wrap="square" lIns="128016" rIns="128016" tIns="18288" bIns="18288" anchor="ctr">
            <a:spAutoFit/>
          </a:bodyPr>
          <a:lstStyle/>
          <a:p>
            <a:r>
              <a:rPr sz="1100" b="0" i="0">
                <a:solidFill>
                  <a:srgbClr val="1F2933"/>
                </a:solidFill>
                <a:latin typeface="Calibri"/>
              </a:rPr>
              <a:t>The path .//*[@id='a'] plays select('#a'). itertext gathers the text of the element and of its children, as get_text does.</a:t>
            </a:r>
          </a:p>
        </p:txBody>
      </p:sp>
      <p:sp>
        <p:nvSpPr>
          <p:cNvPr id="8" name="code"/>
          <p:cNvSpPr/>
          <p:nvPr/>
        </p:nvSpPr>
        <p:spPr>
          <a:xfrm>
            <a:off x="365760" y="2224658"/>
            <a:ext cx="430225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link</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find</a:t>
            </a:r>
            <a:r>
              <a:rPr sz="900" b="0" i="0">
                <a:solidFill>
                  <a:srgbClr val="E6EDF3"/>
                </a:solidFill>
                <a:latin typeface="Courier New"/>
              </a:rPr>
              <a:t>(</a:t>
            </a:r>
            <a:r>
              <a:rPr sz="900" b="0" i="0">
                <a:solidFill>
                  <a:srgbClr val="9BE3A8"/>
                </a:solidFill>
                <a:latin typeface="Courier New"/>
              </a:rPr>
              <a:t>".//p[@class='s']/a"</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link</a:t>
            </a:r>
            <a:r>
              <a:rPr sz="900" b="0" i="0">
                <a:solidFill>
                  <a:srgbClr val="E6EDF3"/>
                </a:solidFill>
                <a:latin typeface="Courier New"/>
              </a:rPr>
              <a:t>.</a:t>
            </a:r>
            <a:r>
              <a:rPr sz="900" b="0" i="0">
                <a:solidFill>
                  <a:srgbClr val="E6EDF3"/>
                </a:solidFill>
                <a:latin typeface="Courier New"/>
              </a:rPr>
              <a:t>get</a:t>
            </a:r>
            <a:r>
              <a:rPr sz="900" b="0" i="0">
                <a:solidFill>
                  <a:srgbClr val="E6EDF3"/>
                </a:solidFill>
                <a:latin typeface="Courier New"/>
              </a:rPr>
              <a:t>(</a:t>
            </a:r>
            <a:r>
              <a:rPr sz="900" b="0" i="0">
                <a:solidFill>
                  <a:srgbClr val="9BE3A8"/>
                </a:solidFill>
                <a:latin typeface="Courier New"/>
              </a:rPr>
              <a:t>'href'</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link</a:t>
            </a:r>
            <a:r>
              <a:rPr sz="900" b="0" i="0">
                <a:solidFill>
                  <a:srgbClr val="E6EDF3"/>
                </a:solidFill>
                <a:latin typeface="Courier New"/>
              </a:rPr>
              <a:t>.</a:t>
            </a:r>
            <a:r>
              <a:rPr sz="900" b="0" i="0">
                <a:solidFill>
                  <a:srgbClr val="E6EDF3"/>
                </a:solidFill>
                <a:latin typeface="Courier New"/>
              </a:rPr>
              <a:t>attrib</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findall</a:t>
            </a:r>
            <a:r>
              <a:rPr sz="900" b="0" i="0">
                <a:solidFill>
                  <a:srgbClr val="E6EDF3"/>
                </a:solidFill>
                <a:latin typeface="Courier New"/>
              </a:rPr>
              <a:t>(</a:t>
            </a:r>
            <a:r>
              <a:rPr sz="900" b="0" i="0">
                <a:solidFill>
                  <a:srgbClr val="9BE3A8"/>
                </a:solidFill>
                <a:latin typeface="Courier New"/>
              </a:rPr>
              <a:t>".//*[@class='nope']"</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4649724" y="2224658"/>
            <a:ext cx="4128515" cy="651891"/>
          </a:xfrm>
          <a:prstGeom prst="rect">
            <a:avLst/>
          </a:prstGeom>
          <a:noFill/>
        </p:spPr>
        <p:txBody>
          <a:bodyPr wrap="square" lIns="128016" rIns="128016" tIns="18288" bIns="18288" anchor="ctr">
            <a:spAutoFit/>
          </a:bodyPr>
          <a:lstStyle/>
          <a:p>
            <a:r>
              <a:rPr sz="1100" b="0" i="0">
                <a:solidFill>
                  <a:srgbClr val="1F2933"/>
                </a:solidFill>
                <a:latin typeface="Calibri"/>
              </a:rPr>
              <a:t>A path with a class and a child plays select('p.s &gt; a'). get reads one attribute; no match gives an empty list.</a:t>
            </a:r>
          </a:p>
        </p:txBody>
      </p:sp>
      <p:sp>
        <p:nvSpPr>
          <p:cNvPr id="10" name="result label"/>
          <p:cNvSpPr txBox="1"/>
          <p:nvPr/>
        </p:nvSpPr>
        <p:spPr>
          <a:xfrm>
            <a:off x="365760" y="294970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224021"/>
          <a:ext cx="8412478" cy="1325880"/>
        </p:xfrm>
        <a:graphic>
          <a:graphicData uri="http://schemas.openxmlformats.org/drawingml/2006/table">
            <a:tbl>
              <a:tblPr firstRow="0" bandRow="0"/>
              <a:tblGrid>
                <a:gridCol w="2912012"/>
                <a:gridCol w="3451273"/>
                <a:gridCol w="2049193"/>
              </a:tblGrid>
              <a:tr h="265176">
                <a:tc>
                  <a:txBody>
                    <a:bodyPr wrap="square"/>
                    <a:lstStyle/>
                    <a:p>
                      <a:r>
                        <a:rPr sz="900" b="1" i="0">
                          <a:solidFill>
                            <a:srgbClr val="FFFFFF"/>
                          </a:solidFill>
                          <a:latin typeface="Calibri"/>
                        </a:rPr>
                        <a:t>Beautiful Soup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The stand-in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65176">
                <a:tc>
                  <a:txBody>
                    <a:bodyPr wrap="square"/>
                    <a:lstStyle/>
                    <a:p>
                      <a:r>
                        <a:rPr sz="900" b="0" i="0">
                          <a:solidFill>
                            <a:srgbClr val="1F2933"/>
                          </a:solidFill>
                          <a:latin typeface="Courier New"/>
                        </a:rPr>
                        <a:t>select('#a')[0].get_text()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''.join(...itertext())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'Hello, world!'  (1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176">
                <a:tc>
                  <a:txBody>
                    <a:bodyPr wrap="square"/>
                    <a:lstStyle/>
                    <a:p>
                      <a:r>
                        <a:rPr sz="900" b="0" i="0">
                          <a:solidFill>
                            <a:srgbClr val="1F2933"/>
                          </a:solidFill>
                          <a:latin typeface="Courier New"/>
                        </a:rPr>
                        <a:t>select('p.s &gt; a')[0].get('href')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find(".//p[@class='s']/a").get('href')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65176">
                <a:tc>
                  <a:txBody>
                    <a:bodyPr wrap="square"/>
                    <a:lstStyle/>
                    <a:p>
                      <a:r>
                        <a:rPr sz="900" b="0" i="0">
                          <a:solidFill>
                            <a:srgbClr val="1F2933"/>
                          </a:solidFill>
                          <a:latin typeface="Courier New"/>
                        </a:rPr>
                        <a:t>select('p.s a')[0].attrs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link.attrib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{'href': '/x'}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65176">
                <a:tc>
                  <a:txBody>
                    <a:bodyPr wrap="square"/>
                    <a:lstStyle/>
                    <a:p>
                      <a:r>
                        <a:rPr sz="900" b="0" i="0">
                          <a:solidFill>
                            <a:srgbClr val="1F2933"/>
                          </a:solidFill>
                          <a:latin typeface="Courier New"/>
                        </a:rPr>
                        <a:t>select('.nope')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findall(".//*[@class='nope']")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  (no match)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select, get_text and get: the three moves.</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Beautiful Soup, for pages somebody else wrote, 2004</a:t>
            </a:r>
          </a:p>
        </p:txBody>
      </p:sp>
      <p:pic>
        <p:nvPicPr>
          <p:cNvPr id="4" name="photo richardson" descr="Picture for the story: Beautiful Soup, for pages somebody else wrote, 2004"/>
          <p:cNvPicPr>
            <a:picLocks noChangeAspect="1"/>
          </p:cNvPicPr>
          <p:nvPr/>
        </p:nvPicPr>
        <p:blipFill>
          <a:blip r:embed="rId3"/>
          <a:stretch>
            <a:fillRect/>
          </a:stretch>
        </p:blipFill>
        <p:spPr>
          <a:xfrm>
            <a:off x="366066" y="868680"/>
            <a:ext cx="2651146"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Tenniel's Mock Turtle (1865, public domain), as shown on crummy.com.</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Leonard Richardson.</a:t>
            </a:r>
          </a:p>
        </p:txBody>
      </p:sp>
      <p:sp>
        <p:nvSpPr>
          <p:cNvPr id="8" name="card"/>
          <p:cNvSpPr/>
          <p:nvPr/>
        </p:nvSpPr>
        <p:spPr>
          <a:xfrm>
            <a:off x="3200400" y="1307592"/>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Beautiful Soup, a library that pulls data out of messy HTML.</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Since 2004; version 3 was the official line from May 2006 to March 2012.</a:t>
            </a:r>
          </a:p>
        </p:txBody>
      </p:sp>
      <p:sp>
        <p:nvSpPr>
          <p:cNvPr id="12" name="card"/>
          <p:cNvSpPr/>
          <p:nvPr/>
        </p:nvSpPr>
        <p:spPr>
          <a:xfrm>
            <a:off x="3200400" y="2551176"/>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His own site, crummy.com, whose picture is Tenniel's Mock Turtle from Alice.</a:t>
            </a:r>
          </a:p>
        </p:txBody>
      </p:sp>
      <p:sp>
        <p:nvSpPr>
          <p:cNvPr id="14" name="card"/>
          <p:cNvSpPr/>
          <p:nvPr/>
        </p:nvSpPr>
        <p:spPr>
          <a:xfrm>
            <a:off x="3200400" y="317296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7296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His page says: you did not write that awful page, you just want some data out of it.</a:t>
            </a:r>
          </a:p>
        </p:txBody>
      </p:sp>
      <p:sp>
        <p:nvSpPr>
          <p:cNvPr id="16" name="card"/>
          <p:cNvSpPr/>
          <p:nvPr/>
        </p:nvSpPr>
        <p:spPr>
          <a:xfrm>
            <a:off x="3200400" y="3794759"/>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794759"/>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It turns tag soup, badly built HTML, into a tree that select() and get_text() can search.</a:t>
            </a:r>
          </a:p>
        </p:txBody>
      </p:sp>
      <p:sp>
        <p:nvSpPr>
          <p:cNvPr id="18" name="read"/>
          <p:cNvSpPr txBox="1"/>
          <p:nvPr/>
        </p:nvSpPr>
        <p:spPr>
          <a:xfrm>
            <a:off x="3200400" y="443483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Beautiful Soup (crummy.com)</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Do not read HTML with a regular expression</a:t>
            </a:r>
          </a:p>
        </p:txBody>
      </p:sp>
      <p:sp>
        <p:nvSpPr>
          <p:cNvPr id="4" name="code"/>
          <p:cNvSpPr/>
          <p:nvPr/>
        </p:nvSpPr>
        <p:spPr>
          <a:xfrm>
            <a:off x="365760" y="786384"/>
            <a:ext cx="4370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re</a:t>
            </a:r>
          </a:p>
          <a:p>
            <a:pPr algn="l"/>
            <a:r>
              <a:rPr sz="900" b="0" i="0">
                <a:solidFill>
                  <a:srgbClr val="8FA3B8"/>
                </a:solidFill>
                <a:latin typeface="Courier New"/>
              </a:rPr>
              <a:t>&gt;&gt;&gt; </a:t>
            </a:r>
            <a:r>
              <a:rPr sz="900" b="0" i="0">
                <a:solidFill>
                  <a:srgbClr val="E6EDF3"/>
                </a:solidFill>
                <a:latin typeface="Courier New"/>
              </a:rPr>
              <a:t>html</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'&lt;a href="/x"&gt;x&lt;/a&gt; &lt;a class="k" href="/y"&gt;y&lt;/a&gt;'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a:t>
            </a:r>
            <a:r>
              <a:rPr sz="900" b="0" i="0">
                <a:solidFill>
                  <a:srgbClr val="E6EDF3"/>
                </a:solidFill>
                <a:latin typeface="Courier New"/>
              </a:rPr>
              <a:t>.</a:t>
            </a:r>
            <a:r>
              <a:rPr sz="900" b="0" i="0">
                <a:solidFill>
                  <a:srgbClr val="E6EDF3"/>
                </a:solidFill>
                <a:latin typeface="Courier New"/>
              </a:rPr>
              <a:t>findall</a:t>
            </a:r>
            <a:r>
              <a:rPr sz="900" b="0" i="0">
                <a:solidFill>
                  <a:srgbClr val="E6EDF3"/>
                </a:solidFill>
                <a:latin typeface="Courier New"/>
              </a:rPr>
              <a:t>(</a:t>
            </a:r>
            <a:r>
              <a:rPr sz="900" b="0" i="0">
                <a:solidFill>
                  <a:srgbClr val="9BE3A8"/>
                </a:solidFill>
                <a:latin typeface="Courier New"/>
              </a:rPr>
              <a:t>'&lt;a href="(.*?)"&gt;'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html</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4718304" y="786384"/>
            <a:ext cx="4059935" cy="651891"/>
          </a:xfrm>
          <a:prstGeom prst="rect">
            <a:avLst/>
          </a:prstGeom>
          <a:noFill/>
        </p:spPr>
        <p:txBody>
          <a:bodyPr wrap="square" lIns="128016" rIns="128016" tIns="18288" bIns="18288" anchor="ctr">
            <a:spAutoFit/>
          </a:bodyPr>
          <a:lstStyle/>
          <a:p>
            <a:r>
              <a:rPr sz="1100" b="0" i="0">
                <a:solidFill>
                  <a:srgbClr val="1F2933"/>
                </a:solidFill>
                <a:latin typeface="Calibri"/>
              </a:rPr>
              <a:t>The pattern expects href right after a. The second link has a class first, so the pattern silently misses it.</a:t>
            </a:r>
          </a:p>
        </p:txBody>
      </p:sp>
      <p:sp>
        <p:nvSpPr>
          <p:cNvPr id="6" name="code"/>
          <p:cNvSpPr/>
          <p:nvPr/>
        </p:nvSpPr>
        <p:spPr>
          <a:xfrm>
            <a:off x="365760" y="1483995"/>
            <a:ext cx="4370831"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from</a:t>
            </a:r>
            <a:r>
              <a:rPr sz="900" b="0" i="0">
                <a:solidFill>
                  <a:srgbClr val="E6EDF3"/>
                </a:solidFill>
                <a:latin typeface="Courier New"/>
              </a:rPr>
              <a:t> </a:t>
            </a:r>
            <a:r>
              <a:rPr sz="900" b="0" i="0">
                <a:solidFill>
                  <a:srgbClr val="E6EDF3"/>
                </a:solidFill>
                <a:latin typeface="Courier New"/>
              </a:rPr>
              <a:t>html</a:t>
            </a:r>
            <a:r>
              <a:rPr sz="900" b="0" i="0">
                <a:solidFill>
                  <a:srgbClr val="E6EDF3"/>
                </a:solidFill>
                <a:latin typeface="Courier New"/>
              </a:rPr>
              <a:t>.</a:t>
            </a:r>
            <a:r>
              <a:rPr sz="900" b="0" i="0">
                <a:solidFill>
                  <a:srgbClr val="E6EDF3"/>
                </a:solidFill>
                <a:latin typeface="Courier New"/>
              </a:rPr>
              <a:t>parser</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HTMLParser</a:t>
            </a:r>
          </a:p>
          <a:p>
            <a:pPr algn="l"/>
            <a:r>
              <a:rPr sz="900" b="0" i="0">
                <a:solidFill>
                  <a:srgbClr val="8FA3B8"/>
                </a:solidFill>
                <a:latin typeface="Courier New"/>
              </a:rPr>
              <a:t>&gt;&gt;&gt; </a:t>
            </a:r>
            <a:r>
              <a:rPr sz="900" b="0" i="0">
                <a:solidFill>
                  <a:srgbClr val="E6EDF3"/>
                </a:solidFill>
                <a:latin typeface="Courier New"/>
              </a:rPr>
              <a:t>class</a:t>
            </a:r>
            <a:r>
              <a:rPr sz="900" b="0" i="0">
                <a:solidFill>
                  <a:srgbClr val="E6EDF3"/>
                </a:solidFill>
                <a:latin typeface="Courier New"/>
              </a:rPr>
              <a:t> </a:t>
            </a:r>
            <a:r>
              <a:rPr sz="900" b="0" i="0">
                <a:solidFill>
                  <a:srgbClr val="E6EDF3"/>
                </a:solidFill>
                <a:latin typeface="Courier New"/>
              </a:rPr>
              <a:t>Links</a:t>
            </a:r>
            <a:r>
              <a:rPr sz="900" b="0" i="0">
                <a:solidFill>
                  <a:srgbClr val="E6EDF3"/>
                </a:solidFill>
                <a:latin typeface="Courier New"/>
              </a:rPr>
              <a:t>(</a:t>
            </a:r>
            <a:r>
              <a:rPr sz="900" b="0" i="0">
                <a:solidFill>
                  <a:srgbClr val="E6EDF3"/>
                </a:solidFill>
                <a:latin typeface="Courier New"/>
              </a:rPr>
              <a:t>HTMLParser</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found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handle_starttag</a:t>
            </a:r>
            <a:r>
              <a:rPr sz="900" b="0" i="0">
                <a:solidFill>
                  <a:srgbClr val="E6EDF3"/>
                </a:solidFill>
                <a:latin typeface="Courier New"/>
              </a:rPr>
              <a:t>(</a:t>
            </a:r>
            <a:r>
              <a:rPr sz="900" b="0" i="0">
                <a:solidFill>
                  <a:srgbClr val="E6EDF3"/>
                </a:solidFill>
                <a:latin typeface="Courier New"/>
              </a:rPr>
              <a:t>self</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tag</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attrs</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tag</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self</a:t>
            </a:r>
            <a:r>
              <a:rPr sz="900" b="0" i="0">
                <a:solidFill>
                  <a:srgbClr val="E6EDF3"/>
                </a:solidFill>
                <a:latin typeface="Courier New"/>
              </a:rPr>
              <a:t>.</a:t>
            </a:r>
            <a:r>
              <a:rPr sz="900" b="0" i="0">
                <a:solidFill>
                  <a:srgbClr val="E6EDF3"/>
                </a:solidFill>
                <a:latin typeface="Courier New"/>
              </a:rPr>
              <a:t>found</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dict</a:t>
            </a:r>
            <a:r>
              <a:rPr sz="900" b="0" i="0">
                <a:solidFill>
                  <a:srgbClr val="E6EDF3"/>
                </a:solidFill>
                <a:latin typeface="Courier New"/>
              </a:rPr>
              <a:t>(</a:t>
            </a:r>
            <a:r>
              <a:rPr sz="900" b="0" i="0">
                <a:solidFill>
                  <a:srgbClr val="E6EDF3"/>
                </a:solidFill>
                <a:latin typeface="Courier New"/>
              </a:rPr>
              <a:t>attrs</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'href'</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4718304" y="1483995"/>
            <a:ext cx="4059935" cy="973836"/>
          </a:xfrm>
          <a:prstGeom prst="rect">
            <a:avLst/>
          </a:prstGeom>
          <a:noFill/>
        </p:spPr>
        <p:txBody>
          <a:bodyPr wrap="square" lIns="128016" rIns="128016" tIns="18288" bIns="18288" anchor="ctr">
            <a:spAutoFit/>
          </a:bodyPr>
          <a:lstStyle/>
          <a:p>
            <a:r>
              <a:rPr sz="1100" b="0" i="0">
                <a:solidFill>
                  <a:srgbClr val="1F2933"/>
                </a:solidFill>
                <a:latin typeface="Calibri"/>
              </a:rPr>
              <a:t>A parser reads attributes by name, whatever their order. Beautiful Soup is a friendlier parser of the same kind.</a:t>
            </a:r>
          </a:p>
        </p:txBody>
      </p:sp>
      <p:sp>
        <p:nvSpPr>
          <p:cNvPr id="8" name="code"/>
          <p:cNvSpPr/>
          <p:nvPr/>
        </p:nvSpPr>
        <p:spPr>
          <a:xfrm>
            <a:off x="365760" y="2503551"/>
            <a:ext cx="43708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Links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feed</a:t>
            </a:r>
            <a:r>
              <a:rPr sz="900" b="0" i="0">
                <a:solidFill>
                  <a:srgbClr val="E6EDF3"/>
                </a:solidFill>
                <a:latin typeface="Courier New"/>
              </a:rPr>
              <a:t>(</a:t>
            </a:r>
            <a:r>
              <a:rPr sz="900" b="0" i="0">
                <a:solidFill>
                  <a:srgbClr val="E6EDF3"/>
                </a:solidFill>
                <a:latin typeface="Courier New"/>
              </a:rPr>
              <a:t>html</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Links</a:t>
            </a:r>
            <a:r>
              <a:rPr sz="900" b="0" i="0">
                <a:solidFill>
                  <a:srgbClr val="E6EDF3"/>
                </a:solidFill>
                <a:latin typeface="Courier New"/>
              </a:rPr>
              <a:t>.</a:t>
            </a:r>
            <a:r>
              <a:rPr sz="900" b="0" i="0">
                <a:solidFill>
                  <a:srgbClr val="E6EDF3"/>
                </a:solidFill>
                <a:latin typeface="Courier New"/>
              </a:rPr>
              <a:t>found</a:t>
            </a:r>
            <a:r>
              <a:rPr sz="900" b="0" i="0">
                <a:solidFill>
                  <a:srgbClr val="E6EDF3"/>
                </a:solidFill>
                <a:latin typeface="Courier New"/>
              </a:rPr>
              <a:t>)</a:t>
            </a:r>
          </a:p>
        </p:txBody>
      </p:sp>
      <p:sp>
        <p:nvSpPr>
          <p:cNvPr id="9" name="explanation"/>
          <p:cNvSpPr txBox="1"/>
          <p:nvPr/>
        </p:nvSpPr>
        <p:spPr>
          <a:xfrm>
            <a:off x="4718304" y="2503551"/>
            <a:ext cx="4059935" cy="477266"/>
          </a:xfrm>
          <a:prstGeom prst="rect">
            <a:avLst/>
          </a:prstGeom>
          <a:noFill/>
        </p:spPr>
        <p:txBody>
          <a:bodyPr wrap="square" lIns="128016" rIns="128016" tIns="18288" bIns="18288" anchor="ctr">
            <a:spAutoFit/>
          </a:bodyPr>
          <a:lstStyle/>
          <a:p>
            <a:r>
              <a:rPr sz="1100" b="0" i="0">
                <a:solidFill>
                  <a:srgbClr val="1F2933"/>
                </a:solidFill>
                <a:latin typeface="Calibri"/>
              </a:rPr>
              <a:t>Both links are found. Use a parser for HTML and keep regular expressions for plain text.</a:t>
            </a:r>
          </a:p>
        </p:txBody>
      </p:sp>
      <p:sp>
        <p:nvSpPr>
          <p:cNvPr id="10" name="result label"/>
          <p:cNvSpPr txBox="1"/>
          <p:nvPr/>
        </p:nvSpPr>
        <p:spPr>
          <a:xfrm>
            <a:off x="365760" y="3053969"/>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28288"/>
          <a:ext cx="5047487" cy="932688"/>
        </p:xfrm>
        <a:graphic>
          <a:graphicData uri="http://schemas.openxmlformats.org/drawingml/2006/table">
            <a:tbl>
              <a:tblPr firstRow="0" bandRow="0"/>
              <a:tblGrid>
                <a:gridCol w="1615196"/>
                <a:gridCol w="2018995"/>
                <a:gridCol w="1413296"/>
              </a:tblGrid>
              <a:tr h="310896">
                <a:tc>
                  <a:txBody>
                    <a:bodyPr wrap="square"/>
                    <a:lstStyle/>
                    <a:p>
                      <a:r>
                        <a:rPr sz="1000" b="1" i="0">
                          <a:solidFill>
                            <a:srgbClr val="FFFFFF"/>
                          </a:solidFill>
                          <a:latin typeface="Calibri"/>
                        </a:rPr>
                        <a:t>Link in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Regular 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Parser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10896">
                <a:tc>
                  <a:txBody>
                    <a:bodyPr wrap="square"/>
                    <a:lstStyle/>
                    <a:p>
                      <a:r>
                        <a:rPr sz="10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found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alibri"/>
                        </a:rPr>
                        <a:t>found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10896">
                <a:tc>
                  <a:txBody>
                    <a:bodyPr wrap="square"/>
                    <a:lstStyle/>
                    <a:p>
                      <a:r>
                        <a:rPr sz="1000" b="0" i="0">
                          <a:solidFill>
                            <a:srgbClr val="1F2933"/>
                          </a:solidFill>
                          <a:latin typeface="Courier New"/>
                        </a:rPr>
                        <a: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MISSED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c>
                  <a:txBody>
                    <a:bodyPr wrap="square"/>
                    <a:lstStyle/>
                    <a:p>
                      <a:r>
                        <a:rPr sz="1000" b="0" i="0">
                          <a:solidFill>
                            <a:srgbClr val="1F2933"/>
                          </a:solidFill>
                          <a:latin typeface="Calibri"/>
                        </a:rPr>
                        <a:t>found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visual note"/>
          <p:cNvSpPr txBox="1"/>
          <p:nvPr/>
        </p:nvSpPr>
        <p:spPr>
          <a:xfrm>
            <a:off x="365760" y="4334129"/>
            <a:ext cx="5047488" cy="219456"/>
          </a:xfrm>
          <a:prstGeom prst="rect">
            <a:avLst/>
          </a:prstGeom>
          <a:noFill/>
        </p:spPr>
        <p:txBody>
          <a:bodyPr wrap="square" lIns="45720" rIns="45720" tIns="27432" bIns="27432" anchor="t">
            <a:spAutoFit/>
          </a:bodyPr>
          <a:lstStyle/>
          <a:p>
            <a:r>
              <a:rPr sz="950" b="0" i="1">
                <a:solidFill>
                  <a:srgbClr val="5B6773"/>
                </a:solidFill>
                <a:latin typeface="Calibri"/>
              </a:rPr>
              <a:t>the second link has a class before its href</a:t>
            </a:r>
          </a:p>
        </p:txBody>
      </p:sp>
      <p:sp>
        <p:nvSpPr>
          <p:cNvPr id="13" name="TextBox 12"/>
          <p:cNvSpPr txBox="1"/>
          <p:nvPr/>
        </p:nvSpPr>
        <p:spPr>
          <a:xfrm>
            <a:off x="5749747" y="3310000"/>
            <a:ext cx="3028492" cy="201168"/>
          </a:xfrm>
          <a:prstGeom prst="rect">
            <a:avLst/>
          </a:prstGeom>
          <a:noFill/>
        </p:spPr>
        <p:txBody>
          <a:bodyPr wrap="square" lIns="45720" rIns="45720" tIns="27432" bIns="27432" anchor="t">
            <a:spAutoFit/>
          </a:bodyPr>
          <a:lstStyle/>
          <a:p>
            <a:r>
              <a:rPr sz="950" b="0" i="1">
                <a:solidFill>
                  <a:srgbClr val="5B6773"/>
                </a:solidFill>
                <a:latin typeface="Calibri"/>
              </a:rPr>
              <a:t>links found</a:t>
            </a:r>
          </a:p>
        </p:txBody>
      </p:sp>
      <p:graphicFrame>
        <p:nvGraphicFramePr>
          <p:cNvPr id="14" name="chart"/>
          <p:cNvGraphicFramePr>
            <a:graphicFrameLocks noGrp="1"/>
          </p:cNvGraphicFramePr>
          <p:nvPr/>
        </p:nvGraphicFramePr>
        <p:xfrm>
          <a:off x="5749747" y="3511169"/>
          <a:ext cx="3028492" cy="1097407"/>
        </p:xfrm>
        <a:graphic>
          <a:graphicData uri="http://schemas.openxmlformats.org/drawingml/2006/chart">
            <c:chart xmlns:c="http://schemas.openxmlformats.org/drawingml/2006/chart" r:id="rId3"/>
          </a:graphicData>
        </a:graphic>
      </p:graphicFrame>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Use a parser for HTML, not a pattern.</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link verification</a:t>
            </a:r>
          </a:p>
        </p:txBody>
      </p:sp>
      <p:sp>
        <p:nvSpPr>
          <p:cNvPr id="4" name="code"/>
          <p:cNvSpPr/>
          <p:nvPr/>
        </p:nvSpPr>
        <p:spPr>
          <a:xfrm>
            <a:off x="365760" y="786384"/>
            <a:ext cx="423748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from</a:t>
            </a:r>
            <a:r>
              <a:rPr sz="950" b="0" i="0">
                <a:solidFill>
                  <a:srgbClr val="E6EDF3"/>
                </a:solidFill>
                <a:latin typeface="Courier New"/>
              </a:rPr>
              <a:t> </a:t>
            </a:r>
            <a:r>
              <a:rPr sz="950" b="0" i="0">
                <a:solidFill>
                  <a:srgbClr val="E6EDF3"/>
                </a:solidFill>
                <a:latin typeface="Courier New"/>
              </a:rPr>
              <a:t>urllib</a:t>
            </a:r>
            <a:r>
              <a:rPr sz="950" b="0" i="0">
                <a:solidFill>
                  <a:srgbClr val="E6EDF3"/>
                </a:solidFill>
                <a:latin typeface="Courier New"/>
              </a:rPr>
              <a:t>.</a:t>
            </a:r>
            <a:r>
              <a:rPr sz="950" b="0" i="0">
                <a:solidFill>
                  <a:srgbClr val="E6EDF3"/>
                </a:solidFill>
                <a:latin typeface="Courier New"/>
              </a:rPr>
              <a:t>parse</a:t>
            </a:r>
            <a:r>
              <a:rPr sz="950" b="0" i="0">
                <a:solidFill>
                  <a:srgbClr val="E6EDF3"/>
                </a:solidFill>
                <a:latin typeface="Courier New"/>
              </a:rPr>
              <a: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urljoin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urldefrag</a:t>
            </a:r>
          </a:p>
          <a:p>
            <a:pPr algn="l"/>
            <a:r>
              <a:rPr sz="950" b="0" i="0">
                <a:solidFill>
                  <a:srgbClr val="8FA3B8"/>
                </a:solidFill>
                <a:latin typeface="Courier New"/>
              </a:rPr>
              <a:t>&gt;&gt;&gt; </a:t>
            </a:r>
            <a:r>
              <a:rPr sz="950" b="0" i="0">
                <a:solidFill>
                  <a:srgbClr val="E6EDF3"/>
                </a:solidFill>
                <a:latin typeface="Courier New"/>
              </a:rPr>
              <a:t>site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'https://example.com'</a:t>
            </a:r>
          </a:p>
          <a:p>
            <a:pPr algn="l"/>
            <a:r>
              <a:rPr sz="950" b="0" i="0">
                <a:solidFill>
                  <a:srgbClr val="8FA3B8"/>
                </a:solidFill>
                <a:latin typeface="Courier New"/>
              </a:rPr>
              <a:t>&gt;&gt;&gt; </a:t>
            </a:r>
            <a:r>
              <a:rPr sz="950" b="0" i="0">
                <a:solidFill>
                  <a:srgbClr val="E6EDF3"/>
                </a:solidFill>
                <a:latin typeface="Courier New"/>
              </a:rPr>
              <a:t>page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site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'/guide/index.html'</a:t>
            </a:r>
          </a:p>
          <a:p>
            <a:pPr algn="l"/>
            <a:r>
              <a:rPr sz="950" b="0" i="0">
                <a:solidFill>
                  <a:srgbClr val="8FA3B8"/>
                </a:solidFill>
                <a:latin typeface="Courier New"/>
              </a:rPr>
              <a:t>&gt;&gt;&gt; </a:t>
            </a:r>
            <a:r>
              <a:rPr sz="950" b="0" i="0">
                <a:solidFill>
                  <a:srgbClr val="E6EDF3"/>
                </a:solidFill>
                <a:latin typeface="Courier New"/>
              </a:rPr>
              <a:t>hrefs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'intro.html'</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'intro.html#top'</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'/about'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9BE3A8"/>
                </a:solidFill>
                <a:latin typeface="Courier New"/>
              </a:rPr>
              <a:t>'https://other.org/x'</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seen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p>
        </p:txBody>
      </p:sp>
      <p:sp>
        <p:nvSpPr>
          <p:cNvPr id="5" name="explanation"/>
          <p:cNvSpPr txBox="1"/>
          <p:nvPr/>
        </p:nvSpPr>
        <p:spPr>
          <a:xfrm>
            <a:off x="4584954" y="786384"/>
            <a:ext cx="4193285" cy="1020317"/>
          </a:xfrm>
          <a:prstGeom prst="rect">
            <a:avLst/>
          </a:prstGeom>
          <a:noFill/>
        </p:spPr>
        <p:txBody>
          <a:bodyPr wrap="square" lIns="128016" rIns="128016" tIns="18288" bIns="18288" anchor="ctr">
            <a:spAutoFit/>
          </a:bodyPr>
          <a:lstStyle/>
          <a:p>
            <a:r>
              <a:rPr sz="1100" b="0" i="0">
                <a:solidFill>
                  <a:srgbClr val="1F2933"/>
                </a:solidFill>
                <a:latin typeface="Calibri"/>
              </a:rPr>
              <a:t>A page holds relative links, links with a fragment and links to other sites. The program must sort them out.</a:t>
            </a:r>
          </a:p>
        </p:txBody>
      </p:sp>
      <p:sp>
        <p:nvSpPr>
          <p:cNvPr id="6" name="code"/>
          <p:cNvSpPr/>
          <p:nvPr/>
        </p:nvSpPr>
        <p:spPr>
          <a:xfrm>
            <a:off x="365760" y="1852422"/>
            <a:ext cx="4237482" cy="87312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for</a:t>
            </a:r>
            <a:r>
              <a:rPr sz="950" b="0" i="0">
                <a:solidFill>
                  <a:srgbClr val="E6EDF3"/>
                </a:solidFill>
                <a:latin typeface="Courier New"/>
              </a:rPr>
              <a:t> </a:t>
            </a:r>
            <a:r>
              <a:rPr sz="950" b="0" i="0">
                <a:solidFill>
                  <a:srgbClr val="E6EDF3"/>
                </a:solidFill>
                <a:latin typeface="Courier New"/>
              </a:rPr>
              <a:t>href</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hrefs</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full</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fragment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urldefrag</a:t>
            </a:r>
            <a:r>
              <a:rPr sz="950" b="0" i="0">
                <a:solidFill>
                  <a:srgbClr val="E6EDF3"/>
                </a:solidFill>
                <a:latin typeface="Courier New"/>
              </a:rPr>
              <a:t>(</a:t>
            </a:r>
            <a:r>
              <a:rPr sz="950" b="0" i="0">
                <a:solidFill>
                  <a:srgbClr val="E6EDF3"/>
                </a:solidFill>
                <a:latin typeface="Courier New"/>
              </a:rPr>
              <a:t>urljoin</a:t>
            </a:r>
            <a:r>
              <a:rPr sz="950" b="0" i="0">
                <a:solidFill>
                  <a:srgbClr val="E6EDF3"/>
                </a:solidFill>
                <a:latin typeface="Courier New"/>
              </a:rPr>
              <a:t>(</a:t>
            </a:r>
            <a:r>
              <a:rPr sz="950" b="0" i="0">
                <a:solidFill>
                  <a:srgbClr val="E6EDF3"/>
                </a:solidFill>
                <a:latin typeface="Courier New"/>
              </a:rPr>
              <a:t>page</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href</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if</a:t>
            </a:r>
            <a:r>
              <a:rPr sz="950" b="0" i="0">
                <a:solidFill>
                  <a:srgbClr val="E6EDF3"/>
                </a:solidFill>
                <a:latin typeface="Courier New"/>
              </a:rPr>
              <a:t> </a:t>
            </a:r>
            <a:r>
              <a:rPr sz="950" b="0" i="0">
                <a:solidFill>
                  <a:srgbClr val="E6EDF3"/>
                </a:solidFill>
                <a:latin typeface="Courier New"/>
              </a:rPr>
              <a:t>full</a:t>
            </a:r>
            <a:r>
              <a:rPr sz="950" b="0" i="0">
                <a:solidFill>
                  <a:srgbClr val="E6EDF3"/>
                </a:solidFill>
                <a:latin typeface="Courier New"/>
              </a:rPr>
              <a:t>.</a:t>
            </a:r>
            <a:r>
              <a:rPr sz="950" b="0" i="0">
                <a:solidFill>
                  <a:srgbClr val="E6EDF3"/>
                </a:solidFill>
                <a:latin typeface="Courier New"/>
              </a:rPr>
              <a:t>startswith</a:t>
            </a:r>
            <a:r>
              <a:rPr sz="950" b="0" i="0">
                <a:solidFill>
                  <a:srgbClr val="E6EDF3"/>
                </a:solidFill>
                <a:latin typeface="Courier New"/>
              </a:rPr>
              <a:t>(</a:t>
            </a:r>
            <a:r>
              <a:rPr sz="950" b="0" i="0">
                <a:solidFill>
                  <a:srgbClr val="E6EDF3"/>
                </a:solidFill>
                <a:latin typeface="Courier New"/>
              </a:rPr>
              <a:t>site</a:t>
            </a:r>
            <a:r>
              <a:rPr sz="950" b="0" i="0">
                <a:solidFill>
                  <a:srgbClr val="E6EDF3"/>
                </a:solidFill>
                <a:latin typeface="Courier New"/>
              </a:rPr>
              <a:t>)</a:t>
            </a:r>
            <a:r>
              <a:rPr sz="950" b="0" i="0">
                <a:solidFill>
                  <a:srgbClr val="E6EDF3"/>
                </a:solidFill>
                <a:latin typeface="Courier New"/>
              </a:rPr>
              <a:t> </a:t>
            </a:r>
            <a:r>
              <a:rPr sz="950" b="0" i="0">
                <a:solidFill>
                  <a:srgbClr val="C9A0FF"/>
                </a:solidFill>
                <a:latin typeface="Courier New"/>
              </a:rPr>
              <a:t>and</a:t>
            </a:r>
            <a:r>
              <a:rPr sz="950" b="0" i="0">
                <a:solidFill>
                  <a:srgbClr val="E6EDF3"/>
                </a:solidFill>
                <a:latin typeface="Courier New"/>
              </a:rPr>
              <a:t> </a:t>
            </a:r>
            <a:r>
              <a:rPr sz="950" b="0" i="0">
                <a:solidFill>
                  <a:srgbClr val="E6EDF3"/>
                </a:solidFill>
                <a:latin typeface="Courier New"/>
              </a:rPr>
              <a:t>full</a:t>
            </a:r>
            <a:r>
              <a:rPr sz="950" b="0" i="0">
                <a:solidFill>
                  <a:srgbClr val="E6EDF3"/>
                </a:solidFill>
                <a:latin typeface="Courier New"/>
              </a:rPr>
              <a:t> </a:t>
            </a:r>
            <a:r>
              <a:rPr sz="950" b="0" i="0">
                <a:solidFill>
                  <a:srgbClr val="C9A0FF"/>
                </a:solidFill>
                <a:latin typeface="Courier New"/>
              </a:rPr>
              <a:t>not</a:t>
            </a:r>
            <a:r>
              <a:rPr sz="950" b="0" i="0">
                <a:solidFill>
                  <a:srgbClr val="E6EDF3"/>
                </a:solidFill>
                <a:latin typeface="Courier New"/>
              </a:rPr>
              <a:t> </a:t>
            </a:r>
            <a:r>
              <a:rPr sz="950" b="0" i="0">
                <a:solidFill>
                  <a:srgbClr val="C9A0FF"/>
                </a:solidFill>
                <a:latin typeface="Courier New"/>
              </a:rPr>
              <a:t>in</a:t>
            </a:r>
            <a:r>
              <a:rPr sz="950" b="0" i="0">
                <a:solidFill>
                  <a:srgbClr val="E6EDF3"/>
                </a:solidFill>
                <a:latin typeface="Courier New"/>
              </a:rPr>
              <a:t> </a:t>
            </a:r>
            <a:r>
              <a:rPr sz="950" b="0" i="0">
                <a:solidFill>
                  <a:srgbClr val="E6EDF3"/>
                </a:solidFill>
                <a:latin typeface="Courier New"/>
              </a:rPr>
              <a:t>seen</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seen</a:t>
            </a:r>
            <a:r>
              <a:rPr sz="950" b="0" i="0">
                <a:solidFill>
                  <a:srgbClr val="E6EDF3"/>
                </a:solidFill>
                <a:latin typeface="Courier New"/>
              </a:rPr>
              <a:t>.</a:t>
            </a:r>
            <a:r>
              <a:rPr sz="950" b="0" i="0">
                <a:solidFill>
                  <a:srgbClr val="E6EDF3"/>
                </a:solidFill>
                <a:latin typeface="Courier New"/>
              </a:rPr>
              <a:t>append</a:t>
            </a:r>
            <a:r>
              <a:rPr sz="950" b="0" i="0">
                <a:solidFill>
                  <a:srgbClr val="E6EDF3"/>
                </a:solidFill>
                <a:latin typeface="Courier New"/>
              </a:rPr>
              <a:t>(</a:t>
            </a:r>
            <a:r>
              <a:rPr sz="950" b="0" i="0">
                <a:solidFill>
                  <a:srgbClr val="E6EDF3"/>
                </a:solidFill>
                <a:latin typeface="Courier New"/>
              </a:rPr>
              <a:t>full</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seen</a:t>
            </a:r>
            <a:r>
              <a:rPr sz="950" b="0" i="0">
                <a:solidFill>
                  <a:srgbClr val="E6EDF3"/>
                </a:solidFill>
                <a:latin typeface="Courier New"/>
              </a:rPr>
              <a:t>)</a:t>
            </a:r>
          </a:p>
        </p:txBody>
      </p:sp>
      <p:sp>
        <p:nvSpPr>
          <p:cNvPr id="7" name="explanation"/>
          <p:cNvSpPr txBox="1"/>
          <p:nvPr/>
        </p:nvSpPr>
        <p:spPr>
          <a:xfrm>
            <a:off x="4584954" y="1852422"/>
            <a:ext cx="4193285" cy="873125"/>
          </a:xfrm>
          <a:prstGeom prst="rect">
            <a:avLst/>
          </a:prstGeom>
          <a:noFill/>
        </p:spPr>
        <p:txBody>
          <a:bodyPr wrap="square" lIns="128016" rIns="128016" tIns="18288" bIns="18288" anchor="ctr">
            <a:spAutoFit/>
          </a:bodyPr>
          <a:lstStyle/>
          <a:p>
            <a:r>
              <a:rPr sz="1100" b="0" i="0">
                <a:solidFill>
                  <a:srgbClr val="1F2933"/>
                </a:solidFill>
                <a:latin typeface="Calibri"/>
              </a:rPr>
              <a:t>urljoin makes every link absolute and urldefrag drops the fragment, so a page linked twice counts once. Other sites are skipped.</a:t>
            </a:r>
          </a:p>
        </p:txBody>
      </p:sp>
      <p:sp>
        <p:nvSpPr>
          <p:cNvPr id="8" name="result label"/>
          <p:cNvSpPr txBox="1"/>
          <p:nvPr/>
        </p:nvSpPr>
        <p:spPr>
          <a:xfrm>
            <a:off x="365760" y="279869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073018"/>
          <a:ext cx="8412478" cy="1463040"/>
        </p:xfrm>
        <a:graphic>
          <a:graphicData uri="http://schemas.openxmlformats.org/drawingml/2006/table">
            <a:tbl>
              <a:tblPr firstRow="0" bandRow="0"/>
              <a:tblGrid>
                <a:gridCol w="2051824"/>
                <a:gridCol w="4103648"/>
                <a:gridCol w="2257006"/>
              </a:tblGrid>
              <a:tr h="292608">
                <a:tc>
                  <a:txBody>
                    <a:bodyPr wrap="square"/>
                    <a:lstStyle/>
                    <a:p>
                      <a:r>
                        <a:rPr sz="950" b="1" i="0">
                          <a:solidFill>
                            <a:srgbClr val="FFFFFF"/>
                          </a:solidFill>
                          <a:latin typeface="Calibri"/>
                        </a:rPr>
                        <a:t>href on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Made absolute, no fragment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Verdict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950" b="0" i="0">
                          <a:solidFill>
                            <a:srgbClr val="1F2933"/>
                          </a:solidFill>
                          <a:latin typeface="Courier New"/>
                        </a:rPr>
                        <a:t>intro.html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https://example.com/guide/intro.html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92608">
                <a:tc>
                  <a:txBody>
                    <a:bodyPr wrap="square"/>
                    <a:lstStyle/>
                    <a:p>
                      <a:r>
                        <a:rPr sz="950" b="0" i="0">
                          <a:solidFill>
                            <a:srgbClr val="1F2933"/>
                          </a:solidFill>
                          <a:latin typeface="Courier New"/>
                        </a:rPr>
                        <a:t>intro.html#top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https://example.com/guide/intro.html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skipped: seen already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92608">
                <a:tc>
                  <a:txBody>
                    <a:bodyPr wrap="square"/>
                    <a:lstStyle/>
                    <a:p>
                      <a:r>
                        <a:rPr sz="950" b="0" i="0">
                          <a:solidFill>
                            <a:srgbClr val="1F2933"/>
                          </a:solidFill>
                          <a:latin typeface="Courier New"/>
                        </a:rPr>
                        <a:t>/about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https://example.com/about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kept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92608">
                <a:tc>
                  <a:txBody>
                    <a:bodyPr wrap="square"/>
                    <a:lstStyle/>
                    <a:p>
                      <a:r>
                        <a:rPr sz="950" b="0" i="0">
                          <a:solidFill>
                            <a:srgbClr val="1F2933"/>
                          </a:solidFill>
                          <a:latin typeface="Courier New"/>
                        </a:rPr>
                        <a:t>https://other.org/x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https://other.org/x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skipped: another site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Absolute, no fragment, same site, once.</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Project 8: the image and the Prev link of a comic page</a:t>
            </a:r>
          </a:p>
        </p:txBody>
      </p:sp>
      <p:sp>
        <p:nvSpPr>
          <p:cNvPr id="4" name="code"/>
          <p:cNvSpPr/>
          <p:nvPr/>
        </p:nvSpPr>
        <p:spPr>
          <a:xfrm>
            <a:off x="365760" y="786384"/>
            <a:ext cx="4671821"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xml</a:t>
            </a:r>
            <a:r>
              <a:rPr sz="950" b="0" i="0">
                <a:solidFill>
                  <a:srgbClr val="E6EDF3"/>
                </a:solidFill>
                <a:latin typeface="Courier New"/>
              </a:rPr>
              <a:t>.</a:t>
            </a:r>
            <a:r>
              <a:rPr sz="950" b="0" i="0">
                <a:solidFill>
                  <a:srgbClr val="E6EDF3"/>
                </a:solidFill>
                <a:latin typeface="Courier New"/>
              </a:rPr>
              <a:t>etree</a:t>
            </a:r>
            <a:r>
              <a:rPr sz="950" b="0" i="0">
                <a:solidFill>
                  <a:srgbClr val="E6EDF3"/>
                </a:solidFill>
                <a:latin typeface="Courier New"/>
              </a:rPr>
              <a:t>.</a:t>
            </a:r>
            <a:r>
              <a:rPr sz="950" b="0" i="0">
                <a:solidFill>
                  <a:srgbClr val="E6EDF3"/>
                </a:solidFill>
                <a:latin typeface="Courier New"/>
              </a:rPr>
              <a:t>ElementTree</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ET</a:t>
            </a:r>
          </a:p>
          <a:p>
            <a:pPr algn="l"/>
            <a:r>
              <a:rPr sz="950" b="0" i="0">
                <a:solidFill>
                  <a:srgbClr val="8FA3B8"/>
                </a:solidFill>
                <a:latin typeface="Courier New"/>
              </a:rPr>
              <a:t>&gt;&gt;&gt; </a:t>
            </a:r>
            <a:r>
              <a:rPr sz="950" b="0" i="0">
                <a:solidFill>
                  <a:srgbClr val="E6EDF3"/>
                </a:solidFill>
                <a:latin typeface="Courier New"/>
              </a:rPr>
              <a:t>from</a:t>
            </a:r>
            <a:r>
              <a:rPr sz="950" b="0" i="0">
                <a:solidFill>
                  <a:srgbClr val="E6EDF3"/>
                </a:solidFill>
                <a:latin typeface="Courier New"/>
              </a:rPr>
              <a:t> </a:t>
            </a:r>
            <a:r>
              <a:rPr sz="950" b="0" i="0">
                <a:solidFill>
                  <a:srgbClr val="E6EDF3"/>
                </a:solidFill>
                <a:latin typeface="Courier New"/>
              </a:rPr>
              <a:t>urllib</a:t>
            </a:r>
            <a:r>
              <a:rPr sz="950" b="0" i="0">
                <a:solidFill>
                  <a:srgbClr val="E6EDF3"/>
                </a:solidFill>
                <a:latin typeface="Courier New"/>
              </a:rPr>
              <a:t>.</a:t>
            </a:r>
            <a:r>
              <a:rPr sz="950" b="0" i="0">
                <a:solidFill>
                  <a:srgbClr val="E6EDF3"/>
                </a:solidFill>
                <a:latin typeface="Courier New"/>
              </a:rPr>
              <a:t>parse</a:t>
            </a:r>
            <a:r>
              <a:rPr sz="950" b="0" i="0">
                <a:solidFill>
                  <a:srgbClr val="E6EDF3"/>
                </a:solidFill>
                <a:latin typeface="Courier New"/>
              </a:rPr>
              <a: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urljoin</a:t>
            </a:r>
          </a:p>
          <a:p>
            <a:pPr algn="l"/>
            <a:r>
              <a:rPr sz="950" b="0" i="0">
                <a:solidFill>
                  <a:srgbClr val="8FA3B8"/>
                </a:solidFill>
                <a:latin typeface="Courier New"/>
              </a:rPr>
              <a:t>&gt;&gt;&gt; </a:t>
            </a:r>
            <a:r>
              <a:rPr sz="950" b="0" i="0">
                <a:solidFill>
                  <a:srgbClr val="E6EDF3"/>
                </a:solidFill>
                <a:latin typeface="Courier New"/>
              </a:rPr>
              <a:t>page</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'&lt;body&gt;&lt;div id="comic"&gt;'</a:t>
            </a:r>
          </a:p>
          <a:p>
            <a:pPr algn="l"/>
            <a:r>
              <a:rPr sz="950" b="0" i="0">
                <a:solidFill>
                  <a:srgbClr val="8FA3B8"/>
                </a:solidFill>
                <a:latin typeface="Courier New"/>
              </a:rPr>
              <a:t>&gt;&gt;&gt; </a:t>
            </a:r>
            <a:r>
              <a:rPr sz="950" b="0" i="0">
                <a:solidFill>
                  <a:srgbClr val="E6EDF3"/>
                </a:solidFill>
                <a:latin typeface="Courier New"/>
              </a:rPr>
              <a:t>        </a:t>
            </a:r>
            <a:r>
              <a:rPr sz="950" b="0" i="0">
                <a:solidFill>
                  <a:srgbClr val="9BE3A8"/>
                </a:solidFill>
                <a:latin typeface="Courier New"/>
              </a:rPr>
              <a:t>'&lt;img src="//imgs.xkcd.com/comics/x.png"/&gt;&lt;/div&gt;'</a:t>
            </a:r>
          </a:p>
          <a:p>
            <a:pPr algn="l"/>
            <a:r>
              <a:rPr sz="950" b="0" i="0">
                <a:solidFill>
                  <a:srgbClr val="8FA3B8"/>
                </a:solidFill>
                <a:latin typeface="Courier New"/>
              </a:rPr>
              <a:t>&gt;&gt;&gt; </a:t>
            </a:r>
            <a:r>
              <a:rPr sz="950" b="0" i="0">
                <a:solidFill>
                  <a:srgbClr val="E6EDF3"/>
                </a:solidFill>
                <a:latin typeface="Courier New"/>
              </a:rPr>
              <a:t>        </a:t>
            </a:r>
            <a:r>
              <a:rPr sz="950" b="0" i="0">
                <a:solidFill>
                  <a:srgbClr val="9BE3A8"/>
                </a:solidFill>
                <a:latin typeface="Courier New"/>
              </a:rPr>
              <a:t>'&lt;a rel="prev" href="/2/"&gt;Prev&lt;/a&gt;&lt;/body&gt;'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root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ET</a:t>
            </a:r>
            <a:r>
              <a:rPr sz="950" b="0" i="0">
                <a:solidFill>
                  <a:srgbClr val="E6EDF3"/>
                </a:solidFill>
                <a:latin typeface="Courier New"/>
              </a:rPr>
              <a:t>.</a:t>
            </a:r>
            <a:r>
              <a:rPr sz="950" b="0" i="0">
                <a:solidFill>
                  <a:srgbClr val="E6EDF3"/>
                </a:solidFill>
                <a:latin typeface="Courier New"/>
              </a:rPr>
              <a:t>fromstring</a:t>
            </a:r>
            <a:r>
              <a:rPr sz="950" b="0" i="0">
                <a:solidFill>
                  <a:srgbClr val="E6EDF3"/>
                </a:solidFill>
                <a:latin typeface="Courier New"/>
              </a:rPr>
              <a:t>(</a:t>
            </a:r>
            <a:r>
              <a:rPr sz="950" b="0" i="0">
                <a:solidFill>
                  <a:srgbClr val="E6EDF3"/>
                </a:solidFill>
                <a:latin typeface="Courier New"/>
              </a:rPr>
              <a:t>page</a:t>
            </a:r>
            <a:r>
              <a:rPr sz="950" b="0" i="0">
                <a:solidFill>
                  <a:srgbClr val="E6EDF3"/>
                </a:solidFill>
                <a:latin typeface="Courier New"/>
              </a:rPr>
              <a:t>)</a:t>
            </a:r>
          </a:p>
        </p:txBody>
      </p:sp>
      <p:sp>
        <p:nvSpPr>
          <p:cNvPr id="5" name="explanation"/>
          <p:cNvSpPr txBox="1"/>
          <p:nvPr/>
        </p:nvSpPr>
        <p:spPr>
          <a:xfrm>
            <a:off x="5019294" y="786384"/>
            <a:ext cx="3758945" cy="1020317"/>
          </a:xfrm>
          <a:prstGeom prst="rect">
            <a:avLst/>
          </a:prstGeom>
          <a:noFill/>
        </p:spPr>
        <p:txBody>
          <a:bodyPr wrap="square" lIns="128016" rIns="128016" tIns="18288" bIns="18288" anchor="ctr">
            <a:spAutoFit/>
          </a:bodyPr>
          <a:lstStyle/>
          <a:p>
            <a:r>
              <a:rPr sz="1100" b="0" i="0">
                <a:solidFill>
                  <a:srgbClr val="1F2933"/>
                </a:solidFill>
                <a:latin typeface="Calibri"/>
              </a:rPr>
              <a:t>The chapter relies on the page structure of the comic site: the image sits inside the element with the id comic, and the Prev link has rel prev.</a:t>
            </a:r>
          </a:p>
        </p:txBody>
      </p:sp>
      <p:sp>
        <p:nvSpPr>
          <p:cNvPr id="6" name="code"/>
          <p:cNvSpPr/>
          <p:nvPr/>
        </p:nvSpPr>
        <p:spPr>
          <a:xfrm>
            <a:off x="365760" y="1852422"/>
            <a:ext cx="467182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src</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root</a:t>
            </a:r>
            <a:r>
              <a:rPr sz="950" b="0" i="0">
                <a:solidFill>
                  <a:srgbClr val="E6EDF3"/>
                </a:solidFill>
                <a:latin typeface="Courier New"/>
              </a:rPr>
              <a:t>.</a:t>
            </a:r>
            <a:r>
              <a:rPr sz="950" b="0" i="0">
                <a:solidFill>
                  <a:srgbClr val="E6EDF3"/>
                </a:solidFill>
                <a:latin typeface="Courier New"/>
              </a:rPr>
              <a:t>find</a:t>
            </a:r>
            <a:r>
              <a:rPr sz="950" b="0" i="0">
                <a:solidFill>
                  <a:srgbClr val="E6EDF3"/>
                </a:solidFill>
                <a:latin typeface="Courier New"/>
              </a:rPr>
              <a:t>(</a:t>
            </a:r>
            <a:r>
              <a:rPr sz="950" b="0" i="0">
                <a:solidFill>
                  <a:srgbClr val="9BE3A8"/>
                </a:solidFill>
                <a:latin typeface="Courier New"/>
              </a:rPr>
              <a:t>".//*[@id='comic']/img"</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get</a:t>
            </a:r>
            <a:r>
              <a:rPr sz="950" b="0" i="0">
                <a:solidFill>
                  <a:srgbClr val="E6EDF3"/>
                </a:solidFill>
                <a:latin typeface="Courier New"/>
              </a:rPr>
              <a:t>(</a:t>
            </a:r>
            <a:r>
              <a:rPr sz="950" b="0" i="0">
                <a:solidFill>
                  <a:srgbClr val="9BE3A8"/>
                </a:solidFill>
                <a:latin typeface="Courier New"/>
              </a:rPr>
              <a:t>'src'</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prev</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root</a:t>
            </a:r>
            <a:r>
              <a:rPr sz="950" b="0" i="0">
                <a:solidFill>
                  <a:srgbClr val="E6EDF3"/>
                </a:solidFill>
                <a:latin typeface="Courier New"/>
              </a:rPr>
              <a:t>.</a:t>
            </a:r>
            <a:r>
              <a:rPr sz="950" b="0" i="0">
                <a:solidFill>
                  <a:srgbClr val="E6EDF3"/>
                </a:solidFill>
                <a:latin typeface="Courier New"/>
              </a:rPr>
              <a:t>find</a:t>
            </a:r>
            <a:r>
              <a:rPr sz="950" b="0" i="0">
                <a:solidFill>
                  <a:srgbClr val="E6EDF3"/>
                </a:solidFill>
                <a:latin typeface="Courier New"/>
              </a:rPr>
              <a:t>(</a:t>
            </a:r>
            <a:r>
              <a:rPr sz="950" b="0" i="0">
                <a:solidFill>
                  <a:srgbClr val="9BE3A8"/>
                </a:solidFill>
                <a:latin typeface="Courier New"/>
              </a:rPr>
              <a:t>".//a[@rel='prev']"</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get</a:t>
            </a:r>
            <a:r>
              <a:rPr sz="950" b="0" i="0">
                <a:solidFill>
                  <a:srgbClr val="E6EDF3"/>
                </a:solidFill>
                <a:latin typeface="Courier New"/>
              </a:rPr>
              <a:t>(</a:t>
            </a:r>
            <a:r>
              <a:rPr sz="950" b="0" i="0">
                <a:solidFill>
                  <a:srgbClr val="9BE3A8"/>
                </a:solidFill>
                <a:latin typeface="Courier New"/>
              </a:rPr>
              <a:t>'href'</a:t>
            </a:r>
            <a:r>
              <a:rPr sz="950" b="0" i="0">
                <a:solidFill>
                  <a:srgbClr val="E6EDF3"/>
                </a:solidFill>
                <a:latin typeface="Courier New"/>
              </a:rPr>
              <a:t>)</a:t>
            </a:r>
          </a:p>
        </p:txBody>
      </p:sp>
      <p:sp>
        <p:nvSpPr>
          <p:cNvPr id="7" name="explanation"/>
          <p:cNvSpPr txBox="1"/>
          <p:nvPr/>
        </p:nvSpPr>
        <p:spPr>
          <a:xfrm>
            <a:off x="5019294" y="1852422"/>
            <a:ext cx="3758945" cy="477266"/>
          </a:xfrm>
          <a:prstGeom prst="rect">
            <a:avLst/>
          </a:prstGeom>
          <a:noFill/>
        </p:spPr>
        <p:txBody>
          <a:bodyPr wrap="square" lIns="128016" rIns="128016" tIns="18288" bIns="18288" anchor="ctr">
            <a:spAutoFit/>
          </a:bodyPr>
          <a:lstStyle/>
          <a:p>
            <a:r>
              <a:rPr sz="1100" b="0" i="0">
                <a:solidFill>
                  <a:srgbClr val="1F2933"/>
                </a:solidFill>
                <a:latin typeface="Calibri"/>
              </a:rPr>
              <a:t>Two paths find the image address and the address of the previous comic.</a:t>
            </a:r>
          </a:p>
        </p:txBody>
      </p:sp>
      <p:sp>
        <p:nvSpPr>
          <p:cNvPr id="8" name="code"/>
          <p:cNvSpPr/>
          <p:nvPr/>
        </p:nvSpPr>
        <p:spPr>
          <a:xfrm>
            <a:off x="365760" y="2375408"/>
            <a:ext cx="467182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urljoin</a:t>
            </a:r>
            <a:r>
              <a:rPr sz="950" b="0" i="0">
                <a:solidFill>
                  <a:srgbClr val="E6EDF3"/>
                </a:solidFill>
                <a:latin typeface="Courier New"/>
              </a:rPr>
              <a:t>(</a:t>
            </a:r>
            <a:r>
              <a:rPr sz="950" b="0" i="0">
                <a:solidFill>
                  <a:srgbClr val="9BE3A8"/>
                </a:solidFill>
                <a:latin typeface="Courier New"/>
              </a:rPr>
              <a:t>'https://xkcd.com/3/'</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src</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urljoin</a:t>
            </a:r>
            <a:r>
              <a:rPr sz="950" b="0" i="0">
                <a:solidFill>
                  <a:srgbClr val="E6EDF3"/>
                </a:solidFill>
                <a:latin typeface="Courier New"/>
              </a:rPr>
              <a:t>(</a:t>
            </a:r>
            <a:r>
              <a:rPr sz="950" b="0" i="0">
                <a:solidFill>
                  <a:srgbClr val="9BE3A8"/>
                </a:solidFill>
                <a:latin typeface="Courier New"/>
              </a:rPr>
              <a:t>'https://xkcd.com/3/'</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prev</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019294" y="2375408"/>
            <a:ext cx="3758945" cy="651891"/>
          </a:xfrm>
          <a:prstGeom prst="rect">
            <a:avLst/>
          </a:prstGeom>
          <a:noFill/>
        </p:spPr>
        <p:txBody>
          <a:bodyPr wrap="square" lIns="128016" rIns="128016" tIns="18288" bIns="18288" anchor="ctr">
            <a:spAutoFit/>
          </a:bodyPr>
          <a:lstStyle/>
          <a:p>
            <a:r>
              <a:rPr sz="1100" b="0" i="0">
                <a:solidFill>
                  <a:srgbClr val="1F2933"/>
                </a:solidFill>
                <a:latin typeface="Calibri"/>
              </a:rPr>
              <a:t>The image address begins with two slashes, so urljoin borrows the scheme. The loop would download, then follow Prev.</a:t>
            </a:r>
          </a:p>
        </p:txBody>
      </p:sp>
      <p:sp>
        <p:nvSpPr>
          <p:cNvPr id="10" name="result label"/>
          <p:cNvSpPr txBox="1"/>
          <p:nvPr/>
        </p:nvSpPr>
        <p:spPr>
          <a:xfrm>
            <a:off x="365760" y="310045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74770"/>
            <a:ext cx="1798320"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comic page</a:t>
            </a:r>
          </a:p>
          <a:p>
            <a:pPr algn="ctr"/>
            <a:r>
              <a:rPr sz="950" b="0" i="0">
                <a:solidFill>
                  <a:srgbClr val="1F2933"/>
                </a:solidFill>
                <a:latin typeface="Calibri"/>
              </a:rPr>
              <a:t>xkcd.com/3/</a:t>
            </a:r>
          </a:p>
        </p:txBody>
      </p:sp>
      <p:cxnSp>
        <p:nvCxnSpPr>
          <p:cNvPr id="12" name="arrow"/>
          <p:cNvCxnSpPr/>
          <p:nvPr/>
        </p:nvCxnSpPr>
        <p:spPr>
          <a:xfrm>
            <a:off x="2182368" y="3603370"/>
            <a:ext cx="42062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21280" y="3374770"/>
            <a:ext cx="179832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previous comic</a:t>
            </a:r>
          </a:p>
          <a:p>
            <a:pPr algn="ctr"/>
            <a:r>
              <a:rPr sz="950" b="0" i="0">
                <a:solidFill>
                  <a:srgbClr val="1F2933"/>
                </a:solidFill>
                <a:latin typeface="Calibri"/>
              </a:rPr>
              <a:t>xkcd.com/2/</a:t>
            </a:r>
          </a:p>
        </p:txBody>
      </p:sp>
      <p:cxnSp>
        <p:nvCxnSpPr>
          <p:cNvPr id="14" name="arrow"/>
          <p:cNvCxnSpPr/>
          <p:nvPr/>
        </p:nvCxnSpPr>
        <p:spPr>
          <a:xfrm>
            <a:off x="4437887" y="3603370"/>
            <a:ext cx="42062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876800" y="3374770"/>
            <a:ext cx="179832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previous comic</a:t>
            </a:r>
          </a:p>
          <a:p>
            <a:pPr algn="ctr"/>
            <a:r>
              <a:rPr sz="950" b="0" i="0">
                <a:solidFill>
                  <a:srgbClr val="1F2933"/>
                </a:solidFill>
                <a:latin typeface="Calibri"/>
              </a:rPr>
              <a:t>xkcd.com/1/</a:t>
            </a:r>
          </a:p>
        </p:txBody>
      </p:sp>
      <p:sp>
        <p:nvSpPr>
          <p:cNvPr id="16" name="visual note"/>
          <p:cNvSpPr txBox="1"/>
          <p:nvPr/>
        </p:nvSpPr>
        <p:spPr>
          <a:xfrm>
            <a:off x="6843369" y="3420490"/>
            <a:ext cx="1934870" cy="219456"/>
          </a:xfrm>
          <a:prstGeom prst="rect">
            <a:avLst/>
          </a:prstGeom>
          <a:noFill/>
        </p:spPr>
        <p:txBody>
          <a:bodyPr wrap="square" lIns="45720" rIns="45720" tIns="27432" bIns="27432" anchor="t">
            <a:spAutoFit/>
          </a:bodyPr>
          <a:lstStyle/>
          <a:p>
            <a:r>
              <a:rPr sz="950" b="0" i="1">
                <a:solidFill>
                  <a:srgbClr val="5B6773"/>
                </a:solidFill>
                <a:latin typeface="Calibri"/>
              </a:rPr>
              <a:t>the loop follows Prev</a:t>
            </a:r>
          </a:p>
        </p:txBody>
      </p:sp>
      <p:cxnSp>
        <p:nvCxnSpPr>
          <p:cNvPr id="17" name="arrow"/>
          <p:cNvCxnSpPr/>
          <p:nvPr/>
        </p:nvCxnSpPr>
        <p:spPr>
          <a:xfrm>
            <a:off x="1188720" y="3850258"/>
            <a:ext cx="0" cy="237744"/>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65760" y="4106291"/>
            <a:ext cx="2926079"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image: imgs.xkcd.com/comics/x.png</a:t>
            </a:r>
          </a:p>
        </p:txBody>
      </p:sp>
      <p:sp>
        <p:nvSpPr>
          <p:cNvPr id="19" name="visual note"/>
          <p:cNvSpPr txBox="1"/>
          <p:nvPr/>
        </p:nvSpPr>
        <p:spPr>
          <a:xfrm>
            <a:off x="4572000" y="4152010"/>
            <a:ext cx="4206240" cy="219456"/>
          </a:xfrm>
          <a:prstGeom prst="rect">
            <a:avLst/>
          </a:prstGeom>
          <a:noFill/>
        </p:spPr>
        <p:txBody>
          <a:bodyPr wrap="square" lIns="45720" rIns="45720" tIns="27432" bIns="27432" anchor="t">
            <a:spAutoFit/>
          </a:bodyPr>
          <a:lstStyle/>
          <a:p>
            <a:r>
              <a:rPr sz="950" b="0" i="1">
                <a:solidFill>
                  <a:srgbClr val="5B6773"/>
                </a:solidFill>
                <a:latin typeface="Calibri"/>
              </a:rPr>
              <a:t>the first comic's Prev link is #, so the loop stops</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Image address, then the Prev link, then repeat.</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7: open the first results in browser tabs</a:t>
            </a:r>
          </a:p>
        </p:txBody>
      </p:sp>
      <p:sp>
        <p:nvSpPr>
          <p:cNvPr id="4" name="code"/>
          <p:cNvSpPr/>
          <p:nvPr/>
        </p:nvSpPr>
        <p:spPr>
          <a:xfrm>
            <a:off x="365760" y="786384"/>
            <a:ext cx="5452871" cy="1080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webbrowser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xml</a:t>
            </a:r>
            <a:r>
              <a:rPr sz="1100" b="0" i="0">
                <a:solidFill>
                  <a:srgbClr val="E6EDF3"/>
                </a:solidFill>
                <a:latin typeface="Courier New"/>
              </a:rPr>
              <a:t>.</a:t>
            </a:r>
            <a:r>
              <a:rPr sz="1100" b="0" i="0">
                <a:solidFill>
                  <a:srgbClr val="E6EDF3"/>
                </a:solidFill>
                <a:latin typeface="Courier New"/>
              </a:rPr>
              <a:t>etree</a:t>
            </a:r>
            <a:r>
              <a:rPr sz="1100" b="0" i="0">
                <a:solidFill>
                  <a:srgbClr val="E6EDF3"/>
                </a:solidFill>
                <a:latin typeface="Courier New"/>
              </a:rPr>
              <a:t>.</a:t>
            </a:r>
            <a:r>
              <a:rPr sz="1100" b="0" i="0">
                <a:solidFill>
                  <a:srgbClr val="E6EDF3"/>
                </a:solidFill>
                <a:latin typeface="Courier New"/>
              </a:rPr>
              <a:t>ElementTree</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ET</a:t>
            </a:r>
          </a:p>
          <a:p>
            <a:pPr algn="l"/>
            <a:r>
              <a:rPr sz="1100" b="0" i="0">
                <a:solidFill>
                  <a:srgbClr val="8FA3B8"/>
                </a:solidFill>
                <a:latin typeface="Courier New"/>
              </a:rPr>
              <a:t>&gt;&gt;&gt; </a:t>
            </a:r>
            <a:r>
              <a:rPr sz="1100" b="0" i="0">
                <a:solidFill>
                  <a:srgbClr val="E6EDF3"/>
                </a:solidFill>
                <a:latin typeface="Courier New"/>
              </a:rPr>
              <a:t>opened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webbrowser</a:t>
            </a:r>
            <a:r>
              <a:rPr sz="1100" b="0" i="0">
                <a:solidFill>
                  <a:srgbClr val="E6EDF3"/>
                </a:solidFill>
                <a:latin typeface="Courier New"/>
              </a:rPr>
              <a:t>.</a:t>
            </a:r>
            <a:r>
              <a:rPr sz="1100" b="0" i="0">
                <a:solidFill>
                  <a:srgbClr val="E6EDF3"/>
                </a:solidFill>
                <a:latin typeface="Courier New"/>
              </a:rPr>
              <a:t>open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opened</a:t>
            </a:r>
            <a:r>
              <a:rPr sz="1100" b="0" i="0">
                <a:solidFill>
                  <a:srgbClr val="E6EDF3"/>
                </a:solidFill>
                <a:latin typeface="Courier New"/>
              </a:rPr>
              <a:t>.</a:t>
            </a:r>
            <a:r>
              <a:rPr sz="1100" b="0" i="0">
                <a:solidFill>
                  <a:srgbClr val="E6EDF3"/>
                </a:solidFill>
                <a:latin typeface="Courier New"/>
              </a:rPr>
              <a:t>append</a:t>
            </a:r>
          </a:p>
          <a:p>
            <a:pPr algn="l"/>
            <a:r>
              <a:rPr sz="1100" b="0" i="0">
                <a:solidFill>
                  <a:srgbClr val="8FA3B8"/>
                </a:solidFill>
                <a:latin typeface="Courier New"/>
              </a:rPr>
              <a:t>&gt;&gt;&gt; </a:t>
            </a:r>
            <a:r>
              <a:rPr sz="1100" b="0" i="0">
                <a:solidFill>
                  <a:srgbClr val="E6EDF3"/>
                </a:solidFill>
                <a:latin typeface="Courier New"/>
              </a:rPr>
              <a:t>page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'&lt;ul&gt;&lt;a href="/p/one"/&gt;&lt;a href="/p/two"/&gt;'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'&lt;a href="/p/three"/&gt;&lt;/ul&gt;'</a:t>
            </a:r>
            <a:r>
              <a:rPr sz="1100" b="0" i="0">
                <a:solidFill>
                  <a:srgbClr val="E6EDF3"/>
                </a:solidFill>
                <a:latin typeface="Courier New"/>
              </a:rPr>
              <a:t>)</a:t>
            </a:r>
          </a:p>
        </p:txBody>
      </p:sp>
      <p:sp>
        <p:nvSpPr>
          <p:cNvPr id="5" name="explanation"/>
          <p:cNvSpPr txBox="1"/>
          <p:nvPr/>
        </p:nvSpPr>
        <p:spPr>
          <a:xfrm>
            <a:off x="5800344" y="786384"/>
            <a:ext cx="2977896" cy="1080516"/>
          </a:xfrm>
          <a:prstGeom prst="rect">
            <a:avLst/>
          </a:prstGeom>
          <a:noFill/>
        </p:spPr>
        <p:txBody>
          <a:bodyPr wrap="square" lIns="128016" rIns="128016" tIns="18288" bIns="18288" anchor="ctr">
            <a:spAutoFit/>
          </a:bodyPr>
          <a:lstStyle/>
          <a:p>
            <a:r>
              <a:rPr sz="1200" b="0" i="0">
                <a:solidFill>
                  <a:srgbClr val="1F2933"/>
                </a:solidFill>
                <a:latin typeface="Calibri"/>
              </a:rPr>
              <a:t>A recording stand-in replaces webbrowser.open again, so no tab really opens. The tiny results page holds three links; the real program downloads PyPI's.</a:t>
            </a:r>
          </a:p>
        </p:txBody>
      </p:sp>
      <p:sp>
        <p:nvSpPr>
          <p:cNvPr id="6" name="code"/>
          <p:cNvSpPr/>
          <p:nvPr/>
        </p:nvSpPr>
        <p:spPr>
          <a:xfrm>
            <a:off x="365760" y="1912620"/>
            <a:ext cx="545287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links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ET</a:t>
            </a:r>
            <a:r>
              <a:rPr sz="1100" b="0" i="0">
                <a:solidFill>
                  <a:srgbClr val="E6EDF3"/>
                </a:solidFill>
                <a:latin typeface="Courier New"/>
              </a:rPr>
              <a:t>.</a:t>
            </a:r>
            <a:r>
              <a:rPr sz="1100" b="0" i="0">
                <a:solidFill>
                  <a:srgbClr val="E6EDF3"/>
                </a:solidFill>
                <a:latin typeface="Courier New"/>
              </a:rPr>
              <a:t>fromstring</a:t>
            </a:r>
            <a:r>
              <a:rPr sz="1100" b="0" i="0">
                <a:solidFill>
                  <a:srgbClr val="E6EDF3"/>
                </a:solidFill>
                <a:latin typeface="Courier New"/>
              </a:rPr>
              <a:t>(</a:t>
            </a:r>
            <a:r>
              <a:rPr sz="1100" b="0" i="0">
                <a:solidFill>
                  <a:srgbClr val="E6EDF3"/>
                </a:solidFill>
                <a:latin typeface="Courier New"/>
              </a:rPr>
              <a:t>page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findall</a:t>
            </a:r>
            <a:r>
              <a:rPr sz="1100" b="0" i="0">
                <a:solidFill>
                  <a:srgbClr val="E6EDF3"/>
                </a:solidFill>
                <a:latin typeface="Courier New"/>
              </a:rPr>
              <a:t>(</a:t>
            </a:r>
            <a:r>
              <a:rPr sz="1100" b="0" i="0">
                <a:solidFill>
                  <a:srgbClr val="9BE3A8"/>
                </a:solidFill>
                <a:latin typeface="Courier New"/>
              </a:rPr>
              <a:t>'.//a'</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link</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links</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webbrowser</a:t>
            </a:r>
            <a:r>
              <a:rPr sz="1100" b="0" i="0">
                <a:solidFill>
                  <a:srgbClr val="E6EDF3"/>
                </a:solidFill>
                <a:latin typeface="Courier New"/>
              </a:rPr>
              <a:t>.</a:t>
            </a:r>
            <a:r>
              <a:rPr sz="1100" b="0" i="0">
                <a:solidFill>
                  <a:srgbClr val="E6EDF3"/>
                </a:solidFill>
                <a:latin typeface="Courier New"/>
              </a:rPr>
              <a:t>open</a:t>
            </a:r>
            <a:r>
              <a:rPr sz="1100" b="0" i="0">
                <a:solidFill>
                  <a:srgbClr val="E6EDF3"/>
                </a:solidFill>
                <a:latin typeface="Courier New"/>
              </a:rPr>
              <a:t>(</a:t>
            </a:r>
            <a:r>
              <a:rPr sz="1100" b="0" i="0">
                <a:solidFill>
                  <a:srgbClr val="9BE3A8"/>
                </a:solidFill>
                <a:latin typeface="Courier New"/>
              </a:rPr>
              <a:t>'https://pypi.org'</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link</a:t>
            </a:r>
            <a:r>
              <a:rPr sz="1100" b="0" i="0">
                <a:solidFill>
                  <a:srgbClr val="E6EDF3"/>
                </a:solidFill>
                <a:latin typeface="Courier New"/>
              </a:rPr>
              <a:t>.</a:t>
            </a:r>
            <a:r>
              <a:rPr sz="1100" b="0" i="0">
                <a:solidFill>
                  <a:srgbClr val="E6EDF3"/>
                </a:solidFill>
                <a:latin typeface="Courier New"/>
              </a:rPr>
              <a:t>get</a:t>
            </a:r>
            <a:r>
              <a:rPr sz="1100" b="0" i="0">
                <a:solidFill>
                  <a:srgbClr val="E6EDF3"/>
                </a:solidFill>
                <a:latin typeface="Courier New"/>
              </a:rPr>
              <a:t>(</a:t>
            </a:r>
            <a:r>
              <a:rPr sz="1100" b="0" i="0">
                <a:solidFill>
                  <a:srgbClr val="9BE3A8"/>
                </a:solidFill>
                <a:latin typeface="Courier New"/>
              </a:rPr>
              <a:t>'href'</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links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'found;'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opened</a:t>
            </a:r>
            <a:r>
              <a:rPr sz="1100" b="0" i="0">
                <a:solidFill>
                  <a:srgbClr val="E6EDF3"/>
                </a:solidFill>
                <a:latin typeface="Courier New"/>
              </a:rPr>
              <a:t>)</a:t>
            </a:r>
          </a:p>
        </p:txBody>
      </p:sp>
      <p:sp>
        <p:nvSpPr>
          <p:cNvPr id="7" name="explanation"/>
          <p:cNvSpPr txBox="1"/>
          <p:nvPr/>
        </p:nvSpPr>
        <p:spPr>
          <a:xfrm>
            <a:off x="5800344" y="1912620"/>
            <a:ext cx="2977896" cy="890016"/>
          </a:xfrm>
          <a:prstGeom prst="rect">
            <a:avLst/>
          </a:prstGeom>
          <a:noFill/>
        </p:spPr>
        <p:txBody>
          <a:bodyPr wrap="square" lIns="128016" rIns="128016" tIns="18288" bIns="18288" anchor="ctr">
            <a:spAutoFit/>
          </a:bodyPr>
          <a:lstStyle/>
          <a:p>
            <a:r>
              <a:rPr sz="1200" b="0" i="0">
                <a:solidFill>
                  <a:srgbClr val="1F2933"/>
                </a:solidFill>
                <a:latin typeface="Calibri"/>
              </a:rPr>
              <a:t>Select all links, keep the first few, and open each address. The program does not wait for a person to click.</a:t>
            </a:r>
          </a:p>
        </p:txBody>
      </p:sp>
      <p:sp>
        <p:nvSpPr>
          <p:cNvPr id="8" name="result label"/>
          <p:cNvSpPr txBox="1"/>
          <p:nvPr/>
        </p:nvSpPr>
        <p:spPr>
          <a:xfrm>
            <a:off x="365760" y="2875788"/>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50108"/>
          <a:ext cx="5215737" cy="1170432"/>
        </p:xfrm>
        <a:graphic>
          <a:graphicData uri="http://schemas.openxmlformats.org/drawingml/2006/table">
            <a:tbl>
              <a:tblPr firstRow="0" bandRow="0"/>
              <a:tblGrid>
                <a:gridCol w="2774328"/>
                <a:gridCol w="2441409"/>
              </a:tblGrid>
              <a:tr h="292608">
                <a:tc>
                  <a:txBody>
                    <a:bodyPr wrap="square"/>
                    <a:lstStyle/>
                    <a:p>
                      <a:r>
                        <a:rPr sz="950" b="1" i="0">
                          <a:solidFill>
                            <a:srgbClr val="FFFFFF"/>
                          </a:solidFill>
                          <a:latin typeface="Calibri"/>
                        </a:rPr>
                        <a:t>Result link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Opened?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2608">
                <a:tc>
                  <a:txBody>
                    <a:bodyPr wrap="square"/>
                    <a:lstStyle/>
                    <a:p>
                      <a:r>
                        <a:rPr sz="950" b="0" i="0">
                          <a:solidFill>
                            <a:srgbClr val="1F2933"/>
                          </a:solidFill>
                          <a:latin typeface="Courier New"/>
                        </a:rPr>
                        <a:t>https://pypi.org/p/one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yes: tab opened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92608">
                <a:tc>
                  <a:txBody>
                    <a:bodyPr wrap="square"/>
                    <a:lstStyle/>
                    <a:p>
                      <a:r>
                        <a:rPr sz="950" b="0" i="0">
                          <a:solidFill>
                            <a:srgbClr val="1F2933"/>
                          </a:solidFill>
                          <a:latin typeface="Courier New"/>
                        </a:rPr>
                        <a:t>https://pypi.org/p/two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yes: tab opened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92608">
                <a:tc>
                  <a:txBody>
                    <a:bodyPr wrap="square"/>
                    <a:lstStyle/>
                    <a:p>
                      <a:r>
                        <a:rPr sz="950" b="0" i="0">
                          <a:solidFill>
                            <a:srgbClr val="1F2933"/>
                          </a:solidFill>
                          <a:latin typeface="Courier New"/>
                        </a:rPr>
                        <a:t>https://pypi.org/p/three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no: not in the first two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bl>
          </a:graphicData>
        </a:graphic>
      </p:graphicFrame>
      <p:sp>
        <p:nvSpPr>
          <p:cNvPr id="10" name="TextBox 9"/>
          <p:cNvSpPr txBox="1"/>
          <p:nvPr/>
        </p:nvSpPr>
        <p:spPr>
          <a:xfrm>
            <a:off x="5917996" y="3131820"/>
            <a:ext cx="2860243" cy="201168"/>
          </a:xfrm>
          <a:prstGeom prst="rect">
            <a:avLst/>
          </a:prstGeom>
          <a:noFill/>
        </p:spPr>
        <p:txBody>
          <a:bodyPr wrap="square" lIns="45720" rIns="45720" tIns="27432" bIns="27432" anchor="t">
            <a:spAutoFit/>
          </a:bodyPr>
          <a:lstStyle/>
          <a:p>
            <a:r>
              <a:rPr sz="950" b="0" i="1">
                <a:solidFill>
                  <a:srgbClr val="5B6773"/>
                </a:solidFill>
                <a:latin typeface="Calibri"/>
              </a:rPr>
              <a:t>links found against tabs opened</a:t>
            </a:r>
          </a:p>
        </p:txBody>
      </p:sp>
      <p:graphicFrame>
        <p:nvGraphicFramePr>
          <p:cNvPr id="11" name="chart"/>
          <p:cNvGraphicFramePr>
            <a:graphicFrameLocks noGrp="1"/>
          </p:cNvGraphicFramePr>
          <p:nvPr/>
        </p:nvGraphicFramePr>
        <p:xfrm>
          <a:off x="5917996" y="3332988"/>
          <a:ext cx="2860243" cy="1275588"/>
        </p:xfrm>
        <a:graphic>
          <a:graphicData uri="http://schemas.openxmlformats.org/drawingml/2006/chart">
            <c:chart xmlns:c="http://schemas.openxmlformats.org/drawingml/2006/chart" r:id="rId3"/>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Select the links, open the first few.</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3000" b="1" i="0">
                <a:solidFill>
                  <a:srgbClr val="1F2933"/>
                </a:solidFill>
                <a:latin typeface="Calibri"/>
              </a:rPr>
              <a:t>Part 5: Driving a browser</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When a script builds the page, only a real browser can read it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Dynamic page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script writes the content after the download.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Selenium</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Drives a real browser through a separate driver.</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Playwright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Drives a browser and waits by itself.</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Headless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browser that runs with no window at all.</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driving a browser 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Everyday pictures: driving a browser with...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Why a download is not enough: pages built...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Selenium began as a test runner fo...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Selenium: find_element fails, find_elemen...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Playwright: start, new page, goto, locator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Story: Playwright reached Python on 30 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Interacting with a page: wait until the 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driving a browser with Selenium</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Browser automation is a puppeteer: you pull the strings and a real browser moves.</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Controlling the Browser with Selenium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puppeteer who works from outside the stage, through a separate driver.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Selenium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old marionette stage: sturdy, many browsers, one driver for each.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webdriver.Firefox()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Hiring one actor: you start a Firefox that takes your cues.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find_element()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Asking for the first red chair; if there is none, the usher says so.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find_elements()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Asking for all the chairs; an empty row is a fair answer.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Browser automation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robot arm that clicks and types in the page as you would.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headless mode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Rehearsing with the lights off and no audience: the show runs, nobody watches.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Everyday pictures: driving a browser with Playwright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Playwright is a stage manager who waits until the actor is ready before giving the cue.</a:t>
            </a:r>
          </a:p>
        </p:txBody>
      </p:sp>
      <p:graphicFrame>
        <p:nvGraphicFramePr>
          <p:cNvPr id="6" name="table"/>
          <p:cNvGraphicFramePr>
            <a:graphicFrameLocks noGrp="1"/>
          </p:cNvGraphicFramePr>
          <p:nvPr/>
        </p:nvGraphicFramePr>
        <p:xfrm>
          <a:off x="365760" y="1417320"/>
          <a:ext cx="8412480" cy="3108960"/>
        </p:xfrm>
        <a:graphic>
          <a:graphicData uri="http://schemas.openxmlformats.org/drawingml/2006/table">
            <a:tbl>
              <a:tblPr firstRow="0" bandRow="0"/>
              <a:tblGrid>
                <a:gridCol w="3566160"/>
                <a:gridCol w="4846320"/>
              </a:tblGrid>
              <a:tr h="388620">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88620">
                <a:tc>
                  <a:txBody>
                    <a:bodyPr wrap="square"/>
                    <a:lstStyle/>
                    <a:p>
                      <a:r>
                        <a:rPr sz="1100" b="1" i="0">
                          <a:solidFill>
                            <a:srgbClr val="1F2933"/>
                          </a:solidFill>
                          <a:latin typeface="Calibri"/>
                        </a:rPr>
                        <a:t>Controlling the Browser with Playwright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stage manager who waits for each actor and never rushes the cue.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Playwright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newer theatre company with its own browsers, installed in a second step.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sync_playwright()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Opening the theatre for the evening and locking it when the show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new_page()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fresh tab is a fresh sheet of paper on the desk.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goto()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Walking to an address and standing at its door.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88620">
                <a:tc>
                  <a:txBody>
                    <a:bodyPr wrap="square"/>
                    <a:lstStyle/>
                    <a:p>
                      <a:r>
                        <a:rPr sz="1100" b="1" i="0">
                          <a:solidFill>
                            <a:srgbClr val="1F2933"/>
                          </a:solidFill>
                          <a:latin typeface="Calibri"/>
                        </a:rPr>
                        <a:t>locator()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note of where to look: it looks again each time you use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88620">
                <a:tc>
                  <a:txBody>
                    <a:bodyPr wrap="square"/>
                    <a:lstStyle/>
                    <a:p>
                      <a:r>
                        <a:rPr sz="1100" b="1" i="0">
                          <a:solidFill>
                            <a:srgbClr val="1F2933"/>
                          </a:solidFill>
                          <a:latin typeface="Calibri"/>
                        </a:rPr>
                        <a:t>Interacting with a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Pressing the buttons of a lift: click, type, scroll, then wait for the doors.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Why a download is not enough: pages built by a script</a:t>
            </a:r>
          </a:p>
        </p:txBody>
      </p:sp>
      <p:sp>
        <p:nvSpPr>
          <p:cNvPr id="4" name="code"/>
          <p:cNvSpPr/>
          <p:nvPr/>
        </p:nvSpPr>
        <p:spPr>
          <a:xfrm>
            <a:off x="365760" y="786384"/>
            <a:ext cx="4782312"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xml</a:t>
            </a:r>
            <a:r>
              <a:rPr sz="900" b="0" i="0">
                <a:solidFill>
                  <a:srgbClr val="E6EDF3"/>
                </a:solidFill>
                <a:latin typeface="Courier New"/>
              </a:rPr>
              <a:t>.</a:t>
            </a:r>
            <a:r>
              <a:rPr sz="900" b="0" i="0">
                <a:solidFill>
                  <a:srgbClr val="E6EDF3"/>
                </a:solidFill>
                <a:latin typeface="Courier New"/>
              </a:rPr>
              <a:t>etree</a:t>
            </a:r>
            <a:r>
              <a:rPr sz="900" b="0" i="0">
                <a:solidFill>
                  <a:srgbClr val="E6EDF3"/>
                </a:solidFill>
                <a:latin typeface="Courier New"/>
              </a:rPr>
              <a:t>.</a:t>
            </a:r>
            <a:r>
              <a:rPr sz="900" b="0" i="0">
                <a:solidFill>
                  <a:srgbClr val="E6EDF3"/>
                </a:solidFill>
                <a:latin typeface="Courier New"/>
              </a:rPr>
              <a:t>ElementTree</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ET</a:t>
            </a:r>
          </a:p>
          <a:p>
            <a:pPr algn="l"/>
            <a:r>
              <a:rPr sz="900" b="0" i="0">
                <a:solidFill>
                  <a:srgbClr val="8FA3B8"/>
                </a:solidFill>
                <a:latin typeface="Courier New"/>
              </a:rPr>
              <a:t>&gt;&gt;&gt; </a:t>
            </a:r>
            <a:r>
              <a:rPr sz="900" b="0" i="0">
                <a:solidFill>
                  <a:srgbClr val="E6EDF3"/>
                </a:solidFill>
                <a:latin typeface="Courier New"/>
              </a:rPr>
              <a:t>source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'&lt;body&gt;&lt;div id="app"&gt;&lt;/div&gt;'</a:t>
            </a:r>
          </a:p>
          <a:p>
            <a:pPr algn="l"/>
            <a:r>
              <a:rPr sz="900" b="0" i="0">
                <a:solidFill>
                  <a:srgbClr val="8FA3B8"/>
                </a:solidFill>
                <a:latin typeface="Courier New"/>
              </a:rPr>
              <a:t>&gt;&gt;&gt; </a:t>
            </a:r>
            <a:r>
              <a:rPr sz="900" b="0" i="0">
                <a:solidFill>
                  <a:srgbClr val="E6EDF3"/>
                </a:solidFill>
                <a:latin typeface="Courier New"/>
              </a:rPr>
              <a:t>          </a:t>
            </a:r>
            <a:r>
              <a:rPr sz="900" b="0" i="0">
                <a:solidFill>
                  <a:srgbClr val="9BE3A8"/>
                </a:solidFill>
                <a:latin typeface="Courier New"/>
              </a:rPr>
              <a:t>'&lt;script&gt;show("Built by a script")&lt;/script&gt;&lt;/body&gt;'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root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fromstring</a:t>
            </a:r>
            <a:r>
              <a:rPr sz="900" b="0" i="0">
                <a:solidFill>
                  <a:srgbClr val="E6EDF3"/>
                </a:solidFill>
                <a:latin typeface="Courier New"/>
              </a:rPr>
              <a:t>(</a:t>
            </a:r>
            <a:r>
              <a:rPr sz="900" b="0" i="0">
                <a:solidFill>
                  <a:srgbClr val="E6EDF3"/>
                </a:solidFill>
                <a:latin typeface="Courier New"/>
              </a:rPr>
              <a:t>source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app</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find</a:t>
            </a:r>
            <a:r>
              <a:rPr sz="900" b="0" i="0">
                <a:solidFill>
                  <a:srgbClr val="E6EDF3"/>
                </a:solidFill>
                <a:latin typeface="Courier New"/>
              </a:rPr>
              <a:t>(</a:t>
            </a:r>
            <a:r>
              <a:rPr sz="900" b="0" i="0">
                <a:solidFill>
                  <a:srgbClr val="9BE3A8"/>
                </a:solidFill>
                <a:latin typeface="Courier New"/>
              </a:rPr>
              <a:t>".//*[@id='app']"</a:t>
            </a:r>
            <a:r>
              <a:rPr sz="900" b="0" i="0">
                <a:solidFill>
                  <a:srgbClr val="E6EDF3"/>
                </a:solidFill>
                <a:latin typeface="Courier New"/>
              </a:rPr>
              <a:t>)</a:t>
            </a:r>
          </a:p>
        </p:txBody>
      </p:sp>
      <p:sp>
        <p:nvSpPr>
          <p:cNvPr id="5" name="explanation"/>
          <p:cNvSpPr txBox="1"/>
          <p:nvPr/>
        </p:nvSpPr>
        <p:spPr>
          <a:xfrm>
            <a:off x="5129784" y="786384"/>
            <a:ext cx="3648455" cy="834390"/>
          </a:xfrm>
          <a:prstGeom prst="rect">
            <a:avLst/>
          </a:prstGeom>
          <a:noFill/>
        </p:spPr>
        <p:txBody>
          <a:bodyPr wrap="square" lIns="128016" rIns="128016" tIns="18288" bIns="18288" anchor="ctr">
            <a:spAutoFit/>
          </a:bodyPr>
          <a:lstStyle/>
          <a:p>
            <a:r>
              <a:rPr sz="1100" b="0" i="0">
                <a:solidFill>
                  <a:srgbClr val="1F2933"/>
                </a:solidFill>
                <a:latin typeface="Calibri"/>
              </a:rPr>
              <a:t>This page writes its own text with a script. The downloaded source holds only an empty element and the script.</a:t>
            </a:r>
          </a:p>
        </p:txBody>
      </p:sp>
      <p:sp>
        <p:nvSpPr>
          <p:cNvPr id="6" name="code"/>
          <p:cNvSpPr/>
          <p:nvPr/>
        </p:nvSpPr>
        <p:spPr>
          <a:xfrm>
            <a:off x="365760" y="1666494"/>
            <a:ext cx="478231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'text in the source:'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app</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129784" y="1666494"/>
            <a:ext cx="3648455" cy="477266"/>
          </a:xfrm>
          <a:prstGeom prst="rect">
            <a:avLst/>
          </a:prstGeom>
          <a:noFill/>
        </p:spPr>
        <p:txBody>
          <a:bodyPr wrap="square" lIns="128016" rIns="128016" tIns="18288" bIns="18288" anchor="ctr">
            <a:spAutoFit/>
          </a:bodyPr>
          <a:lstStyle/>
          <a:p>
            <a:r>
              <a:rPr sz="1100" b="0" i="0">
                <a:solidFill>
                  <a:srgbClr val="1F2933"/>
                </a:solidFill>
                <a:latin typeface="Calibri"/>
              </a:rPr>
              <a:t>requests and a parser see exactly this: nothing to read.</a:t>
            </a:r>
          </a:p>
        </p:txBody>
      </p:sp>
      <p:sp>
        <p:nvSpPr>
          <p:cNvPr id="8" name="code"/>
          <p:cNvSpPr/>
          <p:nvPr/>
        </p:nvSpPr>
        <p:spPr>
          <a:xfrm>
            <a:off x="365760" y="2189480"/>
            <a:ext cx="47823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script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root</a:t>
            </a:r>
            <a:r>
              <a:rPr sz="900" b="0" i="0">
                <a:solidFill>
                  <a:srgbClr val="E6EDF3"/>
                </a:solidFill>
                <a:latin typeface="Courier New"/>
              </a:rPr>
              <a:t>.</a:t>
            </a:r>
            <a:r>
              <a:rPr sz="900" b="0" i="0">
                <a:solidFill>
                  <a:srgbClr val="E6EDF3"/>
                </a:solidFill>
                <a:latin typeface="Courier New"/>
              </a:rPr>
              <a:t>find</a:t>
            </a:r>
            <a:r>
              <a:rPr sz="900" b="0" i="0">
                <a:solidFill>
                  <a:srgbClr val="E6EDF3"/>
                </a:solidFill>
                <a:latin typeface="Courier New"/>
              </a:rPr>
              <a:t>(</a:t>
            </a:r>
            <a:r>
              <a:rPr sz="900" b="0" i="0">
                <a:solidFill>
                  <a:srgbClr val="9BE3A8"/>
                </a:solidFill>
                <a:latin typeface="Courier New"/>
              </a:rPr>
              <a:t>'.//script'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text</a:t>
            </a:r>
          </a:p>
          <a:p>
            <a:pPr algn="l"/>
            <a:r>
              <a:rPr sz="900" b="0" i="0">
                <a:solidFill>
                  <a:srgbClr val="8FA3B8"/>
                </a:solidFill>
                <a:latin typeface="Courier New"/>
              </a:rPr>
              <a:t>&gt;&gt;&gt; </a:t>
            </a:r>
            <a:r>
              <a:rPr sz="900" b="0" i="0">
                <a:solidFill>
                  <a:srgbClr val="E6EDF3"/>
                </a:solidFill>
                <a:latin typeface="Courier New"/>
              </a:rPr>
              <a:t>app</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script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1</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'after the script ran:'</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app</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129784" y="2189480"/>
            <a:ext cx="3648455" cy="651891"/>
          </a:xfrm>
          <a:prstGeom prst="rect">
            <a:avLst/>
          </a:prstGeom>
          <a:noFill/>
        </p:spPr>
        <p:txBody>
          <a:bodyPr wrap="square" lIns="128016" rIns="128016" tIns="18288" bIns="18288" anchor="ctr">
            <a:spAutoFit/>
          </a:bodyPr>
          <a:lstStyle/>
          <a:p>
            <a:r>
              <a:rPr sz="1100" b="0" i="0">
                <a:solidFill>
                  <a:srgbClr val="1F2933"/>
                </a:solidFill>
                <a:latin typeface="Calibri"/>
              </a:rPr>
              <a:t>A browser runs the script. This toy does it by hand. Selenium and Playwright drive a real browser, headless when no window is needed.</a:t>
            </a:r>
          </a:p>
        </p:txBody>
      </p:sp>
      <p:sp>
        <p:nvSpPr>
          <p:cNvPr id="10" name="result label"/>
          <p:cNvSpPr txBox="1"/>
          <p:nvPr/>
        </p:nvSpPr>
        <p:spPr>
          <a:xfrm>
            <a:off x="365760" y="2914523"/>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188843"/>
            <a:ext cx="1920240" cy="5029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downloaded source</a:t>
            </a:r>
          </a:p>
          <a:p>
            <a:pPr algn="ctr"/>
            <a:r>
              <a:rPr sz="950" b="0" i="0">
                <a:solidFill>
                  <a:srgbClr val="1F2933"/>
                </a:solidFill>
                <a:latin typeface="Calibri"/>
              </a:rPr>
              <a:t>empty div + script</a:t>
            </a:r>
          </a:p>
        </p:txBody>
      </p:sp>
      <p:sp>
        <p:nvSpPr>
          <p:cNvPr id="12" name="Rounded Rectangle 11"/>
          <p:cNvSpPr/>
          <p:nvPr/>
        </p:nvSpPr>
        <p:spPr>
          <a:xfrm>
            <a:off x="3108960" y="3143123"/>
            <a:ext cx="2651760"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requests and a parser read</a:t>
            </a:r>
          </a:p>
          <a:p>
            <a:pPr algn="ctr"/>
            <a:r>
              <a:rPr sz="950" b="0" i="0">
                <a:solidFill>
                  <a:srgbClr val="1F2933"/>
                </a:solidFill>
                <a:latin typeface="Calibri"/>
              </a:rPr>
              <a:t>text in the source: None</a:t>
            </a:r>
          </a:p>
        </p:txBody>
      </p:sp>
      <p:cxnSp>
        <p:nvCxnSpPr>
          <p:cNvPr id="13" name="arrow"/>
          <p:cNvCxnSpPr/>
          <p:nvPr/>
        </p:nvCxnSpPr>
        <p:spPr>
          <a:xfrm>
            <a:off x="2304288" y="3353435"/>
            <a:ext cx="7863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08960" y="3737483"/>
            <a:ext cx="265176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browser runs the script</a:t>
            </a:r>
          </a:p>
          <a:p>
            <a:pPr algn="ctr"/>
            <a:r>
              <a:rPr sz="950" b="0" i="0">
                <a:solidFill>
                  <a:srgbClr val="1F2933"/>
                </a:solidFill>
                <a:latin typeface="Calibri"/>
              </a:rPr>
              <a:t>shows 'Built by a script'</a:t>
            </a:r>
          </a:p>
        </p:txBody>
      </p:sp>
      <p:cxnSp>
        <p:nvCxnSpPr>
          <p:cNvPr id="15" name="arrow"/>
          <p:cNvCxnSpPr/>
          <p:nvPr/>
        </p:nvCxnSpPr>
        <p:spPr>
          <a:xfrm>
            <a:off x="2304288" y="3554602"/>
            <a:ext cx="786384" cy="411481"/>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126480" y="3737483"/>
            <a:ext cx="2651759"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Selenium or Playwright</a:t>
            </a:r>
          </a:p>
          <a:p>
            <a:pPr algn="ctr"/>
            <a:r>
              <a:rPr sz="950" b="0" i="0">
                <a:solidFill>
                  <a:srgbClr val="1F2933"/>
                </a:solidFill>
                <a:latin typeface="Calibri"/>
              </a:rPr>
              <a:t>(headless: no window)</a:t>
            </a:r>
          </a:p>
        </p:txBody>
      </p:sp>
      <p:cxnSp>
        <p:nvCxnSpPr>
          <p:cNvPr id="17" name="arrow"/>
          <p:cNvCxnSpPr/>
          <p:nvPr/>
        </p:nvCxnSpPr>
        <p:spPr>
          <a:xfrm>
            <a:off x="5779008" y="3966083"/>
            <a:ext cx="32918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visual note"/>
          <p:cNvSpPr txBox="1"/>
          <p:nvPr/>
        </p:nvSpPr>
        <p:spPr>
          <a:xfrm>
            <a:off x="365760" y="4331843"/>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text exists only after the script has run</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script-built page needs a real browser.</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Selenium began as a test runner for a timesheet, 2004</a:t>
            </a:r>
          </a:p>
        </p:txBody>
      </p:sp>
      <p:pic>
        <p:nvPicPr>
          <p:cNvPr id="4" name="photo huggins" descr="Picture for the story: Selenium began as a test runner for a timesheet, 2004"/>
          <p:cNvPicPr>
            <a:picLocks noChangeAspect="1"/>
          </p:cNvPicPr>
          <p:nvPr/>
        </p:nvPicPr>
        <p:blipFill>
          <a:blip r:embed="rId3"/>
          <a:stretch>
            <a:fillRect/>
          </a:stretch>
        </p:blipFill>
        <p:spPr>
          <a:xfrm>
            <a:off x="365760" y="869352"/>
            <a:ext cx="2651760" cy="2924735"/>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Selenium logo. Logo: selenium.dev, Apache-2.0.</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Jason Huggins, helped by Paul Gross and Jie Tina Wang.</a:t>
            </a:r>
          </a:p>
        </p:txBody>
      </p:sp>
      <p:sp>
        <p:nvSpPr>
          <p:cNvPr id="8" name="card"/>
          <p:cNvSpPr/>
          <p:nvPr/>
        </p:nvSpPr>
        <p:spPr>
          <a:xfrm>
            <a:off x="3200400" y="1307592"/>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JavaScriptTestRunner, the first form of Selenium.</a:t>
            </a:r>
          </a:p>
        </p:txBody>
      </p:sp>
      <p:sp>
        <p:nvSpPr>
          <p:cNvPr id="10" name="card"/>
          <p:cNvSpPr/>
          <p:nvPr/>
        </p:nvSpPr>
        <p:spPr>
          <a:xfrm>
            <a:off x="3200400" y="177393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77393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2004.</a:t>
            </a:r>
          </a:p>
        </p:txBody>
      </p:sp>
      <p:sp>
        <p:nvSpPr>
          <p:cNvPr id="12" name="card"/>
          <p:cNvSpPr/>
          <p:nvPr/>
        </p:nvSpPr>
        <p:spPr>
          <a:xfrm>
            <a:off x="3200400" y="224028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240280"/>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ThoughtWorks, Chicago.</a:t>
            </a:r>
          </a:p>
        </p:txBody>
      </p:sp>
      <p:sp>
        <p:nvSpPr>
          <p:cNvPr id="14" name="card"/>
          <p:cNvSpPr/>
          <p:nvPr/>
        </p:nvSpPr>
        <p:spPr>
          <a:xfrm>
            <a:off x="3200400" y="270662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70662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To test an internal Time and Expenses application written in Python and Plone.</a:t>
            </a:r>
          </a:p>
        </p:txBody>
      </p:sp>
      <p:sp>
        <p:nvSpPr>
          <p:cNvPr id="16" name="card"/>
          <p:cNvSpPr/>
          <p:nvPr/>
        </p:nvSpPr>
        <p:spPr>
          <a:xfrm>
            <a:off x="3200400" y="3328415"/>
            <a:ext cx="5577840" cy="772668"/>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328415"/>
            <a:ext cx="5486400" cy="772668"/>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JavaScript ran inside the browser. Later Simon Stewart's WebDriver was merged in, so a program can drive a browser from outside.</a:t>
            </a:r>
          </a:p>
        </p:txBody>
      </p:sp>
      <p:sp>
        <p:nvSpPr>
          <p:cNvPr id="18" name="read"/>
          <p:cNvSpPr txBox="1"/>
          <p:nvPr/>
        </p:nvSpPr>
        <p:spPr>
          <a:xfrm>
            <a:off x="3200400" y="4183379"/>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Selenium History (selenium.dev)</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Selenium: find_element fails, find_elements does not</a:t>
            </a:r>
          </a:p>
        </p:txBody>
      </p:sp>
      <p:sp>
        <p:nvSpPr>
          <p:cNvPr id="4" name="code"/>
          <p:cNvSpPr/>
          <p:nvPr/>
        </p:nvSpPr>
        <p:spPr>
          <a:xfrm>
            <a:off x="365760" y="786384"/>
            <a:ext cx="488899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xml</a:t>
            </a:r>
            <a:r>
              <a:rPr sz="950" b="0" i="0">
                <a:solidFill>
                  <a:srgbClr val="E6EDF3"/>
                </a:solidFill>
                <a:latin typeface="Courier New"/>
              </a:rPr>
              <a:t>.</a:t>
            </a:r>
            <a:r>
              <a:rPr sz="950" b="0" i="0">
                <a:solidFill>
                  <a:srgbClr val="E6EDF3"/>
                </a:solidFill>
                <a:latin typeface="Courier New"/>
              </a:rPr>
              <a:t>etree</a:t>
            </a:r>
            <a:r>
              <a:rPr sz="950" b="0" i="0">
                <a:solidFill>
                  <a:srgbClr val="E6EDF3"/>
                </a:solidFill>
                <a:latin typeface="Courier New"/>
              </a:rPr>
              <a:t>.</a:t>
            </a:r>
            <a:r>
              <a:rPr sz="950" b="0" i="0">
                <a:solidFill>
                  <a:srgbClr val="E6EDF3"/>
                </a:solidFill>
                <a:latin typeface="Courier New"/>
              </a:rPr>
              <a:t>ElementTree</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ET</a:t>
            </a:r>
          </a:p>
          <a:p>
            <a:pPr algn="l"/>
            <a:r>
              <a:rPr sz="950" b="0" i="0">
                <a:solidFill>
                  <a:srgbClr val="8FA3B8"/>
                </a:solidFill>
                <a:latin typeface="Courier New"/>
              </a:rPr>
              <a:t>&gt;&gt;&gt; </a:t>
            </a:r>
            <a:r>
              <a:rPr sz="950" b="0" i="0">
                <a:solidFill>
                  <a:srgbClr val="E6EDF3"/>
                </a:solidFill>
                <a:latin typeface="Courier New"/>
              </a:rPr>
              <a:t>root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ET</a:t>
            </a:r>
            <a:r>
              <a:rPr sz="950" b="0" i="0">
                <a:solidFill>
                  <a:srgbClr val="E6EDF3"/>
                </a:solidFill>
                <a:latin typeface="Courier New"/>
              </a:rPr>
              <a:t>.</a:t>
            </a:r>
            <a:r>
              <a:rPr sz="950" b="0" i="0">
                <a:solidFill>
                  <a:srgbClr val="E6EDF3"/>
                </a:solidFill>
                <a:latin typeface="Courier New"/>
              </a:rPr>
              <a:t>fromstring</a:t>
            </a:r>
            <a:r>
              <a:rPr sz="950" b="0" i="0">
                <a:solidFill>
                  <a:srgbClr val="E6EDF3"/>
                </a:solidFill>
                <a:latin typeface="Courier New"/>
              </a:rPr>
              <a:t>(</a:t>
            </a:r>
            <a:r>
              <a:rPr sz="950" b="0" i="0">
                <a:solidFill>
                  <a:srgbClr val="9BE3A8"/>
                </a:solidFill>
                <a:latin typeface="Courier New"/>
              </a:rPr>
              <a:t>'&lt;body&gt;&lt;p&gt;one&lt;/p&gt;&lt;p&gt;two&lt;/p&gt;&lt;/body&gt;'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find_elements</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E6EDF3"/>
                </a:solidFill>
                <a:latin typeface="Courier New"/>
              </a:rPr>
              <a:t>root</a:t>
            </a:r>
            <a:r>
              <a:rPr sz="950" b="0" i="0">
                <a:solidFill>
                  <a:srgbClr val="E6EDF3"/>
                </a:solidFill>
                <a:latin typeface="Courier New"/>
              </a:rPr>
              <a:t>.</a:t>
            </a:r>
            <a:r>
              <a:rPr sz="950" b="0" i="0">
                <a:solidFill>
                  <a:srgbClr val="E6EDF3"/>
                </a:solidFill>
                <a:latin typeface="Courier New"/>
              </a:rPr>
              <a:t>findall</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def</a:t>
            </a:r>
            <a:r>
              <a:rPr sz="950" b="0" i="0">
                <a:solidFill>
                  <a:srgbClr val="E6EDF3"/>
                </a:solidFill>
                <a:latin typeface="Courier New"/>
              </a:rPr>
              <a:t> </a:t>
            </a:r>
            <a:r>
              <a:rPr sz="950" b="0" i="0">
                <a:solidFill>
                  <a:srgbClr val="E6EDF3"/>
                </a:solidFill>
                <a:latin typeface="Courier New"/>
              </a:rPr>
              <a:t>find_element</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return</a:t>
            </a:r>
            <a:r>
              <a:rPr sz="950" b="0" i="0">
                <a:solidFill>
                  <a:srgbClr val="E6EDF3"/>
                </a:solidFill>
                <a:latin typeface="Courier New"/>
              </a:rPr>
              <a:t> </a:t>
            </a:r>
            <a:r>
              <a:rPr sz="950" b="0" i="0">
                <a:solidFill>
                  <a:srgbClr val="E6EDF3"/>
                </a:solidFill>
                <a:latin typeface="Courier New"/>
              </a:rPr>
              <a:t>find_elements</a:t>
            </a:r>
            <a:r>
              <a:rPr sz="950" b="0" i="0">
                <a:solidFill>
                  <a:srgbClr val="E6EDF3"/>
                </a:solidFill>
                <a:latin typeface="Courier New"/>
              </a:rPr>
              <a:t>(</a:t>
            </a:r>
            <a:r>
              <a:rPr sz="950" b="0" i="0">
                <a:solidFill>
                  <a:srgbClr val="E6EDF3"/>
                </a:solidFill>
                <a:latin typeface="Courier New"/>
              </a:rPr>
              <a:t>path</a:t>
            </a:r>
            <a:r>
              <a:rPr sz="950" b="0" i="0">
                <a:solidFill>
                  <a:srgbClr val="E6EDF3"/>
                </a:solidFill>
                <a:latin typeface="Courier New"/>
              </a:rPr>
              <a:t>)</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p>
        </p:txBody>
      </p:sp>
      <p:sp>
        <p:nvSpPr>
          <p:cNvPr id="5" name="explanation"/>
          <p:cNvSpPr txBox="1"/>
          <p:nvPr/>
        </p:nvSpPr>
        <p:spPr>
          <a:xfrm>
            <a:off x="5236464" y="786384"/>
            <a:ext cx="3541775" cy="1020317"/>
          </a:xfrm>
          <a:prstGeom prst="rect">
            <a:avLst/>
          </a:prstGeom>
          <a:noFill/>
        </p:spPr>
        <p:txBody>
          <a:bodyPr wrap="square" lIns="128016" rIns="128016" tIns="18288" bIns="18288" anchor="ctr">
            <a:spAutoFit/>
          </a:bodyPr>
          <a:lstStyle/>
          <a:p>
            <a:r>
              <a:rPr sz="1100" b="0" i="0">
                <a:solidFill>
                  <a:srgbClr val="1F2933"/>
                </a:solidFill>
                <a:latin typeface="Calibri"/>
              </a:rPr>
              <a:t>A stand-in for the page that webdriver.Firefox() would load. find_elements returns a list, possibly empty. find_element returns the first match.</a:t>
            </a:r>
          </a:p>
        </p:txBody>
      </p:sp>
      <p:sp>
        <p:nvSpPr>
          <p:cNvPr id="6" name="code"/>
          <p:cNvSpPr/>
          <p:nvPr/>
        </p:nvSpPr>
        <p:spPr>
          <a:xfrm>
            <a:off x="365760" y="1852422"/>
            <a:ext cx="4888992" cy="1020317"/>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len</a:t>
            </a:r>
            <a:r>
              <a:rPr sz="950" b="0" i="0">
                <a:solidFill>
                  <a:srgbClr val="E6EDF3"/>
                </a:solidFill>
                <a:latin typeface="Courier New"/>
              </a:rPr>
              <a:t>(</a:t>
            </a:r>
            <a:r>
              <a:rPr sz="950" b="0" i="0">
                <a:solidFill>
                  <a:srgbClr val="E6EDF3"/>
                </a:solidFill>
                <a:latin typeface="Courier New"/>
              </a:rPr>
              <a:t>find_elements</a:t>
            </a:r>
            <a:r>
              <a:rPr sz="950" b="0" i="0">
                <a:solidFill>
                  <a:srgbClr val="E6EDF3"/>
                </a:solidFill>
                <a:latin typeface="Courier New"/>
              </a:rPr>
              <a:t>(</a:t>
            </a:r>
            <a:r>
              <a:rPr sz="950" b="0" i="0">
                <a:solidFill>
                  <a:srgbClr val="9BE3A8"/>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find_element</a:t>
            </a:r>
            <a:r>
              <a:rPr sz="950" b="0" i="0">
                <a:solidFill>
                  <a:srgbClr val="E6EDF3"/>
                </a:solidFill>
                <a:latin typeface="Courier New"/>
              </a:rPr>
              <a:t>(</a:t>
            </a:r>
            <a:r>
              <a:rPr sz="950" b="0" i="0">
                <a:solidFill>
                  <a:srgbClr val="9BE3A8"/>
                </a:solidFill>
                <a:latin typeface="Courier New"/>
              </a:rPr>
              <a:t>'.//p'</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find_elements</a:t>
            </a:r>
            <a:r>
              <a:rPr sz="950" b="0" i="0">
                <a:solidFill>
                  <a:srgbClr val="E6EDF3"/>
                </a:solidFill>
                <a:latin typeface="Courier New"/>
              </a:rPr>
              <a:t>(</a:t>
            </a:r>
            <a:r>
              <a:rPr sz="950" b="0" i="0">
                <a:solidFill>
                  <a:srgbClr val="9BE3A8"/>
                </a:solidFill>
                <a:latin typeface="Courier New"/>
              </a:rPr>
              <a:t>'.//h1'</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try</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E6EDF3"/>
                </a:solidFill>
                <a:latin typeface="Courier New"/>
              </a:rPr>
              <a:t>find_element</a:t>
            </a:r>
            <a:r>
              <a:rPr sz="950" b="0" i="0">
                <a:solidFill>
                  <a:srgbClr val="E6EDF3"/>
                </a:solidFill>
                <a:latin typeface="Courier New"/>
              </a:rPr>
              <a:t>(</a:t>
            </a:r>
            <a:r>
              <a:rPr sz="950" b="0" i="0">
                <a:solidFill>
                  <a:srgbClr val="9BE3A8"/>
                </a:solidFill>
                <a:latin typeface="Courier New"/>
              </a:rPr>
              <a:t>'.//h1'</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except</a:t>
            </a:r>
            <a:r>
              <a:rPr sz="950" b="0" i="0">
                <a:solidFill>
                  <a:srgbClr val="E6EDF3"/>
                </a:solidFill>
                <a:latin typeface="Courier New"/>
              </a:rPr>
              <a:t> </a:t>
            </a:r>
            <a:r>
              <a:rPr sz="950" b="0" i="0">
                <a:solidFill>
                  <a:srgbClr val="E6EDF3"/>
                </a:solidFill>
                <a:latin typeface="Courier New"/>
              </a:rPr>
              <a:t>IndexError</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    </a:t>
            </a:r>
            <a:r>
              <a:rPr sz="950" b="0" i="0">
                <a:solidFill>
                  <a:srgbClr val="C9A0FF"/>
                </a:solidFill>
                <a:latin typeface="Courier New"/>
              </a:rPr>
              <a:t>print</a:t>
            </a:r>
            <a:r>
              <a:rPr sz="950" b="0" i="0">
                <a:solidFill>
                  <a:srgbClr val="E6EDF3"/>
                </a:solidFill>
                <a:latin typeface="Courier New"/>
              </a:rPr>
              <a:t>(</a:t>
            </a:r>
            <a:r>
              <a:rPr sz="950" b="0" i="0">
                <a:solidFill>
                  <a:srgbClr val="9BE3A8"/>
                </a:solidFill>
                <a:latin typeface="Courier New"/>
              </a:rPr>
              <a:t>'Result: find_element fails when nothing matches'</a:t>
            </a:r>
            <a:r>
              <a:rPr sz="950" b="0" i="0">
                <a:solidFill>
                  <a:srgbClr val="E6EDF3"/>
                </a:solidFill>
                <a:latin typeface="Courier New"/>
              </a:rPr>
              <a:t>)</a:t>
            </a:r>
          </a:p>
        </p:txBody>
      </p:sp>
      <p:sp>
        <p:nvSpPr>
          <p:cNvPr id="7" name="explanation"/>
          <p:cNvSpPr txBox="1"/>
          <p:nvPr/>
        </p:nvSpPr>
        <p:spPr>
          <a:xfrm>
            <a:off x="5236464" y="1852422"/>
            <a:ext cx="3541775" cy="1020317"/>
          </a:xfrm>
          <a:prstGeom prst="rect">
            <a:avLst/>
          </a:prstGeom>
          <a:noFill/>
        </p:spPr>
        <p:txBody>
          <a:bodyPr wrap="square" lIns="128016" rIns="128016" tIns="18288" bIns="18288" anchor="ctr">
            <a:spAutoFit/>
          </a:bodyPr>
          <a:lstStyle/>
          <a:p>
            <a:r>
              <a:rPr sz="1100" b="0" i="0">
                <a:solidFill>
                  <a:srgbClr val="1F2933"/>
                </a:solidFill>
                <a:latin typeface="Calibri"/>
              </a:rPr>
              <a:t>Two paragraphs are found, and the first says one. A search for h1 gives an empty list, but find_element fails. Selenium raises NoSuchElementException; here IndexError tells the same story.</a:t>
            </a:r>
          </a:p>
        </p:txBody>
      </p:sp>
      <p:sp>
        <p:nvSpPr>
          <p:cNvPr id="8" name="result label"/>
          <p:cNvSpPr txBox="1"/>
          <p:nvPr/>
        </p:nvSpPr>
        <p:spPr>
          <a:xfrm>
            <a:off x="365760" y="2945891"/>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20211"/>
          <a:ext cx="8412479" cy="1388360"/>
        </p:xfrm>
        <a:graphic>
          <a:graphicData uri="http://schemas.openxmlformats.org/drawingml/2006/table">
            <a:tbl>
              <a:tblPr firstRow="0" bandRow="0"/>
              <a:tblGrid>
                <a:gridCol w="3019864"/>
                <a:gridCol w="5392615"/>
              </a:tblGrid>
              <a:tr h="277672">
                <a:tc>
                  <a:txBody>
                    <a:bodyPr wrap="square"/>
                    <a:lstStyle/>
                    <a:p>
                      <a:r>
                        <a:rPr sz="10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What comes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7672">
                <a:tc>
                  <a:txBody>
                    <a:bodyPr wrap="square"/>
                    <a:lstStyle/>
                    <a:p>
                      <a:r>
                        <a:rPr sz="1000" b="0" i="0">
                          <a:solidFill>
                            <a:srgbClr val="1F2933"/>
                          </a:solidFill>
                          <a:latin typeface="Courier New"/>
                        </a:rPr>
                        <a:t>find_elements('.//p')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a list of 2 elements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7672">
                <a:tc>
                  <a:txBody>
                    <a:bodyPr wrap="square"/>
                    <a:lstStyle/>
                    <a:p>
                      <a:r>
                        <a:rPr sz="1000" b="0" i="0">
                          <a:solidFill>
                            <a:srgbClr val="1F2933"/>
                          </a:solidFill>
                          <a:latin typeface="Courier New"/>
                        </a:rPr>
                        <a:t>find_element('.//p').text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7672">
                <a:tc>
                  <a:txBody>
                    <a:bodyPr wrap="square"/>
                    <a:lstStyle/>
                    <a:p>
                      <a:r>
                        <a:rPr sz="1000" b="0" i="0">
                          <a:solidFill>
                            <a:srgbClr val="1F2933"/>
                          </a:solidFill>
                          <a:latin typeface="Courier New"/>
                        </a:rPr>
                        <a:t>find_elements('.//h1')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  (empty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77672">
                <a:tc>
                  <a:txBody>
                    <a:bodyPr wrap="square"/>
                    <a:lstStyle/>
                    <a:p>
                      <a:r>
                        <a:rPr sz="1000" b="0" i="0">
                          <a:solidFill>
                            <a:srgbClr val="1F2933"/>
                          </a:solidFill>
                          <a:latin typeface="Courier New"/>
                        </a:rPr>
                        <a:t>find_element('.//h1')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IndexError here; NoSuchElementException in Selenium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find_element fails; find_elements gives a list.</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Playwright: start, new page, goto, locator</a:t>
            </a:r>
          </a:p>
        </p:txBody>
      </p:sp>
      <p:sp>
        <p:nvSpPr>
          <p:cNvPr id="4" name="code"/>
          <p:cNvSpPr/>
          <p:nvPr/>
        </p:nvSpPr>
        <p:spPr>
          <a:xfrm>
            <a:off x="365760" y="786384"/>
            <a:ext cx="3067812" cy="97383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from</a:t>
            </a:r>
            <a:r>
              <a:rPr sz="900" b="0" i="0">
                <a:solidFill>
                  <a:srgbClr val="E6EDF3"/>
                </a:solidFill>
                <a:latin typeface="Courier New"/>
              </a:rPr>
              <a:t> </a:t>
            </a:r>
            <a:r>
              <a:rPr sz="900" b="0" i="0">
                <a:solidFill>
                  <a:srgbClr val="E6EDF3"/>
                </a:solidFill>
                <a:latin typeface="Courier New"/>
              </a:rPr>
              <a:t>contextlib</a:t>
            </a:r>
            <a:r>
              <a:rPr sz="900" b="0" i="0">
                <a:solidFill>
                  <a:srgbClr val="E6EDF3"/>
                </a:solidFill>
                <a:latin typeface="Courier New"/>
              </a:rPr>
              <a: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nullcontext</a:t>
            </a:r>
          </a:p>
          <a:p>
            <a:pPr algn="l"/>
            <a:r>
              <a:rPr sz="900" b="0" i="0">
                <a:solidFill>
                  <a:srgbClr val="8FA3B8"/>
                </a:solidFill>
                <a:latin typeface="Courier New"/>
              </a:rPr>
              <a:t>&gt;&gt;&gt; </a:t>
            </a:r>
            <a:r>
              <a:rPr sz="900" b="0" i="0">
                <a:solidFill>
                  <a:srgbClr val="E6EDF3"/>
                </a:solidFill>
                <a:latin typeface="Courier New"/>
              </a:rPr>
              <a:t>class</a:t>
            </a:r>
            <a:r>
              <a:rPr sz="900" b="0" i="0">
                <a:solidFill>
                  <a:srgbClr val="E6EDF3"/>
                </a:solidFill>
                <a:latin typeface="Courier New"/>
              </a:rPr>
              <a:t> </a:t>
            </a:r>
            <a:r>
              <a:rPr sz="900" b="0" i="0">
                <a:solidFill>
                  <a:srgbClr val="E6EDF3"/>
                </a:solidFill>
                <a:latin typeface="Courier New"/>
              </a:rPr>
              <a:t>Page</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goto</a:t>
            </a:r>
            <a:r>
              <a:rPr sz="900" b="0" i="0">
                <a:solidFill>
                  <a:srgbClr val="E6EDF3"/>
                </a:solidFill>
                <a:latin typeface="Courier New"/>
              </a:rPr>
              <a:t>(</a:t>
            </a:r>
            <a:r>
              <a:rPr sz="900" b="0" i="0">
                <a:solidFill>
                  <a:srgbClr val="E6EDF3"/>
                </a:solidFill>
                <a:latin typeface="Courier New"/>
              </a:rPr>
              <a:t>self</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url</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9BE3A8"/>
                </a:solidFill>
                <a:latin typeface="Courier New"/>
              </a:rPr>
              <a:t>'visiting'</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url</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locator</a:t>
            </a:r>
            <a:r>
              <a:rPr sz="900" b="0" i="0">
                <a:solidFill>
                  <a:srgbClr val="E6EDF3"/>
                </a:solidFill>
                <a:latin typeface="Courier New"/>
              </a:rPr>
              <a:t>(</a:t>
            </a:r>
            <a:r>
              <a:rPr sz="900" b="0" i="0">
                <a:solidFill>
                  <a:srgbClr val="E6EDF3"/>
                </a:solidFill>
                <a:latin typeface="Courier New"/>
              </a:rPr>
              <a:t>self</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css</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9BE3A8"/>
                </a:solidFill>
                <a:latin typeface="Courier New"/>
              </a:rPr>
              <a:t>'element '</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css</a:t>
            </a:r>
          </a:p>
        </p:txBody>
      </p:sp>
      <p:sp>
        <p:nvSpPr>
          <p:cNvPr id="5" name="explanation"/>
          <p:cNvSpPr txBox="1"/>
          <p:nvPr/>
        </p:nvSpPr>
        <p:spPr>
          <a:xfrm>
            <a:off x="3415284" y="786384"/>
            <a:ext cx="5362955" cy="973836"/>
          </a:xfrm>
          <a:prstGeom prst="rect">
            <a:avLst/>
          </a:prstGeom>
          <a:noFill/>
        </p:spPr>
        <p:txBody>
          <a:bodyPr wrap="square" lIns="128016" rIns="128016" tIns="18288" bIns="18288" anchor="ctr">
            <a:spAutoFit/>
          </a:bodyPr>
          <a:lstStyle/>
          <a:p>
            <a:r>
              <a:rPr sz="1100" b="0" i="0">
                <a:solidFill>
                  <a:srgbClr val="1F2933"/>
                </a:solidFill>
                <a:latin typeface="Calibri"/>
              </a:rPr>
              <a:t>A stand-in page. goto visits an address; locator names the element to work with. The real locator also waits until the element is ready.</a:t>
            </a:r>
          </a:p>
        </p:txBody>
      </p:sp>
      <p:sp>
        <p:nvSpPr>
          <p:cNvPr id="6" name="code"/>
          <p:cNvSpPr/>
          <p:nvPr/>
        </p:nvSpPr>
        <p:spPr>
          <a:xfrm>
            <a:off x="365760" y="1805940"/>
            <a:ext cx="3067812" cy="55549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class</a:t>
            </a:r>
            <a:r>
              <a:rPr sz="900" b="0" i="0">
                <a:solidFill>
                  <a:srgbClr val="E6EDF3"/>
                </a:solidFill>
                <a:latin typeface="Courier New"/>
              </a:rPr>
              <a:t> </a:t>
            </a:r>
            <a:r>
              <a:rPr sz="900" b="0" i="0">
                <a:solidFill>
                  <a:srgbClr val="E6EDF3"/>
                </a:solidFill>
                <a:latin typeface="Courier New"/>
              </a:rPr>
              <a:t>Playwright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new_page</a:t>
            </a:r>
            <a:r>
              <a:rPr sz="900" b="0" i="0">
                <a:solidFill>
                  <a:srgbClr val="E6EDF3"/>
                </a:solidFill>
                <a:latin typeface="Courier New"/>
              </a:rPr>
              <a:t>(</a:t>
            </a:r>
            <a:r>
              <a:rPr sz="900" b="0" i="0">
                <a:solidFill>
                  <a:srgbClr val="E6EDF3"/>
                </a:solidFill>
                <a:latin typeface="Courier New"/>
              </a:rPr>
              <a:t>self</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E6EDF3"/>
                </a:solidFill>
                <a:latin typeface="Courier New"/>
              </a:rPr>
              <a:t>Page</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3415284" y="1805940"/>
            <a:ext cx="5362955" cy="555498"/>
          </a:xfrm>
          <a:prstGeom prst="rect">
            <a:avLst/>
          </a:prstGeom>
          <a:noFill/>
        </p:spPr>
        <p:txBody>
          <a:bodyPr wrap="square" lIns="128016" rIns="128016" tIns="18288" bIns="18288" anchor="ctr">
            <a:spAutoFit/>
          </a:bodyPr>
          <a:lstStyle/>
          <a:p>
            <a:r>
              <a:rPr sz="1100" b="0" i="0">
                <a:solidFill>
                  <a:srgbClr val="1F2933"/>
                </a:solidFill>
                <a:latin typeface="Calibri"/>
              </a:rPr>
              <a:t>new_page opens a fresh tab. The real program first calls p.firefox.launch() to start a browser.</a:t>
            </a:r>
          </a:p>
        </p:txBody>
      </p:sp>
      <p:sp>
        <p:nvSpPr>
          <p:cNvPr id="8" name="code"/>
          <p:cNvSpPr/>
          <p:nvPr/>
        </p:nvSpPr>
        <p:spPr>
          <a:xfrm>
            <a:off x="365760" y="2407158"/>
            <a:ext cx="3067812" cy="694944"/>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with</a:t>
            </a:r>
            <a:r>
              <a:rPr sz="900" b="0" i="0">
                <a:solidFill>
                  <a:srgbClr val="E6EDF3"/>
                </a:solidFill>
                <a:latin typeface="Courier New"/>
              </a:rPr>
              <a:t> </a:t>
            </a:r>
            <a:r>
              <a:rPr sz="900" b="0" i="0">
                <a:solidFill>
                  <a:srgbClr val="E6EDF3"/>
                </a:solidFill>
                <a:latin typeface="Courier New"/>
              </a:rPr>
              <a:t>nullcontext</a:t>
            </a:r>
            <a:r>
              <a:rPr sz="900" b="0" i="0">
                <a:solidFill>
                  <a:srgbClr val="E6EDF3"/>
                </a:solidFill>
                <a:latin typeface="Courier New"/>
              </a:rPr>
              <a:t>(</a:t>
            </a:r>
            <a:r>
              <a:rPr sz="900" b="0" i="0">
                <a:solidFill>
                  <a:srgbClr val="E6EDF3"/>
                </a:solidFill>
                <a:latin typeface="Courier New"/>
              </a:rPr>
              <a:t>Playwright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p</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page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new_page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page</a:t>
            </a:r>
            <a:r>
              <a:rPr sz="900" b="0" i="0">
                <a:solidFill>
                  <a:srgbClr val="E6EDF3"/>
                </a:solidFill>
                <a:latin typeface="Courier New"/>
              </a:rPr>
              <a:t>.</a:t>
            </a:r>
            <a:r>
              <a:rPr sz="900" b="0" i="0">
                <a:solidFill>
                  <a:srgbClr val="E6EDF3"/>
                </a:solidFill>
                <a:latin typeface="Courier New"/>
              </a:rPr>
              <a:t>goto</a:t>
            </a:r>
            <a:r>
              <a:rPr sz="900" b="0" i="0">
                <a:solidFill>
                  <a:srgbClr val="E6EDF3"/>
                </a:solidFill>
                <a:latin typeface="Courier New"/>
              </a:rPr>
              <a:t>(</a:t>
            </a:r>
            <a:r>
              <a:rPr sz="900" b="0" i="0">
                <a:solidFill>
                  <a:srgbClr val="9BE3A8"/>
                </a:solidFill>
                <a:latin typeface="Courier New"/>
              </a:rPr>
              <a:t>'https://example.com/'</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page</a:t>
            </a:r>
            <a:r>
              <a:rPr sz="900" b="0" i="0">
                <a:solidFill>
                  <a:srgbClr val="E6EDF3"/>
                </a:solidFill>
                <a:latin typeface="Courier New"/>
              </a:rPr>
              <a:t>.</a:t>
            </a:r>
            <a:r>
              <a:rPr sz="900" b="0" i="0">
                <a:solidFill>
                  <a:srgbClr val="E6EDF3"/>
                </a:solidFill>
                <a:latin typeface="Courier New"/>
              </a:rPr>
              <a:t>locator</a:t>
            </a:r>
            <a:r>
              <a:rPr sz="900" b="0" i="0">
                <a:solidFill>
                  <a:srgbClr val="E6EDF3"/>
                </a:solidFill>
                <a:latin typeface="Courier New"/>
              </a:rPr>
              <a:t>(</a:t>
            </a:r>
            <a:r>
              <a:rPr sz="900" b="0" i="0">
                <a:solidFill>
                  <a:srgbClr val="9BE3A8"/>
                </a:solidFill>
                <a:latin typeface="Courier New"/>
              </a:rPr>
              <a:t>'h1'</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3415284" y="2407158"/>
            <a:ext cx="5362955" cy="694944"/>
          </a:xfrm>
          <a:prstGeom prst="rect">
            <a:avLst/>
          </a:prstGeom>
          <a:noFill/>
        </p:spPr>
        <p:txBody>
          <a:bodyPr wrap="square" lIns="128016" rIns="128016" tIns="18288" bIns="18288" anchor="ctr">
            <a:spAutoFit/>
          </a:bodyPr>
          <a:lstStyle/>
          <a:p>
            <a:r>
              <a:rPr sz="1100" b="0" i="0">
                <a:solidFill>
                  <a:srgbClr val="1F2933"/>
                </a:solidFill>
                <a:latin typeface="Calibri"/>
              </a:rPr>
              <a:t>sync_playwright() is used in a with block, which starts the tool and stops it at the end. The steps are the chapter's: start, new page, goto, locator.</a:t>
            </a:r>
          </a:p>
        </p:txBody>
      </p:sp>
      <p:sp>
        <p:nvSpPr>
          <p:cNvPr id="10" name="result label"/>
          <p:cNvSpPr txBox="1"/>
          <p:nvPr/>
        </p:nvSpPr>
        <p:spPr>
          <a:xfrm>
            <a:off x="365760" y="3175254"/>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49574"/>
            <a:ext cx="1897379" cy="5486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with ... as p</a:t>
            </a:r>
          </a:p>
          <a:p>
            <a:pPr algn="ctr"/>
            <a:r>
              <a:rPr sz="900" b="0" i="0">
                <a:solidFill>
                  <a:srgbClr val="1F2933"/>
                </a:solidFill>
                <a:latin typeface="Calibri"/>
              </a:rPr>
              <a:t>(starts the tool)</a:t>
            </a:r>
          </a:p>
        </p:txBody>
      </p:sp>
      <p:cxnSp>
        <p:nvCxnSpPr>
          <p:cNvPr id="12" name="arrow"/>
          <p:cNvCxnSpPr/>
          <p:nvPr/>
        </p:nvCxnSpPr>
        <p:spPr>
          <a:xfrm>
            <a:off x="2281427" y="3723894"/>
            <a:ext cx="23774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37459" y="3449574"/>
            <a:ext cx="1897379" cy="54864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p.new_page()</a:t>
            </a:r>
          </a:p>
          <a:p>
            <a:pPr algn="ctr"/>
            <a:r>
              <a:rPr sz="900" b="0" i="0">
                <a:solidFill>
                  <a:srgbClr val="1F2933"/>
                </a:solidFill>
                <a:latin typeface="Calibri"/>
              </a:rPr>
              <a:t>(a fresh tab)</a:t>
            </a:r>
          </a:p>
        </p:txBody>
      </p:sp>
      <p:cxnSp>
        <p:nvCxnSpPr>
          <p:cNvPr id="14" name="arrow"/>
          <p:cNvCxnSpPr/>
          <p:nvPr/>
        </p:nvCxnSpPr>
        <p:spPr>
          <a:xfrm>
            <a:off x="4453127" y="3723894"/>
            <a:ext cx="2377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709159" y="3449574"/>
            <a:ext cx="1897379" cy="54864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page.goto(url)</a:t>
            </a:r>
          </a:p>
          <a:p>
            <a:pPr algn="ctr"/>
            <a:r>
              <a:rPr sz="900" b="0" i="0">
                <a:solidFill>
                  <a:srgbClr val="1F2933"/>
                </a:solidFill>
                <a:latin typeface="Calibri"/>
              </a:rPr>
              <a:t>visiting https://example.com/</a:t>
            </a:r>
          </a:p>
        </p:txBody>
      </p:sp>
      <p:cxnSp>
        <p:nvCxnSpPr>
          <p:cNvPr id="16" name="arrow"/>
          <p:cNvCxnSpPr/>
          <p:nvPr/>
        </p:nvCxnSpPr>
        <p:spPr>
          <a:xfrm>
            <a:off x="6624827" y="3723894"/>
            <a:ext cx="237745"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880859" y="3449574"/>
            <a:ext cx="1897379" cy="54864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page.locator('h1')</a:t>
            </a:r>
          </a:p>
          <a:p>
            <a:pPr algn="ctr"/>
            <a:r>
              <a:rPr sz="900" b="0" i="0">
                <a:solidFill>
                  <a:srgbClr val="1F2933"/>
                </a:solidFill>
                <a:latin typeface="Calibri"/>
              </a:rPr>
              <a:t>element h1</a:t>
            </a:r>
          </a:p>
        </p:txBody>
      </p:sp>
      <p:sp>
        <p:nvSpPr>
          <p:cNvPr id="18" name="TextBox 17"/>
          <p:cNvSpPr txBox="1"/>
          <p:nvPr/>
        </p:nvSpPr>
        <p:spPr>
          <a:xfrm>
            <a:off x="365760" y="4043934"/>
            <a:ext cx="1897379" cy="219456"/>
          </a:xfrm>
          <a:prstGeom prst="rect">
            <a:avLst/>
          </a:prstGeom>
          <a:noFill/>
        </p:spPr>
        <p:txBody>
          <a:bodyPr wrap="square" lIns="45720" rIns="45720" tIns="27432" bIns="27432" anchor="t">
            <a:spAutoFit/>
          </a:bodyPr>
          <a:lstStyle/>
          <a:p>
            <a:pPr algn="ctr"/>
            <a:r>
              <a:rPr sz="950" b="0" i="0">
                <a:solidFill>
                  <a:srgbClr val="5B6773"/>
                </a:solidFill>
                <a:latin typeface="Calibri"/>
              </a:rPr>
              <a:t>1 start</a:t>
            </a:r>
          </a:p>
        </p:txBody>
      </p:sp>
      <p:sp>
        <p:nvSpPr>
          <p:cNvPr id="19" name="TextBox 18"/>
          <p:cNvSpPr txBox="1"/>
          <p:nvPr/>
        </p:nvSpPr>
        <p:spPr>
          <a:xfrm>
            <a:off x="2537459" y="4043934"/>
            <a:ext cx="1897379" cy="219456"/>
          </a:xfrm>
          <a:prstGeom prst="rect">
            <a:avLst/>
          </a:prstGeom>
          <a:noFill/>
        </p:spPr>
        <p:txBody>
          <a:bodyPr wrap="square" lIns="45720" rIns="45720" tIns="27432" bIns="27432" anchor="t">
            <a:spAutoFit/>
          </a:bodyPr>
          <a:lstStyle/>
          <a:p>
            <a:pPr algn="ctr"/>
            <a:r>
              <a:rPr sz="950" b="0" i="0">
                <a:solidFill>
                  <a:srgbClr val="5B6773"/>
                </a:solidFill>
                <a:latin typeface="Calibri"/>
              </a:rPr>
              <a:t>2 open a tab</a:t>
            </a:r>
          </a:p>
        </p:txBody>
      </p:sp>
      <p:sp>
        <p:nvSpPr>
          <p:cNvPr id="20" name="TextBox 19"/>
          <p:cNvSpPr txBox="1"/>
          <p:nvPr/>
        </p:nvSpPr>
        <p:spPr>
          <a:xfrm>
            <a:off x="4709159" y="4043934"/>
            <a:ext cx="1897379" cy="219456"/>
          </a:xfrm>
          <a:prstGeom prst="rect">
            <a:avLst/>
          </a:prstGeom>
          <a:noFill/>
        </p:spPr>
        <p:txBody>
          <a:bodyPr wrap="square" lIns="45720" rIns="45720" tIns="27432" bIns="27432" anchor="t">
            <a:spAutoFit/>
          </a:bodyPr>
          <a:lstStyle/>
          <a:p>
            <a:pPr algn="ctr"/>
            <a:r>
              <a:rPr sz="950" b="0" i="0">
                <a:solidFill>
                  <a:srgbClr val="5B6773"/>
                </a:solidFill>
                <a:latin typeface="Calibri"/>
              </a:rPr>
              <a:t>3 visit</a:t>
            </a:r>
          </a:p>
        </p:txBody>
      </p:sp>
      <p:sp>
        <p:nvSpPr>
          <p:cNvPr id="21" name="TextBox 20"/>
          <p:cNvSpPr txBox="1"/>
          <p:nvPr/>
        </p:nvSpPr>
        <p:spPr>
          <a:xfrm>
            <a:off x="6880859" y="4043934"/>
            <a:ext cx="1897379" cy="219456"/>
          </a:xfrm>
          <a:prstGeom prst="rect">
            <a:avLst/>
          </a:prstGeom>
          <a:noFill/>
        </p:spPr>
        <p:txBody>
          <a:bodyPr wrap="square" lIns="45720" rIns="45720" tIns="27432" bIns="27432" anchor="t">
            <a:spAutoFit/>
          </a:bodyPr>
          <a:lstStyle/>
          <a:p>
            <a:pPr algn="ctr"/>
            <a:r>
              <a:rPr sz="950" b="0" i="0">
                <a:solidFill>
                  <a:srgbClr val="5B6773"/>
                </a:solidFill>
                <a:latin typeface="Calibri"/>
              </a:rPr>
              <a:t>4 find the element</a:t>
            </a:r>
          </a:p>
        </p:txBody>
      </p:sp>
      <p:sp>
        <p:nvSpPr>
          <p:cNvPr id="22" name="visual note"/>
          <p:cNvSpPr txBox="1"/>
          <p:nvPr/>
        </p:nvSpPr>
        <p:spPr>
          <a:xfrm>
            <a:off x="365760" y="4318254"/>
            <a:ext cx="8412480" cy="219456"/>
          </a:xfrm>
          <a:prstGeom prst="rect">
            <a:avLst/>
          </a:prstGeom>
          <a:noFill/>
        </p:spPr>
        <p:txBody>
          <a:bodyPr wrap="square" lIns="45720" rIns="45720" tIns="27432" bIns="27432" anchor="t">
            <a:spAutoFit/>
          </a:bodyPr>
          <a:lstStyle/>
          <a:p>
            <a:r>
              <a:rPr sz="950" b="0" i="1">
                <a:solidFill>
                  <a:srgbClr val="5B6773"/>
                </a:solidFill>
                <a:latin typeface="Calibri"/>
              </a:rPr>
              <a:t>the real program adds p.firefox.launch() and keeps the same four steps</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Start, new page, goto, locator.</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Playwright reached Python on 30 September 2020</a:t>
            </a:r>
          </a:p>
        </p:txBody>
      </p:sp>
      <p:pic>
        <p:nvPicPr>
          <p:cNvPr id="4" name="photo playwright" descr="Picture for the story: Playwright reached Python on 30 September 2020"/>
          <p:cNvPicPr>
            <a:picLocks noChangeAspect="1"/>
          </p:cNvPicPr>
          <p:nvPr/>
        </p:nvPicPr>
        <p:blipFill>
          <a:blip r:embed="rId3"/>
          <a:stretch>
            <a:fillRect/>
          </a:stretch>
        </p:blipFill>
        <p:spPr>
          <a:xfrm>
            <a:off x="365760" y="870276"/>
            <a:ext cx="2651760" cy="2922887"/>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The Playwright logo. Logo: playwright.dev, Apache-2.0.</a:t>
            </a:r>
          </a:p>
        </p:txBody>
      </p:sp>
      <p:sp>
        <p:nvSpPr>
          <p:cNvPr id="6" name="card"/>
          <p:cNvSpPr/>
          <p:nvPr/>
        </p:nvSpPr>
        <p:spPr>
          <a:xfrm>
            <a:off x="3200400" y="841248"/>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WHO  </a:t>
            </a:r>
            <a:r>
              <a:rPr sz="1300" b="0" i="0">
                <a:solidFill>
                  <a:srgbClr val="1F2933"/>
                </a:solidFill>
                <a:latin typeface="Calibri"/>
              </a:rPr>
              <a:t>Arjun Attam, program manager, and the Playwright team at Microsoft.</a:t>
            </a:r>
          </a:p>
        </p:txBody>
      </p:sp>
      <p:sp>
        <p:nvSpPr>
          <p:cNvPr id="8" name="card"/>
          <p:cNvSpPr/>
          <p:nvPr/>
        </p:nvSpPr>
        <p:spPr>
          <a:xfrm>
            <a:off x="3200400" y="1463040"/>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63040"/>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WHAT  </a:t>
            </a:r>
            <a:r>
              <a:rPr sz="1300" b="0" i="0">
                <a:solidFill>
                  <a:srgbClr val="1F2933"/>
                </a:solidFill>
                <a:latin typeface="Calibri"/>
              </a:rPr>
              <a:t>Playwright for Python, announced in preview.</a:t>
            </a:r>
          </a:p>
        </p:txBody>
      </p:sp>
      <p:sp>
        <p:nvSpPr>
          <p:cNvPr id="10" name="card"/>
          <p:cNvSpPr/>
          <p:nvPr/>
        </p:nvSpPr>
        <p:spPr>
          <a:xfrm>
            <a:off x="3200400" y="1929384"/>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29384"/>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WHEN  </a:t>
            </a:r>
            <a:r>
              <a:rPr sz="1300" b="0" i="0">
                <a:solidFill>
                  <a:srgbClr val="1F2933"/>
                </a:solidFill>
                <a:latin typeface="Calibri"/>
              </a:rPr>
              <a:t>30 September 2020; InfoQ had reported Playwright itself on 30 January 2020.</a:t>
            </a:r>
          </a:p>
        </p:txBody>
      </p:sp>
      <p:sp>
        <p:nvSpPr>
          <p:cNvPr id="12" name="card"/>
          <p:cNvSpPr/>
          <p:nvPr/>
        </p:nvSpPr>
        <p:spPr>
          <a:xfrm>
            <a:off x="3200400" y="2551176"/>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51176"/>
            <a:ext cx="5486400" cy="402336"/>
          </a:xfrm>
          <a:prstGeom prst="rect">
            <a:avLst/>
          </a:prstGeom>
          <a:noFill/>
        </p:spPr>
        <p:txBody>
          <a:bodyPr wrap="square" lIns="45720" rIns="45720" tIns="27432" bIns="27432" anchor="ctr">
            <a:spAutoFit/>
          </a:bodyPr>
          <a:lstStyle/>
          <a:p>
            <a:r>
              <a:rPr sz="1300" b="1" i="0">
                <a:solidFill>
                  <a:srgbClr val="0E7C86"/>
                </a:solidFill>
                <a:latin typeface="Calibri"/>
              </a:rPr>
              <a:t>WHERE  </a:t>
            </a:r>
            <a:r>
              <a:rPr sz="1300" b="0" i="0">
                <a:solidFill>
                  <a:srgbClr val="1F2933"/>
                </a:solidFill>
                <a:latin typeface="Calibri"/>
              </a:rPr>
              <a:t>The Microsoft for Python Developers blog.</a:t>
            </a:r>
          </a:p>
        </p:txBody>
      </p:sp>
      <p:sp>
        <p:nvSpPr>
          <p:cNvPr id="14" name="card"/>
          <p:cNvSpPr/>
          <p:nvPr/>
        </p:nvSpPr>
        <p:spPr>
          <a:xfrm>
            <a:off x="3200400" y="3017520"/>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17520"/>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WHY  </a:t>
            </a:r>
            <a:r>
              <a:rPr sz="1300" b="0" i="0">
                <a:solidFill>
                  <a:srgbClr val="1F2933"/>
                </a:solidFill>
                <a:latin typeface="Calibri"/>
              </a:rPr>
              <a:t>Reliable end-to-end tests without timeouts: it waits for the page to be ready by itself.</a:t>
            </a:r>
          </a:p>
        </p:txBody>
      </p:sp>
      <p:sp>
        <p:nvSpPr>
          <p:cNvPr id="16" name="card"/>
          <p:cNvSpPr/>
          <p:nvPr/>
        </p:nvSpPr>
        <p:spPr>
          <a:xfrm>
            <a:off x="3200400" y="3639311"/>
            <a:ext cx="5577840" cy="557784"/>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39311"/>
            <a:ext cx="5486400" cy="557784"/>
          </a:xfrm>
          <a:prstGeom prst="rect">
            <a:avLst/>
          </a:prstGeom>
          <a:noFill/>
        </p:spPr>
        <p:txBody>
          <a:bodyPr wrap="square" lIns="45720" rIns="45720" tIns="27432" bIns="27432" anchor="ctr">
            <a:spAutoFit/>
          </a:bodyPr>
          <a:lstStyle/>
          <a:p>
            <a:r>
              <a:rPr sz="1300" b="1" i="0">
                <a:solidFill>
                  <a:srgbClr val="0E7C86"/>
                </a:solidFill>
                <a:latin typeface="Calibri"/>
              </a:rPr>
              <a:t>HOW  </a:t>
            </a:r>
            <a:r>
              <a:rPr sz="1300" b="0" i="0">
                <a:solidFill>
                  <a:srgbClr val="1F2933"/>
                </a:solidFill>
                <a:latin typeface="Calibri"/>
              </a:rPr>
              <a:t>An event-driven design that listens to browser events such as DOM changes, network requests and navigations.</a:t>
            </a:r>
          </a:p>
        </p:txBody>
      </p:sp>
      <p:sp>
        <p:nvSpPr>
          <p:cNvPr id="18" name="read"/>
          <p:cNvSpPr txBox="1"/>
          <p:nvPr/>
        </p:nvSpPr>
        <p:spPr>
          <a:xfrm>
            <a:off x="3200400" y="4279391"/>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Announcing Playwright for Python (Microsoft)</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Interacting with a page: wait until the element is there</a:t>
            </a:r>
          </a:p>
        </p:txBody>
      </p:sp>
      <p:sp>
        <p:nvSpPr>
          <p:cNvPr id="4" name="code"/>
          <p:cNvSpPr/>
          <p:nvPr/>
        </p:nvSpPr>
        <p:spPr>
          <a:xfrm>
            <a:off x="365760" y="786384"/>
            <a:ext cx="430225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looks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None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None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'Hello'</a:t>
            </a:r>
            <a:r>
              <a:rPr sz="900" b="0" i="0">
                <a:solidFill>
                  <a:srgbClr val="E6EDF3"/>
                </a:solidFill>
                <a:latin typeface="Courier New"/>
              </a:rPr>
              <a:t>]</a:t>
            </a:r>
            <a:r>
              <a:rPr sz="900" b="0" i="0">
                <a:solidFill>
                  <a:srgbClr val="E6EDF3"/>
                </a:solidFill>
                <a:latin typeface="Courier New"/>
              </a:rPr>
              <a:t>  </a:t>
            </a:r>
            <a:r>
              <a:rPr sz="900" b="0" i="0">
                <a:solidFill>
                  <a:srgbClr val="8FA3B8"/>
                </a:solidFill>
                <a:latin typeface="Courier New"/>
              </a:rPr>
              <a:t># what each look sees</a:t>
            </a:r>
          </a:p>
        </p:txBody>
      </p:sp>
      <p:sp>
        <p:nvSpPr>
          <p:cNvPr id="5" name="explanation"/>
          <p:cNvSpPr txBox="1"/>
          <p:nvPr/>
        </p:nvSpPr>
        <p:spPr>
          <a:xfrm>
            <a:off x="4649724" y="786384"/>
            <a:ext cx="4128515" cy="477266"/>
          </a:xfrm>
          <a:prstGeom prst="rect">
            <a:avLst/>
          </a:prstGeom>
          <a:noFill/>
        </p:spPr>
        <p:txBody>
          <a:bodyPr wrap="square" lIns="128016" rIns="128016" tIns="18288" bIns="18288" anchor="ctr">
            <a:spAutoFit/>
          </a:bodyPr>
          <a:lstStyle/>
          <a:p>
            <a:r>
              <a:rPr sz="1100" b="0" i="0">
                <a:solidFill>
                  <a:srgbClr val="1F2933"/>
                </a:solidFill>
                <a:latin typeface="Calibri"/>
              </a:rPr>
              <a:t>A page can build an element late. Each entry is one look: nothing, nothing, then the text.</a:t>
            </a:r>
          </a:p>
        </p:txBody>
      </p:sp>
      <p:sp>
        <p:nvSpPr>
          <p:cNvPr id="6" name="code"/>
          <p:cNvSpPr/>
          <p:nvPr/>
        </p:nvSpPr>
        <p:spPr>
          <a:xfrm>
            <a:off x="365760" y="1309370"/>
            <a:ext cx="4302251" cy="55549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def</a:t>
            </a:r>
            <a:r>
              <a:rPr sz="900" b="0" i="0">
                <a:solidFill>
                  <a:srgbClr val="E6EDF3"/>
                </a:solidFill>
                <a:latin typeface="Courier New"/>
              </a:rPr>
              <a:t> </a:t>
            </a:r>
            <a:r>
              <a:rPr sz="900" b="0" i="0">
                <a:solidFill>
                  <a:srgbClr val="E6EDF3"/>
                </a:solidFill>
                <a:latin typeface="Courier New"/>
              </a:rPr>
              <a:t>locator_text</a:t>
            </a:r>
            <a:r>
              <a:rPr sz="900" b="0" i="0">
                <a:solidFill>
                  <a:srgbClr val="E6EDF3"/>
                </a:solidFill>
                <a:latin typeface="Courier New"/>
              </a:rPr>
              <a:t>(</a:t>
            </a:r>
            <a:r>
              <a:rPr sz="900" b="0" i="0">
                <a:solidFill>
                  <a:srgbClr val="E6EDF3"/>
                </a:solidFill>
                <a:latin typeface="Courier New"/>
              </a:rPr>
              <a:t>limit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look</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text</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enumerate</a:t>
            </a:r>
            <a:r>
              <a:rPr sz="900" b="0" i="0">
                <a:solidFill>
                  <a:srgbClr val="E6EDF3"/>
                </a:solidFill>
                <a:latin typeface="Courier New"/>
              </a:rPr>
              <a:t>(</a:t>
            </a:r>
            <a:r>
              <a:rPr sz="900" b="0" i="0">
                <a:solidFill>
                  <a:srgbClr val="E6EDF3"/>
                </a:solidFill>
                <a:latin typeface="Courier New"/>
              </a:rPr>
              <a:t>looks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limit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if</a:t>
            </a:r>
            <a:r>
              <a:rPr sz="900" b="0" i="0">
                <a:solidFill>
                  <a:srgbClr val="E6EDF3"/>
                </a:solidFill>
                <a:latin typeface="Courier New"/>
              </a:rPr>
              <a:t> </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is</a:t>
            </a:r>
            <a:r>
              <a:rPr sz="900" b="0" i="0">
                <a:solidFill>
                  <a:srgbClr val="E6EDF3"/>
                </a:solidFill>
                <a:latin typeface="Courier New"/>
              </a:rPr>
              <a:t> </a:t>
            </a:r>
            <a:r>
              <a:rPr sz="900" b="0" i="0">
                <a:solidFill>
                  <a:srgbClr val="C9A0FF"/>
                </a:solidFill>
                <a:latin typeface="Courier New"/>
              </a:rPr>
              <a:t>not</a:t>
            </a:r>
            <a:r>
              <a:rPr sz="900" b="0" i="0">
                <a:solidFill>
                  <a:srgbClr val="E6EDF3"/>
                </a:solidFill>
                <a:latin typeface="Courier New"/>
              </a:rPr>
              <a:t> </a:t>
            </a:r>
            <a:r>
              <a:rPr sz="900" b="0" i="0">
                <a:solidFill>
                  <a:srgbClr val="E6EDF3"/>
                </a:solidFill>
                <a:latin typeface="Courier New"/>
              </a:rPr>
              <a:t>None</a:t>
            </a:r>
            <a:r>
              <a:rPr sz="900" b="0" i="0">
                <a:solidFill>
                  <a:srgbClr val="E6EDF3"/>
                </a:solidFill>
                <a:latin typeface="Courier New"/>
              </a:rPr>
              <a:t>:</a:t>
            </a:r>
          </a:p>
        </p:txBody>
      </p:sp>
      <p:sp>
        <p:nvSpPr>
          <p:cNvPr id="7" name="explanation"/>
          <p:cNvSpPr txBox="1"/>
          <p:nvPr/>
        </p:nvSpPr>
        <p:spPr>
          <a:xfrm>
            <a:off x="4649724" y="1309370"/>
            <a:ext cx="4128515" cy="555498"/>
          </a:xfrm>
          <a:prstGeom prst="rect">
            <a:avLst/>
          </a:prstGeom>
          <a:noFill/>
        </p:spPr>
        <p:txBody>
          <a:bodyPr wrap="square" lIns="128016" rIns="128016" tIns="18288" bIns="18288" anchor="ctr">
            <a:spAutoFit/>
          </a:bodyPr>
          <a:lstStyle/>
          <a:p>
            <a:r>
              <a:rPr sz="1100" b="0" i="0">
                <a:solidFill>
                  <a:srgbClr val="1F2933"/>
                </a:solidFill>
                <a:latin typeface="Calibri"/>
              </a:rPr>
              <a:t>Playwright keeps looking until the element is ready or time runs out. Selenium looks once.</a:t>
            </a:r>
          </a:p>
        </p:txBody>
      </p:sp>
      <p:sp>
        <p:nvSpPr>
          <p:cNvPr id="8" name="code"/>
          <p:cNvSpPr/>
          <p:nvPr/>
        </p:nvSpPr>
        <p:spPr>
          <a:xfrm>
            <a:off x="365760" y="1910588"/>
            <a:ext cx="430225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9BE3A8"/>
                </a:solidFill>
                <a:latin typeface="Courier New"/>
              </a:rPr>
              <a:t>'found %r on look %d'</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look</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return</a:t>
            </a:r>
            <a:r>
              <a:rPr sz="900" b="0" i="0">
                <a:solidFill>
                  <a:srgbClr val="E6EDF3"/>
                </a:solidFill>
                <a:latin typeface="Courier New"/>
              </a:rPr>
              <a:t> </a:t>
            </a:r>
            <a:r>
              <a:rPr sz="900" b="0" i="0">
                <a:solidFill>
                  <a:srgbClr val="9BE3A8"/>
                </a:solidFill>
                <a:latin typeface="Courier New"/>
              </a:rPr>
              <a:t>'timeout after %d looks'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limit</a:t>
            </a:r>
          </a:p>
        </p:txBody>
      </p:sp>
      <p:sp>
        <p:nvSpPr>
          <p:cNvPr id="9" name="explanation"/>
          <p:cNvSpPr txBox="1"/>
          <p:nvPr/>
        </p:nvSpPr>
        <p:spPr>
          <a:xfrm>
            <a:off x="4649724" y="1910588"/>
            <a:ext cx="4128515" cy="477266"/>
          </a:xfrm>
          <a:prstGeom prst="rect">
            <a:avLst/>
          </a:prstGeom>
          <a:noFill/>
        </p:spPr>
        <p:txBody>
          <a:bodyPr wrap="square" lIns="128016" rIns="128016" tIns="18288" bIns="18288" anchor="ctr">
            <a:spAutoFit/>
          </a:bodyPr>
          <a:lstStyle/>
          <a:p>
            <a:r>
              <a:rPr sz="1100" b="0" i="0">
                <a:solidFill>
                  <a:srgbClr val="1F2933"/>
                </a:solidFill>
                <a:latin typeface="Calibri"/>
              </a:rPr>
              <a:t>Return the text and the look it appeared on, or report a timeout when the looks run out.</a:t>
            </a:r>
          </a:p>
        </p:txBody>
      </p:sp>
      <p:sp>
        <p:nvSpPr>
          <p:cNvPr id="10" name="code"/>
          <p:cNvSpPr/>
          <p:nvPr/>
        </p:nvSpPr>
        <p:spPr>
          <a:xfrm>
            <a:off x="365760" y="2433574"/>
            <a:ext cx="430225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locator_text</a:t>
            </a:r>
            <a:r>
              <a:rPr sz="900" b="0" i="0">
                <a:solidFill>
                  <a:srgbClr val="E6EDF3"/>
                </a:solidFill>
                <a:latin typeface="Courier New"/>
              </a:rPr>
              <a:t>(</a:t>
            </a:r>
            <a:r>
              <a:rPr sz="900" b="0" i="0">
                <a:solidFill>
                  <a:srgbClr val="7CC4FF"/>
                </a:solidFill>
                <a:latin typeface="Courier New"/>
              </a:rPr>
              <a:t>5</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locator_text</a:t>
            </a:r>
            <a:r>
              <a:rPr sz="900" b="0" i="0">
                <a:solidFill>
                  <a:srgbClr val="E6EDF3"/>
                </a:solidFill>
                <a:latin typeface="Courier New"/>
              </a:rPr>
              <a:t>(</a:t>
            </a:r>
            <a:r>
              <a:rPr sz="900" b="0" i="0">
                <a:solidFill>
                  <a:srgbClr val="7CC4FF"/>
                </a:solidFill>
                <a:latin typeface="Courier New"/>
              </a:rPr>
              <a:t>2</a:t>
            </a:r>
            <a:r>
              <a:rPr sz="900" b="0" i="0">
                <a:solidFill>
                  <a:srgbClr val="E6EDF3"/>
                </a:solidFill>
                <a:latin typeface="Courier New"/>
              </a:rPr>
              <a:t>)</a:t>
            </a:r>
            <a:r>
              <a:rPr sz="900" b="0" i="0">
                <a:solidFill>
                  <a:srgbClr val="E6EDF3"/>
                </a:solidFill>
                <a:latin typeface="Courier New"/>
              </a:rPr>
              <a:t>)</a:t>
            </a:r>
          </a:p>
        </p:txBody>
      </p:sp>
      <p:sp>
        <p:nvSpPr>
          <p:cNvPr id="11" name="explanation"/>
          <p:cNvSpPr txBox="1"/>
          <p:nvPr/>
        </p:nvSpPr>
        <p:spPr>
          <a:xfrm>
            <a:off x="4649724" y="2433574"/>
            <a:ext cx="4128515" cy="477266"/>
          </a:xfrm>
          <a:prstGeom prst="rect">
            <a:avLst/>
          </a:prstGeom>
          <a:noFill/>
        </p:spPr>
        <p:txBody>
          <a:bodyPr wrap="square" lIns="128016" rIns="128016" tIns="18288" bIns="18288" anchor="ctr">
            <a:spAutoFit/>
          </a:bodyPr>
          <a:lstStyle/>
          <a:p>
            <a:r>
              <a:rPr sz="1100" b="0" i="0">
                <a:solidFill>
                  <a:srgbClr val="1F2933"/>
                </a:solidFill>
                <a:latin typeface="Calibri"/>
              </a:rPr>
              <a:t>Five looks find the text on the third. Two looks give up, as Playwright does after thirty seconds.</a:t>
            </a:r>
          </a:p>
        </p:txBody>
      </p:sp>
      <p:sp>
        <p:nvSpPr>
          <p:cNvPr id="12" name="result label"/>
          <p:cNvSpPr txBox="1"/>
          <p:nvPr/>
        </p:nvSpPr>
        <p:spPr>
          <a:xfrm>
            <a:off x="365760" y="2983992"/>
            <a:ext cx="5486400" cy="237744"/>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3" name="TextBox 12"/>
          <p:cNvSpPr txBox="1"/>
          <p:nvPr/>
        </p:nvSpPr>
        <p:spPr>
          <a:xfrm>
            <a:off x="365760" y="3240023"/>
            <a:ext cx="3364991" cy="201168"/>
          </a:xfrm>
          <a:prstGeom prst="rect">
            <a:avLst/>
          </a:prstGeom>
          <a:noFill/>
        </p:spPr>
        <p:txBody>
          <a:bodyPr wrap="square" lIns="45720" rIns="45720" tIns="27432" bIns="27432" anchor="t">
            <a:spAutoFit/>
          </a:bodyPr>
          <a:lstStyle/>
          <a:p>
            <a:r>
              <a:rPr sz="950" b="0" i="1">
                <a:solidFill>
                  <a:srgbClr val="5B6773"/>
                </a:solidFill>
                <a:latin typeface="Calibri"/>
              </a:rPr>
              <a:t>is the element there at look n? (1 = yes)</a:t>
            </a:r>
          </a:p>
        </p:txBody>
      </p:sp>
      <p:graphicFrame>
        <p:nvGraphicFramePr>
          <p:cNvPr id="14" name="chart"/>
          <p:cNvGraphicFramePr>
            <a:graphicFrameLocks noGrp="1"/>
          </p:cNvGraphicFramePr>
          <p:nvPr/>
        </p:nvGraphicFramePr>
        <p:xfrm>
          <a:off x="365760" y="3441192"/>
          <a:ext cx="3364991" cy="1167384"/>
        </p:xfrm>
        <a:graphic>
          <a:graphicData uri="http://schemas.openxmlformats.org/drawingml/2006/chart">
            <c:chart xmlns:c="http://schemas.openxmlformats.org/drawingml/2006/chart" r:id="rId3"/>
          </a:graphicData>
        </a:graphic>
      </p:graphicFrame>
      <p:graphicFrame>
        <p:nvGraphicFramePr>
          <p:cNvPr id="15" name="table"/>
          <p:cNvGraphicFramePr>
            <a:graphicFrameLocks noGrp="1"/>
          </p:cNvGraphicFramePr>
          <p:nvPr/>
        </p:nvGraphicFramePr>
        <p:xfrm>
          <a:off x="4151376" y="3258311"/>
          <a:ext cx="4626863" cy="987552"/>
        </p:xfrm>
        <a:graphic>
          <a:graphicData uri="http://schemas.openxmlformats.org/drawingml/2006/table">
            <a:tbl>
              <a:tblPr firstRow="0" bandRow="0"/>
              <a:tblGrid>
                <a:gridCol w="1131011"/>
                <a:gridCol w="3495852"/>
              </a:tblGrid>
              <a:tr h="329184">
                <a:tc>
                  <a:txBody>
                    <a:bodyPr wrap="square"/>
                    <a:lstStyle/>
                    <a:p>
                      <a:r>
                        <a:rPr sz="1000" b="1" i="0">
                          <a:solidFill>
                            <a:srgbClr val="FFFFFF"/>
                          </a:solidFill>
                          <a:latin typeface="Calibri"/>
                        </a:rPr>
                        <a:t>Patience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000" b="0" i="0">
                          <a:solidFill>
                            <a:srgbClr val="1F2933"/>
                          </a:solidFill>
                          <a:latin typeface="Calibri"/>
                        </a:rPr>
                        <a:t>5 looks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found 'Hello' on look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329184">
                <a:tc>
                  <a:txBody>
                    <a:bodyPr wrap="square"/>
                    <a:lstStyle/>
                    <a:p>
                      <a:r>
                        <a:rPr sz="1000" b="0" i="0">
                          <a:solidFill>
                            <a:srgbClr val="1F2933"/>
                          </a:solidFill>
                          <a:latin typeface="Calibri"/>
                        </a:rPr>
                        <a:t>2 looks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timeout after 2 looks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6" name="visual note"/>
          <p:cNvSpPr txBox="1"/>
          <p:nvPr/>
        </p:nvSpPr>
        <p:spPr>
          <a:xfrm>
            <a:off x="4151376" y="4309872"/>
            <a:ext cx="4626864" cy="219456"/>
          </a:xfrm>
          <a:prstGeom prst="rect">
            <a:avLst/>
          </a:prstGeom>
          <a:noFill/>
        </p:spPr>
        <p:txBody>
          <a:bodyPr wrap="square" lIns="45720" rIns="45720" tIns="27432" bIns="27432" anchor="t">
            <a:spAutoFit/>
          </a:bodyPr>
          <a:lstStyle/>
          <a:p>
            <a:r>
              <a:rPr sz="950" b="0" i="1">
                <a:solidFill>
                  <a:srgbClr val="5B6773"/>
                </a:solidFill>
                <a:latin typeface="Calibri"/>
              </a:rPr>
              <a:t>Playwright's real limit is thirty seconds</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Playwright waits for the element; Selenium looks once.</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tool for which page?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Choose by the page in front of the program</a:t>
            </a:r>
          </a:p>
        </p:txBody>
      </p:sp>
      <p:graphicFrame>
        <p:nvGraphicFramePr>
          <p:cNvPr id="5" name="table"/>
          <p:cNvGraphicFramePr>
            <a:graphicFrameLocks noGrp="1"/>
          </p:cNvGraphicFramePr>
          <p:nvPr/>
        </p:nvGraphicFramePr>
        <p:xfrm>
          <a:off x="457200" y="1097280"/>
          <a:ext cx="8229598" cy="3017520"/>
        </p:xfrm>
        <a:graphic>
          <a:graphicData uri="http://schemas.openxmlformats.org/drawingml/2006/table">
            <a:tbl>
              <a:tblPr firstRow="0" bandRow="0"/>
              <a:tblGrid>
                <a:gridCol w="2801565"/>
                <a:gridCol w="2101174"/>
                <a:gridCol w="3326859"/>
              </a:tblGrid>
              <a:tr h="502920">
                <a:tc>
                  <a:txBody>
                    <a:bodyPr wrap="square"/>
                    <a:lstStyle/>
                    <a:p>
                      <a:r>
                        <a:rPr sz="1250" b="1" i="0">
                          <a:solidFill>
                            <a:srgbClr val="FFFFFF"/>
                          </a:solidFill>
                          <a:latin typeface="Calibri"/>
                        </a:rPr>
                        <a:t>Page in front of the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Tool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Why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502920">
                <a:tc>
                  <a:txBody>
                    <a:bodyPr wrap="square"/>
                    <a:lstStyle/>
                    <a:p>
                      <a:r>
                        <a:rPr sz="1250" b="1" i="0">
                          <a:solidFill>
                            <a:srgbClr val="1F2933"/>
                          </a:solidFill>
                          <a:latin typeface="Calibri"/>
                        </a:rPr>
                        <a:t>A person should see the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webbrowser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Opens the user's own browser; reads nothing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A known address, text or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requests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get, raise_for_status, a timeout, chunks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A service that offers an API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requests and 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Structured answer; a key identifies you</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502920">
                <a:tc>
                  <a:txBody>
                    <a:bodyPr wrap="square"/>
                    <a:lstStyle/>
                    <a:p>
                      <a:r>
                        <a:rPr sz="1250" b="1" i="0">
                          <a:solidFill>
                            <a:srgbClr val="1F2933"/>
                          </a:solidFill>
                          <a:latin typeface="Calibri"/>
                        </a:rPr>
                        <a:t>Static HTML to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Beautiful Soup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Parses the text received; select, get_text, get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502920">
                <a:tc>
                  <a:txBody>
                    <a:bodyPr wrap="square"/>
                    <a:lstStyle/>
                    <a:p>
                      <a:r>
                        <a:rPr sz="1250" b="1" i="0">
                          <a:solidFill>
                            <a:srgbClr val="1F2933"/>
                          </a:solidFill>
                          <a:latin typeface="Calibri"/>
                        </a:rPr>
                        <a:t>A page built by a script, or a login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Selenium or Playwright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Only a real browser runs the script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note"/>
          <p:cNvSpPr txBox="1"/>
          <p:nvPr/>
        </p:nvSpPr>
        <p:spPr>
          <a:xfrm>
            <a:off x="457200" y="4160520"/>
            <a:ext cx="8229600" cy="457200"/>
          </a:xfrm>
          <a:prstGeom prst="rect">
            <a:avLst/>
          </a:prstGeom>
          <a:noFill/>
        </p:spPr>
        <p:txBody>
          <a:bodyPr wrap="square" lIns="45720" rIns="45720" tIns="27432" bIns="27432" anchor="t">
            <a:spAutoFit/>
          </a:bodyPr>
          <a:lstStyle/>
          <a:p>
            <a:r>
              <a:rPr sz="1200" b="0" i="1">
                <a:solidFill>
                  <a:srgbClr val="5B6773"/>
                </a:solidFill>
                <a:latin typeface="Calibri"/>
              </a:rPr>
              <a:t>Always: check the reply, pass a timeout, read robots.txt, wait between pages and keep the key secret.</a:t>
            </a:r>
          </a:p>
        </p:txBody>
      </p:sp>
      <p:sp>
        <p:nvSpPr>
          <p:cNvPr id="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The simplest tool that reaches the page is the right tool.</a:t>
            </a:r>
          </a:p>
        </p:txBody>
      </p:sp>
      <p:sp>
        <p:nvSpPr>
          <p:cNvPr id="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Current Python and today's web change more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What differs from the book, from the chapter research</a:t>
            </a:r>
          </a:p>
        </p:txBody>
      </p:sp>
      <p:graphicFrame>
        <p:nvGraphicFramePr>
          <p:cNvPr id="5" name="table"/>
          <p:cNvGraphicFramePr>
            <a:graphicFrameLocks noGrp="1"/>
          </p:cNvGraphicFramePr>
          <p:nvPr/>
        </p:nvGraphicFramePr>
        <p:xfrm>
          <a:off x="457200" y="1005840"/>
          <a:ext cx="8229600" cy="3538728"/>
        </p:xfrm>
        <a:graphic>
          <a:graphicData uri="http://schemas.openxmlformats.org/drawingml/2006/table">
            <a:tbl>
              <a:tblPr firstRow="0" bandRow="0"/>
              <a:tblGrid>
                <a:gridCol w="3931920"/>
                <a:gridCol w="1188720"/>
                <a:gridCol w="3108960"/>
              </a:tblGrid>
              <a:tr h="393192">
                <a:tc>
                  <a:txBody>
                    <a:bodyPr wrap="square"/>
                    <a:lstStyle/>
                    <a:p>
                      <a:r>
                        <a:rPr sz="1050" b="1" i="0">
                          <a:solidFill>
                            <a:srgbClr val="FFFFFF"/>
                          </a:solidFill>
                          <a:latin typeface="Calibri"/>
                        </a:rPr>
                        <a:t>What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50" b="1" i="0">
                          <a:solidFill>
                            <a:srgbClr val="FFFFFF"/>
                          </a:solidFill>
                          <a:latin typeface="Calibri"/>
                        </a:rPr>
                        <a:t>Version or date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What it means for the chapter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93192">
                <a:tc>
                  <a:txBody>
                    <a:bodyPr wrap="square"/>
                    <a:lstStyle/>
                    <a:p>
                      <a:r>
                        <a:rPr sz="1050" b="1" i="0">
                          <a:solidFill>
                            <a:srgbClr val="1F2933"/>
                          </a:solidFill>
                          <a:latin typeface="Calibri"/>
                        </a:rPr>
                        <a:t>urllib.robotparser reads the wildcard * and the end mark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alibri"/>
                        </a:rPr>
                        <a:t>Python 3.14.5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rule like Disallow: /search* now blocks the path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93192">
                <a:tc>
                  <a:txBody>
                    <a:bodyPr wrap="square"/>
                    <a:lstStyle/>
                    <a:p>
                      <a:r>
                        <a:rPr sz="1050" b="1" i="0">
                          <a:solidFill>
                            <a:srgbClr val="1F2933"/>
                          </a:solidFill>
                          <a:latin typeface="Calibri"/>
                        </a:rPr>
                        <a:t>PurePath.as_uri() is deprecated; use Path.as_uri()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alibri"/>
                        </a:rPr>
                        <a:t>Python 3.14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file:// addresses of local help pages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93192">
                <a:tc>
                  <a:txBody>
                    <a:bodyPr wrap="square"/>
                    <a:lstStyle/>
                    <a:p>
                      <a:r>
                        <a:rPr sz="1050" b="1" i="0">
                          <a:solidFill>
                            <a:srgbClr val="1F2933"/>
                          </a:solidFill>
                          <a:latin typeface="Calibri"/>
                        </a:rPr>
                        <a:t>datetime.utcfromtimestamp() is deprecated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alibri"/>
                        </a:rPr>
                        <a:t>Python 3.12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Forecast times: fromtimestamp, in the machine's time zone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93192">
                <a:tc>
                  <a:txBody>
                    <a:bodyPr wrap="square"/>
                    <a:lstStyle/>
                    <a:p>
                      <a:r>
                        <a:rPr sz="1050" b="1" i="0">
                          <a:solidFill>
                            <a:srgbClr val="1F2933"/>
                          </a:solidFill>
                          <a:latin typeface="Calibri"/>
                        </a:rPr>
                        <a:t>Selenium Manager finds the driver and browser itself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alibri"/>
                        </a:rPr>
                        <a:t>Selenium 4.51.0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No manual geckodriver download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93192">
                <a:tc>
                  <a:txBody>
                    <a:bodyPr wrap="square"/>
                    <a:lstStyle/>
                    <a:p>
                      <a:r>
                        <a:rPr sz="1050" b="1" i="0">
                          <a:solidFill>
                            <a:srgbClr val="1F2933"/>
                          </a:solidFill>
                          <a:latin typeface="Calibri"/>
                        </a:rPr>
                        <a:t>The error is NoSuchElementException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alibri"/>
                        </a:rPr>
                        <a:t>Selenium 4.51.0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chapter writes NoSuchElement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93192">
                <a:tc>
                  <a:txBody>
                    <a:bodyPr wrap="square"/>
                    <a:lstStyle/>
                    <a:p>
                      <a:r>
                        <a:rPr sz="1050" b="1" i="0">
                          <a:solidFill>
                            <a:srgbClr val="1F2933"/>
                          </a:solidFill>
                          <a:latin typeface="Calibri"/>
                        </a:rPr>
                        <a:t>Browsers are installed by a second step, playwright install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alibri"/>
                        </a:rPr>
                        <a:t>Playwright 1.63.0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pip install alone is not enough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93192">
                <a:tc>
                  <a:txBody>
                    <a:bodyPr wrap="square"/>
                    <a:lstStyle/>
                    <a:p>
                      <a:r>
                        <a:rPr sz="1050" b="1" i="0">
                          <a:solidFill>
                            <a:srgbClr val="1F2933"/>
                          </a:solidFill>
                          <a:latin typeface="Calibri"/>
                        </a:rPr>
                        <a:t>Pass a timeout; use stream=True for a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50" b="0" i="0">
                          <a:solidFill>
                            <a:srgbClr val="1F2933"/>
                          </a:solidFill>
                          <a:latin typeface="Calibri"/>
                        </a:rPr>
                        <a:t>Requests 2.34.2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 call without a timeout can hang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93192">
                <a:tc>
                  <a:txBody>
                    <a:bodyPr wrap="square"/>
                    <a:lstStyle/>
                    <a:p>
                      <a:r>
                        <a:rPr sz="1050" b="1" i="0">
                          <a:solidFill>
                            <a:srgbClr val="1F2933"/>
                          </a:solidFill>
                          <a:latin typeface="Calibri"/>
                        </a:rPr>
                        <a:t>The PyPI search page answers with a challenge page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50" b="0" i="0">
                          <a:solidFill>
                            <a:srgbClr val="1F2933"/>
                          </a:solidFill>
                          <a:latin typeface="Calibri"/>
                        </a:rPr>
                        <a:t>12 Oct 2026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searchpypi.py finds no result links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An address has parts; a reply has a status code.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polite program reads robots.txt, waits and names itself.</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Check every reply, and save big files in chunks.</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An API answers in JSON; the key is a password.</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Parse HTML with a parser; use a real browser only when a script builds the page.</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Choose the tool by the page; behave politely.</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60020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72821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63677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Cut 'https://xkcd.com/3/#top' into its parts. Which part does the server never receive?</a:t>
            </a:r>
          </a:p>
        </p:txBody>
      </p:sp>
      <p:sp>
        <p:nvSpPr>
          <p:cNvPr id="10" name="card"/>
          <p:cNvSpPr/>
          <p:nvPr/>
        </p:nvSpPr>
        <p:spPr>
          <a:xfrm>
            <a:off x="365760" y="233172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45973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36829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A robots file says Disallow: /search/. What does can_fetch give for '/search/?q=a'?</a:t>
            </a:r>
          </a:p>
        </p:txBody>
      </p:sp>
      <p:sp>
        <p:nvSpPr>
          <p:cNvPr id="13" name="card"/>
          <p:cNvSpPr/>
          <p:nvPr/>
        </p:nvSpPr>
        <p:spPr>
          <a:xfrm>
            <a:off x="365760" y="306324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319125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309981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Convert 300 Kelvin to Celsius and Fahrenheit with the code of the Kelvin slide.</a:t>
            </a:r>
          </a:p>
        </p:txBody>
      </p:sp>
      <p:sp>
        <p:nvSpPr>
          <p:cNvPr id="16" name="card"/>
          <p:cNvSpPr/>
          <p:nvPr/>
        </p:nvSpPr>
        <p:spPr>
          <a:xfrm>
            <a:off x="365760" y="3794760"/>
            <a:ext cx="8412480" cy="621792"/>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9227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831336"/>
            <a:ext cx="7680960" cy="548640"/>
          </a:xfrm>
          <a:prstGeom prst="rect">
            <a:avLst/>
          </a:prstGeom>
          <a:noFill/>
        </p:spPr>
        <p:txBody>
          <a:bodyPr wrap="square" lIns="45720" rIns="45720" tIns="27432" bIns="27432" anchor="ctr">
            <a:spAutoFit/>
          </a:bodyPr>
          <a:lstStyle/>
          <a:p>
            <a:r>
              <a:rPr sz="1300" b="0" i="0">
                <a:solidFill>
                  <a:srgbClr val="1F2933"/>
                </a:solidFill>
                <a:latin typeface="Calibri"/>
              </a:rPr>
              <a:t>Practice program: list the pages one link away on a page, without counting a page twice.</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13</a:t>
            </a:r>
          </a:p>
          <a:p>
            <a:r>
              <a:rPr sz="900" b="0" i="0">
                <a:solidFill>
                  <a:srgbClr val="0E7C86"/>
                </a:solidFill>
                <a:latin typeface="Calibri"/>
                <a:hlinkClick r:id="rId3"/>
              </a:rPr>
              <a:t>https://automatetheboringstuff.com/3e/chapter13.html</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urllib.parse</a:t>
            </a:r>
          </a:p>
          <a:p>
            <a:r>
              <a:rPr sz="900" b="0" i="0">
                <a:solidFill>
                  <a:srgbClr val="0E7C86"/>
                </a:solidFill>
                <a:latin typeface="Calibri"/>
                <a:hlinkClick r:id="rId4"/>
              </a:rPr>
              <a:t>https://docs.python.org/3/library/urllib.parse.html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urllib.robotparser</a:t>
            </a:r>
          </a:p>
          <a:p>
            <a:r>
              <a:rPr sz="900" b="0" i="0">
                <a:solidFill>
                  <a:srgbClr val="0E7C86"/>
                </a:solidFill>
                <a:latin typeface="Calibri"/>
                <a:hlinkClick r:id="rId5"/>
              </a:rPr>
              <a:t>https://docs.python.org/3/library/urllib.robotparser.html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html.parser</a:t>
            </a:r>
          </a:p>
          <a:p>
            <a:r>
              <a:rPr sz="900" b="0" i="0">
                <a:solidFill>
                  <a:srgbClr val="0E7C86"/>
                </a:solidFill>
                <a:latin typeface="Calibri"/>
                <a:hlinkClick r:id="rId6"/>
              </a:rPr>
              <a:t>https://docs.python.org/3/library/html.parser.html</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webbrowser</a:t>
            </a:r>
          </a:p>
          <a:p>
            <a:r>
              <a:rPr sz="900" b="0" i="0">
                <a:solidFill>
                  <a:srgbClr val="0E7C86"/>
                </a:solidFill>
                <a:latin typeface="Calibri"/>
                <a:hlinkClick r:id="rId7"/>
              </a:rPr>
              <a:t>https://docs.python.org/3/library/webbrowser.html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Requests: Quickstart</a:t>
            </a:r>
          </a:p>
          <a:p>
            <a:r>
              <a:rPr sz="900" b="0" i="0">
                <a:solidFill>
                  <a:srgbClr val="0E7C86"/>
                </a:solidFill>
                <a:latin typeface="Calibri"/>
                <a:hlinkClick r:id="rId8"/>
              </a:rPr>
              <a:t>requests.readthedocs.io</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Beautiful Soup documentation</a:t>
            </a:r>
          </a:p>
          <a:p>
            <a:r>
              <a:rPr sz="900" b="0" i="0">
                <a:solidFill>
                  <a:srgbClr val="0E7C86"/>
                </a:solidFill>
                <a:latin typeface="Calibri"/>
                <a:hlinkClick r:id="rId9"/>
              </a:rPr>
              <a:t>https://www.crummy.com/software/BeautifulSoup/bs4/doc/</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Selenium: locator strategies</a:t>
            </a:r>
          </a:p>
          <a:p>
            <a:r>
              <a:rPr sz="900" b="0" i="0">
                <a:solidFill>
                  <a:srgbClr val="0E7C86"/>
                </a:solidFill>
                <a:latin typeface="Calibri"/>
                <a:hlinkClick r:id="rId10"/>
              </a:rPr>
              <a:t>selenium.dev</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Playwright for Python: locators</a:t>
            </a:r>
          </a:p>
          <a:p>
            <a:r>
              <a:rPr sz="900" b="0" i="0">
                <a:solidFill>
                  <a:srgbClr val="0E7C86"/>
                </a:solidFill>
                <a:latin typeface="Calibri"/>
                <a:hlinkClick r:id="rId11"/>
              </a:rPr>
              <a:t>https://playwright.dev/python/docs/locators</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RFC 9309: Robots Exclusion Protocol</a:t>
            </a:r>
          </a:p>
          <a:p>
            <a:r>
              <a:rPr sz="900" b="0" i="0">
                <a:solidFill>
                  <a:srgbClr val="0E7C86"/>
                </a:solidFill>
                <a:latin typeface="Calibri"/>
                <a:hlinkClick r:id="rId12"/>
              </a:rPr>
              <a:t>https://www.rfc-editor.org/rfc/rfc9309</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MDN: CSS selectors</a:t>
            </a:r>
          </a:p>
          <a:p>
            <a:r>
              <a:rPr sz="900" b="0" i="0">
                <a:solidFill>
                  <a:srgbClr val="0E7C86"/>
                </a:solidFill>
                <a:latin typeface="Calibri"/>
                <a:hlinkClick r:id="rId13"/>
              </a:rPr>
              <a:t>developer.mozilla.org</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MDN: HTTP response status codes</a:t>
            </a:r>
          </a:p>
          <a:p>
            <a:r>
              <a:rPr sz="900" b="0" i="0">
                <a:solidFill>
                  <a:srgbClr val="0E7C86"/>
                </a:solidFill>
                <a:latin typeface="Calibri"/>
                <a:hlinkClick r:id="rId14"/>
              </a:rPr>
              <a:t>developer.mozilla.org</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OpenWeather: Geocoding API</a:t>
            </a:r>
          </a:p>
          <a:p>
            <a:r>
              <a:rPr sz="900" b="0" i="0">
                <a:solidFill>
                  <a:srgbClr val="0E7C86"/>
                </a:solidFill>
                <a:latin typeface="Calibri"/>
                <a:hlinkClick r:id="rId15"/>
              </a:rPr>
              <a:t>https://openweathermap.org/api/geocoding-api</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Video: Web testing with Playwright (PyOhio 2022)</a:t>
            </a:r>
          </a:p>
          <a:p>
            <a:r>
              <a:rPr sz="900" b="0" i="0">
                <a:solidFill>
                  <a:srgbClr val="0E7C86"/>
                </a:solidFill>
                <a:latin typeface="Calibri"/>
                <a:hlinkClick r:id="rId16"/>
              </a:rPr>
              <a:t>pyvideo.org</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13: Web Scraping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