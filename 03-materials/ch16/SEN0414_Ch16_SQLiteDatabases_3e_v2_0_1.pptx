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kg</c:v>
                </c:pt>
              </c:strCache>
            </c:strRef>
          </c:tx>
          <c:spPr>
            <a:solidFill>
              <a:srgbClr val="0E7C86"/>
            </a:solidFill>
          </c:spPr>
          <c:cat>
            <c:strRef>
              <c:f>Sheet1!$A$2:$A$4</c:f>
              <c:strCache>
                <c:ptCount val="3"/>
                <c:pt idx="0">
                  <c:v>Miguel</c:v>
                </c:pt>
                <c:pt idx="1">
                  <c:v>Zophie</c:v>
                </c:pt>
                <c:pt idx="2">
                  <c:v>Toby</c:v>
                </c:pt>
              </c:strCache>
            </c:strRef>
          </c:cat>
          <c:val>
            <c:numRef>
              <c:f>Sheet1!$B$2:$B$4</c:f>
              <c:numCache>
                <c:formatCode>General</c:formatCode>
                <c:ptCount val="3"/>
                <c:pt idx="0">
                  <c:v>6.2</c:v>
                </c:pt>
                <c:pt idx="1">
                  <c:v>5.6</c:v>
                </c:pt>
                <c:pt idx="2">
                  <c:v>4.1</c:v>
                </c:pt>
              </c:numCache>
            </c:numRef>
          </c:val>
        </c:ser>
        <c:dLbls>
          <c:numFmt formatCode="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8.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2.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rows visible</c:v>
                </c:pt>
              </c:strCache>
            </c:strRef>
          </c:tx>
          <c:spPr>
            <a:solidFill>
              <a:srgbClr val="0E7C86"/>
            </a:solidFill>
          </c:spPr>
          <c:cat>
            <c:strRef>
              <c:f>Sheet1!$A$2:$A$4</c:f>
              <c:strCache>
                <c:ptCount val="3"/>
                <c:pt idx="0">
                  <c:v>inside, before rollback</c:v>
                </c:pt>
                <c:pt idx="1">
                  <c:v>after rollback</c:v>
                </c:pt>
                <c:pt idx="2">
                  <c:v>after commit</c:v>
                </c:pt>
              </c:strCache>
            </c:strRef>
          </c:cat>
          <c:val>
            <c:numRef>
              <c:f>Sheet1!$B$2:$B$4</c:f>
              <c:numCache>
                <c:formatCode>General</c:formatCode>
                <c:ptCount val="3"/>
                <c:pt idx="0">
                  <c:v>1</c:v>
                </c:pt>
                <c:pt idx="1">
                  <c:v>0</c:v>
                </c:pt>
                <c:pt idx="2">
                  <c:v>1</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2.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1.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file size in KiB</c:v>
                </c:pt>
              </c:strCache>
            </c:strRef>
          </c:tx>
          <c:spPr>
            <a:solidFill>
              <a:srgbClr val="0E7C86"/>
            </a:solidFill>
          </c:spPr>
          <c:cat>
            <c:strRef>
              <c:f>Sheet1!$A$2:$A$4</c:f>
              <c:strCache>
                <c:ptCount val="3"/>
                <c:pt idx="0">
                  <c:v>2,000 rows inserted</c:v>
                </c:pt>
                <c:pt idx="1">
                  <c:v>after DELETE</c:v>
                </c:pt>
                <c:pt idx="2">
                  <c:v>after VACUUM</c:v>
                </c:pt>
              </c:strCache>
            </c:strRef>
          </c:cat>
          <c:val>
            <c:numRef>
              <c:f>Sheet1!$B$2:$B$4</c:f>
              <c:numCache>
                <c:formatCode>General</c:formatCode>
                <c:ptCount val="3"/>
                <c:pt idx="0">
                  <c:v>224.0</c:v>
                </c:pt>
                <c:pt idx="1">
                  <c:v>224.0</c:v>
                </c:pt>
                <c:pt idx="2">
                  <c:v>8.0</c:v>
                </c:pt>
              </c:numCache>
            </c:numRef>
          </c:val>
        </c:ser>
        <c:dLbls>
          <c:numFmt formatCode="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examples</c:v>
                </c:pt>
              </c:strCache>
            </c:strRef>
          </c:tx>
          <c:spPr>
            <a:solidFill>
              <a:srgbClr val="0E7C86"/>
            </a:solidFill>
          </c:spPr>
          <c:cat>
            <c:strRef>
              <c:f>Sheet1!$A$2:$A$6</c:f>
              <c:strCache>
                <c:ptCount val="5"/>
                <c:pt idx="0">
                  <c:v>Part 1</c:v>
                </c:pt>
                <c:pt idx="1">
                  <c:v>Part 2</c:v>
                </c:pt>
                <c:pt idx="2">
                  <c:v>Part 3</c:v>
                </c:pt>
                <c:pt idx="3">
                  <c:v>Part 4</c:v>
                </c:pt>
                <c:pt idx="4">
                  <c:v>Part 5</c:v>
                </c:pt>
              </c:strCache>
            </c:strRef>
          </c:cat>
          <c:val>
            <c:numRef>
              <c:f>Sheet1!$B$2:$B$6</c:f>
              <c:numCache>
                <c:formatCode>General</c:formatCode>
                <c:ptCount val="5"/>
                <c:pt idx="0">
                  <c:v>5</c:v>
                </c:pt>
                <c:pt idx="1">
                  <c:v>6</c:v>
                </c:pt>
                <c:pt idx="2">
                  <c:v>7</c:v>
                </c:pt>
                <c:pt idx="3">
                  <c:v>5</c:v>
                </c:pt>
                <c:pt idx="4">
                  <c:v>2</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8.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2.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chapter keeps data in SQLite from Python with the sqlite3 module. Every example runs in memory or in a temporary folder with the standard library only, and the same examples stand in the chapter-code tab of the page, in this order.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connections and tables, reading and changing rows safely, transactions and indexes, several tables with copies and backups, and the two practice programs. Each range is a run of slides. The code slides are in the chapter-code tab of the page, in the same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to carry through the chapter. Which statements change the database, which only read it, and what decides whether a change is kept, undone or refused? And what in the book differs from current Python and SQLite?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A database is a file, or memory, that a connection opens. Tables have columns with types, and STRICT makes the types a rule. Rows have a hidden number, the rowid, which is not a promise.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filing cabinet carries the first words. A spreadsheet allows anything in any cell; a database allows only what the table says. SQLite is the cabinet in your own room, with no clerk at the door.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Richard Hipp designed SQLite in the spring of 2000 for a Navy damage-control program. The photograph is Hipp in 2009. A database that is one file needs no server and no accounts; that choice shapes everything in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makes the handle; in_transaction says whether a transaction is open. fetchone returns a tuple. After close, the handle refuses every statement, and the error is caught so that the program goes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2.5 of 19 September 2006 added sqlite3. The photograph is Guido van Rossum in 2013, not 2006, and he is not named in the release note; say so. The SQLite inside depends on the Python build.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table is a printed form. STRICT is the clerk who refuses a letter in a number box. Without it, the declared type is only an affinity, and the storage class of what is stored can differ.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STRICT table with a NOT NULL name. sqlite_schema is SQLite's own list of tables. PRAGMA table_info lists the columns; the first number is the position, the fifth is the default, the last the primary-key flag.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text goes into two tables. STRICT refuses it with a message that names the column. The plain table stores it. typeof names the storage class. The text 42 becomes the integer 42 in the STRICT table.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came with SQLite 3.37.0 on 27 November 2021. The picture is the SQLite banner, because a release has no photograph. Before STRICT, a column type was a preference; with it, a rule.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row typed in, two with executemany. fetchall returns a list of tuples. The rowid is a hidden column that numbers the rows from one. total_changes counts the rows changed on this connection.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INTEGER PRIMARY KEY is the rowid under another name. After deleting row 3, the next insert took 3 again. The book says a rowid does not change; true for rows that stay, not for the number.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Reading and changing rows: WHERE, ORDER BY, LIMIT, LIKE and GLOB, NULL, UPDATE and DELETE. Then the most important habit of the chapter: values go in as placeholders, never pasted into the SQL.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CRUD: create, read, update, delete. INSERT writes a line, SELECT asks a question. fetchall takes every answer, fetchone only the first. Ask what an empty tray looks like.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first, ORDER BY next, LIMIT last. The question mark is filled from the tuple. LIMIT 2 over three cats gives the two heaviest. The chart shows the weights the queries work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words narrow a question: WHERE, ORDER BY, LIMIT and the pattern words LIKE and GLOB. The placeholder is the empty slot on the order slip that keeps values out of the SQL text.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LIKE ignores case, with percent as wildcard. GLOB is case sensitive, with star and question mark. LIKE knows upper and lower case only for ASCII letters, so e-acute and E-acute do not match.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NULL means no known value. Comparing with NULL is never true, not even not-equal. IS NULL finds it. count star counts rows, count of a column skips the NULLs.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executemany repeats a statement for a list of values. UPDATE and DELETE change many rows at once. SQL injection is a visitor whose text is obeyed as an order. A placeholder is a sealed envelope.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UPDATE and DELETE touch every row the WHERE clause selects. rowcount says how many. RETURNING, from SQLite 3.35, hands back columns of the deleted rows. Without a WHERE clause they touch all rows.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question mark takes the next value of a tuple. A named placeholder takes the value of a key in a dictionary. In both, the value travels beside the statement, never inside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text, two ways. Pasted into the statement it returned every row. Bound as a value it returned none. execute() refuses a second statement, so the comic's drop would need executescript, but the rule is the same.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xkcd 327 is dated 10 October 2007. The photograph is Randall Munroe, a portrait of 2016; the comic itself is too small to read here, so open the link. With execute(), a second statement is refused; the lesson is the same: bind values.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A transaction is all or nothing. We open one, commit it, roll it back, and see a failed statement change nothing. Then schema changes, an index, and a file that VACUUM shrinks.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bank transfer is the classic picture. BEGIN opens, commit signs, rollback tears out. Autocommit signs every line at once. contextlib helps with blocks that must clean up.</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isolation_level equal to None is the old switch for autocommit; Python 3.12 added the autocommit attribute. BEGIN opens a transaction by hand. Inside it we see our own row; rollback removes it; commit keeps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statement, three rows, the third breaks the NOT NULL rule. Not even the first two stay. The statement is atomic. A later good insert works normally.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Haerder and Reuter coined ACID in 1983, building on Jim Gray, who had named atomicity, consistency and durability. The photograph is Jim Gray, not the authors, whose portraits are not free. Say so.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with block on a connection commits at its end, or rolls back if an error leaves it. Note the good row inside the failed block is gone too.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with block on a connection ends a transaction but never closes the connection: it still answers afterwards. contextlib.closing closes it at the end of its block, and the next statement is refused.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 and DROP change the forms; backup, iterdump and a file copy keep a copy. A copy is as old as the moment it was made.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COLUMN gives old rows a NULL. RENAME COLUMN is safe. DROP COLUMN needs SQLite 3.35. DROP TABLE IF EXISTS does nothing for a missing table. Afterwards the schema table is empty.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index is the index at the back of a book: fast for the words it lists, useless for the rest. EXPLAIN QUERY PLAN lets the clerk say how he will look. Journal and WAL are his notebooks.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index on fur serves the equality search. A search on another column scans. A LIKE with a leading percent scans, even on an indexed column. The chapter's LIKE queries would not use the index it builds.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creates the file at once. After two thousand rows and a delete, the file is as big as before. VACUUM rebuilds it without the free space. The sizes are printed as yes or no because they depend on the build.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Several tables joined by a foreign key, which SQLite enforces only when asked. Then three ways to copy a database: backup, iterdump and a plain file copy.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foreign key is a card number that must exist on the member list. A join lays slips beside cards. The rowid is stamped by SQLite and may be reused after a delete.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Codd published the relational model in June 1970. The photograph is small, the only free portrait found. Tables linked by values are why a join works at all. Ask where a cat's vaccinations would live without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Foreign keys are off until PRAGMA foreign_keys equals ON, for each connection. The parent key must be a primary key, which is why this table uses INTEGER PRIMARY KEY. The book's rowid reference cannot be enforced.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Mandy has no shot. INNER JOIN drops her. LEFT JOIN keeps her with None. The ORDER BY makes the order the same on every machine.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copies every page from the memory database into a file. The copy is a snapshot: the later insert into the source does not reach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iterdump yields the SQL that rebuilds the database. executescript runs it into a second database. The book's own database cannot be dumped on Python 3.13 and later, because of its foreign key.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database file is an ordinary file. Commit and close first. Then shutil copies it and the copy opens as a database.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The two practice programs of the chapter. The book's own database is not reachable offline, so small stand-in data is typed in and each slide says so.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picture: a recital piece. Practice programs use everything above. The memory database is a whiteboard; back it up before it is wiped.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practice program. The book's database is not reachable offline, so two cats and two shots are typed in. The first query finds a shot dated before the birth; the second finds cats with fewer than two kinds of shot.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practice program, on stand-in data. For each meal, count the ingredients that are not in the kitchen. A meal with none missing can be cooked tonight.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question answered: which statements read, which write, and what keeps a change. Reads need no commit. Writes are kept at commit, or at once in autocommit, and refused or undone if a rule breaks.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second question answered. What differs today, from the chapter research: the foreign key, types, autocommit, quotes, indexes, rowids, dumps. Findings measured under Python 3.14.6 and SQLite 3.53.1.</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sentences to keep. The chart counts the code examples in each part of this deck.</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drills and a program. Predict first, then run what you can on the page. Ask students to explain each answer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book chapter and the Python documentation of sqlite3, then the SQLite pages on types, transactions and foreign keys. Choose one link and read it before the next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hyperlink" Target="https://en.wikipedia.org/wiki/SQLit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hyperlink" Target="https://docs.python.org/3.14/whatsnew/2.5.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hyperlink" Target="https://sqlite.org/releaselog/3_37_0.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hyperlink" Target="https://xkcd.com/327/"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chart" Target="../charts/char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5.png"/><Relationship Id="rId4" Type="http://schemas.openxmlformats.org/officeDocument/2006/relationships/hyperlink" Target="https://en.wikipedia.org/wiki/ACID"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chart" Target="../charts/char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6.png"/><Relationship Id="rId4" Type="http://schemas.openxmlformats.org/officeDocument/2006/relationships/hyperlink" Target="https://www.ibm.com/history/relational-database"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chart" Target="../charts/char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hyperlink" Target="https://automatetheboringstuff.com/3e/chapter16.html" TargetMode="External"/><Relationship Id="rId4" Type="http://schemas.openxmlformats.org/officeDocument/2006/relationships/hyperlink" Target="https://docs.python.org/3/library/sqlite3.html" TargetMode="External"/><Relationship Id="rId5" Type="http://schemas.openxmlformats.org/officeDocument/2006/relationships/hyperlink" Target="https://www.sqlite.org/datatype3.html" TargetMode="External"/><Relationship Id="rId6" Type="http://schemas.openxmlformats.org/officeDocument/2006/relationships/hyperlink" Target="https://www.sqlite.org/stricttables.html" TargetMode="External"/><Relationship Id="rId7" Type="http://schemas.openxmlformats.org/officeDocument/2006/relationships/hyperlink" Target="https://www.sqlite.org/foreignkeys.html" TargetMode="External"/><Relationship Id="rId8" Type="http://schemas.openxmlformats.org/officeDocument/2006/relationships/hyperlink" Target="https://www.sqlite.org/lang_transaction.html" TargetMode="External"/><Relationship Id="rId9" Type="http://schemas.openxmlformats.org/officeDocument/2006/relationships/hyperlink" Target="https://www.sqlite.org/wal.html" TargetMode="External"/><Relationship Id="rId10" Type="http://schemas.openxmlformats.org/officeDocument/2006/relationships/hyperlink" Target="https://www.sqlite.org/eqp.html" TargetMode="External"/><Relationship Id="rId11" Type="http://schemas.openxmlformats.org/officeDocument/2006/relationships/hyperlink" Target="https://www.sqlite.org/whentouse.html" TargetMode="External"/><Relationship Id="rId12" Type="http://schemas.openxmlformats.org/officeDocument/2006/relationships/hyperlink" Target="https://cheatsheetseries.owasp.org/cheatsheets/SQL_Injection_Prevention_Cheat_Sheet.html" TargetMode="External"/><Relationship Id="rId13" Type="http://schemas.openxmlformats.org/officeDocument/2006/relationships/hyperlink" Target="https://xkcd.com/327/" TargetMode="External"/><Relationship Id="rId14" Type="http://schemas.openxmlformats.org/officeDocument/2006/relationships/hyperlink" Target="https://www.ibm.com/history/relational-database" TargetMode="External"/><Relationship Id="rId15" Type="http://schemas.openxmlformats.org/officeDocument/2006/relationships/hyperlink" Target="https://en.wikipedia.org/wiki/Edgar_F._Codd" TargetMode="External"/><Relationship Id="rId16" Type="http://schemas.openxmlformats.org/officeDocument/2006/relationships/hyperlink" Target="https://nostarch.com/practical-sql-2nd-editio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548640" y="1554480"/>
            <a:ext cx="8046720" cy="822960"/>
          </a:xfrm>
          <a:prstGeom prst="rect">
            <a:avLst/>
          </a:prstGeom>
          <a:noFill/>
        </p:spPr>
        <p:txBody>
          <a:bodyPr wrap="square" lIns="45720" rIns="45720" tIns="27432" bIns="27432" anchor="ctr">
            <a:spAutoFit/>
          </a:bodyPr>
          <a:lstStyle/>
          <a:p>
            <a:r>
              <a:rPr sz="3800" b="1" i="0">
                <a:solidFill>
                  <a:srgbClr val="1F2933"/>
                </a:solidFill>
                <a:latin typeface="Calibri"/>
              </a:rPr>
              <a:t>SQLite Databases</a:t>
            </a:r>
          </a:p>
        </p:txBody>
      </p:sp>
      <p:sp>
        <p:nvSpPr>
          <p:cNvPr id="4" name="subtitle"/>
          <p:cNvSpPr txBox="1"/>
          <p:nvPr/>
        </p:nvSpPr>
        <p:spPr>
          <a:xfrm>
            <a:off x="548640" y="2423160"/>
            <a:ext cx="8046720" cy="640080"/>
          </a:xfrm>
          <a:prstGeom prst="rect">
            <a:avLst/>
          </a:prstGeom>
          <a:noFill/>
        </p:spPr>
        <p:txBody>
          <a:bodyPr wrap="square" lIns="45720" rIns="45720" tIns="27432" bIns="27432" anchor="t">
            <a:spAutoFit/>
          </a:bodyPr>
          <a:lstStyle/>
          <a:p>
            <a:r>
              <a:rPr sz="1600" b="0" i="0">
                <a:solidFill>
                  <a:srgbClr val="5B6773"/>
                </a:solidFill>
                <a:latin typeface="Calibri"/>
              </a:rPr>
              <a:t>Chapter 16 of Automate the Boring Stuff with Python, 3rd edition, for an advanced course</a:t>
            </a:r>
          </a:p>
        </p:txBody>
      </p:sp>
      <p:sp>
        <p:nvSpPr>
          <p:cNvPr id="5" name="card"/>
          <p:cNvSpPr/>
          <p:nvPr/>
        </p:nvSpPr>
        <p:spPr>
          <a:xfrm>
            <a:off x="5486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p:cNvSpPr txBox="1"/>
          <p:nvPr/>
        </p:nvSpPr>
        <p:spPr>
          <a:xfrm>
            <a:off x="6400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25</a:t>
            </a:r>
          </a:p>
        </p:txBody>
      </p:sp>
      <p:sp>
        <p:nvSpPr>
          <p:cNvPr id="7" name="stat label"/>
          <p:cNvSpPr txBox="1"/>
          <p:nvPr/>
        </p:nvSpPr>
        <p:spPr>
          <a:xfrm>
            <a:off x="6400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code examples that run on the chapter page</a:t>
            </a:r>
          </a:p>
        </p:txBody>
      </p:sp>
      <p:sp>
        <p:nvSpPr>
          <p:cNvPr id="8" name="card"/>
          <p:cNvSpPr/>
          <p:nvPr/>
        </p:nvSpPr>
        <p:spPr>
          <a:xfrm>
            <a:off x="32918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p:cNvSpPr txBox="1"/>
          <p:nvPr/>
        </p:nvSpPr>
        <p:spPr>
          <a:xfrm>
            <a:off x="33832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6</a:t>
            </a:r>
          </a:p>
        </p:txBody>
      </p:sp>
      <p:sp>
        <p:nvSpPr>
          <p:cNvPr id="10" name="stat label"/>
          <p:cNvSpPr txBox="1"/>
          <p:nvPr/>
        </p:nvSpPr>
        <p:spPr>
          <a:xfrm>
            <a:off x="33832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true stories with who, what, when, where, why and how</a:t>
            </a:r>
          </a:p>
        </p:txBody>
      </p:sp>
      <p:sp>
        <p:nvSpPr>
          <p:cNvPr id="11" name="card"/>
          <p:cNvSpPr/>
          <p:nvPr/>
        </p:nvSpPr>
        <p:spPr>
          <a:xfrm>
            <a:off x="60350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p:cNvSpPr txBox="1"/>
          <p:nvPr/>
        </p:nvSpPr>
        <p:spPr>
          <a:xfrm>
            <a:off x="6126479"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73</a:t>
            </a:r>
          </a:p>
        </p:txBody>
      </p:sp>
      <p:sp>
        <p:nvSpPr>
          <p:cNvPr id="13" name="stat label"/>
          <p:cNvSpPr txBox="1"/>
          <p:nvPr/>
        </p:nvSpPr>
        <p:spPr>
          <a:xfrm>
            <a:off x="6126479"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distinct chapter concepts, each with an everyday picture</a:t>
            </a:r>
          </a:p>
        </p:txBody>
      </p:sp>
      <p:sp>
        <p:nvSpPr>
          <p:cNvPr id="14" name="author"/>
          <p:cNvSpPr txBox="1"/>
          <p:nvPr/>
        </p:nvSpPr>
        <p:spPr>
          <a:xfrm>
            <a:off x="548640" y="4434840"/>
            <a:ext cx="7315200" cy="274320"/>
          </a:xfrm>
          <a:prstGeom prst="rect">
            <a:avLst/>
          </a:prstGeom>
          <a:noFill/>
        </p:spPr>
        <p:txBody>
          <a:bodyPr wrap="square" lIns="45720" rIns="45720" tIns="27432" bIns="27432" anchor="t">
            <a:spAutoFit/>
          </a:bodyPr>
          <a:lstStyle/>
          <a:p>
            <a:r>
              <a:rPr sz="1100" b="0" i="0">
                <a:solidFill>
                  <a:srgbClr val="5B6773"/>
                </a:solidFill>
                <a:latin typeface="Calibri"/>
              </a:rPr>
              <a:t>SEN0414 Advanced Programming, Fall 2026. Yusuf Altunel, İstanbul Kültür Üniversitesi</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 / 54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Today's route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Five parts; every range is a run of slides you can jump to</a:t>
            </a:r>
          </a:p>
        </p:txBody>
      </p:sp>
      <p:graphicFrame>
        <p:nvGraphicFramePr>
          <p:cNvPr id="5" name="table"/>
          <p:cNvGraphicFramePr>
            <a:graphicFrameLocks noGrp="1"/>
          </p:cNvGraphicFramePr>
          <p:nvPr/>
        </p:nvGraphicFramePr>
        <p:xfrm>
          <a:off x="457200" y="1097280"/>
          <a:ext cx="8229598" cy="3520440"/>
        </p:xfrm>
        <a:graphic>
          <a:graphicData uri="http://schemas.openxmlformats.org/drawingml/2006/table">
            <a:tbl>
              <a:tblPr firstRow="0" bandRow="0"/>
              <a:tblGrid>
                <a:gridCol w="2862469"/>
                <a:gridCol w="894521"/>
                <a:gridCol w="1073426"/>
                <a:gridCol w="3399182"/>
              </a:tblGrid>
              <a:tr h="502920">
                <a:tc>
                  <a:txBody>
                    <a:bodyPr wrap="square"/>
                    <a:lstStyle/>
                    <a:p>
                      <a:r>
                        <a:rPr sz="1250" b="1" i="0">
                          <a:solidFill>
                            <a:srgbClr val="FFFFFF"/>
                          </a:solidFill>
                          <a:latin typeface="Calibri"/>
                        </a:rPr>
                        <a:t>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Slides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Code examples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You will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02920">
                <a:tc>
                  <a:txBody>
                    <a:bodyPr wrap="square"/>
                    <a:lstStyle/>
                    <a:p>
                      <a:r>
                        <a:rPr sz="1250" b="1" i="0">
                          <a:solidFill>
                            <a:srgbClr val="1F2933"/>
                          </a:solidFill>
                          <a:latin typeface="Calibri"/>
                        </a:rPr>
                        <a:t>Databases, tables and connections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4 - 14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connect, create, types, insert, rowid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250" b="1" i="0">
                          <a:solidFill>
                            <a:srgbClr val="1F2933"/>
                          </a:solidFill>
                          <a:latin typeface="Calibri"/>
                        </a:rPr>
                        <a:t>Reading, changing and safe values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15 - 25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select, LIKE, NULL, update, placeholders, injection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250" b="1" i="0">
                          <a:solidFill>
                            <a:srgbClr val="1F2933"/>
                          </a:solidFill>
                          <a:latin typeface="Calibri"/>
                        </a:rPr>
                        <a:t>Transactions, indexes and schema changes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26 - 37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transactions, index, ALTER, a file and VACUUM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250" b="1" i="0">
                          <a:solidFill>
                            <a:srgbClr val="1F2933"/>
                          </a:solidFill>
                          <a:latin typeface="Calibri"/>
                        </a:rPr>
                        <a:t>Several tables, copies and backups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38 - 45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foreign key, joins, backup, dump, file copy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250" b="1" i="0">
                          <a:solidFill>
                            <a:srgbClr val="1F2933"/>
                          </a:solidFill>
                          <a:latin typeface="Calibri"/>
                        </a:rPr>
                        <a:t>Two practice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46 - 49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the cat checker and the meal ingredients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250" b="1" i="0">
                          <a:solidFill>
                            <a:srgbClr val="1F2933"/>
                          </a:solidFill>
                          <a:latin typeface="Calibri"/>
                        </a:rPr>
                        <a:t>Tools, changes, summary, practice, resources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50 - 54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which statement does what, and what differs today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the chapter-code tab of the page: the same 25 examples, in this order.</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 / 54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questions this chapter answers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Carry them through every part; the answers come back at the end</a:t>
            </a:r>
          </a:p>
        </p:txBody>
      </p:sp>
      <p:sp>
        <p:nvSpPr>
          <p:cNvPr id="5" name="card"/>
          <p:cNvSpPr/>
          <p:nvPr/>
        </p:nvSpPr>
        <p:spPr>
          <a:xfrm>
            <a:off x="457200" y="11887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3716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1</a:t>
            </a:r>
          </a:p>
        </p:txBody>
      </p:sp>
      <p:sp>
        <p:nvSpPr>
          <p:cNvPr id="7" name="question"/>
          <p:cNvSpPr txBox="1"/>
          <p:nvPr/>
        </p:nvSpPr>
        <p:spPr>
          <a:xfrm>
            <a:off x="1280160" y="12984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Which statements change the database, which only read it, and what decides whether a change is kept, undone or refused?</a:t>
            </a:r>
          </a:p>
        </p:txBody>
      </p:sp>
      <p:sp>
        <p:nvSpPr>
          <p:cNvPr id="8" name="answer"/>
          <p:cNvSpPr txBox="1"/>
          <p:nvPr/>
        </p:nvSpPr>
        <p:spPr>
          <a:xfrm>
            <a:off x="1280160" y="20574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50: the statements, and when each change is kept.</a:t>
            </a:r>
          </a:p>
        </p:txBody>
      </p:sp>
      <p:sp>
        <p:nvSpPr>
          <p:cNvPr id="9" name="card"/>
          <p:cNvSpPr/>
          <p:nvPr/>
        </p:nvSpPr>
        <p:spPr>
          <a:xfrm>
            <a:off x="457200" y="27889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9718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2</a:t>
            </a:r>
          </a:p>
        </p:txBody>
      </p:sp>
      <p:sp>
        <p:nvSpPr>
          <p:cNvPr id="11" name="question"/>
          <p:cNvSpPr txBox="1"/>
          <p:nvPr/>
        </p:nvSpPr>
        <p:spPr>
          <a:xfrm>
            <a:off x="1280160" y="28986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Which printed outputs, programs and statements of the book differ in current Python and SQLite?</a:t>
            </a:r>
          </a:p>
        </p:txBody>
      </p:sp>
      <p:sp>
        <p:nvSpPr>
          <p:cNvPr id="12" name="answer"/>
          <p:cNvSpPr txBox="1"/>
          <p:nvPr/>
        </p:nvSpPr>
        <p:spPr>
          <a:xfrm>
            <a:off x="1280160" y="36576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51: the changes, from the chapter research.</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statement is read, written or refused; a transaction keeps or undoes.</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 / 54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400" b="1" i="0">
                <a:solidFill>
                  <a:srgbClr val="1F2933"/>
                </a:solidFill>
                <a:latin typeface="Calibri"/>
              </a:rPr>
              <a:t>Part 1: Databases, tables and connections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 database is a file or memory; a connection opens it</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Connection</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handle a program holds on one database.</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STRICT table</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table whose column types are rules.</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Storage class</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kind of value actually stored.</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Row and rowid</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Each row has a hidden number.</a:t>
            </a:r>
          </a:p>
        </p:txBody>
      </p:sp>
      <p:graphicFrame>
        <p:nvGraphicFramePr>
          <p:cNvPr id="13" name="table"/>
          <p:cNvGraphicFramePr>
            <a:graphicFrameLocks noGrp="1"/>
          </p:cNvGraphicFramePr>
          <p:nvPr/>
        </p:nvGraphicFramePr>
        <p:xfrm>
          <a:off x="5303520" y="1417320"/>
          <a:ext cx="3474719" cy="3200395"/>
        </p:xfrm>
        <a:graphic>
          <a:graphicData uri="http://schemas.openxmlformats.org/drawingml/2006/table">
            <a:tbl>
              <a:tblPr firstRow="0" bandRow="0"/>
              <a:tblGrid>
                <a:gridCol w="507543"/>
                <a:gridCol w="2967176"/>
              </a:tblGrid>
              <a:tr h="290945">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0945">
                <a:tc>
                  <a:txBody>
                    <a:bodyPr wrap="square"/>
                    <a:lstStyle/>
                    <a:p>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databases and connecti...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Story: SQLite was written in 2000 so a wa...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Connect, ask, close: a connection is a ha...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Story: Python 2.5 added sqlite3 to the 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tables and types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Create a STRICT table, then read the sche...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STRICT refuses a wrong type; a plain tabl...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Story: SQLite 3.37.0 gave tables a strict...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Insert rows, then read them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A primary key can be the rowid, and a 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 / 54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databases and connections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database is like a filing cabinet with strict drawers; a spreadsheet is like a table top where anything may lie.</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Spreadsheets vs. Databases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table top you can rearrange, against a cabinet whose drawers hold one kind of paper.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SQLite vs. Other SQL Databases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cabinet in your own room, against a records office with a clerk at the door.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SQLite Apps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Windows onto the cabinet: you look and edit without typing a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sqlite3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key of the room, shipped inside Python.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Connecting to Databases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Walking into the room and finding the cabinet.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sqlite3.connect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door: one call opens it, a file name says which cabinet.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close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Locking the door when you leave.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 / 54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400" b="1" i="0">
                <a:solidFill>
                  <a:srgbClr val="1F2933"/>
                </a:solidFill>
                <a:latin typeface="Calibri"/>
              </a:rPr>
              <a:t>Story: SQLite was written in 2000 so a warship program needed no server</a:t>
            </a:r>
          </a:p>
        </p:txBody>
      </p:sp>
      <p:pic>
        <p:nvPicPr>
          <p:cNvPr id="4" name="photo hipp" descr="Picture for the story: SQLite was written in 2000 so a warship program needed no server"/>
          <p:cNvPicPr>
            <a:picLocks noChangeAspect="1"/>
          </p:cNvPicPr>
          <p:nvPr/>
        </p:nvPicPr>
        <p:blipFill>
          <a:blip r:embed="rId3"/>
          <a:stretch>
            <a:fillRect/>
          </a:stretch>
        </p:blipFill>
        <p:spPr>
          <a:xfrm>
            <a:off x="365760" y="869108"/>
            <a:ext cx="2651760" cy="2925222"/>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D. Richard Hipp, who designed SQLite in 2000. Photo: D. Richard Hipp, 2009, CC BY 2.0, Wikimedia Commons.</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D. Richard Hipp, working for General Dynamics on a contract with the United States Navy.</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SQLite, a database that is a library and one file: no server to start, no user accounts to grant.</a:t>
            </a:r>
          </a:p>
        </p:txBody>
      </p:sp>
      <p:sp>
        <p:nvSpPr>
          <p:cNvPr id="10" name="card"/>
          <p:cNvSpPr/>
          <p:nvPr/>
        </p:nvSpPr>
        <p:spPr>
          <a:xfrm>
            <a:off x="3200400" y="1975104"/>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Designed in the spring of 2000; version 1.0 was released in August 2000.</a:t>
            </a:r>
          </a:p>
        </p:txBody>
      </p:sp>
      <p:sp>
        <p:nvSpPr>
          <p:cNvPr id="12" name="card"/>
          <p:cNvSpPr/>
          <p:nvPr/>
        </p:nvSpPr>
        <p:spPr>
          <a:xfrm>
            <a:off x="3200400" y="2542032"/>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42032"/>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Software for the damage-control system aboard guided-missile destroyers.</a:t>
            </a:r>
          </a:p>
        </p:txBody>
      </p:sp>
      <p:sp>
        <p:nvSpPr>
          <p:cNvPr id="14" name="card"/>
          <p:cNvSpPr/>
          <p:nvPr/>
        </p:nvSpPr>
        <p:spPr>
          <a:xfrm>
            <a:off x="3200400" y="3108960"/>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108960"/>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The damage-control system had used HP-UX with an Informix database back-end, a program that has to be started and kept running.</a:t>
            </a:r>
          </a:p>
        </p:txBody>
      </p:sp>
      <p:sp>
        <p:nvSpPr>
          <p:cNvPr id="16" name="card"/>
          <p:cNvSpPr/>
          <p:nvPr/>
        </p:nvSpPr>
        <p:spPr>
          <a:xfrm>
            <a:off x="3200400" y="367588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67588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It began as a Tcl extension; version 1.0 stored data with gdbm, and from September 2001 SQLite used its own B-tree.</a:t>
            </a:r>
          </a:p>
        </p:txBody>
      </p:sp>
      <p:sp>
        <p:nvSpPr>
          <p:cNvPr id="18" name="read"/>
          <p:cNvSpPr txBox="1"/>
          <p:nvPr/>
        </p:nvSpPr>
        <p:spPr>
          <a:xfrm>
            <a:off x="3200400" y="4261104"/>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SQLite, History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 / 54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600" b="1" i="0">
                <a:solidFill>
                  <a:srgbClr val="1F2933"/>
                </a:solidFill>
                <a:latin typeface="Calibri"/>
              </a:rPr>
              <a:t>Connect, ask, close: a connection is a handle on a database</a:t>
            </a:r>
          </a:p>
        </p:txBody>
      </p:sp>
      <p:sp>
        <p:nvSpPr>
          <p:cNvPr id="4" name="code"/>
          <p:cNvSpPr/>
          <p:nvPr/>
        </p:nvSpPr>
        <p:spPr>
          <a:xfrm>
            <a:off x="365760" y="786384"/>
            <a:ext cx="453085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sqlite3</a:t>
            </a:r>
          </a:p>
          <a:p>
            <a:pPr algn="l"/>
            <a:r>
              <a:rPr sz="1100" b="0" i="0">
                <a:solidFill>
                  <a:srgbClr val="8FA3B8"/>
                </a:solidFill>
                <a:latin typeface="Courier New"/>
              </a:rPr>
              <a:t>&gt;&gt;&gt; </a:t>
            </a:r>
            <a:r>
              <a:rPr sz="1100" b="0" i="0">
                <a:solidFill>
                  <a:srgbClr val="E6EDF3"/>
                </a:solidFill>
                <a:latin typeface="Courier New"/>
              </a:rPr>
              <a:t>conn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sqlite3</a:t>
            </a:r>
            <a:r>
              <a:rPr sz="1100" b="0" i="0">
                <a:solidFill>
                  <a:srgbClr val="E6EDF3"/>
                </a:solidFill>
                <a:latin typeface="Courier New"/>
              </a:rPr>
              <a:t>.</a:t>
            </a:r>
            <a:r>
              <a:rPr sz="1100" b="0" i="0">
                <a:solidFill>
                  <a:srgbClr val="E6EDF3"/>
                </a:solidFill>
                <a:latin typeface="Courier New"/>
              </a:rPr>
              <a:t>connect</a:t>
            </a:r>
            <a:r>
              <a:rPr sz="1100" b="0" i="0">
                <a:solidFill>
                  <a:srgbClr val="E6EDF3"/>
                </a:solidFill>
                <a:latin typeface="Courier New"/>
              </a:rPr>
              <a:t>(</a:t>
            </a:r>
            <a:r>
              <a:rPr sz="1100" b="0" i="0">
                <a:solidFill>
                  <a:srgbClr val="9BE3A8"/>
                </a:solidFill>
                <a:latin typeface="Courier New"/>
              </a:rPr>
              <a:t>':memory:'</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'in a transaction:'</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conn</a:t>
            </a:r>
            <a:r>
              <a:rPr sz="1100" b="0" i="0">
                <a:solidFill>
                  <a:srgbClr val="E6EDF3"/>
                </a:solidFill>
                <a:latin typeface="Courier New"/>
              </a:rPr>
              <a:t>.</a:t>
            </a:r>
            <a:r>
              <a:rPr sz="1100" b="0" i="0">
                <a:solidFill>
                  <a:srgbClr val="E6EDF3"/>
                </a:solidFill>
                <a:latin typeface="Courier New"/>
              </a:rPr>
              <a:t>in_transaction</a:t>
            </a:r>
            <a:r>
              <a:rPr sz="1100" b="0" i="0">
                <a:solidFill>
                  <a:srgbClr val="E6EDF3"/>
                </a:solidFill>
                <a:latin typeface="Courier New"/>
              </a:rPr>
              <a:t>)</a:t>
            </a:r>
          </a:p>
        </p:txBody>
      </p:sp>
      <p:sp>
        <p:nvSpPr>
          <p:cNvPr id="5" name="explanation"/>
          <p:cNvSpPr txBox="1"/>
          <p:nvPr/>
        </p:nvSpPr>
        <p:spPr>
          <a:xfrm>
            <a:off x="4878324" y="786384"/>
            <a:ext cx="3899915" cy="699516"/>
          </a:xfrm>
          <a:prstGeom prst="rect">
            <a:avLst/>
          </a:prstGeom>
          <a:noFill/>
        </p:spPr>
        <p:txBody>
          <a:bodyPr wrap="square" lIns="128016" rIns="128016" tIns="18288" bIns="18288" anchor="ctr">
            <a:spAutoFit/>
          </a:bodyPr>
          <a:lstStyle/>
          <a:p>
            <a:r>
              <a:rPr sz="1200" b="0" i="0">
                <a:solidFill>
                  <a:srgbClr val="1F2933"/>
                </a:solidFill>
                <a:latin typeface="Calibri"/>
              </a:rPr>
              <a:t>connect() opens a database; ':memory:' keeps it in RAM only. in_transaction is False until a statement starts a transaction.</a:t>
            </a:r>
          </a:p>
        </p:txBody>
      </p:sp>
      <p:sp>
        <p:nvSpPr>
          <p:cNvPr id="6" name="code"/>
          <p:cNvSpPr/>
          <p:nvPr/>
        </p:nvSpPr>
        <p:spPr>
          <a:xfrm>
            <a:off x="365760" y="1531620"/>
            <a:ext cx="453085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row</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conn</a:t>
            </a:r>
            <a:r>
              <a:rPr sz="1100" b="0" i="0">
                <a:solidFill>
                  <a:srgbClr val="E6EDF3"/>
                </a:solidFill>
                <a:latin typeface="Courier New"/>
              </a:rPr>
              <a:t>.</a:t>
            </a:r>
            <a:r>
              <a:rPr sz="1100" b="0" i="0">
                <a:solidFill>
                  <a:srgbClr val="E6EDF3"/>
                </a:solidFill>
                <a:latin typeface="Courier New"/>
              </a:rPr>
              <a:t>execute</a:t>
            </a:r>
            <a:r>
              <a:rPr sz="1100" b="0" i="0">
                <a:solidFill>
                  <a:srgbClr val="E6EDF3"/>
                </a:solidFill>
                <a:latin typeface="Courier New"/>
              </a:rPr>
              <a:t>(</a:t>
            </a:r>
            <a:r>
              <a:rPr sz="1100" b="0" i="0">
                <a:solidFill>
                  <a:srgbClr val="9BE3A8"/>
                </a:solidFill>
                <a:latin typeface="Courier New"/>
              </a:rPr>
              <a:t>'SELECT 6 * 7'</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fetchone</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'the answer row:'</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row</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conn</a:t>
            </a:r>
            <a:r>
              <a:rPr sz="1100" b="0" i="0">
                <a:solidFill>
                  <a:srgbClr val="E6EDF3"/>
                </a:solidFill>
                <a:latin typeface="Courier New"/>
              </a:rPr>
              <a:t>.</a:t>
            </a:r>
            <a:r>
              <a:rPr sz="1100" b="0" i="0">
                <a:solidFill>
                  <a:srgbClr val="E6EDF3"/>
                </a:solidFill>
                <a:latin typeface="Courier New"/>
              </a:rPr>
              <a:t>close</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4878324" y="1531620"/>
            <a:ext cx="3899915" cy="699516"/>
          </a:xfrm>
          <a:prstGeom prst="rect">
            <a:avLst/>
          </a:prstGeom>
          <a:noFill/>
        </p:spPr>
        <p:txBody>
          <a:bodyPr wrap="square" lIns="128016" rIns="128016" tIns="18288" bIns="18288" anchor="ctr">
            <a:spAutoFit/>
          </a:bodyPr>
          <a:lstStyle/>
          <a:p>
            <a:r>
              <a:rPr sz="1200" b="0" i="0">
                <a:solidFill>
                  <a:srgbClr val="1F2933"/>
                </a:solidFill>
                <a:latin typeface="Calibri"/>
              </a:rPr>
              <a:t>execute() sends one statement; fetchone() takes the first row, which is a tuple. close() ends the connection.</a:t>
            </a:r>
          </a:p>
        </p:txBody>
      </p:sp>
      <p:sp>
        <p:nvSpPr>
          <p:cNvPr id="8" name="code"/>
          <p:cNvSpPr/>
          <p:nvPr/>
        </p:nvSpPr>
        <p:spPr>
          <a:xfrm>
            <a:off x="365760" y="2276856"/>
            <a:ext cx="4530851" cy="8188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try</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conn</a:t>
            </a:r>
            <a:r>
              <a:rPr sz="1100" b="0" i="0">
                <a:solidFill>
                  <a:srgbClr val="E6EDF3"/>
                </a:solidFill>
                <a:latin typeface="Courier New"/>
              </a:rPr>
              <a:t>.</a:t>
            </a:r>
            <a:r>
              <a:rPr sz="1100" b="0" i="0">
                <a:solidFill>
                  <a:srgbClr val="E6EDF3"/>
                </a:solidFill>
                <a:latin typeface="Courier New"/>
              </a:rPr>
              <a:t>execute</a:t>
            </a:r>
            <a:r>
              <a:rPr sz="1100" b="0" i="0">
                <a:solidFill>
                  <a:srgbClr val="E6EDF3"/>
                </a:solidFill>
                <a:latin typeface="Courier New"/>
              </a:rPr>
              <a:t>(</a:t>
            </a:r>
            <a:r>
              <a:rPr sz="1100" b="0" i="0">
                <a:solidFill>
                  <a:srgbClr val="9BE3A8"/>
                </a:solidFill>
                <a:latin typeface="Courier New"/>
              </a:rPr>
              <a:t>'SELECT 1'</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except</a:t>
            </a:r>
            <a:r>
              <a:rPr sz="1100" b="0" i="0">
                <a:solidFill>
                  <a:srgbClr val="E6EDF3"/>
                </a:solidFill>
                <a:latin typeface="Courier New"/>
              </a:rPr>
              <a:t> </a:t>
            </a:r>
            <a:r>
              <a:rPr sz="1100" b="0" i="0">
                <a:solidFill>
                  <a:srgbClr val="E6EDF3"/>
                </a:solidFill>
                <a:latin typeface="Courier New"/>
              </a:rPr>
              <a:t>sqlite3</a:t>
            </a:r>
            <a:r>
              <a:rPr sz="1100" b="0" i="0">
                <a:solidFill>
                  <a:srgbClr val="E6EDF3"/>
                </a:solidFill>
                <a:latin typeface="Courier New"/>
              </a:rPr>
              <a:t>.</a:t>
            </a:r>
            <a:r>
              <a:rPr sz="1100" b="0" i="0">
                <a:solidFill>
                  <a:srgbClr val="E6EDF3"/>
                </a:solidFill>
                <a:latin typeface="Courier New"/>
              </a:rPr>
              <a:t>ProgrammingError</a:t>
            </a:r>
            <a:r>
              <a:rPr sz="1100" b="0" i="0">
                <a:solidFill>
                  <a:srgbClr val="E6EDF3"/>
                </a:solidFill>
                <a:latin typeface="Courier New"/>
              </a:rPr>
              <a:t> </a:t>
            </a:r>
            <a:r>
              <a:rPr sz="1100" b="0" i="0">
                <a:solidFill>
                  <a:srgbClr val="E6EDF3"/>
                </a:solidFill>
                <a:latin typeface="Courier New"/>
              </a:rPr>
              <a:t>as</a:t>
            </a:r>
            <a:r>
              <a:rPr sz="1100" b="0" i="0">
                <a:solidFill>
                  <a:srgbClr val="E6EDF3"/>
                </a:solidFill>
                <a:latin typeface="Courier New"/>
              </a:rPr>
              <a:t> </a:t>
            </a:r>
            <a:r>
              <a:rPr sz="1100" b="0" i="0">
                <a:solidFill>
                  <a:srgbClr val="E6EDF3"/>
                </a:solidFill>
                <a:latin typeface="Courier New"/>
              </a:rPr>
              <a:t>e</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'after close:'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a:t>
            </a:r>
            <a:r>
              <a:rPr sz="1100" b="0" i="0">
                <a:solidFill>
                  <a:srgbClr val="E6EDF3"/>
                </a:solidFill>
                <a:latin typeface="Courier New"/>
              </a:rPr>
              <a:t>)</a:t>
            </a:r>
          </a:p>
        </p:txBody>
      </p:sp>
      <p:sp>
        <p:nvSpPr>
          <p:cNvPr id="9" name="explanation"/>
          <p:cNvSpPr txBox="1"/>
          <p:nvPr/>
        </p:nvSpPr>
        <p:spPr>
          <a:xfrm>
            <a:off x="4878324" y="2276856"/>
            <a:ext cx="3899915" cy="818896"/>
          </a:xfrm>
          <a:prstGeom prst="rect">
            <a:avLst/>
          </a:prstGeom>
          <a:noFill/>
        </p:spPr>
        <p:txBody>
          <a:bodyPr wrap="square" lIns="128016" rIns="128016" tIns="18288" bIns="18288" anchor="ctr">
            <a:spAutoFit/>
          </a:bodyPr>
          <a:lstStyle/>
          <a:p>
            <a:r>
              <a:rPr sz="1200" b="0" i="0">
                <a:solidFill>
                  <a:srgbClr val="1F2933"/>
                </a:solidFill>
                <a:latin typeface="Calibri"/>
              </a:rPr>
              <a:t>A closed connection refuses every statement. The error is caught here so that the program goes on.</a:t>
            </a:r>
          </a:p>
        </p:txBody>
      </p:sp>
      <p:sp>
        <p:nvSpPr>
          <p:cNvPr id="10" name="result label"/>
          <p:cNvSpPr txBox="1"/>
          <p:nvPr/>
        </p:nvSpPr>
        <p:spPr>
          <a:xfrm>
            <a:off x="365760" y="315061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488944"/>
            <a:ext cx="1828799" cy="7315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connect(':memory:')</a:t>
            </a:r>
          </a:p>
          <a:p>
            <a:pPr algn="ctr"/>
            <a:r>
              <a:rPr sz="1000" b="0" i="0">
                <a:solidFill>
                  <a:srgbClr val="1F2933"/>
                </a:solidFill>
                <a:latin typeface="Calibri"/>
              </a:rPr>
              <a:t>in a transaction: False</a:t>
            </a:r>
          </a:p>
        </p:txBody>
      </p:sp>
      <p:cxnSp>
        <p:nvCxnSpPr>
          <p:cNvPr id="12" name="arrow"/>
          <p:cNvCxnSpPr/>
          <p:nvPr/>
        </p:nvCxnSpPr>
        <p:spPr>
          <a:xfrm>
            <a:off x="2212848" y="3854704"/>
            <a:ext cx="32918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3488944"/>
            <a:ext cx="1828799" cy="7315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execute('SELECT 6 * 7')</a:t>
            </a:r>
          </a:p>
          <a:p>
            <a:pPr algn="ctr"/>
            <a:r>
              <a:rPr sz="1000" b="0" i="0">
                <a:solidFill>
                  <a:srgbClr val="1F2933"/>
                </a:solidFill>
                <a:latin typeface="Calibri"/>
              </a:rPr>
              <a:t>fetchone() gives (42,)</a:t>
            </a:r>
          </a:p>
        </p:txBody>
      </p:sp>
      <p:cxnSp>
        <p:nvCxnSpPr>
          <p:cNvPr id="14" name="arrow"/>
          <p:cNvCxnSpPr/>
          <p:nvPr/>
        </p:nvCxnSpPr>
        <p:spPr>
          <a:xfrm>
            <a:off x="4407407" y="3854704"/>
            <a:ext cx="32918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754880" y="3488944"/>
            <a:ext cx="1828799" cy="73152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close()</a:t>
            </a:r>
          </a:p>
          <a:p>
            <a:pPr algn="ctr"/>
            <a:r>
              <a:rPr sz="1000" b="0" i="0">
                <a:solidFill>
                  <a:srgbClr val="1F2933"/>
                </a:solidFill>
                <a:latin typeface="Calibri"/>
              </a:rPr>
              <a:t>the handle ends</a:t>
            </a:r>
          </a:p>
        </p:txBody>
      </p:sp>
      <p:cxnSp>
        <p:nvCxnSpPr>
          <p:cNvPr id="16" name="arrow"/>
          <p:cNvCxnSpPr/>
          <p:nvPr/>
        </p:nvCxnSpPr>
        <p:spPr>
          <a:xfrm>
            <a:off x="6601968" y="3854704"/>
            <a:ext cx="32918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949440" y="3488944"/>
            <a:ext cx="1828799" cy="73152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execute() after close</a:t>
            </a:r>
          </a:p>
          <a:p>
            <a:pPr algn="ctr"/>
            <a:r>
              <a:rPr sz="1000" b="0" i="0">
                <a:solidFill>
                  <a:srgbClr val="1F2933"/>
                </a:solidFill>
                <a:latin typeface="Calibri"/>
              </a:rPr>
              <a:t>Cannot operate on a closed ...</a:t>
            </a:r>
          </a:p>
        </p:txBody>
      </p:sp>
      <p:sp>
        <p:nvSpPr>
          <p:cNvPr id="18" name="visual note"/>
          <p:cNvSpPr txBox="1"/>
          <p:nvPr/>
        </p:nvSpPr>
        <p:spPr>
          <a:xfrm>
            <a:off x="365760" y="4311904"/>
            <a:ext cx="8412480" cy="219456"/>
          </a:xfrm>
          <a:prstGeom prst="rect">
            <a:avLst/>
          </a:prstGeom>
          <a:noFill/>
        </p:spPr>
        <p:txBody>
          <a:bodyPr wrap="square" lIns="45720" rIns="45720" tIns="27432" bIns="27432" anchor="t">
            <a:spAutoFit/>
          </a:bodyPr>
          <a:lstStyle/>
          <a:p>
            <a:r>
              <a:rPr sz="950" b="0" i="1">
                <a:solidFill>
                  <a:srgbClr val="5B6773"/>
                </a:solidFill>
                <a:latin typeface="Calibri"/>
              </a:rPr>
              <a:t>the four boxes are the four steps of the code, with the values the run printed</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connection is a handle: open it, use it, close it.</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 / 54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400" b="1" i="0">
                <a:solidFill>
                  <a:srgbClr val="1F2933"/>
                </a:solidFill>
                <a:latin typeface="Calibri"/>
              </a:rPr>
              <a:t>Story: Python 2.5 added sqlite3 to the standard library in 2006</a:t>
            </a:r>
          </a:p>
        </p:txBody>
      </p:sp>
      <p:pic>
        <p:nvPicPr>
          <p:cNvPr id="4" name="photo python25" descr="Picture for the story: Python 2.5 added sqlite3 to the standard library in 2006"/>
          <p:cNvPicPr>
            <a:picLocks noChangeAspect="1"/>
          </p:cNvPicPr>
          <p:nvPr/>
        </p:nvPicPr>
        <p:blipFill>
          <a:blip r:embed="rId3"/>
          <a:stretch>
            <a:fillRect/>
          </a:stretch>
        </p:blipFill>
        <p:spPr>
          <a:xfrm>
            <a:off x="366422" y="868680"/>
            <a:ext cx="2650434"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Guido van Rossum, who led Python when sqlite3 arrived. Photo: eschipul, CC BY 2.0, Flickr.</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The Python developers, led by Guido van Rossum; A. M. Kuchling wrote the release notes.</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The sqlite3 package, the pysqlite wrapper for SQLite, became part of the standard library.</a:t>
            </a:r>
          </a:p>
        </p:txBody>
      </p:sp>
      <p:sp>
        <p:nvSpPr>
          <p:cNvPr id="10" name="card"/>
          <p:cNvSpPr/>
          <p:nvPr/>
        </p:nvSpPr>
        <p:spPr>
          <a:xfrm>
            <a:off x="3200400" y="197510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Python 2.5 was released on 19 September 2006.</a:t>
            </a:r>
          </a:p>
        </p:txBody>
      </p:sp>
      <p:sp>
        <p:nvSpPr>
          <p:cNvPr id="12" name="card"/>
          <p:cNvSpPr/>
          <p:nvPr/>
        </p:nvSpPr>
        <p:spPr>
          <a:xfrm>
            <a:off x="3200400" y="24414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The Python standard library, next to ElementTree and ctypes.</a:t>
            </a:r>
          </a:p>
        </p:txBody>
      </p:sp>
      <p:sp>
        <p:nvSpPr>
          <p:cNvPr id="14" name="card"/>
          <p:cNvSpPr/>
          <p:nvPr/>
        </p:nvSpPr>
        <p:spPr>
          <a:xfrm>
            <a:off x="3200400" y="2907791"/>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2907791"/>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So that a Python program can keep data in a database without installing anything.</a:t>
            </a:r>
          </a:p>
        </p:txBody>
      </p:sp>
      <p:sp>
        <p:nvSpPr>
          <p:cNvPr id="16" name="card"/>
          <p:cNvSpPr/>
          <p:nvPr/>
        </p:nvSpPr>
        <p:spPr>
          <a:xfrm>
            <a:off x="3200400" y="3474720"/>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474720"/>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The pysqlite module was added under the package name sqlite3. Which SQLite version you get depends on your Python build.</a:t>
            </a:r>
          </a:p>
        </p:txBody>
      </p:sp>
      <p:sp>
        <p:nvSpPr>
          <p:cNvPr id="18" name="read"/>
          <p:cNvSpPr txBox="1"/>
          <p:nvPr/>
        </p:nvSpPr>
        <p:spPr>
          <a:xfrm>
            <a:off x="3200400" y="4059935"/>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What's New in Python 2.5 (docs.python.org)</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8 / 54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tables and types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table is like a printed form: every filled-in form has the same boxes, in the same order.</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Creating Databases and Tables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Buying a new cabinet and printing the first form.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Creating Tables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Printing a new form with its boxes.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CREATE TABLE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printer's order: name of the form, then each box and what goes in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Defining Data Types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Writing 'number' or 'text' under each 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STRICT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clerk who refuses a form with letters in a number 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Type affinity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clerk who prefers numbers in a number box but accepts what you hand over.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Storage class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kind of ink actually used: integer, real, text, blob or 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9 / 54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Create a STRICT table, then read the schema back</a:t>
            </a:r>
          </a:p>
        </p:txBody>
      </p:sp>
      <p:sp>
        <p:nvSpPr>
          <p:cNvPr id="4" name="code"/>
          <p:cNvSpPr/>
          <p:nvPr/>
        </p:nvSpPr>
        <p:spPr>
          <a:xfrm>
            <a:off x="365760" y="786384"/>
            <a:ext cx="5513831"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TABLE cats (name TEXT NOT NULL,'</a:t>
            </a:r>
          </a:p>
          <a:p>
            <a:pPr algn="l"/>
            <a:r>
              <a:rPr sz="1000" b="0" i="0">
                <a:solidFill>
                  <a:srgbClr val="8FA3B8"/>
                </a:solidFill>
                <a:latin typeface="Courier New"/>
              </a:rPr>
              <a:t>&gt;&gt;&gt; </a:t>
            </a:r>
            <a:r>
              <a:rPr sz="1000" b="0" i="0">
                <a:solidFill>
                  <a:srgbClr val="E6EDF3"/>
                </a:solidFill>
                <a:latin typeface="Courier New"/>
              </a:rPr>
              <a:t>             </a:t>
            </a:r>
            <a:r>
              <a:rPr sz="1000" b="0" i="0">
                <a:solidFill>
                  <a:srgbClr val="9BE3A8"/>
                </a:solidFill>
                <a:latin typeface="Courier New"/>
              </a:rPr>
              <a:t>' birthdate TEXT, fur TEXT, weight_kg REAL) STRICT'</a:t>
            </a:r>
            <a:r>
              <a:rPr sz="1000" b="0" i="0">
                <a:solidFill>
                  <a:srgbClr val="E6EDF3"/>
                </a:solidFill>
                <a:latin typeface="Courier New"/>
              </a:rPr>
              <a:t>)</a:t>
            </a:r>
          </a:p>
        </p:txBody>
      </p:sp>
      <p:sp>
        <p:nvSpPr>
          <p:cNvPr id="5" name="explanation"/>
          <p:cNvSpPr txBox="1"/>
          <p:nvPr/>
        </p:nvSpPr>
        <p:spPr>
          <a:xfrm>
            <a:off x="5861304" y="786384"/>
            <a:ext cx="2916936" cy="826516"/>
          </a:xfrm>
          <a:prstGeom prst="rect">
            <a:avLst/>
          </a:prstGeom>
          <a:noFill/>
        </p:spPr>
        <p:txBody>
          <a:bodyPr wrap="square" lIns="128016" rIns="128016" tIns="18288" bIns="18288" anchor="ctr">
            <a:spAutoFit/>
          </a:bodyPr>
          <a:lstStyle/>
          <a:p>
            <a:r>
              <a:rPr sz="1100" b="0" i="0">
                <a:solidFill>
                  <a:srgbClr val="1F2933"/>
                </a:solidFill>
                <a:latin typeface="Calibri"/>
              </a:rPr>
              <a:t>STRICT makes each column type a rule. NOT NULL refuses a cat without a name. The table is made in the memory database.</a:t>
            </a:r>
          </a:p>
        </p:txBody>
      </p:sp>
      <p:sp>
        <p:nvSpPr>
          <p:cNvPr id="6" name="code"/>
          <p:cNvSpPr/>
          <p:nvPr/>
        </p:nvSpPr>
        <p:spPr>
          <a:xfrm>
            <a:off x="365760" y="1658620"/>
            <a:ext cx="55138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sql</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"SELECT name FROM sqlite_schema WHERE type = 'table'"</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E6EDF3"/>
                </a:solidFill>
                <a:latin typeface="Courier New"/>
              </a:rPr>
              <a:t>sql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861304" y="1658620"/>
            <a:ext cx="2916936" cy="651891"/>
          </a:xfrm>
          <a:prstGeom prst="rect">
            <a:avLst/>
          </a:prstGeom>
          <a:noFill/>
        </p:spPr>
        <p:txBody>
          <a:bodyPr wrap="square" lIns="128016" rIns="128016" tIns="18288" bIns="18288" anchor="ctr">
            <a:spAutoFit/>
          </a:bodyPr>
          <a:lstStyle/>
          <a:p>
            <a:r>
              <a:rPr sz="1100" b="0" i="0">
                <a:solidFill>
                  <a:srgbClr val="1F2933"/>
                </a:solidFill>
                <a:latin typeface="Calibri"/>
              </a:rPr>
              <a:t>sqlite_schema is the table where SQLite keeps its own list of tables. One query lists them.</a:t>
            </a:r>
          </a:p>
        </p:txBody>
      </p:sp>
      <p:sp>
        <p:nvSpPr>
          <p:cNvPr id="8" name="code"/>
          <p:cNvSpPr/>
          <p:nvPr/>
        </p:nvSpPr>
        <p:spPr>
          <a:xfrm>
            <a:off x="365760" y="2356231"/>
            <a:ext cx="55138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row</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'PRAGMA table_info(cats)'</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row</a:t>
            </a:r>
            <a:r>
              <a:rPr sz="1000" b="0" i="0">
                <a:solidFill>
                  <a:srgbClr val="E6EDF3"/>
                </a:solidFill>
                <a:latin typeface="Courier New"/>
              </a:rPr>
              <a:t>)</a:t>
            </a:r>
          </a:p>
        </p:txBody>
      </p:sp>
      <p:sp>
        <p:nvSpPr>
          <p:cNvPr id="9" name="explanation"/>
          <p:cNvSpPr txBox="1"/>
          <p:nvPr/>
        </p:nvSpPr>
        <p:spPr>
          <a:xfrm>
            <a:off x="5861304" y="2356231"/>
            <a:ext cx="2916936" cy="651891"/>
          </a:xfrm>
          <a:prstGeom prst="rect">
            <a:avLst/>
          </a:prstGeom>
          <a:noFill/>
        </p:spPr>
        <p:txBody>
          <a:bodyPr wrap="square" lIns="128016" rIns="128016" tIns="18288" bIns="18288" anchor="ctr">
            <a:spAutoFit/>
          </a:bodyPr>
          <a:lstStyle/>
          <a:p>
            <a:r>
              <a:rPr sz="1100" b="0" i="0">
                <a:solidFill>
                  <a:srgbClr val="1F2933"/>
                </a:solidFill>
                <a:latin typeface="Calibri"/>
              </a:rPr>
              <a:t>PRAGMA table_info lists the columns: position, name, type, NOT NULL flag, default and primary-key flag.</a:t>
            </a:r>
          </a:p>
        </p:txBody>
      </p:sp>
      <p:sp>
        <p:nvSpPr>
          <p:cNvPr id="10" name="result label"/>
          <p:cNvSpPr txBox="1"/>
          <p:nvPr/>
        </p:nvSpPr>
        <p:spPr>
          <a:xfrm>
            <a:off x="365760" y="306298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309874"/>
          <a:ext cx="5215735" cy="1188720"/>
        </p:xfrm>
        <a:graphic>
          <a:graphicData uri="http://schemas.openxmlformats.org/drawingml/2006/table">
            <a:tbl>
              <a:tblPr firstRow="0" bandRow="0"/>
              <a:tblGrid>
                <a:gridCol w="549025"/>
                <a:gridCol w="1372562"/>
                <a:gridCol w="915041"/>
                <a:gridCol w="915041"/>
                <a:gridCol w="915041"/>
                <a:gridCol w="549025"/>
              </a:tblGrid>
              <a:tr h="237744">
                <a:tc>
                  <a:txBody>
                    <a:bodyPr wrap="square"/>
                    <a:lstStyle/>
                    <a:p>
                      <a:r>
                        <a:rPr sz="1000" b="1" i="0">
                          <a:solidFill>
                            <a:srgbClr val="FFFFFF"/>
                          </a:solidFill>
                          <a:latin typeface="Calibri"/>
                        </a:rPr>
                        <a:t>cid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notnull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default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pk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37744">
                <a:tc>
                  <a:txBody>
                    <a:bodyPr wrap="square"/>
                    <a:lstStyle/>
                    <a:p>
                      <a:r>
                        <a:rPr sz="1000" b="0" i="0">
                          <a:solidFill>
                            <a:srgbClr val="1F2933"/>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00" b="0" i="0">
                          <a:solidFill>
                            <a:srgbClr val="1F2933"/>
                          </a:solidFill>
                          <a:latin typeface="Calibri"/>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37744">
                <a:tc>
                  <a:txBody>
                    <a:bodyPr wrap="square"/>
                    <a:lstStyle/>
                    <a:p>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birthdate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37744">
                <a:tc>
                  <a:txBody>
                    <a:bodyPr wrap="square"/>
                    <a:lstStyle/>
                    <a:p>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fur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37744">
                <a:tc>
                  <a:txBody>
                    <a:bodyPr wrap="square"/>
                    <a:lstStyle/>
                    <a:p>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weight_kg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REAL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Rounded Rectangle 11"/>
          <p:cNvSpPr/>
          <p:nvPr/>
        </p:nvSpPr>
        <p:spPr>
          <a:xfrm>
            <a:off x="6002121" y="3309874"/>
            <a:ext cx="2776118" cy="384048"/>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sqlite_schema lists</a:t>
            </a:r>
          </a:p>
          <a:p>
            <a:pPr algn="ctr"/>
            <a:r>
              <a:rPr sz="1000" b="0" i="0">
                <a:solidFill>
                  <a:srgbClr val="1F2933"/>
                </a:solidFill>
                <a:latin typeface="Courier New"/>
              </a:rPr>
              <a:t>[('cats',)]</a:t>
            </a:r>
          </a:p>
        </p:txBody>
      </p:sp>
      <p:cxnSp>
        <p:nvCxnSpPr>
          <p:cNvPr id="13" name="arrow"/>
          <p:cNvCxnSpPr/>
          <p:nvPr/>
        </p:nvCxnSpPr>
        <p:spPr>
          <a:xfrm>
            <a:off x="7390180" y="3712210"/>
            <a:ext cx="0" cy="201168"/>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002121" y="3931666"/>
            <a:ext cx="2776118" cy="38404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PRAGMA table_info</a:t>
            </a:r>
          </a:p>
          <a:p>
            <a:pPr algn="ctr"/>
            <a:r>
              <a:rPr sz="1000" b="0" i="0">
                <a:solidFill>
                  <a:srgbClr val="1F2933"/>
                </a:solidFill>
                <a:latin typeface="Courier New"/>
              </a:rPr>
              <a:t>4 columns</a:t>
            </a:r>
          </a:p>
        </p:txBody>
      </p:sp>
      <p:sp>
        <p:nvSpPr>
          <p:cNvPr id="15" name="visual note"/>
          <p:cNvSpPr txBox="1"/>
          <p:nvPr/>
        </p:nvSpPr>
        <p:spPr>
          <a:xfrm>
            <a:off x="365760" y="4498848"/>
            <a:ext cx="5215737" cy="219456"/>
          </a:xfrm>
          <a:prstGeom prst="rect">
            <a:avLst/>
          </a:prstGeom>
          <a:noFill/>
        </p:spPr>
        <p:txBody>
          <a:bodyPr wrap="square" lIns="45720" rIns="45720" tIns="27432" bIns="27432" anchor="t">
            <a:spAutoFit/>
          </a:bodyPr>
          <a:lstStyle/>
          <a:p>
            <a:r>
              <a:rPr sz="900" b="0" i="1">
                <a:solidFill>
                  <a:srgbClr val="5B6773"/>
                </a:solidFill>
                <a:latin typeface="Calibri"/>
              </a:rPr>
              <a:t>amber: name is NOT NULL, so a cat without a name is refused</a:t>
            </a:r>
          </a:p>
        </p:txBody>
      </p:sp>
      <p:sp>
        <p:nvSpPr>
          <p:cNvPr id="1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STRICT turns column types into rules.</a:t>
            </a:r>
          </a:p>
        </p:txBody>
      </p:sp>
      <p:sp>
        <p:nvSpPr>
          <p:cNvPr id="1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10 / 54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STRICT refuses a wrong type; a plain table keeps it</a:t>
            </a:r>
          </a:p>
        </p:txBody>
      </p:sp>
      <p:sp>
        <p:nvSpPr>
          <p:cNvPr id="4" name="code"/>
          <p:cNvSpPr/>
          <p:nvPr/>
        </p:nvSpPr>
        <p:spPr>
          <a:xfrm>
            <a:off x="365760" y="786384"/>
            <a:ext cx="5106162" cy="72593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sqlite3</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sqlite3</a:t>
            </a:r>
            <a:r>
              <a:rPr sz="950" b="0" i="0">
                <a:solidFill>
                  <a:srgbClr val="E6EDF3"/>
                </a:solidFill>
                <a:latin typeface="Courier New"/>
              </a:rPr>
              <a:t>.</a:t>
            </a:r>
            <a:r>
              <a:rPr sz="950" b="0" i="0">
                <a:solidFill>
                  <a:srgbClr val="E6EDF3"/>
                </a:solidFill>
                <a:latin typeface="Courier New"/>
              </a:rPr>
              <a:t>connect</a:t>
            </a:r>
            <a:r>
              <a:rPr sz="950" b="0" i="0">
                <a:solidFill>
                  <a:srgbClr val="E6EDF3"/>
                </a:solidFill>
                <a:latin typeface="Courier New"/>
              </a:rPr>
              <a:t>(</a:t>
            </a:r>
            <a:r>
              <a:rPr sz="950" b="0" i="0">
                <a:solidFill>
                  <a:srgbClr val="9BE3A8"/>
                </a:solidFill>
                <a:latin typeface="Courier New"/>
              </a:rPr>
              <a:t>':memory:'</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'CREATE TABLE s (i INTEGER) STRICT'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'CREATE TABLE p (i INTEGER)'</a:t>
            </a:r>
            <a:r>
              <a:rPr sz="950" b="0" i="0">
                <a:solidFill>
                  <a:srgbClr val="E6EDF3"/>
                </a:solidFill>
                <a:latin typeface="Courier New"/>
              </a:rPr>
              <a:t>)</a:t>
            </a:r>
          </a:p>
        </p:txBody>
      </p:sp>
      <p:sp>
        <p:nvSpPr>
          <p:cNvPr id="5" name="explanation"/>
          <p:cNvSpPr txBox="1"/>
          <p:nvPr/>
        </p:nvSpPr>
        <p:spPr>
          <a:xfrm>
            <a:off x="5453634" y="786384"/>
            <a:ext cx="3324605" cy="725932"/>
          </a:xfrm>
          <a:prstGeom prst="rect">
            <a:avLst/>
          </a:prstGeom>
          <a:noFill/>
        </p:spPr>
        <p:txBody>
          <a:bodyPr wrap="square" lIns="128016" rIns="128016" tIns="18288" bIns="18288" anchor="ctr">
            <a:spAutoFit/>
          </a:bodyPr>
          <a:lstStyle/>
          <a:p>
            <a:r>
              <a:rPr sz="1100" b="0" i="0">
                <a:solidFill>
                  <a:srgbClr val="1F2933"/>
                </a:solidFill>
                <a:latin typeface="Calibri"/>
              </a:rPr>
              <a:t>Two tables with the same column. The first is STRICT, the second is an ordinary table.</a:t>
            </a:r>
          </a:p>
        </p:txBody>
      </p:sp>
      <p:sp>
        <p:nvSpPr>
          <p:cNvPr id="6" name="code"/>
          <p:cNvSpPr/>
          <p:nvPr/>
        </p:nvSpPr>
        <p:spPr>
          <a:xfrm>
            <a:off x="365760" y="1558036"/>
            <a:ext cx="5106162" cy="1020317"/>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for</a:t>
            </a:r>
            <a:r>
              <a:rPr sz="950" b="0" i="0">
                <a:solidFill>
                  <a:srgbClr val="E6EDF3"/>
                </a:solidFill>
                <a:latin typeface="Courier New"/>
              </a:rPr>
              <a:t> </a:t>
            </a:r>
            <a:r>
              <a:rPr sz="950" b="0" i="0">
                <a:solidFill>
                  <a:srgbClr val="E6EDF3"/>
                </a:solidFill>
                <a:latin typeface="Courier New"/>
              </a:rPr>
              <a:t>t</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's'</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'p'</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try</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f'INSERT INTO {t} VALUES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'Hello'</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t</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'stored Hello'</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except</a:t>
            </a:r>
            <a:r>
              <a:rPr sz="950" b="0" i="0">
                <a:solidFill>
                  <a:srgbClr val="E6EDF3"/>
                </a:solidFill>
                <a:latin typeface="Courier New"/>
              </a:rPr>
              <a:t> </a:t>
            </a:r>
            <a:r>
              <a:rPr sz="950" b="0" i="0">
                <a:solidFill>
                  <a:srgbClr val="E6EDF3"/>
                </a:solidFill>
                <a:latin typeface="Courier New"/>
              </a:rPr>
              <a:t>sqlite3</a:t>
            </a:r>
            <a:r>
              <a:rPr sz="950" b="0" i="0">
                <a:solidFill>
                  <a:srgbClr val="E6EDF3"/>
                </a:solidFill>
                <a:latin typeface="Courier New"/>
              </a:rPr>
              <a:t>.</a:t>
            </a:r>
            <a:r>
              <a:rPr sz="950" b="0" i="0">
                <a:solidFill>
                  <a:srgbClr val="E6EDF3"/>
                </a:solidFill>
                <a:latin typeface="Courier New"/>
              </a:rPr>
              <a:t>IntegrityError</a:t>
            </a:r>
            <a:r>
              <a:rPr sz="950" b="0" i="0">
                <a:solidFill>
                  <a:srgbClr val="E6EDF3"/>
                </a:solidFill>
                <a:latin typeface="Courier New"/>
              </a:rPr>
              <a:t> </a:t>
            </a:r>
            <a:r>
              <a:rPr sz="950" b="0" i="0">
                <a:solidFill>
                  <a:srgbClr val="E6EDF3"/>
                </a:solidFill>
                <a:latin typeface="Courier New"/>
              </a:rPr>
              <a:t>as</a:t>
            </a:r>
            <a:r>
              <a:rPr sz="950" b="0" i="0">
                <a:solidFill>
                  <a:srgbClr val="E6EDF3"/>
                </a:solidFill>
                <a:latin typeface="Courier New"/>
              </a:rPr>
              <a:t> </a:t>
            </a:r>
            <a:r>
              <a:rPr sz="950" b="0" i="0">
                <a:solidFill>
                  <a:srgbClr val="E6EDF3"/>
                </a:solidFill>
                <a:latin typeface="Courier New"/>
              </a:rPr>
              <a:t>e</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t</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'refused:'</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a:t>
            </a:r>
            <a:r>
              <a:rPr sz="950" b="0" i="0">
                <a:solidFill>
                  <a:srgbClr val="E6EDF3"/>
                </a:solidFill>
                <a:latin typeface="Courier New"/>
              </a:rPr>
              <a:t>)</a:t>
            </a:r>
          </a:p>
        </p:txBody>
      </p:sp>
      <p:sp>
        <p:nvSpPr>
          <p:cNvPr id="7" name="explanation"/>
          <p:cNvSpPr txBox="1"/>
          <p:nvPr/>
        </p:nvSpPr>
        <p:spPr>
          <a:xfrm>
            <a:off x="5453634" y="1558036"/>
            <a:ext cx="3324605" cy="1020317"/>
          </a:xfrm>
          <a:prstGeom prst="rect">
            <a:avLst/>
          </a:prstGeom>
          <a:noFill/>
        </p:spPr>
        <p:txBody>
          <a:bodyPr wrap="square" lIns="128016" rIns="128016" tIns="18288" bIns="18288" anchor="ctr">
            <a:spAutoFit/>
          </a:bodyPr>
          <a:lstStyle/>
          <a:p>
            <a:r>
              <a:rPr sz="1100" b="0" i="0">
                <a:solidFill>
                  <a:srgbClr val="1F2933"/>
                </a:solidFill>
                <a:latin typeface="Calibri"/>
              </a:rPr>
              <a:t>The text Hello goes into both. The STRICT table refuses it; the plain table stores it, because its type is only a preference.</a:t>
            </a:r>
          </a:p>
        </p:txBody>
      </p:sp>
      <p:sp>
        <p:nvSpPr>
          <p:cNvPr id="8" name="code"/>
          <p:cNvSpPr/>
          <p:nvPr/>
        </p:nvSpPr>
        <p:spPr>
          <a:xfrm>
            <a:off x="365760" y="2624074"/>
            <a:ext cx="510616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"INSERT INTO s VALUES ('42')"</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'SELECT i, typeof(i) FROM 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fetchall</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'SELECT i, typeof(i) FROM p'</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fetchall</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9" name="explanation"/>
          <p:cNvSpPr txBox="1"/>
          <p:nvPr/>
        </p:nvSpPr>
        <p:spPr>
          <a:xfrm>
            <a:off x="5453634" y="2624074"/>
            <a:ext cx="3324605" cy="651891"/>
          </a:xfrm>
          <a:prstGeom prst="rect">
            <a:avLst/>
          </a:prstGeom>
          <a:noFill/>
        </p:spPr>
        <p:txBody>
          <a:bodyPr wrap="square" lIns="128016" rIns="128016" tIns="18288" bIns="18288" anchor="ctr">
            <a:spAutoFit/>
          </a:bodyPr>
          <a:lstStyle/>
          <a:p>
            <a:r>
              <a:rPr sz="1100" b="0" i="0">
                <a:solidFill>
                  <a:srgbClr val="1F2933"/>
                </a:solidFill>
                <a:latin typeface="Calibri"/>
              </a:rPr>
              <a:t>The text 42 is converted to an integer in the STRICT table. typeof() names the storage class of each stored value.</a:t>
            </a:r>
          </a:p>
        </p:txBody>
      </p:sp>
      <p:sp>
        <p:nvSpPr>
          <p:cNvPr id="10" name="result label"/>
          <p:cNvSpPr txBox="1"/>
          <p:nvPr/>
        </p:nvSpPr>
        <p:spPr>
          <a:xfrm>
            <a:off x="365760" y="3330829"/>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577717"/>
          <a:ext cx="6561731" cy="768096"/>
        </p:xfrm>
        <a:graphic>
          <a:graphicData uri="http://schemas.openxmlformats.org/drawingml/2006/table">
            <a:tbl>
              <a:tblPr firstRow="0" bandRow="0"/>
              <a:tblGrid>
                <a:gridCol w="740840"/>
                <a:gridCol w="1058344"/>
                <a:gridCol w="1481681"/>
                <a:gridCol w="1905019"/>
                <a:gridCol w="1375847"/>
              </a:tblGrid>
              <a:tr h="256032">
                <a:tc>
                  <a:txBody>
                    <a:bodyPr wrap="square"/>
                    <a:lstStyle/>
                    <a:p>
                      <a:r>
                        <a:rPr sz="1000" b="1" i="0">
                          <a:solidFill>
                            <a:srgbClr val="FFFFFF"/>
                          </a:solidFill>
                          <a:latin typeface="Calibri"/>
                        </a:rPr>
                        <a:t>Table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Kind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Insert 'Hello'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Insert '42' then read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Storage class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56032">
                <a:tc>
                  <a:txBody>
                    <a:bodyPr wrap="square"/>
                    <a:lstStyle/>
                    <a:p>
                      <a:r>
                        <a:rPr sz="1000" b="0" i="0">
                          <a:solidFill>
                            <a:srgbClr val="1F2933"/>
                          </a:solidFill>
                          <a:latin typeface="Courier New"/>
                        </a:rPr>
                        <a: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STRICT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refused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r>
                        <a:rPr sz="1000" b="0" i="0">
                          <a:solidFill>
                            <a:srgbClr val="1F2933"/>
                          </a:solidFill>
                          <a:latin typeface="Courier New"/>
                        </a:rPr>
                        <a: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00" b="0" i="0">
                          <a:solidFill>
                            <a:srgbClr val="1F2933"/>
                          </a:solidFill>
                          <a:latin typeface="Courier New"/>
                        </a:rPr>
                        <a:t>integer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6032">
                <a:tc>
                  <a:txBody>
                    <a:bodyPr wrap="square"/>
                    <a:lstStyle/>
                    <a:p>
                      <a:r>
                        <a:rPr sz="1000" b="0" i="0">
                          <a:solidFill>
                            <a:srgbClr val="1F2933"/>
                          </a:solidFill>
                          <a:latin typeface="Courier New"/>
                        </a:rPr>
                        <a:t>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plain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stored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00" b="0" i="0">
                          <a:solidFill>
                            <a:srgbClr val="1F2933"/>
                          </a:solidFill>
                          <a:latin typeface="Courier New"/>
                        </a:rPr>
                        <a:t>'Hello'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00" b="0" i="0">
                          <a:solidFill>
                            <a:srgbClr val="1F2933"/>
                          </a:solidFill>
                          <a:latin typeface="Courier New"/>
                        </a:rPr>
                        <a:t>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visual note"/>
          <p:cNvSpPr txBox="1"/>
          <p:nvPr/>
        </p:nvSpPr>
        <p:spPr>
          <a:xfrm>
            <a:off x="365760" y="4382389"/>
            <a:ext cx="6561734" cy="219456"/>
          </a:xfrm>
          <a:prstGeom prst="rect">
            <a:avLst/>
          </a:prstGeom>
          <a:noFill/>
        </p:spPr>
        <p:txBody>
          <a:bodyPr wrap="square" lIns="45720" rIns="45720" tIns="27432" bIns="27432" anchor="t">
            <a:spAutoFit/>
          </a:bodyPr>
          <a:lstStyle/>
          <a:p>
            <a:r>
              <a:rPr sz="950" b="0" i="1">
                <a:solidFill>
                  <a:srgbClr val="5B6773"/>
                </a:solidFill>
                <a:latin typeface="Calibri"/>
              </a:rPr>
              <a:t>the plain table keeps Hello in an INTEGER column; STRICT converts '42' and refuses Hello</a:t>
            </a:r>
          </a:p>
        </p:txBody>
      </p:sp>
      <p:sp>
        <p:nvSpPr>
          <p:cNvPr id="13" name="Rounded Rectangle 12"/>
          <p:cNvSpPr/>
          <p:nvPr/>
        </p:nvSpPr>
        <p:spPr>
          <a:xfrm>
            <a:off x="7263993" y="3577717"/>
            <a:ext cx="1514246" cy="77724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alibri"/>
              </a:rPr>
              <a:t>message</a:t>
            </a:r>
          </a:p>
          <a:p>
            <a:pPr algn="ctr"/>
            <a:r>
              <a:rPr sz="850" b="0" i="0">
                <a:solidFill>
                  <a:srgbClr val="1F2933"/>
                </a:solidFill>
                <a:latin typeface="Calibri"/>
              </a:rPr>
              <a:t>TEXT value in INTEGER column s.i</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plain table keeps what a STRICT table refuses.</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11 / 54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400" b="1" i="0">
                <a:solidFill>
                  <a:srgbClr val="1F2933"/>
                </a:solidFill>
                <a:latin typeface="Calibri"/>
              </a:rPr>
              <a:t>Story: SQLite 3.37.0 gave tables a strict mode in November 2021</a:t>
            </a:r>
          </a:p>
        </p:txBody>
      </p:sp>
      <p:pic>
        <p:nvPicPr>
          <p:cNvPr id="4" name="photo strict" descr="Picture for the story: SQLite 3.37.0 gave tables a strict mode in November 2021"/>
          <p:cNvPicPr>
            <a:picLocks noChangeAspect="1"/>
          </p:cNvPicPr>
          <p:nvPr/>
        </p:nvPicPr>
        <p:blipFill>
          <a:blip r:embed="rId3"/>
          <a:stretch>
            <a:fillRect/>
          </a:stretch>
        </p:blipFill>
        <p:spPr>
          <a:xfrm>
            <a:off x="367077" y="868680"/>
            <a:ext cx="2649125"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The SQLite banner. sqlite.org, public domain.</a:t>
            </a:r>
          </a:p>
        </p:txBody>
      </p:sp>
      <p:sp>
        <p:nvSpPr>
          <p:cNvPr id="6" name="card"/>
          <p:cNvSpPr/>
          <p:nvPr/>
        </p:nvSpPr>
        <p:spPr>
          <a:xfrm>
            <a:off x="3200400" y="8412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The SQLite developers, with D. Richard Hipp as project lead.</a:t>
            </a:r>
          </a:p>
        </p:txBody>
      </p:sp>
      <p:sp>
        <p:nvSpPr>
          <p:cNvPr id="8" name="card"/>
          <p:cNvSpPr/>
          <p:nvPr/>
        </p:nvSpPr>
        <p:spPr>
          <a:xfrm>
            <a:off x="3200400" y="1307592"/>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307592"/>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STRICT tables, a prescriptive style of data type management for developers who prefer that kind of thing.</a:t>
            </a:r>
          </a:p>
        </p:txBody>
      </p:sp>
      <p:sp>
        <p:nvSpPr>
          <p:cNvPr id="10" name="card"/>
          <p:cNvSpPr/>
          <p:nvPr/>
        </p:nvSpPr>
        <p:spPr>
          <a:xfrm>
            <a:off x="3200400" y="1874520"/>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874520"/>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Release 3.37.0 of 27 November 2021.</a:t>
            </a:r>
          </a:p>
        </p:txBody>
      </p:sp>
      <p:sp>
        <p:nvSpPr>
          <p:cNvPr id="12" name="card"/>
          <p:cNvSpPr/>
          <p:nvPr/>
        </p:nvSpPr>
        <p:spPr>
          <a:xfrm>
            <a:off x="3200400" y="234086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340864"/>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Announced in the release log on sqlite.org.</a:t>
            </a:r>
          </a:p>
        </p:txBody>
      </p:sp>
      <p:sp>
        <p:nvSpPr>
          <p:cNvPr id="14" name="card"/>
          <p:cNvSpPr/>
          <p:nvPr/>
        </p:nvSpPr>
        <p:spPr>
          <a:xfrm>
            <a:off x="3200400" y="280720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280720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Before it, a column's declared type was only a preference: text could land in an INTEGER column.</a:t>
            </a:r>
          </a:p>
        </p:txBody>
      </p:sp>
      <p:sp>
        <p:nvSpPr>
          <p:cNvPr id="16" name="card"/>
          <p:cNvSpPr/>
          <p:nvPr/>
        </p:nvSpPr>
        <p:spPr>
          <a:xfrm>
            <a:off x="3200400" y="337413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37413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Add the keyword STRICT after the column list. The chapter builds every table that way.</a:t>
            </a:r>
          </a:p>
        </p:txBody>
      </p:sp>
      <p:sp>
        <p:nvSpPr>
          <p:cNvPr id="18" name="read"/>
          <p:cNvSpPr txBox="1"/>
          <p:nvPr/>
        </p:nvSpPr>
        <p:spPr>
          <a:xfrm>
            <a:off x="3200400" y="3959352"/>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SQLite release 3.37.0 (sqlite.org)</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12 / 54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Insert rows, then read them back</a:t>
            </a:r>
          </a:p>
        </p:txBody>
      </p:sp>
      <p:sp>
        <p:nvSpPr>
          <p:cNvPr id="4" name="code"/>
          <p:cNvSpPr/>
          <p:nvPr/>
        </p:nvSpPr>
        <p:spPr>
          <a:xfrm>
            <a:off x="365760" y="786384"/>
            <a:ext cx="5296662" cy="62522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import</a:t>
            </a:r>
            <a:r>
              <a:rPr sz="1050" b="0" i="0">
                <a:solidFill>
                  <a:srgbClr val="E6EDF3"/>
                </a:solidFill>
                <a:latin typeface="Courier New"/>
              </a:rPr>
              <a:t> </a:t>
            </a:r>
            <a:r>
              <a:rPr sz="1050" b="0" i="0">
                <a:solidFill>
                  <a:srgbClr val="E6EDF3"/>
                </a:solidFill>
                <a:latin typeface="Courier New"/>
              </a:rPr>
              <a:t>sqlite3</a:t>
            </a:r>
          </a:p>
          <a:p>
            <a:pPr algn="l"/>
            <a:r>
              <a:rPr sz="1050" b="0" i="0">
                <a:solidFill>
                  <a:srgbClr val="8FA3B8"/>
                </a:solidFill>
                <a:latin typeface="Courier New"/>
              </a:rPr>
              <a:t>&gt;&gt;&gt; </a:t>
            </a:r>
            <a:r>
              <a:rPr sz="1050" b="0" i="0">
                <a:solidFill>
                  <a:srgbClr val="E6EDF3"/>
                </a:solidFill>
                <a:latin typeface="Courier New"/>
              </a:rPr>
              <a:t>conn</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sqlite3</a:t>
            </a:r>
            <a:r>
              <a:rPr sz="1050" b="0" i="0">
                <a:solidFill>
                  <a:srgbClr val="E6EDF3"/>
                </a:solidFill>
                <a:latin typeface="Courier New"/>
              </a:rPr>
              <a:t>.</a:t>
            </a:r>
            <a:r>
              <a:rPr sz="1050" b="0" i="0">
                <a:solidFill>
                  <a:srgbClr val="E6EDF3"/>
                </a:solidFill>
                <a:latin typeface="Courier New"/>
              </a:rPr>
              <a:t>connect</a:t>
            </a:r>
            <a:r>
              <a:rPr sz="1050" b="0" i="0">
                <a:solidFill>
                  <a:srgbClr val="E6EDF3"/>
                </a:solidFill>
                <a:latin typeface="Courier New"/>
              </a:rPr>
              <a:t>(</a:t>
            </a:r>
            <a:r>
              <a:rPr sz="1050" b="0" i="0">
                <a:solidFill>
                  <a:srgbClr val="9BE3A8"/>
                </a:solidFill>
                <a:latin typeface="Courier New"/>
              </a:rPr>
              <a:t>':memory:'</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conn</a:t>
            </a:r>
            <a:r>
              <a:rPr sz="1050" b="0" i="0">
                <a:solidFill>
                  <a:srgbClr val="E6EDF3"/>
                </a:solidFill>
                <a:latin typeface="Courier New"/>
              </a:rPr>
              <a:t>.</a:t>
            </a:r>
            <a:r>
              <a:rPr sz="1050" b="0" i="0">
                <a:solidFill>
                  <a:srgbClr val="E6EDF3"/>
                </a:solidFill>
                <a:latin typeface="Courier New"/>
              </a:rPr>
              <a:t>execute</a:t>
            </a:r>
            <a:r>
              <a:rPr sz="1050" b="0" i="0">
                <a:solidFill>
                  <a:srgbClr val="E6EDF3"/>
                </a:solidFill>
                <a:latin typeface="Courier New"/>
              </a:rPr>
              <a:t>(</a:t>
            </a:r>
            <a:r>
              <a:rPr sz="1050" b="0" i="0">
                <a:solidFill>
                  <a:srgbClr val="9BE3A8"/>
                </a:solidFill>
                <a:latin typeface="Courier New"/>
              </a:rPr>
              <a:t>'CREATE TABLE cats (name TEXT, fur TEXT)'</a:t>
            </a:r>
            <a:r>
              <a:rPr sz="1050" b="0" i="0">
                <a:solidFill>
                  <a:srgbClr val="E6EDF3"/>
                </a:solidFill>
                <a:latin typeface="Courier New"/>
              </a:rPr>
              <a:t>)</a:t>
            </a:r>
          </a:p>
        </p:txBody>
      </p:sp>
      <p:sp>
        <p:nvSpPr>
          <p:cNvPr id="5" name="explanation"/>
          <p:cNvSpPr txBox="1"/>
          <p:nvPr/>
        </p:nvSpPr>
        <p:spPr>
          <a:xfrm>
            <a:off x="5644134" y="786384"/>
            <a:ext cx="3134106" cy="625221"/>
          </a:xfrm>
          <a:prstGeom prst="rect">
            <a:avLst/>
          </a:prstGeom>
          <a:noFill/>
        </p:spPr>
        <p:txBody>
          <a:bodyPr wrap="square" lIns="128016" rIns="128016" tIns="18288" bIns="18288" anchor="ctr">
            <a:spAutoFit/>
          </a:bodyPr>
          <a:lstStyle/>
          <a:p>
            <a:r>
              <a:rPr sz="1200" b="0" i="0">
                <a:solidFill>
                  <a:srgbClr val="1F2933"/>
                </a:solidFill>
                <a:latin typeface="Calibri"/>
              </a:rPr>
              <a:t>A small table of cats, kept in memory.</a:t>
            </a:r>
          </a:p>
        </p:txBody>
      </p:sp>
      <p:sp>
        <p:nvSpPr>
          <p:cNvPr id="6" name="code"/>
          <p:cNvSpPr/>
          <p:nvPr/>
        </p:nvSpPr>
        <p:spPr>
          <a:xfrm>
            <a:off x="365760" y="1457325"/>
            <a:ext cx="5296662"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conn</a:t>
            </a:r>
            <a:r>
              <a:rPr sz="1050" b="0" i="0">
                <a:solidFill>
                  <a:srgbClr val="E6EDF3"/>
                </a:solidFill>
                <a:latin typeface="Courier New"/>
              </a:rPr>
              <a:t>.</a:t>
            </a:r>
            <a:r>
              <a:rPr sz="1050" b="0" i="0">
                <a:solidFill>
                  <a:srgbClr val="E6EDF3"/>
                </a:solidFill>
                <a:latin typeface="Courier New"/>
              </a:rPr>
              <a:t>execute</a:t>
            </a:r>
            <a:r>
              <a:rPr sz="1050" b="0" i="0">
                <a:solidFill>
                  <a:srgbClr val="E6EDF3"/>
                </a:solidFill>
                <a:latin typeface="Courier New"/>
              </a:rPr>
              <a:t>(</a:t>
            </a:r>
            <a:r>
              <a:rPr sz="1050" b="0" i="0">
                <a:solidFill>
                  <a:srgbClr val="9BE3A8"/>
                </a:solidFill>
                <a:latin typeface="Courier New"/>
              </a:rPr>
              <a:t>"INSERT INTO cats VALUES ('Zophie', 'black')"</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rows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9BE3A8"/>
                </a:solidFill>
                <a:latin typeface="Courier New"/>
              </a:rPr>
              <a:t>'Toby'</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'black'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9BE3A8"/>
                </a:solidFill>
                <a:latin typeface="Courier New"/>
              </a:rPr>
              <a:t>'Jacob'</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'orange'</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conn</a:t>
            </a:r>
            <a:r>
              <a:rPr sz="1050" b="0" i="0">
                <a:solidFill>
                  <a:srgbClr val="E6EDF3"/>
                </a:solidFill>
                <a:latin typeface="Courier New"/>
              </a:rPr>
              <a:t>.</a:t>
            </a:r>
            <a:r>
              <a:rPr sz="1050" b="0" i="0">
                <a:solidFill>
                  <a:srgbClr val="E6EDF3"/>
                </a:solidFill>
                <a:latin typeface="Courier New"/>
              </a:rPr>
              <a:t>executemany</a:t>
            </a:r>
            <a:r>
              <a:rPr sz="1050" b="0" i="0">
                <a:solidFill>
                  <a:srgbClr val="E6EDF3"/>
                </a:solidFill>
                <a:latin typeface="Courier New"/>
              </a:rPr>
              <a:t>(</a:t>
            </a:r>
            <a:r>
              <a:rPr sz="1050" b="0" i="0">
                <a:solidFill>
                  <a:srgbClr val="9BE3A8"/>
                </a:solidFill>
                <a:latin typeface="Courier New"/>
              </a:rPr>
              <a:t>'INSERT INTO cats VALUES (?,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rows</a:t>
            </a:r>
            <a:r>
              <a:rPr sz="1050" b="0" i="0">
                <a:solidFill>
                  <a:srgbClr val="E6EDF3"/>
                </a:solidFill>
                <a:latin typeface="Courier New"/>
              </a:rPr>
              <a:t>)</a:t>
            </a:r>
          </a:p>
        </p:txBody>
      </p:sp>
      <p:sp>
        <p:nvSpPr>
          <p:cNvPr id="7" name="explanation"/>
          <p:cNvSpPr txBox="1"/>
          <p:nvPr/>
        </p:nvSpPr>
        <p:spPr>
          <a:xfrm>
            <a:off x="5644134" y="1457325"/>
            <a:ext cx="3134106" cy="890016"/>
          </a:xfrm>
          <a:prstGeom prst="rect">
            <a:avLst/>
          </a:prstGeom>
          <a:noFill/>
        </p:spPr>
        <p:txBody>
          <a:bodyPr wrap="square" lIns="128016" rIns="128016" tIns="18288" bIns="18288" anchor="ctr">
            <a:spAutoFit/>
          </a:bodyPr>
          <a:lstStyle/>
          <a:p>
            <a:r>
              <a:rPr sz="1200" b="0" i="0">
                <a:solidFill>
                  <a:srgbClr val="1F2933"/>
                </a:solidFill>
                <a:latin typeface="Calibri"/>
              </a:rPr>
              <a:t>One row typed into the statement, then two more at once: executemany runs the statement once for each tuple.</a:t>
            </a:r>
          </a:p>
        </p:txBody>
      </p:sp>
      <p:sp>
        <p:nvSpPr>
          <p:cNvPr id="8" name="code"/>
          <p:cNvSpPr/>
          <p:nvPr/>
        </p:nvSpPr>
        <p:spPr>
          <a:xfrm>
            <a:off x="365760" y="2393061"/>
            <a:ext cx="529666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conn</a:t>
            </a:r>
            <a:r>
              <a:rPr sz="1050" b="0" i="0">
                <a:solidFill>
                  <a:srgbClr val="E6EDF3"/>
                </a:solidFill>
                <a:latin typeface="Courier New"/>
              </a:rPr>
              <a:t>.</a:t>
            </a:r>
            <a:r>
              <a:rPr sz="1050" b="0" i="0">
                <a:solidFill>
                  <a:srgbClr val="E6EDF3"/>
                </a:solidFill>
                <a:latin typeface="Courier New"/>
              </a:rPr>
              <a:t>execute</a:t>
            </a:r>
            <a:r>
              <a:rPr sz="1050" b="0" i="0">
                <a:solidFill>
                  <a:srgbClr val="E6EDF3"/>
                </a:solidFill>
                <a:latin typeface="Courier New"/>
              </a:rPr>
              <a:t>(</a:t>
            </a:r>
            <a:r>
              <a:rPr sz="1050" b="0" i="0">
                <a:solidFill>
                  <a:srgbClr val="9BE3A8"/>
                </a:solidFill>
                <a:latin typeface="Courier New"/>
              </a:rPr>
              <a:t>'SELECT rowid, * FROM cats'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fetchall</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conn</a:t>
            </a:r>
            <a:r>
              <a:rPr sz="1050" b="0" i="0">
                <a:solidFill>
                  <a:srgbClr val="E6EDF3"/>
                </a:solidFill>
                <a:latin typeface="Courier New"/>
              </a:rPr>
              <a:t>.</a:t>
            </a:r>
            <a:r>
              <a:rPr sz="1050" b="0" i="0">
                <a:solidFill>
                  <a:srgbClr val="E6EDF3"/>
                </a:solidFill>
                <a:latin typeface="Courier New"/>
              </a:rPr>
              <a:t>execute</a:t>
            </a:r>
            <a:r>
              <a:rPr sz="1050" b="0" i="0">
                <a:solidFill>
                  <a:srgbClr val="E6EDF3"/>
                </a:solidFill>
                <a:latin typeface="Courier New"/>
              </a:rPr>
              <a:t>(</a:t>
            </a:r>
            <a:r>
              <a:rPr sz="1050" b="0" i="0">
                <a:solidFill>
                  <a:srgbClr val="9BE3A8"/>
                </a:solidFill>
                <a:latin typeface="Courier New"/>
              </a:rPr>
              <a:t>'SELECT name FROM cats'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fetchone</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conn</a:t>
            </a:r>
            <a:r>
              <a:rPr sz="1050" b="0" i="0">
                <a:solidFill>
                  <a:srgbClr val="E6EDF3"/>
                </a:solidFill>
                <a:latin typeface="Courier New"/>
              </a:rPr>
              <a:t>.</a:t>
            </a:r>
            <a:r>
              <a:rPr sz="1050" b="0" i="0">
                <a:solidFill>
                  <a:srgbClr val="E6EDF3"/>
                </a:solidFill>
                <a:latin typeface="Courier New"/>
              </a:rPr>
              <a:t>total_changes</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'rows changed so far'</a:t>
            </a:r>
            <a:r>
              <a:rPr sz="1050" b="0" i="0">
                <a:solidFill>
                  <a:srgbClr val="E6EDF3"/>
                </a:solidFill>
                <a:latin typeface="Courier New"/>
              </a:rPr>
              <a:t>)</a:t>
            </a:r>
          </a:p>
        </p:txBody>
      </p:sp>
      <p:sp>
        <p:nvSpPr>
          <p:cNvPr id="9" name="explanation"/>
          <p:cNvSpPr txBox="1"/>
          <p:nvPr/>
        </p:nvSpPr>
        <p:spPr>
          <a:xfrm>
            <a:off x="5644134" y="2393061"/>
            <a:ext cx="3134106" cy="699516"/>
          </a:xfrm>
          <a:prstGeom prst="rect">
            <a:avLst/>
          </a:prstGeom>
          <a:noFill/>
        </p:spPr>
        <p:txBody>
          <a:bodyPr wrap="square" lIns="128016" rIns="128016" tIns="18288" bIns="18288" anchor="ctr">
            <a:spAutoFit/>
          </a:bodyPr>
          <a:lstStyle/>
          <a:p>
            <a:r>
              <a:rPr sz="1200" b="0" i="0">
                <a:solidFill>
                  <a:srgbClr val="1F2933"/>
                </a:solidFill>
                <a:latin typeface="Calibri"/>
              </a:rPr>
              <a:t>fetchall() returns every row as a list of tuples. The hidden column rowid numbers the rows from 1.</a:t>
            </a:r>
          </a:p>
        </p:txBody>
      </p:sp>
      <p:sp>
        <p:nvSpPr>
          <p:cNvPr id="10" name="result label"/>
          <p:cNvSpPr txBox="1"/>
          <p:nvPr/>
        </p:nvSpPr>
        <p:spPr>
          <a:xfrm>
            <a:off x="365760" y="3147441"/>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394329"/>
          <a:ext cx="4206239" cy="1024128"/>
        </p:xfrm>
        <a:graphic>
          <a:graphicData uri="http://schemas.openxmlformats.org/drawingml/2006/table">
            <a:tbl>
              <a:tblPr firstRow="0" bandRow="0"/>
              <a:tblGrid>
                <a:gridCol w="989703"/>
                <a:gridCol w="1731981"/>
                <a:gridCol w="1484555"/>
              </a:tblGrid>
              <a:tr h="256032">
                <a:tc>
                  <a:txBody>
                    <a:bodyPr wrap="square"/>
                    <a:lstStyle/>
                    <a:p>
                      <a:r>
                        <a:rPr sz="1050" b="1" i="0">
                          <a:solidFill>
                            <a:srgbClr val="FFFFFF"/>
                          </a:solidFill>
                          <a:latin typeface="Calibri"/>
                        </a:rPr>
                        <a:t>rowid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fur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56032">
                <a:tc>
                  <a:txBody>
                    <a:bodyPr wrap="square"/>
                    <a:lstStyle/>
                    <a:p>
                      <a:r>
                        <a:rPr sz="1050" b="1"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6032">
                <a:tc>
                  <a:txBody>
                    <a:bodyPr wrap="square"/>
                    <a:lstStyle/>
                    <a:p>
                      <a:r>
                        <a:rPr sz="1050" b="1"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Toby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56032">
                <a:tc>
                  <a:txBody>
                    <a:bodyPr wrap="square"/>
                    <a:lstStyle/>
                    <a:p>
                      <a:r>
                        <a:rPr sz="1050" b="1"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Jacob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orange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2" name="Rounded Rectangle 11"/>
          <p:cNvSpPr/>
          <p:nvPr/>
        </p:nvSpPr>
        <p:spPr>
          <a:xfrm>
            <a:off x="5076748" y="3394329"/>
            <a:ext cx="3701491" cy="310896"/>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executemany: 2 tuples, 2 rows</a:t>
            </a:r>
          </a:p>
        </p:txBody>
      </p:sp>
      <p:sp>
        <p:nvSpPr>
          <p:cNvPr id="13" name="Rounded Rectangle 12"/>
          <p:cNvSpPr/>
          <p:nvPr/>
        </p:nvSpPr>
        <p:spPr>
          <a:xfrm>
            <a:off x="5076748" y="3778377"/>
            <a:ext cx="3701491" cy="310896"/>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fetchone() gives the first row: ('Zophie',)</a:t>
            </a:r>
          </a:p>
        </p:txBody>
      </p:sp>
      <p:sp>
        <p:nvSpPr>
          <p:cNvPr id="14" name="Rounded Rectangle 13"/>
          <p:cNvSpPr/>
          <p:nvPr/>
        </p:nvSpPr>
        <p:spPr>
          <a:xfrm>
            <a:off x="5076748" y="4162424"/>
            <a:ext cx="3701491" cy="310896"/>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3 rows changed so far</a:t>
            </a:r>
          </a:p>
        </p:txBody>
      </p:sp>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executemany runs one statement for many rows.</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13 / 54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A primary key can be the rowid, and a rowid can be reused</a:t>
            </a:r>
          </a:p>
        </p:txBody>
      </p:sp>
      <p:sp>
        <p:nvSpPr>
          <p:cNvPr id="4" name="code"/>
          <p:cNvSpPr/>
          <p:nvPr/>
        </p:nvSpPr>
        <p:spPr>
          <a:xfrm>
            <a:off x="365760" y="786384"/>
            <a:ext cx="5361431" cy="9118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isolation_level</a:t>
            </a:r>
            <a:r>
              <a:rPr sz="1000" b="0" i="0">
                <a:solidFill>
                  <a:srgbClr val="E6EDF3"/>
                </a:solidFill>
                <a:latin typeface="Courier New"/>
              </a:rPr>
              <a:t>=</a:t>
            </a:r>
            <a:r>
              <a:rPr sz="1000" b="0" i="0">
                <a:solidFill>
                  <a:srgbClr val="E6EDF3"/>
                </a:solidFill>
                <a:latin typeface="Courier New"/>
              </a:rPr>
              <a:t>None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TABLE t (id INTEGER PRIMARY KEY, v TEXT)'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executemany</a:t>
            </a:r>
            <a:r>
              <a:rPr sz="1000" b="0" i="0">
                <a:solidFill>
                  <a:srgbClr val="E6EDF3"/>
                </a:solidFill>
                <a:latin typeface="Courier New"/>
              </a:rPr>
              <a:t>(</a:t>
            </a:r>
            <a:r>
              <a:rPr sz="1000" b="0" i="0">
                <a:solidFill>
                  <a:srgbClr val="9BE3A8"/>
                </a:solidFill>
                <a:latin typeface="Courier New"/>
              </a:rPr>
              <a:t>'INSERT INTO t (v) VALUES (?)'</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9BE3A8"/>
                </a:solidFill>
                <a:latin typeface="Courier New"/>
              </a:rPr>
              <a:t>'a'</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'b'</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'c'</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5708904" y="786384"/>
            <a:ext cx="3069336" cy="911859"/>
          </a:xfrm>
          <a:prstGeom prst="rect">
            <a:avLst/>
          </a:prstGeom>
          <a:noFill/>
        </p:spPr>
        <p:txBody>
          <a:bodyPr wrap="square" lIns="128016" rIns="128016" tIns="18288" bIns="18288" anchor="ctr">
            <a:spAutoFit/>
          </a:bodyPr>
          <a:lstStyle/>
          <a:p>
            <a:r>
              <a:rPr sz="1100" b="0" i="0">
                <a:solidFill>
                  <a:srgbClr val="1F2933"/>
                </a:solidFill>
                <a:latin typeface="Calibri"/>
              </a:rPr>
              <a:t>An INTEGER PRIMARY KEY column is another name for the rowid. SQLite numbers new rows itself.</a:t>
            </a:r>
          </a:p>
        </p:txBody>
      </p:sp>
      <p:sp>
        <p:nvSpPr>
          <p:cNvPr id="6" name="code"/>
          <p:cNvSpPr/>
          <p:nvPr/>
        </p:nvSpPr>
        <p:spPr>
          <a:xfrm>
            <a:off x="365760" y="1743963"/>
            <a:ext cx="53614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'SELECT rowid, id, v FROM 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'DELETE FROM t WHERE id = 3'</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"INSERT INTO t (v) VALUES ('d')"</a:t>
            </a:r>
            <a:r>
              <a:rPr sz="1000" b="0" i="0">
                <a:solidFill>
                  <a:srgbClr val="E6EDF3"/>
                </a:solidFill>
                <a:latin typeface="Courier New"/>
              </a:rPr>
              <a:t>)</a:t>
            </a:r>
          </a:p>
        </p:txBody>
      </p:sp>
      <p:sp>
        <p:nvSpPr>
          <p:cNvPr id="7" name="explanation"/>
          <p:cNvSpPr txBox="1"/>
          <p:nvPr/>
        </p:nvSpPr>
        <p:spPr>
          <a:xfrm>
            <a:off x="5708904" y="1743963"/>
            <a:ext cx="3069336" cy="651891"/>
          </a:xfrm>
          <a:prstGeom prst="rect">
            <a:avLst/>
          </a:prstGeom>
          <a:noFill/>
        </p:spPr>
        <p:txBody>
          <a:bodyPr wrap="square" lIns="128016" rIns="128016" tIns="18288" bIns="18288" anchor="ctr">
            <a:spAutoFit/>
          </a:bodyPr>
          <a:lstStyle/>
          <a:p>
            <a:r>
              <a:rPr sz="1100" b="0" i="0">
                <a:solidFill>
                  <a:srgbClr val="1F2933"/>
                </a:solidFill>
                <a:latin typeface="Calibri"/>
              </a:rPr>
              <a:t>rowid and id are the same number. Row 3 is deleted, and then a new row is added.</a:t>
            </a:r>
          </a:p>
        </p:txBody>
      </p:sp>
      <p:sp>
        <p:nvSpPr>
          <p:cNvPr id="8" name="code"/>
          <p:cNvSpPr/>
          <p:nvPr/>
        </p:nvSpPr>
        <p:spPr>
          <a:xfrm>
            <a:off x="365760" y="2441574"/>
            <a:ext cx="53614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'SELECT id, v FROM 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last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'SELECT last_insert_rowid()'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fetchone</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'last id:'</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last</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708904" y="2441574"/>
            <a:ext cx="3069336" cy="651891"/>
          </a:xfrm>
          <a:prstGeom prst="rect">
            <a:avLst/>
          </a:prstGeom>
          <a:noFill/>
        </p:spPr>
        <p:txBody>
          <a:bodyPr wrap="square" lIns="128016" rIns="128016" tIns="18288" bIns="18288" anchor="ctr">
            <a:spAutoFit/>
          </a:bodyPr>
          <a:lstStyle/>
          <a:p>
            <a:r>
              <a:rPr sz="1100" b="0" i="0">
                <a:solidFill>
                  <a:srgbClr val="1F2933"/>
                </a:solidFill>
                <a:latin typeface="Calibri"/>
              </a:rPr>
              <a:t>The new row took number 3 again. Without AUTOINCREMENT, SQLite may reuse the largest number that was freed.</a:t>
            </a:r>
          </a:p>
        </p:txBody>
      </p:sp>
      <p:sp>
        <p:nvSpPr>
          <p:cNvPr id="10" name="result label"/>
          <p:cNvSpPr txBox="1"/>
          <p:nvPr/>
        </p:nvSpPr>
        <p:spPr>
          <a:xfrm>
            <a:off x="365760" y="314833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395218"/>
            <a:ext cx="3364991" cy="201168"/>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i="0">
                <a:solidFill>
                  <a:srgbClr val="1F2933"/>
                </a:solidFill>
                <a:latin typeface="Calibri"/>
              </a:rPr>
              <a:t>before</a:t>
            </a:r>
          </a:p>
        </p:txBody>
      </p:sp>
      <p:graphicFrame>
        <p:nvGraphicFramePr>
          <p:cNvPr id="12" name="table"/>
          <p:cNvGraphicFramePr>
            <a:graphicFrameLocks noGrp="1"/>
          </p:cNvGraphicFramePr>
          <p:nvPr/>
        </p:nvGraphicFramePr>
        <p:xfrm>
          <a:off x="365760" y="3632962"/>
          <a:ext cx="3364991" cy="877824"/>
        </p:xfrm>
        <a:graphic>
          <a:graphicData uri="http://schemas.openxmlformats.org/drawingml/2006/table">
            <a:tbl>
              <a:tblPr firstRow="0" bandRow="0"/>
              <a:tblGrid>
                <a:gridCol w="961426"/>
                <a:gridCol w="961426"/>
                <a:gridCol w="1442139"/>
              </a:tblGrid>
              <a:tr h="219456">
                <a:tc>
                  <a:txBody>
                    <a:bodyPr wrap="square"/>
                    <a:lstStyle/>
                    <a:p>
                      <a:r>
                        <a:rPr sz="1000" b="1" i="0">
                          <a:solidFill>
                            <a:srgbClr val="FFFFFF"/>
                          </a:solidFill>
                          <a:latin typeface="Calibri"/>
                        </a:rPr>
                        <a:t>rowid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9456">
                <a:tc>
                  <a:txBody>
                    <a:bodyPr wrap="square"/>
                    <a:lstStyle/>
                    <a:p>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9456">
                <a:tc>
                  <a:txBody>
                    <a:bodyPr wrap="square"/>
                    <a:lstStyle/>
                    <a:p>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cxnSp>
        <p:nvCxnSpPr>
          <p:cNvPr id="13" name="arrow"/>
          <p:cNvCxnSpPr/>
          <p:nvPr/>
        </p:nvCxnSpPr>
        <p:spPr>
          <a:xfrm>
            <a:off x="3983126" y="4081018"/>
            <a:ext cx="757123" cy="0"/>
          </a:xfrm>
          <a:prstGeom prst="line">
            <a:avLst/>
          </a:prstGeom>
          <a:ln w="2032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235500" y="3760978"/>
            <a:ext cx="925372" cy="2743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DELETE 3</a:t>
            </a:r>
          </a:p>
          <a:p>
            <a:pPr algn="ctr"/>
            <a:r>
              <a:rPr sz="800" b="0" i="0">
                <a:solidFill>
                  <a:srgbClr val="1F2933"/>
                </a:solidFill>
                <a:latin typeface="Calibri"/>
              </a:rPr>
              <a:t>INSERT d</a:t>
            </a:r>
          </a:p>
        </p:txBody>
      </p:sp>
      <p:sp>
        <p:nvSpPr>
          <p:cNvPr id="15" name="Rounded Rectangle 14"/>
          <p:cNvSpPr/>
          <p:nvPr/>
        </p:nvSpPr>
        <p:spPr>
          <a:xfrm>
            <a:off x="5244998" y="3395218"/>
            <a:ext cx="2523744" cy="201168"/>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i="0">
                <a:solidFill>
                  <a:srgbClr val="1F2933"/>
                </a:solidFill>
                <a:latin typeface="Calibri"/>
              </a:rPr>
              <a:t>after</a:t>
            </a:r>
          </a:p>
        </p:txBody>
      </p:sp>
      <p:graphicFrame>
        <p:nvGraphicFramePr>
          <p:cNvPr id="16" name="table"/>
          <p:cNvGraphicFramePr>
            <a:graphicFrameLocks noGrp="1"/>
          </p:cNvGraphicFramePr>
          <p:nvPr/>
        </p:nvGraphicFramePr>
        <p:xfrm>
          <a:off x="5244998" y="3632962"/>
          <a:ext cx="2523743" cy="877824"/>
        </p:xfrm>
        <a:graphic>
          <a:graphicData uri="http://schemas.openxmlformats.org/drawingml/2006/table">
            <a:tbl>
              <a:tblPr firstRow="0" bandRow="0"/>
              <a:tblGrid>
                <a:gridCol w="1009497"/>
                <a:gridCol w="1514246"/>
              </a:tblGrid>
              <a:tr h="219456">
                <a:tc>
                  <a:txBody>
                    <a:bodyPr wrap="square"/>
                    <a:lstStyle/>
                    <a:p>
                      <a:r>
                        <a:rPr sz="1000" b="1" i="0">
                          <a:solidFill>
                            <a:srgbClr val="FFFFFF"/>
                          </a:solidFill>
                          <a:latin typeface="Calibri"/>
                        </a:rPr>
                        <a:t>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9456">
                <a:tc>
                  <a:txBody>
                    <a:bodyPr wrap="square"/>
                    <a:lstStyle/>
                    <a:p>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9456">
                <a:tc>
                  <a:txBody>
                    <a:bodyPr wrap="square"/>
                    <a:lstStyle/>
                    <a:p>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00" b="0" i="0">
                          <a:solidFill>
                            <a:srgbClr val="1F2933"/>
                          </a:solidFill>
                          <a:latin typeface="Courier New"/>
                        </a:rPr>
                        <a:t>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sp>
        <p:nvSpPr>
          <p:cNvPr id="17" name="visual note"/>
          <p:cNvSpPr txBox="1"/>
          <p:nvPr/>
        </p:nvSpPr>
        <p:spPr>
          <a:xfrm>
            <a:off x="5244998" y="4547362"/>
            <a:ext cx="3533241" cy="219456"/>
          </a:xfrm>
          <a:prstGeom prst="rect">
            <a:avLst/>
          </a:prstGeom>
          <a:noFill/>
        </p:spPr>
        <p:txBody>
          <a:bodyPr wrap="square" lIns="45720" rIns="45720" tIns="27432" bIns="27432" anchor="t">
            <a:spAutoFit/>
          </a:bodyPr>
          <a:lstStyle/>
          <a:p>
            <a:r>
              <a:rPr sz="900" b="0" i="1">
                <a:solidFill>
                  <a:srgbClr val="5B6773"/>
                </a:solidFill>
                <a:latin typeface="Calibri"/>
              </a:rPr>
              <a:t>last id: 3: the number 3 was handed out again</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freed rowid can be handed out again.</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14 / 54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400" b="1" i="0">
                <a:solidFill>
                  <a:srgbClr val="1F2933"/>
                </a:solidFill>
                <a:latin typeface="Calibri"/>
              </a:rPr>
              <a:t>Part 2: Reading, changing and safe values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Ask precisely, change rows, keep values out of the SQL</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WHERE, ORDER BY</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Choose and sort the rows you want.</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NULL</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Not a value: no value is known.</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Placeholder</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slot that is filled with data, never with code.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SQL injection</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Text that rewrites the query it was pasted into.</a:t>
            </a:r>
          </a:p>
        </p:txBody>
      </p:sp>
      <p:graphicFrame>
        <p:nvGraphicFramePr>
          <p:cNvPr id="13" name="table"/>
          <p:cNvGraphicFramePr>
            <a:graphicFrameLocks noGrp="1"/>
          </p:cNvGraphicFramePr>
          <p:nvPr/>
        </p:nvGraphicFramePr>
        <p:xfrm>
          <a:off x="5303520" y="1417320"/>
          <a:ext cx="3474719" cy="3200395"/>
        </p:xfrm>
        <a:graphic>
          <a:graphicData uri="http://schemas.openxmlformats.org/drawingml/2006/table">
            <a:tbl>
              <a:tblPr firstRow="0" bandRow="0"/>
              <a:tblGrid>
                <a:gridCol w="507543"/>
                <a:gridCol w="2967176"/>
              </a:tblGrid>
              <a:tr h="290945">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0945">
                <a:tc>
                  <a:txBody>
                    <a:bodyPr wrap="square"/>
                    <a:lstStyle/>
                    <a:p>
                      <a:r>
                        <a:rPr sz="1000" b="0" i="0">
                          <a:solidFill>
                            <a:srgbClr val="1F2933"/>
                          </a:solidFill>
                          <a:latin typeface="Calibri"/>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create and read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WHERE, ORDER BY and LIMIT narrow a 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asking precisely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LIKE ignores case, GLOB does not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NULL is not a value: = NULL finds 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Everyday pictures: changing rows safely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UPDATE and DELETE change many rows; RETUR...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Placeholders: ? by position, :name by 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24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Pasting a value into SQL lets the value 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Story: a 2007 webcomic made Little Bobby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15 / 54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create and read</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CRUD is like a shop ledger: write a line, read a line, correct a line, cross a line out.</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CRUD Database Operations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Write, read, correct, cross out: the four things you do to a ledger.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Inserting Data into the Database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Writing new lines at the end of the ledger.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INSERT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pen: one new 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Reading Data from the Database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Looking up lines without changing them.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SELECT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question you ask the ledger.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fetchall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Taking every answer home on one tray.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fetchone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Taking only the first answer.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16 / 54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WHERE, ORDER BY and LIMIT narrow a result</a:t>
            </a:r>
          </a:p>
        </p:txBody>
      </p:sp>
      <p:sp>
        <p:nvSpPr>
          <p:cNvPr id="4" name="code"/>
          <p:cNvSpPr/>
          <p:nvPr/>
        </p:nvSpPr>
        <p:spPr>
          <a:xfrm>
            <a:off x="365760" y="786384"/>
            <a:ext cx="5033772" cy="87312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sqlite3</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sqlite3</a:t>
            </a:r>
            <a:r>
              <a:rPr sz="950" b="0" i="0">
                <a:solidFill>
                  <a:srgbClr val="E6EDF3"/>
                </a:solidFill>
                <a:latin typeface="Courier New"/>
              </a:rPr>
              <a:t>.</a:t>
            </a:r>
            <a:r>
              <a:rPr sz="950" b="0" i="0">
                <a:solidFill>
                  <a:srgbClr val="E6EDF3"/>
                </a:solidFill>
                <a:latin typeface="Courier New"/>
              </a:rPr>
              <a:t>connect</a:t>
            </a:r>
            <a:r>
              <a:rPr sz="950" b="0" i="0">
                <a:solidFill>
                  <a:srgbClr val="E6EDF3"/>
                </a:solidFill>
                <a:latin typeface="Courier New"/>
              </a:rPr>
              <a:t>(</a:t>
            </a:r>
            <a:r>
              <a:rPr sz="950" b="0" i="0">
                <a:solidFill>
                  <a:srgbClr val="9BE3A8"/>
                </a:solidFill>
                <a:latin typeface="Courier New"/>
              </a:rPr>
              <a:t>':memory:'</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'CREATE TABLE cats (name, fur, kg)'</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data</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9BE3A8"/>
                </a:solidFill>
                <a:latin typeface="Courier New"/>
              </a:rPr>
              <a:t>'Zophie'</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'black'</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5.6</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'Miguel'</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'siamese'</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6.2</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'Toby'</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'black'</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4.1</a:t>
            </a:r>
            <a:r>
              <a:rPr sz="950" b="0" i="0">
                <a:solidFill>
                  <a:srgbClr val="E6EDF3"/>
                </a:solidFill>
                <a:latin typeface="Courier New"/>
              </a:rPr>
              <a:t>)</a:t>
            </a:r>
            <a:r>
              <a:rPr sz="950" b="0" i="0">
                <a:solidFill>
                  <a:srgbClr val="E6EDF3"/>
                </a:solidFill>
                <a:latin typeface="Courier New"/>
              </a:rPr>
              <a:t>]</a:t>
            </a:r>
          </a:p>
        </p:txBody>
      </p:sp>
      <p:sp>
        <p:nvSpPr>
          <p:cNvPr id="5" name="explanation"/>
          <p:cNvSpPr txBox="1"/>
          <p:nvPr/>
        </p:nvSpPr>
        <p:spPr>
          <a:xfrm>
            <a:off x="5381244" y="786384"/>
            <a:ext cx="3396995" cy="873125"/>
          </a:xfrm>
          <a:prstGeom prst="rect">
            <a:avLst/>
          </a:prstGeom>
          <a:noFill/>
        </p:spPr>
        <p:txBody>
          <a:bodyPr wrap="square" lIns="128016" rIns="128016" tIns="18288" bIns="18288" anchor="ctr">
            <a:spAutoFit/>
          </a:bodyPr>
          <a:lstStyle/>
          <a:p>
            <a:r>
              <a:rPr sz="1100" b="0" i="0">
                <a:solidFill>
                  <a:srgbClr val="1F2933"/>
                </a:solidFill>
                <a:latin typeface="Calibri"/>
              </a:rPr>
              <a:t>Three cats with a fur colour and a weight in kilograms.</a:t>
            </a:r>
          </a:p>
        </p:txBody>
      </p:sp>
      <p:sp>
        <p:nvSpPr>
          <p:cNvPr id="6" name="code"/>
          <p:cNvSpPr/>
          <p:nvPr/>
        </p:nvSpPr>
        <p:spPr>
          <a:xfrm>
            <a:off x="365760" y="1705228"/>
            <a:ext cx="503377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executemany</a:t>
            </a:r>
            <a:r>
              <a:rPr sz="950" b="0" i="0">
                <a:solidFill>
                  <a:srgbClr val="E6EDF3"/>
                </a:solidFill>
                <a:latin typeface="Courier New"/>
              </a:rPr>
              <a:t>(</a:t>
            </a:r>
            <a:r>
              <a:rPr sz="950" b="0" i="0">
                <a:solidFill>
                  <a:srgbClr val="9BE3A8"/>
                </a:solidFill>
                <a:latin typeface="Courier New"/>
              </a:rPr>
              <a:t>'INSERT INTO cats VALUES (?, ?,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data</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q</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'SELECT name, kg FROM cats WHERE fur = ? ORDER BY kg DESC'</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E6EDF3"/>
                </a:solidFill>
                <a:latin typeface="Courier New"/>
              </a:rPr>
              <a:t>q</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'black'</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fetchall</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7" name="explanation"/>
          <p:cNvSpPr txBox="1"/>
          <p:nvPr/>
        </p:nvSpPr>
        <p:spPr>
          <a:xfrm>
            <a:off x="5381244" y="1705228"/>
            <a:ext cx="3396995" cy="651891"/>
          </a:xfrm>
          <a:prstGeom prst="rect">
            <a:avLst/>
          </a:prstGeom>
          <a:noFill/>
        </p:spPr>
        <p:txBody>
          <a:bodyPr wrap="square" lIns="128016" rIns="128016" tIns="18288" bIns="18288" anchor="ctr">
            <a:spAutoFit/>
          </a:bodyPr>
          <a:lstStyle/>
          <a:p>
            <a:r>
              <a:rPr sz="1100" b="0" i="0">
                <a:solidFill>
                  <a:srgbClr val="1F2933"/>
                </a:solidFill>
                <a:latin typeface="Calibri"/>
              </a:rPr>
              <a:t>The WHERE clause keeps only the black cats. ORDER BY kg DESC puts the heaviest first. The ? is filled from the tuple.</a:t>
            </a:r>
          </a:p>
        </p:txBody>
      </p:sp>
      <p:sp>
        <p:nvSpPr>
          <p:cNvPr id="8" name="code"/>
          <p:cNvSpPr/>
          <p:nvPr/>
        </p:nvSpPr>
        <p:spPr>
          <a:xfrm>
            <a:off x="365760" y="2402839"/>
            <a:ext cx="5033772"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q</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'SELECT name FROM cats ORDER BY kg DESC LIMIT 2'</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E6EDF3"/>
                </a:solidFill>
                <a:latin typeface="Courier New"/>
              </a:rPr>
              <a:t>q</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fetchall</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9" name="explanation"/>
          <p:cNvSpPr txBox="1"/>
          <p:nvPr/>
        </p:nvSpPr>
        <p:spPr>
          <a:xfrm>
            <a:off x="5381244" y="2402839"/>
            <a:ext cx="3396995" cy="477266"/>
          </a:xfrm>
          <a:prstGeom prst="rect">
            <a:avLst/>
          </a:prstGeom>
          <a:noFill/>
        </p:spPr>
        <p:txBody>
          <a:bodyPr wrap="square" lIns="128016" rIns="128016" tIns="18288" bIns="18288" anchor="ctr">
            <a:spAutoFit/>
          </a:bodyPr>
          <a:lstStyle/>
          <a:p>
            <a:r>
              <a:rPr sz="1100" b="0" i="0">
                <a:solidFill>
                  <a:srgbClr val="1F2933"/>
                </a:solidFill>
                <a:latin typeface="Calibri"/>
              </a:rPr>
              <a:t>LIMIT 2 stops after two rows: here the two heaviest cats of all three.</a:t>
            </a:r>
          </a:p>
        </p:txBody>
      </p:sp>
      <p:sp>
        <p:nvSpPr>
          <p:cNvPr id="10" name="result label"/>
          <p:cNvSpPr txBox="1"/>
          <p:nvPr/>
        </p:nvSpPr>
        <p:spPr>
          <a:xfrm>
            <a:off x="365760" y="293497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3136138"/>
          <a:ext cx="3869740" cy="1545590"/>
        </p:xfrm>
        <a:graphic>
          <a:graphicData uri="http://schemas.openxmlformats.org/drawingml/2006/chart">
            <c:chart xmlns:c="http://schemas.openxmlformats.org/drawingml/2006/chart" r:id="rId3"/>
          </a:graphicData>
        </a:graphic>
      </p:graphicFrame>
      <p:graphicFrame>
        <p:nvGraphicFramePr>
          <p:cNvPr id="12" name="table"/>
          <p:cNvGraphicFramePr>
            <a:graphicFrameLocks noGrp="1"/>
          </p:cNvGraphicFramePr>
          <p:nvPr/>
        </p:nvGraphicFramePr>
        <p:xfrm>
          <a:off x="4572000" y="3181858"/>
          <a:ext cx="4206240" cy="1152144"/>
        </p:xfrm>
        <a:graphic>
          <a:graphicData uri="http://schemas.openxmlformats.org/drawingml/2006/table">
            <a:tbl>
              <a:tblPr firstRow="0" bandRow="0"/>
              <a:tblGrid>
                <a:gridCol w="2103120"/>
                <a:gridCol w="2103120"/>
              </a:tblGrid>
              <a:tr h="384048">
                <a:tc>
                  <a:txBody>
                    <a:bodyPr wrap="square"/>
                    <a:lstStyle/>
                    <a:p>
                      <a:r>
                        <a:rPr sz="950" b="1" i="0">
                          <a:solidFill>
                            <a:srgbClr val="FFFFFF"/>
                          </a:solidFill>
                          <a:latin typeface="Calibri"/>
                        </a:rPr>
                        <a:t>Query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Rows returned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4048">
                <a:tc>
                  <a:txBody>
                    <a:bodyPr wrap="square"/>
                    <a:lstStyle/>
                    <a:p>
                      <a:r>
                        <a:rPr sz="950" b="0" i="0">
                          <a:solidFill>
                            <a:srgbClr val="1F2933"/>
                          </a:solidFill>
                          <a:latin typeface="Courier New"/>
                        </a:rPr>
                        <a:t>WHERE fur = 'black' ORDER BY kg DESC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[('Zophie', 5.6), ('Toby', 4.1)]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384048">
                <a:tc>
                  <a:txBody>
                    <a:bodyPr wrap="square"/>
                    <a:lstStyle/>
                    <a:p>
                      <a:r>
                        <a:rPr sz="950" b="0" i="0">
                          <a:solidFill>
                            <a:srgbClr val="1F2933"/>
                          </a:solidFill>
                          <a:latin typeface="Courier New"/>
                        </a:rPr>
                        <a:t>ORDER BY kg DESC LIMIT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[('Miguel',), ('Zophie',)]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3" name="visual note"/>
          <p:cNvSpPr txBox="1"/>
          <p:nvPr/>
        </p:nvSpPr>
        <p:spPr>
          <a:xfrm>
            <a:off x="4572000" y="4370578"/>
            <a:ext cx="4206240" cy="219456"/>
          </a:xfrm>
          <a:prstGeom prst="rect">
            <a:avLst/>
          </a:prstGeom>
          <a:noFill/>
        </p:spPr>
        <p:txBody>
          <a:bodyPr wrap="square" lIns="45720" rIns="45720" tIns="27432" bIns="27432" anchor="t">
            <a:spAutoFit/>
          </a:bodyPr>
          <a:lstStyle/>
          <a:p>
            <a:r>
              <a:rPr sz="900" b="0" i="1">
                <a:solidFill>
                  <a:srgbClr val="5B6773"/>
                </a:solidFill>
                <a:latin typeface="Calibri"/>
              </a:rPr>
              <a:t>chart: the weights in kg that both queries work on, heaviest first</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Filter first, then order, then limit.</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17 / 54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asking precisely</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query is like an order at a deli: which cheese, in which order, how many slices.</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WHERE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Which cheese: only the lines that fit the rule.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ORDER BY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Heaviest first, or oldest first.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LIMIT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Only the first two slices.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LIKE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search that does not care about capital letters.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GLOB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search that does: Zo is not zo.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Parameter placeholder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An empty slot on the order slip, filled in at the counter.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execute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Handing one order slip to the counter.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18 / 54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LIKE ignores case, GLOB does not</a:t>
            </a:r>
          </a:p>
        </p:txBody>
      </p:sp>
      <p:sp>
        <p:nvSpPr>
          <p:cNvPr id="4" name="code"/>
          <p:cNvSpPr/>
          <p:nvPr/>
        </p:nvSpPr>
        <p:spPr>
          <a:xfrm>
            <a:off x="365760" y="786384"/>
            <a:ext cx="50566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q</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lambda</a:t>
            </a:r>
            <a:r>
              <a:rPr sz="1000" b="0" i="0">
                <a:solidFill>
                  <a:srgbClr val="E6EDF3"/>
                </a:solidFill>
                <a:latin typeface="Courier New"/>
              </a:rPr>
              <a:t> </a:t>
            </a:r>
            <a:r>
              <a:rPr sz="1000" b="0" i="0">
                <a:solidFill>
                  <a:srgbClr val="E6EDF3"/>
                </a:solidFill>
                <a:latin typeface="Courier New"/>
              </a:rPr>
              <a:t>sql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E6EDF3"/>
                </a:solidFill>
                <a:latin typeface="Courier New"/>
              </a:rPr>
              <a:t>sql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5404104" y="786384"/>
            <a:ext cx="3374136" cy="651891"/>
          </a:xfrm>
          <a:prstGeom prst="rect">
            <a:avLst/>
          </a:prstGeom>
          <a:noFill/>
        </p:spPr>
        <p:txBody>
          <a:bodyPr wrap="square" lIns="128016" rIns="128016" tIns="18288" bIns="18288" anchor="ctr">
            <a:spAutoFit/>
          </a:bodyPr>
          <a:lstStyle/>
          <a:p>
            <a:r>
              <a:rPr sz="1100" b="0" i="0">
                <a:solidFill>
                  <a:srgbClr val="1F2933"/>
                </a:solidFill>
                <a:latin typeface="Calibri"/>
              </a:rPr>
              <a:t>A helper that runs a statement and returns its rows, so that each line below stays short.</a:t>
            </a:r>
          </a:p>
        </p:txBody>
      </p:sp>
      <p:sp>
        <p:nvSpPr>
          <p:cNvPr id="6" name="code"/>
          <p:cNvSpPr/>
          <p:nvPr/>
        </p:nvSpPr>
        <p:spPr>
          <a:xfrm>
            <a:off x="365760" y="1483995"/>
            <a:ext cx="50566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q</a:t>
            </a:r>
            <a:r>
              <a:rPr sz="1000" b="0" i="0">
                <a:solidFill>
                  <a:srgbClr val="E6EDF3"/>
                </a:solidFill>
                <a:latin typeface="Courier New"/>
              </a:rPr>
              <a:t>(</a:t>
            </a:r>
            <a:r>
              <a:rPr sz="1000" b="0" i="0">
                <a:solidFill>
                  <a:srgbClr val="9BE3A8"/>
                </a:solidFill>
                <a:latin typeface="Courier New"/>
              </a:rPr>
              <a:t>"SELECT 'Zophie' LIKE 'zo%', 'Zophie' GLOB 'zo*'"</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q</a:t>
            </a:r>
            <a:r>
              <a:rPr sz="1000" b="0" i="0">
                <a:solidFill>
                  <a:srgbClr val="E6EDF3"/>
                </a:solidFill>
                <a:latin typeface="Courier New"/>
              </a:rPr>
              <a:t>(</a:t>
            </a:r>
            <a:r>
              <a:rPr sz="1000" b="0" i="0">
                <a:solidFill>
                  <a:srgbClr val="9BE3A8"/>
                </a:solidFill>
                <a:latin typeface="Courier New"/>
              </a:rPr>
              <a:t>"SELECT 'Zophie' LIKE 'Zo%', 'Zophie' GLOB 'Zo*'"</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404104" y="1483995"/>
            <a:ext cx="3374136" cy="651891"/>
          </a:xfrm>
          <a:prstGeom prst="rect">
            <a:avLst/>
          </a:prstGeom>
          <a:noFill/>
        </p:spPr>
        <p:txBody>
          <a:bodyPr wrap="square" lIns="128016" rIns="128016" tIns="18288" bIns="18288" anchor="ctr">
            <a:spAutoFit/>
          </a:bodyPr>
          <a:lstStyle/>
          <a:p>
            <a:r>
              <a:rPr sz="1100" b="0" i="0">
                <a:solidFill>
                  <a:srgbClr val="1F2933"/>
                </a:solidFill>
                <a:latin typeface="Calibri"/>
              </a:rPr>
              <a:t>1 means a match, 0 none. LIKE matches in any case with % as the wildcard. GLOB is case sensitive and uses * and ?.</a:t>
            </a:r>
          </a:p>
        </p:txBody>
      </p:sp>
      <p:sp>
        <p:nvSpPr>
          <p:cNvPr id="8" name="code"/>
          <p:cNvSpPr/>
          <p:nvPr/>
        </p:nvSpPr>
        <p:spPr>
          <a:xfrm>
            <a:off x="365760" y="2181606"/>
            <a:ext cx="5056631"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q</a:t>
            </a:r>
            <a:r>
              <a:rPr sz="1000" b="0" i="0">
                <a:solidFill>
                  <a:srgbClr val="E6EDF3"/>
                </a:solidFill>
                <a:latin typeface="Courier New"/>
              </a:rPr>
              <a:t>(</a:t>
            </a:r>
            <a:r>
              <a:rPr sz="1000" b="0" i="0">
                <a:solidFill>
                  <a:srgbClr val="9BE3A8"/>
                </a:solidFill>
                <a:latin typeface="Courier New"/>
              </a:rPr>
              <a:t>"SELECT 'a' LIKE 'A', 'é' LIKE 'É'"</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404104" y="2181606"/>
            <a:ext cx="3374136" cy="477266"/>
          </a:xfrm>
          <a:prstGeom prst="rect">
            <a:avLst/>
          </a:prstGeom>
          <a:noFill/>
        </p:spPr>
        <p:txBody>
          <a:bodyPr wrap="square" lIns="128016" rIns="128016" tIns="18288" bIns="18288" anchor="ctr">
            <a:spAutoFit/>
          </a:bodyPr>
          <a:lstStyle/>
          <a:p>
            <a:r>
              <a:rPr sz="1100" b="0" i="0">
                <a:solidFill>
                  <a:srgbClr val="1F2933"/>
                </a:solidFill>
                <a:latin typeface="Calibri"/>
              </a:rPr>
              <a:t>LIKE ignores case for the 26 ASCII letters only. For é and É it finds no match.</a:t>
            </a:r>
          </a:p>
        </p:txBody>
      </p:sp>
      <p:sp>
        <p:nvSpPr>
          <p:cNvPr id="10" name="result label"/>
          <p:cNvSpPr txBox="1"/>
          <p:nvPr/>
        </p:nvSpPr>
        <p:spPr>
          <a:xfrm>
            <a:off x="365760" y="271373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2960624"/>
          <a:ext cx="5888735" cy="1188720"/>
        </p:xfrm>
        <a:graphic>
          <a:graphicData uri="http://schemas.openxmlformats.org/drawingml/2006/table">
            <a:tbl>
              <a:tblPr firstRow="0" bandRow="0"/>
              <a:tblGrid>
                <a:gridCol w="1015299"/>
                <a:gridCol w="1218359"/>
                <a:gridCol w="1218359"/>
                <a:gridCol w="1218359"/>
                <a:gridCol w="1218359"/>
              </a:tblGrid>
              <a:tr h="237744">
                <a:tc>
                  <a:txBody>
                    <a:bodyPr wrap="square"/>
                    <a:lstStyle/>
                    <a:p>
                      <a:r>
                        <a:rPr sz="1000" b="1" i="0">
                          <a:solidFill>
                            <a:srgbClr val="FFFFFF"/>
                          </a:solidFill>
                          <a:latin typeface="Calibri"/>
                        </a:rPr>
                        <a:t>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LIKE pattern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LIKE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GLOB pattern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GLOB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37744">
                <a:tc>
                  <a:txBody>
                    <a:bodyPr wrap="square"/>
                    <a:lstStyle/>
                    <a:p>
                      <a:r>
                        <a:rPr sz="1000" b="0" i="0">
                          <a:solidFill>
                            <a:srgbClr val="1F2933"/>
                          </a:solidFill>
                          <a:latin typeface="Courier New"/>
                        </a:rPr>
                        <a:t>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zo%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match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00" b="0" i="0">
                          <a:solidFill>
                            <a:srgbClr val="1F2933"/>
                          </a:solidFill>
                          <a:latin typeface="Courier New"/>
                        </a:rPr>
                        <a:t>zo*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no match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37744">
                <a:tc>
                  <a:txBody>
                    <a:bodyPr wrap="square"/>
                    <a:lstStyle/>
                    <a:p>
                      <a:r>
                        <a:rPr sz="1000" b="0" i="0">
                          <a:solidFill>
                            <a:srgbClr val="1F2933"/>
                          </a:solidFill>
                          <a:latin typeface="Courier New"/>
                        </a:rPr>
                        <a:t>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Zo%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match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00" b="0" i="0">
                          <a:solidFill>
                            <a:srgbClr val="1F2933"/>
                          </a:solidFill>
                          <a:latin typeface="Courier New"/>
                        </a:rPr>
                        <a:t>Zo*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match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37744">
                <a:tc>
                  <a:txBody>
                    <a:bodyPr wrap="square"/>
                    <a:lstStyle/>
                    <a:p>
                      <a:r>
                        <a:rPr sz="1000" b="0" i="0">
                          <a:solidFill>
                            <a:srgbClr val="1F2933"/>
                          </a:solidFill>
                          <a:latin typeface="Courier New"/>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match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00" b="0" i="0">
                          <a:solidFill>
                            <a:srgbClr val="1F2933"/>
                          </a:solidFill>
                          <a:latin typeface="Courier New"/>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no match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37744">
                <a:tc>
                  <a:txBody>
                    <a:bodyPr wrap="square"/>
                    <a:lstStyle/>
                    <a:p>
                      <a:r>
                        <a:rPr sz="1000" b="0" i="0">
                          <a:solidFill>
                            <a:srgbClr val="1F2933"/>
                          </a:solidFill>
                          <a:latin typeface="Courier New"/>
                        </a:rPr>
                        <a:t>é</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É</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no match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r>
                        <a:rPr sz="1000" b="0" i="0">
                          <a:solidFill>
                            <a:srgbClr val="1F2933"/>
                          </a:solidFill>
                          <a:latin typeface="Courier New"/>
                        </a:rPr>
                        <a:t>É</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no match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bl>
          </a:graphicData>
        </a:graphic>
      </p:graphicFrame>
      <p:sp>
        <p:nvSpPr>
          <p:cNvPr id="12" name="Rounded Rectangle 11"/>
          <p:cNvSpPr/>
          <p:nvPr/>
        </p:nvSpPr>
        <p:spPr>
          <a:xfrm>
            <a:off x="6590995" y="2960624"/>
            <a:ext cx="2187244" cy="457200"/>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printed by the code:</a:t>
            </a:r>
          </a:p>
          <a:p>
            <a:pPr algn="ctr"/>
            <a:r>
              <a:rPr sz="900" b="0" i="0">
                <a:solidFill>
                  <a:srgbClr val="1F2933"/>
                </a:solidFill>
                <a:latin typeface="Courier New"/>
              </a:rPr>
              <a:t>[(1, 0)]  [(1, 1)]  [(1, 0)]</a:t>
            </a:r>
          </a:p>
        </p:txBody>
      </p:sp>
      <p:sp>
        <p:nvSpPr>
          <p:cNvPr id="13" name="visual note"/>
          <p:cNvSpPr txBox="1"/>
          <p:nvPr/>
        </p:nvSpPr>
        <p:spPr>
          <a:xfrm>
            <a:off x="6590995" y="3509264"/>
            <a:ext cx="2187244" cy="365760"/>
          </a:xfrm>
          <a:prstGeom prst="rect">
            <a:avLst/>
          </a:prstGeom>
          <a:noFill/>
        </p:spPr>
        <p:txBody>
          <a:bodyPr wrap="square" lIns="45720" rIns="45720" tIns="27432" bIns="27432" anchor="t">
            <a:spAutoFit/>
          </a:bodyPr>
          <a:lstStyle/>
          <a:p>
            <a:r>
              <a:rPr sz="850" b="0" i="1">
                <a:solidFill>
                  <a:srgbClr val="5B6773"/>
                </a:solidFill>
                <a:latin typeface="Calibri"/>
              </a:rPr>
              <a:t>rows 1 to 3 are the printed lines; row 4 asks one more question</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LIKE ignores case; GLOB does not.</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19 / 54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NULL is not a value: = NULL finds nothing</a:t>
            </a:r>
          </a:p>
        </p:txBody>
      </p:sp>
      <p:sp>
        <p:nvSpPr>
          <p:cNvPr id="4" name="code"/>
          <p:cNvSpPr/>
          <p:nvPr/>
        </p:nvSpPr>
        <p:spPr>
          <a:xfrm>
            <a:off x="365760" y="786384"/>
            <a:ext cx="54376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q</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lambda</a:t>
            </a:r>
            <a:r>
              <a:rPr sz="1000" b="0" i="0">
                <a:solidFill>
                  <a:srgbClr val="E6EDF3"/>
                </a:solidFill>
                <a:latin typeface="Courier New"/>
              </a:rPr>
              <a:t> </a:t>
            </a:r>
            <a:r>
              <a:rPr sz="1000" b="0" i="0">
                <a:solidFill>
                  <a:srgbClr val="E6EDF3"/>
                </a:solidFill>
                <a:latin typeface="Courier New"/>
              </a:rPr>
              <a:t>sql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E6EDF3"/>
                </a:solidFill>
                <a:latin typeface="Courier New"/>
              </a:rPr>
              <a:t>sql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q</a:t>
            </a:r>
            <a:r>
              <a:rPr sz="1000" b="0" i="0">
                <a:solidFill>
                  <a:srgbClr val="E6EDF3"/>
                </a:solidFill>
                <a:latin typeface="Courier New"/>
              </a:rPr>
              <a:t>(</a:t>
            </a:r>
            <a:r>
              <a:rPr sz="1000" b="0" i="0">
                <a:solidFill>
                  <a:srgbClr val="9BE3A8"/>
                </a:solidFill>
                <a:latin typeface="Courier New"/>
              </a:rPr>
              <a:t>'CREATE TABLE c (name TEXT, fur TEXT)'</a:t>
            </a:r>
            <a:r>
              <a:rPr sz="1000" b="0" i="0">
                <a:solidFill>
                  <a:srgbClr val="E6EDF3"/>
                </a:solidFill>
                <a:latin typeface="Courier New"/>
              </a:rPr>
              <a:t>)</a:t>
            </a:r>
          </a:p>
        </p:txBody>
      </p:sp>
      <p:sp>
        <p:nvSpPr>
          <p:cNvPr id="5" name="explanation"/>
          <p:cNvSpPr txBox="1"/>
          <p:nvPr/>
        </p:nvSpPr>
        <p:spPr>
          <a:xfrm>
            <a:off x="5785104" y="786384"/>
            <a:ext cx="2993135" cy="756920"/>
          </a:xfrm>
          <a:prstGeom prst="rect">
            <a:avLst/>
          </a:prstGeom>
          <a:noFill/>
        </p:spPr>
        <p:txBody>
          <a:bodyPr wrap="square" lIns="128016" rIns="128016" tIns="18288" bIns="18288" anchor="ctr">
            <a:spAutoFit/>
          </a:bodyPr>
          <a:lstStyle/>
          <a:p>
            <a:r>
              <a:rPr sz="1100" b="0" i="0">
                <a:solidFill>
                  <a:srgbClr val="1F2933"/>
                </a:solidFill>
                <a:latin typeface="Calibri"/>
              </a:rPr>
              <a:t>A table for cats, and a helper q() that runs a statement and returns its rows.</a:t>
            </a:r>
          </a:p>
        </p:txBody>
      </p:sp>
      <p:sp>
        <p:nvSpPr>
          <p:cNvPr id="6" name="code"/>
          <p:cNvSpPr/>
          <p:nvPr/>
        </p:nvSpPr>
        <p:spPr>
          <a:xfrm>
            <a:off x="365760" y="1589023"/>
            <a:ext cx="5437632"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q</a:t>
            </a:r>
            <a:r>
              <a:rPr sz="1000" b="0" i="0">
                <a:solidFill>
                  <a:srgbClr val="E6EDF3"/>
                </a:solidFill>
                <a:latin typeface="Courier New"/>
              </a:rPr>
              <a:t>(</a:t>
            </a:r>
            <a:r>
              <a:rPr sz="1000" b="0" i="0">
                <a:solidFill>
                  <a:srgbClr val="9BE3A8"/>
                </a:solidFill>
                <a:latin typeface="Courier New"/>
              </a:rPr>
              <a:t>"INSERT INTO c VALUES ('Zophie', 'black'), ('Toby', 'black')"</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q</a:t>
            </a:r>
            <a:r>
              <a:rPr sz="1000" b="0" i="0">
                <a:solidFill>
                  <a:srgbClr val="E6EDF3"/>
                </a:solidFill>
                <a:latin typeface="Courier New"/>
              </a:rPr>
              <a:t>(</a:t>
            </a:r>
            <a:r>
              <a:rPr sz="1000" b="0" i="0">
                <a:solidFill>
                  <a:srgbClr val="9BE3A8"/>
                </a:solidFill>
                <a:latin typeface="Courier New"/>
              </a:rPr>
              <a:t>"INSERT INTO c VALUES ('Mandy', NULL)"</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q</a:t>
            </a:r>
            <a:r>
              <a:rPr sz="1000" b="0" i="0">
                <a:solidFill>
                  <a:srgbClr val="E6EDF3"/>
                </a:solidFill>
                <a:latin typeface="Courier New"/>
              </a:rPr>
              <a:t>(</a:t>
            </a:r>
            <a:r>
              <a:rPr sz="1000" b="0" i="0">
                <a:solidFill>
                  <a:srgbClr val="9BE3A8"/>
                </a:solidFill>
                <a:latin typeface="Courier New"/>
              </a:rPr>
              <a:t>'SELECT count(*), count(fur) FROM c'</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785104" y="1589023"/>
            <a:ext cx="2993135" cy="826516"/>
          </a:xfrm>
          <a:prstGeom prst="rect">
            <a:avLst/>
          </a:prstGeom>
          <a:noFill/>
        </p:spPr>
        <p:txBody>
          <a:bodyPr wrap="square" lIns="128016" rIns="128016" tIns="18288" bIns="18288" anchor="ctr">
            <a:spAutoFit/>
          </a:bodyPr>
          <a:lstStyle/>
          <a:p>
            <a:r>
              <a:rPr sz="1100" b="0" i="0">
                <a:solidFill>
                  <a:srgbClr val="1F2933"/>
                </a:solidFill>
                <a:latin typeface="Calibri"/>
              </a:rPr>
              <a:t>Mandy's fur is NULL: no value is known, not an empty text and not zero. count(*) counts rows; count(fur) skips the NULL.</a:t>
            </a:r>
          </a:p>
        </p:txBody>
      </p:sp>
      <p:sp>
        <p:nvSpPr>
          <p:cNvPr id="8" name="code"/>
          <p:cNvSpPr/>
          <p:nvPr/>
        </p:nvSpPr>
        <p:spPr>
          <a:xfrm>
            <a:off x="365760" y="2461260"/>
            <a:ext cx="54376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q</a:t>
            </a:r>
            <a:r>
              <a:rPr sz="1000" b="0" i="0">
                <a:solidFill>
                  <a:srgbClr val="E6EDF3"/>
                </a:solidFill>
                <a:latin typeface="Courier New"/>
              </a:rPr>
              <a:t>(</a:t>
            </a:r>
            <a:r>
              <a:rPr sz="1000" b="0" i="0">
                <a:solidFill>
                  <a:srgbClr val="9BE3A8"/>
                </a:solidFill>
                <a:latin typeface="Courier New"/>
              </a:rPr>
              <a:t>'SELECT name FROM c WHERE fur = NULL'</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q</a:t>
            </a:r>
            <a:r>
              <a:rPr sz="1000" b="0" i="0">
                <a:solidFill>
                  <a:srgbClr val="E6EDF3"/>
                </a:solidFill>
                <a:latin typeface="Courier New"/>
              </a:rPr>
              <a:t>(</a:t>
            </a:r>
            <a:r>
              <a:rPr sz="1000" b="0" i="0">
                <a:solidFill>
                  <a:srgbClr val="9BE3A8"/>
                </a:solidFill>
                <a:latin typeface="Courier New"/>
              </a:rPr>
              <a:t>"SELECT name FROM c WHERE fur != 'black'"</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q</a:t>
            </a:r>
            <a:r>
              <a:rPr sz="1000" b="0" i="0">
                <a:solidFill>
                  <a:srgbClr val="E6EDF3"/>
                </a:solidFill>
                <a:latin typeface="Courier New"/>
              </a:rPr>
              <a:t>(</a:t>
            </a:r>
            <a:r>
              <a:rPr sz="1000" b="0" i="0">
                <a:solidFill>
                  <a:srgbClr val="9BE3A8"/>
                </a:solidFill>
                <a:latin typeface="Courier New"/>
              </a:rPr>
              <a:t>'SELECT name FROM c WHERE fur IS NULL'</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785104" y="2461260"/>
            <a:ext cx="2993135" cy="651891"/>
          </a:xfrm>
          <a:prstGeom prst="rect">
            <a:avLst/>
          </a:prstGeom>
          <a:noFill/>
        </p:spPr>
        <p:txBody>
          <a:bodyPr wrap="square" lIns="128016" rIns="128016" tIns="18288" bIns="18288" anchor="ctr">
            <a:spAutoFit/>
          </a:bodyPr>
          <a:lstStyle/>
          <a:p>
            <a:r>
              <a:rPr sz="1100" b="0" i="0">
                <a:solidFill>
                  <a:srgbClr val="1F2933"/>
                </a:solidFill>
                <a:latin typeface="Calibri"/>
              </a:rPr>
              <a:t>Comparing with NULL is never true, not even != 'black'. Only IS NULL finds Mandy.</a:t>
            </a:r>
          </a:p>
        </p:txBody>
      </p:sp>
      <p:sp>
        <p:nvSpPr>
          <p:cNvPr id="10" name="result label"/>
          <p:cNvSpPr txBox="1"/>
          <p:nvPr/>
        </p:nvSpPr>
        <p:spPr>
          <a:xfrm>
            <a:off x="365760" y="3168015"/>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414903"/>
          <a:ext cx="2523744" cy="950976"/>
        </p:xfrm>
        <a:graphic>
          <a:graphicData uri="http://schemas.openxmlformats.org/drawingml/2006/table">
            <a:tbl>
              <a:tblPr firstRow="0" bandRow="0"/>
              <a:tblGrid>
                <a:gridCol w="1261872"/>
                <a:gridCol w="1261872"/>
              </a:tblGrid>
              <a:tr h="237744">
                <a:tc>
                  <a:txBody>
                    <a:bodyPr wrap="square"/>
                    <a:lstStyle/>
                    <a:p>
                      <a:r>
                        <a:rPr sz="1050" b="1" i="0">
                          <a:solidFill>
                            <a:srgbClr val="FFFFFF"/>
                          </a:solidFill>
                          <a:latin typeface="Calibri"/>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fur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37744">
                <a:tc>
                  <a:txBody>
                    <a:bodyPr wrap="square"/>
                    <a:lstStyle/>
                    <a:p>
                      <a:r>
                        <a:rPr sz="1050" b="0" i="0">
                          <a:solidFill>
                            <a:srgbClr val="1F2933"/>
                          </a:solidFill>
                          <a:latin typeface="Courier New"/>
                        </a:rPr>
                        <a:t>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37744">
                <a:tc>
                  <a:txBody>
                    <a:bodyPr wrap="square"/>
                    <a:lstStyle/>
                    <a:p>
                      <a:r>
                        <a:rPr sz="1050" b="0" i="0">
                          <a:solidFill>
                            <a:srgbClr val="1F2933"/>
                          </a:solidFill>
                          <a:latin typeface="Courier New"/>
                        </a:rPr>
                        <a:t>Toby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37744">
                <a:tc>
                  <a:txBody>
                    <a:bodyPr wrap="square"/>
                    <a:lstStyle/>
                    <a:p>
                      <a:r>
                        <a:rPr sz="1050" b="0" i="0">
                          <a:solidFill>
                            <a:srgbClr val="1F2933"/>
                          </a:solidFill>
                          <a:latin typeface="Courier New"/>
                        </a:rPr>
                        <a:t>Mandy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NULL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graphicFrame>
        <p:nvGraphicFramePr>
          <p:cNvPr id="12" name="table"/>
          <p:cNvGraphicFramePr>
            <a:graphicFrameLocks noGrp="1"/>
          </p:cNvGraphicFramePr>
          <p:nvPr/>
        </p:nvGraphicFramePr>
        <p:xfrm>
          <a:off x="3310127" y="3414903"/>
          <a:ext cx="5468112" cy="1188720"/>
        </p:xfrm>
        <a:graphic>
          <a:graphicData uri="http://schemas.openxmlformats.org/drawingml/2006/table">
            <a:tbl>
              <a:tblPr firstRow="0" bandRow="0"/>
              <a:tblGrid>
                <a:gridCol w="2615184"/>
                <a:gridCol w="2852928"/>
              </a:tblGrid>
              <a:tr h="237744">
                <a:tc>
                  <a:txBody>
                    <a:bodyPr wrap="square"/>
                    <a:lstStyle/>
                    <a:p>
                      <a:r>
                        <a:rPr sz="1000" b="1" i="0">
                          <a:solidFill>
                            <a:srgbClr val="FFFFFF"/>
                          </a:solidFill>
                          <a:latin typeface="Calibri"/>
                        </a:rPr>
                        <a:t>Query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Rows returned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37744">
                <a:tc>
                  <a:txBody>
                    <a:bodyPr wrap="square"/>
                    <a:lstStyle/>
                    <a:p>
                      <a:r>
                        <a:rPr sz="1000" b="0" i="0">
                          <a:solidFill>
                            <a:srgbClr val="1F2933"/>
                          </a:solidFill>
                          <a:latin typeface="Courier New"/>
                        </a:rPr>
                        <a:t>fur = NULL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37744">
                <a:tc>
                  <a:txBody>
                    <a:bodyPr wrap="square"/>
                    <a:lstStyle/>
                    <a:p>
                      <a:r>
                        <a:rPr sz="1000" b="0" i="0">
                          <a:solidFill>
                            <a:srgbClr val="1F2933"/>
                          </a:solidFill>
                          <a:latin typeface="Courier New"/>
                        </a:rPr>
                        <a:t>fur != 'black'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37744">
                <a:tc>
                  <a:txBody>
                    <a:bodyPr wrap="square"/>
                    <a:lstStyle/>
                    <a:p>
                      <a:r>
                        <a:rPr sz="1000" b="0" i="0">
                          <a:solidFill>
                            <a:srgbClr val="1F2933"/>
                          </a:solidFill>
                          <a:latin typeface="Courier New"/>
                        </a:rPr>
                        <a:t>fur IS NULL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[('Mandy',)]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37744">
                <a:tc>
                  <a:txBody>
                    <a:bodyPr wrap="square"/>
                    <a:lstStyle/>
                    <a:p>
                      <a:r>
                        <a:rPr sz="1000" b="0" i="0">
                          <a:solidFill>
                            <a:srgbClr val="1F2933"/>
                          </a:solidFill>
                          <a:latin typeface="Courier New"/>
                        </a:rPr>
                        <a:t>count(*), count(fur)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[(3,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Only IS NULL finds a NULL.</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20 / 54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changing rows safely</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placeholder is like a sealed envelope: whatever is inside is read as a name, never as an order.</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executemany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same order slip, handed in once for each name on a 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Updating Data in the Database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Correcting lines with an eraser.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UPDATE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eraser: every line the rule selects is corrected.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Deleting Data from the Database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Crossing out lines for good.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DELETE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strike-through: the selected lines vanish.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RETURNING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clerk reads back what was crossed out.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SQL injection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visitor who writes an order into the name box and the clerk obeys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21 / 54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600" b="1" i="0">
                <a:solidFill>
                  <a:srgbClr val="1F2933"/>
                </a:solidFill>
                <a:latin typeface="Calibri"/>
              </a:rPr>
              <a:t>UPDATE and DELETE change many rows; RETURNING reports them</a:t>
            </a:r>
          </a:p>
        </p:txBody>
      </p:sp>
      <p:sp>
        <p:nvSpPr>
          <p:cNvPr id="4" name="code"/>
          <p:cNvSpPr/>
          <p:nvPr/>
        </p:nvSpPr>
        <p:spPr>
          <a:xfrm>
            <a:off x="365760" y="786384"/>
            <a:ext cx="5590032" cy="9118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isolation_level</a:t>
            </a:r>
            <a:r>
              <a:rPr sz="1000" b="0" i="0">
                <a:solidFill>
                  <a:srgbClr val="E6EDF3"/>
                </a:solidFill>
                <a:latin typeface="Courier New"/>
              </a:rPr>
              <a:t>=</a:t>
            </a:r>
            <a:r>
              <a:rPr sz="1000" b="0" i="0">
                <a:solidFill>
                  <a:srgbClr val="E6EDF3"/>
                </a:solidFill>
                <a:latin typeface="Courier New"/>
              </a:rPr>
              <a:t>None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TABLE cats (name, kg)'</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executemany</a:t>
            </a:r>
            <a:r>
              <a:rPr sz="1000" b="0" i="0">
                <a:solidFill>
                  <a:srgbClr val="E6EDF3"/>
                </a:solidFill>
                <a:latin typeface="Courier New"/>
              </a:rPr>
              <a:t>(</a:t>
            </a:r>
            <a:r>
              <a:rPr sz="1000" b="0" i="0">
                <a:solidFill>
                  <a:srgbClr val="9BE3A8"/>
                </a:solidFill>
                <a:latin typeface="Courier New"/>
              </a:rPr>
              <a:t>'INSERT INTO cats VALUES (?, ?)'</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9BE3A8"/>
                </a:solidFill>
                <a:latin typeface="Courier New"/>
              </a:rPr>
              <a:t>'Zophie'</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5.6</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'Toby'</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4.1</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'Jacob'</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7.3</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5937504" y="786384"/>
            <a:ext cx="2840735" cy="911859"/>
          </a:xfrm>
          <a:prstGeom prst="rect">
            <a:avLst/>
          </a:prstGeom>
          <a:noFill/>
        </p:spPr>
        <p:txBody>
          <a:bodyPr wrap="square" lIns="128016" rIns="128016" tIns="18288" bIns="18288" anchor="ctr">
            <a:spAutoFit/>
          </a:bodyPr>
          <a:lstStyle/>
          <a:p>
            <a:r>
              <a:rPr sz="1100" b="0" i="0">
                <a:solidFill>
                  <a:srgbClr val="1F2933"/>
                </a:solidFill>
                <a:latin typeface="Calibri"/>
              </a:rPr>
              <a:t>Three cats with their weights. isolation_level=None means each statement is saved at once.</a:t>
            </a:r>
          </a:p>
        </p:txBody>
      </p:sp>
      <p:sp>
        <p:nvSpPr>
          <p:cNvPr id="6" name="code"/>
          <p:cNvSpPr/>
          <p:nvPr/>
        </p:nvSpPr>
        <p:spPr>
          <a:xfrm>
            <a:off x="365760" y="1743963"/>
            <a:ext cx="55900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cur</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'UPDATE cats SET kg = kg + 0.5 WHERE kg &lt; 6'</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'updated rows:'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cur</a:t>
            </a:r>
            <a:r>
              <a:rPr sz="1000" b="0" i="0">
                <a:solidFill>
                  <a:srgbClr val="E6EDF3"/>
                </a:solidFill>
                <a:latin typeface="Courier New"/>
              </a:rPr>
              <a:t>.</a:t>
            </a:r>
            <a:r>
              <a:rPr sz="1000" b="0" i="0">
                <a:solidFill>
                  <a:srgbClr val="E6EDF3"/>
                </a:solidFill>
                <a:latin typeface="Courier New"/>
              </a:rPr>
              <a:t>rowcount</a:t>
            </a:r>
            <a:r>
              <a:rPr sz="1000" b="0" i="0">
                <a:solidFill>
                  <a:srgbClr val="E6EDF3"/>
                </a:solidFill>
                <a:latin typeface="Courier New"/>
              </a:rPr>
              <a:t>)</a:t>
            </a:r>
          </a:p>
        </p:txBody>
      </p:sp>
      <p:sp>
        <p:nvSpPr>
          <p:cNvPr id="7" name="explanation"/>
          <p:cNvSpPr txBox="1"/>
          <p:nvPr/>
        </p:nvSpPr>
        <p:spPr>
          <a:xfrm>
            <a:off x="5937504" y="1743963"/>
            <a:ext cx="2840735" cy="651891"/>
          </a:xfrm>
          <a:prstGeom prst="rect">
            <a:avLst/>
          </a:prstGeom>
          <a:noFill/>
        </p:spPr>
        <p:txBody>
          <a:bodyPr wrap="square" lIns="128016" rIns="128016" tIns="18288" bIns="18288" anchor="ctr">
            <a:spAutoFit/>
          </a:bodyPr>
          <a:lstStyle/>
          <a:p>
            <a:r>
              <a:rPr sz="1100" b="0" i="0">
                <a:solidFill>
                  <a:srgbClr val="1F2933"/>
                </a:solidFill>
                <a:latin typeface="Calibri"/>
              </a:rPr>
              <a:t>One UPDATE changes every row the WHERE clause selects. rowcount says how many rows that was.</a:t>
            </a:r>
          </a:p>
        </p:txBody>
      </p:sp>
      <p:sp>
        <p:nvSpPr>
          <p:cNvPr id="8" name="code"/>
          <p:cNvSpPr/>
          <p:nvPr/>
        </p:nvSpPr>
        <p:spPr>
          <a:xfrm>
            <a:off x="365760" y="2441574"/>
            <a:ext cx="55900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cur</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'DELETE FROM cats WHERE kg &gt; 7 RETURNING name'</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'deleted:'</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cur</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'SELECT * FROM cats'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937504" y="2441574"/>
            <a:ext cx="2840735" cy="651891"/>
          </a:xfrm>
          <a:prstGeom prst="rect">
            <a:avLst/>
          </a:prstGeom>
          <a:noFill/>
        </p:spPr>
        <p:txBody>
          <a:bodyPr wrap="square" lIns="128016" rIns="128016" tIns="18288" bIns="18288" anchor="ctr">
            <a:spAutoFit/>
          </a:bodyPr>
          <a:lstStyle/>
          <a:p>
            <a:r>
              <a:rPr sz="1100" b="0" i="0">
                <a:solidFill>
                  <a:srgbClr val="1F2933"/>
                </a:solidFill>
                <a:latin typeface="Calibri"/>
              </a:rPr>
              <a:t>RETURNING hands back a column of the deleted rows. It needs SQLite 3.35 or newer.</a:t>
            </a:r>
          </a:p>
        </p:txBody>
      </p:sp>
      <p:sp>
        <p:nvSpPr>
          <p:cNvPr id="10" name="result label"/>
          <p:cNvSpPr txBox="1"/>
          <p:nvPr/>
        </p:nvSpPr>
        <p:spPr>
          <a:xfrm>
            <a:off x="365760" y="314833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440938"/>
            <a:ext cx="1863089" cy="86868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3 cats</a:t>
            </a:r>
          </a:p>
          <a:p>
            <a:pPr algn="ctr"/>
            <a:r>
              <a:rPr sz="950" b="0" i="0">
                <a:solidFill>
                  <a:srgbClr val="1F2933"/>
                </a:solidFill>
                <a:latin typeface="Calibri"/>
              </a:rPr>
              <a:t>Zophie 5.6, Toby 4.1, Jacob 7.3</a:t>
            </a:r>
          </a:p>
        </p:txBody>
      </p:sp>
      <p:cxnSp>
        <p:nvCxnSpPr>
          <p:cNvPr id="12" name="arrow"/>
          <p:cNvCxnSpPr/>
          <p:nvPr/>
        </p:nvCxnSpPr>
        <p:spPr>
          <a:xfrm>
            <a:off x="2247137" y="3875278"/>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48889" y="3440938"/>
            <a:ext cx="1863089" cy="86868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UPDATE kg + 0.5</a:t>
            </a:r>
          </a:p>
          <a:p>
            <a:pPr algn="ctr"/>
            <a:r>
              <a:rPr sz="950" b="0" i="0">
                <a:solidFill>
                  <a:srgbClr val="1F2933"/>
                </a:solidFill>
                <a:latin typeface="Calibri"/>
              </a:rPr>
              <a:t>WHERE kg &lt; 6</a:t>
            </a:r>
          </a:p>
          <a:p>
            <a:pPr algn="ctr"/>
            <a:r>
              <a:rPr sz="950" b="0" i="0">
                <a:solidFill>
                  <a:srgbClr val="1F2933"/>
                </a:solidFill>
                <a:latin typeface="Calibri"/>
              </a:rPr>
              <a:t>rowcount 2</a:t>
            </a:r>
          </a:p>
        </p:txBody>
      </p:sp>
      <p:cxnSp>
        <p:nvCxnSpPr>
          <p:cNvPr id="14" name="arrow"/>
          <p:cNvCxnSpPr/>
          <p:nvPr/>
        </p:nvCxnSpPr>
        <p:spPr>
          <a:xfrm>
            <a:off x="4430267" y="3875278"/>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732020" y="3440938"/>
            <a:ext cx="1863089" cy="86868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DELETE WHERE kg &gt; 7</a:t>
            </a:r>
          </a:p>
          <a:p>
            <a:pPr algn="ctr"/>
            <a:r>
              <a:rPr sz="950" b="0" i="0">
                <a:solidFill>
                  <a:srgbClr val="1F2933"/>
                </a:solidFill>
                <a:latin typeface="Calibri"/>
              </a:rPr>
              <a:t>RETURNING name</a:t>
            </a:r>
          </a:p>
          <a:p>
            <a:pPr algn="ctr"/>
            <a:r>
              <a:rPr sz="950" b="0" i="0">
                <a:solidFill>
                  <a:srgbClr val="1F2933"/>
                </a:solidFill>
                <a:latin typeface="Calibri"/>
              </a:rPr>
              <a:t>[('Jacob',)]</a:t>
            </a:r>
          </a:p>
        </p:txBody>
      </p:sp>
      <p:cxnSp>
        <p:nvCxnSpPr>
          <p:cNvPr id="16" name="arrow"/>
          <p:cNvCxnSpPr/>
          <p:nvPr/>
        </p:nvCxnSpPr>
        <p:spPr>
          <a:xfrm>
            <a:off x="6613397" y="3875278"/>
            <a:ext cx="28346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915150" y="3440938"/>
            <a:ext cx="1863089" cy="86868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left</a:t>
            </a:r>
          </a:p>
          <a:p>
            <a:pPr algn="ctr"/>
            <a:r>
              <a:rPr sz="950" b="0" i="0">
                <a:solidFill>
                  <a:srgbClr val="1F2933"/>
                </a:solidFill>
                <a:latin typeface="Calibri"/>
              </a:rPr>
              <a:t>Zophie 6.1, Toby 4.6</a:t>
            </a:r>
          </a:p>
        </p:txBody>
      </p:sp>
      <p:sp>
        <p:nvSpPr>
          <p:cNvPr id="18" name="visual note"/>
          <p:cNvSpPr txBox="1"/>
          <p:nvPr/>
        </p:nvSpPr>
        <p:spPr>
          <a:xfrm>
            <a:off x="365760" y="4382770"/>
            <a:ext cx="8412480" cy="219456"/>
          </a:xfrm>
          <a:prstGeom prst="rect">
            <a:avLst/>
          </a:prstGeom>
          <a:noFill/>
        </p:spPr>
        <p:txBody>
          <a:bodyPr wrap="square" lIns="45720" rIns="45720" tIns="27432" bIns="27432" anchor="t">
            <a:spAutoFit/>
          </a:bodyPr>
          <a:lstStyle/>
          <a:p>
            <a:r>
              <a:rPr sz="950" b="0" i="1">
                <a:solidFill>
                  <a:srgbClr val="5B6773"/>
                </a:solidFill>
                <a:latin typeface="Calibri"/>
              </a:rPr>
              <a:t>the weights after the UPDATE are 5.6 + 0.5 = 6.1 and 4.1 + 0.5 = 4.6; Jacob (7.3) is not below 6, so he is only deleted</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UPDATE and DELETE touch every selected row.</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22 / 54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Placeholders: ? by position, :name by name</a:t>
            </a:r>
          </a:p>
        </p:txBody>
      </p:sp>
      <p:sp>
        <p:nvSpPr>
          <p:cNvPr id="4" name="code"/>
          <p:cNvSpPr/>
          <p:nvPr/>
        </p:nvSpPr>
        <p:spPr>
          <a:xfrm>
            <a:off x="365760" y="786384"/>
            <a:ext cx="8412480" cy="60198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TABLE cats (name TEXT, fur TEXT)'</a:t>
            </a:r>
            <a:r>
              <a:rPr sz="1000" b="0" i="0">
                <a:solidFill>
                  <a:srgbClr val="E6EDF3"/>
                </a:solidFill>
                <a:latin typeface="Courier New"/>
              </a:rPr>
              <a:t>)</a:t>
            </a:r>
          </a:p>
        </p:txBody>
      </p:sp>
      <p:sp>
        <p:nvSpPr>
          <p:cNvPr id="5" name="explanation"/>
          <p:cNvSpPr txBox="1"/>
          <p:nvPr/>
        </p:nvSpPr>
        <p:spPr>
          <a:xfrm>
            <a:off x="365760" y="1397508"/>
            <a:ext cx="8412480" cy="302641"/>
          </a:xfrm>
          <a:prstGeom prst="rect">
            <a:avLst/>
          </a:prstGeom>
          <a:noFill/>
        </p:spPr>
        <p:txBody>
          <a:bodyPr wrap="square" lIns="109728" rIns="109728" tIns="18288" bIns="18288" anchor="ctr">
            <a:spAutoFit/>
          </a:bodyPr>
          <a:lstStyle/>
          <a:p>
            <a:r>
              <a:rPr sz="1100" b="0" i="0">
                <a:solidFill>
                  <a:srgbClr val="1F2933"/>
                </a:solidFill>
                <a:latin typeface="Calibri"/>
              </a:rPr>
              <a:t>An empty table of cats, kept in memory, ready for rows with two columns.</a:t>
            </a:r>
          </a:p>
        </p:txBody>
      </p:sp>
      <p:sp>
        <p:nvSpPr>
          <p:cNvPr id="6" name="code"/>
          <p:cNvSpPr/>
          <p:nvPr/>
        </p:nvSpPr>
        <p:spPr>
          <a:xfrm>
            <a:off x="365760" y="1736724"/>
            <a:ext cx="8412480" cy="44703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'INSERT INTO cats VALUES (?,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'Zophie'</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'black'</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'INSERT INTO cats VALUES (:n, :f)'</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'Toby'</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'f'</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'black'</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365760" y="2192908"/>
            <a:ext cx="8412480" cy="302641"/>
          </a:xfrm>
          <a:prstGeom prst="rect">
            <a:avLst/>
          </a:prstGeom>
          <a:noFill/>
        </p:spPr>
        <p:txBody>
          <a:bodyPr wrap="square" lIns="109728" rIns="109728" tIns="18288" bIns="18288" anchor="ctr">
            <a:spAutoFit/>
          </a:bodyPr>
          <a:lstStyle/>
          <a:p>
            <a:r>
              <a:rPr sz="1100" b="0" i="0">
                <a:solidFill>
                  <a:srgbClr val="1F2933"/>
                </a:solidFill>
                <a:latin typeface="Calibri"/>
              </a:rPr>
              <a:t>A ? takes the next value of a tuple. A :name takes the value of that key in a dictionary.</a:t>
            </a:r>
          </a:p>
        </p:txBody>
      </p:sp>
      <p:sp>
        <p:nvSpPr>
          <p:cNvPr id="8" name="code"/>
          <p:cNvSpPr/>
          <p:nvPr/>
        </p:nvSpPr>
        <p:spPr>
          <a:xfrm>
            <a:off x="365760" y="2532126"/>
            <a:ext cx="8412480" cy="44703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sql</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'SELECT name FROM cats WHERE fur = :fur'</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E6EDF3"/>
                </a:solidFill>
                <a:latin typeface="Courier New"/>
              </a:rPr>
              <a:t>sql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'fur'</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'black'</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365760" y="2988309"/>
            <a:ext cx="8412480" cy="302641"/>
          </a:xfrm>
          <a:prstGeom prst="rect">
            <a:avLst/>
          </a:prstGeom>
          <a:noFill/>
        </p:spPr>
        <p:txBody>
          <a:bodyPr wrap="square" lIns="109728" rIns="109728" tIns="18288" bIns="18288" anchor="ctr">
            <a:spAutoFit/>
          </a:bodyPr>
          <a:lstStyle/>
          <a:p>
            <a:r>
              <a:rPr sz="1100" b="0" i="0">
                <a:solidFill>
                  <a:srgbClr val="1F2933"/>
                </a:solidFill>
                <a:latin typeface="Calibri"/>
              </a:rPr>
              <a:t>The value travels beside the statement, never inside it. That is what makes a placeholder safe.</a:t>
            </a:r>
          </a:p>
        </p:txBody>
      </p:sp>
      <p:sp>
        <p:nvSpPr>
          <p:cNvPr id="10" name="result label"/>
          <p:cNvSpPr txBox="1"/>
          <p:nvPr/>
        </p:nvSpPr>
        <p:spPr>
          <a:xfrm>
            <a:off x="365760" y="3336671"/>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583559"/>
          <a:ext cx="8412479" cy="950976"/>
        </p:xfrm>
        <a:graphic>
          <a:graphicData uri="http://schemas.openxmlformats.org/drawingml/2006/table">
            <a:tbl>
              <a:tblPr firstRow="0" bandRow="0"/>
              <a:tblGrid>
                <a:gridCol w="2002971"/>
                <a:gridCol w="3004457"/>
                <a:gridCol w="3405051"/>
              </a:tblGrid>
              <a:tr h="237744">
                <a:tc>
                  <a:txBody>
                    <a:bodyPr wrap="square"/>
                    <a:lstStyle/>
                    <a:p>
                      <a:r>
                        <a:rPr sz="1000" b="1" i="0">
                          <a:solidFill>
                            <a:srgbClr val="FFFFFF"/>
                          </a:solidFill>
                          <a:latin typeface="Calibri"/>
                        </a:rPr>
                        <a:t>Statement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Values bound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Row stored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37744">
                <a:tc>
                  <a:txBody>
                    <a:bodyPr wrap="square"/>
                    <a:lstStyle/>
                    <a:p>
                      <a:r>
                        <a:rPr sz="1000" b="0" i="0">
                          <a:solidFill>
                            <a:srgbClr val="1F2933"/>
                          </a:solidFill>
                          <a:latin typeface="Courier New"/>
                        </a:rPr>
                        <a:t>VALUES (?,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('Zophie', 'black')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Zophie | 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37744">
                <a:tc>
                  <a:txBody>
                    <a:bodyPr wrap="square"/>
                    <a:lstStyle/>
                    <a:p>
                      <a:r>
                        <a:rPr sz="1000" b="0" i="0">
                          <a:solidFill>
                            <a:srgbClr val="1F2933"/>
                          </a:solidFill>
                          <a:latin typeface="Courier New"/>
                        </a:rPr>
                        <a:t>VALUES (:n, :f)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{'n': 'Toby', 'f': 'black'}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Toby | 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37744">
                <a:tc>
                  <a:txBody>
                    <a:bodyPr wrap="square"/>
                    <a:lstStyle/>
                    <a:p>
                      <a:r>
                        <a:rPr sz="1000" b="0" i="0">
                          <a:solidFill>
                            <a:srgbClr val="1F2933"/>
                          </a:solidFill>
                          <a:latin typeface="Courier New"/>
                        </a:rPr>
                        <a:t>WHERE fur = :fur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{'fur': 'black'}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finds [('Zophie',), ('Toby',)]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2" name="visual note"/>
          <p:cNvSpPr txBox="1"/>
          <p:nvPr/>
        </p:nvSpPr>
        <p:spPr>
          <a:xfrm>
            <a:off x="365760" y="4571110"/>
            <a:ext cx="8412480" cy="219456"/>
          </a:xfrm>
          <a:prstGeom prst="rect">
            <a:avLst/>
          </a:prstGeom>
          <a:noFill/>
        </p:spPr>
        <p:txBody>
          <a:bodyPr wrap="square" lIns="45720" rIns="45720" tIns="27432" bIns="27432" anchor="t">
            <a:spAutoFit/>
          </a:bodyPr>
          <a:lstStyle/>
          <a:p>
            <a:r>
              <a:rPr sz="900" b="0" i="1">
                <a:solidFill>
                  <a:srgbClr val="5B6773"/>
                </a:solidFill>
                <a:latin typeface="Calibri"/>
              </a:rPr>
              <a:t>the third column of the last row is the printed result of the code</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value travels beside the SQL, not inside it.</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23 / 54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Pasting a value into SQL lets the value rewrite the query</a:t>
            </a:r>
          </a:p>
        </p:txBody>
      </p:sp>
      <p:sp>
        <p:nvSpPr>
          <p:cNvPr id="4" name="code"/>
          <p:cNvSpPr/>
          <p:nvPr/>
        </p:nvSpPr>
        <p:spPr>
          <a:xfrm>
            <a:off x="365760" y="786384"/>
            <a:ext cx="4447032" cy="9118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TABLE cats (name TEXT)'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executemany</a:t>
            </a:r>
            <a:r>
              <a:rPr sz="1000" b="0" i="0">
                <a:solidFill>
                  <a:srgbClr val="E6EDF3"/>
                </a:solidFill>
                <a:latin typeface="Courier New"/>
              </a:rPr>
              <a:t>(</a:t>
            </a:r>
            <a:r>
              <a:rPr sz="1000" b="0" i="0">
                <a:solidFill>
                  <a:srgbClr val="9BE3A8"/>
                </a:solidFill>
                <a:latin typeface="Courier New"/>
              </a:rPr>
              <a:t>'INSERT INTO cats VALUES (?)'</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9BE3A8"/>
                </a:solidFill>
                <a:latin typeface="Courier New"/>
              </a:rPr>
              <a:t>'Zophie'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'Toby'</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4794504" y="786384"/>
            <a:ext cx="3983735" cy="911859"/>
          </a:xfrm>
          <a:prstGeom prst="rect">
            <a:avLst/>
          </a:prstGeom>
          <a:noFill/>
        </p:spPr>
        <p:txBody>
          <a:bodyPr wrap="square" lIns="128016" rIns="128016" tIns="18288" bIns="18288" anchor="ctr">
            <a:spAutoFit/>
          </a:bodyPr>
          <a:lstStyle/>
          <a:p>
            <a:r>
              <a:rPr sz="1100" b="0" i="0">
                <a:solidFill>
                  <a:srgbClr val="1F2933"/>
                </a:solidFill>
                <a:latin typeface="Calibri"/>
              </a:rPr>
              <a:t>Two cats. A web form asks a visitor for a cat's name and searches for it.</a:t>
            </a:r>
          </a:p>
        </p:txBody>
      </p:sp>
      <p:sp>
        <p:nvSpPr>
          <p:cNvPr id="6" name="code"/>
          <p:cNvSpPr/>
          <p:nvPr/>
        </p:nvSpPr>
        <p:spPr>
          <a:xfrm>
            <a:off x="365760" y="1743963"/>
            <a:ext cx="44470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attack</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"x' OR '1'='1"</a:t>
            </a:r>
          </a:p>
          <a:p>
            <a:pPr algn="l"/>
            <a:r>
              <a:rPr sz="1000" b="0" i="0">
                <a:solidFill>
                  <a:srgbClr val="8FA3B8"/>
                </a:solidFill>
                <a:latin typeface="Courier New"/>
              </a:rPr>
              <a:t>&gt;&gt;&gt; </a:t>
            </a:r>
            <a:r>
              <a:rPr sz="1000" b="0" i="0">
                <a:solidFill>
                  <a:srgbClr val="E6EDF3"/>
                </a:solidFill>
                <a:latin typeface="Courier New"/>
              </a:rPr>
              <a:t>sql</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f"SELECT * FROM cats WHERE name = '{attack}'"</a:t>
            </a:r>
          </a:p>
          <a:p>
            <a:pPr algn="l"/>
            <a:r>
              <a:rPr sz="1000" b="0" i="0">
                <a:solidFill>
                  <a:srgbClr val="8FA3B8"/>
                </a:solidFill>
                <a:latin typeface="Courier New"/>
              </a:rPr>
              <a:t>&gt;&gt;&gt; </a:t>
            </a:r>
            <a:r>
              <a:rPr sz="1000" b="0" i="0">
                <a:solidFill>
                  <a:srgbClr val="E6EDF3"/>
                </a:solidFill>
                <a:latin typeface="Courier New"/>
              </a:rPr>
              <a:t>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E6EDF3"/>
                </a:solidFill>
                <a:latin typeface="Courier New"/>
              </a:rPr>
              <a:t>sql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'pasted into the SQL:'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'rows'</a:t>
            </a:r>
            <a:r>
              <a:rPr sz="1000" b="0" i="0">
                <a:solidFill>
                  <a:srgbClr val="E6EDF3"/>
                </a:solidFill>
                <a:latin typeface="Courier New"/>
              </a:rPr>
              <a:t>)</a:t>
            </a:r>
          </a:p>
        </p:txBody>
      </p:sp>
      <p:sp>
        <p:nvSpPr>
          <p:cNvPr id="7" name="explanation"/>
          <p:cNvSpPr txBox="1"/>
          <p:nvPr/>
        </p:nvSpPr>
        <p:spPr>
          <a:xfrm>
            <a:off x="4794504" y="1743963"/>
            <a:ext cx="3983735" cy="756920"/>
          </a:xfrm>
          <a:prstGeom prst="rect">
            <a:avLst/>
          </a:prstGeom>
          <a:noFill/>
        </p:spPr>
        <p:txBody>
          <a:bodyPr wrap="square" lIns="128016" rIns="128016" tIns="18288" bIns="18288" anchor="ctr">
            <a:spAutoFit/>
          </a:bodyPr>
          <a:lstStyle/>
          <a:p>
            <a:r>
              <a:rPr sz="1100" b="0" i="0">
                <a:solidFill>
                  <a:srgbClr val="1F2933"/>
                </a:solidFill>
                <a:latin typeface="Calibri"/>
              </a:rPr>
              <a:t>The visitor typed a clever text. Pasted into the statement, it closes the quote and adds OR '1'='1', which is always true.</a:t>
            </a:r>
          </a:p>
        </p:txBody>
      </p:sp>
      <p:sp>
        <p:nvSpPr>
          <p:cNvPr id="8" name="code"/>
          <p:cNvSpPr/>
          <p:nvPr/>
        </p:nvSpPr>
        <p:spPr>
          <a:xfrm>
            <a:off x="365760" y="2546603"/>
            <a:ext cx="4447032" cy="60198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sql</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'SELECT * FROM cats WHERE name = ?'</a:t>
            </a:r>
          </a:p>
          <a:p>
            <a:pPr algn="l"/>
            <a:r>
              <a:rPr sz="1000" b="0" i="0">
                <a:solidFill>
                  <a:srgbClr val="8FA3B8"/>
                </a:solidFill>
                <a:latin typeface="Courier New"/>
              </a:rPr>
              <a:t>&gt;&gt;&gt; </a:t>
            </a:r>
            <a:r>
              <a:rPr sz="1000" b="0" i="0">
                <a:solidFill>
                  <a:srgbClr val="E6EDF3"/>
                </a:solidFill>
                <a:latin typeface="Courier New"/>
              </a:rPr>
              <a:t>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E6EDF3"/>
                </a:solidFill>
                <a:latin typeface="Courier New"/>
              </a:rPr>
              <a:t>sql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attack</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'bound as a value:'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'rows'</a:t>
            </a:r>
            <a:r>
              <a:rPr sz="1000" b="0" i="0">
                <a:solidFill>
                  <a:srgbClr val="E6EDF3"/>
                </a:solidFill>
                <a:latin typeface="Courier New"/>
              </a:rPr>
              <a:t>)</a:t>
            </a:r>
          </a:p>
        </p:txBody>
      </p:sp>
      <p:sp>
        <p:nvSpPr>
          <p:cNvPr id="9" name="explanation"/>
          <p:cNvSpPr txBox="1"/>
          <p:nvPr/>
        </p:nvSpPr>
        <p:spPr>
          <a:xfrm>
            <a:off x="4794504" y="2546603"/>
            <a:ext cx="3983735" cy="601980"/>
          </a:xfrm>
          <a:prstGeom prst="rect">
            <a:avLst/>
          </a:prstGeom>
          <a:noFill/>
        </p:spPr>
        <p:txBody>
          <a:bodyPr wrap="square" lIns="128016" rIns="128016" tIns="18288" bIns="18288" anchor="ctr">
            <a:spAutoFit/>
          </a:bodyPr>
          <a:lstStyle/>
          <a:p>
            <a:r>
              <a:rPr sz="1100" b="0" i="0">
                <a:solidFill>
                  <a:srgbClr val="1F2933"/>
                </a:solidFill>
                <a:latin typeface="Calibri"/>
              </a:rPr>
              <a:t>Bound with a placeholder, the same text is only a name. No cat has it, so no row is found.</a:t>
            </a:r>
          </a:p>
        </p:txBody>
      </p:sp>
      <p:sp>
        <p:nvSpPr>
          <p:cNvPr id="10" name="result label"/>
          <p:cNvSpPr txBox="1"/>
          <p:nvPr/>
        </p:nvSpPr>
        <p:spPr>
          <a:xfrm>
            <a:off x="365760" y="3203448"/>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450336"/>
            <a:ext cx="2336800" cy="45720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text typed</a:t>
            </a:r>
          </a:p>
          <a:p>
            <a:pPr algn="ctr"/>
            <a:r>
              <a:rPr sz="1000" b="0" i="0">
                <a:solidFill>
                  <a:srgbClr val="1F2933"/>
                </a:solidFill>
                <a:latin typeface="Courier New"/>
              </a:rPr>
              <a:t>x' OR '1'='1</a:t>
            </a:r>
          </a:p>
        </p:txBody>
      </p:sp>
      <p:cxnSp>
        <p:nvCxnSpPr>
          <p:cNvPr id="12" name="arrow"/>
          <p:cNvCxnSpPr/>
          <p:nvPr/>
        </p:nvCxnSpPr>
        <p:spPr>
          <a:xfrm>
            <a:off x="2720847" y="3678936"/>
            <a:ext cx="34747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086607" y="3450336"/>
            <a:ext cx="3505199" cy="45720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pasted into SQL</a:t>
            </a:r>
          </a:p>
          <a:p>
            <a:pPr algn="ctr"/>
            <a:r>
              <a:rPr sz="1000" b="0" i="0">
                <a:solidFill>
                  <a:srgbClr val="1F2933"/>
                </a:solidFill>
                <a:latin typeface="Courier New"/>
              </a:rPr>
              <a:t>name = 'x' OR '1'='1'</a:t>
            </a:r>
          </a:p>
        </p:txBody>
      </p:sp>
      <p:cxnSp>
        <p:nvCxnSpPr>
          <p:cNvPr id="14" name="arrow"/>
          <p:cNvCxnSpPr/>
          <p:nvPr/>
        </p:nvCxnSpPr>
        <p:spPr>
          <a:xfrm>
            <a:off x="6610096" y="3678936"/>
            <a:ext cx="32918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957568" y="3450336"/>
            <a:ext cx="1820672" cy="45720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2 rows found</a:t>
            </a:r>
          </a:p>
          <a:p>
            <a:pPr algn="ctr"/>
            <a:r>
              <a:rPr sz="1000" b="0" i="0">
                <a:solidFill>
                  <a:srgbClr val="1F2933"/>
                </a:solidFill>
                <a:latin typeface="Calibri"/>
              </a:rPr>
              <a:t>the query was rewritten</a:t>
            </a:r>
          </a:p>
        </p:txBody>
      </p:sp>
      <p:sp>
        <p:nvSpPr>
          <p:cNvPr id="16" name="Rounded Rectangle 15"/>
          <p:cNvSpPr/>
          <p:nvPr/>
        </p:nvSpPr>
        <p:spPr>
          <a:xfrm>
            <a:off x="365760" y="4053840"/>
            <a:ext cx="2336800" cy="45720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the same text</a:t>
            </a:r>
          </a:p>
        </p:txBody>
      </p:sp>
      <p:cxnSp>
        <p:nvCxnSpPr>
          <p:cNvPr id="17" name="arrow"/>
          <p:cNvCxnSpPr/>
          <p:nvPr/>
        </p:nvCxnSpPr>
        <p:spPr>
          <a:xfrm>
            <a:off x="2720847" y="4282440"/>
            <a:ext cx="34747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086607" y="4053840"/>
            <a:ext cx="3505199" cy="4572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bound as a value</a:t>
            </a:r>
          </a:p>
          <a:p>
            <a:pPr algn="ctr"/>
            <a:r>
              <a:rPr sz="1000" b="0" i="0">
                <a:solidFill>
                  <a:srgbClr val="1F2933"/>
                </a:solidFill>
                <a:latin typeface="Courier New"/>
              </a:rPr>
              <a:t>name = ?</a:t>
            </a:r>
          </a:p>
        </p:txBody>
      </p:sp>
      <p:cxnSp>
        <p:nvCxnSpPr>
          <p:cNvPr id="19" name="arrow"/>
          <p:cNvCxnSpPr/>
          <p:nvPr/>
        </p:nvCxnSpPr>
        <p:spPr>
          <a:xfrm>
            <a:off x="6610096" y="4282440"/>
            <a:ext cx="32918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957568" y="4053840"/>
            <a:ext cx="1820672" cy="4572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0 rows found</a:t>
            </a:r>
          </a:p>
          <a:p>
            <a:pPr algn="ctr"/>
            <a:r>
              <a:rPr sz="1000" b="0" i="0">
                <a:solidFill>
                  <a:srgbClr val="1F2933"/>
                </a:solidFill>
                <a:latin typeface="Calibri"/>
              </a:rPr>
              <a:t>it is only a name</a:t>
            </a:r>
          </a:p>
        </p:txBody>
      </p:sp>
      <p:sp>
        <p:nvSpPr>
          <p:cNvPr id="2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Pasted text is code; a bound value is data.</a:t>
            </a:r>
          </a:p>
        </p:txBody>
      </p:sp>
      <p:sp>
        <p:nvSpPr>
          <p:cNvPr id="2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24 / 54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400" b="1" i="0">
                <a:solidFill>
                  <a:srgbClr val="1F2933"/>
                </a:solidFill>
                <a:latin typeface="Calibri"/>
              </a:rPr>
              <a:t>Story: a 2007 webcomic made Little Bobby Tables the injection warning</a:t>
            </a:r>
          </a:p>
        </p:txBody>
      </p:sp>
      <p:pic>
        <p:nvPicPr>
          <p:cNvPr id="4" name="photo bobby" descr="Picture for the story: a 2007 webcomic made Little Bobby Tables the injection warning"/>
          <p:cNvPicPr>
            <a:picLocks noChangeAspect="1"/>
          </p:cNvPicPr>
          <p:nvPr/>
        </p:nvPicPr>
        <p:blipFill>
          <a:blip r:embed="rId3"/>
          <a:stretch>
            <a:fillRect/>
          </a:stretch>
        </p:blipFill>
        <p:spPr>
          <a:xfrm>
            <a:off x="365760" y="868680"/>
            <a:ext cx="2651760"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Randall Munroe, author of xkcd, 2016. Photo: re:publica, CC BY 2.0, Wikimedia Commons.</a:t>
            </a:r>
          </a:p>
        </p:txBody>
      </p:sp>
      <p:sp>
        <p:nvSpPr>
          <p:cNvPr id="6" name="card"/>
          <p:cNvSpPr/>
          <p:nvPr/>
        </p:nvSpPr>
        <p:spPr>
          <a:xfrm>
            <a:off x="3200400" y="8412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Randall Munroe, the author of xkcd.</a:t>
            </a:r>
          </a:p>
        </p:txBody>
      </p:sp>
      <p:sp>
        <p:nvSpPr>
          <p:cNvPr id="8" name="card"/>
          <p:cNvSpPr/>
          <p:nvPr/>
        </p:nvSpPr>
        <p:spPr>
          <a:xfrm>
            <a:off x="3200400" y="1307592"/>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307592"/>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Comic number 327, 'Exploits of a Mom': a boy whose name closes a statement and drops the table of student records.</a:t>
            </a:r>
          </a:p>
        </p:txBody>
      </p:sp>
      <p:sp>
        <p:nvSpPr>
          <p:cNvPr id="10" name="card"/>
          <p:cNvSpPr/>
          <p:nvPr/>
        </p:nvSpPr>
        <p:spPr>
          <a:xfrm>
            <a:off x="3200400" y="1874520"/>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874520"/>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10 October 2007.</a:t>
            </a:r>
          </a:p>
        </p:txBody>
      </p:sp>
      <p:sp>
        <p:nvSpPr>
          <p:cNvPr id="12" name="card"/>
          <p:cNvSpPr/>
          <p:nvPr/>
        </p:nvSpPr>
        <p:spPr>
          <a:xfrm>
            <a:off x="3200400" y="234086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340864"/>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xkcd.com, in a phone call between a school and a mother.</a:t>
            </a:r>
          </a:p>
        </p:txBody>
      </p:sp>
      <p:sp>
        <p:nvSpPr>
          <p:cNvPr id="14" name="card"/>
          <p:cNvSpPr/>
          <p:nvPr/>
        </p:nvSpPr>
        <p:spPr>
          <a:xfrm>
            <a:off x="3200400" y="2807208"/>
            <a:ext cx="5577840" cy="69951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2807208"/>
            <a:ext cx="5486400" cy="699516"/>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To show what happens when a program pastes user text into SQL. The mother hopes the school has learned to sanitize its database inputs.</a:t>
            </a:r>
          </a:p>
        </p:txBody>
      </p:sp>
      <p:sp>
        <p:nvSpPr>
          <p:cNvPr id="16" name="card"/>
          <p:cNvSpPr/>
          <p:nvPr/>
        </p:nvSpPr>
        <p:spPr>
          <a:xfrm>
            <a:off x="3200400" y="3570732"/>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570732"/>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The name is Robert'); DROP TABLE Students;-- . Today you bind values with a ? placeholder, so they stay data.</a:t>
            </a:r>
          </a:p>
        </p:txBody>
      </p:sp>
      <p:sp>
        <p:nvSpPr>
          <p:cNvPr id="18" name="read"/>
          <p:cNvSpPr txBox="1"/>
          <p:nvPr/>
        </p:nvSpPr>
        <p:spPr>
          <a:xfrm>
            <a:off x="3200400" y="4155948"/>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xkcd 327, Exploits of a Mom</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25 / 54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400" b="1" i="0">
                <a:solidFill>
                  <a:srgbClr val="1F2933"/>
                </a:solidFill>
                <a:latin typeface="Calibri"/>
              </a:rPr>
              <a:t>Part 3: Transactions, indexes and schema changes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All or nothing; fast searches; a file that shrinks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Transaction</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group of changes that stand or fall together.</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Rollback</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Undo every change since BEGIN.</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Index</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sorted list that speeds some searches.</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VACUUM</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Rebuilds the file without its empty space.</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266700">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66700">
                <a:tc>
                  <a:txBody>
                    <a:bodyPr wrap="square"/>
                    <a:lstStyle/>
                    <a:p>
                      <a:r>
                        <a:rPr sz="1000" b="0" i="0">
                          <a:solidFill>
                            <a:srgbClr val="1F2933"/>
                          </a:solidFill>
                          <a:latin typeface="Calibri"/>
                        </a:rPr>
                        <a:t>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transactions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0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BEGIN opens a transaction; commit keeps 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00" b="0" i="0">
                          <a:solidFill>
                            <a:srgbClr val="1F2933"/>
                          </a:solidFill>
                          <a:latin typeface="Calibri"/>
                        </a:rPr>
                        <a:t>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A statement that fails changes 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0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Story: two German researchers named trans...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0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with conn: commits on success and rolls 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00" b="0" i="0">
                          <a:solidFill>
                            <a:srgbClr val="1F2933"/>
                          </a:solidFill>
                          <a:latin typeface="Calibri"/>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with conn never closes the connection; cl...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00" b="0" i="0">
                          <a:solidFill>
                            <a:srgbClr val="1F2933"/>
                          </a:solidFill>
                          <a:latin typeface="Calibri"/>
                        </a:rPr>
                        <a:t>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changing and copying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00" b="0" i="0">
                          <a:solidFill>
                            <a:srgbClr val="1F2933"/>
                          </a:solidFill>
                          <a:latin typeface="Calibri"/>
                        </a:rPr>
                        <a:t>34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ALTER TABLE changes a table; DROP TABLE 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00" b="0" i="0">
                          <a:solidFill>
                            <a:srgbClr val="1F2933"/>
                          </a:solidFill>
                          <a:latin typeface="Calibri"/>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speed and the journal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00" b="0" i="0">
                          <a:solidFill>
                            <a:srgbClr val="1F2933"/>
                          </a:solidFill>
                          <a:latin typeface="Calibri"/>
                        </a:rPr>
                        <a:t>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An index serves some searches, not 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00" b="0" i="0">
                          <a:solidFill>
                            <a:srgbClr val="1F2933"/>
                          </a:solidFill>
                          <a:latin typeface="Calibri"/>
                        </a:rPr>
                        <a:t>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A database is a file; VACUUM gives back 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26 / 54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transactions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transaction is like a bank transfer: both the debit and the credit happen, or neither does.</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Transaction and ACID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All-or-nothing, consistent, separate from others, and surviving a power cut.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BEGIN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Opening a new page of the ledger before a transfer.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commit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Signing the page: it is permanent.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rollback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Tearing the page out before anyone saw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Rolling Back Transactions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Undoing a half-done transfer.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Autocommit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clerk who signs every single line at once.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contextlib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toolbox of helpers for do-this-then-clean-up blocks.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27 / 54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400" b="1" i="0">
                <a:solidFill>
                  <a:srgbClr val="1F2933"/>
                </a:solidFill>
                <a:latin typeface="Calibri"/>
              </a:rPr>
              <a:t>BEGIN opens a transaction; commit keeps it, rollback undoes it</a:t>
            </a:r>
          </a:p>
        </p:txBody>
      </p:sp>
      <p:sp>
        <p:nvSpPr>
          <p:cNvPr id="4" name="code"/>
          <p:cNvSpPr/>
          <p:nvPr/>
        </p:nvSpPr>
        <p:spPr>
          <a:xfrm>
            <a:off x="365760" y="786384"/>
            <a:ext cx="4919472"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sqlite3</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sqlite3</a:t>
            </a:r>
            <a:r>
              <a:rPr sz="900" b="0" i="0">
                <a:solidFill>
                  <a:srgbClr val="E6EDF3"/>
                </a:solidFill>
                <a:latin typeface="Courier New"/>
              </a:rPr>
              <a:t>.</a:t>
            </a:r>
            <a:r>
              <a:rPr sz="900" b="0" i="0">
                <a:solidFill>
                  <a:srgbClr val="E6EDF3"/>
                </a:solidFill>
                <a:latin typeface="Courier New"/>
              </a:rPr>
              <a:t>connect</a:t>
            </a:r>
            <a:r>
              <a:rPr sz="900" b="0" i="0">
                <a:solidFill>
                  <a:srgbClr val="E6EDF3"/>
                </a:solidFill>
                <a:latin typeface="Courier New"/>
              </a:rPr>
              <a:t>(</a:t>
            </a:r>
            <a:r>
              <a:rPr sz="900" b="0" i="0">
                <a:solidFill>
                  <a:srgbClr val="9BE3A8"/>
                </a:solidFill>
                <a:latin typeface="Courier New"/>
              </a:rPr>
              <a:t>':memory:'</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isolation_level</a:t>
            </a:r>
            <a:r>
              <a:rPr sz="900" b="0" i="0">
                <a:solidFill>
                  <a:srgbClr val="E6EDF3"/>
                </a:solidFill>
                <a:latin typeface="Courier New"/>
              </a:rPr>
              <a:t>=</a:t>
            </a:r>
            <a:r>
              <a:rPr sz="900" b="0" i="0">
                <a:solidFill>
                  <a:srgbClr val="E6EDF3"/>
                </a:solidFill>
                <a:latin typeface="Courier New"/>
              </a:rPr>
              <a:t>None</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'CREATE TABLE t (a INTEGER NOT NULL)'</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n</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C9A0FF"/>
                </a:solidFill>
                <a:latin typeface="Courier New"/>
              </a:rPr>
              <a:t>lambda</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'SELECT count(*) FROM 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fetchone</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p>
        </p:txBody>
      </p:sp>
      <p:sp>
        <p:nvSpPr>
          <p:cNvPr id="5" name="explanation"/>
          <p:cNvSpPr txBox="1"/>
          <p:nvPr/>
        </p:nvSpPr>
        <p:spPr>
          <a:xfrm>
            <a:off x="5266944" y="786384"/>
            <a:ext cx="3511295" cy="694944"/>
          </a:xfrm>
          <a:prstGeom prst="rect">
            <a:avLst/>
          </a:prstGeom>
          <a:noFill/>
        </p:spPr>
        <p:txBody>
          <a:bodyPr wrap="square" lIns="128016" rIns="128016" tIns="18288" bIns="18288" anchor="ctr">
            <a:spAutoFit/>
          </a:bodyPr>
          <a:lstStyle/>
          <a:p>
            <a:r>
              <a:rPr sz="1100" b="0" i="0">
                <a:solidFill>
                  <a:srgbClr val="1F2933"/>
                </a:solidFill>
                <a:latin typeface="Calibri"/>
              </a:rPr>
              <a:t>In autocommit mode every statement is saved at once, unless you open a transaction yourself. n() reads the row count.</a:t>
            </a:r>
          </a:p>
        </p:txBody>
      </p:sp>
      <p:sp>
        <p:nvSpPr>
          <p:cNvPr id="6" name="code"/>
          <p:cNvSpPr/>
          <p:nvPr/>
        </p:nvSpPr>
        <p:spPr>
          <a:xfrm>
            <a:off x="365760" y="1527048"/>
            <a:ext cx="4919472" cy="83439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'BEGIN'</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'INSERT INTO t VALUES (1)'</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'inside:'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n</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in_transaction</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rollback</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'after rollback:'</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n</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266944" y="1527048"/>
            <a:ext cx="3511295" cy="834390"/>
          </a:xfrm>
          <a:prstGeom prst="rect">
            <a:avLst/>
          </a:prstGeom>
          <a:noFill/>
        </p:spPr>
        <p:txBody>
          <a:bodyPr wrap="square" lIns="128016" rIns="128016" tIns="18288" bIns="18288" anchor="ctr">
            <a:spAutoFit/>
          </a:bodyPr>
          <a:lstStyle/>
          <a:p>
            <a:r>
              <a:rPr sz="1100" b="0" i="0">
                <a:solidFill>
                  <a:srgbClr val="1F2933"/>
                </a:solidFill>
                <a:latin typeface="Calibri"/>
              </a:rPr>
              <a:t>Inside the transaction the new row is visible to us. Rollback throws it away.</a:t>
            </a:r>
          </a:p>
        </p:txBody>
      </p:sp>
      <p:sp>
        <p:nvSpPr>
          <p:cNvPr id="8" name="code"/>
          <p:cNvSpPr/>
          <p:nvPr/>
        </p:nvSpPr>
        <p:spPr>
          <a:xfrm>
            <a:off x="365760" y="2407158"/>
            <a:ext cx="4919472"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'BEGIN'</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'INSERT INTO t VALUES (2)'</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commit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'after commit:'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n</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in_transaction</a:t>
            </a:r>
            <a:r>
              <a:rPr sz="900" b="0" i="0">
                <a:solidFill>
                  <a:srgbClr val="E6EDF3"/>
                </a:solidFill>
                <a:latin typeface="Courier New"/>
              </a:rPr>
              <a:t>)</a:t>
            </a:r>
          </a:p>
        </p:txBody>
      </p:sp>
      <p:sp>
        <p:nvSpPr>
          <p:cNvPr id="9" name="explanation"/>
          <p:cNvSpPr txBox="1"/>
          <p:nvPr/>
        </p:nvSpPr>
        <p:spPr>
          <a:xfrm>
            <a:off x="5266944" y="2407158"/>
            <a:ext cx="3511295" cy="694944"/>
          </a:xfrm>
          <a:prstGeom prst="rect">
            <a:avLst/>
          </a:prstGeom>
          <a:noFill/>
        </p:spPr>
        <p:txBody>
          <a:bodyPr wrap="square" lIns="128016" rIns="128016" tIns="18288" bIns="18288" anchor="ctr">
            <a:spAutoFit/>
          </a:bodyPr>
          <a:lstStyle/>
          <a:p>
            <a:r>
              <a:rPr sz="1100" b="0" i="0">
                <a:solidFill>
                  <a:srgbClr val="1F2933"/>
                </a:solidFill>
                <a:latin typeface="Calibri"/>
              </a:rPr>
              <a:t>Commit makes the change permanent and ends the transaction.</a:t>
            </a:r>
          </a:p>
        </p:txBody>
      </p:sp>
      <p:sp>
        <p:nvSpPr>
          <p:cNvPr id="10" name="result label"/>
          <p:cNvSpPr txBox="1"/>
          <p:nvPr/>
        </p:nvSpPr>
        <p:spPr>
          <a:xfrm>
            <a:off x="365760" y="315696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3358134"/>
          <a:ext cx="4206240" cy="1323594"/>
        </p:xfrm>
        <a:graphic>
          <a:graphicData uri="http://schemas.openxmlformats.org/drawingml/2006/chart">
            <c:chart xmlns:c="http://schemas.openxmlformats.org/drawingml/2006/chart" r:id="rId3"/>
          </a:graphicData>
        </a:graphic>
      </p:graphicFrame>
      <p:sp>
        <p:nvSpPr>
          <p:cNvPr id="12" name="Rounded Rectangle 11"/>
          <p:cNvSpPr/>
          <p:nvPr/>
        </p:nvSpPr>
        <p:spPr>
          <a:xfrm>
            <a:off x="4992624" y="3403854"/>
            <a:ext cx="3785615" cy="329184"/>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BEGIN, INSERT 1: 1, in a transaction True</a:t>
            </a:r>
          </a:p>
        </p:txBody>
      </p:sp>
      <p:sp>
        <p:nvSpPr>
          <p:cNvPr id="13" name="Rounded Rectangle 12"/>
          <p:cNvSpPr/>
          <p:nvPr/>
        </p:nvSpPr>
        <p:spPr>
          <a:xfrm>
            <a:off x="4992624" y="3787902"/>
            <a:ext cx="3785615" cy="329184"/>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rollback: the row is gone, 0 row</a:t>
            </a:r>
          </a:p>
        </p:txBody>
      </p:sp>
      <p:sp>
        <p:nvSpPr>
          <p:cNvPr id="14" name="Rounded Rectangle 13"/>
          <p:cNvSpPr/>
          <p:nvPr/>
        </p:nvSpPr>
        <p:spPr>
          <a:xfrm>
            <a:off x="4992624" y="4171950"/>
            <a:ext cx="3785615" cy="329184"/>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BEGIN, INSERT 2, commit: 1 row, in a transaction False</a:t>
            </a:r>
          </a:p>
        </p:txBody>
      </p:sp>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Commit keeps, rollback undoes.</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28 / 54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statement that fails changes nothing</a:t>
            </a:r>
          </a:p>
        </p:txBody>
      </p:sp>
      <p:sp>
        <p:nvSpPr>
          <p:cNvPr id="4" name="code"/>
          <p:cNvSpPr/>
          <p:nvPr/>
        </p:nvSpPr>
        <p:spPr>
          <a:xfrm>
            <a:off x="365760" y="786384"/>
            <a:ext cx="54376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isolation_level</a:t>
            </a:r>
            <a:r>
              <a:rPr sz="1000" b="0" i="0">
                <a:solidFill>
                  <a:srgbClr val="E6EDF3"/>
                </a:solidFill>
                <a:latin typeface="Courier New"/>
              </a:rPr>
              <a:t>=</a:t>
            </a:r>
            <a:r>
              <a:rPr sz="1000" b="0" i="0">
                <a:solidFill>
                  <a:srgbClr val="E6EDF3"/>
                </a:solidFill>
                <a:latin typeface="Courier New"/>
              </a:rPr>
              <a:t>None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TABLE t (a INTEGER NOT NULL)'</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lambda</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'SELECT count(*) FROM 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fetchone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p>
        </p:txBody>
      </p:sp>
      <p:sp>
        <p:nvSpPr>
          <p:cNvPr id="5" name="explanation"/>
          <p:cNvSpPr txBox="1"/>
          <p:nvPr/>
        </p:nvSpPr>
        <p:spPr>
          <a:xfrm>
            <a:off x="5785104" y="786384"/>
            <a:ext cx="2993135" cy="756920"/>
          </a:xfrm>
          <a:prstGeom prst="rect">
            <a:avLst/>
          </a:prstGeom>
          <a:noFill/>
        </p:spPr>
        <p:txBody>
          <a:bodyPr wrap="square" lIns="128016" rIns="128016" tIns="18288" bIns="18288" anchor="ctr">
            <a:spAutoFit/>
          </a:bodyPr>
          <a:lstStyle/>
          <a:p>
            <a:r>
              <a:rPr sz="1100" b="0" i="0">
                <a:solidFill>
                  <a:srgbClr val="1F2933"/>
                </a:solidFill>
                <a:latin typeface="Calibri"/>
              </a:rPr>
              <a:t>A table whose column refuses NULL, so that a row without a value is an error. n() reads the number of rows.</a:t>
            </a:r>
          </a:p>
        </p:txBody>
      </p:sp>
      <p:sp>
        <p:nvSpPr>
          <p:cNvPr id="6" name="code"/>
          <p:cNvSpPr/>
          <p:nvPr/>
        </p:nvSpPr>
        <p:spPr>
          <a:xfrm>
            <a:off x="365760" y="1589023"/>
            <a:ext cx="54376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try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'INSERT INTO t VALUES (1), (2), (NULL)'</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except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IntegrityError</a:t>
            </a:r>
            <a:r>
              <a:rPr sz="1000" b="0" i="0">
                <a:solidFill>
                  <a:srgbClr val="E6EDF3"/>
                </a:solidFill>
                <a:latin typeface="Courier New"/>
              </a:rPr>
              <a:t> </a:t>
            </a:r>
            <a:r>
              <a:rPr sz="1000" b="0" i="0">
                <a:solidFill>
                  <a:srgbClr val="E6EDF3"/>
                </a:solidFill>
                <a:latin typeface="Courier New"/>
              </a:rPr>
              <a:t>as</a:t>
            </a:r>
            <a:r>
              <a:rPr sz="1000" b="0" i="0">
                <a:solidFill>
                  <a:srgbClr val="E6EDF3"/>
                </a:solidFill>
                <a:latin typeface="Courier New"/>
              </a:rPr>
              <a:t> </a:t>
            </a:r>
            <a:r>
              <a:rPr sz="1000" b="0" i="0">
                <a:solidFill>
                  <a:srgbClr val="E6EDF3"/>
                </a:solidFill>
                <a:latin typeface="Courier New"/>
              </a:rPr>
              <a:t>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'refused:'</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a:t>
            </a:r>
            <a:r>
              <a:rPr sz="1000" b="0" i="0">
                <a:solidFill>
                  <a:srgbClr val="E6EDF3"/>
                </a:solidFill>
                <a:latin typeface="Courier New"/>
              </a:rPr>
              <a:t>)</a:t>
            </a:r>
          </a:p>
        </p:txBody>
      </p:sp>
      <p:sp>
        <p:nvSpPr>
          <p:cNvPr id="7" name="explanation"/>
          <p:cNvSpPr txBox="1"/>
          <p:nvPr/>
        </p:nvSpPr>
        <p:spPr>
          <a:xfrm>
            <a:off x="5785104" y="1589023"/>
            <a:ext cx="2993135" cy="756920"/>
          </a:xfrm>
          <a:prstGeom prst="rect">
            <a:avLst/>
          </a:prstGeom>
          <a:noFill/>
        </p:spPr>
        <p:txBody>
          <a:bodyPr wrap="square" lIns="128016" rIns="128016" tIns="18288" bIns="18288" anchor="ctr">
            <a:spAutoFit/>
          </a:bodyPr>
          <a:lstStyle/>
          <a:p>
            <a:r>
              <a:rPr sz="1100" b="0" i="0">
                <a:solidFill>
                  <a:srgbClr val="1F2933"/>
                </a:solidFill>
                <a:latin typeface="Calibri"/>
              </a:rPr>
              <a:t>Three rows in one statement; the third breaks the rule. The whole statement is refused.</a:t>
            </a:r>
          </a:p>
        </p:txBody>
      </p:sp>
      <p:sp>
        <p:nvSpPr>
          <p:cNvPr id="8" name="code"/>
          <p:cNvSpPr/>
          <p:nvPr/>
        </p:nvSpPr>
        <p:spPr>
          <a:xfrm>
            <a:off x="365760" y="2391664"/>
            <a:ext cx="54376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'rows after the failure:'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'INSERT INTO t VALUES (3), (4)'</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'rows after a good insert:'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785104" y="2391664"/>
            <a:ext cx="2993135" cy="651891"/>
          </a:xfrm>
          <a:prstGeom prst="rect">
            <a:avLst/>
          </a:prstGeom>
          <a:noFill/>
        </p:spPr>
        <p:txBody>
          <a:bodyPr wrap="square" lIns="128016" rIns="128016" tIns="18288" bIns="18288" anchor="ctr">
            <a:spAutoFit/>
          </a:bodyPr>
          <a:lstStyle/>
          <a:p>
            <a:r>
              <a:rPr sz="1100" b="0" i="0">
                <a:solidFill>
                  <a:srgbClr val="1F2933"/>
                </a:solidFill>
                <a:latin typeface="Calibri"/>
              </a:rPr>
              <a:t>The rows 1 and 2 were undone too: a statement is atomic, all of it or none of it.</a:t>
            </a:r>
          </a:p>
        </p:txBody>
      </p:sp>
      <p:sp>
        <p:nvSpPr>
          <p:cNvPr id="10" name="result label"/>
          <p:cNvSpPr txBox="1"/>
          <p:nvPr/>
        </p:nvSpPr>
        <p:spPr>
          <a:xfrm>
            <a:off x="365760" y="3098419"/>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391026"/>
            <a:ext cx="1863089" cy="64008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INSERT 1</a:t>
            </a:r>
          </a:p>
        </p:txBody>
      </p:sp>
      <p:cxnSp>
        <p:nvCxnSpPr>
          <p:cNvPr id="12" name="arrow"/>
          <p:cNvCxnSpPr/>
          <p:nvPr/>
        </p:nvCxnSpPr>
        <p:spPr>
          <a:xfrm>
            <a:off x="2247137" y="3711067"/>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48889" y="3391026"/>
            <a:ext cx="1863089" cy="64008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INSERT 2</a:t>
            </a:r>
          </a:p>
        </p:txBody>
      </p:sp>
      <p:cxnSp>
        <p:nvCxnSpPr>
          <p:cNvPr id="14" name="arrow"/>
          <p:cNvCxnSpPr/>
          <p:nvPr/>
        </p:nvCxnSpPr>
        <p:spPr>
          <a:xfrm>
            <a:off x="4430267" y="3711067"/>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732020" y="3391026"/>
            <a:ext cx="1863089" cy="64008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INSERT NULL</a:t>
            </a:r>
          </a:p>
          <a:p>
            <a:pPr algn="ctr"/>
            <a:r>
              <a:rPr sz="1000" b="0" i="0">
                <a:solidFill>
                  <a:srgbClr val="1F2933"/>
                </a:solidFill>
                <a:latin typeface="Calibri"/>
              </a:rPr>
              <a:t>NOT NULL constraint faile...</a:t>
            </a:r>
          </a:p>
        </p:txBody>
      </p:sp>
      <p:cxnSp>
        <p:nvCxnSpPr>
          <p:cNvPr id="16" name="arrow"/>
          <p:cNvCxnSpPr/>
          <p:nvPr/>
        </p:nvCxnSpPr>
        <p:spPr>
          <a:xfrm>
            <a:off x="6613397" y="3711067"/>
            <a:ext cx="28346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915150" y="3391026"/>
            <a:ext cx="1863089" cy="640080"/>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rows left: 0</a:t>
            </a:r>
          </a:p>
        </p:txBody>
      </p:sp>
      <p:sp>
        <p:nvSpPr>
          <p:cNvPr id="18" name="Rounded Rectangle 17"/>
          <p:cNvSpPr/>
          <p:nvPr/>
        </p:nvSpPr>
        <p:spPr>
          <a:xfrm>
            <a:off x="4151376" y="4168267"/>
            <a:ext cx="4626864" cy="2743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then INSERT 3 and 4 in one good statement: 2 rows</a:t>
            </a:r>
          </a:p>
        </p:txBody>
      </p:sp>
      <p:sp>
        <p:nvSpPr>
          <p:cNvPr id="19" name="visual note"/>
          <p:cNvSpPr txBox="1"/>
          <p:nvPr/>
        </p:nvSpPr>
        <p:spPr>
          <a:xfrm>
            <a:off x="365760" y="4186555"/>
            <a:ext cx="3701491" cy="219456"/>
          </a:xfrm>
          <a:prstGeom prst="rect">
            <a:avLst/>
          </a:prstGeom>
          <a:noFill/>
        </p:spPr>
        <p:txBody>
          <a:bodyPr wrap="square" lIns="45720" rIns="45720" tIns="27432" bIns="27432" anchor="t">
            <a:spAutoFit/>
          </a:bodyPr>
          <a:lstStyle/>
          <a:p>
            <a:r>
              <a:rPr sz="950" b="0" i="1">
                <a:solidFill>
                  <a:srgbClr val="5B6773"/>
                </a:solidFill>
                <a:latin typeface="Calibri"/>
              </a:rPr>
              <a:t>all three are one statement</a:t>
            </a:r>
          </a:p>
        </p:txBody>
      </p:sp>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failed statement leaves no trace.</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29 / 54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600" b="1" i="0">
                <a:solidFill>
                  <a:srgbClr val="1F2933"/>
                </a:solidFill>
                <a:latin typeface="Calibri"/>
              </a:rPr>
              <a:t>Story: two German researchers named transactions ACID in 1983</a:t>
            </a:r>
          </a:p>
        </p:txBody>
      </p:sp>
      <p:pic>
        <p:nvPicPr>
          <p:cNvPr id="4" name="photo acid" descr="Picture for the story: two German researchers named transactions ACID in 1983"/>
          <p:cNvPicPr>
            <a:picLocks noChangeAspect="1"/>
          </p:cNvPicPr>
          <p:nvPr/>
        </p:nvPicPr>
        <p:blipFill>
          <a:blip r:embed="rId3"/>
          <a:stretch>
            <a:fillRect/>
          </a:stretch>
        </p:blipFill>
        <p:spPr>
          <a:xfrm>
            <a:off x="365988" y="868680"/>
            <a:ext cx="2651303"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Jim Gray. Photo: dullhunk, CC BY 2.0, Flickr.</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Theo Haerder and Andreas Reuter, building on Jim Gray, who is shown here.</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The acronym ACID: atomicity, consistency, isolation, durability. Gray had named three of them, but not isolation.</a:t>
            </a:r>
          </a:p>
        </p:txBody>
      </p:sp>
      <p:sp>
        <p:nvSpPr>
          <p:cNvPr id="10" name="card"/>
          <p:cNvSpPr/>
          <p:nvPr/>
        </p:nvSpPr>
        <p:spPr>
          <a:xfrm>
            <a:off x="3200400" y="1975104"/>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1983; Gray's paper 'The Transaction Concept' is from September 1981.</a:t>
            </a:r>
          </a:p>
        </p:txBody>
      </p:sp>
      <p:sp>
        <p:nvSpPr>
          <p:cNvPr id="12" name="card"/>
          <p:cNvSpPr/>
          <p:nvPr/>
        </p:nvSpPr>
        <p:spPr>
          <a:xfrm>
            <a:off x="3200400" y="2542032"/>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42032"/>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ACM Computing Surveys, volume 15, number 4, page 287.</a:t>
            </a:r>
          </a:p>
        </p:txBody>
      </p:sp>
      <p:sp>
        <p:nvSpPr>
          <p:cNvPr id="14" name="card"/>
          <p:cNvSpPr/>
          <p:nvPr/>
        </p:nvSpPr>
        <p:spPr>
          <a:xfrm>
            <a:off x="3200400" y="30083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083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To name what a database must promise when a transfer is half done or the power fails.</a:t>
            </a:r>
          </a:p>
        </p:txBody>
      </p:sp>
      <p:sp>
        <p:nvSpPr>
          <p:cNvPr id="16" name="card"/>
          <p:cNvSpPr/>
          <p:nvPr/>
        </p:nvSpPr>
        <p:spPr>
          <a:xfrm>
            <a:off x="3200400" y="3575304"/>
            <a:ext cx="5577840" cy="69951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575304"/>
            <a:ext cx="5486400" cy="699516"/>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The paper is 'Principles of Transaction-Oriented Database Recovery'. SQLite is tested with simulated power loss to keep these promises.</a:t>
            </a:r>
          </a:p>
        </p:txBody>
      </p:sp>
      <p:sp>
        <p:nvSpPr>
          <p:cNvPr id="18" name="read"/>
          <p:cNvSpPr txBox="1"/>
          <p:nvPr/>
        </p:nvSpPr>
        <p:spPr>
          <a:xfrm>
            <a:off x="3200400" y="4357116"/>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ACID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30 / 54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with conn: commits on success and rolls back on error</a:t>
            </a:r>
          </a:p>
        </p:txBody>
      </p:sp>
      <p:sp>
        <p:nvSpPr>
          <p:cNvPr id="4" name="code"/>
          <p:cNvSpPr/>
          <p:nvPr/>
        </p:nvSpPr>
        <p:spPr>
          <a:xfrm>
            <a:off x="365760" y="786384"/>
            <a:ext cx="54376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TABLE t (a INTEGER NOT NULL)'</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lambda</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'SELECT count(*) FROM 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fetchone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p>
        </p:txBody>
      </p:sp>
      <p:sp>
        <p:nvSpPr>
          <p:cNvPr id="5" name="explanation"/>
          <p:cNvSpPr txBox="1"/>
          <p:nvPr/>
        </p:nvSpPr>
        <p:spPr>
          <a:xfrm>
            <a:off x="5785104" y="786384"/>
            <a:ext cx="2993135" cy="756920"/>
          </a:xfrm>
          <a:prstGeom prst="rect">
            <a:avLst/>
          </a:prstGeom>
          <a:noFill/>
        </p:spPr>
        <p:txBody>
          <a:bodyPr wrap="square" lIns="128016" rIns="128016" tIns="18288" bIns="18288" anchor="ctr">
            <a:spAutoFit/>
          </a:bodyPr>
          <a:lstStyle/>
          <a:p>
            <a:r>
              <a:rPr sz="1100" b="0" i="0">
                <a:solidFill>
                  <a:srgbClr val="1F2933"/>
                </a:solidFill>
                <a:latin typeface="Calibri"/>
              </a:rPr>
              <a:t>A table that refuses NULL, and n(), which reads the number of rows.</a:t>
            </a:r>
          </a:p>
        </p:txBody>
      </p:sp>
      <p:sp>
        <p:nvSpPr>
          <p:cNvPr id="6" name="code"/>
          <p:cNvSpPr/>
          <p:nvPr/>
        </p:nvSpPr>
        <p:spPr>
          <a:xfrm>
            <a:off x="365760" y="1589023"/>
            <a:ext cx="5437632" cy="60198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with</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'INSERT INTO t VALUES (1)'</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'after the first block:'</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785104" y="1589023"/>
            <a:ext cx="2993135" cy="601980"/>
          </a:xfrm>
          <a:prstGeom prst="rect">
            <a:avLst/>
          </a:prstGeom>
          <a:noFill/>
        </p:spPr>
        <p:txBody>
          <a:bodyPr wrap="square" lIns="128016" rIns="128016" tIns="18288" bIns="18288" anchor="ctr">
            <a:spAutoFit/>
          </a:bodyPr>
          <a:lstStyle/>
          <a:p>
            <a:r>
              <a:rPr sz="1100" b="0" i="0">
                <a:solidFill>
                  <a:srgbClr val="1F2933"/>
                </a:solidFill>
                <a:latin typeface="Calibri"/>
              </a:rPr>
              <a:t>Leaving the with block without an error commits the insert.</a:t>
            </a:r>
          </a:p>
        </p:txBody>
      </p:sp>
      <p:sp>
        <p:nvSpPr>
          <p:cNvPr id="8" name="code"/>
          <p:cNvSpPr/>
          <p:nvPr/>
        </p:nvSpPr>
        <p:spPr>
          <a:xfrm>
            <a:off x="365760" y="2236724"/>
            <a:ext cx="5437632" cy="106679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try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with</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'INSERT INTO t VALUES (2)'</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'INSERT INTO t VALUES (NULL)'</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except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IntegrityError</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'second block failed, rows left:'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785104" y="2236724"/>
            <a:ext cx="2993135" cy="1066799"/>
          </a:xfrm>
          <a:prstGeom prst="rect">
            <a:avLst/>
          </a:prstGeom>
          <a:noFill/>
        </p:spPr>
        <p:txBody>
          <a:bodyPr wrap="square" lIns="128016" rIns="128016" tIns="18288" bIns="18288" anchor="ctr">
            <a:spAutoFit/>
          </a:bodyPr>
          <a:lstStyle/>
          <a:p>
            <a:r>
              <a:rPr sz="1100" b="0" i="0">
                <a:solidFill>
                  <a:srgbClr val="1F2933"/>
                </a:solidFill>
                <a:latin typeface="Calibri"/>
              </a:rPr>
              <a:t>An error inside the block rolls back every change made in it, the good row 2 too.</a:t>
            </a:r>
          </a:p>
        </p:txBody>
      </p:sp>
      <p:sp>
        <p:nvSpPr>
          <p:cNvPr id="10" name="result label"/>
          <p:cNvSpPr txBox="1"/>
          <p:nvPr/>
        </p:nvSpPr>
        <p:spPr>
          <a:xfrm>
            <a:off x="365760" y="3358388"/>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650996"/>
            <a:ext cx="1863089" cy="6858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with conn:</a:t>
            </a:r>
          </a:p>
          <a:p>
            <a:pPr algn="ctr"/>
            <a:r>
              <a:rPr sz="950" b="0" i="0">
                <a:solidFill>
                  <a:srgbClr val="1F2933"/>
                </a:solidFill>
                <a:latin typeface="Calibri"/>
              </a:rPr>
              <a:t>INSERT 1</a:t>
            </a:r>
          </a:p>
          <a:p>
            <a:pPr algn="ctr"/>
            <a:r>
              <a:rPr sz="950" b="0" i="0">
                <a:solidFill>
                  <a:srgbClr val="1F2933"/>
                </a:solidFill>
                <a:latin typeface="Calibri"/>
              </a:rPr>
              <a:t>commit at the end</a:t>
            </a:r>
          </a:p>
        </p:txBody>
      </p:sp>
      <p:cxnSp>
        <p:nvCxnSpPr>
          <p:cNvPr id="12" name="arrow"/>
          <p:cNvCxnSpPr/>
          <p:nvPr/>
        </p:nvCxnSpPr>
        <p:spPr>
          <a:xfrm>
            <a:off x="2247137" y="3993896"/>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48889" y="3650996"/>
            <a:ext cx="1863089" cy="685800"/>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rows: 1</a:t>
            </a:r>
          </a:p>
        </p:txBody>
      </p:sp>
      <p:cxnSp>
        <p:nvCxnSpPr>
          <p:cNvPr id="14" name="arrow"/>
          <p:cNvCxnSpPr/>
          <p:nvPr/>
        </p:nvCxnSpPr>
        <p:spPr>
          <a:xfrm>
            <a:off x="4430267" y="3993896"/>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732020" y="3650996"/>
            <a:ext cx="1863089" cy="68580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with conn:</a:t>
            </a:r>
          </a:p>
          <a:p>
            <a:pPr algn="ctr"/>
            <a:r>
              <a:rPr sz="950" b="0" i="0">
                <a:solidFill>
                  <a:srgbClr val="1F2933"/>
                </a:solidFill>
                <a:latin typeface="Calibri"/>
              </a:rPr>
              <a:t>INSERT 2, INSERT NULL</a:t>
            </a:r>
          </a:p>
          <a:p>
            <a:pPr algn="ctr"/>
            <a:r>
              <a:rPr sz="950" b="0" i="0">
                <a:solidFill>
                  <a:srgbClr val="1F2933"/>
                </a:solidFill>
                <a:latin typeface="Calibri"/>
              </a:rPr>
              <a:t>error: rollback</a:t>
            </a:r>
          </a:p>
        </p:txBody>
      </p:sp>
      <p:cxnSp>
        <p:nvCxnSpPr>
          <p:cNvPr id="16" name="arrow"/>
          <p:cNvCxnSpPr/>
          <p:nvPr/>
        </p:nvCxnSpPr>
        <p:spPr>
          <a:xfrm>
            <a:off x="6613397" y="3993896"/>
            <a:ext cx="28346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915150" y="3650996"/>
            <a:ext cx="1863089" cy="685800"/>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rows left: 1</a:t>
            </a:r>
          </a:p>
        </p:txBody>
      </p:sp>
      <p:sp>
        <p:nvSpPr>
          <p:cNvPr id="18" name="visual note"/>
          <p:cNvSpPr txBox="1"/>
          <p:nvPr/>
        </p:nvSpPr>
        <p:spPr>
          <a:xfrm>
            <a:off x="365760" y="4382516"/>
            <a:ext cx="8412480" cy="219456"/>
          </a:xfrm>
          <a:prstGeom prst="rect">
            <a:avLst/>
          </a:prstGeom>
          <a:noFill/>
        </p:spPr>
        <p:txBody>
          <a:bodyPr wrap="square" lIns="45720" rIns="45720" tIns="27432" bIns="27432" anchor="t">
            <a:spAutoFit/>
          </a:bodyPr>
          <a:lstStyle/>
          <a:p>
            <a:r>
              <a:rPr sz="950" b="0" i="1">
                <a:solidFill>
                  <a:srgbClr val="5B6773"/>
                </a:solidFill>
                <a:latin typeface="Calibri"/>
              </a:rPr>
              <a:t>the second block failed, so the good row 2 was undone with the bad one</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with conn: commits or rolls back.</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31 / 54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with conn never closes the connection; closing() does</a:t>
            </a:r>
          </a:p>
        </p:txBody>
      </p:sp>
      <p:sp>
        <p:nvSpPr>
          <p:cNvPr id="4" name="code"/>
          <p:cNvSpPr/>
          <p:nvPr/>
        </p:nvSpPr>
        <p:spPr>
          <a:xfrm>
            <a:off x="365760" y="786384"/>
            <a:ext cx="5590032" cy="9118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contextlib</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with</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TABLE t (a INTEGER)'</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'after with conn:'</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'SELECT 6 * 7'</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fetchone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5937504" y="786384"/>
            <a:ext cx="2840735" cy="911859"/>
          </a:xfrm>
          <a:prstGeom prst="rect">
            <a:avLst/>
          </a:prstGeom>
          <a:noFill/>
        </p:spPr>
        <p:txBody>
          <a:bodyPr wrap="square" lIns="128016" rIns="128016" tIns="18288" bIns="18288" anchor="ctr">
            <a:spAutoFit/>
          </a:bodyPr>
          <a:lstStyle/>
          <a:p>
            <a:r>
              <a:rPr sz="1100" b="0" i="0">
                <a:solidFill>
                  <a:srgbClr val="1F2933"/>
                </a:solidFill>
                <a:latin typeface="Calibri"/>
              </a:rPr>
              <a:t>A with block on the connection ends a transaction. It does not close the connection, which still answers.</a:t>
            </a:r>
          </a:p>
        </p:txBody>
      </p:sp>
      <p:sp>
        <p:nvSpPr>
          <p:cNvPr id="6" name="code"/>
          <p:cNvSpPr/>
          <p:nvPr/>
        </p:nvSpPr>
        <p:spPr>
          <a:xfrm>
            <a:off x="365760" y="1743963"/>
            <a:ext cx="5590032" cy="106679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with</a:t>
            </a:r>
            <a:r>
              <a:rPr sz="1000" b="0" i="0">
                <a:solidFill>
                  <a:srgbClr val="E6EDF3"/>
                </a:solidFill>
                <a:latin typeface="Courier New"/>
              </a:rPr>
              <a:t> </a:t>
            </a:r>
            <a:r>
              <a:rPr sz="1000" b="0" i="0">
                <a:solidFill>
                  <a:srgbClr val="E6EDF3"/>
                </a:solidFill>
                <a:latin typeface="Courier New"/>
              </a:rPr>
              <a:t>contextlib</a:t>
            </a:r>
            <a:r>
              <a:rPr sz="1000" b="0" i="0">
                <a:solidFill>
                  <a:srgbClr val="E6EDF3"/>
                </a:solidFill>
                <a:latin typeface="Courier New"/>
              </a:rPr>
              <a:t>.</a:t>
            </a:r>
            <a:r>
              <a:rPr sz="1000" b="0" i="0">
                <a:solidFill>
                  <a:srgbClr val="E6EDF3"/>
                </a:solidFill>
                <a:latin typeface="Courier New"/>
              </a:rPr>
              <a:t>closing</a:t>
            </a:r>
            <a:r>
              <a:rPr sz="1000" b="0" i="0">
                <a:solidFill>
                  <a:srgbClr val="E6EDF3"/>
                </a:solidFill>
                <a:latin typeface="Courier New"/>
              </a:rPr>
              <a:t>(</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'SELECT 1'</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try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'SELECT 2'</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except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ProgrammingError</a:t>
            </a:r>
            <a:r>
              <a:rPr sz="1000" b="0" i="0">
                <a:solidFill>
                  <a:srgbClr val="E6EDF3"/>
                </a:solidFill>
                <a:latin typeface="Courier New"/>
              </a:rPr>
              <a:t> </a:t>
            </a:r>
            <a:r>
              <a:rPr sz="1000" b="0" i="0">
                <a:solidFill>
                  <a:srgbClr val="E6EDF3"/>
                </a:solidFill>
                <a:latin typeface="Courier New"/>
              </a:rPr>
              <a:t>as</a:t>
            </a:r>
            <a:r>
              <a:rPr sz="1000" b="0" i="0">
                <a:solidFill>
                  <a:srgbClr val="E6EDF3"/>
                </a:solidFill>
                <a:latin typeface="Courier New"/>
              </a:rPr>
              <a:t> </a:t>
            </a:r>
            <a:r>
              <a:rPr sz="1000" b="0" i="0">
                <a:solidFill>
                  <a:srgbClr val="E6EDF3"/>
                </a:solidFill>
                <a:latin typeface="Courier New"/>
              </a:rPr>
              <a:t>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'after closing():'</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a:t>
            </a:r>
            <a:r>
              <a:rPr sz="1000" b="0" i="0">
                <a:solidFill>
                  <a:srgbClr val="E6EDF3"/>
                </a:solidFill>
                <a:latin typeface="Courier New"/>
              </a:rPr>
              <a:t>)</a:t>
            </a:r>
          </a:p>
        </p:txBody>
      </p:sp>
      <p:sp>
        <p:nvSpPr>
          <p:cNvPr id="7" name="explanation"/>
          <p:cNvSpPr txBox="1"/>
          <p:nvPr/>
        </p:nvSpPr>
        <p:spPr>
          <a:xfrm>
            <a:off x="5937504" y="1743963"/>
            <a:ext cx="2840735" cy="1066799"/>
          </a:xfrm>
          <a:prstGeom prst="rect">
            <a:avLst/>
          </a:prstGeom>
          <a:noFill/>
        </p:spPr>
        <p:txBody>
          <a:bodyPr wrap="square" lIns="128016" rIns="128016" tIns="18288" bIns="18288" anchor="ctr">
            <a:spAutoFit/>
          </a:bodyPr>
          <a:lstStyle/>
          <a:p>
            <a:r>
              <a:rPr sz="1100" b="0" i="0">
                <a:solidFill>
                  <a:srgbClr val="1F2933"/>
                </a:solidFill>
                <a:latin typeface="Calibri"/>
              </a:rPr>
              <a:t>contextlib.closing() closes the connection at the end of its block. Then the next statement is refused.</a:t>
            </a:r>
          </a:p>
        </p:txBody>
      </p:sp>
      <p:sp>
        <p:nvSpPr>
          <p:cNvPr id="8" name="result label"/>
          <p:cNvSpPr txBox="1"/>
          <p:nvPr/>
        </p:nvSpPr>
        <p:spPr>
          <a:xfrm>
            <a:off x="365760" y="2865627"/>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158235"/>
            <a:ext cx="1863089" cy="6858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with conn:</a:t>
            </a:r>
          </a:p>
          <a:p>
            <a:pPr algn="ctr"/>
            <a:r>
              <a:rPr sz="950" b="0" i="0">
                <a:solidFill>
                  <a:srgbClr val="1F2933"/>
                </a:solidFill>
                <a:latin typeface="Calibri"/>
              </a:rPr>
              <a:t>CREATE TABLE</a:t>
            </a:r>
          </a:p>
          <a:p>
            <a:pPr algn="ctr"/>
            <a:r>
              <a:rPr sz="950" b="0" i="0">
                <a:solidFill>
                  <a:srgbClr val="1F2933"/>
                </a:solidFill>
                <a:latin typeface="Calibri"/>
              </a:rPr>
              <a:t>commit at the end</a:t>
            </a:r>
          </a:p>
        </p:txBody>
      </p:sp>
      <p:cxnSp>
        <p:nvCxnSpPr>
          <p:cNvPr id="10" name="arrow"/>
          <p:cNvCxnSpPr/>
          <p:nvPr/>
        </p:nvCxnSpPr>
        <p:spPr>
          <a:xfrm>
            <a:off x="2247137" y="3501135"/>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548889" y="3158235"/>
            <a:ext cx="1863089" cy="685800"/>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still open</a:t>
            </a:r>
          </a:p>
          <a:p>
            <a:pPr algn="ctr"/>
            <a:r>
              <a:rPr sz="950" b="0" i="0">
                <a:solidFill>
                  <a:srgbClr val="1F2933"/>
                </a:solidFill>
                <a:latin typeface="Calibri"/>
              </a:rPr>
              <a:t>(42,)</a:t>
            </a:r>
          </a:p>
        </p:txBody>
      </p:sp>
      <p:cxnSp>
        <p:nvCxnSpPr>
          <p:cNvPr id="12" name="arrow"/>
          <p:cNvCxnSpPr/>
          <p:nvPr/>
        </p:nvCxnSpPr>
        <p:spPr>
          <a:xfrm>
            <a:off x="4430267" y="3501135"/>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32020" y="3158235"/>
            <a:ext cx="1863089" cy="68580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closing(conn)</a:t>
            </a:r>
          </a:p>
          <a:p>
            <a:pPr algn="ctr"/>
            <a:r>
              <a:rPr sz="950" b="0" i="0">
                <a:solidFill>
                  <a:srgbClr val="1F2933"/>
                </a:solidFill>
                <a:latin typeface="Calibri"/>
              </a:rPr>
              <a:t>close() at the end</a:t>
            </a:r>
          </a:p>
        </p:txBody>
      </p:sp>
      <p:cxnSp>
        <p:nvCxnSpPr>
          <p:cNvPr id="14" name="arrow"/>
          <p:cNvCxnSpPr/>
          <p:nvPr/>
        </p:nvCxnSpPr>
        <p:spPr>
          <a:xfrm>
            <a:off x="6613397" y="3501135"/>
            <a:ext cx="28346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915150" y="3158235"/>
            <a:ext cx="1863089" cy="68580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SELECT 2</a:t>
            </a:r>
          </a:p>
          <a:p>
            <a:pPr algn="ctr"/>
            <a:r>
              <a:rPr sz="950" b="0" i="0">
                <a:solidFill>
                  <a:srgbClr val="1F2933"/>
                </a:solidFill>
                <a:latin typeface="Calibri"/>
              </a:rPr>
              <a:t>Cannot operate on a closed ...</a:t>
            </a:r>
          </a:p>
        </p:txBody>
      </p:sp>
      <p:sp>
        <p:nvSpPr>
          <p:cNvPr id="16" name="visual note"/>
          <p:cNvSpPr txBox="1"/>
          <p:nvPr/>
        </p:nvSpPr>
        <p:spPr>
          <a:xfrm>
            <a:off x="365760" y="3889755"/>
            <a:ext cx="8412480" cy="219456"/>
          </a:xfrm>
          <a:prstGeom prst="rect">
            <a:avLst/>
          </a:prstGeom>
          <a:noFill/>
        </p:spPr>
        <p:txBody>
          <a:bodyPr wrap="square" lIns="45720" rIns="45720" tIns="27432" bIns="27432" anchor="t">
            <a:spAutoFit/>
          </a:bodyPr>
          <a:lstStyle/>
          <a:p>
            <a:r>
              <a:rPr sz="950" b="0" i="1">
                <a:solidFill>
                  <a:srgbClr val="5B6773"/>
                </a:solidFill>
                <a:latin typeface="Calibri"/>
              </a:rPr>
              <a:t>a with block on the connection never closes it; contextlib.closing() does</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with conn never closes; closing() does.</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32 / 54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changing and copying</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backup is like a photocopy of the cabinet: it shows the cabinet as it was when you pressed the button.</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Altering and Dropping Tables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Redesigning a form, or throwing the form away.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ALTER TABLE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Adding or renaming a box on the printed form.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DROP TABLE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Shredding every form of one kind.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Backing Up Databases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Keeping a copy in a safe place.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backup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photocopier that copies the whole cabinet page by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Copying Databases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Carrying a copy to another room.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iterdump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Writing the cabinet down as a list of instructions for rebuilding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33 / 54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ALTER TABLE changes a table; DROP TABLE removes it</a:t>
            </a:r>
          </a:p>
        </p:txBody>
      </p:sp>
      <p:sp>
        <p:nvSpPr>
          <p:cNvPr id="4" name="code"/>
          <p:cNvSpPr/>
          <p:nvPr/>
        </p:nvSpPr>
        <p:spPr>
          <a:xfrm>
            <a:off x="365760" y="786384"/>
            <a:ext cx="5193791"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sqlite3</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sqlite3</a:t>
            </a:r>
            <a:r>
              <a:rPr sz="900" b="0" i="0">
                <a:solidFill>
                  <a:srgbClr val="E6EDF3"/>
                </a:solidFill>
                <a:latin typeface="Courier New"/>
              </a:rPr>
              <a:t>.</a:t>
            </a:r>
            <a:r>
              <a:rPr sz="900" b="0" i="0">
                <a:solidFill>
                  <a:srgbClr val="E6EDF3"/>
                </a:solidFill>
                <a:latin typeface="Courier New"/>
              </a:rPr>
              <a:t>connect</a:t>
            </a:r>
            <a:r>
              <a:rPr sz="900" b="0" i="0">
                <a:solidFill>
                  <a:srgbClr val="E6EDF3"/>
                </a:solidFill>
                <a:latin typeface="Courier New"/>
              </a:rPr>
              <a:t>(</a:t>
            </a:r>
            <a:r>
              <a:rPr sz="900" b="0" i="0">
                <a:solidFill>
                  <a:srgbClr val="9BE3A8"/>
                </a:solidFill>
                <a:latin typeface="Courier New"/>
              </a:rPr>
              <a:t>':memory:'</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'CREATE TABLE cats (name TEXT, fur TEXT)'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"INSERT INTO cats VALUES ('Zophie', 'black')"</a:t>
            </a:r>
            <a:r>
              <a:rPr sz="900" b="0" i="0">
                <a:solidFill>
                  <a:srgbClr val="E6EDF3"/>
                </a:solidFill>
                <a:latin typeface="Courier New"/>
              </a:rPr>
              <a:t>)</a:t>
            </a:r>
          </a:p>
        </p:txBody>
      </p:sp>
      <p:sp>
        <p:nvSpPr>
          <p:cNvPr id="5" name="explanation"/>
          <p:cNvSpPr txBox="1"/>
          <p:nvPr/>
        </p:nvSpPr>
        <p:spPr>
          <a:xfrm>
            <a:off x="5541264" y="786384"/>
            <a:ext cx="3236976" cy="694944"/>
          </a:xfrm>
          <a:prstGeom prst="rect">
            <a:avLst/>
          </a:prstGeom>
          <a:noFill/>
        </p:spPr>
        <p:txBody>
          <a:bodyPr wrap="square" lIns="128016" rIns="128016" tIns="18288" bIns="18288" anchor="ctr">
            <a:spAutoFit/>
          </a:bodyPr>
          <a:lstStyle/>
          <a:p>
            <a:r>
              <a:rPr sz="1100" b="0" i="0">
                <a:solidFill>
                  <a:srgbClr val="1F2933"/>
                </a:solidFill>
                <a:latin typeface="Calibri"/>
              </a:rPr>
              <a:t>A table with one row, so that we can see what the changes do to it.</a:t>
            </a:r>
          </a:p>
        </p:txBody>
      </p:sp>
      <p:sp>
        <p:nvSpPr>
          <p:cNvPr id="6" name="code"/>
          <p:cNvSpPr/>
          <p:nvPr/>
        </p:nvSpPr>
        <p:spPr>
          <a:xfrm>
            <a:off x="365760" y="1527048"/>
            <a:ext cx="5193791"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'ALTER TABLE cats ADD COLUMN kg REAL'</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'ALTER TABLE cats RENAME COLUMN fur TO colour'</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r</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r</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'PRAGMA table_info(cats)'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'SELECT * FROM cats'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fetchall</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541264" y="1527048"/>
            <a:ext cx="3236976" cy="694944"/>
          </a:xfrm>
          <a:prstGeom prst="rect">
            <a:avLst/>
          </a:prstGeom>
          <a:noFill/>
        </p:spPr>
        <p:txBody>
          <a:bodyPr wrap="square" lIns="128016" rIns="128016" tIns="18288" bIns="18288" anchor="ctr">
            <a:spAutoFit/>
          </a:bodyPr>
          <a:lstStyle/>
          <a:p>
            <a:r>
              <a:rPr sz="1100" b="0" i="0">
                <a:solidFill>
                  <a:srgbClr val="1F2933"/>
                </a:solidFill>
                <a:latin typeface="Calibri"/>
              </a:rPr>
              <a:t>A new column is added and one is renamed. The old row stays; its new column holds NULL.</a:t>
            </a:r>
          </a:p>
        </p:txBody>
      </p:sp>
      <p:sp>
        <p:nvSpPr>
          <p:cNvPr id="8" name="code"/>
          <p:cNvSpPr/>
          <p:nvPr/>
        </p:nvSpPr>
        <p:spPr>
          <a:xfrm>
            <a:off x="365760" y="2267712"/>
            <a:ext cx="5193791"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'ALTER TABLE cats DROP COLUMN kg'</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'DROP TABLE IF EXISTS dogs'</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'DROP TABLE cats'</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'SELECT count(*) FROM sqlite_schema'</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fetchone</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5541264" y="2267712"/>
            <a:ext cx="3236976" cy="694944"/>
          </a:xfrm>
          <a:prstGeom prst="rect">
            <a:avLst/>
          </a:prstGeom>
          <a:noFill/>
        </p:spPr>
        <p:txBody>
          <a:bodyPr wrap="square" lIns="128016" rIns="128016" tIns="18288" bIns="18288" anchor="ctr">
            <a:spAutoFit/>
          </a:bodyPr>
          <a:lstStyle/>
          <a:p>
            <a:r>
              <a:rPr sz="1100" b="0" i="0">
                <a:solidFill>
                  <a:srgbClr val="1F2933"/>
                </a:solidFill>
                <a:latin typeface="Calibri"/>
              </a:rPr>
              <a:t>DROP COLUMN needs SQLite 3.35. IF EXISTS makes dropping a missing table harmless. After DROP TABLE nothing is left.</a:t>
            </a:r>
          </a:p>
        </p:txBody>
      </p:sp>
      <p:sp>
        <p:nvSpPr>
          <p:cNvPr id="10" name="result label"/>
          <p:cNvSpPr txBox="1"/>
          <p:nvPr/>
        </p:nvSpPr>
        <p:spPr>
          <a:xfrm>
            <a:off x="365760" y="301752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310128"/>
            <a:ext cx="1863089" cy="7315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CREATE TABLE</a:t>
            </a:r>
          </a:p>
          <a:p>
            <a:pPr algn="ctr"/>
            <a:r>
              <a:rPr sz="950" b="0" i="0">
                <a:solidFill>
                  <a:srgbClr val="1F2933"/>
                </a:solidFill>
                <a:latin typeface="Calibri"/>
              </a:rPr>
              <a:t>name, fur</a:t>
            </a:r>
          </a:p>
        </p:txBody>
      </p:sp>
      <p:cxnSp>
        <p:nvCxnSpPr>
          <p:cNvPr id="12" name="arrow"/>
          <p:cNvCxnSpPr/>
          <p:nvPr/>
        </p:nvCxnSpPr>
        <p:spPr>
          <a:xfrm>
            <a:off x="2247137" y="3675888"/>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48889" y="3310128"/>
            <a:ext cx="1863089" cy="7315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ADD COLUMN, RENAME</a:t>
            </a:r>
          </a:p>
          <a:p>
            <a:pPr algn="ctr"/>
            <a:r>
              <a:rPr sz="950" b="0" i="0">
                <a:solidFill>
                  <a:srgbClr val="1F2933"/>
                </a:solidFill>
                <a:latin typeface="Calibri"/>
              </a:rPr>
              <a:t>name, colour, kg</a:t>
            </a:r>
          </a:p>
        </p:txBody>
      </p:sp>
      <p:cxnSp>
        <p:nvCxnSpPr>
          <p:cNvPr id="14" name="arrow"/>
          <p:cNvCxnSpPr/>
          <p:nvPr/>
        </p:nvCxnSpPr>
        <p:spPr>
          <a:xfrm>
            <a:off x="4430267" y="3675888"/>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732020" y="3310128"/>
            <a:ext cx="1863089" cy="73152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DROP COLUMN kg</a:t>
            </a:r>
          </a:p>
          <a:p>
            <a:pPr algn="ctr"/>
            <a:r>
              <a:rPr sz="950" b="0" i="0">
                <a:solidFill>
                  <a:srgbClr val="1F2933"/>
                </a:solidFill>
                <a:latin typeface="Calibri"/>
              </a:rPr>
              <a:t>name, colour</a:t>
            </a:r>
          </a:p>
        </p:txBody>
      </p:sp>
      <p:cxnSp>
        <p:nvCxnSpPr>
          <p:cNvPr id="16" name="arrow"/>
          <p:cNvCxnSpPr/>
          <p:nvPr/>
        </p:nvCxnSpPr>
        <p:spPr>
          <a:xfrm>
            <a:off x="6613397" y="3675888"/>
            <a:ext cx="28346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915150" y="3310128"/>
            <a:ext cx="1863089" cy="73152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DROP TABLE cats</a:t>
            </a:r>
          </a:p>
          <a:p>
            <a:pPr algn="ctr"/>
            <a:r>
              <a:rPr sz="950" b="0" i="0">
                <a:solidFill>
                  <a:srgbClr val="1F2933"/>
                </a:solidFill>
                <a:latin typeface="Calibri"/>
              </a:rPr>
              <a:t>tables left: 0</a:t>
            </a:r>
          </a:p>
        </p:txBody>
      </p:sp>
      <p:sp>
        <p:nvSpPr>
          <p:cNvPr id="18" name="visual note"/>
          <p:cNvSpPr txBox="1"/>
          <p:nvPr/>
        </p:nvSpPr>
        <p:spPr>
          <a:xfrm>
            <a:off x="365760" y="4133088"/>
            <a:ext cx="8412480" cy="219456"/>
          </a:xfrm>
          <a:prstGeom prst="rect">
            <a:avLst/>
          </a:prstGeom>
          <a:noFill/>
        </p:spPr>
        <p:txBody>
          <a:bodyPr wrap="square" lIns="45720" rIns="45720" tIns="27432" bIns="27432" anchor="t">
            <a:spAutoFit/>
          </a:bodyPr>
          <a:lstStyle/>
          <a:p>
            <a:r>
              <a:rPr sz="950" b="0" i="1">
                <a:solidFill>
                  <a:srgbClr val="5B6773"/>
                </a:solidFill>
                <a:latin typeface="Calibri"/>
              </a:rPr>
              <a:t>the old row after ADD COLUMN: [('Zophie', 'black', None)] - the new box holds None (NULL)</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ALTER changes a table; DROP removes it.</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34 / 54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speed and the journal</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An index is like the index at the back of a book: it finds a word fast, but only the words it lists.</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CREATE INDEX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Building the index at the back of the book.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DROP INDEX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Tearing the index out: the book is lighter, searches slower.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EXPLAIN QUERY PLAN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Asking the clerk how he will look it up before he does.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Query plan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His answer: use the index, or read every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VACUUM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Repacking the cabinet so that the empty space is gone.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Journal mode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notebook where the clerk writes each change before making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Write-ahead log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second notebook that readers and the writer both consult.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35 / 54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An index serves some searches, not all</a:t>
            </a:r>
          </a:p>
        </p:txBody>
      </p:sp>
      <p:sp>
        <p:nvSpPr>
          <p:cNvPr id="4" name="code"/>
          <p:cNvSpPr/>
          <p:nvPr/>
        </p:nvSpPr>
        <p:spPr>
          <a:xfrm>
            <a:off x="365760" y="786384"/>
            <a:ext cx="54376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TABLE cats (name TEXT, fur TEXT)'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INDEX idx_fur ON cats (fur)'</a:t>
            </a:r>
            <a:r>
              <a:rPr sz="1000" b="0" i="0">
                <a:solidFill>
                  <a:srgbClr val="E6EDF3"/>
                </a:solidFill>
                <a:latin typeface="Courier New"/>
              </a:rPr>
              <a:t>)</a:t>
            </a:r>
          </a:p>
        </p:txBody>
      </p:sp>
      <p:sp>
        <p:nvSpPr>
          <p:cNvPr id="5" name="explanation"/>
          <p:cNvSpPr txBox="1"/>
          <p:nvPr/>
        </p:nvSpPr>
        <p:spPr>
          <a:xfrm>
            <a:off x="5785104" y="786384"/>
            <a:ext cx="2993135" cy="756920"/>
          </a:xfrm>
          <a:prstGeom prst="rect">
            <a:avLst/>
          </a:prstGeom>
          <a:noFill/>
        </p:spPr>
        <p:txBody>
          <a:bodyPr wrap="square" lIns="128016" rIns="128016" tIns="18288" bIns="18288" anchor="ctr">
            <a:spAutoFit/>
          </a:bodyPr>
          <a:lstStyle/>
          <a:p>
            <a:r>
              <a:rPr sz="1100" b="0" i="0">
                <a:solidFill>
                  <a:srgbClr val="1F2933"/>
                </a:solidFill>
                <a:latin typeface="Calibri"/>
              </a:rPr>
              <a:t>An index on the fur column: a sorted list that points to the rows.</a:t>
            </a:r>
          </a:p>
        </p:txBody>
      </p:sp>
      <p:sp>
        <p:nvSpPr>
          <p:cNvPr id="6" name="code"/>
          <p:cNvSpPr/>
          <p:nvPr/>
        </p:nvSpPr>
        <p:spPr>
          <a:xfrm>
            <a:off x="365760" y="1589023"/>
            <a:ext cx="5437632"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plan</a:t>
            </a:r>
            <a:r>
              <a:rPr sz="1000" b="0" i="0">
                <a:solidFill>
                  <a:srgbClr val="E6EDF3"/>
                </a:solidFill>
                <a:latin typeface="Courier New"/>
              </a:rPr>
              <a:t>(</a:t>
            </a:r>
            <a:r>
              <a:rPr sz="1000" b="0" i="0">
                <a:solidFill>
                  <a:srgbClr val="E6EDF3"/>
                </a:solidFill>
                <a:latin typeface="Courier New"/>
              </a:rPr>
              <a:t>sql</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rows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'EXPLAIN QUERY PLAN '</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rows</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3</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split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p>
        </p:txBody>
      </p:sp>
      <p:sp>
        <p:nvSpPr>
          <p:cNvPr id="7" name="explanation"/>
          <p:cNvSpPr txBox="1"/>
          <p:nvPr/>
        </p:nvSpPr>
        <p:spPr>
          <a:xfrm>
            <a:off x="5785104" y="1589023"/>
            <a:ext cx="2993135" cy="826516"/>
          </a:xfrm>
          <a:prstGeom prst="rect">
            <a:avLst/>
          </a:prstGeom>
          <a:noFill/>
        </p:spPr>
        <p:txBody>
          <a:bodyPr wrap="square" lIns="128016" rIns="128016" tIns="18288" bIns="18288" anchor="ctr">
            <a:spAutoFit/>
          </a:bodyPr>
          <a:lstStyle/>
          <a:p>
            <a:r>
              <a:rPr sz="1100" b="0" i="0">
                <a:solidFill>
                  <a:srgbClr val="1F2933"/>
                </a:solidFill>
                <a:latin typeface="Calibri"/>
              </a:rPr>
              <a:t>EXPLAIN QUERY PLAN says how SQLite would run a query. We keep the first word: SEARCH uses an index, SCAN reads every row.</a:t>
            </a:r>
          </a:p>
        </p:txBody>
      </p:sp>
      <p:sp>
        <p:nvSpPr>
          <p:cNvPr id="8" name="code"/>
          <p:cNvSpPr/>
          <p:nvPr/>
        </p:nvSpPr>
        <p:spPr>
          <a:xfrm>
            <a:off x="365760" y="2461260"/>
            <a:ext cx="54376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queries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"fur = 'black'"</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"name = 'Zophie'"</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"fur LIKE '%ck'"</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w</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queries</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plan</a:t>
            </a:r>
            <a:r>
              <a:rPr sz="1000" b="0" i="0">
                <a:solidFill>
                  <a:srgbClr val="E6EDF3"/>
                </a:solidFill>
                <a:latin typeface="Courier New"/>
              </a:rPr>
              <a:t>(</a:t>
            </a:r>
            <a:r>
              <a:rPr sz="1000" b="0" i="0">
                <a:solidFill>
                  <a:srgbClr val="9BE3A8"/>
                </a:solidFill>
                <a:latin typeface="Courier New"/>
              </a:rPr>
              <a:t>'SELECT * FROM cats WHERE '</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w</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w</a:t>
            </a:r>
            <a:r>
              <a:rPr sz="1000" b="0" i="0">
                <a:solidFill>
                  <a:srgbClr val="E6EDF3"/>
                </a:solidFill>
                <a:latin typeface="Courier New"/>
              </a:rPr>
              <a:t>)</a:t>
            </a:r>
          </a:p>
        </p:txBody>
      </p:sp>
      <p:sp>
        <p:nvSpPr>
          <p:cNvPr id="9" name="explanation"/>
          <p:cNvSpPr txBox="1"/>
          <p:nvPr/>
        </p:nvSpPr>
        <p:spPr>
          <a:xfrm>
            <a:off x="5785104" y="2461260"/>
            <a:ext cx="2993135" cy="651891"/>
          </a:xfrm>
          <a:prstGeom prst="rect">
            <a:avLst/>
          </a:prstGeom>
          <a:noFill/>
        </p:spPr>
        <p:txBody>
          <a:bodyPr wrap="square" lIns="128016" rIns="128016" tIns="18288" bIns="18288" anchor="ctr">
            <a:spAutoFit/>
          </a:bodyPr>
          <a:lstStyle/>
          <a:p>
            <a:r>
              <a:rPr sz="1100" b="0" i="0">
                <a:solidFill>
                  <a:srgbClr val="1F2933"/>
                </a:solidFill>
                <a:latin typeface="Calibri"/>
              </a:rPr>
              <a:t>Only the query on the indexed column searches. A search for a middle of a text reads every row.</a:t>
            </a:r>
          </a:p>
        </p:txBody>
      </p:sp>
      <p:sp>
        <p:nvSpPr>
          <p:cNvPr id="10" name="result label"/>
          <p:cNvSpPr txBox="1"/>
          <p:nvPr/>
        </p:nvSpPr>
        <p:spPr>
          <a:xfrm>
            <a:off x="365760" y="3168015"/>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414903"/>
          <a:ext cx="6561733" cy="987552"/>
        </p:xfrm>
        <a:graphic>
          <a:graphicData uri="http://schemas.openxmlformats.org/drawingml/2006/table">
            <a:tbl>
              <a:tblPr firstRow="0" bandRow="0"/>
              <a:tblGrid>
                <a:gridCol w="2783766"/>
                <a:gridCol w="1590723"/>
                <a:gridCol w="2187244"/>
              </a:tblGrid>
              <a:tr h="246888">
                <a:tc>
                  <a:txBody>
                    <a:bodyPr wrap="square"/>
                    <a:lstStyle/>
                    <a:p>
                      <a:r>
                        <a:rPr sz="1000" b="1" i="0">
                          <a:solidFill>
                            <a:srgbClr val="FFFFFF"/>
                          </a:solidFill>
                          <a:latin typeface="Calibri"/>
                        </a:rPr>
                        <a:t>Query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First word of the plan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What it means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1000" b="0" i="0">
                          <a:solidFill>
                            <a:srgbClr val="1F2933"/>
                          </a:solidFill>
                          <a:latin typeface="Courier New"/>
                        </a:rPr>
                        <a:t>WHERE fur = 'black'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SEARCH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00" b="0" i="0">
                          <a:solidFill>
                            <a:srgbClr val="1F2933"/>
                          </a:solidFill>
                          <a:latin typeface="Calibri"/>
                        </a:rPr>
                        <a:t>uses the index idx_fur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00" b="0" i="0">
                          <a:solidFill>
                            <a:srgbClr val="1F2933"/>
                          </a:solidFill>
                          <a:latin typeface="Courier New"/>
                        </a:rPr>
                        <a:t>WHERE name = 'Zophie'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SCAN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00" b="0" i="0">
                          <a:solidFill>
                            <a:srgbClr val="1F2933"/>
                          </a:solidFill>
                          <a:latin typeface="Calibri"/>
                        </a:rPr>
                        <a:t>reads every 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1000" b="0" i="0">
                          <a:solidFill>
                            <a:srgbClr val="1F2933"/>
                          </a:solidFill>
                          <a:latin typeface="Courier New"/>
                        </a:rPr>
                        <a:t>WHERE fur LIKE '%ck'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SCAN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00" b="0" i="0">
                          <a:solidFill>
                            <a:srgbClr val="1F2933"/>
                          </a:solidFill>
                          <a:latin typeface="Calibri"/>
                        </a:rPr>
                        <a:t>reads every 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2" name="Rounded Rectangle 11"/>
          <p:cNvSpPr/>
          <p:nvPr/>
        </p:nvSpPr>
        <p:spPr>
          <a:xfrm>
            <a:off x="7263993" y="3414903"/>
            <a:ext cx="1514246" cy="7315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idx_fur</a:t>
            </a:r>
          </a:p>
          <a:p>
            <a:pPr algn="ctr"/>
            <a:r>
              <a:rPr sz="950" b="0" i="0">
                <a:solidFill>
                  <a:srgbClr val="1F2933"/>
                </a:solidFill>
                <a:latin typeface="Courier New"/>
              </a:rPr>
              <a:t>sorted by fur</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An index helps only the searches it matches.</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36 / 54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database is a file; VACUUM gives back the space</a:t>
            </a:r>
          </a:p>
        </p:txBody>
      </p:sp>
      <p:sp>
        <p:nvSpPr>
          <p:cNvPr id="4" name="code"/>
          <p:cNvSpPr/>
          <p:nvPr/>
        </p:nvSpPr>
        <p:spPr>
          <a:xfrm>
            <a:off x="365760" y="786384"/>
            <a:ext cx="5125212"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sqlite3</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tempfile</a:t>
            </a:r>
          </a:p>
          <a:p>
            <a:pPr algn="l"/>
            <a:r>
              <a:rPr sz="900" b="0" i="0">
                <a:solidFill>
                  <a:srgbClr val="8FA3B8"/>
                </a:solidFill>
                <a:latin typeface="Courier New"/>
              </a:rPr>
              <a:t>&gt;&gt;&gt; </a:t>
            </a:r>
            <a:r>
              <a:rPr sz="900" b="0" i="0">
                <a:solidFill>
                  <a:srgbClr val="E6EDF3"/>
                </a:solidFill>
                <a:latin typeface="Courier New"/>
              </a:rPr>
              <a:t>path</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join</a:t>
            </a:r>
            <a:r>
              <a:rPr sz="900" b="0" i="0">
                <a:solidFill>
                  <a:srgbClr val="E6EDF3"/>
                </a:solidFill>
                <a:latin typeface="Courier New"/>
              </a:rPr>
              <a:t>(</a:t>
            </a:r>
            <a:r>
              <a:rPr sz="900" b="0" i="0">
                <a:solidFill>
                  <a:srgbClr val="E6EDF3"/>
                </a:solidFill>
                <a:latin typeface="Courier New"/>
              </a:rPr>
              <a:t>tempfile</a:t>
            </a:r>
            <a:r>
              <a:rPr sz="900" b="0" i="0">
                <a:solidFill>
                  <a:srgbClr val="E6EDF3"/>
                </a:solidFill>
                <a:latin typeface="Courier New"/>
              </a:rPr>
              <a:t>.</a:t>
            </a:r>
            <a:r>
              <a:rPr sz="900" b="0" i="0">
                <a:solidFill>
                  <a:srgbClr val="E6EDF3"/>
                </a:solidFill>
                <a:latin typeface="Courier New"/>
              </a:rPr>
              <a:t>mkdtemp</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'cats.db'</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'file exists before connect:'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exists</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sqlite3</a:t>
            </a:r>
            <a:r>
              <a:rPr sz="900" b="0" i="0">
                <a:solidFill>
                  <a:srgbClr val="E6EDF3"/>
                </a:solidFill>
                <a:latin typeface="Courier New"/>
              </a:rPr>
              <a:t>.</a:t>
            </a:r>
            <a:r>
              <a:rPr sz="900" b="0" i="0">
                <a:solidFill>
                  <a:srgbClr val="E6EDF3"/>
                </a:solidFill>
                <a:latin typeface="Courier New"/>
              </a:rPr>
              <a:t>connect</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p>
        </p:txBody>
      </p:sp>
      <p:sp>
        <p:nvSpPr>
          <p:cNvPr id="5" name="explanation"/>
          <p:cNvSpPr txBox="1"/>
          <p:nvPr/>
        </p:nvSpPr>
        <p:spPr>
          <a:xfrm>
            <a:off x="5472684" y="786384"/>
            <a:ext cx="3305555" cy="694944"/>
          </a:xfrm>
          <a:prstGeom prst="rect">
            <a:avLst/>
          </a:prstGeom>
          <a:noFill/>
        </p:spPr>
        <p:txBody>
          <a:bodyPr wrap="square" lIns="128016" rIns="128016" tIns="18288" bIns="18288" anchor="ctr">
            <a:spAutoFit/>
          </a:bodyPr>
          <a:lstStyle/>
          <a:p>
            <a:r>
              <a:rPr sz="1100" b="0" i="0">
                <a:solidFill>
                  <a:srgbClr val="1F2933"/>
                </a:solidFill>
                <a:latin typeface="Calibri"/>
              </a:rPr>
              <a:t>A new folder, and a path in it. No database file exists yet.</a:t>
            </a:r>
          </a:p>
        </p:txBody>
      </p:sp>
      <p:sp>
        <p:nvSpPr>
          <p:cNvPr id="6" name="code"/>
          <p:cNvSpPr/>
          <p:nvPr/>
        </p:nvSpPr>
        <p:spPr>
          <a:xfrm>
            <a:off x="365760" y="1527048"/>
            <a:ext cx="5125212"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'file exists after connect:'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exists</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'CREATE TABLE t (v TEXT)'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executemany</a:t>
            </a:r>
            <a:r>
              <a:rPr sz="900" b="0" i="0">
                <a:solidFill>
                  <a:srgbClr val="E6EDF3"/>
                </a:solidFill>
                <a:latin typeface="Courier New"/>
              </a:rPr>
              <a:t>(</a:t>
            </a:r>
            <a:r>
              <a:rPr sz="900" b="0" i="0">
                <a:solidFill>
                  <a:srgbClr val="9BE3A8"/>
                </a:solidFill>
                <a:latin typeface="Courier New"/>
              </a:rPr>
              <a:t>'INSERT INTO t VALUES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9BE3A8"/>
                </a:solidFill>
                <a:latin typeface="Courier New"/>
              </a:rPr>
              <a:t>'x'</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100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2000</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commit</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472684" y="1527048"/>
            <a:ext cx="3305555" cy="694944"/>
          </a:xfrm>
          <a:prstGeom prst="rect">
            <a:avLst/>
          </a:prstGeom>
          <a:noFill/>
        </p:spPr>
        <p:txBody>
          <a:bodyPr wrap="square" lIns="128016" rIns="128016" tIns="18288" bIns="18288" anchor="ctr">
            <a:spAutoFit/>
          </a:bodyPr>
          <a:lstStyle/>
          <a:p>
            <a:r>
              <a:rPr sz="1100" b="0" i="0">
                <a:solidFill>
                  <a:srgbClr val="1F2933"/>
                </a:solidFill>
                <a:latin typeface="Calibri"/>
              </a:rPr>
              <a:t>connect() created the file. Two thousand rows of 100 characters fill it.</a:t>
            </a:r>
          </a:p>
        </p:txBody>
      </p:sp>
      <p:sp>
        <p:nvSpPr>
          <p:cNvPr id="8" name="code"/>
          <p:cNvSpPr/>
          <p:nvPr/>
        </p:nvSpPr>
        <p:spPr>
          <a:xfrm>
            <a:off x="365760" y="2267712"/>
            <a:ext cx="5125212" cy="97383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big</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getsize</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'DELETE FROM 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commit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'after DELETE, same size:'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getsize</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big</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'VACUUM'</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'after VACUUM, smaller:'</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getsize</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&lt;</a:t>
            </a:r>
            <a:r>
              <a:rPr sz="900" b="0" i="0">
                <a:solidFill>
                  <a:srgbClr val="E6EDF3"/>
                </a:solidFill>
                <a:latin typeface="Courier New"/>
              </a:rPr>
              <a:t> </a:t>
            </a:r>
            <a:r>
              <a:rPr sz="900" b="0" i="0">
                <a:solidFill>
                  <a:srgbClr val="E6EDF3"/>
                </a:solidFill>
                <a:latin typeface="Courier New"/>
              </a:rPr>
              <a:t>big</a:t>
            </a:r>
            <a:r>
              <a:rPr sz="900" b="0" i="0">
                <a:solidFill>
                  <a:srgbClr val="E6EDF3"/>
                </a:solidFill>
                <a:latin typeface="Courier New"/>
              </a:rPr>
              <a:t>)</a:t>
            </a:r>
          </a:p>
        </p:txBody>
      </p:sp>
      <p:sp>
        <p:nvSpPr>
          <p:cNvPr id="9" name="explanation"/>
          <p:cNvSpPr txBox="1"/>
          <p:nvPr/>
        </p:nvSpPr>
        <p:spPr>
          <a:xfrm>
            <a:off x="5472684" y="2267712"/>
            <a:ext cx="3305555" cy="973836"/>
          </a:xfrm>
          <a:prstGeom prst="rect">
            <a:avLst/>
          </a:prstGeom>
          <a:noFill/>
        </p:spPr>
        <p:txBody>
          <a:bodyPr wrap="square" lIns="128016" rIns="128016" tIns="18288" bIns="18288" anchor="ctr">
            <a:spAutoFit/>
          </a:bodyPr>
          <a:lstStyle/>
          <a:p>
            <a:r>
              <a:rPr sz="1100" b="0" i="0">
                <a:solidFill>
                  <a:srgbClr val="1F2933"/>
                </a:solidFill>
                <a:latin typeface="Calibri"/>
              </a:rPr>
              <a:t>DELETE leaves the file as big as before: the space is kept for new rows. VACUUM rebuilds the file without it, so the file shrinks.</a:t>
            </a:r>
          </a:p>
        </p:txBody>
      </p:sp>
      <p:sp>
        <p:nvSpPr>
          <p:cNvPr id="10" name="result label"/>
          <p:cNvSpPr txBox="1"/>
          <p:nvPr/>
        </p:nvSpPr>
        <p:spPr>
          <a:xfrm>
            <a:off x="365760" y="3296412"/>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3497580"/>
          <a:ext cx="4626864" cy="1184148"/>
        </p:xfrm>
        <a:graphic>
          <a:graphicData uri="http://schemas.openxmlformats.org/drawingml/2006/chart">
            <c:chart xmlns:c="http://schemas.openxmlformats.org/drawingml/2006/chart" r:id="rId3"/>
          </a:graphicData>
        </a:graphic>
      </p:graphicFrame>
      <p:sp>
        <p:nvSpPr>
          <p:cNvPr id="12" name="Rounded Rectangle 11"/>
          <p:cNvSpPr/>
          <p:nvPr/>
        </p:nvSpPr>
        <p:spPr>
          <a:xfrm>
            <a:off x="5413248" y="3543300"/>
            <a:ext cx="3364991" cy="237744"/>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file exists before connect: False</a:t>
            </a:r>
          </a:p>
        </p:txBody>
      </p:sp>
      <p:sp>
        <p:nvSpPr>
          <p:cNvPr id="13" name="Rounded Rectangle 12"/>
          <p:cNvSpPr/>
          <p:nvPr/>
        </p:nvSpPr>
        <p:spPr>
          <a:xfrm>
            <a:off x="5413248" y="3826763"/>
            <a:ext cx="3364991" cy="237744"/>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file exists after connect: True</a:t>
            </a:r>
          </a:p>
        </p:txBody>
      </p:sp>
      <p:sp>
        <p:nvSpPr>
          <p:cNvPr id="14" name="Rounded Rectangle 13"/>
          <p:cNvSpPr/>
          <p:nvPr/>
        </p:nvSpPr>
        <p:spPr>
          <a:xfrm>
            <a:off x="5413248" y="4110228"/>
            <a:ext cx="3364991" cy="237744"/>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after DELETE, same size: True</a:t>
            </a:r>
          </a:p>
        </p:txBody>
      </p:sp>
      <p:sp>
        <p:nvSpPr>
          <p:cNvPr id="15" name="Rounded Rectangle 14"/>
          <p:cNvSpPr/>
          <p:nvPr/>
        </p:nvSpPr>
        <p:spPr>
          <a:xfrm>
            <a:off x="5413248" y="4393692"/>
            <a:ext cx="3364991" cy="237744"/>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after VACUUM, smaller: True</a:t>
            </a:r>
          </a:p>
        </p:txBody>
      </p:sp>
      <p:sp>
        <p:nvSpPr>
          <p:cNvPr id="1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DELETE keeps the space; VACUUM gives it back.</a:t>
            </a:r>
          </a:p>
        </p:txBody>
      </p:sp>
      <p:sp>
        <p:nvSpPr>
          <p:cNvPr id="1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37 / 54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400" b="1" i="0">
                <a:solidFill>
                  <a:srgbClr val="1F2933"/>
                </a:solidFill>
                <a:latin typeface="Calibri"/>
              </a:rPr>
              <a:t>Part 4: Several tables, copies and backups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Link tables with a foreign key; copy a database three ways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Foreign key</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column that must name an existing row.</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Join</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Lay rows of two tables side by side.</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backup()</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Copies a whole database, even from memory.</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iterdump()</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Writes a database out as SQL text.</a:t>
            </a:r>
          </a:p>
        </p:txBody>
      </p:sp>
      <p:graphicFrame>
        <p:nvGraphicFramePr>
          <p:cNvPr id="13" name="table"/>
          <p:cNvGraphicFramePr>
            <a:graphicFrameLocks noGrp="1"/>
          </p:cNvGraphicFramePr>
          <p:nvPr/>
        </p:nvGraphicFramePr>
        <p:xfrm>
          <a:off x="5303520" y="1417320"/>
          <a:ext cx="3474719" cy="292608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keys, links and joins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a 1970 IBM paper proposed the tabl...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41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 foreign key links rows, if the switch 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INNER JOIN keeps matches; LEFT JOIN keeps...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43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backup() copies a whole database, from 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44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iterdump() turns a database into SQL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45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shutil copies a closed database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38 / 54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keys, links and joins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foreign key is like a library card number: it names a person who must exist in the member list.</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Listing Tables and Columns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Reading the index card of the cabinet.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PRAGMA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switch on the side of the cabinet that changes how the clerk works.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Primary key and rowid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number stamped on each form; the clerk may reuse a number that was freed.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FOREIGN KEY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card number written on a loan slip: it must be on the member 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Joining Multiple Tables with Foreign Keys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Laying a loan slip beside its member card.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INNER JOIN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Only the slips that have a card: slips without one are put aside.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LEFT JOIN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Every member listed, with their slips if they have any.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39 / 54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400" b="1" i="0">
                <a:solidFill>
                  <a:srgbClr val="1F2933"/>
                </a:solidFill>
                <a:latin typeface="Calibri"/>
              </a:rPr>
              <a:t>Story: a 1970 IBM paper proposed the tables a SQLite file still holds</a:t>
            </a:r>
          </a:p>
        </p:txBody>
      </p:sp>
      <p:pic>
        <p:nvPicPr>
          <p:cNvPr id="4" name="photo codd" descr="Picture for the story: a 1970 IBM paper proposed the tables a SQLite file still holds"/>
          <p:cNvPicPr>
            <a:picLocks noChangeAspect="1"/>
          </p:cNvPicPr>
          <p:nvPr/>
        </p:nvPicPr>
        <p:blipFill>
          <a:blip r:embed="rId3"/>
          <a:stretch>
            <a:fillRect/>
          </a:stretch>
        </p:blipFill>
        <p:spPr>
          <a:xfrm>
            <a:off x="365974" y="868680"/>
            <a:ext cx="2651330"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Edgar F. Codd. Photo: yyq123, CC BY-SA 2.0, Flickr.</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Edgar F. 'Ted' Codd, an Oxford-educated mathematician at the IBM San Jose Research Lab.</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The relational model: data kept in tables that are linked by values, not by where they are stored.</a:t>
            </a:r>
          </a:p>
        </p:txBody>
      </p:sp>
      <p:sp>
        <p:nvSpPr>
          <p:cNvPr id="10" name="card"/>
          <p:cNvSpPr/>
          <p:nvPr/>
        </p:nvSpPr>
        <p:spPr>
          <a:xfrm>
            <a:off x="3200400" y="197510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June 1970, in Communications of the ACM, volume 13, number 6.</a:t>
            </a:r>
          </a:p>
        </p:txBody>
      </p:sp>
      <p:sp>
        <p:nvSpPr>
          <p:cNvPr id="12" name="card"/>
          <p:cNvSpPr/>
          <p:nvPr/>
        </p:nvSpPr>
        <p:spPr>
          <a:xfrm>
            <a:off x="3200400" y="24414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San Jose, California; the paper is 'A Relational Model of Data for Large Shared Data Banks'.</a:t>
            </a:r>
          </a:p>
        </p:txBody>
      </p:sp>
      <p:sp>
        <p:nvSpPr>
          <p:cNvPr id="14" name="card"/>
          <p:cNvSpPr/>
          <p:nvPr/>
        </p:nvSpPr>
        <p:spPr>
          <a:xfrm>
            <a:off x="3200400" y="30083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083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In the 1960s, getting one fact out of a large system needed specialists and whole programs.</a:t>
            </a:r>
          </a:p>
        </p:txBody>
      </p:sp>
      <p:sp>
        <p:nvSpPr>
          <p:cNvPr id="16" name="card"/>
          <p:cNvSpPr/>
          <p:nvPr/>
        </p:nvSpPr>
        <p:spPr>
          <a:xfrm>
            <a:off x="3200400" y="3575304"/>
            <a:ext cx="5577840" cy="69951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575304"/>
            <a:ext cx="5486400" cy="699516"/>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Codd described tables and relations on paper first. A cats table and a vaccinations table joined by a number are his idea in a few lines.</a:t>
            </a:r>
          </a:p>
        </p:txBody>
      </p:sp>
      <p:sp>
        <p:nvSpPr>
          <p:cNvPr id="18" name="read"/>
          <p:cNvSpPr txBox="1"/>
          <p:nvPr/>
        </p:nvSpPr>
        <p:spPr>
          <a:xfrm>
            <a:off x="3200400" y="4357116"/>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The relational database (IBM history)</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40 / 54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foreign key links rows, if the switch is on</a:t>
            </a:r>
          </a:p>
        </p:txBody>
      </p:sp>
      <p:sp>
        <p:nvSpPr>
          <p:cNvPr id="4" name="code"/>
          <p:cNvSpPr/>
          <p:nvPr/>
        </p:nvSpPr>
        <p:spPr>
          <a:xfrm>
            <a:off x="365760" y="786384"/>
            <a:ext cx="5250942" cy="87312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sqlite3</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sqlite3</a:t>
            </a:r>
            <a:r>
              <a:rPr sz="950" b="0" i="0">
                <a:solidFill>
                  <a:srgbClr val="E6EDF3"/>
                </a:solidFill>
                <a:latin typeface="Courier New"/>
              </a:rPr>
              <a:t>.</a:t>
            </a:r>
            <a:r>
              <a:rPr sz="950" b="0" i="0">
                <a:solidFill>
                  <a:srgbClr val="E6EDF3"/>
                </a:solidFill>
                <a:latin typeface="Courier New"/>
              </a:rPr>
              <a:t>connect</a:t>
            </a:r>
            <a:r>
              <a:rPr sz="950" b="0" i="0">
                <a:solidFill>
                  <a:srgbClr val="E6EDF3"/>
                </a:solidFill>
                <a:latin typeface="Courier New"/>
              </a:rPr>
              <a:t>(</a:t>
            </a:r>
            <a:r>
              <a:rPr sz="950" b="0" i="0">
                <a:solidFill>
                  <a:srgbClr val="9BE3A8"/>
                </a:solidFill>
                <a:latin typeface="Courier New"/>
              </a:rPr>
              <a:t>':memory:'</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isolation_level</a:t>
            </a:r>
            <a:r>
              <a:rPr sz="950" b="0" i="0">
                <a:solidFill>
                  <a:srgbClr val="E6EDF3"/>
                </a:solidFill>
                <a:latin typeface="Courier New"/>
              </a:rPr>
              <a:t>=</a:t>
            </a:r>
            <a:r>
              <a:rPr sz="950" b="0" i="0">
                <a:solidFill>
                  <a:srgbClr val="E6EDF3"/>
                </a:solidFill>
                <a:latin typeface="Courier New"/>
              </a:rPr>
              <a:t>None</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row</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'PRAGMA foreign_keys'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fetchone</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9BE3A8"/>
                </a:solidFill>
                <a:latin typeface="Courier New"/>
              </a:rPr>
              <a:t>'foreign_keys is'</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row</a:t>
            </a:r>
            <a:r>
              <a:rPr sz="950" b="0" i="0">
                <a:solidFill>
                  <a:srgbClr val="E6EDF3"/>
                </a:solidFill>
                <a:latin typeface="Courier New"/>
              </a:rPr>
              <a:t>[</a:t>
            </a:r>
            <a:r>
              <a:rPr sz="950" b="0" i="0">
                <a:solidFill>
                  <a:srgbClr val="7CC4FF"/>
                </a:solidFill>
                <a:latin typeface="Courier New"/>
              </a:rPr>
              <a:t>0</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'PRAGMA foreign_keys = ON'</a:t>
            </a:r>
            <a:r>
              <a:rPr sz="950" b="0" i="0">
                <a:solidFill>
                  <a:srgbClr val="E6EDF3"/>
                </a:solidFill>
                <a:latin typeface="Courier New"/>
              </a:rPr>
              <a:t>)</a:t>
            </a:r>
          </a:p>
        </p:txBody>
      </p:sp>
      <p:sp>
        <p:nvSpPr>
          <p:cNvPr id="5" name="explanation"/>
          <p:cNvSpPr txBox="1"/>
          <p:nvPr/>
        </p:nvSpPr>
        <p:spPr>
          <a:xfrm>
            <a:off x="5598414" y="786384"/>
            <a:ext cx="3179825" cy="873125"/>
          </a:xfrm>
          <a:prstGeom prst="rect">
            <a:avLst/>
          </a:prstGeom>
          <a:noFill/>
        </p:spPr>
        <p:txBody>
          <a:bodyPr wrap="square" lIns="128016" rIns="128016" tIns="18288" bIns="18288" anchor="ctr">
            <a:spAutoFit/>
          </a:bodyPr>
          <a:lstStyle/>
          <a:p>
            <a:r>
              <a:rPr sz="1100" b="0" i="0">
                <a:solidFill>
                  <a:srgbClr val="1F2933"/>
                </a:solidFill>
                <a:latin typeface="Calibri"/>
              </a:rPr>
              <a:t>SQLite does not enforce foreign keys until you switch them on, once per connection.</a:t>
            </a:r>
          </a:p>
        </p:txBody>
      </p:sp>
      <p:sp>
        <p:nvSpPr>
          <p:cNvPr id="6" name="code"/>
          <p:cNvSpPr/>
          <p:nvPr/>
        </p:nvSpPr>
        <p:spPr>
          <a:xfrm>
            <a:off x="365760" y="1705228"/>
            <a:ext cx="525094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'CREATE TABLE meals (id INTEGER PRIMARY KEY, name)'</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'CREATE TABLE ing (meal_id REFERENCES meals, item)'</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"INSERT INTO meals VALUES (1, 'Pancakes')"</a:t>
            </a:r>
            <a:r>
              <a:rPr sz="950" b="0" i="0">
                <a:solidFill>
                  <a:srgbClr val="E6EDF3"/>
                </a:solidFill>
                <a:latin typeface="Courier New"/>
              </a:rPr>
              <a:t>)</a:t>
            </a:r>
          </a:p>
        </p:txBody>
      </p:sp>
      <p:sp>
        <p:nvSpPr>
          <p:cNvPr id="7" name="explanation"/>
          <p:cNvSpPr txBox="1"/>
          <p:nvPr/>
        </p:nvSpPr>
        <p:spPr>
          <a:xfrm>
            <a:off x="5598414" y="1705228"/>
            <a:ext cx="3179825" cy="651891"/>
          </a:xfrm>
          <a:prstGeom prst="rect">
            <a:avLst/>
          </a:prstGeom>
          <a:noFill/>
        </p:spPr>
        <p:txBody>
          <a:bodyPr wrap="square" lIns="128016" rIns="128016" tIns="18288" bIns="18288" anchor="ctr">
            <a:spAutoFit/>
          </a:bodyPr>
          <a:lstStyle/>
          <a:p>
            <a:r>
              <a:rPr sz="1100" b="0" i="0">
                <a:solidFill>
                  <a:srgbClr val="1F2933"/>
                </a:solidFill>
                <a:latin typeface="Calibri"/>
              </a:rPr>
              <a:t>ing.meal_id must name a row of meals. REFERENCES meals points to the primary key of that table.</a:t>
            </a:r>
          </a:p>
        </p:txBody>
      </p:sp>
      <p:sp>
        <p:nvSpPr>
          <p:cNvPr id="8" name="code"/>
          <p:cNvSpPr/>
          <p:nvPr/>
        </p:nvSpPr>
        <p:spPr>
          <a:xfrm>
            <a:off x="365760" y="2402839"/>
            <a:ext cx="5250942" cy="87312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"INSERT INTO ing VALUES (1, 'flour')"</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try</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"INSERT INTO ing VALUES (99, 'salt')"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except</a:t>
            </a:r>
            <a:r>
              <a:rPr sz="950" b="0" i="0">
                <a:solidFill>
                  <a:srgbClr val="E6EDF3"/>
                </a:solidFill>
                <a:latin typeface="Courier New"/>
              </a:rPr>
              <a:t> </a:t>
            </a:r>
            <a:r>
              <a:rPr sz="950" b="0" i="0">
                <a:solidFill>
                  <a:srgbClr val="E6EDF3"/>
                </a:solidFill>
                <a:latin typeface="Courier New"/>
              </a:rPr>
              <a:t>sqlite3</a:t>
            </a:r>
            <a:r>
              <a:rPr sz="950" b="0" i="0">
                <a:solidFill>
                  <a:srgbClr val="E6EDF3"/>
                </a:solidFill>
                <a:latin typeface="Courier New"/>
              </a:rPr>
              <a:t>.</a:t>
            </a:r>
            <a:r>
              <a:rPr sz="950" b="0" i="0">
                <a:solidFill>
                  <a:srgbClr val="E6EDF3"/>
                </a:solidFill>
                <a:latin typeface="Courier New"/>
              </a:rPr>
              <a:t>IntegrityError</a:t>
            </a:r>
            <a:r>
              <a:rPr sz="950" b="0" i="0">
                <a:solidFill>
                  <a:srgbClr val="E6EDF3"/>
                </a:solidFill>
                <a:latin typeface="Courier New"/>
              </a:rPr>
              <a:t> </a:t>
            </a:r>
            <a:r>
              <a:rPr sz="950" b="0" i="0">
                <a:solidFill>
                  <a:srgbClr val="E6EDF3"/>
                </a:solidFill>
                <a:latin typeface="Courier New"/>
              </a:rPr>
              <a:t>as</a:t>
            </a:r>
            <a:r>
              <a:rPr sz="950" b="0" i="0">
                <a:solidFill>
                  <a:srgbClr val="E6EDF3"/>
                </a:solidFill>
                <a:latin typeface="Courier New"/>
              </a:rPr>
              <a:t> </a:t>
            </a:r>
            <a:r>
              <a:rPr sz="950" b="0" i="0">
                <a:solidFill>
                  <a:srgbClr val="E6EDF3"/>
                </a:solidFill>
                <a:latin typeface="Courier New"/>
              </a:rPr>
              <a:t>e</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print</a:t>
            </a:r>
            <a:r>
              <a:rPr sz="950" b="0" i="0">
                <a:solidFill>
                  <a:srgbClr val="E6EDF3"/>
                </a:solidFill>
                <a:latin typeface="Courier New"/>
              </a:rPr>
              <a:t>(</a:t>
            </a:r>
            <a:r>
              <a:rPr sz="950" b="0" i="0">
                <a:solidFill>
                  <a:srgbClr val="9BE3A8"/>
                </a:solidFill>
                <a:latin typeface="Courier New"/>
              </a:rPr>
              <a:t>'refused:'</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a:t>
            </a:r>
            <a:r>
              <a:rPr sz="950" b="0" i="0">
                <a:solidFill>
                  <a:srgbClr val="E6EDF3"/>
                </a:solidFill>
                <a:latin typeface="Courier New"/>
              </a:rPr>
              <a:t>)</a:t>
            </a:r>
          </a:p>
        </p:txBody>
      </p:sp>
      <p:sp>
        <p:nvSpPr>
          <p:cNvPr id="9" name="explanation"/>
          <p:cNvSpPr txBox="1"/>
          <p:nvPr/>
        </p:nvSpPr>
        <p:spPr>
          <a:xfrm>
            <a:off x="5598414" y="2402839"/>
            <a:ext cx="3179825" cy="873125"/>
          </a:xfrm>
          <a:prstGeom prst="rect">
            <a:avLst/>
          </a:prstGeom>
          <a:noFill/>
        </p:spPr>
        <p:txBody>
          <a:bodyPr wrap="square" lIns="128016" rIns="128016" tIns="18288" bIns="18288" anchor="ctr">
            <a:spAutoFit/>
          </a:bodyPr>
          <a:lstStyle/>
          <a:p>
            <a:r>
              <a:rPr sz="1100" b="0" i="0">
                <a:solidFill>
                  <a:srgbClr val="1F2933"/>
                </a:solidFill>
                <a:latin typeface="Calibri"/>
              </a:rPr>
              <a:t>Meal 1 exists, so flour is accepted. Meal 99 does not exist, so salt is refused.</a:t>
            </a:r>
          </a:p>
        </p:txBody>
      </p:sp>
      <p:sp>
        <p:nvSpPr>
          <p:cNvPr id="10" name="result label"/>
          <p:cNvSpPr txBox="1"/>
          <p:nvPr/>
        </p:nvSpPr>
        <p:spPr>
          <a:xfrm>
            <a:off x="365760" y="3330829"/>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577717"/>
            <a:ext cx="2187244" cy="201168"/>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i="0">
                <a:solidFill>
                  <a:srgbClr val="1F2933"/>
                </a:solidFill>
                <a:latin typeface="Calibri"/>
              </a:rPr>
              <a:t>meals (parent)</a:t>
            </a:r>
          </a:p>
        </p:txBody>
      </p:sp>
      <p:graphicFrame>
        <p:nvGraphicFramePr>
          <p:cNvPr id="12" name="table"/>
          <p:cNvGraphicFramePr>
            <a:graphicFrameLocks noGrp="1"/>
          </p:cNvGraphicFramePr>
          <p:nvPr/>
        </p:nvGraphicFramePr>
        <p:xfrm>
          <a:off x="365760" y="3815461"/>
          <a:ext cx="2187244" cy="475488"/>
        </p:xfrm>
        <a:graphic>
          <a:graphicData uri="http://schemas.openxmlformats.org/drawingml/2006/table">
            <a:tbl>
              <a:tblPr firstRow="0" bandRow="0"/>
              <a:tblGrid>
                <a:gridCol w="656173"/>
                <a:gridCol w="1531071"/>
              </a:tblGrid>
              <a:tr h="237744">
                <a:tc>
                  <a:txBody>
                    <a:bodyPr wrap="square"/>
                    <a:lstStyle/>
                    <a:p>
                      <a:r>
                        <a:rPr sz="1000" b="1" i="0">
                          <a:solidFill>
                            <a:srgbClr val="FFFFFF"/>
                          </a:solidFill>
                          <a:latin typeface="Calibri"/>
                        </a:rPr>
                        <a:t>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37744">
                <a:tc>
                  <a:txBody>
                    <a:bodyPr wrap="square"/>
                    <a:lstStyle/>
                    <a:p>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Pancakes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3" name="Rounded Rectangle 12"/>
          <p:cNvSpPr/>
          <p:nvPr/>
        </p:nvSpPr>
        <p:spPr>
          <a:xfrm>
            <a:off x="3730752" y="3577717"/>
            <a:ext cx="2187244" cy="201168"/>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i="0">
                <a:solidFill>
                  <a:srgbClr val="1F2933"/>
                </a:solidFill>
                <a:latin typeface="Calibri"/>
              </a:rPr>
              <a:t>ing (child)</a:t>
            </a:r>
          </a:p>
        </p:txBody>
      </p:sp>
      <p:graphicFrame>
        <p:nvGraphicFramePr>
          <p:cNvPr id="14" name="table"/>
          <p:cNvGraphicFramePr>
            <a:graphicFrameLocks noGrp="1"/>
          </p:cNvGraphicFramePr>
          <p:nvPr/>
        </p:nvGraphicFramePr>
        <p:xfrm>
          <a:off x="3730752" y="3815461"/>
          <a:ext cx="2187244" cy="475488"/>
        </p:xfrm>
        <a:graphic>
          <a:graphicData uri="http://schemas.openxmlformats.org/drawingml/2006/table">
            <a:tbl>
              <a:tblPr firstRow="0" bandRow="0"/>
              <a:tblGrid>
                <a:gridCol w="937390"/>
                <a:gridCol w="1249854"/>
              </a:tblGrid>
              <a:tr h="237744">
                <a:tc>
                  <a:txBody>
                    <a:bodyPr wrap="square"/>
                    <a:lstStyle/>
                    <a:p>
                      <a:r>
                        <a:rPr sz="1000" b="1" i="0">
                          <a:solidFill>
                            <a:srgbClr val="FFFFFF"/>
                          </a:solidFill>
                          <a:latin typeface="Calibri"/>
                        </a:rPr>
                        <a:t>meal_id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item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37744">
                <a:tc>
                  <a:txBody>
                    <a:bodyPr wrap="square"/>
                    <a:lstStyle/>
                    <a:p>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00" b="0" i="0">
                          <a:solidFill>
                            <a:srgbClr val="1F2933"/>
                          </a:solidFill>
                          <a:latin typeface="Courier New"/>
                        </a:rPr>
                        <a:t>flour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cxnSp>
        <p:nvCxnSpPr>
          <p:cNvPr id="15" name="arrow"/>
          <p:cNvCxnSpPr/>
          <p:nvPr/>
        </p:nvCxnSpPr>
        <p:spPr>
          <a:xfrm flipH="1">
            <a:off x="2589580" y="4172077"/>
            <a:ext cx="1122884" cy="0"/>
          </a:xfrm>
          <a:prstGeom prst="line">
            <a:avLst/>
          </a:prstGeom>
          <a:ln w="2286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visual note"/>
          <p:cNvSpPr txBox="1"/>
          <p:nvPr/>
        </p:nvSpPr>
        <p:spPr>
          <a:xfrm>
            <a:off x="2637129" y="3943477"/>
            <a:ext cx="1093622" cy="182880"/>
          </a:xfrm>
          <a:prstGeom prst="rect">
            <a:avLst/>
          </a:prstGeom>
          <a:noFill/>
        </p:spPr>
        <p:txBody>
          <a:bodyPr wrap="square" lIns="45720" rIns="45720" tIns="27432" bIns="27432" anchor="t">
            <a:spAutoFit/>
          </a:bodyPr>
          <a:lstStyle/>
          <a:p>
            <a:r>
              <a:rPr sz="800" b="0" i="1">
                <a:solidFill>
                  <a:srgbClr val="5B6773"/>
                </a:solidFill>
                <a:latin typeface="Calibri"/>
              </a:rPr>
              <a:t>REFERENCES</a:t>
            </a:r>
          </a:p>
        </p:txBody>
      </p:sp>
      <p:sp>
        <p:nvSpPr>
          <p:cNvPr id="17" name="Rounded Rectangle 16"/>
          <p:cNvSpPr/>
          <p:nvPr/>
        </p:nvSpPr>
        <p:spPr>
          <a:xfrm>
            <a:off x="6422745" y="3577717"/>
            <a:ext cx="2355494" cy="36576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foreign_keys is 0</a:t>
            </a:r>
          </a:p>
          <a:p>
            <a:pPr algn="ctr"/>
            <a:r>
              <a:rPr sz="900" b="0" i="0">
                <a:solidFill>
                  <a:srgbClr val="1F2933"/>
                </a:solidFill>
                <a:latin typeface="Courier New"/>
              </a:rPr>
              <a:t>before the switch</a:t>
            </a:r>
          </a:p>
        </p:txBody>
      </p:sp>
      <p:sp>
        <p:nvSpPr>
          <p:cNvPr id="18" name="Rounded Rectangle 17"/>
          <p:cNvSpPr/>
          <p:nvPr/>
        </p:nvSpPr>
        <p:spPr>
          <a:xfrm>
            <a:off x="6422745" y="3998341"/>
            <a:ext cx="2355494" cy="36576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alibri"/>
              </a:rPr>
              <a:t>meal_id 99: FOREIGN KEY constraint failed</a:t>
            </a:r>
          </a:p>
        </p:txBody>
      </p:sp>
      <p:sp>
        <p:nvSpPr>
          <p:cNvPr id="19" name="visual note"/>
          <p:cNvSpPr txBox="1"/>
          <p:nvPr/>
        </p:nvSpPr>
        <p:spPr>
          <a:xfrm>
            <a:off x="365760" y="4400677"/>
            <a:ext cx="5888736" cy="219456"/>
          </a:xfrm>
          <a:prstGeom prst="rect">
            <a:avLst/>
          </a:prstGeom>
          <a:noFill/>
        </p:spPr>
        <p:txBody>
          <a:bodyPr wrap="square" lIns="45720" rIns="45720" tIns="27432" bIns="27432" anchor="t">
            <a:spAutoFit/>
          </a:bodyPr>
          <a:lstStyle/>
          <a:p>
            <a:r>
              <a:rPr sz="900" b="0" i="1">
                <a:solidFill>
                  <a:srgbClr val="5B6773"/>
                </a:solidFill>
                <a:latin typeface="Calibri"/>
              </a:rPr>
              <a:t>green: the row that points to an existing meal; meal 99 does not exist</a:t>
            </a:r>
          </a:p>
        </p:txBody>
      </p:sp>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Foreign keys are off until you switch them on.</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41 / 54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INNER JOIN keeps matches; LEFT JOIN keeps every left row</a:t>
            </a:r>
          </a:p>
        </p:txBody>
      </p:sp>
      <p:sp>
        <p:nvSpPr>
          <p:cNvPr id="4" name="code"/>
          <p:cNvSpPr/>
          <p:nvPr/>
        </p:nvSpPr>
        <p:spPr>
          <a:xfrm>
            <a:off x="365760" y="786384"/>
            <a:ext cx="4919472"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sqlite3</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sqlite3</a:t>
            </a:r>
            <a:r>
              <a:rPr sz="900" b="0" i="0">
                <a:solidFill>
                  <a:srgbClr val="E6EDF3"/>
                </a:solidFill>
                <a:latin typeface="Courier New"/>
              </a:rPr>
              <a:t>.</a:t>
            </a:r>
            <a:r>
              <a:rPr sz="900" b="0" i="0">
                <a:solidFill>
                  <a:srgbClr val="E6EDF3"/>
                </a:solidFill>
                <a:latin typeface="Courier New"/>
              </a:rPr>
              <a:t>connect</a:t>
            </a:r>
            <a:r>
              <a:rPr sz="900" b="0" i="0">
                <a:solidFill>
                  <a:srgbClr val="E6EDF3"/>
                </a:solidFill>
                <a:latin typeface="Courier New"/>
              </a:rPr>
              <a:t>(</a:t>
            </a:r>
            <a:r>
              <a:rPr sz="900" b="0" i="0">
                <a:solidFill>
                  <a:srgbClr val="9BE3A8"/>
                </a:solidFill>
                <a:latin typeface="Courier New"/>
              </a:rPr>
              <a:t>':memory:'</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'CREATE TABLE cats (id INTEGER PRIMARY KEY, name)'</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'CREATE TABLE vax (cat_id INTEGER, vaccine TEXT)'</a:t>
            </a:r>
            <a:r>
              <a:rPr sz="900" b="0" i="0">
                <a:solidFill>
                  <a:srgbClr val="E6EDF3"/>
                </a:solidFill>
                <a:latin typeface="Courier New"/>
              </a:rPr>
              <a:t>)</a:t>
            </a:r>
          </a:p>
        </p:txBody>
      </p:sp>
      <p:sp>
        <p:nvSpPr>
          <p:cNvPr id="5" name="explanation"/>
          <p:cNvSpPr txBox="1"/>
          <p:nvPr/>
        </p:nvSpPr>
        <p:spPr>
          <a:xfrm>
            <a:off x="5266944" y="786384"/>
            <a:ext cx="3511295" cy="694944"/>
          </a:xfrm>
          <a:prstGeom prst="rect">
            <a:avLst/>
          </a:prstGeom>
          <a:noFill/>
        </p:spPr>
        <p:txBody>
          <a:bodyPr wrap="square" lIns="128016" rIns="128016" tIns="18288" bIns="18288" anchor="ctr">
            <a:spAutoFit/>
          </a:bodyPr>
          <a:lstStyle/>
          <a:p>
            <a:r>
              <a:rPr sz="1100" b="0" i="0">
                <a:solidFill>
                  <a:srgbClr val="1F2933"/>
                </a:solidFill>
                <a:latin typeface="Calibri"/>
              </a:rPr>
              <a:t>Two tables: the cats, and the vaccinations they received.</a:t>
            </a:r>
          </a:p>
        </p:txBody>
      </p:sp>
      <p:sp>
        <p:nvSpPr>
          <p:cNvPr id="6" name="code"/>
          <p:cNvSpPr/>
          <p:nvPr/>
        </p:nvSpPr>
        <p:spPr>
          <a:xfrm>
            <a:off x="365760" y="1527048"/>
            <a:ext cx="4919472"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names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9BE3A8"/>
                </a:solidFill>
                <a:latin typeface="Courier New"/>
              </a:rPr>
              <a:t>'Zophie'</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'Toby'</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'Mandy'</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executemany</a:t>
            </a:r>
            <a:r>
              <a:rPr sz="900" b="0" i="0">
                <a:solidFill>
                  <a:srgbClr val="E6EDF3"/>
                </a:solidFill>
                <a:latin typeface="Courier New"/>
              </a:rPr>
              <a:t>(</a:t>
            </a:r>
            <a:r>
              <a:rPr sz="900" b="0" i="0">
                <a:solidFill>
                  <a:srgbClr val="9BE3A8"/>
                </a:solidFill>
                <a:latin typeface="Courier New"/>
              </a:rPr>
              <a:t>'INSERT INTO cats (name) VALUES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names</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executemany</a:t>
            </a:r>
            <a:r>
              <a:rPr sz="900" b="0" i="0">
                <a:solidFill>
                  <a:srgbClr val="E6EDF3"/>
                </a:solidFill>
                <a:latin typeface="Courier New"/>
              </a:rPr>
              <a:t>(</a:t>
            </a:r>
            <a:r>
              <a:rPr sz="900" b="0" i="0">
                <a:solidFill>
                  <a:srgbClr val="9BE3A8"/>
                </a:solidFill>
                <a:latin typeface="Courier New"/>
              </a:rPr>
              <a:t>'INSERT INTO vax VALUES (?, ?)'</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'rabies'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'FVRCP'</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7CC4FF"/>
                </a:solidFill>
                <a:latin typeface="Courier New"/>
              </a:rPr>
              <a:t>2</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'rabies'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266944" y="1527048"/>
            <a:ext cx="3511295" cy="694944"/>
          </a:xfrm>
          <a:prstGeom prst="rect">
            <a:avLst/>
          </a:prstGeom>
          <a:noFill/>
        </p:spPr>
        <p:txBody>
          <a:bodyPr wrap="square" lIns="128016" rIns="128016" tIns="18288" bIns="18288" anchor="ctr">
            <a:spAutoFit/>
          </a:bodyPr>
          <a:lstStyle/>
          <a:p>
            <a:r>
              <a:rPr sz="1100" b="0" i="0">
                <a:solidFill>
                  <a:srgbClr val="1F2933"/>
                </a:solidFill>
                <a:latin typeface="Calibri"/>
              </a:rPr>
              <a:t>Mandy has no vaccination yet. The number in cat_id is the id of the cat.</a:t>
            </a:r>
          </a:p>
        </p:txBody>
      </p:sp>
      <p:sp>
        <p:nvSpPr>
          <p:cNvPr id="8" name="code"/>
          <p:cNvSpPr/>
          <p:nvPr/>
        </p:nvSpPr>
        <p:spPr>
          <a:xfrm>
            <a:off x="365760" y="2267712"/>
            <a:ext cx="4919472"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join</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'SELECT name, vaccine FROM cats {} vax'</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 ON cat_id = id ORDER BY 1, 2'</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E6EDF3"/>
                </a:solidFill>
                <a:latin typeface="Courier New"/>
              </a:rPr>
              <a:t>join</a:t>
            </a:r>
            <a:r>
              <a:rPr sz="900" b="0" i="0">
                <a:solidFill>
                  <a:srgbClr val="E6EDF3"/>
                </a:solidFill>
                <a:latin typeface="Courier New"/>
              </a:rPr>
              <a:t>.</a:t>
            </a:r>
            <a:r>
              <a:rPr sz="900" b="0" i="0">
                <a:solidFill>
                  <a:srgbClr val="E6EDF3"/>
                </a:solidFill>
                <a:latin typeface="Courier New"/>
              </a:rPr>
              <a:t>format</a:t>
            </a:r>
            <a:r>
              <a:rPr sz="900" b="0" i="0">
                <a:solidFill>
                  <a:srgbClr val="E6EDF3"/>
                </a:solidFill>
                <a:latin typeface="Courier New"/>
              </a:rPr>
              <a:t>(</a:t>
            </a:r>
            <a:r>
              <a:rPr sz="900" b="0" i="0">
                <a:solidFill>
                  <a:srgbClr val="9BE3A8"/>
                </a:solidFill>
                <a:latin typeface="Courier New"/>
              </a:rPr>
              <a:t>'INNER JOIN'</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fetchall</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E6EDF3"/>
                </a:solidFill>
                <a:latin typeface="Courier New"/>
              </a:rPr>
              <a:t>join</a:t>
            </a:r>
            <a:r>
              <a:rPr sz="900" b="0" i="0">
                <a:solidFill>
                  <a:srgbClr val="E6EDF3"/>
                </a:solidFill>
                <a:latin typeface="Courier New"/>
              </a:rPr>
              <a:t>.</a:t>
            </a:r>
            <a:r>
              <a:rPr sz="900" b="0" i="0">
                <a:solidFill>
                  <a:srgbClr val="E6EDF3"/>
                </a:solidFill>
                <a:latin typeface="Courier New"/>
              </a:rPr>
              <a:t>format</a:t>
            </a:r>
            <a:r>
              <a:rPr sz="900" b="0" i="0">
                <a:solidFill>
                  <a:srgbClr val="E6EDF3"/>
                </a:solidFill>
                <a:latin typeface="Courier New"/>
              </a:rPr>
              <a:t>(</a:t>
            </a:r>
            <a:r>
              <a:rPr sz="900" b="0" i="0">
                <a:solidFill>
                  <a:srgbClr val="9BE3A8"/>
                </a:solidFill>
                <a:latin typeface="Courier New"/>
              </a:rPr>
              <a:t>'LEFT JOIN'</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fetchall</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5266944" y="2267712"/>
            <a:ext cx="3511295" cy="694944"/>
          </a:xfrm>
          <a:prstGeom prst="rect">
            <a:avLst/>
          </a:prstGeom>
          <a:noFill/>
        </p:spPr>
        <p:txBody>
          <a:bodyPr wrap="square" lIns="128016" rIns="128016" tIns="18288" bIns="18288" anchor="ctr">
            <a:spAutoFit/>
          </a:bodyPr>
          <a:lstStyle/>
          <a:p>
            <a:r>
              <a:rPr sz="1100" b="0" i="0">
                <a:solidFill>
                  <a:srgbClr val="1F2933"/>
                </a:solidFill>
                <a:latin typeface="Calibri"/>
              </a:rPr>
              <a:t>INNER JOIN drops Mandy, who has no match. LEFT JOIN keeps her, with None for the vaccine.</a:t>
            </a:r>
          </a:p>
        </p:txBody>
      </p:sp>
      <p:sp>
        <p:nvSpPr>
          <p:cNvPr id="10" name="result label"/>
          <p:cNvSpPr txBox="1"/>
          <p:nvPr/>
        </p:nvSpPr>
        <p:spPr>
          <a:xfrm>
            <a:off x="365760" y="301752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264408"/>
            <a:ext cx="3701491" cy="201168"/>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i="0">
                <a:solidFill>
                  <a:srgbClr val="1F2933"/>
                </a:solidFill>
                <a:latin typeface="Calibri"/>
              </a:rPr>
              <a:t>INNER JOIN: 3 rows</a:t>
            </a:r>
          </a:p>
        </p:txBody>
      </p:sp>
      <p:graphicFrame>
        <p:nvGraphicFramePr>
          <p:cNvPr id="12" name="table"/>
          <p:cNvGraphicFramePr>
            <a:graphicFrameLocks noGrp="1"/>
          </p:cNvGraphicFramePr>
          <p:nvPr/>
        </p:nvGraphicFramePr>
        <p:xfrm>
          <a:off x="365760" y="3502152"/>
          <a:ext cx="3701490" cy="877824"/>
        </p:xfrm>
        <a:graphic>
          <a:graphicData uri="http://schemas.openxmlformats.org/drawingml/2006/table">
            <a:tbl>
              <a:tblPr firstRow="0" bandRow="0"/>
              <a:tblGrid>
                <a:gridCol w="1850745"/>
                <a:gridCol w="1850745"/>
              </a:tblGrid>
              <a:tr h="219456">
                <a:tc>
                  <a:txBody>
                    <a:bodyPr wrap="square"/>
                    <a:lstStyle/>
                    <a:p>
                      <a:r>
                        <a:rPr sz="1000" b="1" i="0">
                          <a:solidFill>
                            <a:srgbClr val="FFFFFF"/>
                          </a:solidFill>
                          <a:latin typeface="Calibri"/>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vaccine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9456">
                <a:tc>
                  <a:txBody>
                    <a:bodyPr wrap="square"/>
                    <a:lstStyle/>
                    <a:p>
                      <a:r>
                        <a:rPr sz="1000" b="0" i="0">
                          <a:solidFill>
                            <a:srgbClr val="1F2933"/>
                          </a:solidFill>
                          <a:latin typeface="Courier New"/>
                        </a:rPr>
                        <a:t>Toby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rabies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r>
                        <a:rPr sz="1000" b="0" i="0">
                          <a:solidFill>
                            <a:srgbClr val="1F2933"/>
                          </a:solidFill>
                          <a:latin typeface="Courier New"/>
                        </a:rPr>
                        <a:t>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FVRCP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9456">
                <a:tc>
                  <a:txBody>
                    <a:bodyPr wrap="square"/>
                    <a:lstStyle/>
                    <a:p>
                      <a:r>
                        <a:rPr sz="1000" b="0" i="0">
                          <a:solidFill>
                            <a:srgbClr val="1F2933"/>
                          </a:solidFill>
                          <a:latin typeface="Courier New"/>
                        </a:rPr>
                        <a:t>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rabies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3" name="Rounded Rectangle 12"/>
          <p:cNvSpPr/>
          <p:nvPr/>
        </p:nvSpPr>
        <p:spPr>
          <a:xfrm>
            <a:off x="4740249" y="3264408"/>
            <a:ext cx="3701491" cy="201168"/>
          </a:xfrm>
          <a:prstGeom prst="roundRect">
            <a:avLst>
              <a:gd name="adj" fmla="val 30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i="0">
                <a:solidFill>
                  <a:srgbClr val="1F2933"/>
                </a:solidFill>
                <a:latin typeface="Calibri"/>
              </a:rPr>
              <a:t>LEFT JOIN: 4 rows</a:t>
            </a:r>
          </a:p>
        </p:txBody>
      </p:sp>
      <p:graphicFrame>
        <p:nvGraphicFramePr>
          <p:cNvPr id="14" name="table"/>
          <p:cNvGraphicFramePr>
            <a:graphicFrameLocks noGrp="1"/>
          </p:cNvGraphicFramePr>
          <p:nvPr/>
        </p:nvGraphicFramePr>
        <p:xfrm>
          <a:off x="4740249" y="3502152"/>
          <a:ext cx="3701490" cy="1097280"/>
        </p:xfrm>
        <a:graphic>
          <a:graphicData uri="http://schemas.openxmlformats.org/drawingml/2006/table">
            <a:tbl>
              <a:tblPr firstRow="0" bandRow="0"/>
              <a:tblGrid>
                <a:gridCol w="1850745"/>
                <a:gridCol w="1850745"/>
              </a:tblGrid>
              <a:tr h="219456">
                <a:tc>
                  <a:txBody>
                    <a:bodyPr wrap="square"/>
                    <a:lstStyle/>
                    <a:p>
                      <a:r>
                        <a:rPr sz="1000" b="1" i="0">
                          <a:solidFill>
                            <a:srgbClr val="FFFFFF"/>
                          </a:solidFill>
                          <a:latin typeface="Calibri"/>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vaccine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9456">
                <a:tc>
                  <a:txBody>
                    <a:bodyPr wrap="square"/>
                    <a:lstStyle/>
                    <a:p>
                      <a:r>
                        <a:rPr sz="1000" b="0" i="0">
                          <a:solidFill>
                            <a:srgbClr val="1F2933"/>
                          </a:solidFill>
                          <a:latin typeface="Courier New"/>
                        </a:rPr>
                        <a:t>Mandy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0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19456">
                <a:tc>
                  <a:txBody>
                    <a:bodyPr wrap="square"/>
                    <a:lstStyle/>
                    <a:p>
                      <a:r>
                        <a:rPr sz="1000" b="0" i="0">
                          <a:solidFill>
                            <a:srgbClr val="1F2933"/>
                          </a:solidFill>
                          <a:latin typeface="Courier New"/>
                        </a:rPr>
                        <a:t>Toby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rabies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9456">
                <a:tc>
                  <a:txBody>
                    <a:bodyPr wrap="square"/>
                    <a:lstStyle/>
                    <a:p>
                      <a:r>
                        <a:rPr sz="1000" b="0" i="0">
                          <a:solidFill>
                            <a:srgbClr val="1F2933"/>
                          </a:solidFill>
                          <a:latin typeface="Courier New"/>
                        </a:rPr>
                        <a:t>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FVRCP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r>
                        <a:rPr sz="1000" b="0" i="0">
                          <a:solidFill>
                            <a:srgbClr val="1F2933"/>
                          </a:solidFill>
                          <a:latin typeface="Courier New"/>
                        </a:rPr>
                        <a:t>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rabies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LEFT JOIN keeps rows INNER JOIN drops.</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42 / 54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backup() copies a whole database, from memory to a file</a:t>
            </a:r>
          </a:p>
        </p:txBody>
      </p:sp>
      <p:sp>
        <p:nvSpPr>
          <p:cNvPr id="4" name="code"/>
          <p:cNvSpPr/>
          <p:nvPr/>
        </p:nvSpPr>
        <p:spPr>
          <a:xfrm>
            <a:off x="365760" y="786384"/>
            <a:ext cx="5250942" cy="1020317"/>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os</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sqlite3</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tempfile</a:t>
            </a:r>
          </a:p>
          <a:p>
            <a:pPr algn="l"/>
            <a:r>
              <a:rPr sz="950" b="0" i="0">
                <a:solidFill>
                  <a:srgbClr val="8FA3B8"/>
                </a:solidFill>
                <a:latin typeface="Courier New"/>
              </a:rPr>
              <a:t>&gt;&gt;&gt; </a:t>
            </a:r>
            <a:r>
              <a:rPr sz="950" b="0" i="0">
                <a:solidFill>
                  <a:srgbClr val="E6EDF3"/>
                </a:solidFill>
                <a:latin typeface="Courier New"/>
              </a:rPr>
              <a:t>src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sqlite3</a:t>
            </a:r>
            <a:r>
              <a:rPr sz="950" b="0" i="0">
                <a:solidFill>
                  <a:srgbClr val="E6EDF3"/>
                </a:solidFill>
                <a:latin typeface="Courier New"/>
              </a:rPr>
              <a:t>.</a:t>
            </a:r>
            <a:r>
              <a:rPr sz="950" b="0" i="0">
                <a:solidFill>
                  <a:srgbClr val="E6EDF3"/>
                </a:solidFill>
                <a:latin typeface="Courier New"/>
              </a:rPr>
              <a:t>connect</a:t>
            </a:r>
            <a:r>
              <a:rPr sz="950" b="0" i="0">
                <a:solidFill>
                  <a:srgbClr val="E6EDF3"/>
                </a:solidFill>
                <a:latin typeface="Courier New"/>
              </a:rPr>
              <a:t>(</a:t>
            </a:r>
            <a:r>
              <a:rPr sz="950" b="0" i="0">
                <a:solidFill>
                  <a:srgbClr val="9BE3A8"/>
                </a:solidFill>
                <a:latin typeface="Courier New"/>
              </a:rPr>
              <a:t>':memory:'</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src</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'CREATE TABLE cats (name TEXT)'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src</a:t>
            </a:r>
            <a:r>
              <a:rPr sz="950" b="0" i="0">
                <a:solidFill>
                  <a:srgbClr val="E6EDF3"/>
                </a:solidFill>
                <a:latin typeface="Courier New"/>
              </a:rPr>
              <a:t>.</a:t>
            </a:r>
            <a:r>
              <a:rPr sz="950" b="0" i="0">
                <a:solidFill>
                  <a:srgbClr val="E6EDF3"/>
                </a:solidFill>
                <a:latin typeface="Courier New"/>
              </a:rPr>
              <a:t>executemany</a:t>
            </a:r>
            <a:r>
              <a:rPr sz="950" b="0" i="0">
                <a:solidFill>
                  <a:srgbClr val="E6EDF3"/>
                </a:solidFill>
                <a:latin typeface="Courier New"/>
              </a:rPr>
              <a:t>(</a:t>
            </a:r>
            <a:r>
              <a:rPr sz="950" b="0" i="0">
                <a:solidFill>
                  <a:srgbClr val="9BE3A8"/>
                </a:solidFill>
                <a:latin typeface="Courier New"/>
              </a:rPr>
              <a:t>'INSERT INTO cats VALUES (?)'</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9BE3A8"/>
                </a:solidFill>
                <a:latin typeface="Courier New"/>
              </a:rPr>
              <a:t>'Zophie'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'Toby'</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src</a:t>
            </a:r>
            <a:r>
              <a:rPr sz="950" b="0" i="0">
                <a:solidFill>
                  <a:srgbClr val="E6EDF3"/>
                </a:solidFill>
                <a:latin typeface="Courier New"/>
              </a:rPr>
              <a:t>.</a:t>
            </a:r>
            <a:r>
              <a:rPr sz="950" b="0" i="0">
                <a:solidFill>
                  <a:srgbClr val="E6EDF3"/>
                </a:solidFill>
                <a:latin typeface="Courier New"/>
              </a:rPr>
              <a:t>commit</a:t>
            </a:r>
            <a:r>
              <a:rPr sz="950" b="0" i="0">
                <a:solidFill>
                  <a:srgbClr val="E6EDF3"/>
                </a:solidFill>
                <a:latin typeface="Courier New"/>
              </a:rPr>
              <a:t>(</a:t>
            </a:r>
            <a:r>
              <a:rPr sz="950" b="0" i="0">
                <a:solidFill>
                  <a:srgbClr val="E6EDF3"/>
                </a:solidFill>
                <a:latin typeface="Courier New"/>
              </a:rPr>
              <a:t>)</a:t>
            </a:r>
          </a:p>
        </p:txBody>
      </p:sp>
      <p:sp>
        <p:nvSpPr>
          <p:cNvPr id="5" name="explanation"/>
          <p:cNvSpPr txBox="1"/>
          <p:nvPr/>
        </p:nvSpPr>
        <p:spPr>
          <a:xfrm>
            <a:off x="5598414" y="786384"/>
            <a:ext cx="3179825" cy="1020317"/>
          </a:xfrm>
          <a:prstGeom prst="rect">
            <a:avLst/>
          </a:prstGeom>
          <a:noFill/>
        </p:spPr>
        <p:txBody>
          <a:bodyPr wrap="square" lIns="128016" rIns="128016" tIns="18288" bIns="18288" anchor="ctr">
            <a:spAutoFit/>
          </a:bodyPr>
          <a:lstStyle/>
          <a:p>
            <a:r>
              <a:rPr sz="1100" b="0" i="0">
                <a:solidFill>
                  <a:srgbClr val="1F2933"/>
                </a:solidFill>
                <a:latin typeface="Calibri"/>
              </a:rPr>
              <a:t>A memory database with two cats. Memory databases vanish when the program ends, so they are worth copying.</a:t>
            </a:r>
          </a:p>
        </p:txBody>
      </p:sp>
      <p:sp>
        <p:nvSpPr>
          <p:cNvPr id="6" name="code"/>
          <p:cNvSpPr/>
          <p:nvPr/>
        </p:nvSpPr>
        <p:spPr>
          <a:xfrm>
            <a:off x="365760" y="1852422"/>
            <a:ext cx="525094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path</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os</a:t>
            </a:r>
            <a:r>
              <a:rPr sz="950" b="0" i="0">
                <a:solidFill>
                  <a:srgbClr val="E6EDF3"/>
                </a:solidFill>
                <a:latin typeface="Courier New"/>
              </a:rPr>
              <a:t>.</a:t>
            </a:r>
            <a:r>
              <a:rPr sz="950" b="0" i="0">
                <a:solidFill>
                  <a:srgbClr val="E6EDF3"/>
                </a:solidFill>
                <a:latin typeface="Courier New"/>
              </a:rPr>
              <a:t>path</a:t>
            </a:r>
            <a:r>
              <a:rPr sz="950" b="0" i="0">
                <a:solidFill>
                  <a:srgbClr val="E6EDF3"/>
                </a:solidFill>
                <a:latin typeface="Courier New"/>
              </a:rPr>
              <a:t>.</a:t>
            </a:r>
            <a:r>
              <a:rPr sz="950" b="0" i="0">
                <a:solidFill>
                  <a:srgbClr val="E6EDF3"/>
                </a:solidFill>
                <a:latin typeface="Courier New"/>
              </a:rPr>
              <a:t>join</a:t>
            </a:r>
            <a:r>
              <a:rPr sz="950" b="0" i="0">
                <a:solidFill>
                  <a:srgbClr val="E6EDF3"/>
                </a:solidFill>
                <a:latin typeface="Courier New"/>
              </a:rPr>
              <a:t>(</a:t>
            </a:r>
            <a:r>
              <a:rPr sz="950" b="0" i="0">
                <a:solidFill>
                  <a:srgbClr val="E6EDF3"/>
                </a:solidFill>
                <a:latin typeface="Courier New"/>
              </a:rPr>
              <a:t>tempfile</a:t>
            </a:r>
            <a:r>
              <a:rPr sz="950" b="0" i="0">
                <a:solidFill>
                  <a:srgbClr val="E6EDF3"/>
                </a:solidFill>
                <a:latin typeface="Courier New"/>
              </a:rPr>
              <a:t>.</a:t>
            </a:r>
            <a:r>
              <a:rPr sz="950" b="0" i="0">
                <a:solidFill>
                  <a:srgbClr val="E6EDF3"/>
                </a:solidFill>
                <a:latin typeface="Courier New"/>
              </a:rPr>
              <a:t>mkdtemp</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'copy.db'</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dst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sqlite3</a:t>
            </a:r>
            <a:r>
              <a:rPr sz="950" b="0" i="0">
                <a:solidFill>
                  <a:srgbClr val="E6EDF3"/>
                </a:solidFill>
                <a:latin typeface="Courier New"/>
              </a:rPr>
              <a:t>.</a:t>
            </a:r>
            <a:r>
              <a:rPr sz="950" b="0" i="0">
                <a:solidFill>
                  <a:srgbClr val="E6EDF3"/>
                </a:solidFill>
                <a:latin typeface="Courier New"/>
              </a:rPr>
              <a:t>connect</a:t>
            </a:r>
            <a:r>
              <a:rPr sz="950" b="0" i="0">
                <a:solidFill>
                  <a:srgbClr val="E6EDF3"/>
                </a:solidFill>
                <a:latin typeface="Courier New"/>
              </a:rPr>
              <a:t>(</a:t>
            </a:r>
            <a:r>
              <a:rPr sz="950" b="0" i="0">
                <a:solidFill>
                  <a:srgbClr val="E6EDF3"/>
                </a:solidFill>
                <a:latin typeface="Courier New"/>
              </a:rPr>
              <a:t>path</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src</a:t>
            </a:r>
            <a:r>
              <a:rPr sz="950" b="0" i="0">
                <a:solidFill>
                  <a:srgbClr val="E6EDF3"/>
                </a:solidFill>
                <a:latin typeface="Courier New"/>
              </a:rPr>
              <a:t>.</a:t>
            </a:r>
            <a:r>
              <a:rPr sz="950" b="0" i="0">
                <a:solidFill>
                  <a:srgbClr val="E6EDF3"/>
                </a:solidFill>
                <a:latin typeface="Courier New"/>
              </a:rPr>
              <a:t>backup</a:t>
            </a:r>
            <a:r>
              <a:rPr sz="950" b="0" i="0">
                <a:solidFill>
                  <a:srgbClr val="E6EDF3"/>
                </a:solidFill>
                <a:latin typeface="Courier New"/>
              </a:rPr>
              <a:t>(</a:t>
            </a:r>
            <a:r>
              <a:rPr sz="950" b="0" i="0">
                <a:solidFill>
                  <a:srgbClr val="E6EDF3"/>
                </a:solidFill>
                <a:latin typeface="Courier New"/>
              </a:rPr>
              <a:t>dst</a:t>
            </a:r>
            <a:r>
              <a:rPr sz="950" b="0" i="0">
                <a:solidFill>
                  <a:srgbClr val="E6EDF3"/>
                </a:solidFill>
                <a:latin typeface="Courier New"/>
              </a:rPr>
              <a:t>)</a:t>
            </a:r>
          </a:p>
        </p:txBody>
      </p:sp>
      <p:sp>
        <p:nvSpPr>
          <p:cNvPr id="7" name="explanation"/>
          <p:cNvSpPr txBox="1"/>
          <p:nvPr/>
        </p:nvSpPr>
        <p:spPr>
          <a:xfrm>
            <a:off x="5598414" y="1852422"/>
            <a:ext cx="3179825" cy="651891"/>
          </a:xfrm>
          <a:prstGeom prst="rect">
            <a:avLst/>
          </a:prstGeom>
          <a:noFill/>
        </p:spPr>
        <p:txBody>
          <a:bodyPr wrap="square" lIns="128016" rIns="128016" tIns="18288" bIns="18288" anchor="ctr">
            <a:spAutoFit/>
          </a:bodyPr>
          <a:lstStyle/>
          <a:p>
            <a:r>
              <a:rPr sz="1100" b="0" i="0">
                <a:solidFill>
                  <a:srgbClr val="1F2933"/>
                </a:solidFill>
                <a:latin typeface="Calibri"/>
              </a:rPr>
              <a:t>backup() copies every page of the source into the destination, a database in a file.</a:t>
            </a:r>
          </a:p>
        </p:txBody>
      </p:sp>
      <p:sp>
        <p:nvSpPr>
          <p:cNvPr id="8" name="code"/>
          <p:cNvSpPr/>
          <p:nvPr/>
        </p:nvSpPr>
        <p:spPr>
          <a:xfrm>
            <a:off x="365760" y="2550033"/>
            <a:ext cx="5250942" cy="72593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q</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'SELECT count(*) FROM cats'</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9BE3A8"/>
                </a:solidFill>
                <a:latin typeface="Courier New"/>
              </a:rPr>
              <a:t>'rows in the copy:'</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dst</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E6EDF3"/>
                </a:solidFill>
                <a:latin typeface="Courier New"/>
              </a:rPr>
              <a:t>q</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fetchone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7CC4FF"/>
                </a:solidFill>
                <a:latin typeface="Courier New"/>
              </a:rPr>
              <a:t>0</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src</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"INSERT INTO cats VALUES ('Jacob')"</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9BE3A8"/>
                </a:solidFill>
                <a:latin typeface="Courier New"/>
              </a:rPr>
              <a:t>'copy after a later change:'</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dst</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E6EDF3"/>
                </a:solidFill>
                <a:latin typeface="Courier New"/>
              </a:rPr>
              <a:t>q</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fetchone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7CC4FF"/>
                </a:solidFill>
                <a:latin typeface="Courier New"/>
              </a:rPr>
              <a:t>0</a:t>
            </a:r>
            <a:r>
              <a:rPr sz="950" b="0" i="0">
                <a:solidFill>
                  <a:srgbClr val="E6EDF3"/>
                </a:solidFill>
                <a:latin typeface="Courier New"/>
              </a:rPr>
              <a:t>]</a:t>
            </a:r>
            <a:r>
              <a:rPr sz="950" b="0" i="0">
                <a:solidFill>
                  <a:srgbClr val="E6EDF3"/>
                </a:solidFill>
                <a:latin typeface="Courier New"/>
              </a:rPr>
              <a:t>)</a:t>
            </a:r>
          </a:p>
        </p:txBody>
      </p:sp>
      <p:sp>
        <p:nvSpPr>
          <p:cNvPr id="9" name="explanation"/>
          <p:cNvSpPr txBox="1"/>
          <p:nvPr/>
        </p:nvSpPr>
        <p:spPr>
          <a:xfrm>
            <a:off x="5598414" y="2550033"/>
            <a:ext cx="3179825" cy="725932"/>
          </a:xfrm>
          <a:prstGeom prst="rect">
            <a:avLst/>
          </a:prstGeom>
          <a:noFill/>
        </p:spPr>
        <p:txBody>
          <a:bodyPr wrap="square" lIns="128016" rIns="128016" tIns="18288" bIns="18288" anchor="ctr">
            <a:spAutoFit/>
          </a:bodyPr>
          <a:lstStyle/>
          <a:p>
            <a:r>
              <a:rPr sz="1100" b="0" i="0">
                <a:solidFill>
                  <a:srgbClr val="1F2933"/>
                </a:solidFill>
                <a:latin typeface="Calibri"/>
              </a:rPr>
              <a:t>The copy is a snapshot. A later change to the source does not reach it.</a:t>
            </a:r>
          </a:p>
        </p:txBody>
      </p:sp>
      <p:sp>
        <p:nvSpPr>
          <p:cNvPr id="10" name="result label"/>
          <p:cNvSpPr txBox="1"/>
          <p:nvPr/>
        </p:nvSpPr>
        <p:spPr>
          <a:xfrm>
            <a:off x="365760" y="3330829"/>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669157"/>
            <a:ext cx="2523744" cy="7315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source in memory</a:t>
            </a:r>
          </a:p>
          <a:p>
            <a:pPr algn="ctr"/>
            <a:r>
              <a:rPr sz="1050" b="0" i="0">
                <a:solidFill>
                  <a:srgbClr val="1F2933"/>
                </a:solidFill>
                <a:latin typeface="Calibri"/>
              </a:rPr>
              <a:t>rows now: 3</a:t>
            </a:r>
          </a:p>
        </p:txBody>
      </p:sp>
      <p:cxnSp>
        <p:nvCxnSpPr>
          <p:cNvPr id="12" name="arrow"/>
          <p:cNvCxnSpPr/>
          <p:nvPr/>
        </p:nvCxnSpPr>
        <p:spPr>
          <a:xfrm>
            <a:off x="2916935" y="4034917"/>
            <a:ext cx="1627633" cy="0"/>
          </a:xfrm>
          <a:prstGeom prst="line">
            <a:avLst/>
          </a:prstGeom>
          <a:ln w="2794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3669157"/>
            <a:ext cx="1554479" cy="2743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backup(dst)</a:t>
            </a:r>
          </a:p>
        </p:txBody>
      </p:sp>
      <p:sp>
        <p:nvSpPr>
          <p:cNvPr id="14" name="Rounded Rectangle 13"/>
          <p:cNvSpPr/>
          <p:nvPr/>
        </p:nvSpPr>
        <p:spPr>
          <a:xfrm>
            <a:off x="4572000" y="3669157"/>
            <a:ext cx="2523744" cy="73152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copy.db in a file</a:t>
            </a:r>
          </a:p>
          <a:p>
            <a:pPr algn="ctr"/>
            <a:r>
              <a:rPr sz="1050" b="0" i="0">
                <a:solidFill>
                  <a:srgbClr val="1F2933"/>
                </a:solidFill>
                <a:latin typeface="Calibri"/>
              </a:rPr>
              <a:t>rows: 2</a:t>
            </a:r>
          </a:p>
        </p:txBody>
      </p:sp>
      <p:sp>
        <p:nvSpPr>
          <p:cNvPr id="15" name="visual note"/>
          <p:cNvSpPr txBox="1"/>
          <p:nvPr/>
        </p:nvSpPr>
        <p:spPr>
          <a:xfrm>
            <a:off x="365760" y="4492117"/>
            <a:ext cx="8412480" cy="219456"/>
          </a:xfrm>
          <a:prstGeom prst="rect">
            <a:avLst/>
          </a:prstGeom>
          <a:noFill/>
        </p:spPr>
        <p:txBody>
          <a:bodyPr wrap="square" lIns="45720" rIns="45720" tIns="27432" bIns="27432" anchor="t">
            <a:spAutoFit/>
          </a:bodyPr>
          <a:lstStyle/>
          <a:p>
            <a:r>
              <a:rPr sz="950" b="0" i="1">
                <a:solidFill>
                  <a:srgbClr val="5B6773"/>
                </a:solidFill>
                <a:latin typeface="Calibri"/>
              </a:rPr>
              <a:t>rows in the copy: 2; copy after a later change: 2 - the copy is the source as it was at the moment of backup()</a:t>
            </a:r>
          </a:p>
        </p:txBody>
      </p:sp>
      <p:sp>
        <p:nvSpPr>
          <p:cNvPr id="1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backup is a snapshot of one moment.</a:t>
            </a:r>
          </a:p>
        </p:txBody>
      </p:sp>
      <p:sp>
        <p:nvSpPr>
          <p:cNvPr id="1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43 / 54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iterdump() turns a database into SQL text you can replay</a:t>
            </a:r>
          </a:p>
        </p:txBody>
      </p:sp>
      <p:sp>
        <p:nvSpPr>
          <p:cNvPr id="4" name="code"/>
          <p:cNvSpPr/>
          <p:nvPr/>
        </p:nvSpPr>
        <p:spPr>
          <a:xfrm>
            <a:off x="365760" y="786384"/>
            <a:ext cx="4736592" cy="95059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import</a:t>
            </a:r>
            <a:r>
              <a:rPr sz="1050" b="0" i="0">
                <a:solidFill>
                  <a:srgbClr val="E6EDF3"/>
                </a:solidFill>
                <a:latin typeface="Courier New"/>
              </a:rPr>
              <a:t> </a:t>
            </a:r>
            <a:r>
              <a:rPr sz="1050" b="0" i="0">
                <a:solidFill>
                  <a:srgbClr val="E6EDF3"/>
                </a:solidFill>
                <a:latin typeface="Courier New"/>
              </a:rPr>
              <a:t>sqlite3</a:t>
            </a:r>
          </a:p>
          <a:p>
            <a:pPr algn="l"/>
            <a:r>
              <a:rPr sz="1050" b="0" i="0">
                <a:solidFill>
                  <a:srgbClr val="8FA3B8"/>
                </a:solidFill>
                <a:latin typeface="Courier New"/>
              </a:rPr>
              <a:t>&gt;&gt;&gt; </a:t>
            </a:r>
            <a:r>
              <a:rPr sz="1050" b="0" i="0">
                <a:solidFill>
                  <a:srgbClr val="E6EDF3"/>
                </a:solidFill>
                <a:latin typeface="Courier New"/>
              </a:rPr>
              <a:t>a</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sqlite3</a:t>
            </a:r>
            <a:r>
              <a:rPr sz="1050" b="0" i="0">
                <a:solidFill>
                  <a:srgbClr val="E6EDF3"/>
                </a:solidFill>
                <a:latin typeface="Courier New"/>
              </a:rPr>
              <a:t>.</a:t>
            </a:r>
            <a:r>
              <a:rPr sz="1050" b="0" i="0">
                <a:solidFill>
                  <a:srgbClr val="E6EDF3"/>
                </a:solidFill>
                <a:latin typeface="Courier New"/>
              </a:rPr>
              <a:t>connect</a:t>
            </a:r>
            <a:r>
              <a:rPr sz="1050" b="0" i="0">
                <a:solidFill>
                  <a:srgbClr val="E6EDF3"/>
                </a:solidFill>
                <a:latin typeface="Courier New"/>
              </a:rPr>
              <a:t>(</a:t>
            </a:r>
            <a:r>
              <a:rPr sz="1050" b="0" i="0">
                <a:solidFill>
                  <a:srgbClr val="9BE3A8"/>
                </a:solidFill>
                <a:latin typeface="Courier New"/>
              </a:rPr>
              <a:t>':memory:'</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a</a:t>
            </a:r>
            <a:r>
              <a:rPr sz="1050" b="0" i="0">
                <a:solidFill>
                  <a:srgbClr val="E6EDF3"/>
                </a:solidFill>
                <a:latin typeface="Courier New"/>
              </a:rPr>
              <a:t>.</a:t>
            </a:r>
            <a:r>
              <a:rPr sz="1050" b="0" i="0">
                <a:solidFill>
                  <a:srgbClr val="E6EDF3"/>
                </a:solidFill>
                <a:latin typeface="Courier New"/>
              </a:rPr>
              <a:t>execute</a:t>
            </a:r>
            <a:r>
              <a:rPr sz="1050" b="0" i="0">
                <a:solidFill>
                  <a:srgbClr val="E6EDF3"/>
                </a:solidFill>
                <a:latin typeface="Courier New"/>
              </a:rPr>
              <a:t>(</a:t>
            </a:r>
            <a:r>
              <a:rPr sz="1050" b="0" i="0">
                <a:solidFill>
                  <a:srgbClr val="9BE3A8"/>
                </a:solidFill>
                <a:latin typeface="Courier New"/>
              </a:rPr>
              <a:t>'CREATE TABLE cats (name TEXT, kg REAL)'</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a</a:t>
            </a:r>
            <a:r>
              <a:rPr sz="1050" b="0" i="0">
                <a:solidFill>
                  <a:srgbClr val="E6EDF3"/>
                </a:solidFill>
                <a:latin typeface="Courier New"/>
              </a:rPr>
              <a:t>.</a:t>
            </a:r>
            <a:r>
              <a:rPr sz="1050" b="0" i="0">
                <a:solidFill>
                  <a:srgbClr val="E6EDF3"/>
                </a:solidFill>
                <a:latin typeface="Courier New"/>
              </a:rPr>
              <a:t>execute</a:t>
            </a:r>
            <a:r>
              <a:rPr sz="1050" b="0" i="0">
                <a:solidFill>
                  <a:srgbClr val="E6EDF3"/>
                </a:solidFill>
                <a:latin typeface="Courier New"/>
              </a:rPr>
              <a:t>(</a:t>
            </a:r>
            <a:r>
              <a:rPr sz="1050" b="0" i="0">
                <a:solidFill>
                  <a:srgbClr val="9BE3A8"/>
                </a:solidFill>
                <a:latin typeface="Courier New"/>
              </a:rPr>
              <a:t>"INSERT INTO cats VALUES ('Zophie', 5.6)"</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a</a:t>
            </a:r>
            <a:r>
              <a:rPr sz="1050" b="0" i="0">
                <a:solidFill>
                  <a:srgbClr val="E6EDF3"/>
                </a:solidFill>
                <a:latin typeface="Courier New"/>
              </a:rPr>
              <a:t>.</a:t>
            </a:r>
            <a:r>
              <a:rPr sz="1050" b="0" i="0">
                <a:solidFill>
                  <a:srgbClr val="E6EDF3"/>
                </a:solidFill>
                <a:latin typeface="Courier New"/>
              </a:rPr>
              <a:t>commit</a:t>
            </a:r>
            <a:r>
              <a:rPr sz="1050" b="0" i="0">
                <a:solidFill>
                  <a:srgbClr val="E6EDF3"/>
                </a:solidFill>
                <a:latin typeface="Courier New"/>
              </a:rPr>
              <a:t>(</a:t>
            </a:r>
            <a:r>
              <a:rPr sz="1050" b="0" i="0">
                <a:solidFill>
                  <a:srgbClr val="E6EDF3"/>
                </a:solidFill>
                <a:latin typeface="Courier New"/>
              </a:rPr>
              <a:t>)</a:t>
            </a:r>
          </a:p>
        </p:txBody>
      </p:sp>
      <p:sp>
        <p:nvSpPr>
          <p:cNvPr id="5" name="explanation"/>
          <p:cNvSpPr txBox="1"/>
          <p:nvPr/>
        </p:nvSpPr>
        <p:spPr>
          <a:xfrm>
            <a:off x="5084064" y="786384"/>
            <a:ext cx="3694175" cy="950595"/>
          </a:xfrm>
          <a:prstGeom prst="rect">
            <a:avLst/>
          </a:prstGeom>
          <a:noFill/>
        </p:spPr>
        <p:txBody>
          <a:bodyPr wrap="square" lIns="128016" rIns="128016" tIns="18288" bIns="18288" anchor="ctr">
            <a:spAutoFit/>
          </a:bodyPr>
          <a:lstStyle/>
          <a:p>
            <a:r>
              <a:rPr sz="1200" b="0" i="0">
                <a:solidFill>
                  <a:srgbClr val="1F2933"/>
                </a:solidFill>
                <a:latin typeface="Calibri"/>
              </a:rPr>
              <a:t>A database with one table and one row.</a:t>
            </a:r>
          </a:p>
        </p:txBody>
      </p:sp>
      <p:sp>
        <p:nvSpPr>
          <p:cNvPr id="6" name="code"/>
          <p:cNvSpPr/>
          <p:nvPr/>
        </p:nvSpPr>
        <p:spPr>
          <a:xfrm>
            <a:off x="365760" y="1782699"/>
            <a:ext cx="4736592"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script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'\n'</a:t>
            </a:r>
            <a:r>
              <a:rPr sz="1050" b="0" i="0">
                <a:solidFill>
                  <a:srgbClr val="E6EDF3"/>
                </a:solidFill>
                <a:latin typeface="Courier New"/>
              </a:rPr>
              <a:t>.</a:t>
            </a:r>
            <a:r>
              <a:rPr sz="1050" b="0" i="0">
                <a:solidFill>
                  <a:srgbClr val="E6EDF3"/>
                </a:solidFill>
                <a:latin typeface="Courier New"/>
              </a:rPr>
              <a:t>join</a:t>
            </a:r>
            <a:r>
              <a:rPr sz="1050" b="0" i="0">
                <a:solidFill>
                  <a:srgbClr val="E6EDF3"/>
                </a:solidFill>
                <a:latin typeface="Courier New"/>
              </a:rPr>
              <a:t>(</a:t>
            </a:r>
            <a:r>
              <a:rPr sz="1050" b="0" i="0">
                <a:solidFill>
                  <a:srgbClr val="E6EDF3"/>
                </a:solidFill>
                <a:latin typeface="Courier New"/>
              </a:rPr>
              <a:t>a</a:t>
            </a:r>
            <a:r>
              <a:rPr sz="1050" b="0" i="0">
                <a:solidFill>
                  <a:srgbClr val="E6EDF3"/>
                </a:solidFill>
                <a:latin typeface="Courier New"/>
              </a:rPr>
              <a:t>.</a:t>
            </a:r>
            <a:r>
              <a:rPr sz="1050" b="0" i="0">
                <a:solidFill>
                  <a:srgbClr val="E6EDF3"/>
                </a:solidFill>
                <a:latin typeface="Courier New"/>
              </a:rPr>
              <a:t>iterdump</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script</a:t>
            </a:r>
            <a:r>
              <a:rPr sz="1050" b="0" i="0">
                <a:solidFill>
                  <a:srgbClr val="E6EDF3"/>
                </a:solidFill>
                <a:latin typeface="Courier New"/>
              </a:rPr>
              <a:t>)</a:t>
            </a:r>
          </a:p>
        </p:txBody>
      </p:sp>
      <p:sp>
        <p:nvSpPr>
          <p:cNvPr id="7" name="explanation"/>
          <p:cNvSpPr txBox="1"/>
          <p:nvPr/>
        </p:nvSpPr>
        <p:spPr>
          <a:xfrm>
            <a:off x="5084064" y="1782699"/>
            <a:ext cx="3694175" cy="509016"/>
          </a:xfrm>
          <a:prstGeom prst="rect">
            <a:avLst/>
          </a:prstGeom>
          <a:noFill/>
        </p:spPr>
        <p:txBody>
          <a:bodyPr wrap="square" lIns="128016" rIns="128016" tIns="18288" bIns="18288" anchor="ctr">
            <a:spAutoFit/>
          </a:bodyPr>
          <a:lstStyle/>
          <a:p>
            <a:r>
              <a:rPr sz="1200" b="0" i="0">
                <a:solidFill>
                  <a:srgbClr val="1F2933"/>
                </a:solidFill>
                <a:latin typeface="Calibri"/>
              </a:rPr>
              <a:t>iterdump() yields the SQL statements that rebuild the database, one line at a time.</a:t>
            </a:r>
          </a:p>
        </p:txBody>
      </p:sp>
      <p:sp>
        <p:nvSpPr>
          <p:cNvPr id="8" name="code"/>
          <p:cNvSpPr/>
          <p:nvPr/>
        </p:nvSpPr>
        <p:spPr>
          <a:xfrm>
            <a:off x="365760" y="2337435"/>
            <a:ext cx="4736592" cy="62522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b</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sqlite3</a:t>
            </a:r>
            <a:r>
              <a:rPr sz="1050" b="0" i="0">
                <a:solidFill>
                  <a:srgbClr val="E6EDF3"/>
                </a:solidFill>
                <a:latin typeface="Courier New"/>
              </a:rPr>
              <a:t>.</a:t>
            </a:r>
            <a:r>
              <a:rPr sz="1050" b="0" i="0">
                <a:solidFill>
                  <a:srgbClr val="E6EDF3"/>
                </a:solidFill>
                <a:latin typeface="Courier New"/>
              </a:rPr>
              <a:t>connect</a:t>
            </a:r>
            <a:r>
              <a:rPr sz="1050" b="0" i="0">
                <a:solidFill>
                  <a:srgbClr val="E6EDF3"/>
                </a:solidFill>
                <a:latin typeface="Courier New"/>
              </a:rPr>
              <a:t>(</a:t>
            </a:r>
            <a:r>
              <a:rPr sz="1050" b="0" i="0">
                <a:solidFill>
                  <a:srgbClr val="9BE3A8"/>
                </a:solidFill>
                <a:latin typeface="Courier New"/>
              </a:rPr>
              <a:t>':memory:'</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b</a:t>
            </a:r>
            <a:r>
              <a:rPr sz="1050" b="0" i="0">
                <a:solidFill>
                  <a:srgbClr val="E6EDF3"/>
                </a:solidFill>
                <a:latin typeface="Courier New"/>
              </a:rPr>
              <a:t>.</a:t>
            </a:r>
            <a:r>
              <a:rPr sz="1050" b="0" i="0">
                <a:solidFill>
                  <a:srgbClr val="E6EDF3"/>
                </a:solidFill>
                <a:latin typeface="Courier New"/>
              </a:rPr>
              <a:t>executescript</a:t>
            </a:r>
            <a:r>
              <a:rPr sz="1050" b="0" i="0">
                <a:solidFill>
                  <a:srgbClr val="E6EDF3"/>
                </a:solidFill>
                <a:latin typeface="Courier New"/>
              </a:rPr>
              <a:t>(</a:t>
            </a:r>
            <a:r>
              <a:rPr sz="1050" b="0" i="0">
                <a:solidFill>
                  <a:srgbClr val="E6EDF3"/>
                </a:solidFill>
                <a:latin typeface="Courier New"/>
              </a:rPr>
              <a:t>script</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b</a:t>
            </a:r>
            <a:r>
              <a:rPr sz="1050" b="0" i="0">
                <a:solidFill>
                  <a:srgbClr val="E6EDF3"/>
                </a:solidFill>
                <a:latin typeface="Courier New"/>
              </a:rPr>
              <a:t>.</a:t>
            </a:r>
            <a:r>
              <a:rPr sz="1050" b="0" i="0">
                <a:solidFill>
                  <a:srgbClr val="E6EDF3"/>
                </a:solidFill>
                <a:latin typeface="Courier New"/>
              </a:rPr>
              <a:t>execute</a:t>
            </a:r>
            <a:r>
              <a:rPr sz="1050" b="0" i="0">
                <a:solidFill>
                  <a:srgbClr val="E6EDF3"/>
                </a:solidFill>
                <a:latin typeface="Courier New"/>
              </a:rPr>
              <a:t>(</a:t>
            </a:r>
            <a:r>
              <a:rPr sz="1050" b="0" i="0">
                <a:solidFill>
                  <a:srgbClr val="9BE3A8"/>
                </a:solidFill>
                <a:latin typeface="Courier New"/>
              </a:rPr>
              <a:t>'SELECT * FROM cats'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fetchall</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p:txBody>
      </p:sp>
      <p:sp>
        <p:nvSpPr>
          <p:cNvPr id="9" name="explanation"/>
          <p:cNvSpPr txBox="1"/>
          <p:nvPr/>
        </p:nvSpPr>
        <p:spPr>
          <a:xfrm>
            <a:off x="5084064" y="2337435"/>
            <a:ext cx="3694175" cy="625221"/>
          </a:xfrm>
          <a:prstGeom prst="rect">
            <a:avLst/>
          </a:prstGeom>
          <a:noFill/>
        </p:spPr>
        <p:txBody>
          <a:bodyPr wrap="square" lIns="128016" rIns="128016" tIns="18288" bIns="18288" anchor="ctr">
            <a:spAutoFit/>
          </a:bodyPr>
          <a:lstStyle/>
          <a:p>
            <a:r>
              <a:rPr sz="1200" b="0" i="0">
                <a:solidFill>
                  <a:srgbClr val="1F2933"/>
                </a:solidFill>
                <a:latin typeface="Calibri"/>
              </a:rPr>
              <a:t>executescript() runs the whole text at once. The new database holds the same row.</a:t>
            </a:r>
          </a:p>
        </p:txBody>
      </p:sp>
      <p:sp>
        <p:nvSpPr>
          <p:cNvPr id="10" name="result label"/>
          <p:cNvSpPr txBox="1"/>
          <p:nvPr/>
        </p:nvSpPr>
        <p:spPr>
          <a:xfrm>
            <a:off x="365760" y="301752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447288"/>
            <a:ext cx="1682495" cy="7315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database a</a:t>
            </a:r>
          </a:p>
          <a:p>
            <a:pPr algn="ctr"/>
            <a:r>
              <a:rPr sz="1000" b="0" i="0">
                <a:solidFill>
                  <a:srgbClr val="1F2933"/>
                </a:solidFill>
                <a:latin typeface="Calibri"/>
              </a:rPr>
              <a:t>cats: Zophie, 5.6</a:t>
            </a:r>
          </a:p>
        </p:txBody>
      </p:sp>
      <p:cxnSp>
        <p:nvCxnSpPr>
          <p:cNvPr id="12" name="arrow"/>
          <p:cNvCxnSpPr/>
          <p:nvPr/>
        </p:nvCxnSpPr>
        <p:spPr>
          <a:xfrm>
            <a:off x="2075687" y="3813048"/>
            <a:ext cx="561442" cy="0"/>
          </a:xfrm>
          <a:prstGeom prst="line">
            <a:avLst/>
          </a:prstGeom>
          <a:ln w="2286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721254" y="3264408"/>
            <a:ext cx="3701491" cy="246888"/>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BEGIN TRANSACTION;</a:t>
            </a:r>
          </a:p>
        </p:txBody>
      </p:sp>
      <p:sp>
        <p:nvSpPr>
          <p:cNvPr id="14" name="Rounded Rectangle 13"/>
          <p:cNvSpPr/>
          <p:nvPr/>
        </p:nvSpPr>
        <p:spPr>
          <a:xfrm>
            <a:off x="2721254" y="3538727"/>
            <a:ext cx="3701491" cy="246888"/>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CREATE TABLE cats (name TEXT, kg REAL);</a:t>
            </a:r>
          </a:p>
        </p:txBody>
      </p:sp>
      <p:sp>
        <p:nvSpPr>
          <p:cNvPr id="15" name="Rounded Rectangle 14"/>
          <p:cNvSpPr/>
          <p:nvPr/>
        </p:nvSpPr>
        <p:spPr>
          <a:xfrm>
            <a:off x="2721254" y="3813048"/>
            <a:ext cx="3701491" cy="246888"/>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INSERT INTO "cats" VALUES('Zophie',5.6);</a:t>
            </a:r>
          </a:p>
        </p:txBody>
      </p:sp>
      <p:sp>
        <p:nvSpPr>
          <p:cNvPr id="16" name="Rounded Rectangle 15"/>
          <p:cNvSpPr/>
          <p:nvPr/>
        </p:nvSpPr>
        <p:spPr>
          <a:xfrm>
            <a:off x="2721254" y="4087368"/>
            <a:ext cx="3701491" cy="246888"/>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COMMIT;</a:t>
            </a:r>
          </a:p>
        </p:txBody>
      </p:sp>
      <p:cxnSp>
        <p:nvCxnSpPr>
          <p:cNvPr id="17" name="arrow"/>
          <p:cNvCxnSpPr/>
          <p:nvPr/>
        </p:nvCxnSpPr>
        <p:spPr>
          <a:xfrm>
            <a:off x="6450177" y="3813048"/>
            <a:ext cx="561442" cy="0"/>
          </a:xfrm>
          <a:prstGeom prst="line">
            <a:avLst/>
          </a:prstGeom>
          <a:ln w="2286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095744" y="3447288"/>
            <a:ext cx="1682495" cy="73152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database b</a:t>
            </a:r>
          </a:p>
          <a:p>
            <a:pPr algn="ctr"/>
            <a:r>
              <a:rPr sz="950" b="0" i="0">
                <a:solidFill>
                  <a:srgbClr val="1F2933"/>
                </a:solidFill>
                <a:latin typeface="Courier New"/>
              </a:rPr>
              <a:t>[('Zophie', 5.6)]</a:t>
            </a:r>
          </a:p>
        </p:txBody>
      </p:sp>
      <p:sp>
        <p:nvSpPr>
          <p:cNvPr id="19" name="visual note"/>
          <p:cNvSpPr txBox="1"/>
          <p:nvPr/>
        </p:nvSpPr>
        <p:spPr>
          <a:xfrm>
            <a:off x="365760" y="4407408"/>
            <a:ext cx="8412480" cy="219456"/>
          </a:xfrm>
          <a:prstGeom prst="rect">
            <a:avLst/>
          </a:prstGeom>
          <a:noFill/>
        </p:spPr>
        <p:txBody>
          <a:bodyPr wrap="square" lIns="45720" rIns="45720" tIns="27432" bIns="27432" anchor="t">
            <a:spAutoFit/>
          </a:bodyPr>
          <a:lstStyle/>
          <a:p>
            <a:r>
              <a:rPr sz="950" b="0" i="1">
                <a:solidFill>
                  <a:srgbClr val="5B6773"/>
                </a:solidFill>
                <a:latin typeface="Calibri"/>
              </a:rPr>
              <a:t>iterdump() text in the middle; executescript() replays it into database b</a:t>
            </a:r>
          </a:p>
        </p:txBody>
      </p:sp>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dump is the database written as SQL.</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44 / 54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shutil copies a closed database file</a:t>
            </a:r>
          </a:p>
        </p:txBody>
      </p:sp>
      <p:sp>
        <p:nvSpPr>
          <p:cNvPr id="4" name="code"/>
          <p:cNvSpPr/>
          <p:nvPr/>
        </p:nvSpPr>
        <p:spPr>
          <a:xfrm>
            <a:off x="365760" y="786384"/>
            <a:ext cx="54376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shutil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tempfile</a:t>
            </a:r>
          </a:p>
          <a:p>
            <a:pPr algn="l"/>
            <a:r>
              <a:rPr sz="1000" b="0" i="0">
                <a:solidFill>
                  <a:srgbClr val="8FA3B8"/>
                </a:solidFill>
                <a:latin typeface="Courier New"/>
              </a:rPr>
              <a:t>&gt;&gt;&gt; </a:t>
            </a:r>
            <a:r>
              <a:rPr sz="1000" b="0" i="0">
                <a:solidFill>
                  <a:srgbClr val="E6EDF3"/>
                </a:solidFill>
                <a:latin typeface="Courier New"/>
              </a:rPr>
              <a:t>folder</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tempfile</a:t>
            </a:r>
            <a:r>
              <a:rPr sz="1000" b="0" i="0">
                <a:solidFill>
                  <a:srgbClr val="E6EDF3"/>
                </a:solidFill>
                <a:latin typeface="Courier New"/>
              </a:rPr>
              <a:t>.</a:t>
            </a:r>
            <a:r>
              <a:rPr sz="1000" b="0" i="0">
                <a:solidFill>
                  <a:srgbClr val="E6EDF3"/>
                </a:solidFill>
                <a:latin typeface="Courier New"/>
              </a:rPr>
              <a:t>mkdtemp</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path</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join</a:t>
            </a:r>
            <a:r>
              <a:rPr sz="1000" b="0" i="0">
                <a:solidFill>
                  <a:srgbClr val="E6EDF3"/>
                </a:solidFill>
                <a:latin typeface="Courier New"/>
              </a:rPr>
              <a:t>(</a:t>
            </a:r>
            <a:r>
              <a:rPr sz="1000" b="0" i="0">
                <a:solidFill>
                  <a:srgbClr val="E6EDF3"/>
                </a:solidFill>
                <a:latin typeface="Courier New"/>
              </a:rPr>
              <a:t>folder</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'a.db'</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p>
        </p:txBody>
      </p:sp>
      <p:sp>
        <p:nvSpPr>
          <p:cNvPr id="5" name="explanation"/>
          <p:cNvSpPr txBox="1"/>
          <p:nvPr/>
        </p:nvSpPr>
        <p:spPr>
          <a:xfrm>
            <a:off x="5785104" y="786384"/>
            <a:ext cx="2993135" cy="756920"/>
          </a:xfrm>
          <a:prstGeom prst="rect">
            <a:avLst/>
          </a:prstGeom>
          <a:noFill/>
        </p:spPr>
        <p:txBody>
          <a:bodyPr wrap="square" lIns="128016" rIns="128016" tIns="18288" bIns="18288" anchor="ctr">
            <a:spAutoFit/>
          </a:bodyPr>
          <a:lstStyle/>
          <a:p>
            <a:r>
              <a:rPr sz="1100" b="0" i="0">
                <a:solidFill>
                  <a:srgbClr val="1F2933"/>
                </a:solidFill>
                <a:latin typeface="Calibri"/>
              </a:rPr>
              <a:t>A database file in a new folder, opened with connect() and a path.</a:t>
            </a:r>
          </a:p>
        </p:txBody>
      </p:sp>
      <p:sp>
        <p:nvSpPr>
          <p:cNvPr id="6" name="code"/>
          <p:cNvSpPr/>
          <p:nvPr/>
        </p:nvSpPr>
        <p:spPr>
          <a:xfrm>
            <a:off x="365760" y="1589023"/>
            <a:ext cx="54376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TABLE t (v TEXT)'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"INSERT INTO t VALUES ('kept')"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commit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close</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785104" y="1589023"/>
            <a:ext cx="2993135" cy="756920"/>
          </a:xfrm>
          <a:prstGeom prst="rect">
            <a:avLst/>
          </a:prstGeom>
          <a:noFill/>
        </p:spPr>
        <p:txBody>
          <a:bodyPr wrap="square" lIns="128016" rIns="128016" tIns="18288" bIns="18288" anchor="ctr">
            <a:spAutoFit/>
          </a:bodyPr>
          <a:lstStyle/>
          <a:p>
            <a:r>
              <a:rPr sz="1100" b="0" i="0">
                <a:solidFill>
                  <a:srgbClr val="1F2933"/>
                </a:solidFill>
                <a:latin typeface="Calibri"/>
              </a:rPr>
              <a:t>Commit and close first: a copy of a file that is being written can be broken.</a:t>
            </a:r>
          </a:p>
        </p:txBody>
      </p:sp>
      <p:sp>
        <p:nvSpPr>
          <p:cNvPr id="8" name="code"/>
          <p:cNvSpPr/>
          <p:nvPr/>
        </p:nvSpPr>
        <p:spPr>
          <a:xfrm>
            <a:off x="365760" y="2391664"/>
            <a:ext cx="54376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shutil</a:t>
            </a:r>
            <a:r>
              <a:rPr sz="1000" b="0" i="0">
                <a:solidFill>
                  <a:srgbClr val="E6EDF3"/>
                </a:solidFill>
                <a:latin typeface="Courier New"/>
              </a:rPr>
              <a:t>.</a:t>
            </a:r>
            <a:r>
              <a:rPr sz="1000" b="0" i="0">
                <a:solidFill>
                  <a:srgbClr val="E6EDF3"/>
                </a:solidFill>
                <a:latin typeface="Courier New"/>
              </a:rPr>
              <a:t>copyfile</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join</a:t>
            </a:r>
            <a:r>
              <a:rPr sz="1000" b="0" i="0">
                <a:solidFill>
                  <a:srgbClr val="E6EDF3"/>
                </a:solidFill>
                <a:latin typeface="Courier New"/>
              </a:rPr>
              <a:t>(</a:t>
            </a:r>
            <a:r>
              <a:rPr sz="1000" b="0" i="0">
                <a:solidFill>
                  <a:srgbClr val="E6EDF3"/>
                </a:solidFill>
                <a:latin typeface="Courier New"/>
              </a:rPr>
              <a:t>folder</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'b.db'</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copy</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join</a:t>
            </a:r>
            <a:r>
              <a:rPr sz="1000" b="0" i="0">
                <a:solidFill>
                  <a:srgbClr val="E6EDF3"/>
                </a:solidFill>
                <a:latin typeface="Courier New"/>
              </a:rPr>
              <a:t>(</a:t>
            </a:r>
            <a:r>
              <a:rPr sz="1000" b="0" i="0">
                <a:solidFill>
                  <a:srgbClr val="E6EDF3"/>
                </a:solidFill>
                <a:latin typeface="Courier New"/>
              </a:rPr>
              <a:t>folder</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'b.db'</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'copy holds:'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copy</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'SELECT v FROM 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785104" y="2391664"/>
            <a:ext cx="2993135" cy="651891"/>
          </a:xfrm>
          <a:prstGeom prst="rect">
            <a:avLst/>
          </a:prstGeom>
          <a:noFill/>
        </p:spPr>
        <p:txBody>
          <a:bodyPr wrap="square" lIns="128016" rIns="128016" tIns="18288" bIns="18288" anchor="ctr">
            <a:spAutoFit/>
          </a:bodyPr>
          <a:lstStyle/>
          <a:p>
            <a:r>
              <a:rPr sz="1100" b="0" i="0">
                <a:solidFill>
                  <a:srgbClr val="1F2933"/>
                </a:solidFill>
                <a:latin typeface="Calibri"/>
              </a:rPr>
              <a:t>The file is an ordinary file, so shutil can copy it. The copy opens like any database.</a:t>
            </a:r>
          </a:p>
        </p:txBody>
      </p:sp>
      <p:sp>
        <p:nvSpPr>
          <p:cNvPr id="10" name="result label"/>
          <p:cNvSpPr txBox="1"/>
          <p:nvPr/>
        </p:nvSpPr>
        <p:spPr>
          <a:xfrm>
            <a:off x="365760" y="3098419"/>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345307"/>
          <a:ext cx="3364991" cy="822960"/>
        </p:xfrm>
        <a:graphic>
          <a:graphicData uri="http://schemas.openxmlformats.org/drawingml/2006/table">
            <a:tbl>
              <a:tblPr firstRow="0" bandRow="0"/>
              <a:tblGrid>
                <a:gridCol w="1869439"/>
                <a:gridCol w="1495552"/>
              </a:tblGrid>
              <a:tr h="274320">
                <a:tc>
                  <a:txBody>
                    <a:bodyPr wrap="square"/>
                    <a:lstStyle/>
                    <a:p>
                      <a:r>
                        <a:rPr sz="1050" b="1" i="0">
                          <a:solidFill>
                            <a:srgbClr val="FFFFFF"/>
                          </a:solidFill>
                          <a:latin typeface="Calibri"/>
                        </a:rPr>
                        <a:t>File in the folder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Size in bytes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50" b="0" i="0">
                          <a:solidFill>
                            <a:srgbClr val="1F2933"/>
                          </a:solidFill>
                          <a:latin typeface="Courier New"/>
                        </a:rPr>
                        <a:t>a.db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8192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b.db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8192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Rounded Rectangle 11"/>
          <p:cNvSpPr/>
          <p:nvPr/>
        </p:nvSpPr>
        <p:spPr>
          <a:xfrm>
            <a:off x="4151376" y="3482467"/>
            <a:ext cx="1359408" cy="7315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a.db</a:t>
            </a:r>
          </a:p>
          <a:p>
            <a:pPr algn="ctr"/>
            <a:r>
              <a:rPr sz="950" b="0" i="0">
                <a:solidFill>
                  <a:srgbClr val="1F2933"/>
                </a:solidFill>
                <a:latin typeface="Calibri"/>
              </a:rPr>
              <a:t>committed, closed</a:t>
            </a:r>
          </a:p>
        </p:txBody>
      </p:sp>
      <p:cxnSp>
        <p:nvCxnSpPr>
          <p:cNvPr id="13" name="arrow"/>
          <p:cNvCxnSpPr/>
          <p:nvPr/>
        </p:nvCxnSpPr>
        <p:spPr>
          <a:xfrm>
            <a:off x="5529071" y="3848227"/>
            <a:ext cx="23774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785104" y="3482467"/>
            <a:ext cx="1359408" cy="7315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shutil.copyfile</a:t>
            </a:r>
          </a:p>
        </p:txBody>
      </p:sp>
      <p:cxnSp>
        <p:nvCxnSpPr>
          <p:cNvPr id="15" name="arrow"/>
          <p:cNvCxnSpPr/>
          <p:nvPr/>
        </p:nvCxnSpPr>
        <p:spPr>
          <a:xfrm>
            <a:off x="7162799" y="3848227"/>
            <a:ext cx="23774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418832" y="3482467"/>
            <a:ext cx="1359408" cy="73152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b.db</a:t>
            </a:r>
          </a:p>
          <a:p>
            <a:pPr algn="ctr"/>
            <a:r>
              <a:rPr sz="950" b="0" i="0">
                <a:solidFill>
                  <a:srgbClr val="1F2933"/>
                </a:solidFill>
                <a:latin typeface="Calibri"/>
              </a:rPr>
              <a:t>copy holds: [('kept',)]</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closed database file is a file like any other.</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45 / 54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800" b="1" i="0">
                <a:solidFill>
                  <a:srgbClr val="1F2933"/>
                </a:solidFill>
                <a:latin typeface="Calibri"/>
              </a:rPr>
              <a:t>Part 5: Two practice programs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The book's practice programs, on small stand-in data</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Cat checker</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Finds impossible dates and missing shots.</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Meal ingredients</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Which meal can the kitchen cook?</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GROUP BY</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Gathers rows that share a value.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HAVING</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Keeps only the groups that qualify.</a:t>
            </a:r>
          </a:p>
        </p:txBody>
      </p:sp>
      <p:graphicFrame>
        <p:nvGraphicFramePr>
          <p:cNvPr id="13" name="table"/>
          <p:cNvGraphicFramePr>
            <a:graphicFrameLocks noGrp="1"/>
          </p:cNvGraphicFramePr>
          <p:nvPr/>
        </p:nvGraphicFramePr>
        <p:xfrm>
          <a:off x="5303520" y="1417320"/>
          <a:ext cx="3474719" cy="146304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47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files, tools and pract...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48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Practice program 1: the cat vaccination 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49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Practice program 2: what can I cook with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46 / 54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files, tools and practice</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practice program is like a recital piece after the finger exercises: it uses what you have already learned.</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4544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100" b="1" i="0">
                          <a:solidFill>
                            <a:srgbClr val="1F2933"/>
                          </a:solidFill>
                          <a:latin typeface="Calibri"/>
                        </a:rPr>
                        <a:t>executescript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Handing the clerk a whole page of orders at once.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shutil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courier who copies or moves a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pprint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neat print: one item per line, not a heap.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In-memory database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cabinet on a whiteboard: gone when the room is cleaned.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In-Memory Databases and Backups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Photographing the whiteboard before it is wiped.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Cat Vaccination Checker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vet's clerk who checks the records for impossible dates and missing shots.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Meal Ingredients Database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kitchen list that tells you which meal you can cook tonight.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Practice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Small recital pieces after the finger exercises.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47 / 54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program 1: the cat vaccination checker</a:t>
            </a:r>
          </a:p>
        </p:txBody>
      </p:sp>
      <p:sp>
        <p:nvSpPr>
          <p:cNvPr id="4" name="code"/>
          <p:cNvSpPr/>
          <p:nvPr/>
        </p:nvSpPr>
        <p:spPr>
          <a:xfrm>
            <a:off x="365760" y="786384"/>
            <a:ext cx="4919472"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sqlite3</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sqlite3</a:t>
            </a:r>
            <a:r>
              <a:rPr sz="900" b="0" i="0">
                <a:solidFill>
                  <a:srgbClr val="E6EDF3"/>
                </a:solidFill>
                <a:latin typeface="Courier New"/>
              </a:rPr>
              <a:t>.</a:t>
            </a:r>
            <a:r>
              <a:rPr sz="900" b="0" i="0">
                <a:solidFill>
                  <a:srgbClr val="E6EDF3"/>
                </a:solidFill>
                <a:latin typeface="Courier New"/>
              </a:rPr>
              <a:t>connect</a:t>
            </a:r>
            <a:r>
              <a:rPr sz="900" b="0" i="0">
                <a:solidFill>
                  <a:srgbClr val="E6EDF3"/>
                </a:solidFill>
                <a:latin typeface="Courier New"/>
              </a:rPr>
              <a:t>(</a:t>
            </a:r>
            <a:r>
              <a:rPr sz="900" b="0" i="0">
                <a:solidFill>
                  <a:srgbClr val="9BE3A8"/>
                </a:solidFill>
                <a:latin typeface="Courier New"/>
              </a:rPr>
              <a:t>':memory:'</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'CREATE TABLE cats (id, name, born)'</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'CREATE TABLE vax (cat_id, vaccine, given)'</a:t>
            </a:r>
            <a:r>
              <a:rPr sz="900" b="0" i="0">
                <a:solidFill>
                  <a:srgbClr val="E6EDF3"/>
                </a:solidFill>
                <a:latin typeface="Courier New"/>
              </a:rPr>
              <a:t>)</a:t>
            </a:r>
          </a:p>
        </p:txBody>
      </p:sp>
      <p:sp>
        <p:nvSpPr>
          <p:cNvPr id="5" name="explanation"/>
          <p:cNvSpPr txBox="1"/>
          <p:nvPr/>
        </p:nvSpPr>
        <p:spPr>
          <a:xfrm>
            <a:off x="5266944" y="786384"/>
            <a:ext cx="3511295" cy="694944"/>
          </a:xfrm>
          <a:prstGeom prst="rect">
            <a:avLst/>
          </a:prstGeom>
          <a:noFill/>
        </p:spPr>
        <p:txBody>
          <a:bodyPr wrap="square" lIns="128016" rIns="128016" tIns="18288" bIns="18288" anchor="ctr">
            <a:spAutoFit/>
          </a:bodyPr>
          <a:lstStyle/>
          <a:p>
            <a:r>
              <a:rPr sz="1100" b="0" i="0">
                <a:solidFill>
                  <a:srgbClr val="1F2933"/>
                </a:solidFill>
                <a:latin typeface="Calibri"/>
              </a:rPr>
              <a:t>The book's database is not reachable offline, so two cats and their shots are typed in here, with the same kinds of columns.</a:t>
            </a:r>
          </a:p>
        </p:txBody>
      </p:sp>
      <p:sp>
        <p:nvSpPr>
          <p:cNvPr id="6" name="code"/>
          <p:cNvSpPr/>
          <p:nvPr/>
        </p:nvSpPr>
        <p:spPr>
          <a:xfrm>
            <a:off x="365760" y="1527048"/>
            <a:ext cx="4919472"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executemany</a:t>
            </a:r>
            <a:r>
              <a:rPr sz="900" b="0" i="0">
                <a:solidFill>
                  <a:srgbClr val="E6EDF3"/>
                </a:solidFill>
                <a:latin typeface="Courier New"/>
              </a:rPr>
              <a:t>(</a:t>
            </a:r>
            <a:r>
              <a:rPr sz="900" b="0" i="0">
                <a:solidFill>
                  <a:srgbClr val="9BE3A8"/>
                </a:solidFill>
                <a:latin typeface="Courier New"/>
              </a:rPr>
              <a:t>'INSERT INTO cats VALUES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'Zophie'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'2021-01-24'</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7CC4FF"/>
                </a:solidFill>
                <a:latin typeface="Courier New"/>
              </a:rPr>
              <a:t>2</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'Toby'</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'2019-05-02'</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executemany</a:t>
            </a:r>
            <a:r>
              <a:rPr sz="900" b="0" i="0">
                <a:solidFill>
                  <a:srgbClr val="E6EDF3"/>
                </a:solidFill>
                <a:latin typeface="Courier New"/>
              </a:rPr>
              <a:t>(</a:t>
            </a:r>
            <a:r>
              <a:rPr sz="900" b="0" i="0">
                <a:solidFill>
                  <a:srgbClr val="9BE3A8"/>
                </a:solidFill>
                <a:latin typeface="Courier New"/>
              </a:rPr>
              <a:t>'INSERT INTO vax VALUES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'rabies'</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'2021-06-01'</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7CC4FF"/>
                </a:solidFill>
                <a:latin typeface="Courier New"/>
              </a:rPr>
              <a:t>2</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'FVRCP'</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'2019-01-01'</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266944" y="1527048"/>
            <a:ext cx="3511295" cy="694944"/>
          </a:xfrm>
          <a:prstGeom prst="rect">
            <a:avLst/>
          </a:prstGeom>
          <a:noFill/>
        </p:spPr>
        <p:txBody>
          <a:bodyPr wrap="square" lIns="128016" rIns="128016" tIns="18288" bIns="18288" anchor="ctr">
            <a:spAutoFit/>
          </a:bodyPr>
          <a:lstStyle/>
          <a:p>
            <a:r>
              <a:rPr sz="1100" b="0" i="0">
                <a:solidFill>
                  <a:srgbClr val="1F2933"/>
                </a:solidFill>
                <a:latin typeface="Calibri"/>
              </a:rPr>
              <a:t>Toby's FVRCP shot is dated before his birth: a data error to find. Each cat has had only one kind of shot.</a:t>
            </a:r>
          </a:p>
        </p:txBody>
      </p:sp>
      <p:sp>
        <p:nvSpPr>
          <p:cNvPr id="8" name="code"/>
          <p:cNvSpPr/>
          <p:nvPr/>
        </p:nvSpPr>
        <p:spPr>
          <a:xfrm>
            <a:off x="365760" y="2267712"/>
            <a:ext cx="491947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sql</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'SELECT name, vaccine FROM vax JOIN cats'</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 ON cat_id = cats.id WHERE given &lt; born'</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'given before birth:'</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E6EDF3"/>
                </a:solidFill>
                <a:latin typeface="Courier New"/>
              </a:rPr>
              <a:t>sql</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fetchall</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5266944" y="2267712"/>
            <a:ext cx="3511295" cy="651891"/>
          </a:xfrm>
          <a:prstGeom prst="rect">
            <a:avLst/>
          </a:prstGeom>
          <a:noFill/>
        </p:spPr>
        <p:txBody>
          <a:bodyPr wrap="square" lIns="128016" rIns="128016" tIns="18288" bIns="18288" anchor="ctr">
            <a:spAutoFit/>
          </a:bodyPr>
          <a:lstStyle/>
          <a:p>
            <a:r>
              <a:rPr sz="1100" b="0" i="0">
                <a:solidFill>
                  <a:srgbClr val="1F2933"/>
                </a:solidFill>
                <a:latin typeface="Calibri"/>
              </a:rPr>
              <a:t>Dates in the form year-month-day compare correctly as text. A shot before the birth cannot be right.</a:t>
            </a:r>
          </a:p>
        </p:txBody>
      </p:sp>
      <p:sp>
        <p:nvSpPr>
          <p:cNvPr id="10" name="code"/>
          <p:cNvSpPr/>
          <p:nvPr/>
        </p:nvSpPr>
        <p:spPr>
          <a:xfrm>
            <a:off x="365760" y="2965323"/>
            <a:ext cx="491947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sql</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'SELECT name FROM cats LEFT JOIN vax ON cat_id = cats.id'</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 GROUP BY cats.id HAVING count(DISTINCT vaccine) &lt; 2'</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'missing a vaccine:'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E6EDF3"/>
                </a:solidFill>
                <a:latin typeface="Courier New"/>
              </a:rPr>
              <a:t>sql</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fetchall</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11" name="explanation"/>
          <p:cNvSpPr txBox="1"/>
          <p:nvPr/>
        </p:nvSpPr>
        <p:spPr>
          <a:xfrm>
            <a:off x="5266944" y="2965323"/>
            <a:ext cx="3511295" cy="651891"/>
          </a:xfrm>
          <a:prstGeom prst="rect">
            <a:avLst/>
          </a:prstGeom>
          <a:noFill/>
        </p:spPr>
        <p:txBody>
          <a:bodyPr wrap="square" lIns="128016" rIns="128016" tIns="18288" bIns="18288" anchor="ctr">
            <a:spAutoFit/>
          </a:bodyPr>
          <a:lstStyle/>
          <a:p>
            <a:r>
              <a:rPr sz="1100" b="0" i="0">
                <a:solidFill>
                  <a:srgbClr val="1F2933"/>
                </a:solidFill>
                <a:latin typeface="Calibri"/>
              </a:rPr>
              <a:t>LEFT JOIN keeps cats without shots. GROUP BY gathers each cat's shots; HAVING keeps the cats with fewer than two kinds.</a:t>
            </a:r>
          </a:p>
        </p:txBody>
      </p:sp>
      <p:sp>
        <p:nvSpPr>
          <p:cNvPr id="12" name="result label"/>
          <p:cNvSpPr txBox="1"/>
          <p:nvPr/>
        </p:nvSpPr>
        <p:spPr>
          <a:xfrm>
            <a:off x="365760" y="3672078"/>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3" name="table"/>
          <p:cNvGraphicFramePr>
            <a:graphicFrameLocks noGrp="1"/>
          </p:cNvGraphicFramePr>
          <p:nvPr/>
        </p:nvGraphicFramePr>
        <p:xfrm>
          <a:off x="365760" y="3918965"/>
          <a:ext cx="5552235" cy="685800"/>
        </p:xfrm>
        <a:graphic>
          <a:graphicData uri="http://schemas.openxmlformats.org/drawingml/2006/table">
            <a:tbl>
              <a:tblPr firstRow="0" bandRow="0"/>
              <a:tblGrid>
                <a:gridCol w="740298"/>
                <a:gridCol w="925372"/>
                <a:gridCol w="1850745"/>
                <a:gridCol w="2035820"/>
              </a:tblGrid>
              <a:tr h="228600">
                <a:tc>
                  <a:txBody>
                    <a:bodyPr wrap="square"/>
                    <a:lstStyle/>
                    <a:p>
                      <a:r>
                        <a:rPr sz="950" b="1" i="0">
                          <a:solidFill>
                            <a:srgbClr val="FFFFFF"/>
                          </a:solidFill>
                          <a:latin typeface="Calibri"/>
                        </a:rPr>
                        <a:t>cat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born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shots (kind, date)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finding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28600">
                <a:tc>
                  <a:txBody>
                    <a:bodyPr wrap="square"/>
                    <a:lstStyle/>
                    <a:p>
                      <a:r>
                        <a:rPr sz="950" b="0" i="0">
                          <a:solidFill>
                            <a:srgbClr val="1F2933"/>
                          </a:solidFill>
                          <a:latin typeface="Calibri"/>
                        </a:rPr>
                        <a:t>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2021-01-24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rabies 2021-06-01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one kind only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28600">
                <a:tc>
                  <a:txBody>
                    <a:bodyPr wrap="square"/>
                    <a:lstStyle/>
                    <a:p>
                      <a:r>
                        <a:rPr sz="950" b="0" i="0">
                          <a:solidFill>
                            <a:srgbClr val="1F2933"/>
                          </a:solidFill>
                          <a:latin typeface="Calibri"/>
                        </a:rPr>
                        <a:t>Toby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2019-05-02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FVRCP 2019-01-01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r>
                        <a:rPr sz="950" b="0" i="0">
                          <a:solidFill>
                            <a:srgbClr val="1F2933"/>
                          </a:solidFill>
                          <a:latin typeface="Calibri"/>
                        </a:rPr>
                        <a:t>shot before birth, one kind only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sp>
        <p:nvSpPr>
          <p:cNvPr id="14" name="Rounded Rectangle 13"/>
          <p:cNvSpPr/>
          <p:nvPr/>
        </p:nvSpPr>
        <p:spPr>
          <a:xfrm>
            <a:off x="6170371" y="3918965"/>
            <a:ext cx="2607868" cy="685800"/>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ourier New"/>
              </a:rPr>
              <a:t>printed by the code:</a:t>
            </a:r>
          </a:p>
          <a:p>
            <a:pPr algn="ctr"/>
            <a:r>
              <a:rPr sz="800" b="0" i="0">
                <a:solidFill>
                  <a:srgbClr val="1F2933"/>
                </a:solidFill>
                <a:latin typeface="Courier New"/>
              </a:rPr>
              <a:t>given before birth: [('Toby', 'FVRCP')]</a:t>
            </a:r>
          </a:p>
          <a:p>
            <a:pPr algn="ctr"/>
            <a:r>
              <a:rPr sz="800" b="0" i="0">
                <a:solidFill>
                  <a:srgbClr val="1F2933"/>
                </a:solidFill>
                <a:latin typeface="Courier New"/>
              </a:rPr>
              <a:t>missing a vaccine: [('Zophie',), ('Toby',)]</a:t>
            </a:r>
          </a:p>
        </p:txBody>
      </p:sp>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GROUP BY and HAVING find who is missing something.</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48 / 54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Practice program 2: what can I cook with what I have?</a:t>
            </a:r>
          </a:p>
        </p:txBody>
      </p:sp>
      <p:sp>
        <p:nvSpPr>
          <p:cNvPr id="4" name="code"/>
          <p:cNvSpPr/>
          <p:nvPr/>
        </p:nvSpPr>
        <p:spPr>
          <a:xfrm>
            <a:off x="365760" y="786384"/>
            <a:ext cx="5540501" cy="57873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sqlite3</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sqlite3</a:t>
            </a:r>
            <a:r>
              <a:rPr sz="950" b="0" i="0">
                <a:solidFill>
                  <a:srgbClr val="E6EDF3"/>
                </a:solidFill>
                <a:latin typeface="Courier New"/>
              </a:rPr>
              <a:t>.</a:t>
            </a:r>
            <a:r>
              <a:rPr sz="950" b="0" i="0">
                <a:solidFill>
                  <a:srgbClr val="E6EDF3"/>
                </a:solidFill>
                <a:latin typeface="Courier New"/>
              </a:rPr>
              <a:t>connect</a:t>
            </a:r>
            <a:r>
              <a:rPr sz="950" b="0" i="0">
                <a:solidFill>
                  <a:srgbClr val="E6EDF3"/>
                </a:solidFill>
                <a:latin typeface="Courier New"/>
              </a:rPr>
              <a:t>(</a:t>
            </a:r>
            <a:r>
              <a:rPr sz="950" b="0" i="0">
                <a:solidFill>
                  <a:srgbClr val="9BE3A8"/>
                </a:solidFill>
                <a:latin typeface="Courier New"/>
              </a:rPr>
              <a:t>':memory:'</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'CREATE TABLE ing (meal, item)'</a:t>
            </a:r>
            <a:r>
              <a:rPr sz="950" b="0" i="0">
                <a:solidFill>
                  <a:srgbClr val="E6EDF3"/>
                </a:solidFill>
                <a:latin typeface="Courier New"/>
              </a:rPr>
              <a:t>)</a:t>
            </a:r>
          </a:p>
        </p:txBody>
      </p:sp>
      <p:sp>
        <p:nvSpPr>
          <p:cNvPr id="5" name="explanation"/>
          <p:cNvSpPr txBox="1"/>
          <p:nvPr/>
        </p:nvSpPr>
        <p:spPr>
          <a:xfrm>
            <a:off x="5887974" y="786384"/>
            <a:ext cx="2890266" cy="578739"/>
          </a:xfrm>
          <a:prstGeom prst="rect">
            <a:avLst/>
          </a:prstGeom>
          <a:noFill/>
        </p:spPr>
        <p:txBody>
          <a:bodyPr wrap="square" lIns="128016" rIns="128016" tIns="18288" bIns="18288" anchor="ctr">
            <a:spAutoFit/>
          </a:bodyPr>
          <a:lstStyle/>
          <a:p>
            <a:r>
              <a:rPr sz="1100" b="0" i="0">
                <a:solidFill>
                  <a:srgbClr val="1F2933"/>
                </a:solidFill>
                <a:latin typeface="Calibri"/>
              </a:rPr>
              <a:t>One table: a meal and one ingredient per row.</a:t>
            </a:r>
          </a:p>
        </p:txBody>
      </p:sp>
      <p:sp>
        <p:nvSpPr>
          <p:cNvPr id="6" name="code"/>
          <p:cNvSpPr/>
          <p:nvPr/>
        </p:nvSpPr>
        <p:spPr>
          <a:xfrm>
            <a:off x="365760" y="1410843"/>
            <a:ext cx="5540501" cy="72593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executemany</a:t>
            </a:r>
            <a:r>
              <a:rPr sz="950" b="0" i="0">
                <a:solidFill>
                  <a:srgbClr val="E6EDF3"/>
                </a:solidFill>
                <a:latin typeface="Courier New"/>
              </a:rPr>
              <a:t>(</a:t>
            </a:r>
            <a:r>
              <a:rPr sz="950" b="0" i="0">
                <a:solidFill>
                  <a:srgbClr val="9BE3A8"/>
                </a:solidFill>
                <a:latin typeface="Courier New"/>
              </a:rPr>
              <a:t>'INSERT INTO ing VALUES (?,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'Pancakes'</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'flour'</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'Pancakes'</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'milk'</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'Pancakes'</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'egg'</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'Omelette'</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'egg'</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'Omelette'</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'butter'</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have</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'egg'</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'butter'</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'milk'</a:t>
            </a:r>
            <a:r>
              <a:rPr sz="950" b="0" i="0">
                <a:solidFill>
                  <a:srgbClr val="E6EDF3"/>
                </a:solidFill>
                <a:latin typeface="Courier New"/>
              </a:rPr>
              <a:t>)</a:t>
            </a:r>
          </a:p>
        </p:txBody>
      </p:sp>
      <p:sp>
        <p:nvSpPr>
          <p:cNvPr id="7" name="explanation"/>
          <p:cNvSpPr txBox="1"/>
          <p:nvPr/>
        </p:nvSpPr>
        <p:spPr>
          <a:xfrm>
            <a:off x="5887974" y="1410843"/>
            <a:ext cx="2890266" cy="725932"/>
          </a:xfrm>
          <a:prstGeom prst="rect">
            <a:avLst/>
          </a:prstGeom>
          <a:noFill/>
        </p:spPr>
        <p:txBody>
          <a:bodyPr wrap="square" lIns="128016" rIns="128016" tIns="18288" bIns="18288" anchor="ctr">
            <a:spAutoFit/>
          </a:bodyPr>
          <a:lstStyle/>
          <a:p>
            <a:r>
              <a:rPr sz="1100" b="0" i="0">
                <a:solidFill>
                  <a:srgbClr val="1F2933"/>
                </a:solidFill>
                <a:latin typeface="Calibri"/>
              </a:rPr>
              <a:t>Two meals and what they need. have is what the kitchen holds.</a:t>
            </a:r>
          </a:p>
        </p:txBody>
      </p:sp>
      <p:sp>
        <p:nvSpPr>
          <p:cNvPr id="8" name="code"/>
          <p:cNvSpPr/>
          <p:nvPr/>
        </p:nvSpPr>
        <p:spPr>
          <a:xfrm>
            <a:off x="365760" y="2182495"/>
            <a:ext cx="554050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sql</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'SELECT meal FROM ing GROUP BY meal'</a:t>
            </a:r>
          </a:p>
          <a:p>
            <a:pPr algn="l"/>
            <a:r>
              <a:rPr sz="950" b="0" i="0">
                <a:solidFill>
                  <a:srgbClr val="8FA3B8"/>
                </a:solidFill>
                <a:latin typeface="Courier New"/>
              </a:rPr>
              <a:t>&gt;&gt;&gt; </a:t>
            </a:r>
            <a:r>
              <a:rPr sz="950" b="0" i="0">
                <a:solidFill>
                  <a:srgbClr val="E6EDF3"/>
                </a:solidFill>
                <a:latin typeface="Courier New"/>
              </a:rPr>
              <a:t>       </a:t>
            </a:r>
            <a:r>
              <a:rPr sz="950" b="0" i="0">
                <a:solidFill>
                  <a:srgbClr val="9BE3A8"/>
                </a:solidFill>
                <a:latin typeface="Courier New"/>
              </a:rPr>
              <a:t>' HAVING sum(item NOT IN (?, ?, ?)) = 0'</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9BE3A8"/>
                </a:solidFill>
                <a:latin typeface="Courier New"/>
              </a:rPr>
              <a:t>'can cook:'</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E6EDF3"/>
                </a:solidFill>
                <a:latin typeface="Courier New"/>
              </a:rPr>
              <a:t>sql</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have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fetchall</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9" name="explanation"/>
          <p:cNvSpPr txBox="1"/>
          <p:nvPr/>
        </p:nvSpPr>
        <p:spPr>
          <a:xfrm>
            <a:off x="5887974" y="2182495"/>
            <a:ext cx="2890266" cy="651891"/>
          </a:xfrm>
          <a:prstGeom prst="rect">
            <a:avLst/>
          </a:prstGeom>
          <a:noFill/>
        </p:spPr>
        <p:txBody>
          <a:bodyPr wrap="square" lIns="128016" rIns="128016" tIns="18288" bIns="18288" anchor="ctr">
            <a:spAutoFit/>
          </a:bodyPr>
          <a:lstStyle/>
          <a:p>
            <a:r>
              <a:rPr sz="1100" b="0" i="0">
                <a:solidFill>
                  <a:srgbClr val="1F2933"/>
                </a:solidFill>
                <a:latin typeface="Calibri"/>
              </a:rPr>
              <a:t>For each meal, count the ingredients not in the kitchen. A meal with none missing can be cooked.</a:t>
            </a:r>
          </a:p>
        </p:txBody>
      </p:sp>
      <p:sp>
        <p:nvSpPr>
          <p:cNvPr id="10" name="result label"/>
          <p:cNvSpPr txBox="1"/>
          <p:nvPr/>
        </p:nvSpPr>
        <p:spPr>
          <a:xfrm>
            <a:off x="365760" y="288925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136138"/>
          <a:ext cx="6561732" cy="987552"/>
        </p:xfrm>
        <a:graphic>
          <a:graphicData uri="http://schemas.openxmlformats.org/drawingml/2006/table">
            <a:tbl>
              <a:tblPr firstRow="0" bandRow="0"/>
              <a:tblGrid>
                <a:gridCol w="1093622"/>
                <a:gridCol w="2551785"/>
                <a:gridCol w="2004974"/>
                <a:gridCol w="911351"/>
              </a:tblGrid>
              <a:tr h="329184">
                <a:tc>
                  <a:txBody>
                    <a:bodyPr wrap="square"/>
                    <a:lstStyle/>
                    <a:p>
                      <a:r>
                        <a:rPr sz="1050" b="1" i="0">
                          <a:solidFill>
                            <a:srgbClr val="FFFFFF"/>
                          </a:solidFill>
                          <a:latin typeface="Calibri"/>
                        </a:rPr>
                        <a:t>Meal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Needs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Missing from the kitchen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Can cook?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9184">
                <a:tc>
                  <a:txBody>
                    <a:bodyPr wrap="square"/>
                    <a:lstStyle/>
                    <a:p>
                      <a:r>
                        <a:rPr sz="1050" b="0" i="0">
                          <a:solidFill>
                            <a:srgbClr val="1F2933"/>
                          </a:solidFill>
                          <a:latin typeface="Calibri"/>
                        </a:rPr>
                        <a:t>Pancakes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flour, milk, egg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flour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no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329184">
                <a:tc>
                  <a:txBody>
                    <a:bodyPr wrap="square"/>
                    <a:lstStyle/>
                    <a:p>
                      <a:r>
                        <a:rPr sz="1050" b="0" i="0">
                          <a:solidFill>
                            <a:srgbClr val="1F2933"/>
                          </a:solidFill>
                          <a:latin typeface="Calibri"/>
                        </a:rPr>
                        <a:t>Omelette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egg, butter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2" name="Rounded Rectangle 11"/>
          <p:cNvSpPr/>
          <p:nvPr/>
        </p:nvSpPr>
        <p:spPr>
          <a:xfrm>
            <a:off x="7263993" y="3136138"/>
            <a:ext cx="1514246" cy="91440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the kitchen holds</a:t>
            </a:r>
          </a:p>
          <a:p>
            <a:pPr algn="ctr"/>
            <a:r>
              <a:rPr sz="950" b="0" i="0">
                <a:solidFill>
                  <a:srgbClr val="1F2933"/>
                </a:solidFill>
                <a:latin typeface="Calibri"/>
              </a:rPr>
              <a:t>egg, butter, milk</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Count what is missing; zero means cook it.</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49 / 54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Which statement does what, and when a change is kept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From the chapter research; each answer has its code slide</a:t>
            </a:r>
          </a:p>
        </p:txBody>
      </p:sp>
      <p:graphicFrame>
        <p:nvGraphicFramePr>
          <p:cNvPr id="5" name="table"/>
          <p:cNvGraphicFramePr>
            <a:graphicFrameLocks noGrp="1"/>
          </p:cNvGraphicFramePr>
          <p:nvPr/>
        </p:nvGraphicFramePr>
        <p:xfrm>
          <a:off x="457200" y="1051560"/>
          <a:ext cx="8229599" cy="3291840"/>
        </p:xfrm>
        <a:graphic>
          <a:graphicData uri="http://schemas.openxmlformats.org/drawingml/2006/table">
            <a:tbl>
              <a:tblPr firstRow="0" bandRow="0"/>
              <a:tblGrid>
                <a:gridCol w="2377440"/>
                <a:gridCol w="2103120"/>
                <a:gridCol w="2926080"/>
                <a:gridCol w="822959"/>
              </a:tblGrid>
              <a:tr h="365760">
                <a:tc>
                  <a:txBody>
                    <a:bodyPr wrap="square"/>
                    <a:lstStyle/>
                    <a:p>
                      <a:r>
                        <a:rPr sz="1200" b="1" i="0">
                          <a:solidFill>
                            <a:srgbClr val="FFFFFF"/>
                          </a:solidFill>
                          <a:latin typeface="Calibri"/>
                        </a:rPr>
                        <a:t>Statement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Reads or writes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Kept when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200" b="1" i="0">
                          <a:solidFill>
                            <a:srgbClr val="FFFFFF"/>
                          </a:solidFill>
                          <a:latin typeface="Calibri"/>
                        </a:rPr>
                        <a:t>See 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200" b="1" i="0">
                          <a:solidFill>
                            <a:srgbClr val="1F2933"/>
                          </a:solidFill>
                          <a:latin typeface="Courier New"/>
                        </a:rPr>
                        <a:t>SELECT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reads only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nothing to keep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200" b="0" i="0">
                          <a:solidFill>
                            <a:srgbClr val="1F2933"/>
                          </a:solidFill>
                          <a:latin typeface="Calibri"/>
                        </a:rPr>
                        <a:t>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00" b="1" i="0">
                          <a:solidFill>
                            <a:srgbClr val="1F2933"/>
                          </a:solidFill>
                          <a:latin typeface="Courier New"/>
                        </a:rPr>
                        <a:t>INSERT, UPDATE, DELETE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writes rows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commit, or at once in autocommit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20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200" b="1" i="0">
                          <a:solidFill>
                            <a:srgbClr val="1F2933"/>
                          </a:solidFill>
                          <a:latin typeface="Courier New"/>
                        </a:rPr>
                        <a:t>CREATE, ALTER, DROP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writes the schema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at once, unless in a transaction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200" b="0" i="0">
                          <a:solidFill>
                            <a:srgbClr val="1F2933"/>
                          </a:solidFill>
                          <a:latin typeface="Calibri"/>
                        </a:rPr>
                        <a:t>34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00" b="1" i="0">
                          <a:solidFill>
                            <a:srgbClr val="1F2933"/>
                          </a:solidFill>
                          <a:latin typeface="Courier New"/>
                        </a:rPr>
                        <a:t>BEGIN ... commit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groups statements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all or 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20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200" b="1" i="0">
                          <a:solidFill>
                            <a:srgbClr val="1F2933"/>
                          </a:solidFill>
                          <a:latin typeface="Courier New"/>
                        </a:rPr>
                        <a:t>a rule breaks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refused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the statement leaves no trace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200" b="0" i="0">
                          <a:solidFill>
                            <a:srgbClr val="1F2933"/>
                          </a:solidFill>
                          <a:latin typeface="Calibri"/>
                        </a:rPr>
                        <a:t>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00" b="1" i="0">
                          <a:solidFill>
                            <a:srgbClr val="1F2933"/>
                          </a:solidFill>
                          <a:latin typeface="Courier New"/>
                        </a:rPr>
                        <a:t>rollback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undoes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everything since BEGIN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20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200" b="1" i="0">
                          <a:solidFill>
                            <a:srgbClr val="1F2933"/>
                          </a:solidFill>
                          <a:latin typeface="Courier New"/>
                        </a:rPr>
                        <a:t>PRAGMA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reads or sets a switch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per connection, mostly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200" b="0" i="0">
                          <a:solidFill>
                            <a:srgbClr val="1F2933"/>
                          </a:solidFill>
                          <a:latin typeface="Calibri"/>
                        </a:rPr>
                        <a:t>41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00" b="1" i="0">
                          <a:solidFill>
                            <a:srgbClr val="1F2933"/>
                          </a:solidFill>
                          <a:latin typeface="Courier New"/>
                        </a:rPr>
                        <a:t>VACUUM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rewrites the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at once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200" b="0" i="0">
                          <a:solidFill>
                            <a:srgbClr val="1F2933"/>
                          </a:solidFill>
                          <a:latin typeface="Calibri"/>
                        </a:rPr>
                        <a:t>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Reads change nothing; writes are kept at commit; a broken rule leaves no trace.</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50 / 54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What differs from the book today</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From the chapter research, checked on 12 October 2026 (Python 3.14.6, SQLite 3.53.1)</a:t>
            </a:r>
          </a:p>
        </p:txBody>
      </p:sp>
      <p:graphicFrame>
        <p:nvGraphicFramePr>
          <p:cNvPr id="5" name="table"/>
          <p:cNvGraphicFramePr>
            <a:graphicFrameLocks noGrp="1"/>
          </p:cNvGraphicFramePr>
          <p:nvPr/>
        </p:nvGraphicFramePr>
        <p:xfrm>
          <a:off x="457200" y="960120"/>
          <a:ext cx="8229600" cy="3474720"/>
        </p:xfrm>
        <a:graphic>
          <a:graphicData uri="http://schemas.openxmlformats.org/drawingml/2006/table">
            <a:tbl>
              <a:tblPr firstRow="0" bandRow="0"/>
              <a:tblGrid>
                <a:gridCol w="3108960"/>
                <a:gridCol w="4389120"/>
                <a:gridCol w="731520"/>
              </a:tblGrid>
              <a:tr h="347472">
                <a:tc>
                  <a:txBody>
                    <a:bodyPr wrap="square"/>
                    <a:lstStyle/>
                    <a:p>
                      <a:r>
                        <a:rPr sz="1000" b="1" i="0">
                          <a:solidFill>
                            <a:srgbClr val="FFFFFF"/>
                          </a:solidFill>
                          <a:latin typeface="Calibri"/>
                        </a:rPr>
                        <a:t>What the book says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Today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See 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7472">
                <a:tc>
                  <a:txBody>
                    <a:bodyPr wrap="square"/>
                    <a:lstStyle/>
                    <a:p>
                      <a:r>
                        <a:rPr sz="1000" b="1" i="0">
                          <a:solidFill>
                            <a:srgbClr val="1F2933"/>
                          </a:solidFill>
                          <a:latin typeface="Calibri"/>
                        </a:rPr>
                        <a:t>The cats table's foreign key REFERENCES cats(rowid)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cannot be enforced: the parent key must be a primary key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41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000" b="1" i="0">
                          <a:solidFill>
                            <a:srgbClr val="1F2933"/>
                          </a:solidFill>
                          <a:latin typeface="Calibri"/>
                        </a:rPr>
                        <a:t>SQLite has six data types (five are listed)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STRICT takes six type words, five storage classes; BOOLEAN and DATE are refused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000" b="1" i="0">
                          <a:solidFill>
                            <a:srgbClr val="1F2933"/>
                          </a:solidFill>
                          <a:latin typeface="Calibri"/>
                        </a:rPr>
                        <a:t>isolation_level=None gives autocommit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Python 3.12 adds the autocommit attribute, the recommended switch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000" b="1" i="0">
                          <a:solidFill>
                            <a:srgbClr val="1F2933"/>
                          </a:solidFill>
                          <a:latin typeface="Calibri"/>
                        </a:rPr>
                        <a:t>Text in double quotes: LIKE "Ja%"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use single quotes; double quotes work by a legacy misfeature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000" b="1" i="0">
                          <a:solidFill>
                            <a:srgbClr val="1F2933"/>
                          </a:solidFill>
                          <a:latin typeface="Calibri"/>
                        </a:rPr>
                        <a:t>An index speeds the queries of the chapter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LIKE does not use the default index; = does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000" b="1" i="0">
                          <a:solidFill>
                            <a:srgbClr val="1F2933"/>
                          </a:solidFill>
                          <a:latin typeface="Calibri"/>
                        </a:rPr>
                        <a:t>The rowid does not change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a freed rowid is reused, and VACUUM may renumber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000" b="1" i="0">
                          <a:solidFill>
                            <a:srgbClr val="1F2933"/>
                          </a:solidFill>
                          <a:latin typeface="Calibri"/>
                        </a:rPr>
                        <a:t>iterdump() dumps the book's database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from Python 3.13 it fails on that file: foreign key mismatch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44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000" b="1" i="0">
                          <a:solidFill>
                            <a:srgbClr val="1F2933"/>
                          </a:solidFill>
                          <a:latin typeface="Calibri"/>
                        </a:rPr>
                        <a:t>A memory database is much faster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the commit decides the speed, not the place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000" b="1" i="0">
                          <a:solidFill>
                            <a:srgbClr val="1F2933"/>
                          </a:solidFill>
                          <a:latin typeface="Calibri"/>
                        </a:rPr>
                        <a:t>Thousands of writers break SQLite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the limit is throughput; each writer waits, WAL helps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what the book printed; then check what changed.</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51 / 54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Summary</a:t>
            </a:r>
          </a:p>
        </p:txBody>
      </p:sp>
      <p:sp>
        <p:nvSpPr>
          <p:cNvPr id="4" name="card"/>
          <p:cNvSpPr/>
          <p:nvPr/>
        </p:nvSpPr>
        <p:spPr>
          <a:xfrm>
            <a:off x="365760" y="749808"/>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A summary is a packing list: only what you really need goes into the bag.</a:t>
            </a:r>
          </a:p>
        </p:txBody>
      </p:sp>
      <p:sp>
        <p:nvSpPr>
          <p:cNvPr id="6" name="Rounded Rectangle 5"/>
          <p:cNvSpPr/>
          <p:nvPr/>
        </p:nvSpPr>
        <p:spPr>
          <a:xfrm>
            <a:off x="365760" y="14081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7" name="point"/>
          <p:cNvSpPr txBox="1"/>
          <p:nvPr/>
        </p:nvSpPr>
        <p:spPr>
          <a:xfrm>
            <a:off x="822960" y="1371600"/>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database is a file or memory; a connection is a handle on it.</a:t>
            </a:r>
          </a:p>
        </p:txBody>
      </p:sp>
      <p:sp>
        <p:nvSpPr>
          <p:cNvPr id="8" name="Rounded Rectangle 7"/>
          <p:cNvSpPr/>
          <p:nvPr/>
        </p:nvSpPr>
        <p:spPr>
          <a:xfrm>
            <a:off x="365760" y="19751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9" name="point"/>
          <p:cNvSpPr txBox="1"/>
          <p:nvPr/>
        </p:nvSpPr>
        <p:spPr>
          <a:xfrm>
            <a:off x="822960" y="1938528"/>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STRICT table makes column types a rule; NULL is not a value.</a:t>
            </a:r>
          </a:p>
        </p:txBody>
      </p:sp>
      <p:sp>
        <p:nvSpPr>
          <p:cNvPr id="10" name="Rounded Rectangle 9"/>
          <p:cNvSpPr/>
          <p:nvPr/>
        </p:nvSpPr>
        <p:spPr>
          <a:xfrm>
            <a:off x="365760" y="254203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1" name="point"/>
          <p:cNvSpPr txBox="1"/>
          <p:nvPr/>
        </p:nvSpPr>
        <p:spPr>
          <a:xfrm>
            <a:off x="822960" y="2505456"/>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Bind values with placeholders; never paste them into SQL.</a:t>
            </a:r>
          </a:p>
        </p:txBody>
      </p:sp>
      <p:sp>
        <p:nvSpPr>
          <p:cNvPr id="12" name="Rounded Rectangle 11"/>
          <p:cNvSpPr/>
          <p:nvPr/>
        </p:nvSpPr>
        <p:spPr>
          <a:xfrm>
            <a:off x="365760" y="310896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3" name="point"/>
          <p:cNvSpPr txBox="1"/>
          <p:nvPr/>
        </p:nvSpPr>
        <p:spPr>
          <a:xfrm>
            <a:off x="822960" y="3072384"/>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transaction is all or nothing: commit keeps, rollback undoes.</a:t>
            </a:r>
          </a:p>
        </p:txBody>
      </p:sp>
      <p:sp>
        <p:nvSpPr>
          <p:cNvPr id="14" name="Rounded Rectangle 13"/>
          <p:cNvSpPr/>
          <p:nvPr/>
        </p:nvSpPr>
        <p:spPr>
          <a:xfrm>
            <a:off x="365760" y="3675887"/>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15" name="point"/>
          <p:cNvSpPr txBox="1"/>
          <p:nvPr/>
        </p:nvSpPr>
        <p:spPr>
          <a:xfrm>
            <a:off x="822960" y="3639312"/>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Copy with backup, iterdump or a closed file; check what you copied.</a:t>
            </a:r>
          </a:p>
        </p:txBody>
      </p:sp>
      <p:sp>
        <p:nvSpPr>
          <p:cNvPr id="16" name="chart label"/>
          <p:cNvSpPr txBox="1"/>
          <p:nvPr/>
        </p:nvSpPr>
        <p:spPr>
          <a:xfrm>
            <a:off x="5212080" y="1280160"/>
            <a:ext cx="3566160" cy="457200"/>
          </a:xfrm>
          <a:prstGeom prst="rect">
            <a:avLst/>
          </a:prstGeom>
          <a:noFill/>
        </p:spPr>
        <p:txBody>
          <a:bodyPr wrap="square" lIns="45720" rIns="45720" tIns="27432" bIns="27432" anchor="t">
            <a:spAutoFit/>
          </a:bodyPr>
          <a:lstStyle/>
          <a:p>
            <a:r>
              <a:rPr sz="1050" b="1" i="0">
                <a:solidFill>
                  <a:srgbClr val="0E7C86"/>
                </a:solidFill>
                <a:latin typeface="Calibri"/>
              </a:rPr>
              <a:t>code examples in each part of this deck</a:t>
            </a:r>
          </a:p>
        </p:txBody>
      </p:sp>
      <p:graphicFrame>
        <p:nvGraphicFramePr>
          <p:cNvPr id="17" name="chart"/>
          <p:cNvGraphicFramePr>
            <a:graphicFrameLocks noGrp="1"/>
          </p:cNvGraphicFramePr>
          <p:nvPr/>
        </p:nvGraphicFramePr>
        <p:xfrm>
          <a:off x="5120640" y="1783080"/>
          <a:ext cx="3657600" cy="2743200"/>
        </p:xfrm>
        <a:graphic>
          <a:graphicData uri="http://schemas.openxmlformats.org/drawingml/2006/chart">
            <c:chart xmlns:c="http://schemas.openxmlformats.org/drawingml/2006/chart" r:id="rId3"/>
          </a:graphicData>
        </a:graphic>
      </p:graphicFrame>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database is a file; every change is a decision about when to keep it.</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52 / 54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Questions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Predict first, then run what you can on the chapter page</a:t>
            </a:r>
          </a:p>
        </p:txBody>
      </p:sp>
      <p:sp>
        <p:nvSpPr>
          <p:cNvPr id="5" name="card"/>
          <p:cNvSpPr/>
          <p:nvPr/>
        </p:nvSpPr>
        <p:spPr>
          <a:xfrm>
            <a:off x="365760" y="96012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96926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Practice questions are finger scales for a pianist; the practice programs are the small recital pieces.</a:t>
            </a:r>
          </a:p>
        </p:txBody>
      </p:sp>
      <p:sp>
        <p:nvSpPr>
          <p:cNvPr id="7" name="card"/>
          <p:cNvSpPr/>
          <p:nvPr/>
        </p:nvSpPr>
        <p:spPr>
          <a:xfrm>
            <a:off x="365760" y="160020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72821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9" name="question"/>
          <p:cNvSpPr txBox="1"/>
          <p:nvPr/>
        </p:nvSpPr>
        <p:spPr>
          <a:xfrm>
            <a:off x="1005840" y="163677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Which rows does WHERE fur != 'black' return when one fur is NULL, and why? Use the NULL slide.</a:t>
            </a:r>
          </a:p>
        </p:txBody>
      </p:sp>
      <p:sp>
        <p:nvSpPr>
          <p:cNvPr id="10" name="card"/>
          <p:cNvSpPr/>
          <p:nvPr/>
        </p:nvSpPr>
        <p:spPr>
          <a:xfrm>
            <a:off x="365760" y="233172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45973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12" name="question"/>
          <p:cNvSpPr txBox="1"/>
          <p:nvPr/>
        </p:nvSpPr>
        <p:spPr>
          <a:xfrm>
            <a:off x="1005840" y="236829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A program inserts 2,000 rows one by one in autocommit. What changes if it wraps them in one transaction?</a:t>
            </a:r>
          </a:p>
        </p:txBody>
      </p:sp>
      <p:sp>
        <p:nvSpPr>
          <p:cNvPr id="13" name="card"/>
          <p:cNvSpPr/>
          <p:nvPr/>
        </p:nvSpPr>
        <p:spPr>
          <a:xfrm>
            <a:off x="365760" y="306324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31912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5" name="question"/>
          <p:cNvSpPr txBox="1"/>
          <p:nvPr/>
        </p:nvSpPr>
        <p:spPr>
          <a:xfrm>
            <a:off x="1005840" y="309981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Why does the foreign-key example insert the meal first, and what does PRAGMA foreign_keys decide?</a:t>
            </a:r>
          </a:p>
        </p:txBody>
      </p:sp>
      <p:sp>
        <p:nvSpPr>
          <p:cNvPr id="16" name="card"/>
          <p:cNvSpPr/>
          <p:nvPr/>
        </p:nvSpPr>
        <p:spPr>
          <a:xfrm>
            <a:off x="365760" y="379476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9227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8" name="question"/>
          <p:cNvSpPr txBox="1"/>
          <p:nvPr/>
        </p:nvSpPr>
        <p:spPr>
          <a:xfrm>
            <a:off x="1005840" y="383133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Practice program: extend the cat checker to list cats born after their first shot, with the dates.</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Each answer fits in a few lines you can run.</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53 / 54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Resources: where to go next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Reading and watching, chosen for this chapter; every link is live</a:t>
            </a:r>
          </a:p>
        </p:txBody>
      </p:sp>
      <p:sp>
        <p:nvSpPr>
          <p:cNvPr id="5" name="card"/>
          <p:cNvSpPr/>
          <p:nvPr/>
        </p:nvSpPr>
        <p:spPr>
          <a:xfrm>
            <a:off x="36576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source"/>
          <p:cNvSpPr txBox="1"/>
          <p:nvPr/>
        </p:nvSpPr>
        <p:spPr>
          <a:xfrm>
            <a:off x="43891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Book: Automate the Boring Stuff, 3rd edition, chapter 16</a:t>
            </a:r>
          </a:p>
          <a:p>
            <a:r>
              <a:rPr sz="900" b="0" i="0">
                <a:solidFill>
                  <a:srgbClr val="0E7C86"/>
                </a:solidFill>
                <a:latin typeface="Calibri"/>
                <a:hlinkClick r:id="rId3"/>
              </a:rPr>
              <a:t>https://automatetheboringstuff.com/3e/chapter16.html</a:t>
            </a:r>
          </a:p>
        </p:txBody>
      </p:sp>
      <p:sp>
        <p:nvSpPr>
          <p:cNvPr id="7" name="card"/>
          <p:cNvSpPr/>
          <p:nvPr/>
        </p:nvSpPr>
        <p:spPr>
          <a:xfrm>
            <a:off x="36576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source"/>
          <p:cNvSpPr txBox="1"/>
          <p:nvPr/>
        </p:nvSpPr>
        <p:spPr>
          <a:xfrm>
            <a:off x="43891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sqlite3</a:t>
            </a:r>
          </a:p>
          <a:p>
            <a:r>
              <a:rPr sz="900" b="0" i="0">
                <a:solidFill>
                  <a:srgbClr val="0E7C86"/>
                </a:solidFill>
                <a:latin typeface="Calibri"/>
                <a:hlinkClick r:id="rId4"/>
              </a:rPr>
              <a:t>https://docs.python.org/3/library/sqlite3.html</a:t>
            </a:r>
          </a:p>
        </p:txBody>
      </p:sp>
      <p:sp>
        <p:nvSpPr>
          <p:cNvPr id="9" name="card"/>
          <p:cNvSpPr/>
          <p:nvPr/>
        </p:nvSpPr>
        <p:spPr>
          <a:xfrm>
            <a:off x="36576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source"/>
          <p:cNvSpPr txBox="1"/>
          <p:nvPr/>
        </p:nvSpPr>
        <p:spPr>
          <a:xfrm>
            <a:off x="43891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SQLite: datatypes</a:t>
            </a:r>
          </a:p>
          <a:p>
            <a:r>
              <a:rPr sz="900" b="0" i="0">
                <a:solidFill>
                  <a:srgbClr val="0E7C86"/>
                </a:solidFill>
                <a:latin typeface="Calibri"/>
                <a:hlinkClick r:id="rId5"/>
              </a:rPr>
              <a:t>https://www.sqlite.org/datatype3.html</a:t>
            </a:r>
          </a:p>
        </p:txBody>
      </p:sp>
      <p:sp>
        <p:nvSpPr>
          <p:cNvPr id="11" name="card"/>
          <p:cNvSpPr/>
          <p:nvPr/>
        </p:nvSpPr>
        <p:spPr>
          <a:xfrm>
            <a:off x="36576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ource"/>
          <p:cNvSpPr txBox="1"/>
          <p:nvPr/>
        </p:nvSpPr>
        <p:spPr>
          <a:xfrm>
            <a:off x="43891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SQLite: STRICT tables</a:t>
            </a:r>
          </a:p>
          <a:p>
            <a:r>
              <a:rPr sz="900" b="0" i="0">
                <a:solidFill>
                  <a:srgbClr val="0E7C86"/>
                </a:solidFill>
                <a:latin typeface="Calibri"/>
                <a:hlinkClick r:id="rId6"/>
              </a:rPr>
              <a:t>https://www.sqlite.org/stricttables.html</a:t>
            </a:r>
          </a:p>
        </p:txBody>
      </p:sp>
      <p:sp>
        <p:nvSpPr>
          <p:cNvPr id="13" name="card"/>
          <p:cNvSpPr/>
          <p:nvPr/>
        </p:nvSpPr>
        <p:spPr>
          <a:xfrm>
            <a:off x="36576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ource"/>
          <p:cNvSpPr txBox="1"/>
          <p:nvPr/>
        </p:nvSpPr>
        <p:spPr>
          <a:xfrm>
            <a:off x="43891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SQLite: foreign key support</a:t>
            </a:r>
          </a:p>
          <a:p>
            <a:r>
              <a:rPr sz="900" b="0" i="0">
                <a:solidFill>
                  <a:srgbClr val="0E7C86"/>
                </a:solidFill>
                <a:latin typeface="Calibri"/>
                <a:hlinkClick r:id="rId7"/>
              </a:rPr>
              <a:t>https://www.sqlite.org/foreignkeys.html</a:t>
            </a:r>
          </a:p>
        </p:txBody>
      </p:sp>
      <p:sp>
        <p:nvSpPr>
          <p:cNvPr id="15" name="card"/>
          <p:cNvSpPr/>
          <p:nvPr/>
        </p:nvSpPr>
        <p:spPr>
          <a:xfrm>
            <a:off x="36576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ource"/>
          <p:cNvSpPr txBox="1"/>
          <p:nvPr/>
        </p:nvSpPr>
        <p:spPr>
          <a:xfrm>
            <a:off x="43891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SQLite: transactions</a:t>
            </a:r>
          </a:p>
          <a:p>
            <a:r>
              <a:rPr sz="900" b="0" i="0">
                <a:solidFill>
                  <a:srgbClr val="0E7C86"/>
                </a:solidFill>
                <a:latin typeface="Calibri"/>
                <a:hlinkClick r:id="rId8"/>
              </a:rPr>
              <a:t>https://www.sqlite.org/lang_transaction.html</a:t>
            </a:r>
          </a:p>
        </p:txBody>
      </p:sp>
      <p:sp>
        <p:nvSpPr>
          <p:cNvPr id="17" name="card"/>
          <p:cNvSpPr/>
          <p:nvPr/>
        </p:nvSpPr>
        <p:spPr>
          <a:xfrm>
            <a:off x="36576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source"/>
          <p:cNvSpPr txBox="1"/>
          <p:nvPr/>
        </p:nvSpPr>
        <p:spPr>
          <a:xfrm>
            <a:off x="43891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SQLite: write-ahead logging</a:t>
            </a:r>
          </a:p>
          <a:p>
            <a:r>
              <a:rPr sz="900" b="0" i="0">
                <a:solidFill>
                  <a:srgbClr val="0E7C86"/>
                </a:solidFill>
                <a:latin typeface="Calibri"/>
                <a:hlinkClick r:id="rId9"/>
              </a:rPr>
              <a:t>https://www.sqlite.org/wal.html</a:t>
            </a:r>
          </a:p>
        </p:txBody>
      </p:sp>
      <p:sp>
        <p:nvSpPr>
          <p:cNvPr id="19" name="card"/>
          <p:cNvSpPr/>
          <p:nvPr/>
        </p:nvSpPr>
        <p:spPr>
          <a:xfrm>
            <a:off x="466344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ource"/>
          <p:cNvSpPr txBox="1"/>
          <p:nvPr/>
        </p:nvSpPr>
        <p:spPr>
          <a:xfrm>
            <a:off x="473659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SQLite: EXPLAIN QUERY PLAN</a:t>
            </a:r>
          </a:p>
          <a:p>
            <a:r>
              <a:rPr sz="900" b="0" i="0">
                <a:solidFill>
                  <a:srgbClr val="0E7C86"/>
                </a:solidFill>
                <a:latin typeface="Calibri"/>
                <a:hlinkClick r:id="rId10"/>
              </a:rPr>
              <a:t>https://www.sqlite.org/eqp.html</a:t>
            </a:r>
          </a:p>
        </p:txBody>
      </p:sp>
      <p:sp>
        <p:nvSpPr>
          <p:cNvPr id="21" name="card"/>
          <p:cNvSpPr/>
          <p:nvPr/>
        </p:nvSpPr>
        <p:spPr>
          <a:xfrm>
            <a:off x="466344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source"/>
          <p:cNvSpPr txBox="1"/>
          <p:nvPr/>
        </p:nvSpPr>
        <p:spPr>
          <a:xfrm>
            <a:off x="473659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SQLite: appropriate uses</a:t>
            </a:r>
          </a:p>
          <a:p>
            <a:r>
              <a:rPr sz="900" b="0" i="0">
                <a:solidFill>
                  <a:srgbClr val="0E7C86"/>
                </a:solidFill>
                <a:latin typeface="Calibri"/>
                <a:hlinkClick r:id="rId11"/>
              </a:rPr>
              <a:t>https://www.sqlite.org/whentouse.html</a:t>
            </a:r>
          </a:p>
        </p:txBody>
      </p:sp>
      <p:sp>
        <p:nvSpPr>
          <p:cNvPr id="23" name="card"/>
          <p:cNvSpPr/>
          <p:nvPr/>
        </p:nvSpPr>
        <p:spPr>
          <a:xfrm>
            <a:off x="466344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source"/>
          <p:cNvSpPr txBox="1"/>
          <p:nvPr/>
        </p:nvSpPr>
        <p:spPr>
          <a:xfrm>
            <a:off x="473659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OWASP: SQL injection prevention</a:t>
            </a:r>
          </a:p>
          <a:p>
            <a:r>
              <a:rPr sz="900" b="0" i="0">
                <a:solidFill>
                  <a:srgbClr val="0E7C86"/>
                </a:solidFill>
                <a:latin typeface="Calibri"/>
                <a:hlinkClick r:id="rId12"/>
              </a:rPr>
              <a:t>cheatsheetseries.owasp.org</a:t>
            </a:r>
          </a:p>
        </p:txBody>
      </p:sp>
      <p:sp>
        <p:nvSpPr>
          <p:cNvPr id="25" name="card"/>
          <p:cNvSpPr/>
          <p:nvPr/>
        </p:nvSpPr>
        <p:spPr>
          <a:xfrm>
            <a:off x="466344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source"/>
          <p:cNvSpPr txBox="1"/>
          <p:nvPr/>
        </p:nvSpPr>
        <p:spPr>
          <a:xfrm>
            <a:off x="473659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xkcd 327: Exploits of a Mom</a:t>
            </a:r>
          </a:p>
          <a:p>
            <a:r>
              <a:rPr sz="900" b="0" i="0">
                <a:solidFill>
                  <a:srgbClr val="0E7C86"/>
                </a:solidFill>
                <a:latin typeface="Calibri"/>
                <a:hlinkClick r:id="rId13"/>
              </a:rPr>
              <a:t>https://xkcd.com/327/</a:t>
            </a:r>
          </a:p>
        </p:txBody>
      </p:sp>
      <p:sp>
        <p:nvSpPr>
          <p:cNvPr id="27" name="card"/>
          <p:cNvSpPr/>
          <p:nvPr/>
        </p:nvSpPr>
        <p:spPr>
          <a:xfrm>
            <a:off x="466344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source"/>
          <p:cNvSpPr txBox="1"/>
          <p:nvPr/>
        </p:nvSpPr>
        <p:spPr>
          <a:xfrm>
            <a:off x="473659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IBM: the relational database</a:t>
            </a:r>
          </a:p>
          <a:p>
            <a:r>
              <a:rPr sz="900" b="0" i="0">
                <a:solidFill>
                  <a:srgbClr val="0E7C86"/>
                </a:solidFill>
                <a:latin typeface="Calibri"/>
                <a:hlinkClick r:id="rId14"/>
              </a:rPr>
              <a:t>https://www.ibm.com/history/relational-database</a:t>
            </a:r>
          </a:p>
        </p:txBody>
      </p:sp>
      <p:sp>
        <p:nvSpPr>
          <p:cNvPr id="29" name="card"/>
          <p:cNvSpPr/>
          <p:nvPr/>
        </p:nvSpPr>
        <p:spPr>
          <a:xfrm>
            <a:off x="466344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source"/>
          <p:cNvSpPr txBox="1"/>
          <p:nvPr/>
        </p:nvSpPr>
        <p:spPr>
          <a:xfrm>
            <a:off x="473659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Wikipedia: Edgar F. Codd and the relational model</a:t>
            </a:r>
          </a:p>
          <a:p>
            <a:r>
              <a:rPr sz="900" b="0" i="0">
                <a:solidFill>
                  <a:srgbClr val="0E7C86"/>
                </a:solidFill>
                <a:latin typeface="Calibri"/>
                <a:hlinkClick r:id="rId15"/>
              </a:rPr>
              <a:t>https://en.wikipedia.org/wiki/Edgar_F._Codd</a:t>
            </a:r>
          </a:p>
        </p:txBody>
      </p:sp>
      <p:sp>
        <p:nvSpPr>
          <p:cNvPr id="31" name="card"/>
          <p:cNvSpPr/>
          <p:nvPr/>
        </p:nvSpPr>
        <p:spPr>
          <a:xfrm>
            <a:off x="466344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source"/>
          <p:cNvSpPr txBox="1"/>
          <p:nvPr/>
        </p:nvSpPr>
        <p:spPr>
          <a:xfrm>
            <a:off x="473659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Practical SQL, 2nd edition (No Starch Press)</a:t>
            </a:r>
          </a:p>
          <a:p>
            <a:r>
              <a:rPr sz="900" b="0" i="0">
                <a:solidFill>
                  <a:srgbClr val="0E7C86"/>
                </a:solidFill>
                <a:latin typeface="Calibri"/>
                <a:hlinkClick r:id="rId16"/>
              </a:rPr>
              <a:t>https://nostarch.com/practical-sql-2nd-edition</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Pick one link and read it before the next class.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54 / 54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16: SQLite Databases (lecture deck 2.0.1)</dc:title>
  <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